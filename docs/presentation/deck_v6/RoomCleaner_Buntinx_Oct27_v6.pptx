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150886-35c1-27fa-2ebd-2869ecb226e2}">
          <p14:sldIdLst>
            <p14:sldId id="256"/>
            <p14:sldId id="257"/>
            <p14:sldId id="258"/>
            <p14:sldId id="259"/>
            <p14:sldId id="260"/>
            <p14:sldId id="261"/>
          </p14:sldIdLst>
        </p14:section>
        <p14:section name="Design" id="{d2e0ab30-2593-d7a5-2eb7-54b3b0d996e3}">
          <p14:sldIdLst>
            <p14:sldId id="262"/>
            <p14:sldId id="263"/>
            <p14:sldId id="264"/>
            <p14:sldId id="265"/>
            <p14:sldId id="266"/>
            <p14:sldId id="267"/>
            <p14:sldId id="268"/>
            <p14:sldId id="269"/>
            <p14:sldId id="270"/>
            <p14:sldId id="271"/>
          </p14:sldIdLst>
        </p14:section>
        <p14:section name="Build" id="{a5243a4b-2217-5e93-86e6-3ae5944f9147}">
          <p14:sldIdLst>
            <p14:sldId id="272"/>
            <p14:sldId id="273"/>
            <p14:sldId id="274"/>
          </p14:sldIdLst>
        </p14:section>
        <p14:section name="Test" id="{f4b1ea59-c9fa-7c9e-28e6-9c5d9ff9ab05}">
          <p14:sldIdLst>
            <p14:sldId id="275"/>
            <p14:sldId id="276"/>
          </p14:sldIdLst>
        </p14:section>
        <p14:section name="Lessons" id="{b563eea7-75b4-deee-98e9-6f5e21c993aa}">
          <p14:sldIdLst>
            <p14:sldId id="277"/>
            <p14:sldId id="278"/>
            <p14:sldId id="279"/>
          </p14:sldIdLst>
        </p14:section>
        <p14:section name="Close" id="{7142a30c-2c4a-deb4-e4e5-be897b0bd83e}">
          <p14:sldIdLst>
            <p14:sldId id="280"/>
          </p14:sldIdLst>
        </p14:section>
        <p14:section name="Appendix" id="{4414b801-f733-30fd-0aa7-a2ec02c4d90e}">
          <p14:sldIdLst>
            <p14:sldId id="281"/>
            <p14:sldId id="282"/>
            <p14:sldId id="283"/>
            <p14:sldId id="284"/>
            <p14:sldId id="285"/>
            <p14:sldId id="286"/>
            <p14:sldId id="287"/>
            <p14:sldId id="288"/>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four winches near the ceiling corners hold one claw on cables; it picks clothes off the floor and drops them in a hamper. Then straight to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Degree and graduation date, EcoFil (what each stage does, what you learned), the sculptures (fiber laser and welding: real fabrication), one hobby. Close with why a laundry robot: a problem you have, and a machine you could build end to end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minutes, then questions. Backup slides at the end cover calibration, control logic, the phone app, obstacles, electrical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cable robot: it covers the whole floor, nothing stands on the floor, and the moving mass is small. Safety rules: stations anchor into studs, the switched power strip is the one hard stop, nobody stands under the robot. 0.9 kg is a screening figure for jeans; the first physical test is 1 lb. The claw tube is 10.5 in. Milestones: one station running repeatably (passed on the bench), three stations holding and moving 1 lb (this week's test), one garment into the hamper.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weeks, alone. Generation 1 (August) worked on the bench: corner plates, one central controller board, a finger claw. September to early October was the redesign that drove generation 2: sensors at every winch, the wiring that caused, and the line outlets. Generation 2 in October went through three station and three spool versions to the final design on Oct 21. This week: build and the first test. Say plainly what is mine and what is bought. [Confirm the start date (git shows Jul 16) and what happened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out: only the bottom layer turns a motor. The phone asks the supervisor; the supervisor holds one robot state; the planner checks every point of a path before anything moves; the stations run the motion on their own clocks and hold if the laptop goes quiet. The claw is a camera plus a gripper that obeys. Details are in the appendix (operating sequence, obstacles, the phone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targets, each with a number. Two are not met today: lift capacity and claw mass, and they are the same problem seen from two sides. Motor temperature is marginal since the 1.5 A change. Working area and wiring are met by the design. Accuracy, speed and cost wait on the hardware test and the receipts. Safety is a constraint, not a target: I never trade it for any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helps one thing and hurts another, and each design slide after this is one of these trades. Current: pull goes with I but heat goes with I squared, so 41 % more pull costs twice the heat. Claw strength: the stall check pushed the gears from module 1 to 1.5, and every gram of claw comes out of the payload. Room size: wire resistance grows with length, R = ρL/A; that is why only power travels, and the longest 32 ft run drops 0.51 V at 2 A on 16-gauge wire. Ceiling: tension doubles each time the depth below the anchors halves. Spool: a smaller radius pulls harder but reels slower, and the radius grows as the line winds on. Margins: they buy safety with force and floor area. The last line is why weight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balance on the claw: the cable pulls and the weight sum to zero. Centered claw, equal shares. D_h = 2.17 m from the room center to a corner. The tension doubles each time the depth halves near the ceiling, so the ceiling margin is set by tension, not by collision. At 1.06 A the design force was 11.9 N, so 0.4 m was only just enough standing still (12.2 N). At 1.5 A it is 16.8 N, so 0.4 m also covers the 2 m/s² acceleration case (14.7 N). 0.3 m would now hold standing still (16.2 N) but not while accelerating (19.5 N), so I keep 0.4 m. If asked about a corner pick: the far cables go near-horizontal and carry little; the planner checks every cable stays inside its tension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 from the driver's reference voltage (A4988 datasheet): the first boards topped out at 0.85 V, which is 1.06 A. I got the drivers to 1.5 A, the motor's rated current, so every pull goes up 41 % (1.5 / 1.06). [Fill in: how, and the Vref you read.] The cost is heat: the motor makes twice the heat (next slides). Running torque is lower than holding torque; I assumed 0.7, and the pull test measures it. A smaller spool gives more pull per amp but more turns per meter. The 1.5 margin covers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cable routes are 6, 21, 23 and 32 ft (82 ft). 10 conductors × 82 ft = 820 ft against 2 × 82 ft = 164 ft for one power pair. The cost: synchronization moved into software. Each station runs time-stamped segments on its own clock; any lost link means hold. Timing skew becomes cable mismatch: 50 mm/s × 50 ms = 2.5 mm, which is why segments are time-stamped.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motor to shell air to room, with the fin as a second path out. At 1.5 A the motor makes 4.05 W, double the 2.0 W at 1.06 A. Sheet results, vented shell: no fin 77 °C, 0.019 in fin 57.6 °C, 1/8 in fin 48.9 °C; sealed: 99, 66 and 54 °C, so the shell stays vented. With radiation from the black paint included (refined model) the 1/8 in fin gives about 45 °C. The driver chip also heats more; if it overheats it shuts off and the winch loses torque, so the hold test watches it too. Fallback: 1.35 A. Shape: one tall blade from the heat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length: L95, where a fin gets 95 % of the heat an infinitely long one would. The thin sheet reaches it at 136 mm, so most of its 200 mm does little; the 1/8 in plate keeps gaining to 349 mm, so 200 mm is a compromise with the ceiling (the fin top is 229 mm above the shaft). At 200 mm: sheet 37 % efficient and 22.1 K/W; 1/8 in plate 74 % and 10.9 K/W. Fin equations: Incropera, Fundamentals of Heat and Mass Transfer, ch.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poor first plan, caught on paper before it was built. The limit is physical, so software cannot remove it. Replacement: take up slack one cable at a time, lift, look at the floor board from several poses, least-squares fit of anchors and zero lengths, check on held-out poses. Safety comes from margins (0.4 m below the anchors, 0.2 m inside the walls), not precision. Four tags in view: 0.7 mm vs 6.6 mm with one (appendix). Simulated so far; the first hardware run is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generation fixed a problem found in the one before. Mass drove most changes: every gram of claw is a gram of laundry the winches cannot lift. Four-bar: ground 36.5, crank 53, rocker 50, coupler 34.7 mm; jaws parallel within about 1 degree; closing drops the tips about 38 mm, a scoop. Gear train: servo, 18-tooth pinion, 36/24-tooth compound, 24-tooth sync gear. Lewis check at servo stall: module 1 safety factor 0.35 to 0.41, so the module went up to 1.5. The camera also moved from the ceiling into the claw: it sees the grasp and reads the floor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even at 1.5 A the current claw plus jeans is too heavy, by about 0.2 kg instead of 0.66 kg. Root cause: I set the mass budget late, after the claw grew. Capacity = design force / (worst tension per unit weight × g) = 16.8 / (1.101 × 9.81) = 1.56 kg; the worst point is the middle of a long wall at task height. Claw mass estimate: 0.55 infill fraction × 927 g solid + 198 g tube + 55 g servo ≈ 0.76 kg. The pull test turns the 0.7 running-torque assumption into a measurement, and that number picks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flat face on the bed, loads along the layers, no supports on mating faces. Bearing pocket Ø14.075 with a Ø14.000 lead-in lip. Heat-set M3 inserts where screws are reused. Spool v1 was longer than the motor shaft could engage; v2's Ø5.2 bore printed too tight on the 5 mm shaft, so the printer undersize is at least 0.2 mm; v3 opened it to Ø5.45 (about 0.25 mm clearance) with a D-flat. Ø15 core, 16 mm drum: 20 ft of line in 5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setup from the same two edges means hole-to-hole errors do not stack. Holes: a 7/8 in pilot for the motor boss and 4 × Ø3.4 on the 31 mm motor square. Paint everywhere except the motor contact square, which gets thermal paste. The production fin is 1/8 in plate. [Fill in: time per fin, how many made, any scrap.]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Boot-safe: a 10k pull-up holds the driver's enable pin off until the firmware arms it. USB and the 5 V buck cannot back-feed each other (link jumper plus a Schottky diode). The schematic is generated from the soldered board's net list, so the two cannot disagree. The 1.14 V story: measure the hardware before trusting the software's view of it. Checklist: logic supply, sleep, enable and the buck output on every new board. [Fill in: exact readings, date, what you tried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cables, three unknown tensions, three force equations: statically determinate, so the tensions are solved exactly and slack shows up directly. It is the simplest real test of the calibration and the coordinated motion. Logged: cable lengths, encoder counts, motor temperatures, the fit's error bars. Fill in the results after the test, including any that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°C limit is for the loaded PETG, and that is the one temperature the hand calculation cannot give: it only knows the motor node. The SolidWorks thermal study uses my 10/21 assembly with a detailed NEMA 17 (aluminum end caps, black steel stator, copper windings as the 4.05 W source, plastic connector), the fin, the four M3 screws into the motor, and the PETG slip-in mount; inside the shell 26 to 27 °C, outside 23 °C. Hand calculation: 56 to 59 °C with the prototype fin, 45 to 49 °C with the 1/8 in fin (the range is the simple and the refined model). Then the hold test measures it. If they disagree, I fit h and the coil resistance, not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each was a trade I priced first. Distributed control cost me software synchronization (2.5 mm per 50 ms of skew) but saved 5× the wire. The slide-in mount came from taking stations down to rework them. Calibration by camera replaced a plan that physically limited the motion. The stall check caught gears that would have sheared before I printed them. Poor: the mass budget came after the claw grew, which is the open issue today. Bead homing looked cheap until I computed what it cost. The spool bore needed a coupon. And building several stations before one was fully proven meant repeating each fix. [Confirm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Thorough: the fin is machined once, so the hole pattern had to be right before the first cut. The board schematic is generated from the soldered net list so the drawing cannot lie. The gear check happened in CAD because a sheared gear costs a print and a jammed claw. Scrappy: when a controller board died two days before the test, I moved the same circuit to an ESP32 dev board with nine jumpers and a compile-time pin map instead of redesigning the board. The floor board is paper tags because accuracy comes from seeing several tags, not from the board. Three stations now, because three cables already test calibration and coordinated motion while the fourth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do differently: weigh the claw and set its mass budget from the measured winch pull before designing it; coupons before every new fit; one complete station tested end to end before building more; a meter on every rail before debugging code. Half the time: most of the lost time was the redesign (September to early October) and the generations that a frozen requirement and an early test would have avoided. Order the slow parts on day one. Three stations are statically determinate and need fewer parts for the first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follows: project status, fin sizing for 4 W, floor board, calibration, control logic, operating sequence, phone app, obstacles, claw electrical, gear strength, safety, acronyms, calculations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calculated or simulated is called that; the next-test column is what turns it into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built sheet works today only because the motor also sheds about 2.5 W into the vented shell. A thin sheet has a large m = √(2h/kt), so its far end does almost nothing: the most heat any length can carry is w √(2hkt) θ_b, about 2 W for 0.019 in at a 60 °C base. The 1/8 in plate of my first drawing, painted, would carry all of it at the same 200 mm, and with the vented shell the motor would run at about 45 °C. Mass is no problem on a wall station. 1/8 in may be beyond a hand shear: bandsaw and square it on the mill. Ranges: flange at one temperature to heat spread over the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tags: 4.85 mrad, 2.5 mm. Noise model: 0.3 px corner noise, 520 px focal length (camera not yet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comes from margins, not precision: 0.4 m below the anchors and 0.2 m inside the walls unless the error bars allow more. If the fit is not good enough: more poses, then fit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1 trusted its model; the final logic measures before it trusts and checks after it acts. Kept from generation 1: the cable math, the state-machine idea and the YOLO-World detector. All simulated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Grips wait until the claw stops swinging. A refused release pauses over the hamper. Disarm needs a typed confirmation and a fresh floor check, because releasing torque drops a hanging claw. Simulated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against a full simulator of the stations and the claw, so lost messages and reboots were exercised before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draw keep-out shapes in the phone app (squares, rectangles, circles with a height), then let the robot build its own room model from the claw camera's scans. Simulated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check 0 errors; 9 nets match the specification. Charger: 8.4 V constant current, constant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factors at the 6 V servo stall: pinion 2.05, 36-tooth gear 2.50, sync gear 2.00 with one jaw taking all the load. Stall torque 1.078 N·m is the servo rating,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safety-rated function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00800"/>
            <a:ext cx="11094415" cy="0"/>
          </a:xfrm>
          <a:prstGeom prst="line">
            <a:avLst/>
          </a:prstGeom>
          <a:noFill/>
          <a:ln w="9525">
            <a:solidFill>
              <a:srgbClr val="BFBFBF"/>
            </a:solidFill>
            <a:prstDash val="solid"/>
          </a:ln>
        </p:spPr>
      </p:sp>
      <p:sp>
        <p:nvSpPr>
          <p:cNvPr id="3" name="Text 1"/>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RoomCleaner  |  Jasper Buntinx  |  October 27, 2026</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jp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hyperlink" Target="https://docs.google.com/spreadsheets/d/1UGFnkL1v305WnDYj5aj5zBtgxnxmGP7_TVRN0afZTGs/edit" TargetMode="External"/><Relationship Id="rId1" Type="http://schemas.openxmlformats.org/officeDocument/2006/relationships/image" Target="../media/image-39-1.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1F3A5F"/>
          </a:solidFill>
          <a:ln w="12700">
            <a:solidFill>
              <a:srgbClr val="1F3A5F"/>
            </a:solidFill>
            <a:prstDash val="solid"/>
          </a:ln>
        </p:spPr>
      </p:sp>
      <p:sp>
        <p:nvSpPr>
          <p:cNvPr id="3" name="Text 1"/>
          <p:cNvSpPr txBox="1"/>
          <p:nvPr/>
        </p:nvSpPr>
        <p:spPr>
          <a:xfrm>
            <a:off x="548640" y="2103120"/>
            <a:ext cx="43891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RoomCleaner</a:t>
            </a:r>
            <a:endParaRPr lang="en-US" sz="4400" dirty="0"/>
          </a:p>
        </p:txBody>
      </p:sp>
      <p:sp>
        <p:nvSpPr>
          <p:cNvPr id="4" name="Text 2"/>
          <p:cNvSpPr txBox="1"/>
          <p:nvPr/>
        </p:nvSpPr>
        <p:spPr>
          <a:xfrm>
            <a:off x="548640" y="3063240"/>
            <a:ext cx="4206240" cy="1097280"/>
          </a:xfrm>
          <a:prstGeom prst="rect">
            <a:avLst/>
          </a:prstGeom>
          <a:noFill/>
          <a:ln/>
        </p:spPr>
        <p:txBody>
          <a:bodyPr wrap="square" lIns="0" tIns="0" rIns="0" bIns="0" rtlCol="0" anchor="ctr"/>
          <a:lstStyle/>
          <a:p>
            <a:pPr indent="0" marL="0">
              <a:buNone/>
            </a:pPr>
            <a:r>
              <a:rPr lang="en-US" sz="2200" dirty="0">
                <a:solidFill>
                  <a:srgbClr val="D9DEE5"/>
                </a:solidFill>
                <a:latin typeface="Arial" pitchFamily="34" charset="0"/>
                <a:ea typeface="Arial" pitchFamily="34" charset="-122"/>
                <a:cs typeface="Arial" pitchFamily="34" charset="-120"/>
              </a:rPr>
              <a:t>A cable-driven robot that picks laundry up off the floor</a:t>
            </a:r>
            <a:endParaRPr lang="en-US" sz="2200" dirty="0"/>
          </a:p>
        </p:txBody>
      </p:sp>
      <p:sp>
        <p:nvSpPr>
          <p:cNvPr id="5" name="Text 3"/>
          <p:cNvSpPr txBox="1"/>
          <p:nvPr/>
        </p:nvSpPr>
        <p:spPr>
          <a:xfrm>
            <a:off x="548640" y="5212080"/>
            <a:ext cx="4389120" cy="1005840"/>
          </a:xfrm>
          <a:prstGeom prst="rect">
            <a:avLst/>
          </a:prstGeom>
          <a:noFill/>
          <a:ln/>
        </p:spPr>
        <p:txBody>
          <a:bodyPr wrap="square" lIns="0" tIns="0" rIns="0" bIns="0" rtlCol="0" anchor="ctr"/>
          <a:lstStyle/>
          <a:p>
            <a:pPr indent="0" marL="0">
              <a:buNone/>
            </a:pPr>
            <a:r>
              <a:rPr lang="en-US" sz="1400" dirty="0">
                <a:solidFill>
                  <a:srgbClr val="D9DEE5"/>
                </a:solidFill>
                <a:latin typeface="Arial" pitchFamily="34" charset="0"/>
                <a:ea typeface="Arial" pitchFamily="34" charset="-122"/>
                <a:cs typeface="Arial" pitchFamily="34" charset="-120"/>
              </a:rPr>
              <a:t>Jasper Buntinx</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Mechanical Engineering, Texas A&amp;M University</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October 27, 2026</a:t>
            </a:r>
            <a:endParaRPr lang="en-US" sz="1400" dirty="0"/>
          </a:p>
        </p:txBody>
      </p:sp>
      <p:pic>
        <p:nvPicPr>
          <p:cNvPr id="6" name="Generation 2 winch station, assembled" descr="Generation 2 winch station, assembled">    </p:cNvPr>
          <p:cNvPicPr>
            <a:picLocks noChangeAspect="1"/>
          </p:cNvPicPr>
          <p:nvPr/>
        </p:nvPicPr>
        <p:blipFill>
          <a:blip r:embed="rId1"/>
          <a:stretch>
            <a:fillRect/>
          </a:stretch>
        </p:blipFill>
        <p:spPr>
          <a:xfrm>
            <a:off x="5486400" y="1417320"/>
            <a:ext cx="3017520" cy="4023360"/>
          </a:xfrm>
          <a:prstGeom prst="rect">
            <a:avLst/>
          </a:prstGeom>
        </p:spPr>
      </p:pic>
      <p:pic>
        <p:nvPicPr>
          <p:cNvPr id="7" name="Printed claw body with its servo" descr="Printed claw body with its servo">    </p:cNvPr>
          <p:cNvPicPr>
            <a:picLocks noChangeAspect="1"/>
          </p:cNvPicPr>
          <p:nvPr/>
        </p:nvPicPr>
        <p:blipFill>
          <a:blip r:embed="rId2"/>
          <a:stretch>
            <a:fillRect/>
          </a:stretch>
        </p:blipFill>
        <p:spPr>
          <a:xfrm>
            <a:off x="8641080" y="1417320"/>
            <a:ext cx="301752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About Me</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920551"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B.S. Mechanical Engineering, Texas A&amp;M University,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[graduation month and year]</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Built EcoFil, a filament recycler with a shredder, dryer and extruder</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Metal sculptures for the Austin Creek Show, made with fiber laser cutting and welding</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Outside of class: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[hobbies and interests]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Why this project: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[one sentence]</a:t>
            </a:r>
            <a:endParaRPr lang="en-US" sz="2000" dirty="0"/>
          </a:p>
        </p:txBody>
      </p:sp>
      <p:sp>
        <p:nvSpPr>
          <p:cNvPr id="5" name="placeholder"/>
          <p:cNvSpPr/>
          <p:nvPr/>
        </p:nvSpPr>
        <p:spPr>
          <a:xfrm>
            <a:off x="5880671" y="1463040"/>
            <a:ext cx="5762384" cy="4526280"/>
          </a:xfrm>
          <a:prstGeom prst="rect">
            <a:avLst/>
          </a:prstGeom>
          <a:solidFill>
            <a:srgbClr val="F2F2F2"/>
          </a:solidFill>
          <a:ln w="12700">
            <a:solidFill>
              <a:srgbClr val="B23A2E"/>
            </a:solidFill>
            <a:prstDash val="dash"/>
          </a:ln>
        </p:spPr>
      </p:sp>
      <p:sp>
        <p:nvSpPr>
          <p:cNvPr id="6" name="placeholder text"/>
          <p:cNvSpPr txBox="1"/>
          <p:nvPr/>
        </p:nvSpPr>
        <p:spPr>
          <a:xfrm>
            <a:off x="6063551" y="1463040"/>
            <a:ext cx="5396624" cy="452628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of you building: EcoFil, a sculpture, or the workshop]</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Agenda</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600200"/>
            <a:ext cx="5364328" cy="4800600"/>
          </a:xfrm>
          <a:prstGeom prst="rect">
            <a:avLst/>
          </a:prstGeom>
          <a:noFill/>
          <a:ln/>
        </p:spPr>
        <p:txBody>
          <a:bodyPr wrap="square" lIns="25400" tIns="0" rIns="50800" bIns="25400" rtlCol="0" anchor="t"/>
          <a:lstStyle/>
          <a:p>
            <a:pPr algn="l" marL="330200" indent="-330200">
              <a:spcAft>
                <a:spcPts val="2200"/>
              </a:spcAft>
              <a:buSzPct val="100000"/>
              <a:buFont typeface="+mj-lt"/>
              <a:buAutoNum type="arabicPeriod" startAt="1"/>
            </a:pPr>
            <a:r>
              <a:rPr lang="en-US" sz="2200" dirty="0">
                <a:solidFill>
                  <a:srgbClr val="000000"/>
                </a:solidFill>
                <a:latin typeface="Arial" pitchFamily="34" charset="0"/>
                <a:ea typeface="Arial" pitchFamily="34" charset="-122"/>
                <a:cs typeface="Arial" pitchFamily="34" charset="-120"/>
              </a:rPr>
              <a:t>Project goal, scope and timeline</a:t>
            </a:r>
            <a:endParaRPr lang="en-US" sz="2200" dirty="0"/>
          </a:p>
          <a:p>
            <a:pPr algn="l" marL="330200" indent="-330200">
              <a:spcAft>
                <a:spcPts val="2200"/>
              </a:spcAft>
              <a:buSzPct val="100000"/>
              <a:buFont typeface="+mj-lt"/>
              <a:buAutoNum type="arabicPeriod" startAt="1"/>
            </a:pPr>
            <a:r>
              <a:rPr lang="en-US" sz="2200" dirty="0">
                <a:solidFill>
                  <a:srgbClr val="000000"/>
                </a:solidFill>
                <a:latin typeface="Arial" pitchFamily="34" charset="0"/>
                <a:ea typeface="Arial" pitchFamily="34" charset="-122"/>
                <a:cs typeface="Arial" pitchFamily="34" charset="-120"/>
              </a:rPr>
              <a:t>Design: targets, trade-offs and key calculations</a:t>
            </a:r>
            <a:endParaRPr lang="en-US" sz="2200" dirty="0"/>
          </a:p>
          <a:p>
            <a:pPr algn="l" marL="330200" indent="-330200">
              <a:spcAft>
                <a:spcPts val="2200"/>
              </a:spcAft>
              <a:buSzPct val="100000"/>
              <a:buFont typeface="+mj-lt"/>
              <a:buAutoNum type="arabicPeriod" startAt="1"/>
            </a:pPr>
            <a:r>
              <a:rPr lang="en-US" sz="2200" dirty="0">
                <a:solidFill>
                  <a:srgbClr val="000000"/>
                </a:solidFill>
                <a:latin typeface="Arial" pitchFamily="34" charset="0"/>
                <a:ea typeface="Arial" pitchFamily="34" charset="-122"/>
                <a:cs typeface="Arial" pitchFamily="34" charset="-120"/>
              </a:rPr>
              <a:t>Build: printed parts, machining and electronics</a:t>
            </a:r>
            <a:endParaRPr lang="en-US" sz="2200" dirty="0"/>
          </a:p>
          <a:p>
            <a:pPr algn="l" marL="330200" indent="-330200">
              <a:spcAft>
                <a:spcPts val="2200"/>
              </a:spcAft>
              <a:buSzPct val="100000"/>
              <a:buFont typeface="+mj-lt"/>
              <a:buAutoNum type="arabicPeriod" startAt="1"/>
            </a:pPr>
            <a:r>
              <a:rPr lang="en-US" sz="2200" dirty="0">
                <a:solidFill>
                  <a:srgbClr val="000000"/>
                </a:solidFill>
                <a:latin typeface="Arial" pitchFamily="34" charset="0"/>
                <a:ea typeface="Arial" pitchFamily="34" charset="-122"/>
                <a:cs typeface="Arial" pitchFamily="34" charset="-120"/>
              </a:rPr>
              <a:t>Test: first system test and thermal verification</a:t>
            </a:r>
            <a:endParaRPr lang="en-US" sz="2200" dirty="0"/>
          </a:p>
          <a:p>
            <a:pPr algn="l" marL="330200" indent="-330200">
              <a:spcAft>
                <a:spcPts val="2200"/>
              </a:spcAft>
              <a:buSzPct val="100000"/>
              <a:buFont typeface="+mj-lt"/>
              <a:buAutoNum type="arabicPeriod" startAt="1"/>
            </a:pPr>
            <a:r>
              <a:rPr lang="en-US" sz="2200" dirty="0">
                <a:solidFill>
                  <a:srgbClr val="000000"/>
                </a:solidFill>
                <a:latin typeface="Arial" pitchFamily="34" charset="0"/>
                <a:ea typeface="Arial" pitchFamily="34" charset="-122"/>
                <a:cs typeface="Arial" pitchFamily="34" charset="-120"/>
              </a:rPr>
              <a:t>Good and poor decisions, and lessons learned</a:t>
            </a:r>
            <a:endParaRPr lang="en-US" sz="2200" dirty="0"/>
          </a:p>
        </p:txBody>
      </p:sp>
      <p:sp>
        <p:nvSpPr>
          <p:cNvPr id="5" name="Shape 3"/>
          <p:cNvSpPr/>
          <p:nvPr/>
        </p:nvSpPr>
        <p:spPr>
          <a:xfrm>
            <a:off x="6873088" y="1463040"/>
            <a:ext cx="4221328" cy="4434840"/>
          </a:xfrm>
          <a:prstGeom prst="rect">
            <a:avLst/>
          </a:prstGeom>
          <a:solidFill>
            <a:srgbClr val="F2F2F2"/>
          </a:solidFill>
          <a:ln w="12700">
            <a:solidFill>
              <a:srgbClr val="F2F2F2"/>
            </a:solidFill>
            <a:prstDash val="solid"/>
          </a:ln>
        </p:spPr>
      </p:sp>
      <p:pic>
        <p:nvPicPr>
          <p:cNvPr id="6" name="Cable robot geometry: four anchors and t" descr="Cable robot geometry: four anchors and the claw">    </p:cNvPr>
          <p:cNvPicPr>
            <a:picLocks noChangeAspect="1"/>
          </p:cNvPicPr>
          <p:nvPr/>
        </p:nvPicPr>
        <p:blipFill>
          <a:blip r:embed="rId1"/>
          <a:stretch>
            <a:fillRect/>
          </a:stretch>
        </p:blipFill>
        <p:spPr>
          <a:xfrm>
            <a:off x="6927952" y="1624660"/>
            <a:ext cx="4111600" cy="4111600"/>
          </a:xfrm>
          <a:prstGeom prst="rect">
            <a:avLst/>
          </a:prstGeom>
        </p:spPr>
      </p:pic>
      <p:sp>
        <p:nvSpPr>
          <p:cNvPr id="7" name="caption"/>
          <p:cNvSpPr txBox="1"/>
          <p:nvPr/>
        </p:nvSpPr>
        <p:spPr>
          <a:xfrm>
            <a:off x="6873088" y="5989320"/>
            <a:ext cx="422132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Cables from the ceiling anchors a</a:t>
            </a:r>
            <a:pPr indent="0" marL="0">
              <a:buNone/>
            </a:pPr>
            <a:r>
              <a:rPr lang="en-US" sz="1100" baseline="-40000" dirty="0">
                <a:solidFill>
                  <a:srgbClr val="7F7F7F"/>
                </a:solidFill>
                <a:latin typeface="Arial" pitchFamily="34" charset="0"/>
                <a:ea typeface="Arial" pitchFamily="34" charset="-122"/>
                <a:cs typeface="Arial" pitchFamily="34" charset="-120"/>
              </a:rPr>
              <a:t>1</a:t>
            </a:r>
            <a:pPr indent="0" marL="0">
              <a:buNone/>
            </a:pPr>
            <a:r>
              <a:rPr lang="en-US" sz="1100" dirty="0">
                <a:solidFill>
                  <a:srgbClr val="7F7F7F"/>
                </a:solidFill>
                <a:latin typeface="Arial" pitchFamily="34" charset="0"/>
                <a:ea typeface="Arial" pitchFamily="34" charset="-122"/>
                <a:cs typeface="Arial" pitchFamily="34" charset="-120"/>
              </a:rPr>
              <a:t> to a</a:t>
            </a:r>
            <a:pPr indent="0" marL="0">
              <a:buNone/>
            </a:pPr>
            <a:r>
              <a:rPr lang="en-US" sz="1100" baseline="-40000" dirty="0">
                <a:solidFill>
                  <a:srgbClr val="7F7F7F"/>
                </a:solidFill>
                <a:latin typeface="Arial" pitchFamily="34" charset="0"/>
                <a:ea typeface="Arial" pitchFamily="34" charset="-122"/>
                <a:cs typeface="Arial" pitchFamily="34" charset="-120"/>
              </a:rPr>
              <a:t>4</a:t>
            </a:r>
            <a:pPr indent="0" marL="0">
              <a:buNone/>
            </a:pPr>
            <a:r>
              <a:rPr lang="en-US" sz="1100" dirty="0">
                <a:solidFill>
                  <a:srgbClr val="7F7F7F"/>
                </a:solidFill>
                <a:latin typeface="Arial" pitchFamily="34" charset="0"/>
                <a:ea typeface="Arial" pitchFamily="34" charset="-122"/>
                <a:cs typeface="Arial" pitchFamily="34" charset="-120"/>
              </a:rPr>
              <a:t> to the claw at p</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Project Goal</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Pick up laundry anywhere in an 11 × 9 ft room and drop it in a hamper</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Four ceiling-mounted winches suspend one claw on cables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Design load: jeans, 0.9 kg, at 2 m/s² acceleration; first test load is 1 lb</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3D-printed PETG (polyethylene terephthalate glycol) parts on a hobby budget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Success: one garment delivered to the hamper with no human input</a:t>
            </a:r>
            <a:endParaRPr lang="en-US" sz="2000" dirty="0"/>
          </a:p>
        </p:txBody>
      </p:sp>
      <p:sp>
        <p:nvSpPr>
          <p:cNvPr id="5" name="Shape 3"/>
          <p:cNvSpPr/>
          <p:nvPr/>
        </p:nvSpPr>
        <p:spPr>
          <a:xfrm>
            <a:off x="6324448" y="1463040"/>
            <a:ext cx="2590724" cy="4526280"/>
          </a:xfrm>
          <a:prstGeom prst="rect">
            <a:avLst/>
          </a:prstGeom>
          <a:solidFill>
            <a:srgbClr val="F2F2F2"/>
          </a:solidFill>
          <a:ln w="12700">
            <a:solidFill>
              <a:srgbClr val="F2F2F2"/>
            </a:solidFill>
            <a:prstDash val="solid"/>
          </a:ln>
        </p:spPr>
      </p:sp>
      <p:pic>
        <p:nvPicPr>
          <p:cNvPr id="6" name="Final wall station" descr="Final wall station">    </p:cNvPr>
          <p:cNvPicPr>
            <a:picLocks noChangeAspect="1"/>
          </p:cNvPicPr>
          <p:nvPr/>
        </p:nvPicPr>
        <p:blipFill>
          <a:blip r:embed="rId1"/>
          <a:stretch>
            <a:fillRect/>
          </a:stretch>
        </p:blipFill>
        <p:spPr>
          <a:xfrm>
            <a:off x="6379312" y="2217075"/>
            <a:ext cx="2480996" cy="3018211"/>
          </a:xfrm>
          <a:prstGeom prst="rect">
            <a:avLst/>
          </a:prstGeom>
        </p:spPr>
      </p:pic>
      <p:sp>
        <p:nvSpPr>
          <p:cNvPr id="7" name="Shape 4"/>
          <p:cNvSpPr/>
          <p:nvPr/>
        </p:nvSpPr>
        <p:spPr>
          <a:xfrm>
            <a:off x="9052331" y="1463040"/>
            <a:ext cx="2590724" cy="4526280"/>
          </a:xfrm>
          <a:prstGeom prst="rect">
            <a:avLst/>
          </a:prstGeom>
          <a:solidFill>
            <a:srgbClr val="F2F2F2"/>
          </a:solidFill>
          <a:ln w="12700">
            <a:solidFill>
              <a:srgbClr val="F2F2F2"/>
            </a:solidFill>
            <a:prstDash val="solid"/>
          </a:ln>
        </p:spPr>
      </p:sp>
      <p:pic>
        <p:nvPicPr>
          <p:cNvPr id="8" name="Final claw" descr="Final claw">    </p:cNvPr>
          <p:cNvPicPr>
            <a:picLocks noChangeAspect="1"/>
          </p:cNvPicPr>
          <p:nvPr/>
        </p:nvPicPr>
        <p:blipFill>
          <a:blip r:embed="rId2"/>
          <a:stretch>
            <a:fillRect/>
          </a:stretch>
        </p:blipFill>
        <p:spPr>
          <a:xfrm>
            <a:off x="9700973" y="1517904"/>
            <a:ext cx="1293441" cy="4416552"/>
          </a:xfrm>
          <a:prstGeom prst="rect">
            <a:avLst/>
          </a:prstGeom>
        </p:spPr>
      </p:pic>
      <p:sp>
        <p:nvSpPr>
          <p:cNvPr id="9" name="caption"/>
          <p:cNvSpPr txBox="1"/>
          <p:nvPr/>
        </p:nvSpPr>
        <p:spPr>
          <a:xfrm>
            <a:off x="6324448" y="606247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Final design (CAD): wall station, left; claw, right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Scope and Timeline</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gantt header"/>
          <p:cNvSpPr/>
          <p:nvPr/>
        </p:nvSpPr>
        <p:spPr>
          <a:xfrm>
            <a:off x="548640" y="1417320"/>
            <a:ext cx="11094415" cy="347472"/>
          </a:xfrm>
          <a:prstGeom prst="rect">
            <a:avLst/>
          </a:prstGeom>
          <a:solidFill>
            <a:srgbClr val="1F3A5F"/>
          </a:solidFill>
          <a:ln w="12700">
            <a:solidFill>
              <a:srgbClr val="1F3A5F"/>
            </a:solidFill>
            <a:prstDash val="solid"/>
          </a:ln>
        </p:spPr>
      </p:sp>
      <p:sp>
        <p:nvSpPr>
          <p:cNvPr id="5" name="label"/>
          <p:cNvSpPr txBox="1"/>
          <p:nvPr/>
        </p:nvSpPr>
        <p:spPr>
          <a:xfrm>
            <a:off x="640080" y="1417320"/>
            <a:ext cx="32004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Phase</a:t>
            </a:r>
            <a:endParaRPr lang="en-US" sz="1300" dirty="0"/>
          </a:p>
        </p:txBody>
      </p:sp>
      <p:sp>
        <p:nvSpPr>
          <p:cNvPr id="6" name="label"/>
          <p:cNvSpPr txBox="1"/>
          <p:nvPr/>
        </p:nvSpPr>
        <p:spPr>
          <a:xfrm>
            <a:off x="4023360" y="1417320"/>
            <a:ext cx="141732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Dates</a:t>
            </a:r>
            <a:endParaRPr lang="en-US" sz="1300" dirty="0"/>
          </a:p>
        </p:txBody>
      </p:sp>
      <p:sp>
        <p:nvSpPr>
          <p:cNvPr id="7" name="Shape 5"/>
          <p:cNvSpPr/>
          <p:nvPr/>
        </p:nvSpPr>
        <p:spPr>
          <a:xfrm>
            <a:off x="548640" y="2148840"/>
            <a:ext cx="11094415" cy="384048"/>
          </a:xfrm>
          <a:prstGeom prst="rect">
            <a:avLst/>
          </a:prstGeom>
          <a:solidFill>
            <a:srgbClr val="F2F2F2"/>
          </a:solidFill>
          <a:ln w="12700">
            <a:solidFill>
              <a:srgbClr val="F2F2F2"/>
            </a:solidFill>
            <a:prstDash val="solid"/>
          </a:ln>
        </p:spPr>
      </p:sp>
      <p:sp>
        <p:nvSpPr>
          <p:cNvPr id="8" name="Shape 6"/>
          <p:cNvSpPr/>
          <p:nvPr/>
        </p:nvSpPr>
        <p:spPr>
          <a:xfrm>
            <a:off x="548640" y="2916936"/>
            <a:ext cx="11094415" cy="384048"/>
          </a:xfrm>
          <a:prstGeom prst="rect">
            <a:avLst/>
          </a:prstGeom>
          <a:solidFill>
            <a:srgbClr val="F2F2F2"/>
          </a:solidFill>
          <a:ln w="12700">
            <a:solidFill>
              <a:srgbClr val="F2F2F2"/>
            </a:solidFill>
            <a:prstDash val="solid"/>
          </a:ln>
        </p:spPr>
      </p:sp>
      <p:sp>
        <p:nvSpPr>
          <p:cNvPr id="9" name="label"/>
          <p:cNvSpPr txBox="1"/>
          <p:nvPr/>
        </p:nvSpPr>
        <p:spPr>
          <a:xfrm>
            <a:off x="5532120" y="1417320"/>
            <a:ext cx="154015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July</a:t>
            </a:r>
            <a:endParaRPr lang="en-US" sz="1300" dirty="0"/>
          </a:p>
        </p:txBody>
      </p:sp>
      <p:sp>
        <p:nvSpPr>
          <p:cNvPr id="10" name="label"/>
          <p:cNvSpPr txBox="1"/>
          <p:nvPr/>
        </p:nvSpPr>
        <p:spPr>
          <a:xfrm>
            <a:off x="7072274" y="1417320"/>
            <a:ext cx="154015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August</a:t>
            </a:r>
            <a:endParaRPr lang="en-US" sz="1300" dirty="0"/>
          </a:p>
        </p:txBody>
      </p:sp>
      <p:sp>
        <p:nvSpPr>
          <p:cNvPr id="11" name="Shape 9"/>
          <p:cNvSpPr/>
          <p:nvPr/>
        </p:nvSpPr>
        <p:spPr>
          <a:xfrm>
            <a:off x="7072274" y="1764792"/>
            <a:ext cx="0" cy="1920240"/>
          </a:xfrm>
          <a:prstGeom prst="line">
            <a:avLst/>
          </a:prstGeom>
          <a:noFill/>
          <a:ln w="9525">
            <a:solidFill>
              <a:srgbClr val="BFBFBF"/>
            </a:solidFill>
            <a:prstDash val="solid"/>
          </a:ln>
        </p:spPr>
      </p:sp>
      <p:sp>
        <p:nvSpPr>
          <p:cNvPr id="12" name="label"/>
          <p:cNvSpPr txBox="1"/>
          <p:nvPr/>
        </p:nvSpPr>
        <p:spPr>
          <a:xfrm>
            <a:off x="8612429" y="1417320"/>
            <a:ext cx="1490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September</a:t>
            </a:r>
            <a:endParaRPr lang="en-US" sz="1300" dirty="0"/>
          </a:p>
        </p:txBody>
      </p:sp>
      <p:sp>
        <p:nvSpPr>
          <p:cNvPr id="13" name="Shape 11"/>
          <p:cNvSpPr/>
          <p:nvPr/>
        </p:nvSpPr>
        <p:spPr>
          <a:xfrm>
            <a:off x="8612429" y="1764792"/>
            <a:ext cx="0" cy="1920240"/>
          </a:xfrm>
          <a:prstGeom prst="line">
            <a:avLst/>
          </a:prstGeom>
          <a:noFill/>
          <a:ln w="9525">
            <a:solidFill>
              <a:srgbClr val="BFBFBF"/>
            </a:solidFill>
            <a:prstDash val="solid"/>
          </a:ln>
        </p:spPr>
      </p:sp>
      <p:sp>
        <p:nvSpPr>
          <p:cNvPr id="14" name="label"/>
          <p:cNvSpPr txBox="1"/>
          <p:nvPr/>
        </p:nvSpPr>
        <p:spPr>
          <a:xfrm>
            <a:off x="10102901" y="1417320"/>
            <a:ext cx="1540154"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October</a:t>
            </a:r>
            <a:endParaRPr lang="en-US" sz="1300" dirty="0"/>
          </a:p>
        </p:txBody>
      </p:sp>
      <p:sp>
        <p:nvSpPr>
          <p:cNvPr id="15" name="Shape 13"/>
          <p:cNvSpPr/>
          <p:nvPr/>
        </p:nvSpPr>
        <p:spPr>
          <a:xfrm>
            <a:off x="10102901" y="1764792"/>
            <a:ext cx="0" cy="1920240"/>
          </a:xfrm>
          <a:prstGeom prst="line">
            <a:avLst/>
          </a:prstGeom>
          <a:noFill/>
          <a:ln w="9525">
            <a:solidFill>
              <a:srgbClr val="BFBFBF"/>
            </a:solidFill>
            <a:prstDash val="solid"/>
          </a:ln>
        </p:spPr>
      </p:sp>
      <p:sp>
        <p:nvSpPr>
          <p:cNvPr id="16" name="label"/>
          <p:cNvSpPr txBox="1"/>
          <p:nvPr/>
        </p:nvSpPr>
        <p:spPr>
          <a:xfrm>
            <a:off x="640080" y="1764792"/>
            <a:ext cx="3200400" cy="384048"/>
          </a:xfrm>
          <a:prstGeom prst="rect">
            <a:avLst/>
          </a:prstGeom>
          <a:noFill/>
          <a:ln/>
        </p:spPr>
        <p:txBody>
          <a:bodyPr wrap="square" lIns="0" tIns="0" rIns="0" bIns="0" rtlCol="0" anchor="ctr"/>
          <a:lstStyle/>
          <a:p>
            <a:pPr algn="l" indent="0" marL="0">
              <a:buNone/>
            </a:pPr>
            <a:r>
              <a:rPr lang="en-US" sz="1300" dirty="0">
                <a:solidFill>
                  <a:srgbClr val="000000"/>
                </a:solidFill>
                <a:latin typeface="Arial" pitchFamily="34" charset="0"/>
                <a:ea typeface="Arial" pitchFamily="34" charset="-122"/>
                <a:cs typeface="Arial" pitchFamily="34" charset="-120"/>
              </a:rPr>
              <a:t>Concept and requirements</a:t>
            </a:r>
            <a:endParaRPr lang="en-US" sz="1300" dirty="0"/>
          </a:p>
        </p:txBody>
      </p:sp>
      <p:sp>
        <p:nvSpPr>
          <p:cNvPr id="17" name="label"/>
          <p:cNvSpPr txBox="1"/>
          <p:nvPr/>
        </p:nvSpPr>
        <p:spPr>
          <a:xfrm>
            <a:off x="4023360" y="1764792"/>
            <a:ext cx="1417320" cy="384048"/>
          </a:xfrm>
          <a:prstGeom prst="rect">
            <a:avLst/>
          </a:prstGeom>
          <a:noFill/>
          <a:ln/>
        </p:spPr>
        <p:txBody>
          <a:bodyPr wrap="square" lIns="0" tIns="0" rIns="0" bIns="0" rtlCol="0" anchor="ctr"/>
          <a:lstStyle/>
          <a:p>
            <a:pPr algn="l" indent="0" marL="0">
              <a:buNone/>
            </a:pPr>
            <a:r>
              <a:rPr lang="en-US" sz="1300" dirty="0">
                <a:solidFill>
                  <a:srgbClr val="404040"/>
                </a:solidFill>
                <a:latin typeface="Arial" pitchFamily="34" charset="0"/>
                <a:ea typeface="Arial" pitchFamily="34" charset="-122"/>
                <a:cs typeface="Arial" pitchFamily="34" charset="-120"/>
              </a:rPr>
              <a:t>Jul 16 – Aug 5</a:t>
            </a:r>
            <a:endParaRPr lang="en-US" sz="1300" dirty="0"/>
          </a:p>
        </p:txBody>
      </p:sp>
      <p:sp>
        <p:nvSpPr>
          <p:cNvPr id="18" name="Concept and requirements bar"/>
          <p:cNvSpPr/>
          <p:nvPr/>
        </p:nvSpPr>
        <p:spPr>
          <a:xfrm>
            <a:off x="6277356" y="1856232"/>
            <a:ext cx="1043330" cy="201168"/>
          </a:xfrm>
          <a:prstGeom prst="rect">
            <a:avLst/>
          </a:prstGeom>
          <a:solidFill>
            <a:srgbClr val="4F6D8F"/>
          </a:solidFill>
          <a:ln w="12700">
            <a:solidFill>
              <a:srgbClr val="4F6D8F"/>
            </a:solidFill>
            <a:prstDash val="solid"/>
          </a:ln>
        </p:spPr>
      </p:sp>
      <p:sp>
        <p:nvSpPr>
          <p:cNvPr id="19" name="label"/>
          <p:cNvSpPr txBox="1"/>
          <p:nvPr/>
        </p:nvSpPr>
        <p:spPr>
          <a:xfrm>
            <a:off x="640080" y="2148840"/>
            <a:ext cx="3200400" cy="384048"/>
          </a:xfrm>
          <a:prstGeom prst="rect">
            <a:avLst/>
          </a:prstGeom>
          <a:noFill/>
          <a:ln/>
        </p:spPr>
        <p:txBody>
          <a:bodyPr wrap="square" lIns="0" tIns="0" rIns="0" bIns="0" rtlCol="0" anchor="ctr"/>
          <a:lstStyle/>
          <a:p>
            <a:pPr algn="l" indent="0" marL="0">
              <a:buNone/>
            </a:pPr>
            <a:r>
              <a:rPr lang="en-US" sz="1300" dirty="0">
                <a:solidFill>
                  <a:srgbClr val="000000"/>
                </a:solidFill>
                <a:latin typeface="Arial" pitchFamily="34" charset="0"/>
                <a:ea typeface="Arial" pitchFamily="34" charset="-122"/>
                <a:cs typeface="Arial" pitchFamily="34" charset="-120"/>
              </a:rPr>
              <a:t>Generation 1: build and bench test</a:t>
            </a:r>
            <a:endParaRPr lang="en-US" sz="1300" dirty="0"/>
          </a:p>
        </p:txBody>
      </p:sp>
      <p:sp>
        <p:nvSpPr>
          <p:cNvPr id="20" name="label"/>
          <p:cNvSpPr txBox="1"/>
          <p:nvPr/>
        </p:nvSpPr>
        <p:spPr>
          <a:xfrm>
            <a:off x="4023360" y="2148840"/>
            <a:ext cx="1417320" cy="384048"/>
          </a:xfrm>
          <a:prstGeom prst="rect">
            <a:avLst/>
          </a:prstGeom>
          <a:noFill/>
          <a:ln/>
        </p:spPr>
        <p:txBody>
          <a:bodyPr wrap="square" lIns="0" tIns="0" rIns="0" bIns="0" rtlCol="0" anchor="ctr"/>
          <a:lstStyle/>
          <a:p>
            <a:pPr algn="l" indent="0" marL="0">
              <a:buNone/>
            </a:pPr>
            <a:r>
              <a:rPr lang="en-US" sz="1300" dirty="0">
                <a:solidFill>
                  <a:srgbClr val="404040"/>
                </a:solidFill>
                <a:latin typeface="Arial" pitchFamily="34" charset="0"/>
                <a:ea typeface="Arial" pitchFamily="34" charset="-122"/>
                <a:cs typeface="Arial" pitchFamily="34" charset="-120"/>
              </a:rPr>
              <a:t>Aug 6 – Sep 2</a:t>
            </a:r>
            <a:endParaRPr lang="en-US" sz="1300" dirty="0"/>
          </a:p>
        </p:txBody>
      </p:sp>
      <p:sp>
        <p:nvSpPr>
          <p:cNvPr id="21" name="Generation 1: build and bench test bar"/>
          <p:cNvSpPr/>
          <p:nvPr/>
        </p:nvSpPr>
        <p:spPr>
          <a:xfrm>
            <a:off x="7320686" y="2240280"/>
            <a:ext cx="1391107" cy="201168"/>
          </a:xfrm>
          <a:prstGeom prst="rect">
            <a:avLst/>
          </a:prstGeom>
          <a:solidFill>
            <a:srgbClr val="4F6D8F"/>
          </a:solidFill>
          <a:ln w="12700">
            <a:solidFill>
              <a:srgbClr val="4F6D8F"/>
            </a:solidFill>
            <a:prstDash val="solid"/>
          </a:ln>
        </p:spPr>
      </p:sp>
      <p:sp>
        <p:nvSpPr>
          <p:cNvPr id="22" name="label"/>
          <p:cNvSpPr txBox="1"/>
          <p:nvPr/>
        </p:nvSpPr>
        <p:spPr>
          <a:xfrm>
            <a:off x="640080" y="2532888"/>
            <a:ext cx="3200400" cy="384048"/>
          </a:xfrm>
          <a:prstGeom prst="rect">
            <a:avLst/>
          </a:prstGeom>
          <a:noFill/>
          <a:ln/>
        </p:spPr>
        <p:txBody>
          <a:bodyPr wrap="square" lIns="0" tIns="0" rIns="0" bIns="0" rtlCol="0" anchor="ctr"/>
          <a:lstStyle/>
          <a:p>
            <a:pPr algn="l" indent="0" marL="0">
              <a:buNone/>
            </a:pPr>
            <a:r>
              <a:rPr lang="en-US" sz="1300" dirty="0">
                <a:solidFill>
                  <a:srgbClr val="000000"/>
                </a:solidFill>
                <a:latin typeface="Arial" pitchFamily="34" charset="0"/>
                <a:ea typeface="Arial" pitchFamily="34" charset="-122"/>
                <a:cs typeface="Arial" pitchFamily="34" charset="-120"/>
              </a:rPr>
              <a:t>Redesign: sensors and wiring</a:t>
            </a:r>
            <a:endParaRPr lang="en-US" sz="1300" dirty="0"/>
          </a:p>
        </p:txBody>
      </p:sp>
      <p:sp>
        <p:nvSpPr>
          <p:cNvPr id="23" name="label"/>
          <p:cNvSpPr txBox="1"/>
          <p:nvPr/>
        </p:nvSpPr>
        <p:spPr>
          <a:xfrm>
            <a:off x="4023360" y="2532888"/>
            <a:ext cx="1417320" cy="384048"/>
          </a:xfrm>
          <a:prstGeom prst="rect">
            <a:avLst/>
          </a:prstGeom>
          <a:noFill/>
          <a:ln/>
        </p:spPr>
        <p:txBody>
          <a:bodyPr wrap="square" lIns="0" tIns="0" rIns="0" bIns="0" rtlCol="0" anchor="ctr"/>
          <a:lstStyle/>
          <a:p>
            <a:pPr algn="l" indent="0" marL="0">
              <a:buNone/>
            </a:pPr>
            <a:r>
              <a:rPr lang="en-US" sz="1300" dirty="0">
                <a:solidFill>
                  <a:srgbClr val="404040"/>
                </a:solidFill>
                <a:latin typeface="Arial" pitchFamily="34" charset="0"/>
                <a:ea typeface="Arial" pitchFamily="34" charset="-122"/>
                <a:cs typeface="Arial" pitchFamily="34" charset="-120"/>
              </a:rPr>
              <a:t>Sep 3 – Oct 6</a:t>
            </a:r>
            <a:endParaRPr lang="en-US" sz="1300" dirty="0"/>
          </a:p>
        </p:txBody>
      </p:sp>
      <p:sp>
        <p:nvSpPr>
          <p:cNvPr id="24" name="Redesign: sensors and wiring bar"/>
          <p:cNvSpPr/>
          <p:nvPr/>
        </p:nvSpPr>
        <p:spPr>
          <a:xfrm>
            <a:off x="8711794" y="2624328"/>
            <a:ext cx="1689202" cy="201168"/>
          </a:xfrm>
          <a:prstGeom prst="rect">
            <a:avLst/>
          </a:prstGeom>
          <a:solidFill>
            <a:srgbClr val="4F6D8F"/>
          </a:solidFill>
          <a:ln w="12700">
            <a:solidFill>
              <a:srgbClr val="4F6D8F"/>
            </a:solidFill>
            <a:prstDash val="solid"/>
          </a:ln>
        </p:spPr>
      </p:sp>
      <p:sp>
        <p:nvSpPr>
          <p:cNvPr id="25" name="label"/>
          <p:cNvSpPr txBox="1"/>
          <p:nvPr/>
        </p:nvSpPr>
        <p:spPr>
          <a:xfrm>
            <a:off x="640080" y="2916936"/>
            <a:ext cx="3200400" cy="384048"/>
          </a:xfrm>
          <a:prstGeom prst="rect">
            <a:avLst/>
          </a:prstGeom>
          <a:noFill/>
          <a:ln/>
        </p:spPr>
        <p:txBody>
          <a:bodyPr wrap="square" lIns="0" tIns="0" rIns="0" bIns="0" rtlCol="0" anchor="ctr"/>
          <a:lstStyle/>
          <a:p>
            <a:pPr algn="l" indent="0" marL="0">
              <a:buNone/>
            </a:pPr>
            <a:r>
              <a:rPr lang="en-US" sz="1300" dirty="0">
                <a:solidFill>
                  <a:srgbClr val="000000"/>
                </a:solidFill>
                <a:latin typeface="Arial" pitchFamily="34" charset="0"/>
                <a:ea typeface="Arial" pitchFamily="34" charset="-122"/>
                <a:cs typeface="Arial" pitchFamily="34" charset="-120"/>
              </a:rPr>
              <a:t>Generation 2 and final design</a:t>
            </a:r>
            <a:endParaRPr lang="en-US" sz="1300" dirty="0"/>
          </a:p>
        </p:txBody>
      </p:sp>
      <p:sp>
        <p:nvSpPr>
          <p:cNvPr id="26" name="label"/>
          <p:cNvSpPr txBox="1"/>
          <p:nvPr/>
        </p:nvSpPr>
        <p:spPr>
          <a:xfrm>
            <a:off x="4023360" y="2916936"/>
            <a:ext cx="1417320" cy="384048"/>
          </a:xfrm>
          <a:prstGeom prst="rect">
            <a:avLst/>
          </a:prstGeom>
          <a:noFill/>
          <a:ln/>
        </p:spPr>
        <p:txBody>
          <a:bodyPr wrap="square" lIns="0" tIns="0" rIns="0" bIns="0" rtlCol="0" anchor="ctr"/>
          <a:lstStyle/>
          <a:p>
            <a:pPr algn="l" indent="0" marL="0">
              <a:buNone/>
            </a:pPr>
            <a:r>
              <a:rPr lang="en-US" sz="1300" dirty="0">
                <a:solidFill>
                  <a:srgbClr val="404040"/>
                </a:solidFill>
                <a:latin typeface="Arial" pitchFamily="34" charset="0"/>
                <a:ea typeface="Arial" pitchFamily="34" charset="-122"/>
                <a:cs typeface="Arial" pitchFamily="34" charset="-120"/>
              </a:rPr>
              <a:t>Oct 7 – Oct 21</a:t>
            </a:r>
            <a:endParaRPr lang="en-US" sz="1300" dirty="0"/>
          </a:p>
        </p:txBody>
      </p:sp>
      <p:sp>
        <p:nvSpPr>
          <p:cNvPr id="27" name="Generation 2 and final design bar"/>
          <p:cNvSpPr/>
          <p:nvPr/>
        </p:nvSpPr>
        <p:spPr>
          <a:xfrm>
            <a:off x="10400995" y="3008376"/>
            <a:ext cx="745236" cy="201168"/>
          </a:xfrm>
          <a:prstGeom prst="rect">
            <a:avLst/>
          </a:prstGeom>
          <a:solidFill>
            <a:srgbClr val="4F6D8F"/>
          </a:solidFill>
          <a:ln w="12700">
            <a:solidFill>
              <a:srgbClr val="4F6D8F"/>
            </a:solidFill>
            <a:prstDash val="solid"/>
          </a:ln>
        </p:spPr>
      </p:sp>
      <p:sp>
        <p:nvSpPr>
          <p:cNvPr id="28" name="label"/>
          <p:cNvSpPr txBox="1"/>
          <p:nvPr/>
        </p:nvSpPr>
        <p:spPr>
          <a:xfrm>
            <a:off x="640080" y="3300984"/>
            <a:ext cx="3200400" cy="384048"/>
          </a:xfrm>
          <a:prstGeom prst="rect">
            <a:avLst/>
          </a:prstGeom>
          <a:noFill/>
          <a:ln/>
        </p:spPr>
        <p:txBody>
          <a:bodyPr wrap="square" lIns="0" tIns="0" rIns="0" bIns="0" rtlCol="0" anchor="ctr"/>
          <a:lstStyle/>
          <a:p>
            <a:pPr algn="l" indent="0" marL="0">
              <a:buNone/>
            </a:pPr>
            <a:r>
              <a:rPr lang="en-US" sz="1300" dirty="0">
                <a:solidFill>
                  <a:srgbClr val="000000"/>
                </a:solidFill>
                <a:latin typeface="Arial" pitchFamily="34" charset="0"/>
                <a:ea typeface="Arial" pitchFamily="34" charset="-122"/>
                <a:cs typeface="Arial" pitchFamily="34" charset="-120"/>
              </a:rPr>
              <a:t>Build and first system test</a:t>
            </a:r>
            <a:endParaRPr lang="en-US" sz="1300" dirty="0"/>
          </a:p>
        </p:txBody>
      </p:sp>
      <p:sp>
        <p:nvSpPr>
          <p:cNvPr id="29" name="label"/>
          <p:cNvSpPr txBox="1"/>
          <p:nvPr/>
        </p:nvSpPr>
        <p:spPr>
          <a:xfrm>
            <a:off x="4023360" y="3300984"/>
            <a:ext cx="1417320" cy="384048"/>
          </a:xfrm>
          <a:prstGeom prst="rect">
            <a:avLst/>
          </a:prstGeom>
          <a:noFill/>
          <a:ln/>
        </p:spPr>
        <p:txBody>
          <a:bodyPr wrap="square" lIns="0" tIns="0" rIns="0" bIns="0" rtlCol="0" anchor="ctr"/>
          <a:lstStyle/>
          <a:p>
            <a:pPr algn="l" indent="0" marL="0">
              <a:buNone/>
            </a:pPr>
            <a:r>
              <a:rPr lang="en-US" sz="1300" dirty="0">
                <a:solidFill>
                  <a:srgbClr val="404040"/>
                </a:solidFill>
                <a:latin typeface="Arial" pitchFamily="34" charset="0"/>
                <a:ea typeface="Arial" pitchFamily="34" charset="-122"/>
                <a:cs typeface="Arial" pitchFamily="34" charset="-120"/>
              </a:rPr>
              <a:t>Oct 22 – Oct 27</a:t>
            </a:r>
            <a:endParaRPr lang="en-US" sz="1300" dirty="0"/>
          </a:p>
        </p:txBody>
      </p:sp>
      <p:sp>
        <p:nvSpPr>
          <p:cNvPr id="30" name="Build and first system test bar"/>
          <p:cNvSpPr/>
          <p:nvPr/>
        </p:nvSpPr>
        <p:spPr>
          <a:xfrm>
            <a:off x="11146231" y="3392424"/>
            <a:ext cx="298094" cy="201168"/>
          </a:xfrm>
          <a:prstGeom prst="rect">
            <a:avLst/>
          </a:prstGeom>
          <a:solidFill>
            <a:srgbClr val="4F6D8F"/>
          </a:solidFill>
          <a:ln w="12700">
            <a:solidFill>
              <a:srgbClr val="4F6D8F"/>
            </a:solidFill>
            <a:prstDash val="solid"/>
          </a:ln>
        </p:spPr>
      </p:sp>
      <p:sp>
        <p:nvSpPr>
          <p:cNvPr id="31" name="Shape 29"/>
          <p:cNvSpPr/>
          <p:nvPr/>
        </p:nvSpPr>
        <p:spPr>
          <a:xfrm>
            <a:off x="548640" y="3685032"/>
            <a:ext cx="11094415" cy="0"/>
          </a:xfrm>
          <a:prstGeom prst="line">
            <a:avLst/>
          </a:prstGeom>
          <a:noFill/>
          <a:ln w="9525">
            <a:solidFill>
              <a:srgbClr val="BFBFBF"/>
            </a:solidFill>
            <a:prstDash val="solid"/>
          </a:ln>
        </p:spPr>
      </p:sp>
      <p:sp>
        <p:nvSpPr>
          <p:cNvPr id="32" name="My work (solo project) heading"/>
          <p:cNvSpPr txBox="1"/>
          <p:nvPr/>
        </p:nvSpPr>
        <p:spPr>
          <a:xfrm>
            <a:off x="548640" y="4005072"/>
            <a:ext cx="6309360"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My work (solo project)</a:t>
            </a:r>
            <a:endParaRPr lang="en-US" sz="1700" dirty="0"/>
          </a:p>
        </p:txBody>
      </p:sp>
      <p:sp>
        <p:nvSpPr>
          <p:cNvPr id="33" name="Shape 31"/>
          <p:cNvSpPr/>
          <p:nvPr/>
        </p:nvSpPr>
        <p:spPr>
          <a:xfrm>
            <a:off x="548640" y="4389120"/>
            <a:ext cx="6309360" cy="0"/>
          </a:xfrm>
          <a:prstGeom prst="line">
            <a:avLst/>
          </a:prstGeom>
          <a:noFill/>
          <a:ln w="12700">
            <a:solidFill>
              <a:srgbClr val="1F3A5F"/>
            </a:solidFill>
            <a:prstDash val="solid"/>
          </a:ln>
        </p:spPr>
      </p:sp>
      <p:sp>
        <p:nvSpPr>
          <p:cNvPr id="34" name="my work"/>
          <p:cNvSpPr txBox="1"/>
          <p:nvPr/>
        </p:nvSpPr>
        <p:spPr>
          <a:xfrm>
            <a:off x="548640" y="4507992"/>
            <a:ext cx="6309360" cy="1755648"/>
          </a:xfrm>
          <a:prstGeom prst="rect">
            <a:avLst/>
          </a:prstGeom>
          <a:noFill/>
          <a:ln/>
        </p:spPr>
        <p:txBody>
          <a:bodyPr wrap="square" lIns="25400" tIns="0" rIns="50800" bIns="25400" rtlCol="0" anchor="t"/>
          <a:lstStyle/>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Requirements, calculations and test plans</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All CAD (computer-aided design) in SolidWorks</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3D printing, fit testing and machining the heat fin</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Wiring, soldering and electronics bring-up</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Control software: </a:t>
            </a:r>
            <a:pPr algn="l" marL="254000" indent="-254000">
              <a:spcAft>
                <a:spcPts val="400"/>
              </a:spcAft>
              <a:buSzPct val="100000"/>
              <a:buChar char="•"/>
            </a:pPr>
            <a:r>
              <a:rPr lang="en-US" sz="1600" i="1" dirty="0">
                <a:solidFill>
                  <a:srgbClr val="B23A2E"/>
                </a:solidFill>
                <a:latin typeface="Arial" pitchFamily="34" charset="0"/>
                <a:ea typeface="Arial" pitchFamily="34" charset="-122"/>
                <a:cs typeface="Arial" pitchFamily="34" charset="-120"/>
              </a:rPr>
              <a:t>[confirm the parts you wrote]</a:t>
            </a:r>
            <a:endParaRPr lang="en-US" sz="1600" dirty="0"/>
          </a:p>
        </p:txBody>
      </p:sp>
      <p:sp>
        <p:nvSpPr>
          <p:cNvPr id="35" name="Purchased or external heading"/>
          <p:cNvSpPr txBox="1"/>
          <p:nvPr/>
        </p:nvSpPr>
        <p:spPr>
          <a:xfrm>
            <a:off x="7223760" y="4005072"/>
            <a:ext cx="4419295"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Purchased or external</a:t>
            </a:r>
            <a:endParaRPr lang="en-US" sz="1700" dirty="0"/>
          </a:p>
        </p:txBody>
      </p:sp>
      <p:sp>
        <p:nvSpPr>
          <p:cNvPr id="36" name="Shape 34"/>
          <p:cNvSpPr/>
          <p:nvPr/>
        </p:nvSpPr>
        <p:spPr>
          <a:xfrm>
            <a:off x="7223760" y="4389120"/>
            <a:ext cx="4419295" cy="0"/>
          </a:xfrm>
          <a:prstGeom prst="line">
            <a:avLst/>
          </a:prstGeom>
          <a:noFill/>
          <a:ln w="12700">
            <a:solidFill>
              <a:srgbClr val="1F3A5F"/>
            </a:solidFill>
            <a:prstDash val="solid"/>
          </a:ln>
        </p:spPr>
      </p:sp>
      <p:sp>
        <p:nvSpPr>
          <p:cNvPr id="37" name="bought"/>
          <p:cNvSpPr txBox="1"/>
          <p:nvPr/>
        </p:nvSpPr>
        <p:spPr>
          <a:xfrm>
            <a:off x="7223760" y="4507992"/>
            <a:ext cx="4419295" cy="1755648"/>
          </a:xfrm>
          <a:prstGeom prst="rect">
            <a:avLst/>
          </a:prstGeom>
          <a:noFill/>
          <a:ln/>
        </p:spPr>
        <p:txBody>
          <a:bodyPr wrap="square" lIns="25400" tIns="0" rIns="50800" bIns="25400" rtlCol="0" anchor="t"/>
          <a:lstStyle/>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Stepper motors, drivers and controller boards</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Servo, camera, battery and encoder boards</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Garment detection: YOLO-World, an open-source model</a:t>
            </a:r>
            <a:endParaRPr lang="en-US" sz="1600" dirty="0"/>
          </a:p>
          <a:p>
            <a:pPr algn="l" marL="254000" indent="-254000">
              <a:spcAft>
                <a:spcPts val="400"/>
              </a:spcAft>
              <a:buSzPct val="100000"/>
              <a:buChar char="•"/>
            </a:pPr>
            <a:r>
              <a:rPr lang="en-US" sz="1600" dirty="0">
                <a:solidFill>
                  <a:srgbClr val="000000"/>
                </a:solidFill>
                <a:latin typeface="Arial" pitchFamily="34" charset="0"/>
                <a:ea typeface="Arial" pitchFamily="34" charset="-122"/>
                <a:cs typeface="Arial" pitchFamily="34" charset="-120"/>
              </a:rPr>
              <a:t>Shop access or mentors: </a:t>
            </a:r>
            <a:pPr algn="l" marL="254000" indent="-254000">
              <a:spcAft>
                <a:spcPts val="400"/>
              </a:spcAft>
              <a:buSzPct val="100000"/>
              <a:buChar char="•"/>
            </a:pPr>
            <a:r>
              <a:rPr lang="en-US" sz="1600" i="1" dirty="0">
                <a:solidFill>
                  <a:srgbClr val="B23A2E"/>
                </a:solidFill>
                <a:latin typeface="Arial" pitchFamily="34" charset="0"/>
                <a:ea typeface="Arial" pitchFamily="34" charset="-122"/>
                <a:cs typeface="Arial" pitchFamily="34" charset="-120"/>
              </a:rPr>
              <a:t>[if any]</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How It Works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476774"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Four wall stations, each with its own winch, encoder and controller</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One claw with a gripper, camera and battery, hung on four cables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Laptop plans each move and checks every cable tension before it runs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Phone app starts, pauses and approves each move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Software simulated end to end; hardware test this week</a:t>
            </a:r>
            <a:endParaRPr lang="en-US" sz="2000" dirty="0"/>
          </a:p>
        </p:txBody>
      </p:sp>
      <p:sp>
        <p:nvSpPr>
          <p:cNvPr id="5" name="layer 1"/>
          <p:cNvSpPr/>
          <p:nvPr/>
        </p:nvSpPr>
        <p:spPr>
          <a:xfrm>
            <a:off x="5436894" y="1463040"/>
            <a:ext cx="4194481" cy="716890"/>
          </a:xfrm>
          <a:prstGeom prst="rect">
            <a:avLst/>
          </a:prstGeom>
          <a:solidFill>
            <a:srgbClr val="FFFFFF"/>
          </a:solidFill>
          <a:ln w="15875">
            <a:solidFill>
              <a:srgbClr val="1F3A5F"/>
            </a:solidFill>
            <a:prstDash val="solid"/>
          </a:ln>
        </p:spPr>
      </p:sp>
      <p:sp>
        <p:nvSpPr>
          <p:cNvPr id="6" name="Text 4"/>
          <p:cNvSpPr txBox="1"/>
          <p:nvPr/>
        </p:nvSpPr>
        <p:spPr>
          <a:xfrm>
            <a:off x="5574054" y="1463040"/>
            <a:ext cx="3920161"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Phone app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Start, pause, and approval before every move</a:t>
            </a:r>
            <a:endParaRPr lang="en-US" sz="1400" dirty="0"/>
          </a:p>
        </p:txBody>
      </p:sp>
      <p:sp>
        <p:nvSpPr>
          <p:cNvPr id="7" name="Shape 5"/>
          <p:cNvSpPr/>
          <p:nvPr/>
        </p:nvSpPr>
        <p:spPr>
          <a:xfrm>
            <a:off x="7534135" y="2198218"/>
            <a:ext cx="0" cy="164592"/>
          </a:xfrm>
          <a:prstGeom prst="line">
            <a:avLst/>
          </a:prstGeom>
          <a:noFill/>
          <a:ln w="19050">
            <a:solidFill>
              <a:srgbClr val="7F7F7F"/>
            </a:solidFill>
            <a:prstDash val="solid"/>
            <a:tailEnd type="triangle"/>
          </a:ln>
        </p:spPr>
      </p:sp>
      <p:sp>
        <p:nvSpPr>
          <p:cNvPr id="8" name="layer 2"/>
          <p:cNvSpPr/>
          <p:nvPr/>
        </p:nvSpPr>
        <p:spPr>
          <a:xfrm>
            <a:off x="5436894" y="2381098"/>
            <a:ext cx="4194481" cy="716890"/>
          </a:xfrm>
          <a:prstGeom prst="rect">
            <a:avLst/>
          </a:prstGeom>
          <a:solidFill>
            <a:srgbClr val="FFFFFF"/>
          </a:solidFill>
          <a:ln w="15875">
            <a:solidFill>
              <a:srgbClr val="1F3A5F"/>
            </a:solidFill>
            <a:prstDash val="solid"/>
          </a:ln>
        </p:spPr>
      </p:sp>
      <p:sp>
        <p:nvSpPr>
          <p:cNvPr id="9" name="Text 7"/>
          <p:cNvSpPr txBox="1"/>
          <p:nvPr/>
        </p:nvSpPr>
        <p:spPr>
          <a:xfrm>
            <a:off x="5574054" y="2381098"/>
            <a:ext cx="3920161"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Supervisor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Holds one robot state; rejects commands that do not fit it</a:t>
            </a:r>
            <a:endParaRPr lang="en-US" sz="1400" dirty="0"/>
          </a:p>
        </p:txBody>
      </p:sp>
      <p:sp>
        <p:nvSpPr>
          <p:cNvPr id="10" name="Shape 8"/>
          <p:cNvSpPr/>
          <p:nvPr/>
        </p:nvSpPr>
        <p:spPr>
          <a:xfrm>
            <a:off x="7534135" y="3116275"/>
            <a:ext cx="0" cy="164592"/>
          </a:xfrm>
          <a:prstGeom prst="line">
            <a:avLst/>
          </a:prstGeom>
          <a:noFill/>
          <a:ln w="19050">
            <a:solidFill>
              <a:srgbClr val="7F7F7F"/>
            </a:solidFill>
            <a:prstDash val="solid"/>
            <a:tailEnd type="triangle"/>
          </a:ln>
        </p:spPr>
      </p:sp>
      <p:sp>
        <p:nvSpPr>
          <p:cNvPr id="11" name="layer 3"/>
          <p:cNvSpPr/>
          <p:nvPr/>
        </p:nvSpPr>
        <p:spPr>
          <a:xfrm>
            <a:off x="5436894" y="3299155"/>
            <a:ext cx="4194481" cy="716890"/>
          </a:xfrm>
          <a:prstGeom prst="rect">
            <a:avLst/>
          </a:prstGeom>
          <a:solidFill>
            <a:srgbClr val="FFFFFF"/>
          </a:solidFill>
          <a:ln w="15875">
            <a:solidFill>
              <a:srgbClr val="1F3A5F"/>
            </a:solidFill>
            <a:prstDash val="solid"/>
          </a:ln>
        </p:spPr>
      </p:sp>
      <p:sp>
        <p:nvSpPr>
          <p:cNvPr id="12" name="Text 10"/>
          <p:cNvSpPr txBox="1"/>
          <p:nvPr/>
        </p:nvSpPr>
        <p:spPr>
          <a:xfrm>
            <a:off x="5574054" y="3299155"/>
            <a:ext cx="3920161"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Startup and tasks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Calibrates, then scans, grips, checks and delivers</a:t>
            </a:r>
            <a:endParaRPr lang="en-US" sz="1400" dirty="0"/>
          </a:p>
        </p:txBody>
      </p:sp>
      <p:sp>
        <p:nvSpPr>
          <p:cNvPr id="13" name="Shape 11"/>
          <p:cNvSpPr/>
          <p:nvPr/>
        </p:nvSpPr>
        <p:spPr>
          <a:xfrm>
            <a:off x="7534135" y="4034333"/>
            <a:ext cx="0" cy="164592"/>
          </a:xfrm>
          <a:prstGeom prst="line">
            <a:avLst/>
          </a:prstGeom>
          <a:noFill/>
          <a:ln w="19050">
            <a:solidFill>
              <a:srgbClr val="7F7F7F"/>
            </a:solidFill>
            <a:prstDash val="solid"/>
            <a:tailEnd type="triangle"/>
          </a:ln>
        </p:spPr>
      </p:sp>
      <p:sp>
        <p:nvSpPr>
          <p:cNvPr id="14" name="layer 4"/>
          <p:cNvSpPr/>
          <p:nvPr/>
        </p:nvSpPr>
        <p:spPr>
          <a:xfrm>
            <a:off x="5436894" y="4217213"/>
            <a:ext cx="4194481" cy="716890"/>
          </a:xfrm>
          <a:prstGeom prst="rect">
            <a:avLst/>
          </a:prstGeom>
          <a:solidFill>
            <a:srgbClr val="FFFFFF"/>
          </a:solidFill>
          <a:ln w="15875">
            <a:solidFill>
              <a:srgbClr val="1F3A5F"/>
            </a:solidFill>
            <a:prstDash val="solid"/>
          </a:ln>
        </p:spPr>
      </p:sp>
      <p:sp>
        <p:nvSpPr>
          <p:cNvPr id="15" name="Text 13"/>
          <p:cNvSpPr txBox="1"/>
          <p:nvPr/>
        </p:nvSpPr>
        <p:spPr>
          <a:xfrm>
            <a:off x="5574054" y="4217213"/>
            <a:ext cx="3920161"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Motion planner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Checks every point of a path, then sends timed moves</a:t>
            </a:r>
            <a:endParaRPr lang="en-US" sz="1400" dirty="0"/>
          </a:p>
        </p:txBody>
      </p:sp>
      <p:sp>
        <p:nvSpPr>
          <p:cNvPr id="16" name="Shape 14"/>
          <p:cNvSpPr/>
          <p:nvPr/>
        </p:nvSpPr>
        <p:spPr>
          <a:xfrm>
            <a:off x="7534135" y="4952390"/>
            <a:ext cx="0" cy="164592"/>
          </a:xfrm>
          <a:prstGeom prst="line">
            <a:avLst/>
          </a:prstGeom>
          <a:noFill/>
          <a:ln w="19050">
            <a:solidFill>
              <a:srgbClr val="7F7F7F"/>
            </a:solidFill>
            <a:prstDash val="solid"/>
            <a:tailEnd type="triangle"/>
          </a:ln>
        </p:spPr>
      </p:sp>
      <p:sp>
        <p:nvSpPr>
          <p:cNvPr id="17" name="layer 5"/>
          <p:cNvSpPr/>
          <p:nvPr/>
        </p:nvSpPr>
        <p:spPr>
          <a:xfrm>
            <a:off x="5436894" y="5135270"/>
            <a:ext cx="4194481" cy="716890"/>
          </a:xfrm>
          <a:prstGeom prst="rect">
            <a:avLst/>
          </a:prstGeom>
          <a:solidFill>
            <a:srgbClr val="FFFFFF"/>
          </a:solidFill>
          <a:ln w="15875">
            <a:solidFill>
              <a:srgbClr val="1F3A5F"/>
            </a:solidFill>
            <a:prstDash val="solid"/>
          </a:ln>
        </p:spPr>
      </p:sp>
      <p:sp>
        <p:nvSpPr>
          <p:cNvPr id="18" name="Text 16"/>
          <p:cNvSpPr txBox="1"/>
          <p:nvPr/>
        </p:nvSpPr>
        <p:spPr>
          <a:xfrm>
            <a:off x="5574054" y="5135270"/>
            <a:ext cx="3920161"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Wall stations (one controller each)</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Step the motor, read the encoder, hold if the link drops</a:t>
            </a:r>
            <a:endParaRPr lang="en-US" sz="1400" dirty="0"/>
          </a:p>
        </p:txBody>
      </p:sp>
      <p:sp>
        <p:nvSpPr>
          <p:cNvPr id="19" name="claw"/>
          <p:cNvSpPr/>
          <p:nvPr/>
        </p:nvSpPr>
        <p:spPr>
          <a:xfrm>
            <a:off x="10042855" y="3207715"/>
            <a:ext cx="1600200" cy="899770"/>
          </a:xfrm>
          <a:prstGeom prst="rect">
            <a:avLst/>
          </a:prstGeom>
          <a:solidFill>
            <a:srgbClr val="FFFFFF"/>
          </a:solidFill>
          <a:ln w="15875">
            <a:solidFill>
              <a:srgbClr val="1F3A5F"/>
            </a:solidFill>
            <a:prstDash val="solid"/>
          </a:ln>
        </p:spPr>
      </p:sp>
      <p:sp>
        <p:nvSpPr>
          <p:cNvPr id="20" name="Text 18"/>
          <p:cNvSpPr txBox="1"/>
          <p:nvPr/>
        </p:nvSpPr>
        <p:spPr>
          <a:xfrm>
            <a:off x="10134295" y="3207715"/>
            <a:ext cx="1417320" cy="89977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Claw</a:t>
            </a:r>
            <a:endParaRPr lang="en-US" sz="1400" dirty="0"/>
          </a:p>
          <a:p>
            <a:pPr indent="0" marL="0">
              <a:buNone/>
            </a:pPr>
            <a:r>
              <a:rPr lang="en-US" sz="1150" dirty="0">
                <a:solidFill>
                  <a:srgbClr val="000000"/>
                </a:solidFill>
                <a:latin typeface="Arial" pitchFamily="34" charset="0"/>
                <a:ea typeface="Arial" pitchFamily="34" charset="-122"/>
                <a:cs typeface="Arial" pitchFamily="34" charset="-120"/>
              </a:rPr>
              <a:t>Sends camera images; grips only when approved</a:t>
            </a:r>
            <a:endParaRPr lang="en-US" sz="1400" dirty="0"/>
          </a:p>
        </p:txBody>
      </p:sp>
      <p:sp>
        <p:nvSpPr>
          <p:cNvPr id="21" name="Shape 19"/>
          <p:cNvSpPr/>
          <p:nvPr/>
        </p:nvSpPr>
        <p:spPr>
          <a:xfrm>
            <a:off x="9667951" y="3657600"/>
            <a:ext cx="338328" cy="0"/>
          </a:xfrm>
          <a:prstGeom prst="line">
            <a:avLst/>
          </a:prstGeom>
          <a:noFill/>
          <a:ln w="19050">
            <a:solidFill>
              <a:srgbClr val="7F7F7F"/>
            </a:solidFill>
            <a:prstDash val="solid"/>
            <a:headEnd type="triangle"/>
            <a:tailEnd type="triangle"/>
          </a:ln>
        </p:spPr>
      </p:sp>
      <p:sp>
        <p:nvSpPr>
          <p:cNvPr id="22" name="layer note"/>
          <p:cNvSpPr txBox="1"/>
          <p:nvPr/>
        </p:nvSpPr>
        <p:spPr>
          <a:xfrm>
            <a:off x="5436894" y="5943600"/>
            <a:ext cx="6206161" cy="274320"/>
          </a:xfrm>
          <a:prstGeom prst="rect">
            <a:avLst/>
          </a:prstGeom>
          <a:noFill/>
          <a:ln/>
        </p:spPr>
        <p:txBody>
          <a:bodyPr wrap="square" lIns="0" tIns="0" rIns="0" bIns="0" rtlCol="0" anchor="ctr"/>
          <a:lstStyle/>
          <a:p>
            <a:pPr algn="l" indent="0" marL="0">
              <a:buNone/>
            </a:pPr>
            <a:r>
              <a:rPr lang="en-US" sz="1200" dirty="0">
                <a:solidFill>
                  <a:srgbClr val="404040"/>
                </a:solidFill>
                <a:latin typeface="Arial" pitchFamily="34" charset="0"/>
                <a:ea typeface="Arial" pitchFamily="34" charset="-122"/>
                <a:cs typeface="Arial" pitchFamily="34" charset="-120"/>
              </a:rPr>
              <a:t>Commands flow down; status and camera images flow up.</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Design Targets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18883"/>
                <a:gridCol w="3106436"/>
                <a:gridCol w="4104934"/>
                <a:gridCol w="1664162"/>
              </a:tblGrid>
              <a:tr h="475488">
                <a:tc>
                  <a:txBody>
                    <a:bodyPr/>
                    <a:lstStyle/>
                    <a:p>
                      <a:pPr indent="0" marL="0">
                        <a:buNone/>
                      </a:pPr>
                      <a:r>
                        <a:rPr lang="en-US" sz="1400" b="1" dirty="0">
                          <a:solidFill>
                            <a:srgbClr val="FFFFFF"/>
                          </a:solidFill>
                          <a:latin typeface="Arial" pitchFamily="34" charset="0"/>
                          <a:ea typeface="Arial" pitchFamily="34" charset="-122"/>
                          <a:cs typeface="Arial" pitchFamily="34" charset="-120"/>
                        </a:rPr>
                        <a:t>Parameter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Current value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Status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Lift capacity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1.76 kg: claw, battery and jeans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1.56 kg (calculated)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B23A2E"/>
                          </a:solidFill>
                          <a:latin typeface="Arial" pitchFamily="34" charset="0"/>
                          <a:ea typeface="Arial" pitchFamily="34" charset="-122"/>
                          <a:cs typeface="Arial" pitchFamily="34" charset="-120"/>
                        </a:rPr>
                        <a:t>Not met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Claw mass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0.45 kg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0.86 kg with battery (estimated); </a:t>
                      </a:r>
                      <a:pPr indent="0" marL="0">
                        <a:buNone/>
                      </a:pPr>
                      <a:r>
                        <a:rPr lang="en-US" sz="1400" i="1" dirty="0">
                          <a:solidFill>
                            <a:srgbClr val="B23A2E"/>
                          </a:solidFill>
                          <a:latin typeface="Arial" pitchFamily="34" charset="0"/>
                          <a:ea typeface="Arial" pitchFamily="34" charset="-122"/>
                          <a:cs typeface="Arial" pitchFamily="34" charset="-120"/>
                        </a:rPr>
                        <a:t>[weighed]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B23A2E"/>
                          </a:solidFill>
                          <a:latin typeface="Arial" pitchFamily="34" charset="0"/>
                          <a:ea typeface="Arial" pitchFamily="34" charset="-122"/>
                          <a:cs typeface="Arial" pitchFamily="34" charset="-120"/>
                        </a:rPr>
                        <a:t>Not met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Motor temperature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Below 60 °C (PETG limit)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58 °C prototype fin; 45–49 °C with 1/8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Marginal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Working area</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Full 11 × 9 ft floor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All but 0.2 m along the walls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Met in design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Wiring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One cable per station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One 12 V pair; 0.51 V drop on the longest run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Positioning accuracy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2 mm per cable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0.7 mm (calculated)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To be tested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Speed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50 mm/s at 2 m/s²</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Not yet run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To be tested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400" b="1" dirty="0">
                          <a:solidFill>
                            <a:srgbClr val="000000"/>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Hobby budget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[total cost]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label"/>
          <p:cNvSpPr txBox="1"/>
          <p:nvPr/>
        </p:nvSpPr>
        <p:spPr>
          <a:xfrm>
            <a:off x="548640" y="5806440"/>
            <a:ext cx="11094415" cy="365760"/>
          </a:xfrm>
          <a:prstGeom prst="rect">
            <a:avLst/>
          </a:prstGeom>
          <a:noFill/>
          <a:ln/>
        </p:spPr>
        <p:txBody>
          <a:bodyPr wrap="square" lIns="0" tIns="0" rIns="0" bIns="0" rtlCol="0" anchor="ctr"/>
          <a:lstStyle/>
          <a:p>
            <a:pPr algn="l" indent="0" marL="0">
              <a:buNone/>
            </a:pPr>
            <a:r>
              <a:rPr lang="en-US" sz="1500" dirty="0">
                <a:solidFill>
                  <a:srgbClr val="000000"/>
                </a:solidFill>
                <a:latin typeface="Arial" pitchFamily="34" charset="0"/>
                <a:ea typeface="Arial" pitchFamily="34" charset="-122"/>
                <a:cs typeface="Arial" pitchFamily="34" charset="-120"/>
              </a:rPr>
              <a:t>Safety is a fixed constraint and is not traded against any of these targets.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Design Trade-offs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29827"/>
                <a:gridCol w="2662660"/>
                <a:gridCol w="3217380"/>
                <a:gridCol w="2884548"/>
              </a:tblGrid>
              <a:tr h="566928">
                <a:tc>
                  <a:txBody>
                    <a:bodyPr/>
                    <a:lstStyle/>
                    <a:p>
                      <a:pPr indent="0" marL="0">
                        <a:buNone/>
                      </a:pPr>
                      <a:r>
                        <a:rPr lang="en-US" sz="1400" b="1" dirty="0">
                          <a:solidFill>
                            <a:srgbClr val="FFFFFF"/>
                          </a:solidFill>
                          <a:latin typeface="Arial" pitchFamily="34" charset="0"/>
                          <a:ea typeface="Arial" pitchFamily="34" charset="-122"/>
                          <a:cs typeface="Arial" pitchFamily="34" charset="-120"/>
                        </a:rPr>
                        <a:t>Design change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Benefit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Chosen setting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Higher motor current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41 % more pull at 1.5 A</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Heat rises with current squared: 2.0 W to 4.05 W</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1.5 A, vented shell and heat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Stronger claw</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Gear safety factor from 0.4 to 2.0</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More claw mass, less payload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Module 1.5 gears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Larger room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More floor covered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Longer wires, more voltage drop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Only 12 V power runs to the stations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Working closer to the ceiling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More working volume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Cable tension rises from 12 N to 32 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Stay 0.4 m below the anchors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Smaller spool radius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More pull per amp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Slower line speed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15 mm core: 34 N empty, 25 N full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400" b="1" dirty="0">
                          <a:solidFill>
                            <a:srgbClr val="000000"/>
                          </a:solidFill>
                          <a:latin typeface="Arial" pitchFamily="34" charset="0"/>
                          <a:ea typeface="Arial" pitchFamily="34" charset="-122"/>
                          <a:cs typeface="Arial" pitchFamily="34" charset="-120"/>
                        </a:rPr>
                        <a:t>Larger safety margins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No skipped steps or wall contact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Less usable force and floor area</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Force ÷ 1.5; 0.2 m from walls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label"/>
          <p:cNvSpPr txBox="1"/>
          <p:nvPr/>
        </p:nvSpPr>
        <p:spPr>
          <a:xfrm>
            <a:off x="548640" y="5623560"/>
            <a:ext cx="11094415" cy="457200"/>
          </a:xfrm>
          <a:prstGeom prst="rect">
            <a:avLst/>
          </a:prstGeom>
          <a:noFill/>
          <a:ln/>
        </p:spPr>
        <p:txBody>
          <a:bodyPr wrap="square" lIns="0" tIns="0" rIns="0" bIns="0" rtlCol="0" anchor="ctr"/>
          <a:lstStyle/>
          <a:p>
            <a:pPr algn="l" indent="0" marL="0">
              <a:buNone/>
            </a:pPr>
            <a:r>
              <a:rPr lang="en-US" sz="1500" dirty="0">
                <a:solidFill>
                  <a:srgbClr val="000000"/>
                </a:solidFill>
                <a:latin typeface="Arial" pitchFamily="34" charset="0"/>
                <a:ea typeface="Arial" pitchFamily="34" charset="-122"/>
                <a:cs typeface="Arial" pitchFamily="34" charset="-120"/>
              </a:rPr>
              <a:t>Key coupling: a heavier claw needs more pull, more pull needs more current, and heat rises with the square of the current.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Cable Tension</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295144"/>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Cables can only pull, so tension must stay positive</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Tension rises sharply near the ceiling</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32 N per cable at 0.15 m below the anchors; 8.3 N at 0.6 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Operating limit: 0.4 m below the anchors</a:t>
            </a:r>
            <a:endParaRPr lang="en-US" sz="1800" dirty="0"/>
          </a:p>
        </p:txBody>
      </p:sp>
      <p:sp>
        <p:nvSpPr>
          <p:cNvPr id="5" name="equation box"/>
          <p:cNvSpPr/>
          <p:nvPr/>
        </p:nvSpPr>
        <p:spPr>
          <a:xfrm>
            <a:off x="548640" y="3895344"/>
            <a:ext cx="5364328" cy="2368296"/>
          </a:xfrm>
          <a:prstGeom prst="rect">
            <a:avLst/>
          </a:prstGeom>
          <a:solidFill>
            <a:srgbClr val="F7F8FA"/>
          </a:solidFill>
          <a:ln w="15875">
            <a:solidFill>
              <a:srgbClr val="1F3A5F"/>
            </a:solidFill>
            <a:prstDash val="solid"/>
          </a:ln>
        </p:spPr>
      </p:sp>
      <p:sp>
        <p:nvSpPr>
          <p:cNvPr id="6" name="equation title"/>
          <p:cNvSpPr txBox="1"/>
          <p:nvPr/>
        </p:nvSpPr>
        <p:spPr>
          <a:xfrm>
            <a:off x="713232" y="3968496"/>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Cable tension at the operating limit</a:t>
            </a:r>
            <a:endParaRPr lang="en-US" sz="1100" dirty="0"/>
          </a:p>
        </p:txBody>
      </p:sp>
      <p:sp>
        <p:nvSpPr>
          <p:cNvPr id="7" name="equations"/>
          <p:cNvSpPr txBox="1"/>
          <p:nvPr/>
        </p:nvSpPr>
        <p:spPr>
          <a:xfrm>
            <a:off x="713232" y="4206240"/>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W / (4 sin φ),   sin φ = d / √(d²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²)</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sin φ = 0.4 / √(0.4² + 2.17²) = 0.181</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8.87 N / (4 × 0.181)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12.2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With 2 m/s²: 12.2 × 1.20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14.7 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&lt; 16.8 N</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W = (0.45 + 0.454) kg × 9.81 m/s² = 8.87 N; d = 0.4 m below the anchors; D</a:t>
            </a:r>
            <a:pPr indent="0" marL="0">
              <a:buNone/>
            </a:pPr>
            <a:r>
              <a:rPr lang="en-US" sz="1100" baseline="-40000" dirty="0">
                <a:solidFill>
                  <a:srgbClr val="404040"/>
                </a:solidFill>
                <a:latin typeface="Arial" pitchFamily="34" charset="0"/>
                <a:ea typeface="Arial" pitchFamily="34" charset="-122"/>
                <a:cs typeface="Arial" pitchFamily="34" charset="-120"/>
              </a:rPr>
              <a:t>h</a:t>
            </a:r>
            <a:pPr indent="0" marL="0">
              <a:buNone/>
            </a:pPr>
            <a:r>
              <a:rPr lang="en-US" sz="1100" dirty="0">
                <a:solidFill>
                  <a:srgbClr val="404040"/>
                </a:solidFill>
                <a:latin typeface="Arial" pitchFamily="34" charset="0"/>
                <a:ea typeface="Arial" pitchFamily="34" charset="-122"/>
                <a:cs typeface="Arial" pitchFamily="34" charset="-120"/>
              </a:rPr>
              <a:t> = 2.17 m, room center to corner; 16.8 N = winch design force</a:t>
            </a:r>
            <a:endParaRPr lang="en-US" sz="1100" dirty="0"/>
          </a:p>
        </p:txBody>
      </p:sp>
      <p:pic>
        <p:nvPicPr>
          <p:cNvPr id="9" name="Chart from the calculation sheet: Cable " descr="Chart from the calculation sheet: Cable tension">    </p:cNvPr>
          <p:cNvPicPr>
            <a:picLocks noChangeAspect="1"/>
          </p:cNvPicPr>
          <p:nvPr/>
        </p:nvPicPr>
        <p:blipFill>
          <a:blip r:embed="rId1"/>
          <a:stretch>
            <a:fillRect/>
          </a:stretch>
        </p:blipFill>
        <p:spPr>
          <a:xfrm>
            <a:off x="6324448" y="1554480"/>
            <a:ext cx="5318608" cy="3661008"/>
          </a:xfrm>
          <a:prstGeom prst="rect">
            <a:avLst/>
          </a:prstGeom>
        </p:spPr>
      </p:pic>
      <p:sp>
        <p:nvSpPr>
          <p:cNvPr id="10" name="chart frame"/>
          <p:cNvSpPr/>
          <p:nvPr/>
        </p:nvSpPr>
        <p:spPr>
          <a:xfrm>
            <a:off x="6324448" y="1554480"/>
            <a:ext cx="5318608" cy="3661008"/>
          </a:xfrm>
          <a:prstGeom prst="rect">
            <a:avLst/>
          </a:prstGeom>
          <a:ln w="9525">
            <a:solidFill>
              <a:srgbClr val="BFBFBF"/>
            </a:solidFill>
            <a:prstDash val="solid"/>
          </a:ln>
        </p:spPr>
      </p:sp>
      <p:sp>
        <p:nvSpPr>
          <p:cNvPr id="11" name="caption"/>
          <p:cNvSpPr txBox="1"/>
          <p:nvPr/>
        </p:nvSpPr>
        <p:spPr>
          <a:xfrm>
            <a:off x="6324448" y="5288640"/>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“Cable tension”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Winch Pull</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295144"/>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NEMA 17 (National Electrical Manufacturers Association) stepper with a printed spool</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Driver current raised to the rated 1.5 A (was 1.06 A)</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Pull: 34 N with an empty spool, 25 N when full</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Luggage-scale pull test to confirm the torque</a:t>
            </a:r>
            <a:endParaRPr lang="en-US" sz="1800" dirty="0"/>
          </a:p>
        </p:txBody>
      </p:sp>
      <p:sp>
        <p:nvSpPr>
          <p:cNvPr id="5" name="equation box"/>
          <p:cNvSpPr/>
          <p:nvPr/>
        </p:nvSpPr>
        <p:spPr>
          <a:xfrm>
            <a:off x="548640" y="3895344"/>
            <a:ext cx="5364328" cy="2368296"/>
          </a:xfrm>
          <a:prstGeom prst="rect">
            <a:avLst/>
          </a:prstGeom>
          <a:solidFill>
            <a:srgbClr val="F7F8FA"/>
          </a:solidFill>
          <a:ln w="15875">
            <a:solidFill>
              <a:srgbClr val="1F3A5F"/>
            </a:solidFill>
            <a:prstDash val="solid"/>
          </a:ln>
        </p:spPr>
      </p:sp>
      <p:sp>
        <p:nvSpPr>
          <p:cNvPr id="6" name="equation title"/>
          <p:cNvSpPr txBox="1"/>
          <p:nvPr/>
        </p:nvSpPr>
        <p:spPr>
          <a:xfrm>
            <a:off x="713232" y="3968496"/>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Winch design force at 1.5 A</a:t>
            </a:r>
            <a:endParaRPr lang="en-US" sz="1100" dirty="0"/>
          </a:p>
        </p:txBody>
      </p:sp>
      <p:sp>
        <p:nvSpPr>
          <p:cNvPr id="7" name="equations"/>
          <p:cNvSpPr txBox="1"/>
          <p:nvPr/>
        </p:nvSpPr>
        <p:spPr>
          <a:xfrm>
            <a:off x="713232" y="4206240"/>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I = V</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ref</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(8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1.2 V / (8 × 0.1 Ω)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1.5 A</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τ</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run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0.7 × 0.36 N·m = 0.252 N·m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τ / r = 0.252 N·m / 0.010 m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25.2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design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25.2 N / 1.5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16.8 N</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V</a:t>
            </a:r>
            <a:pPr indent="0" marL="0">
              <a:buNone/>
            </a:pPr>
            <a:r>
              <a:rPr lang="en-US" sz="1100" baseline="-40000" dirty="0">
                <a:solidFill>
                  <a:srgbClr val="404040"/>
                </a:solidFill>
                <a:latin typeface="Arial" pitchFamily="34" charset="0"/>
                <a:ea typeface="Arial" pitchFamily="34" charset="-122"/>
                <a:cs typeface="Arial" pitchFamily="34" charset="-120"/>
              </a:rPr>
              <a:t>ref</a:t>
            </a:r>
            <a:pPr indent="0" marL="0">
              <a:buNone/>
            </a:pPr>
            <a:r>
              <a:rPr lang="en-US" sz="1100" dirty="0">
                <a:solidFill>
                  <a:srgbClr val="404040"/>
                </a:solidFill>
                <a:latin typeface="Arial" pitchFamily="34" charset="0"/>
                <a:ea typeface="Arial" pitchFamily="34" charset="-122"/>
                <a:cs typeface="Arial" pitchFamily="34" charset="-120"/>
              </a:rPr>
              <a:t> = driver reference voltage; R</a:t>
            </a:r>
            <a:pPr indent="0" marL="0">
              <a:buNone/>
            </a:pPr>
            <a:r>
              <a:rPr lang="en-US" sz="1100" baseline="-40000" dirty="0">
                <a:solidFill>
                  <a:srgbClr val="404040"/>
                </a:solidFill>
                <a:latin typeface="Arial" pitchFamily="34" charset="0"/>
                <a:ea typeface="Arial" pitchFamily="34" charset="-122"/>
                <a:cs typeface="Arial" pitchFamily="34" charset="-120"/>
              </a:rPr>
              <a:t>s</a:t>
            </a:r>
            <a:pPr indent="0" marL="0">
              <a:buNone/>
            </a:pPr>
            <a:r>
              <a:rPr lang="en-US" sz="1100" dirty="0">
                <a:solidFill>
                  <a:srgbClr val="404040"/>
                </a:solidFill>
                <a:latin typeface="Arial" pitchFamily="34" charset="0"/>
                <a:ea typeface="Arial" pitchFamily="34" charset="-122"/>
                <a:cs typeface="Arial" pitchFamily="34" charset="-120"/>
              </a:rPr>
              <a:t> = sense resistor; 0.36 N·m = holding torque at 1.5 A; 0.7 = running/holding ratio (assumed); r = 10 mm full spool; 1.5 = skip margin</a:t>
            </a:r>
            <a:endParaRPr lang="en-US" sz="1100" dirty="0"/>
          </a:p>
        </p:txBody>
      </p:sp>
      <p:pic>
        <p:nvPicPr>
          <p:cNvPr id="9" name="Chart from the calculation sheet: Winch " descr="Chart from the calculation sheet: Winch pull">    </p:cNvPr>
          <p:cNvPicPr>
            <a:picLocks noChangeAspect="1"/>
          </p:cNvPicPr>
          <p:nvPr/>
        </p:nvPicPr>
        <p:blipFill>
          <a:blip r:embed="rId1"/>
          <a:stretch>
            <a:fillRect/>
          </a:stretch>
        </p:blipFill>
        <p:spPr>
          <a:xfrm>
            <a:off x="6324448" y="1554480"/>
            <a:ext cx="5318608" cy="3660580"/>
          </a:xfrm>
          <a:prstGeom prst="rect">
            <a:avLst/>
          </a:prstGeom>
        </p:spPr>
      </p:pic>
      <p:sp>
        <p:nvSpPr>
          <p:cNvPr id="10" name="chart frame"/>
          <p:cNvSpPr/>
          <p:nvPr/>
        </p:nvSpPr>
        <p:spPr>
          <a:xfrm>
            <a:off x="6324448" y="1554480"/>
            <a:ext cx="5318608" cy="3660580"/>
          </a:xfrm>
          <a:prstGeom prst="rect">
            <a:avLst/>
          </a:prstGeom>
          <a:ln w="9525">
            <a:solidFill>
              <a:srgbClr val="BFBFBF"/>
            </a:solidFill>
            <a:prstDash val="solid"/>
          </a:ln>
        </p:spPr>
      </p:sp>
      <p:sp>
        <p:nvSpPr>
          <p:cNvPr id="11" name="caption"/>
          <p:cNvSpPr txBox="1"/>
          <p:nvPr/>
        </p:nvSpPr>
        <p:spPr>
          <a:xfrm>
            <a:off x="6324448" y="528821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“Winch pull”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One Controller per Winch</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295144"/>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Generation 1 drove all four motors from one central board</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Adding sensors at each winch required 10 wires per corner</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Moved to a separate controller in each station</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Total wire reduced from 820 ft to 164 ft</a:t>
            </a:r>
            <a:endParaRPr lang="en-US" sz="1800" dirty="0"/>
          </a:p>
        </p:txBody>
      </p:sp>
      <p:sp>
        <p:nvSpPr>
          <p:cNvPr id="5" name="equation box"/>
          <p:cNvSpPr/>
          <p:nvPr/>
        </p:nvSpPr>
        <p:spPr>
          <a:xfrm>
            <a:off x="548640" y="3895344"/>
            <a:ext cx="5364328" cy="2368296"/>
          </a:xfrm>
          <a:prstGeom prst="rect">
            <a:avLst/>
          </a:prstGeom>
          <a:solidFill>
            <a:srgbClr val="F7F8FA"/>
          </a:solidFill>
          <a:ln w="15875">
            <a:solidFill>
              <a:srgbClr val="1F3A5F"/>
            </a:solidFill>
            <a:prstDash val="solid"/>
          </a:ln>
        </p:spPr>
      </p:sp>
      <p:sp>
        <p:nvSpPr>
          <p:cNvPr id="6" name="equation title"/>
          <p:cNvSpPr txBox="1"/>
          <p:nvPr/>
        </p:nvSpPr>
        <p:spPr>
          <a:xfrm>
            <a:off x="713232" y="3968496"/>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Wire length and timing error</a:t>
            </a:r>
            <a:endParaRPr lang="en-US" sz="1100" dirty="0"/>
          </a:p>
        </p:txBody>
      </p:sp>
      <p:sp>
        <p:nvSpPr>
          <p:cNvPr id="7" name="equations"/>
          <p:cNvSpPr txBox="1"/>
          <p:nvPr/>
        </p:nvSpPr>
        <p:spPr>
          <a:xfrm>
            <a:off x="713232" y="4206240"/>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Wire = n × ΣL</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Central board: 10 × 82 ft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820 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Controller per station: 2 × 82 ft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164 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Timing error: Δx = v Δt = 50 mm/s × 50 ms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2.5 mm</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n = conductors per corner (motor 4, switch 2, encoder 4); ΣL = 6 + 21 + 23 + 32 ft of cable routes; v = line speed; Δt = clock offset between stations</a:t>
            </a:r>
            <a:endParaRPr lang="en-US" sz="1100" dirty="0"/>
          </a:p>
        </p:txBody>
      </p:sp>
      <p:pic>
        <p:nvPicPr>
          <p:cNvPr id="9" name="Chart from the calculation sheet: Wiring" descr="Chart from the calculation sheet: Wiring">    </p:cNvPr>
          <p:cNvPicPr>
            <a:picLocks noChangeAspect="1"/>
          </p:cNvPicPr>
          <p:nvPr/>
        </p:nvPicPr>
        <p:blipFill>
          <a:blip r:embed="rId1"/>
          <a:stretch>
            <a:fillRect/>
          </a:stretch>
        </p:blipFill>
        <p:spPr>
          <a:xfrm>
            <a:off x="6324448" y="1554480"/>
            <a:ext cx="5318608" cy="3660580"/>
          </a:xfrm>
          <a:prstGeom prst="rect">
            <a:avLst/>
          </a:prstGeom>
        </p:spPr>
      </p:pic>
      <p:sp>
        <p:nvSpPr>
          <p:cNvPr id="10" name="chart frame"/>
          <p:cNvSpPr/>
          <p:nvPr/>
        </p:nvSpPr>
        <p:spPr>
          <a:xfrm>
            <a:off x="6324448" y="1554480"/>
            <a:ext cx="5318608" cy="3660580"/>
          </a:xfrm>
          <a:prstGeom prst="rect">
            <a:avLst/>
          </a:prstGeom>
          <a:ln w="9525">
            <a:solidFill>
              <a:srgbClr val="BFBFBF"/>
            </a:solidFill>
            <a:prstDash val="solid"/>
          </a:ln>
        </p:spPr>
      </p:sp>
      <p:sp>
        <p:nvSpPr>
          <p:cNvPr id="11" name="caption"/>
          <p:cNvSpPr txBox="1"/>
          <p:nvPr/>
        </p:nvSpPr>
        <p:spPr>
          <a:xfrm>
            <a:off x="6324448" y="528821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“Wiring”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Motor Cooling</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295144"/>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Sealed PETG shell traps motor heat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PETG creeps above 60 °C under load</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Aluminum fin added through the top of the shell</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90-minute hold test at 1.5 A planned</a:t>
            </a:r>
            <a:endParaRPr lang="en-US" sz="1800" dirty="0"/>
          </a:p>
        </p:txBody>
      </p:sp>
      <p:sp>
        <p:nvSpPr>
          <p:cNvPr id="5" name="equation box"/>
          <p:cNvSpPr/>
          <p:nvPr/>
        </p:nvSpPr>
        <p:spPr>
          <a:xfrm>
            <a:off x="548640" y="3895344"/>
            <a:ext cx="5364328" cy="2368296"/>
          </a:xfrm>
          <a:prstGeom prst="rect">
            <a:avLst/>
          </a:prstGeom>
          <a:solidFill>
            <a:srgbClr val="F7F8FA"/>
          </a:solidFill>
          <a:ln w="15875">
            <a:solidFill>
              <a:srgbClr val="1F3A5F"/>
            </a:solidFill>
            <a:prstDash val="solid"/>
          </a:ln>
        </p:spPr>
      </p:sp>
      <p:sp>
        <p:nvSpPr>
          <p:cNvPr id="6" name="equation title"/>
          <p:cNvSpPr txBox="1"/>
          <p:nvPr/>
        </p:nvSpPr>
        <p:spPr>
          <a:xfrm>
            <a:off x="713232" y="3968496"/>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heat and temperature at 1.5 A</a:t>
            </a:r>
            <a:endParaRPr lang="en-US" sz="1100" dirty="0"/>
          </a:p>
        </p:txBody>
      </p:sp>
      <p:sp>
        <p:nvSpPr>
          <p:cNvPr id="7" name="equations"/>
          <p:cNvSpPr txBox="1"/>
          <p:nvPr/>
        </p:nvSpPr>
        <p:spPr>
          <a:xfrm>
            <a:off x="713232" y="4206240"/>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P = I²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coil</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(1.5 A)² × 1.8 Ω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4.05 W</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th</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shell</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ΔT = P ×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th</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fin: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23.1 K/W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57.6 °C</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1/8 in fin: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11.9 K/W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48.9 °C</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R</a:t>
            </a:r>
            <a:pPr indent="0" marL="0">
              <a:buNone/>
            </a:pPr>
            <a:r>
              <a:rPr lang="en-US" sz="1100" baseline="-40000" dirty="0">
                <a:solidFill>
                  <a:srgbClr val="404040"/>
                </a:solidFill>
                <a:latin typeface="Arial" pitchFamily="34" charset="0"/>
                <a:ea typeface="Arial" pitchFamily="34" charset="-122"/>
                <a:cs typeface="Arial" pitchFamily="34" charset="-120"/>
              </a:rPr>
              <a:t>coil</a:t>
            </a:r>
            <a:pPr indent="0" marL="0">
              <a:buNone/>
            </a:pPr>
            <a:r>
              <a:rPr lang="en-US" sz="1100" dirty="0">
                <a:solidFill>
                  <a:srgbClr val="404040"/>
                </a:solidFill>
                <a:latin typeface="Arial" pitchFamily="34" charset="0"/>
                <a:ea typeface="Arial" pitchFamily="34" charset="-122"/>
                <a:cs typeface="Arial" pitchFamily="34" charset="-120"/>
              </a:rPr>
              <a:t> = 1.8 Ω per phase (assumed); R</a:t>
            </a:r>
            <a:pPr indent="0" marL="0">
              <a:buNone/>
            </a:pPr>
            <a:r>
              <a:rPr lang="en-US" sz="1100" baseline="-40000" dirty="0">
                <a:solidFill>
                  <a:srgbClr val="404040"/>
                </a:solidFill>
                <a:latin typeface="Arial" pitchFamily="34" charset="0"/>
                <a:ea typeface="Arial" pitchFamily="34" charset="-122"/>
                <a:cs typeface="Arial" pitchFamily="34" charset="-120"/>
              </a:rPr>
              <a:t>shell</a:t>
            </a:r>
            <a:pPr indent="0" marL="0">
              <a:buNone/>
            </a:pPr>
            <a:r>
              <a:rPr lang="en-US" sz="1100" dirty="0">
                <a:solidFill>
                  <a:srgbClr val="404040"/>
                </a:solidFill>
                <a:latin typeface="Arial" pitchFamily="34" charset="0"/>
                <a:ea typeface="Arial" pitchFamily="34" charset="-122"/>
                <a:cs typeface="Arial" pitchFamily="34" charset="-120"/>
              </a:rPr>
              <a:t> = 12 + 1 K/W, motor to shell air to room; room at 23 °C; 1.5 W of electronics in the shell; limit 60 °C</a:t>
            </a:r>
            <a:endParaRPr lang="en-US" sz="1100" dirty="0"/>
          </a:p>
        </p:txBody>
      </p:sp>
      <p:pic>
        <p:nvPicPr>
          <p:cNvPr id="9" name="Chart from the calculation sheet: Motor " descr="Chart from the calculation sheet: Motor temperature">    </p:cNvPr>
          <p:cNvPicPr>
            <a:picLocks noChangeAspect="1"/>
          </p:cNvPicPr>
          <p:nvPr/>
        </p:nvPicPr>
        <p:blipFill>
          <a:blip r:embed="rId1"/>
          <a:stretch>
            <a:fillRect/>
          </a:stretch>
        </p:blipFill>
        <p:spPr>
          <a:xfrm>
            <a:off x="6324448" y="1554480"/>
            <a:ext cx="5318608" cy="3655001"/>
          </a:xfrm>
          <a:prstGeom prst="rect">
            <a:avLst/>
          </a:prstGeom>
        </p:spPr>
      </p:pic>
      <p:sp>
        <p:nvSpPr>
          <p:cNvPr id="10" name="chart frame"/>
          <p:cNvSpPr/>
          <p:nvPr/>
        </p:nvSpPr>
        <p:spPr>
          <a:xfrm>
            <a:off x="6324448" y="1554480"/>
            <a:ext cx="5318608" cy="3655001"/>
          </a:xfrm>
          <a:prstGeom prst="rect">
            <a:avLst/>
          </a:prstGeom>
          <a:ln w="9525">
            <a:solidFill>
              <a:srgbClr val="BFBFBF"/>
            </a:solidFill>
            <a:prstDash val="solid"/>
          </a:ln>
        </p:spPr>
      </p:sp>
      <p:sp>
        <p:nvSpPr>
          <p:cNvPr id="11" name="caption"/>
          <p:cNvSpPr txBox="1"/>
          <p:nvPr/>
        </p:nvSpPr>
        <p:spPr>
          <a:xfrm>
            <a:off x="6324448" y="5282633"/>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“Motor temperature”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Heat Fin Sizing</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1636776"/>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0.019 in prototype fin reaches 95 % of its capacity by 136 mm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1/8 in design fin is 74 % efficient at 200 mm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Built length of 200 mm, limited by ceiling clearance</a:t>
            </a:r>
            <a:endParaRPr lang="en-US" sz="1800" dirty="0"/>
          </a:p>
        </p:txBody>
      </p:sp>
      <p:sp>
        <p:nvSpPr>
          <p:cNvPr id="5" name="equation box"/>
          <p:cNvSpPr/>
          <p:nvPr/>
        </p:nvSpPr>
        <p:spPr>
          <a:xfrm>
            <a:off x="548640" y="3236976"/>
            <a:ext cx="5364328" cy="3026664"/>
          </a:xfrm>
          <a:prstGeom prst="rect">
            <a:avLst/>
          </a:prstGeom>
          <a:solidFill>
            <a:srgbClr val="F7F8FA"/>
          </a:solidFill>
          <a:ln w="15875">
            <a:solidFill>
              <a:srgbClr val="1F3A5F"/>
            </a:solidFill>
            <a:prstDash val="solid"/>
          </a:ln>
        </p:spPr>
      </p:sp>
      <p:sp>
        <p:nvSpPr>
          <p:cNvPr id="6" name="equation title"/>
          <p:cNvSpPr txBox="1"/>
          <p:nvPr/>
        </p:nvSpPr>
        <p:spPr>
          <a:xfrm>
            <a:off x="713232" y="3310128"/>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Fin length and efficiency</a:t>
            </a:r>
            <a:endParaRPr lang="en-US" sz="1100" dirty="0"/>
          </a:p>
        </p:txBody>
      </p:sp>
      <p:sp>
        <p:nvSpPr>
          <p:cNvPr id="7" name="equations"/>
          <p:cNvSpPr txBox="1"/>
          <p:nvPr/>
        </p:nvSpPr>
        <p:spPr>
          <a:xfrm>
            <a:off x="713232" y="3547872"/>
            <a:ext cx="5035144" cy="1993392"/>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 = √(2h / (k t)),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1.83 / 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m = √(2 × 7 / (160 × 0.00048)) = 13.5 /m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1.83 / 13.5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136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1/8 in: m = 5.25 /m,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349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η = tanh(mL) / (mL) = tanh(1.05) / 1.05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0.74</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 / (7 × 0.74 × 0.0176)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10.9 K/W</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h = 7 W/m²·K, still air; k = 160 W/m·K, aluminum; t = fin thickness; L = 200 mm; A = 2 × 44 mm × 200 mm = 0.0176 m²; R</a:t>
            </a:r>
            <a:pPr indent="0" marL="0">
              <a:buNone/>
            </a:pPr>
            <a:r>
              <a:rPr lang="en-US" sz="1100" baseline="-40000" dirty="0">
                <a:solidFill>
                  <a:srgbClr val="404040"/>
                </a:solidFill>
                <a:latin typeface="Arial" pitchFamily="34" charset="0"/>
                <a:ea typeface="Arial" pitchFamily="34" charset="-122"/>
                <a:cs typeface="Arial" pitchFamily="34" charset="-120"/>
              </a:rPr>
              <a:t>fin</a:t>
            </a:r>
            <a:pPr indent="0" marL="0">
              <a:buNone/>
            </a:pPr>
            <a:r>
              <a:rPr lang="en-US" sz="1100" dirty="0">
                <a:solidFill>
                  <a:srgbClr val="404040"/>
                </a:solidFill>
                <a:latin typeface="Arial" pitchFamily="34" charset="0"/>
                <a:ea typeface="Arial" pitchFamily="34" charset="-122"/>
                <a:cs typeface="Arial" pitchFamily="34" charset="-120"/>
              </a:rPr>
              <a:t> = 1 / (h η A)</a:t>
            </a:r>
            <a:endParaRPr lang="en-US" sz="1100" dirty="0"/>
          </a:p>
        </p:txBody>
      </p:sp>
      <p:pic>
        <p:nvPicPr>
          <p:cNvPr id="9" name="Chart from the calculation sheet: Heat f" descr="Chart from the calculation sheet: Heat fin">    </p:cNvPr>
          <p:cNvPicPr>
            <a:picLocks noChangeAspect="1"/>
          </p:cNvPicPr>
          <p:nvPr/>
        </p:nvPicPr>
        <p:blipFill>
          <a:blip r:embed="rId1"/>
          <a:stretch>
            <a:fillRect/>
          </a:stretch>
        </p:blipFill>
        <p:spPr>
          <a:xfrm>
            <a:off x="6324448" y="1554480"/>
            <a:ext cx="5318608" cy="3654914"/>
          </a:xfrm>
          <a:prstGeom prst="rect">
            <a:avLst/>
          </a:prstGeom>
        </p:spPr>
      </p:pic>
      <p:sp>
        <p:nvSpPr>
          <p:cNvPr id="10" name="chart frame"/>
          <p:cNvSpPr/>
          <p:nvPr/>
        </p:nvSpPr>
        <p:spPr>
          <a:xfrm>
            <a:off x="6324448" y="1554480"/>
            <a:ext cx="5318608" cy="3654914"/>
          </a:xfrm>
          <a:prstGeom prst="rect">
            <a:avLst/>
          </a:prstGeom>
          <a:ln w="9525">
            <a:solidFill>
              <a:srgbClr val="BFBFBF"/>
            </a:solidFill>
            <a:prstDash val="solid"/>
          </a:ln>
        </p:spPr>
      </p:sp>
      <p:sp>
        <p:nvSpPr>
          <p:cNvPr id="11" name="caption"/>
          <p:cNvSpPr txBox="1"/>
          <p:nvPr/>
        </p:nvSpPr>
        <p:spPr>
          <a:xfrm>
            <a:off x="6324448" y="5282546"/>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“Heat fin”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Homing Method</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624328"/>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Original plan: a bead on each cable trips a switch at the outlet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Cables could not get shorter than their homing length</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Replaced with camera calibration on a printed floor board</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Full room now reachable; beads kept as end stops</a:t>
            </a:r>
            <a:endParaRPr lang="en-US" sz="1800" dirty="0"/>
          </a:p>
        </p:txBody>
      </p:sp>
      <p:sp>
        <p:nvSpPr>
          <p:cNvPr id="5" name="equation box"/>
          <p:cNvSpPr/>
          <p:nvPr/>
        </p:nvSpPr>
        <p:spPr>
          <a:xfrm>
            <a:off x="548640" y="4224528"/>
            <a:ext cx="5364328" cy="2039112"/>
          </a:xfrm>
          <a:prstGeom prst="rect">
            <a:avLst/>
          </a:prstGeom>
          <a:solidFill>
            <a:srgbClr val="F7F8FA"/>
          </a:solidFill>
          <a:ln w="15875">
            <a:solidFill>
              <a:srgbClr val="1F3A5F"/>
            </a:solidFill>
            <a:prstDash val="solid"/>
          </a:ln>
        </p:spPr>
      </p:sp>
      <p:sp>
        <p:nvSpPr>
          <p:cNvPr id="6" name="equation title"/>
          <p:cNvSpPr txBox="1"/>
          <p:nvPr/>
        </p:nvSpPr>
        <p:spPr>
          <a:xfrm>
            <a:off x="713232" y="4297680"/>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Reachable area with bead homing</a:t>
            </a:r>
            <a:endParaRPr lang="en-US" sz="1100" dirty="0"/>
          </a:p>
        </p:txBody>
      </p:sp>
      <p:sp>
        <p:nvSpPr>
          <p:cNvPr id="7" name="equations"/>
          <p:cNvSpPr txBox="1"/>
          <p:nvPr/>
        </p:nvSpPr>
        <p:spPr>
          <a:xfrm>
            <a:off x="713232" y="4535424"/>
            <a:ext cx="5035144"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i,home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a</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home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Home 1 m above the floor: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5 %</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reachable</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Home 2 m above the floor: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29 %</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reachable</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a</a:t>
            </a:r>
            <a:pPr indent="0" marL="0">
              <a:buNone/>
            </a:pPr>
            <a:r>
              <a:rPr lang="en-US" sz="1100" baseline="-40000" dirty="0">
                <a:solidFill>
                  <a:srgbClr val="404040"/>
                </a:solidFill>
                <a:latin typeface="Arial" pitchFamily="34" charset="0"/>
                <a:ea typeface="Arial" pitchFamily="34" charset="-122"/>
                <a:cs typeface="Arial" pitchFamily="34" charset="-120"/>
              </a:rPr>
              <a:t>i</a:t>
            </a:r>
            <a:pPr indent="0" marL="0">
              <a:buNone/>
            </a:pPr>
            <a:r>
              <a:rPr lang="en-US" sz="1100" dirty="0">
                <a:solidFill>
                  <a:srgbClr val="404040"/>
                </a:solidFill>
                <a:latin typeface="Arial" pitchFamily="34" charset="0"/>
                <a:ea typeface="Arial" pitchFamily="34" charset="-122"/>
                <a:cs typeface="Arial" pitchFamily="34" charset="-120"/>
              </a:rPr>
              <a:t> = anchor i; p = claw position; reachable = every cable at or above its home length, inside the 0.2 m wall and 0.4 m ceiling margins</a:t>
            </a:r>
            <a:endParaRPr lang="en-US" sz="1100" dirty="0"/>
          </a:p>
        </p:txBody>
      </p:sp>
      <p:pic>
        <p:nvPicPr>
          <p:cNvPr id="9" name="Chart from the calculation sheet: Bead h" descr="Chart from the calculation sheet: Bead homing">    </p:cNvPr>
          <p:cNvPicPr>
            <a:picLocks noChangeAspect="1"/>
          </p:cNvPicPr>
          <p:nvPr/>
        </p:nvPicPr>
        <p:blipFill>
          <a:blip r:embed="rId1"/>
          <a:stretch>
            <a:fillRect/>
          </a:stretch>
        </p:blipFill>
        <p:spPr>
          <a:xfrm>
            <a:off x="6324448" y="1554480"/>
            <a:ext cx="5318608" cy="3661909"/>
          </a:xfrm>
          <a:prstGeom prst="rect">
            <a:avLst/>
          </a:prstGeom>
        </p:spPr>
      </p:pic>
      <p:sp>
        <p:nvSpPr>
          <p:cNvPr id="10" name="chart frame"/>
          <p:cNvSpPr/>
          <p:nvPr/>
        </p:nvSpPr>
        <p:spPr>
          <a:xfrm>
            <a:off x="6324448" y="1554480"/>
            <a:ext cx="5318608" cy="3661909"/>
          </a:xfrm>
          <a:prstGeom prst="rect">
            <a:avLst/>
          </a:prstGeom>
          <a:ln w="9525">
            <a:solidFill>
              <a:srgbClr val="BFBFBF"/>
            </a:solidFill>
            <a:prstDash val="solid"/>
          </a:ln>
        </p:spPr>
      </p:sp>
      <p:sp>
        <p:nvSpPr>
          <p:cNvPr id="11" name="caption"/>
          <p:cNvSpPr txBox="1"/>
          <p:nvPr/>
        </p:nvSpPr>
        <p:spPr>
          <a:xfrm>
            <a:off x="6324448" y="5289541"/>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“Bead homing”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Claw Design</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103120"/>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Generation 1 used five TPU (thermoplastic polyurethane) fingers</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Fingers could not pinch thin fabric and were 4.6 times over the mass budget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Final design: geared four-bar with parallel jaws and a 53 mm opening</a:t>
            </a:r>
            <a:endParaRPr lang="en-US" sz="1800" dirty="0"/>
          </a:p>
        </p:txBody>
      </p:sp>
      <p:sp>
        <p:nvSpPr>
          <p:cNvPr id="5" name="equation box"/>
          <p:cNvSpPr/>
          <p:nvPr/>
        </p:nvSpPr>
        <p:spPr>
          <a:xfrm>
            <a:off x="548640" y="3703320"/>
            <a:ext cx="5364328" cy="2560320"/>
          </a:xfrm>
          <a:prstGeom prst="rect">
            <a:avLst/>
          </a:prstGeom>
          <a:solidFill>
            <a:srgbClr val="F7F8FA"/>
          </a:solidFill>
          <a:ln w="15875">
            <a:solidFill>
              <a:srgbClr val="1F3A5F"/>
            </a:solidFill>
            <a:prstDash val="solid"/>
          </a:ln>
        </p:spPr>
      </p:sp>
      <p:sp>
        <p:nvSpPr>
          <p:cNvPr id="6" name="equation title"/>
          <p:cNvSpPr txBox="1"/>
          <p:nvPr/>
        </p:nvSpPr>
        <p:spPr>
          <a:xfrm>
            <a:off x="713232" y="3776472"/>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Grip force and gear stress at servo stall</a:t>
            </a:r>
            <a:endParaRPr lang="en-US" sz="1100" dirty="0"/>
          </a:p>
        </p:txBody>
      </p:sp>
      <p:sp>
        <p:nvSpPr>
          <p:cNvPr id="7" name="equations"/>
          <p:cNvSpPr txBox="1"/>
          <p:nvPr/>
        </p:nvSpPr>
        <p:spPr>
          <a:xfrm>
            <a:off x="713232" y="4014216"/>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N ≥ W / (2μ) = 4.45 N / 0.6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7.4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2τ / d = 2 × 1.078 / 0.027 = 79.9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(b m Y) = 79.9 / (15.7 × 1.5 × 0.309)</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11.0 MPa,  SF = 22.5 / 11.0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2.05</a:t>
            </a:r>
            <a:endParaRPr lang="en-US" sz="1550" dirty="0"/>
          </a:p>
        </p:txBody>
      </p:sp>
      <p:sp>
        <p:nvSpPr>
          <p:cNvPr id="8" name="equation inputs"/>
          <p:cNvSpPr txBox="1"/>
          <p:nvPr/>
        </p:nvSpPr>
        <p:spPr>
          <a:xfrm>
            <a:off x="713232" y="5385816"/>
            <a:ext cx="5035144" cy="804672"/>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N = grip force per jaw; W = 1 lb test load; μ = 0.3; τ = 1.078 N·m servo stall torque; d = 27 mm pitch diameter; b = 15.7 mm face width; m = 1.5 mm module; Y = 0.309 Lewis factor; SF = safety factor</a:t>
            </a:r>
            <a:endParaRPr lang="en-US" sz="1100" dirty="0"/>
          </a:p>
        </p:txBody>
      </p:sp>
      <p:sp>
        <p:nvSpPr>
          <p:cNvPr id="9" name="Shape 7"/>
          <p:cNvSpPr/>
          <p:nvPr/>
        </p:nvSpPr>
        <p:spPr>
          <a:xfrm>
            <a:off x="6324448" y="1463040"/>
            <a:ext cx="2604440" cy="2162556"/>
          </a:xfrm>
          <a:prstGeom prst="rect">
            <a:avLst/>
          </a:prstGeom>
          <a:solidFill>
            <a:srgbClr val="F2F2F2"/>
          </a:solidFill>
          <a:ln w="12700">
            <a:solidFill>
              <a:srgbClr val="F2F2F2"/>
            </a:solidFill>
            <a:prstDash val="solid"/>
          </a:ln>
        </p:spPr>
      </p:sp>
      <p:pic>
        <p:nvPicPr>
          <p:cNvPr id="10" name="Claw generations and the printed gear tr" descr="Claw generations and the printed gear train">    </p:cNvPr>
          <p:cNvPicPr>
            <a:picLocks noChangeAspect="1"/>
          </p:cNvPicPr>
          <p:nvPr/>
        </p:nvPicPr>
        <p:blipFill>
          <a:blip r:embed="rId1"/>
          <a:stretch>
            <a:fillRect/>
          </a:stretch>
        </p:blipFill>
        <p:spPr>
          <a:xfrm>
            <a:off x="6916710" y="1517904"/>
            <a:ext cx="1419915" cy="2052828"/>
          </a:xfrm>
          <a:prstGeom prst="rect">
            <a:avLst/>
          </a:prstGeom>
        </p:spPr>
      </p:pic>
      <p:sp>
        <p:nvSpPr>
          <p:cNvPr id="11" name="Shape 8"/>
          <p:cNvSpPr/>
          <p:nvPr/>
        </p:nvSpPr>
        <p:spPr>
          <a:xfrm>
            <a:off x="9038615" y="1463040"/>
            <a:ext cx="2604440" cy="2162556"/>
          </a:xfrm>
          <a:prstGeom prst="rect">
            <a:avLst/>
          </a:prstGeom>
          <a:solidFill>
            <a:srgbClr val="F2F2F2"/>
          </a:solidFill>
          <a:ln w="12700">
            <a:solidFill>
              <a:srgbClr val="F2F2F2"/>
            </a:solidFill>
            <a:prstDash val="solid"/>
          </a:ln>
        </p:spPr>
      </p:sp>
      <p:pic>
        <p:nvPicPr>
          <p:cNvPr id="12" name="Claw generations and the printed gear tr" descr="Claw generations and the printed gear train">    </p:cNvPr>
          <p:cNvPicPr>
            <a:picLocks noChangeAspect="1"/>
          </p:cNvPicPr>
          <p:nvPr/>
        </p:nvPicPr>
        <p:blipFill>
          <a:blip r:embed="rId2"/>
          <a:stretch>
            <a:fillRect/>
          </a:stretch>
        </p:blipFill>
        <p:spPr>
          <a:xfrm>
            <a:off x="10023816" y="1517904"/>
            <a:ext cx="634038" cy="2052828"/>
          </a:xfrm>
          <a:prstGeom prst="rect">
            <a:avLst/>
          </a:prstGeom>
        </p:spPr>
      </p:pic>
      <p:sp>
        <p:nvSpPr>
          <p:cNvPr id="13" name="Shape 9"/>
          <p:cNvSpPr/>
          <p:nvPr/>
        </p:nvSpPr>
        <p:spPr>
          <a:xfrm>
            <a:off x="6324448" y="3735324"/>
            <a:ext cx="2604440" cy="2162556"/>
          </a:xfrm>
          <a:prstGeom prst="rect">
            <a:avLst/>
          </a:prstGeom>
          <a:solidFill>
            <a:srgbClr val="F2F2F2"/>
          </a:solidFill>
          <a:ln w="12700">
            <a:solidFill>
              <a:srgbClr val="F2F2F2"/>
            </a:solidFill>
            <a:prstDash val="solid"/>
          </a:ln>
        </p:spPr>
      </p:sp>
      <p:pic>
        <p:nvPicPr>
          <p:cNvPr id="14" name="Claw generations and the printed gear tr" descr="Claw generations and the printed gear train">    </p:cNvPr>
          <p:cNvPicPr>
            <a:picLocks noChangeAspect="1"/>
          </p:cNvPicPr>
          <p:nvPr/>
        </p:nvPicPr>
        <p:blipFill>
          <a:blip r:embed="rId3"/>
          <a:stretch>
            <a:fillRect/>
          </a:stretch>
        </p:blipFill>
        <p:spPr>
          <a:xfrm>
            <a:off x="7029886" y="3790188"/>
            <a:ext cx="1193564" cy="2052828"/>
          </a:xfrm>
          <a:prstGeom prst="rect">
            <a:avLst/>
          </a:prstGeom>
        </p:spPr>
      </p:pic>
      <p:sp>
        <p:nvSpPr>
          <p:cNvPr id="15" name="Shape 10"/>
          <p:cNvSpPr/>
          <p:nvPr/>
        </p:nvSpPr>
        <p:spPr>
          <a:xfrm>
            <a:off x="9038615" y="3735324"/>
            <a:ext cx="2604440" cy="2162556"/>
          </a:xfrm>
          <a:prstGeom prst="rect">
            <a:avLst/>
          </a:prstGeom>
          <a:solidFill>
            <a:srgbClr val="F2F2F2"/>
          </a:solidFill>
          <a:ln w="12700">
            <a:solidFill>
              <a:srgbClr val="F2F2F2"/>
            </a:solidFill>
            <a:prstDash val="solid"/>
          </a:ln>
        </p:spPr>
      </p:sp>
      <p:pic>
        <p:nvPicPr>
          <p:cNvPr id="16" name="Claw generations and the printed gear tr" descr="Claw generations and the printed gear train">    </p:cNvPr>
          <p:cNvPicPr>
            <a:picLocks noChangeAspect="1"/>
          </p:cNvPicPr>
          <p:nvPr/>
        </p:nvPicPr>
        <p:blipFill>
          <a:blip r:embed="rId4"/>
          <a:stretch>
            <a:fillRect/>
          </a:stretch>
        </p:blipFill>
        <p:spPr>
          <a:xfrm>
            <a:off x="9571025" y="3790188"/>
            <a:ext cx="1539621" cy="2052828"/>
          </a:xfrm>
          <a:prstGeom prst="rect">
            <a:avLst/>
          </a:prstGeom>
        </p:spPr>
      </p:pic>
      <p:sp>
        <p:nvSpPr>
          <p:cNvPr id="17" name="caption"/>
          <p:cNvSpPr txBox="1"/>
          <p:nvPr/>
        </p:nvSpPr>
        <p:spPr>
          <a:xfrm>
            <a:off x="6324448" y="597103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Left to right, top to bottom: generation 1 fingers, v6 clamp, final four-bar (CAD), printed gear train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Weight Budget: Open Issue</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295144"/>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Lift capacity at 1.5 A is 1.56 kg</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Claw with battery estimated at 0.86 kg </a:t>
            </a:r>
            <a:pPr algn="l" marL="254000" indent="-254000">
              <a:spcAft>
                <a:spcPts val="1000"/>
              </a:spcAft>
              <a:buSzPct val="100000"/>
              <a:buChar char="•"/>
            </a:pPr>
            <a:r>
              <a:rPr lang="en-US" sz="1800" i="1" dirty="0">
                <a:solidFill>
                  <a:srgbClr val="B23A2E"/>
                </a:solidFill>
                <a:latin typeface="Arial" pitchFamily="34" charset="0"/>
                <a:ea typeface="Arial" pitchFamily="34" charset="-122"/>
                <a:cs typeface="Arial" pitchFamily="34" charset="-120"/>
              </a:rPr>
              <a:t>[weighed mass]</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1 lb test load fits; jeans exceed capacity by 0.2 kg</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Options: a lighter claw or a 3:1 gear reduction on the winch</a:t>
            </a:r>
            <a:endParaRPr lang="en-US" sz="1800" dirty="0"/>
          </a:p>
        </p:txBody>
      </p:sp>
      <p:sp>
        <p:nvSpPr>
          <p:cNvPr id="5" name="equation box"/>
          <p:cNvSpPr/>
          <p:nvPr/>
        </p:nvSpPr>
        <p:spPr>
          <a:xfrm>
            <a:off x="548640" y="3895344"/>
            <a:ext cx="5364328" cy="2368296"/>
          </a:xfrm>
          <a:prstGeom prst="rect">
            <a:avLst/>
          </a:prstGeom>
          <a:solidFill>
            <a:srgbClr val="F7F8FA"/>
          </a:solidFill>
          <a:ln w="15875">
            <a:solidFill>
              <a:srgbClr val="1F3A5F"/>
            </a:solidFill>
            <a:prstDash val="solid"/>
          </a:ln>
        </p:spPr>
      </p:sp>
      <p:sp>
        <p:nvSpPr>
          <p:cNvPr id="6" name="equation title"/>
          <p:cNvSpPr txBox="1"/>
          <p:nvPr/>
        </p:nvSpPr>
        <p:spPr>
          <a:xfrm>
            <a:off x="713232" y="3968496"/>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Lift capacity against the required mass</a:t>
            </a:r>
            <a:endParaRPr lang="en-US" sz="1100" dirty="0"/>
          </a:p>
        </p:txBody>
      </p:sp>
      <p:sp>
        <p:nvSpPr>
          <p:cNvPr id="7" name="equations"/>
          <p:cNvSpPr txBox="1"/>
          <p:nvPr/>
        </p:nvSpPr>
        <p:spPr>
          <a:xfrm>
            <a:off x="713232" y="4206240"/>
            <a:ext cx="5035144"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max</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design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(k 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16.8 N / (1.101 × 9.81 m/s²)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1.56 kg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claw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0.55 × 0.927 + 0.198 + 0.055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0.76 kg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Required: 0.76 + 0.10 + 0.90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1.76 kg</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&gt; 1.56 kg</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k = worst cable tension per unit weight over the room, with 2 m/s²; 0.55 = print fill; 0.927 kg = solid PETG from CAD; 0.198 kg tube; 0.055 kg servo; 0.10 kg battery; 0.90 kg jeans</a:t>
            </a:r>
            <a:endParaRPr lang="en-US" sz="1100" dirty="0"/>
          </a:p>
        </p:txBody>
      </p:sp>
      <p:pic>
        <p:nvPicPr>
          <p:cNvPr id="9" name="Chart from the calculation sheet: Lift b" descr="Chart from the calculation sheet: Lift budget">    </p:cNvPr>
          <p:cNvPicPr>
            <a:picLocks noChangeAspect="1"/>
          </p:cNvPicPr>
          <p:nvPr/>
        </p:nvPicPr>
        <p:blipFill>
          <a:blip r:embed="rId1"/>
          <a:stretch>
            <a:fillRect/>
          </a:stretch>
        </p:blipFill>
        <p:spPr>
          <a:xfrm>
            <a:off x="6324448" y="1554480"/>
            <a:ext cx="5318608" cy="3660580"/>
          </a:xfrm>
          <a:prstGeom prst="rect">
            <a:avLst/>
          </a:prstGeom>
        </p:spPr>
      </p:pic>
      <p:sp>
        <p:nvSpPr>
          <p:cNvPr id="10" name="chart frame"/>
          <p:cNvSpPr/>
          <p:nvPr/>
        </p:nvSpPr>
        <p:spPr>
          <a:xfrm>
            <a:off x="6324448" y="1554480"/>
            <a:ext cx="5318608" cy="3660580"/>
          </a:xfrm>
          <a:prstGeom prst="rect">
            <a:avLst/>
          </a:prstGeom>
          <a:ln w="9525">
            <a:solidFill>
              <a:srgbClr val="BFBFBF"/>
            </a:solidFill>
            <a:prstDash val="solid"/>
          </a:ln>
        </p:spPr>
      </p:sp>
      <p:sp>
        <p:nvSpPr>
          <p:cNvPr id="11" name="caption"/>
          <p:cNvSpPr txBox="1"/>
          <p:nvPr/>
        </p:nvSpPr>
        <p:spPr>
          <a:xfrm>
            <a:off x="6324448" y="528821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“Lift budget”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Printed Part Fits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816352"/>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PETG printed on a Creality K1 at 0.2 mm layers</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Printed holes come out undersize by at least 0.2 mm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spool needed three prints to fit the motor shaft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Fit coupons are now printed before full parts</a:t>
            </a:r>
            <a:endParaRPr lang="en-US" sz="1800" dirty="0"/>
          </a:p>
        </p:txBody>
      </p:sp>
      <p:sp>
        <p:nvSpPr>
          <p:cNvPr id="5" name="equation box"/>
          <p:cNvSpPr/>
          <p:nvPr/>
        </p:nvSpPr>
        <p:spPr>
          <a:xfrm>
            <a:off x="548640" y="4416552"/>
            <a:ext cx="5364328" cy="1847088"/>
          </a:xfrm>
          <a:prstGeom prst="rect">
            <a:avLst/>
          </a:prstGeom>
          <a:solidFill>
            <a:srgbClr val="F7F8FA"/>
          </a:solidFill>
          <a:ln w="15875">
            <a:solidFill>
              <a:srgbClr val="1F3A5F"/>
            </a:solidFill>
            <a:prstDash val="solid"/>
          </a:ln>
        </p:spPr>
      </p:sp>
      <p:sp>
        <p:nvSpPr>
          <p:cNvPr id="6" name="equation title"/>
          <p:cNvSpPr txBox="1"/>
          <p:nvPr/>
        </p:nvSpPr>
        <p:spPr>
          <a:xfrm>
            <a:off x="713232" y="4489704"/>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Spool bore clearance</a:t>
            </a:r>
            <a:endParaRPr lang="en-US" sz="1100" dirty="0"/>
          </a:p>
        </p:txBody>
      </p:sp>
      <p:sp>
        <p:nvSpPr>
          <p:cNvPr id="7" name="equations"/>
          <p:cNvSpPr txBox="1"/>
          <p:nvPr/>
        </p:nvSpPr>
        <p:spPr>
          <a:xfrm>
            <a:off x="713232" y="4727448"/>
            <a:ext cx="5035144"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hole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u)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shaft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Ø5.2 bore too tight, so u ≥ 0.2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 = (5.45 − 0.2) − 5.00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0.25 mm</a:t>
            </a:r>
            <a:endParaRPr lang="en-US" sz="1550" dirty="0"/>
          </a:p>
        </p:txBody>
      </p:sp>
      <p:sp>
        <p:nvSpPr>
          <p:cNvPr id="8" name="equation inputs"/>
          <p:cNvSpPr txBox="1"/>
          <p:nvPr/>
        </p:nvSpPr>
        <p:spPr>
          <a:xfrm>
            <a:off x="713232" y="5769864"/>
            <a:ext cx="5035144" cy="420624"/>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c = clearance; u = printer undersize; D</a:t>
            </a:r>
            <a:pPr indent="0" marL="0">
              <a:buNone/>
            </a:pPr>
            <a:r>
              <a:rPr lang="en-US" sz="1100" baseline="-40000" dirty="0">
                <a:solidFill>
                  <a:srgbClr val="404040"/>
                </a:solidFill>
                <a:latin typeface="Arial" pitchFamily="34" charset="0"/>
                <a:ea typeface="Arial" pitchFamily="34" charset="-122"/>
                <a:cs typeface="Arial" pitchFamily="34" charset="-120"/>
              </a:rPr>
              <a:t>shaft</a:t>
            </a:r>
            <a:pPr indent="0" marL="0">
              <a:buNone/>
            </a:pPr>
            <a:r>
              <a:rPr lang="en-US" sz="1100" dirty="0">
                <a:solidFill>
                  <a:srgbClr val="404040"/>
                </a:solidFill>
                <a:latin typeface="Arial" pitchFamily="34" charset="0"/>
                <a:ea typeface="Arial" pitchFamily="34" charset="-122"/>
                <a:cs typeface="Arial" pitchFamily="34" charset="-120"/>
              </a:rPr>
              <a:t> = 5.00 mm motor shaft; version 3 bore Ø5.45 with a D-flat for the set screw</a:t>
            </a:r>
            <a:endParaRPr lang="en-US" sz="1100" dirty="0"/>
          </a:p>
        </p:txBody>
      </p:sp>
      <p:sp>
        <p:nvSpPr>
          <p:cNvPr id="9" name="Shape 7"/>
          <p:cNvSpPr/>
          <p:nvPr/>
        </p:nvSpPr>
        <p:spPr>
          <a:xfrm>
            <a:off x="6324448" y="1463040"/>
            <a:ext cx="1681429" cy="4526280"/>
          </a:xfrm>
          <a:prstGeom prst="rect">
            <a:avLst/>
          </a:prstGeom>
          <a:solidFill>
            <a:srgbClr val="F2F2F2"/>
          </a:solidFill>
          <a:ln w="12700">
            <a:solidFill>
              <a:srgbClr val="F2F2F2"/>
            </a:solidFill>
            <a:prstDash val="solid"/>
          </a:ln>
        </p:spPr>
      </p:sp>
      <p:pic>
        <p:nvPicPr>
          <p:cNvPr id="10" name="Spool v1, v2, v3" descr="Spool v1, v2, v3">    </p:cNvPr>
          <p:cNvPicPr>
            <a:picLocks noChangeAspect="1"/>
          </p:cNvPicPr>
          <p:nvPr/>
        </p:nvPicPr>
        <p:blipFill>
          <a:blip r:embed="rId1"/>
          <a:stretch>
            <a:fillRect/>
          </a:stretch>
        </p:blipFill>
        <p:spPr>
          <a:xfrm>
            <a:off x="6379312" y="2933089"/>
            <a:ext cx="1571701" cy="1586182"/>
          </a:xfrm>
          <a:prstGeom prst="rect">
            <a:avLst/>
          </a:prstGeom>
        </p:spPr>
      </p:pic>
      <p:sp>
        <p:nvSpPr>
          <p:cNvPr id="11" name="Shape 8"/>
          <p:cNvSpPr/>
          <p:nvPr/>
        </p:nvSpPr>
        <p:spPr>
          <a:xfrm>
            <a:off x="8143037" y="1463040"/>
            <a:ext cx="1681429" cy="4526280"/>
          </a:xfrm>
          <a:prstGeom prst="rect">
            <a:avLst/>
          </a:prstGeom>
          <a:solidFill>
            <a:srgbClr val="F2F2F2"/>
          </a:solidFill>
          <a:ln w="12700">
            <a:solidFill>
              <a:srgbClr val="F2F2F2"/>
            </a:solidFill>
            <a:prstDash val="solid"/>
          </a:ln>
        </p:spPr>
      </p:sp>
      <p:pic>
        <p:nvPicPr>
          <p:cNvPr id="12" name="Spool v1, v2, v3" descr="Spool v1, v2, v3">    </p:cNvPr>
          <p:cNvPicPr>
            <a:picLocks noChangeAspect="1"/>
          </p:cNvPicPr>
          <p:nvPr/>
        </p:nvPicPr>
        <p:blipFill>
          <a:blip r:embed="rId2"/>
          <a:stretch>
            <a:fillRect/>
          </a:stretch>
        </p:blipFill>
        <p:spPr>
          <a:xfrm>
            <a:off x="8197901" y="2989477"/>
            <a:ext cx="1571701" cy="1473405"/>
          </a:xfrm>
          <a:prstGeom prst="rect">
            <a:avLst/>
          </a:prstGeom>
        </p:spPr>
      </p:pic>
      <p:sp>
        <p:nvSpPr>
          <p:cNvPr id="13" name="Shape 9"/>
          <p:cNvSpPr/>
          <p:nvPr/>
        </p:nvSpPr>
        <p:spPr>
          <a:xfrm>
            <a:off x="9961626" y="1463040"/>
            <a:ext cx="1681429" cy="4526280"/>
          </a:xfrm>
          <a:prstGeom prst="rect">
            <a:avLst/>
          </a:prstGeom>
          <a:solidFill>
            <a:srgbClr val="F2F2F2"/>
          </a:solidFill>
          <a:ln w="12700">
            <a:solidFill>
              <a:srgbClr val="F2F2F2"/>
            </a:solidFill>
            <a:prstDash val="solid"/>
          </a:ln>
        </p:spPr>
      </p:sp>
      <p:pic>
        <p:nvPicPr>
          <p:cNvPr id="14" name="Spool v1, v2, v3" descr="Spool v1, v2, v3">    </p:cNvPr>
          <p:cNvPicPr>
            <a:picLocks noChangeAspect="1"/>
          </p:cNvPicPr>
          <p:nvPr/>
        </p:nvPicPr>
        <p:blipFill>
          <a:blip r:embed="rId3"/>
          <a:stretch>
            <a:fillRect/>
          </a:stretch>
        </p:blipFill>
        <p:spPr>
          <a:xfrm>
            <a:off x="10016490" y="2933646"/>
            <a:ext cx="1571701" cy="1585068"/>
          </a:xfrm>
          <a:prstGeom prst="rect">
            <a:avLst/>
          </a:prstGeom>
        </p:spPr>
      </p:pic>
      <p:sp>
        <p:nvSpPr>
          <p:cNvPr id="15" name="caption"/>
          <p:cNvSpPr txBox="1"/>
          <p:nvPr/>
        </p:nvSpPr>
        <p:spPr>
          <a:xfrm>
            <a:off x="6324448" y="606247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Spool versions 1, 2 and 3 (CAD)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Heat Fin Manufacturing</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920551"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Shop drawing printed 1:1 and used as a hole template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Prototype cut from 0.019 in aluminum sheet already on hand</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All five holes drilled in one mill setup to ±0.1 mm</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Fin bolted to the motor without reaming</a:t>
            </a:r>
            <a:endParaRPr lang="en-US" sz="2000" dirty="0"/>
          </a:p>
        </p:txBody>
      </p:sp>
      <p:sp>
        <p:nvSpPr>
          <p:cNvPr id="5" name="Shape 3"/>
          <p:cNvSpPr/>
          <p:nvPr/>
        </p:nvSpPr>
        <p:spPr>
          <a:xfrm>
            <a:off x="5880671" y="1463040"/>
            <a:ext cx="2826328" cy="2162556"/>
          </a:xfrm>
          <a:prstGeom prst="rect">
            <a:avLst/>
          </a:prstGeom>
          <a:solidFill>
            <a:srgbClr val="F2F2F2"/>
          </a:solidFill>
          <a:ln w="12700">
            <a:solidFill>
              <a:srgbClr val="F2F2F2"/>
            </a:solidFill>
            <a:prstDash val="solid"/>
          </a:ln>
        </p:spPr>
      </p:sp>
      <p:pic>
        <p:nvPicPr>
          <p:cNvPr id="6" name="Fin manufacturing photos" descr="Fin manufacturing photos">    </p:cNvPr>
          <p:cNvPicPr>
            <a:picLocks noChangeAspect="1"/>
          </p:cNvPicPr>
          <p:nvPr/>
        </p:nvPicPr>
        <p:blipFill>
          <a:blip r:embed="rId1"/>
          <a:stretch>
            <a:fillRect/>
          </a:stretch>
        </p:blipFill>
        <p:spPr>
          <a:xfrm>
            <a:off x="5935535" y="1525593"/>
            <a:ext cx="2716600" cy="2037450"/>
          </a:xfrm>
          <a:prstGeom prst="rect">
            <a:avLst/>
          </a:prstGeom>
        </p:spPr>
      </p:pic>
      <p:sp>
        <p:nvSpPr>
          <p:cNvPr id="7" name="Shape 4"/>
          <p:cNvSpPr/>
          <p:nvPr/>
        </p:nvSpPr>
        <p:spPr>
          <a:xfrm>
            <a:off x="8816727" y="1463040"/>
            <a:ext cx="2826328" cy="2162556"/>
          </a:xfrm>
          <a:prstGeom prst="rect">
            <a:avLst/>
          </a:prstGeom>
          <a:solidFill>
            <a:srgbClr val="F2F2F2"/>
          </a:solidFill>
          <a:ln w="12700">
            <a:solidFill>
              <a:srgbClr val="F2F2F2"/>
            </a:solidFill>
            <a:prstDash val="solid"/>
          </a:ln>
        </p:spPr>
      </p:sp>
      <p:pic>
        <p:nvPicPr>
          <p:cNvPr id="8" name="Fin manufacturing photos" descr="Fin manufacturing photos">    </p:cNvPr>
          <p:cNvPicPr>
            <a:picLocks noChangeAspect="1"/>
          </p:cNvPicPr>
          <p:nvPr/>
        </p:nvPicPr>
        <p:blipFill>
          <a:blip r:embed="rId2"/>
          <a:stretch>
            <a:fillRect/>
          </a:stretch>
        </p:blipFill>
        <p:spPr>
          <a:xfrm>
            <a:off x="9460081" y="1517904"/>
            <a:ext cx="1539621" cy="2052828"/>
          </a:xfrm>
          <a:prstGeom prst="rect">
            <a:avLst/>
          </a:prstGeom>
        </p:spPr>
      </p:pic>
      <p:sp>
        <p:nvSpPr>
          <p:cNvPr id="9" name="Shape 5"/>
          <p:cNvSpPr/>
          <p:nvPr/>
        </p:nvSpPr>
        <p:spPr>
          <a:xfrm>
            <a:off x="5880671" y="3735324"/>
            <a:ext cx="2826328" cy="2162556"/>
          </a:xfrm>
          <a:prstGeom prst="rect">
            <a:avLst/>
          </a:prstGeom>
          <a:solidFill>
            <a:srgbClr val="F2F2F2"/>
          </a:solidFill>
          <a:ln w="12700">
            <a:solidFill>
              <a:srgbClr val="F2F2F2"/>
            </a:solidFill>
            <a:prstDash val="solid"/>
          </a:ln>
        </p:spPr>
      </p:sp>
      <p:pic>
        <p:nvPicPr>
          <p:cNvPr id="10" name="Fin manufacturing photos" descr="Fin manufacturing photos">    </p:cNvPr>
          <p:cNvPicPr>
            <a:picLocks noChangeAspect="1"/>
          </p:cNvPicPr>
          <p:nvPr/>
        </p:nvPicPr>
        <p:blipFill>
          <a:blip r:embed="rId3"/>
          <a:stretch>
            <a:fillRect/>
          </a:stretch>
        </p:blipFill>
        <p:spPr>
          <a:xfrm>
            <a:off x="6524025" y="3790188"/>
            <a:ext cx="1539621" cy="2052828"/>
          </a:xfrm>
          <a:prstGeom prst="rect">
            <a:avLst/>
          </a:prstGeom>
        </p:spPr>
      </p:pic>
      <p:sp>
        <p:nvSpPr>
          <p:cNvPr id="11" name="Shape 6"/>
          <p:cNvSpPr/>
          <p:nvPr/>
        </p:nvSpPr>
        <p:spPr>
          <a:xfrm>
            <a:off x="8816727" y="3735324"/>
            <a:ext cx="2826328" cy="2162556"/>
          </a:xfrm>
          <a:prstGeom prst="rect">
            <a:avLst/>
          </a:prstGeom>
          <a:solidFill>
            <a:srgbClr val="F2F2F2"/>
          </a:solidFill>
          <a:ln w="12700">
            <a:solidFill>
              <a:srgbClr val="F2F2F2"/>
            </a:solidFill>
            <a:prstDash val="solid"/>
          </a:ln>
        </p:spPr>
      </p:sp>
      <p:pic>
        <p:nvPicPr>
          <p:cNvPr id="12" name="Fin manufacturing photos" descr="Fin manufacturing photos">    </p:cNvPr>
          <p:cNvPicPr>
            <a:picLocks noChangeAspect="1"/>
          </p:cNvPicPr>
          <p:nvPr/>
        </p:nvPicPr>
        <p:blipFill>
          <a:blip r:embed="rId4"/>
          <a:stretch>
            <a:fillRect/>
          </a:stretch>
        </p:blipFill>
        <p:spPr>
          <a:xfrm>
            <a:off x="9460081" y="3790188"/>
            <a:ext cx="1539621" cy="2052828"/>
          </a:xfrm>
          <a:prstGeom prst="rect">
            <a:avLst/>
          </a:prstGeom>
        </p:spPr>
      </p:pic>
      <p:sp>
        <p:nvSpPr>
          <p:cNvPr id="13" name="caption"/>
          <p:cNvSpPr txBox="1"/>
          <p:nvPr/>
        </p:nvSpPr>
        <p:spPr>
          <a:xfrm>
            <a:off x="5880671" y="5971032"/>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Shear and blanks, mill setup with the drawing, drilling, and the finished fin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Electronics Bring-Up</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920551"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Driver stays disabled at boot, so a reset cannot move the motor</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Schematic generated from the soldered board, 16 nets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First motor failed to turn: logic rail measured 1.14 V instead of 3.3 V</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Supply rails are now checked with a meter before any code is loaded</a:t>
            </a:r>
            <a:endParaRPr lang="en-US" sz="2000" dirty="0"/>
          </a:p>
        </p:txBody>
      </p:sp>
      <p:sp>
        <p:nvSpPr>
          <p:cNvPr id="5" name="Shape 3"/>
          <p:cNvSpPr/>
          <p:nvPr/>
        </p:nvSpPr>
        <p:spPr>
          <a:xfrm>
            <a:off x="5880671" y="1463040"/>
            <a:ext cx="2812612" cy="4526280"/>
          </a:xfrm>
          <a:prstGeom prst="rect">
            <a:avLst/>
          </a:prstGeom>
          <a:solidFill>
            <a:srgbClr val="F2F2F2"/>
          </a:solidFill>
          <a:ln w="12700">
            <a:solidFill>
              <a:srgbClr val="F2F2F2"/>
            </a:solidFill>
            <a:prstDash val="solid"/>
          </a:ln>
        </p:spPr>
      </p:sp>
      <p:pic>
        <p:nvPicPr>
          <p:cNvPr id="6" name="Soldered station board and bench bring-u" descr="Soldered station board and bench bring-up">    </p:cNvPr>
          <p:cNvPicPr>
            <a:picLocks noChangeAspect="1"/>
          </p:cNvPicPr>
          <p:nvPr/>
        </p:nvPicPr>
        <p:blipFill>
          <a:blip r:embed="rId1"/>
          <a:stretch>
            <a:fillRect/>
          </a:stretch>
        </p:blipFill>
        <p:spPr>
          <a:xfrm>
            <a:off x="5935535" y="1924257"/>
            <a:ext cx="2702884" cy="3603845"/>
          </a:xfrm>
          <a:prstGeom prst="rect">
            <a:avLst/>
          </a:prstGeom>
        </p:spPr>
      </p:pic>
      <p:sp>
        <p:nvSpPr>
          <p:cNvPr id="7" name="Shape 4"/>
          <p:cNvSpPr/>
          <p:nvPr/>
        </p:nvSpPr>
        <p:spPr>
          <a:xfrm>
            <a:off x="8830443" y="1463040"/>
            <a:ext cx="2812612" cy="4526280"/>
          </a:xfrm>
          <a:prstGeom prst="rect">
            <a:avLst/>
          </a:prstGeom>
          <a:solidFill>
            <a:srgbClr val="F2F2F2"/>
          </a:solidFill>
          <a:ln w="12700">
            <a:solidFill>
              <a:srgbClr val="F2F2F2"/>
            </a:solidFill>
            <a:prstDash val="solid"/>
          </a:ln>
        </p:spPr>
      </p:sp>
      <p:pic>
        <p:nvPicPr>
          <p:cNvPr id="8" name="Soldered station board and bench bring-u" descr="Soldered station board and bench bring-up">    </p:cNvPr>
          <p:cNvPicPr>
            <a:picLocks noChangeAspect="1"/>
          </p:cNvPicPr>
          <p:nvPr/>
        </p:nvPicPr>
        <p:blipFill>
          <a:blip r:embed="rId2"/>
          <a:stretch>
            <a:fillRect/>
          </a:stretch>
        </p:blipFill>
        <p:spPr>
          <a:xfrm>
            <a:off x="8885307" y="1924257"/>
            <a:ext cx="2702884" cy="3603845"/>
          </a:xfrm>
          <a:prstGeom prst="rect">
            <a:avLst/>
          </a:prstGeom>
        </p:spPr>
      </p:pic>
      <p:sp>
        <p:nvSpPr>
          <p:cNvPr id="9" name="caption"/>
          <p:cNvSpPr txBox="1"/>
          <p:nvPr/>
        </p:nvSpPr>
        <p:spPr>
          <a:xfrm>
            <a:off x="5880671" y="6062472"/>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Soldered station board, left; bench bring-up, right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First System Test</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476774"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Three stations: the fewest cables that fully constrain the claw</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Sequence: self-check, calibration, short move, then pickup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1 lb test load first, then one garment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Pass limits defined before the run</a:t>
            </a:r>
            <a:endParaRPr lang="en-US" sz="2000" dirty="0"/>
          </a:p>
        </p:txBody>
      </p:sp>
      <p:sp>
        <p:nvSpPr>
          <p:cNvPr id="5" name="placeholder"/>
          <p:cNvSpPr/>
          <p:nvPr/>
        </p:nvSpPr>
        <p:spPr>
          <a:xfrm>
            <a:off x="5436894" y="1463040"/>
            <a:ext cx="6206161" cy="2240280"/>
          </a:xfrm>
          <a:prstGeom prst="rect">
            <a:avLst/>
          </a:prstGeom>
          <a:solidFill>
            <a:srgbClr val="F2F2F2"/>
          </a:solidFill>
          <a:ln w="12700">
            <a:solidFill>
              <a:srgbClr val="B23A2E"/>
            </a:solidFill>
            <a:prstDash val="dash"/>
          </a:ln>
        </p:spPr>
      </p:sp>
      <p:sp>
        <p:nvSpPr>
          <p:cNvPr id="6" name="placeholder text"/>
          <p:cNvSpPr txBox="1"/>
          <p:nvPr/>
        </p:nvSpPr>
        <p:spPr>
          <a:xfrm>
            <a:off x="5619774" y="1463040"/>
            <a:ext cx="5840401" cy="224028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or video from the three-station test]</a:t>
            </a:r>
            <a:endParaRPr lang="en-US" sz="1600" dirty="0"/>
          </a:p>
        </p:txBody>
      </p:sp>
      <p:graphicFrame>
        <p:nvGraphicFramePr>
          <p:cNvPr id="21" name="pass limits"/>
          <p:cNvGraphicFramePr>
            <a:graphicFrameLocks noGrp="1"/>
          </p:cNvGraphicFramePr>
          <p:nvPr>
            <p:extLst>
              <p:ext uri="{D42A27DB-BD31-4B8C-83A1-F6EECF244321}">
                <p14:modId xmlns:p14="http://schemas.microsoft.com/office/powerpoint/2010/main" val="1579011935"/>
              </p:ext>
            </p:extLst>
          </p:nvPr>
        </p:nvGraphicFramePr>
        <p:xfrm>
          <a:off x="5436894" y="3886200"/>
          <a:ext cx="6206161" cy="914400"/>
        </p:xfrm>
        <a:graphic>
          <a:graphicData uri="http://schemas.openxmlformats.org/drawingml/2006/table">
            <a:tbl>
              <a:tblPr/>
              <a:tblGrid>
                <a:gridCol w="1861848"/>
                <a:gridCol w="3103080"/>
                <a:gridCol w="1241232"/>
              </a:tblGrid>
              <a:tr h="438912">
                <a:tc>
                  <a:txBody>
                    <a:bodyPr/>
                    <a:lstStyle/>
                    <a:p>
                      <a:pPr indent="0" marL="0">
                        <a:buNone/>
                      </a:pPr>
                      <a:r>
                        <a:rPr lang="en-US" sz="1300" b="1" dirty="0">
                          <a:solidFill>
                            <a:srgbClr val="FFFFFF"/>
                          </a:solidFill>
                          <a:latin typeface="Arial" pitchFamily="34" charset="0"/>
                          <a:ea typeface="Arial" pitchFamily="34" charset="-122"/>
                          <a:cs typeface="Arial" pitchFamily="34" charset="-120"/>
                        </a:rPr>
                        <a:t>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Pass limit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Startup self-check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All stations answer; slack taken 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Calibration fit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Held-out poses inside the safety margin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Short move, 1 lb</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300 mm at 50 mm/s, ≤ 2 mm per cable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Pickup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One garment into the hamper</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Thermal Verification</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698663"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PETG mount must stay below 60 °C</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Hand calculation: 56–59 °C with the prototype fin, 45–49 °C with the 1/8 in fin</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SolidWorks thermal study of the motor, fin, screws and mount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90-minute hold test at 1.5 A to confirm</a:t>
            </a:r>
            <a:endParaRPr lang="en-US" sz="2000" dirty="0"/>
          </a:p>
        </p:txBody>
      </p:sp>
      <p:sp>
        <p:nvSpPr>
          <p:cNvPr id="5" name="placeholder"/>
          <p:cNvSpPr/>
          <p:nvPr/>
        </p:nvSpPr>
        <p:spPr>
          <a:xfrm>
            <a:off x="5658783" y="1463040"/>
            <a:ext cx="5984273" cy="2194560"/>
          </a:xfrm>
          <a:prstGeom prst="rect">
            <a:avLst/>
          </a:prstGeom>
          <a:solidFill>
            <a:srgbClr val="F2F2F2"/>
          </a:solidFill>
          <a:ln w="12700">
            <a:solidFill>
              <a:srgbClr val="B23A2E"/>
            </a:solidFill>
            <a:prstDash val="dash"/>
          </a:ln>
        </p:spPr>
      </p:sp>
      <p:sp>
        <p:nvSpPr>
          <p:cNvPr id="6" name="placeholder text"/>
          <p:cNvSpPr txBox="1"/>
          <p:nvPr/>
        </p:nvSpPr>
        <p:spPr>
          <a:xfrm>
            <a:off x="5841663" y="1463040"/>
            <a:ext cx="5618513" cy="219456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[SolidWorks temperature plot: motor, fin, screws and mount]</a:t>
            </a:r>
            <a:endParaRPr lang="en-US" sz="1600" dirty="0"/>
          </a:p>
        </p:txBody>
      </p:sp>
      <p:graphicFrame>
        <p:nvGraphicFramePr>
          <p:cNvPr id="22" name="thermal methods"/>
          <p:cNvGraphicFramePr>
            <a:graphicFrameLocks noGrp="1"/>
          </p:cNvGraphicFramePr>
          <p:nvPr>
            <p:extLst>
              <p:ext uri="{D42A27DB-BD31-4B8C-83A1-F6EECF244321}">
                <p14:modId xmlns:p14="http://schemas.microsoft.com/office/powerpoint/2010/main" val="1579011935"/>
              </p:ext>
            </p:extLst>
          </p:nvPr>
        </p:nvGraphicFramePr>
        <p:xfrm>
          <a:off x="5658783" y="3794760"/>
          <a:ext cx="5984273" cy="914400"/>
        </p:xfrm>
        <a:graphic>
          <a:graphicData uri="http://schemas.openxmlformats.org/drawingml/2006/table">
            <a:tbl>
              <a:tblPr/>
              <a:tblGrid>
                <a:gridCol w="1675596"/>
                <a:gridCol w="1436225"/>
                <a:gridCol w="1436225"/>
                <a:gridCol w="1436225"/>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Method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0.019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1/8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PETG mount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Hand calculation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56–59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45–49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2 K below motor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SolidWorks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Hold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8" name="caption"/>
          <p:cNvSpPr txBox="1"/>
          <p:nvPr/>
        </p:nvSpPr>
        <p:spPr>
          <a:xfrm>
            <a:off x="5658783" y="5733288"/>
            <a:ext cx="5984273"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Motor temperature at 1.5 A, 23 °C room, vented shell</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Good and Poor Decisions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23" name="good decisions"/>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93989"/>
                <a:gridCol w="7100426"/>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Good decision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Outcome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One controller per winch</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Five times less wire; each station tested on its own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Slide-in wall mount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 station comes off while its anchor stays in place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Camera calibration instead of bead homing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Whole room reachable; no tape measure needed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Gear strength checked at servo stall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Module 1 gears would have failed; fixed in CAD before printing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45" name="poor decisions"/>
          <p:cNvGraphicFramePr>
            <a:graphicFrameLocks noGrp="1"/>
          </p:cNvGraphicFramePr>
          <p:nvPr>
            <p:extLst>
              <p:ext uri="{D42A27DB-BD31-4B8C-83A1-F6EECF244321}">
                <p14:modId xmlns:p14="http://schemas.microsoft.com/office/powerpoint/2010/main" val="1579011935"/>
              </p:ext>
            </p:extLst>
          </p:nvPr>
        </p:nvGraphicFramePr>
        <p:xfrm>
          <a:off x="548640" y="3886200"/>
          <a:ext cx="11094415" cy="914400"/>
        </p:xfrm>
        <a:graphic>
          <a:graphicData uri="http://schemas.openxmlformats.org/drawingml/2006/table">
            <a:tbl>
              <a:tblPr/>
              <a:tblGrid>
                <a:gridCol w="3993989"/>
                <a:gridCol w="7100426"/>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Poor decision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Outcome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Mass budget set late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Claw and jeans are 0.2 kg over capacity, even at 1.5 A</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Bead homing as the first plan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Under a third of the room reachable; redesign needed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Spool printed before a fit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Three prints to fit the motor shaft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400" b="1" dirty="0">
                          <a:solidFill>
                            <a:srgbClr val="000000"/>
                          </a:solidFill>
                          <a:latin typeface="Arial" pitchFamily="34" charset="0"/>
                          <a:ea typeface="Arial" pitchFamily="34" charset="-122"/>
                          <a:cs typeface="Arial" pitchFamily="34" charset="-120"/>
                        </a:rPr>
                        <a:t>Several stations built before one was proven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Every fix repeated on each station </a:t>
                      </a:r>
                      <a:pPr indent="0" marL="0">
                        <a:buNone/>
                      </a:pPr>
                      <a:r>
                        <a:rPr lang="en-US" sz="1400" i="1" dirty="0">
                          <a:solidFill>
                            <a:srgbClr val="B23A2E"/>
                          </a:solidFill>
                          <a:latin typeface="Arial" pitchFamily="34" charset="0"/>
                          <a:ea typeface="Arial" pitchFamily="34" charset="-122"/>
                          <a:cs typeface="Arial" pitchFamily="34" charset="-120"/>
                        </a:rPr>
                        <a:t>[confirm]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Thorough vs. Scrappy</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Thorough heading"/>
          <p:cNvSpPr txBox="1"/>
          <p:nvPr/>
        </p:nvSpPr>
        <p:spPr>
          <a:xfrm>
            <a:off x="548640" y="1417320"/>
            <a:ext cx="5364328"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Thorough</a:t>
            </a:r>
            <a:endParaRPr lang="en-US" sz="1700" dirty="0"/>
          </a:p>
        </p:txBody>
      </p:sp>
      <p:sp>
        <p:nvSpPr>
          <p:cNvPr id="5" name="Shape 3"/>
          <p:cNvSpPr/>
          <p:nvPr/>
        </p:nvSpPr>
        <p:spPr>
          <a:xfrm>
            <a:off x="548640" y="1801368"/>
            <a:ext cx="5364328" cy="0"/>
          </a:xfrm>
          <a:prstGeom prst="line">
            <a:avLst/>
          </a:prstGeom>
          <a:noFill/>
          <a:ln w="12700">
            <a:solidFill>
              <a:srgbClr val="1F3A5F"/>
            </a:solidFill>
            <a:prstDash val="solid"/>
          </a:ln>
        </p:spPr>
      </p:sp>
      <p:sp>
        <p:nvSpPr>
          <p:cNvPr id="6" name="Shape 4"/>
          <p:cNvSpPr/>
          <p:nvPr/>
        </p:nvSpPr>
        <p:spPr>
          <a:xfrm>
            <a:off x="548640" y="1965960"/>
            <a:ext cx="5364328" cy="2103120"/>
          </a:xfrm>
          <a:prstGeom prst="rect">
            <a:avLst/>
          </a:prstGeom>
          <a:solidFill>
            <a:srgbClr val="F2F2F2"/>
          </a:solidFill>
          <a:ln w="12700">
            <a:solidFill>
              <a:srgbClr val="F2F2F2"/>
            </a:solidFill>
            <a:prstDash val="solid"/>
          </a:ln>
        </p:spPr>
      </p:sp>
      <p:pic>
        <p:nvPicPr>
          <p:cNvPr id="7" name="Heat fin: mill setup with the shop drawi" descr="Heat fin: mill setup with the shop drawing">    </p:cNvPr>
          <p:cNvPicPr>
            <a:picLocks noChangeAspect="1"/>
          </p:cNvPicPr>
          <p:nvPr/>
        </p:nvPicPr>
        <p:blipFill>
          <a:blip r:embed="rId1"/>
          <a:stretch>
            <a:fillRect/>
          </a:stretch>
        </p:blipFill>
        <p:spPr>
          <a:xfrm>
            <a:off x="2483282" y="2020824"/>
            <a:ext cx="1495044" cy="1993392"/>
          </a:xfrm>
          <a:prstGeom prst="rect">
            <a:avLst/>
          </a:prstGeom>
        </p:spPr>
      </p:pic>
      <p:sp>
        <p:nvSpPr>
          <p:cNvPr id="8" name="Thorough bullets"/>
          <p:cNvSpPr txBox="1"/>
          <p:nvPr/>
        </p:nvSpPr>
        <p:spPr>
          <a:xfrm>
            <a:off x="548640" y="4206240"/>
            <a:ext cx="5364328" cy="1600200"/>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Heat fin sized by calculation and machined in one mill setup to ±0.1 mm</a:t>
            </a:r>
            <a:endParaRPr lang="en-US" sz="1600" dirty="0"/>
          </a:p>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Station schematic checked net by net against the soldered board</a:t>
            </a:r>
            <a:endParaRPr lang="en-US" sz="1600" dirty="0"/>
          </a:p>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Gear strength checked at servo stall before printing</a:t>
            </a:r>
            <a:endParaRPr lang="en-US" sz="1600" dirty="0"/>
          </a:p>
        </p:txBody>
      </p:sp>
      <p:sp>
        <p:nvSpPr>
          <p:cNvPr id="9" name="Scrappy heading"/>
          <p:cNvSpPr txBox="1"/>
          <p:nvPr/>
        </p:nvSpPr>
        <p:spPr>
          <a:xfrm>
            <a:off x="6278728" y="1417320"/>
            <a:ext cx="5364328"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Scrappy</a:t>
            </a:r>
            <a:endParaRPr lang="en-US" sz="1700" dirty="0"/>
          </a:p>
        </p:txBody>
      </p:sp>
      <p:sp>
        <p:nvSpPr>
          <p:cNvPr id="10" name="Shape 7"/>
          <p:cNvSpPr/>
          <p:nvPr/>
        </p:nvSpPr>
        <p:spPr>
          <a:xfrm>
            <a:off x="6278728" y="1801368"/>
            <a:ext cx="5364328" cy="0"/>
          </a:xfrm>
          <a:prstGeom prst="line">
            <a:avLst/>
          </a:prstGeom>
          <a:noFill/>
          <a:ln w="12700">
            <a:solidFill>
              <a:srgbClr val="1F3A5F"/>
            </a:solidFill>
            <a:prstDash val="solid"/>
          </a:ln>
        </p:spPr>
      </p:sp>
      <p:sp>
        <p:nvSpPr>
          <p:cNvPr id="11" name="Shape 8"/>
          <p:cNvSpPr/>
          <p:nvPr/>
        </p:nvSpPr>
        <p:spPr>
          <a:xfrm>
            <a:off x="6278728" y="1965960"/>
            <a:ext cx="5364328" cy="2103120"/>
          </a:xfrm>
          <a:prstGeom prst="rect">
            <a:avLst/>
          </a:prstGeom>
          <a:solidFill>
            <a:srgbClr val="F2F2F2"/>
          </a:solidFill>
          <a:ln w="12700">
            <a:solidFill>
              <a:srgbClr val="F2F2F2"/>
            </a:solidFill>
            <a:prstDash val="solid"/>
          </a:ln>
        </p:spPr>
      </p:sp>
      <p:pic>
        <p:nvPicPr>
          <p:cNvPr id="12" name="ESP32 dev board jumpered onto the statio" descr="ESP32 dev board jumpered onto the station breadboard">    </p:cNvPr>
          <p:cNvPicPr>
            <a:picLocks noChangeAspect="1"/>
          </p:cNvPicPr>
          <p:nvPr/>
        </p:nvPicPr>
        <p:blipFill>
          <a:blip r:embed="rId2"/>
          <a:stretch>
            <a:fillRect/>
          </a:stretch>
        </p:blipFill>
        <p:spPr>
          <a:xfrm>
            <a:off x="7631774" y="2020824"/>
            <a:ext cx="2658235" cy="1993392"/>
          </a:xfrm>
          <a:prstGeom prst="rect">
            <a:avLst/>
          </a:prstGeom>
        </p:spPr>
      </p:pic>
      <p:sp>
        <p:nvSpPr>
          <p:cNvPr id="13" name="Scrappy bullets"/>
          <p:cNvSpPr txBox="1"/>
          <p:nvPr/>
        </p:nvSpPr>
        <p:spPr>
          <a:xfrm>
            <a:off x="6278728" y="4206240"/>
            <a:ext cx="5364328" cy="1600200"/>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Failed controller replaced by an ESP32 dev board on nine jumpers, same firmware</a:t>
            </a:r>
            <a:endParaRPr lang="en-US" sz="1600" dirty="0"/>
          </a:p>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Floor board made from paper tags on a 250 mm grid</a:t>
            </a:r>
            <a:endParaRPr lang="en-US" sz="1600" dirty="0"/>
          </a:p>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Prototype fin cut from 0.019 in sheet already on hand</a:t>
            </a:r>
            <a:endParaRPr lang="en-US" sz="1600" dirty="0"/>
          </a:p>
        </p:txBody>
      </p:sp>
      <p:sp>
        <p:nvSpPr>
          <p:cNvPr id="14" name="label"/>
          <p:cNvSpPr txBox="1"/>
          <p:nvPr/>
        </p:nvSpPr>
        <p:spPr>
          <a:xfrm>
            <a:off x="548640" y="5852160"/>
            <a:ext cx="11094415" cy="411480"/>
          </a:xfrm>
          <a:prstGeom prst="rect">
            <a:avLst/>
          </a:prstGeom>
          <a:noFill/>
          <a:ln/>
        </p:spPr>
        <p:txBody>
          <a:bodyPr wrap="square" lIns="0" tIns="0" rIns="0" bIns="0" rtlCol="0" anchor="ctr"/>
          <a:lstStyle/>
          <a:p>
            <a:pPr algn="l" indent="0" marL="0">
              <a:buNone/>
            </a:pPr>
            <a:r>
              <a:rPr lang="en-US" sz="1600" b="1" dirty="0">
                <a:solidFill>
                  <a:srgbClr val="000000"/>
                </a:solidFill>
                <a:latin typeface="Arial" pitchFamily="34" charset="0"/>
                <a:ea typeface="Arial" pitchFamily="34" charset="-122"/>
                <a:cs typeface="Arial" pitchFamily="34" charset="-120"/>
              </a:rPr>
              <a:t>Approach: thorough where a mistake is expensive or unsafe, scrappy where it is cheap to undo.</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Lessons Learned</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What I would do differently heading"/>
          <p:cNvSpPr txBox="1"/>
          <p:nvPr/>
        </p:nvSpPr>
        <p:spPr>
          <a:xfrm>
            <a:off x="548640" y="1417320"/>
            <a:ext cx="5364328"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What I would do differently</a:t>
            </a:r>
            <a:endParaRPr lang="en-US" sz="1700" dirty="0"/>
          </a:p>
        </p:txBody>
      </p:sp>
      <p:sp>
        <p:nvSpPr>
          <p:cNvPr id="5" name="Shape 3"/>
          <p:cNvSpPr/>
          <p:nvPr/>
        </p:nvSpPr>
        <p:spPr>
          <a:xfrm>
            <a:off x="548640" y="1801368"/>
            <a:ext cx="5364328" cy="0"/>
          </a:xfrm>
          <a:prstGeom prst="line">
            <a:avLst/>
          </a:prstGeom>
          <a:noFill/>
          <a:ln w="12700">
            <a:solidFill>
              <a:srgbClr val="1F3A5F"/>
            </a:solidFill>
            <a:prstDash val="solid"/>
          </a:ln>
        </p:spPr>
      </p:sp>
      <p:sp>
        <p:nvSpPr>
          <p:cNvPr id="6" name="do differently"/>
          <p:cNvSpPr txBox="1"/>
          <p:nvPr/>
        </p:nvSpPr>
        <p:spPr>
          <a:xfrm>
            <a:off x="548640" y="1965960"/>
            <a:ext cx="5364328" cy="237744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Set the mass budget early, from the measured winch pull</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Print fit coupons before full parts</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Prove one complete station before building the rest</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Check supply rails with a meter before debugging code</a:t>
            </a:r>
            <a:endParaRPr lang="en-US" sz="1700" dirty="0"/>
          </a:p>
        </p:txBody>
      </p:sp>
      <p:sp>
        <p:nvSpPr>
          <p:cNvPr id="7" name="Completing it in half the time heading"/>
          <p:cNvSpPr txBox="1"/>
          <p:nvPr/>
        </p:nvSpPr>
        <p:spPr>
          <a:xfrm>
            <a:off x="6278728" y="1417320"/>
            <a:ext cx="5364328" cy="347472"/>
          </a:xfrm>
          <a:prstGeom prst="rect">
            <a:avLst/>
          </a:prstGeom>
          <a:noFill/>
          <a:ln/>
        </p:spPr>
        <p:txBody>
          <a:bodyPr wrap="square" lIns="0" tIns="0" rIns="0" bIns="0" rtlCol="0" anchor="ctr"/>
          <a:lstStyle/>
          <a:p>
            <a:pPr algn="l" indent="0" marL="0">
              <a:buNone/>
            </a:pPr>
            <a:r>
              <a:rPr lang="en-US" sz="1700" b="1" dirty="0">
                <a:solidFill>
                  <a:srgbClr val="1F3A5F"/>
                </a:solidFill>
                <a:latin typeface="Arial" pitchFamily="34" charset="0"/>
                <a:ea typeface="Arial" pitchFamily="34" charset="-122"/>
                <a:cs typeface="Arial" pitchFamily="34" charset="-120"/>
              </a:rPr>
              <a:t>Completing it in half the time</a:t>
            </a:r>
            <a:endParaRPr lang="en-US" sz="1700" dirty="0"/>
          </a:p>
        </p:txBody>
      </p:sp>
      <p:sp>
        <p:nvSpPr>
          <p:cNvPr id="8" name="Shape 6"/>
          <p:cNvSpPr/>
          <p:nvPr/>
        </p:nvSpPr>
        <p:spPr>
          <a:xfrm>
            <a:off x="6278728" y="1801368"/>
            <a:ext cx="5364328" cy="0"/>
          </a:xfrm>
          <a:prstGeom prst="line">
            <a:avLst/>
          </a:prstGeom>
          <a:noFill/>
          <a:ln w="12700">
            <a:solidFill>
              <a:srgbClr val="1F3A5F"/>
            </a:solidFill>
            <a:prstDash val="solid"/>
          </a:ln>
        </p:spPr>
      </p:sp>
      <p:sp>
        <p:nvSpPr>
          <p:cNvPr id="9" name="half the time"/>
          <p:cNvSpPr txBox="1"/>
          <p:nvPr/>
        </p:nvSpPr>
        <p:spPr>
          <a:xfrm>
            <a:off x="6278728" y="1965960"/>
            <a:ext cx="5364328" cy="237744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Freeze requirements in the first week</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Order long-lead parts on day one</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Start with three stations</a:t>
            </a:r>
            <a:endParaRPr lang="en-US" sz="1700" dirty="0"/>
          </a:p>
          <a:p>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Limit each part to one generation, gated by a test</a:t>
            </a:r>
            <a:endParaRPr lang="en-US" sz="1700" dirty="0"/>
          </a:p>
        </p:txBody>
      </p:sp>
      <p:sp>
        <p:nvSpPr>
          <p:cNvPr id="10" name="label"/>
          <p:cNvSpPr txBox="1"/>
          <p:nvPr/>
        </p:nvSpPr>
        <p:spPr>
          <a:xfrm>
            <a:off x="548640" y="4343400"/>
            <a:ext cx="1463040" cy="54864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Actual</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(15 weeks)</a:t>
            </a:r>
            <a:endParaRPr lang="en-US" sz="1300" dirty="0"/>
          </a:p>
        </p:txBody>
      </p:sp>
      <p:sp>
        <p:nvSpPr>
          <p:cNvPr id="11" name="Concept"/>
          <p:cNvSpPr/>
          <p:nvPr/>
        </p:nvSpPr>
        <p:spPr>
          <a:xfrm>
            <a:off x="2103120" y="4343400"/>
            <a:ext cx="1926333" cy="548640"/>
          </a:xfrm>
          <a:prstGeom prst="rect">
            <a:avLst/>
          </a:prstGeom>
          <a:solidFill>
            <a:srgbClr val="D9DEE5"/>
          </a:solidFill>
          <a:ln w="19050">
            <a:solidFill>
              <a:srgbClr val="FFFFFF"/>
            </a:solidFill>
            <a:prstDash val="solid"/>
          </a:ln>
        </p:spPr>
      </p:sp>
      <p:sp>
        <p:nvSpPr>
          <p:cNvPr id="12" name="label"/>
          <p:cNvSpPr txBox="1"/>
          <p:nvPr/>
        </p:nvSpPr>
        <p:spPr>
          <a:xfrm>
            <a:off x="2139696" y="4343400"/>
            <a:ext cx="1853181" cy="54864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Concept</a:t>
            </a:r>
            <a:endParaRPr lang="en-US" sz="1200" dirty="0"/>
          </a:p>
        </p:txBody>
      </p:sp>
      <p:sp>
        <p:nvSpPr>
          <p:cNvPr id="13" name="Generation 1"/>
          <p:cNvSpPr/>
          <p:nvPr/>
        </p:nvSpPr>
        <p:spPr>
          <a:xfrm>
            <a:off x="4029453" y="4343400"/>
            <a:ext cx="2568444" cy="548640"/>
          </a:xfrm>
          <a:prstGeom prst="rect">
            <a:avLst/>
          </a:prstGeom>
          <a:solidFill>
            <a:srgbClr val="4F6D8F"/>
          </a:solidFill>
          <a:ln w="19050">
            <a:solidFill>
              <a:srgbClr val="FFFFFF"/>
            </a:solidFill>
            <a:prstDash val="solid"/>
          </a:ln>
        </p:spPr>
      </p:sp>
      <p:sp>
        <p:nvSpPr>
          <p:cNvPr id="14" name="label"/>
          <p:cNvSpPr txBox="1"/>
          <p:nvPr/>
        </p:nvSpPr>
        <p:spPr>
          <a:xfrm>
            <a:off x="4066029" y="4343400"/>
            <a:ext cx="2495292"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Generation 1</a:t>
            </a:r>
            <a:endParaRPr lang="en-US" sz="1200" dirty="0"/>
          </a:p>
        </p:txBody>
      </p:sp>
      <p:sp>
        <p:nvSpPr>
          <p:cNvPr id="15" name="Redesign"/>
          <p:cNvSpPr/>
          <p:nvPr/>
        </p:nvSpPr>
        <p:spPr>
          <a:xfrm>
            <a:off x="6597897" y="4343400"/>
            <a:ext cx="3118825" cy="548640"/>
          </a:xfrm>
          <a:prstGeom prst="rect">
            <a:avLst/>
          </a:prstGeom>
          <a:solidFill>
            <a:srgbClr val="D9DEE5"/>
          </a:solidFill>
          <a:ln w="19050">
            <a:solidFill>
              <a:srgbClr val="FFFFFF"/>
            </a:solidFill>
            <a:prstDash val="solid"/>
          </a:ln>
        </p:spPr>
      </p:sp>
      <p:sp>
        <p:nvSpPr>
          <p:cNvPr id="16" name="label"/>
          <p:cNvSpPr txBox="1"/>
          <p:nvPr/>
        </p:nvSpPr>
        <p:spPr>
          <a:xfrm>
            <a:off x="6634473" y="4343400"/>
            <a:ext cx="3045673" cy="54864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Redesign</a:t>
            </a:r>
            <a:endParaRPr lang="en-US" sz="1200" dirty="0"/>
          </a:p>
        </p:txBody>
      </p:sp>
      <p:sp>
        <p:nvSpPr>
          <p:cNvPr id="17" name="Gen 2 to final"/>
          <p:cNvSpPr/>
          <p:nvPr/>
        </p:nvSpPr>
        <p:spPr>
          <a:xfrm>
            <a:off x="9716722" y="4343400"/>
            <a:ext cx="1375952" cy="548640"/>
          </a:xfrm>
          <a:prstGeom prst="rect">
            <a:avLst/>
          </a:prstGeom>
          <a:solidFill>
            <a:srgbClr val="4F6D8F"/>
          </a:solidFill>
          <a:ln w="19050">
            <a:solidFill>
              <a:srgbClr val="FFFFFF"/>
            </a:solidFill>
            <a:prstDash val="solid"/>
          </a:ln>
        </p:spPr>
      </p:sp>
      <p:sp>
        <p:nvSpPr>
          <p:cNvPr id="18" name="label"/>
          <p:cNvSpPr txBox="1"/>
          <p:nvPr/>
        </p:nvSpPr>
        <p:spPr>
          <a:xfrm>
            <a:off x="9753298" y="4343400"/>
            <a:ext cx="13028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 2 to final</a:t>
            </a:r>
            <a:endParaRPr lang="en-US" sz="1200" dirty="0"/>
          </a:p>
        </p:txBody>
      </p:sp>
      <p:sp>
        <p:nvSpPr>
          <p:cNvPr id="19" name="Build, test"/>
          <p:cNvSpPr/>
          <p:nvPr/>
        </p:nvSpPr>
        <p:spPr>
          <a:xfrm>
            <a:off x="11092674" y="4343400"/>
            <a:ext cx="550381" cy="548640"/>
          </a:xfrm>
          <a:prstGeom prst="rect">
            <a:avLst/>
          </a:prstGeom>
          <a:solidFill>
            <a:srgbClr val="1F3A5F"/>
          </a:solidFill>
          <a:ln w="19050">
            <a:solidFill>
              <a:srgbClr val="FFFFFF"/>
            </a:solidFill>
            <a:prstDash val="solid"/>
          </a:ln>
        </p:spPr>
      </p:sp>
      <p:sp>
        <p:nvSpPr>
          <p:cNvPr id="20" name="label"/>
          <p:cNvSpPr txBox="1"/>
          <p:nvPr/>
        </p:nvSpPr>
        <p:spPr>
          <a:xfrm>
            <a:off x="11129250" y="4343400"/>
            <a:ext cx="477229"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Build, test</a:t>
            </a:r>
            <a:endParaRPr lang="en-US" sz="1000" dirty="0"/>
          </a:p>
        </p:txBody>
      </p:sp>
      <p:sp>
        <p:nvSpPr>
          <p:cNvPr id="21" name="label"/>
          <p:cNvSpPr txBox="1"/>
          <p:nvPr/>
        </p:nvSpPr>
        <p:spPr>
          <a:xfrm>
            <a:off x="548640" y="5166360"/>
            <a:ext cx="1463040" cy="548640"/>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Half time</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(7 weeks)</a:t>
            </a:r>
            <a:endParaRPr lang="en-US" sz="1300" dirty="0"/>
          </a:p>
        </p:txBody>
      </p:sp>
      <p:sp>
        <p:nvSpPr>
          <p:cNvPr id="22" name="Plan"/>
          <p:cNvSpPr/>
          <p:nvPr/>
        </p:nvSpPr>
        <p:spPr>
          <a:xfrm>
            <a:off x="2103120" y="5166360"/>
            <a:ext cx="642111" cy="548640"/>
          </a:xfrm>
          <a:prstGeom prst="rect">
            <a:avLst/>
          </a:prstGeom>
          <a:solidFill>
            <a:srgbClr val="D9DEE5"/>
          </a:solidFill>
          <a:ln w="19050">
            <a:solidFill>
              <a:srgbClr val="FFFFFF"/>
            </a:solidFill>
            <a:prstDash val="solid"/>
          </a:ln>
        </p:spPr>
      </p:sp>
      <p:sp>
        <p:nvSpPr>
          <p:cNvPr id="23" name="label"/>
          <p:cNvSpPr txBox="1"/>
          <p:nvPr/>
        </p:nvSpPr>
        <p:spPr>
          <a:xfrm>
            <a:off x="2139696" y="5166360"/>
            <a:ext cx="568959" cy="548640"/>
          </a:xfrm>
          <a:prstGeom prst="rect">
            <a:avLst/>
          </a:prstGeom>
          <a:noFill/>
          <a:ln/>
        </p:spPr>
        <p:txBody>
          <a:bodyPr wrap="square" lIns="0" tIns="0" rIns="0" bIns="0" rtlCol="0" anchor="ctr"/>
          <a:lstStyle/>
          <a:p>
            <a:pPr algn="ctr" indent="0" marL="0">
              <a:buNone/>
            </a:pPr>
            <a:r>
              <a:rPr lang="en-US" sz="1000" b="1" dirty="0">
                <a:solidFill>
                  <a:srgbClr val="1F3A5F"/>
                </a:solidFill>
                <a:latin typeface="Arial" pitchFamily="34" charset="0"/>
                <a:ea typeface="Arial" pitchFamily="34" charset="-122"/>
                <a:cs typeface="Arial" pitchFamily="34" charset="-120"/>
              </a:rPr>
              <a:t>Plan</a:t>
            </a:r>
            <a:endParaRPr lang="en-US" sz="1000" dirty="0"/>
          </a:p>
        </p:txBody>
      </p:sp>
      <p:sp>
        <p:nvSpPr>
          <p:cNvPr id="24" name="One full station and tests"/>
          <p:cNvSpPr/>
          <p:nvPr/>
        </p:nvSpPr>
        <p:spPr>
          <a:xfrm>
            <a:off x="2745231" y="5166360"/>
            <a:ext cx="1284222" cy="548640"/>
          </a:xfrm>
          <a:prstGeom prst="rect">
            <a:avLst/>
          </a:prstGeom>
          <a:solidFill>
            <a:srgbClr val="4F6D8F"/>
          </a:solidFill>
          <a:ln w="19050">
            <a:solidFill>
              <a:srgbClr val="FFFFFF"/>
            </a:solidFill>
            <a:prstDash val="solid"/>
          </a:ln>
        </p:spPr>
      </p:sp>
      <p:sp>
        <p:nvSpPr>
          <p:cNvPr id="25" name="label"/>
          <p:cNvSpPr txBox="1"/>
          <p:nvPr/>
        </p:nvSpPr>
        <p:spPr>
          <a:xfrm>
            <a:off x="2781807" y="5166360"/>
            <a:ext cx="12110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One full station and tests</a:t>
            </a:r>
            <a:endParaRPr lang="en-US" sz="1200" dirty="0"/>
          </a:p>
        </p:txBody>
      </p:sp>
      <p:sp>
        <p:nvSpPr>
          <p:cNvPr id="26" name="Copy"/>
          <p:cNvSpPr/>
          <p:nvPr/>
        </p:nvSpPr>
        <p:spPr>
          <a:xfrm>
            <a:off x="4029453" y="5166360"/>
            <a:ext cx="642111" cy="548640"/>
          </a:xfrm>
          <a:prstGeom prst="rect">
            <a:avLst/>
          </a:prstGeom>
          <a:solidFill>
            <a:srgbClr val="D9DEE5"/>
          </a:solidFill>
          <a:ln w="19050">
            <a:solidFill>
              <a:srgbClr val="FFFFFF"/>
            </a:solidFill>
            <a:prstDash val="solid"/>
          </a:ln>
        </p:spPr>
      </p:sp>
      <p:sp>
        <p:nvSpPr>
          <p:cNvPr id="27" name="label"/>
          <p:cNvSpPr txBox="1"/>
          <p:nvPr/>
        </p:nvSpPr>
        <p:spPr>
          <a:xfrm>
            <a:off x="4066029" y="5166360"/>
            <a:ext cx="568959" cy="548640"/>
          </a:xfrm>
          <a:prstGeom prst="rect">
            <a:avLst/>
          </a:prstGeom>
          <a:noFill/>
          <a:ln/>
        </p:spPr>
        <p:txBody>
          <a:bodyPr wrap="square" lIns="0" tIns="0" rIns="0" bIns="0" rtlCol="0" anchor="ctr"/>
          <a:lstStyle/>
          <a:p>
            <a:pPr algn="ctr" indent="0" marL="0">
              <a:buNone/>
            </a:pPr>
            <a:r>
              <a:rPr lang="en-US" sz="1000" b="1" dirty="0">
                <a:solidFill>
                  <a:srgbClr val="1F3A5F"/>
                </a:solidFill>
                <a:latin typeface="Arial" pitchFamily="34" charset="0"/>
                <a:ea typeface="Arial" pitchFamily="34" charset="-122"/>
                <a:cs typeface="Arial" pitchFamily="34" charset="-120"/>
              </a:rPr>
              <a:t>Copy</a:t>
            </a:r>
            <a:endParaRPr lang="en-US" sz="1000" dirty="0"/>
          </a:p>
        </p:txBody>
      </p:sp>
      <p:sp>
        <p:nvSpPr>
          <p:cNvPr id="28" name="Claw, coupons first"/>
          <p:cNvSpPr/>
          <p:nvPr/>
        </p:nvSpPr>
        <p:spPr>
          <a:xfrm>
            <a:off x="4671564" y="5166360"/>
            <a:ext cx="1284222" cy="548640"/>
          </a:xfrm>
          <a:prstGeom prst="rect">
            <a:avLst/>
          </a:prstGeom>
          <a:solidFill>
            <a:srgbClr val="4F6D8F"/>
          </a:solidFill>
          <a:ln w="19050">
            <a:solidFill>
              <a:srgbClr val="FFFFFF"/>
            </a:solidFill>
            <a:prstDash val="solid"/>
          </a:ln>
        </p:spPr>
      </p:sp>
      <p:sp>
        <p:nvSpPr>
          <p:cNvPr id="29" name="label"/>
          <p:cNvSpPr txBox="1"/>
          <p:nvPr/>
        </p:nvSpPr>
        <p:spPr>
          <a:xfrm>
            <a:off x="4708140" y="5166360"/>
            <a:ext cx="12110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Claw, coupons first</a:t>
            </a:r>
            <a:endParaRPr lang="en-US" sz="1200" dirty="0"/>
          </a:p>
        </p:txBody>
      </p:sp>
      <p:sp>
        <p:nvSpPr>
          <p:cNvPr id="30" name="Test"/>
          <p:cNvSpPr/>
          <p:nvPr/>
        </p:nvSpPr>
        <p:spPr>
          <a:xfrm>
            <a:off x="5955786" y="5166360"/>
            <a:ext cx="642111" cy="548640"/>
          </a:xfrm>
          <a:prstGeom prst="rect">
            <a:avLst/>
          </a:prstGeom>
          <a:solidFill>
            <a:srgbClr val="1F3A5F"/>
          </a:solidFill>
          <a:ln w="19050">
            <a:solidFill>
              <a:srgbClr val="FFFFFF"/>
            </a:solidFill>
            <a:prstDash val="solid"/>
          </a:ln>
        </p:spPr>
      </p:sp>
      <p:sp>
        <p:nvSpPr>
          <p:cNvPr id="31" name="label"/>
          <p:cNvSpPr txBox="1"/>
          <p:nvPr/>
        </p:nvSpPr>
        <p:spPr>
          <a:xfrm>
            <a:off x="5992362" y="5166360"/>
            <a:ext cx="568959"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Test</a:t>
            </a:r>
            <a:endParaRPr lang="en-US" sz="1000" dirty="0"/>
          </a:p>
        </p:txBody>
      </p:sp>
      <p:sp>
        <p:nvSpPr>
          <p:cNvPr id="32" name="caption"/>
          <p:cNvSpPr txBox="1"/>
          <p:nvPr/>
        </p:nvSpPr>
        <p:spPr>
          <a:xfrm>
            <a:off x="2103120" y="5806440"/>
            <a:ext cx="9539935"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Same time scale. Actual schedule: July 16 to October 27.</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Questions</a:t>
            </a:r>
            <a:endParaRPr lang="en-US" sz="4800" dirty="0"/>
          </a:p>
        </p:txBody>
      </p:sp>
      <p:sp>
        <p:nvSpPr>
          <p:cNvPr id="3" name="Text 1"/>
          <p:cNvSpPr txBox="1"/>
          <p:nvPr/>
        </p:nvSpPr>
        <p:spPr>
          <a:xfrm>
            <a:off x="548640" y="3566160"/>
            <a:ext cx="10058400" cy="54864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Jasper Buntinx  |  jasper_buntinx@tamu.edu</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Appendix</a:t>
            </a:r>
            <a:endParaRPr lang="en-US" sz="4400" dirty="0"/>
          </a:p>
        </p:txBody>
      </p:sp>
      <p:sp>
        <p:nvSpPr>
          <p:cNvPr id="3" name="Text 1"/>
          <p:cNvSpPr txBox="1"/>
          <p:nvPr/>
        </p:nvSpPr>
        <p:spPr>
          <a:xfrm>
            <a:off x="548640" y="3566160"/>
            <a:ext cx="10058400" cy="54864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Supporting detail for questions</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Project Status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550213"/>
                <a:gridCol w="3993989"/>
                <a:gridCol w="3550213"/>
              </a:tblGrid>
              <a:tr h="512064">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Part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Next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Wall stations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 bench-commissioned </a:t>
                      </a:r>
                      <a:pPr indent="0" marL="0">
                        <a:buNone/>
                      </a:pPr>
                      <a:r>
                        <a:rPr lang="en-US" sz="1300" i="1" dirty="0">
                          <a:solidFill>
                            <a:srgbClr val="B23A2E"/>
                          </a:solidFill>
                          <a:latin typeface="Arial" pitchFamily="34" charset="0"/>
                          <a:ea typeface="Arial" pitchFamily="34" charset="-122"/>
                          <a:cs typeface="Arial" pitchFamily="34" charset="-120"/>
                        </a:rPr>
                        <a:t>[how many]</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Three-station test, then the fourth</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Station electronics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 drivers at 1.5 A </a:t>
                      </a:r>
                      <a:pPr indent="0" marL="0">
                        <a:buNone/>
                      </a:pPr>
                      <a:r>
                        <a:rPr lang="en-US" sz="1300" i="1" dirty="0">
                          <a:solidFill>
                            <a:srgbClr val="B23A2E"/>
                          </a:solidFill>
                          <a:latin typeface="Arial" pitchFamily="34" charset="0"/>
                          <a:ea typeface="Arial" pitchFamily="34" charset="-122"/>
                          <a:cs typeface="Arial" pitchFamily="34" charset="-120"/>
                        </a:rPr>
                        <a:t>[how: Vref reading]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90-minute hold test at 1.5 A</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Heat fin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Prototype 0.019 in built; 1/8 in designed</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Machine the 1/8 in fin; hold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Thermal model of the station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Hand calculation at 1.5 A; SolidWorks model set 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Run it; then the hold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Claw body: tube, mount, servo, gears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Weigh 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Claw hands, camera housing, encoder casing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Checked in CAD; printing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Fit checks on the first print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Calibration and control software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Simulated end to end</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First hardware run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Winch pull</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Calculated at 1.5 A: 25–34 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Luggage-scale pull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Fin Sizing for 4 W</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254886" cy="2624328"/>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Goal: the fin alone carries all 4.05 W</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0.019 in sheet cannot at any length; maximum about 2 W</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1/8 in plate needs 145–185 mm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Thickness matters more than length</a:t>
            </a:r>
            <a:endParaRPr lang="en-US" sz="1800" dirty="0"/>
          </a:p>
        </p:txBody>
      </p:sp>
      <p:sp>
        <p:nvSpPr>
          <p:cNvPr id="5" name="equation box"/>
          <p:cNvSpPr/>
          <p:nvPr/>
        </p:nvSpPr>
        <p:spPr>
          <a:xfrm>
            <a:off x="548640" y="4224528"/>
            <a:ext cx="4254886" cy="2039112"/>
          </a:xfrm>
          <a:prstGeom prst="rect">
            <a:avLst/>
          </a:prstGeom>
          <a:solidFill>
            <a:srgbClr val="F7F8FA"/>
          </a:solidFill>
          <a:ln w="15875">
            <a:solidFill>
              <a:srgbClr val="1F3A5F"/>
            </a:solidFill>
            <a:prstDash val="solid"/>
          </a:ln>
        </p:spPr>
      </p:sp>
      <p:sp>
        <p:nvSpPr>
          <p:cNvPr id="6" name="equation title"/>
          <p:cNvSpPr txBox="1"/>
          <p:nvPr/>
        </p:nvSpPr>
        <p:spPr>
          <a:xfrm>
            <a:off x="713232" y="4297680"/>
            <a:ext cx="3925702"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Most heat any fin length can carry</a:t>
            </a:r>
            <a:endParaRPr lang="en-US" sz="1100" dirty="0"/>
          </a:p>
        </p:txBody>
      </p:sp>
      <p:sp>
        <p:nvSpPr>
          <p:cNvPr id="7" name="equations"/>
          <p:cNvSpPr txBox="1"/>
          <p:nvPr/>
        </p:nvSpPr>
        <p:spPr>
          <a:xfrm>
            <a:off x="713232" y="4535424"/>
            <a:ext cx="3925702"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q</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w √(2 h k t) × θ</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b</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0.044 × √(2 × 9.3 × 167 × 0.000483) × 37</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 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&lt; 4.05 W</a:t>
            </a:r>
            <a:endParaRPr lang="en-US" sz="1550" dirty="0"/>
          </a:p>
        </p:txBody>
      </p:sp>
      <p:sp>
        <p:nvSpPr>
          <p:cNvPr id="8" name="equation inputs"/>
          <p:cNvSpPr txBox="1"/>
          <p:nvPr/>
        </p:nvSpPr>
        <p:spPr>
          <a:xfrm>
            <a:off x="713232" y="5577840"/>
            <a:ext cx="3925702"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w = 0.044 m fin width; h = 9.3 W/m²·K, painted; k = 167 W/m·K, 6061 aluminum; t = 0.000483 m; θ</a:t>
            </a:r>
            <a:pPr indent="0" marL="0">
              <a:buNone/>
            </a:pPr>
            <a:r>
              <a:rPr lang="en-US" sz="1100" baseline="-40000" dirty="0">
                <a:solidFill>
                  <a:srgbClr val="404040"/>
                </a:solidFill>
                <a:latin typeface="Arial" pitchFamily="34" charset="0"/>
                <a:ea typeface="Arial" pitchFamily="34" charset="-122"/>
                <a:cs typeface="Arial" pitchFamily="34" charset="-120"/>
              </a:rPr>
              <a:t>b</a:t>
            </a:r>
            <a:pPr indent="0" marL="0">
              <a:buNone/>
            </a:pPr>
            <a:r>
              <a:rPr lang="en-US" sz="1100" dirty="0">
                <a:solidFill>
                  <a:srgbClr val="404040"/>
                </a:solidFill>
                <a:latin typeface="Arial" pitchFamily="34" charset="0"/>
                <a:ea typeface="Arial" pitchFamily="34" charset="-122"/>
                <a:cs typeface="Arial" pitchFamily="34" charset="-120"/>
              </a:rPr>
              <a:t> = 60 − 23 = 37 K</a:t>
            </a:r>
            <a:endParaRPr lang="en-US" sz="1100" dirty="0"/>
          </a:p>
        </p:txBody>
      </p:sp>
      <p:graphicFrame>
        <p:nvGraphicFramePr>
          <p:cNvPr id="29" name="fin sizing"/>
          <p:cNvGraphicFramePr>
            <a:graphicFrameLocks noGrp="1"/>
          </p:cNvGraphicFramePr>
          <p:nvPr>
            <p:extLst>
              <p:ext uri="{D42A27DB-BD31-4B8C-83A1-F6EECF244321}">
                <p14:modId xmlns:p14="http://schemas.microsoft.com/office/powerpoint/2010/main" val="1579011935"/>
              </p:ext>
            </p:extLst>
          </p:nvPr>
        </p:nvGraphicFramePr>
        <p:xfrm>
          <a:off x="5215006" y="1554480"/>
          <a:ext cx="6428049" cy="914400"/>
        </p:xfrm>
        <a:graphic>
          <a:graphicData uri="http://schemas.openxmlformats.org/drawingml/2006/table">
            <a:tbl>
              <a:tblPr/>
              <a:tblGrid>
                <a:gridCol w="1928415"/>
                <a:gridCol w="771366"/>
                <a:gridCol w="1799854"/>
                <a:gridCol w="1928415"/>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Painted 6061, 44 mm wide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Mass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Motor at 200 mm, fin alone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Shortest for ≤ 60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0.019 in (prototype)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100–120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None (2.0 W max)</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1/16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47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66–72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None (3.6 W max)</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0.090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68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60–65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210 mm or none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1/8 in (design)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94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56–59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145–185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3/16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141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53–55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125–140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1/4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189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51–52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115–125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aption"/>
          <p:cNvSpPr txBox="1"/>
          <p:nvPr/>
        </p:nvSpPr>
        <p:spPr>
          <a:xfrm>
            <a:off x="5215006" y="4864608"/>
            <a:ext cx="6428049"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All 4.05 W through the fin, 23 °C room, paste contact. Calculated.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Floor Board Accuracy</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3474720"/>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Position error equals angle error times camera height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One tag in view: 6.6 mm; four tags: 0.7 mm</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Averaging removes noise, but not bias</a:t>
            </a:r>
            <a:endParaRPr lang="en-US" sz="1800" dirty="0"/>
          </a:p>
        </p:txBody>
      </p:sp>
      <p:sp>
        <p:nvSpPr>
          <p:cNvPr id="5" name="equation box"/>
          <p:cNvSpPr/>
          <p:nvPr/>
        </p:nvSpPr>
        <p:spPr>
          <a:xfrm>
            <a:off x="548640" y="5074920"/>
            <a:ext cx="5364328" cy="1188720"/>
          </a:xfrm>
          <a:prstGeom prst="rect">
            <a:avLst/>
          </a:prstGeom>
          <a:solidFill>
            <a:srgbClr val="F7F8FA"/>
          </a:solidFill>
          <a:ln w="15875">
            <a:solidFill>
              <a:srgbClr val="1F3A5F"/>
            </a:solidFill>
            <a:prstDash val="solid"/>
          </a:ln>
        </p:spPr>
      </p:sp>
      <p:sp>
        <p:nvSpPr>
          <p:cNvPr id="6" name="equation title"/>
          <p:cNvSpPr txBox="1"/>
          <p:nvPr/>
        </p:nvSpPr>
        <p:spPr>
          <a:xfrm>
            <a:off x="713232" y="5148072"/>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Position error with one tag in view</a:t>
            </a:r>
            <a:endParaRPr lang="en-US" sz="1100" dirty="0"/>
          </a:p>
        </p:txBody>
      </p:sp>
      <p:sp>
        <p:nvSpPr>
          <p:cNvPr id="7" name="equations"/>
          <p:cNvSpPr txBox="1"/>
          <p:nvPr/>
        </p:nvSpPr>
        <p:spPr>
          <a:xfrm>
            <a:off x="713232" y="5385816"/>
            <a:ext cx="5035144" cy="347472"/>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δx =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θ</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 = 12.9 mrad × 0.51 m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6.6 mm</a:t>
            </a:r>
            <a:endParaRPr lang="en-US" sz="1550" dirty="0"/>
          </a:p>
        </p:txBody>
      </p:sp>
      <p:sp>
        <p:nvSpPr>
          <p:cNvPr id="8" name="equation inputs"/>
          <p:cNvSpPr txBox="1"/>
          <p:nvPr/>
        </p:nvSpPr>
        <p:spPr>
          <a:xfrm>
            <a:off x="713232" y="5769864"/>
            <a:ext cx="5035144" cy="420624"/>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σ</a:t>
            </a:r>
            <a:pPr indent="0" marL="0">
              <a:buNone/>
            </a:pPr>
            <a:r>
              <a:rPr lang="en-US" sz="1100" baseline="-40000" dirty="0">
                <a:solidFill>
                  <a:srgbClr val="404040"/>
                </a:solidFill>
                <a:latin typeface="Arial" pitchFamily="34" charset="0"/>
                <a:ea typeface="Arial" pitchFamily="34" charset="-122"/>
                <a:cs typeface="Arial" pitchFamily="34" charset="-120"/>
              </a:rPr>
              <a:t>θ</a:t>
            </a:r>
            <a:pPr indent="0" marL="0">
              <a:buNone/>
            </a:pPr>
            <a:r>
              <a:rPr lang="en-US" sz="1100" dirty="0">
                <a:solidFill>
                  <a:srgbClr val="404040"/>
                </a:solidFill>
                <a:latin typeface="Arial" pitchFamily="34" charset="0"/>
                <a:ea typeface="Arial" pitchFamily="34" charset="-122"/>
                <a:cs typeface="Arial" pitchFamily="34" charset="-120"/>
              </a:rPr>
              <a:t> = pose-angle noise with one tag in view; L = 0.51 m camera height above the board</a:t>
            </a:r>
            <a:endParaRPr lang="en-US" sz="1100" dirty="0"/>
          </a:p>
        </p:txBody>
      </p:sp>
      <p:pic>
        <p:nvPicPr>
          <p:cNvPr id="9" name="Chart from the calculation sheet: Floor " descr="Chart from the calculation sheet: Floor board">    </p:cNvPr>
          <p:cNvPicPr>
            <a:picLocks noChangeAspect="1"/>
          </p:cNvPicPr>
          <p:nvPr/>
        </p:nvPicPr>
        <p:blipFill>
          <a:blip r:embed="rId1"/>
          <a:stretch>
            <a:fillRect/>
          </a:stretch>
        </p:blipFill>
        <p:spPr>
          <a:xfrm>
            <a:off x="6324448" y="1554480"/>
            <a:ext cx="5318608" cy="3660580"/>
          </a:xfrm>
          <a:prstGeom prst="rect">
            <a:avLst/>
          </a:prstGeom>
        </p:spPr>
      </p:pic>
      <p:sp>
        <p:nvSpPr>
          <p:cNvPr id="10" name="chart frame"/>
          <p:cNvSpPr/>
          <p:nvPr/>
        </p:nvSpPr>
        <p:spPr>
          <a:xfrm>
            <a:off x="6324448" y="1554480"/>
            <a:ext cx="5318608" cy="3660580"/>
          </a:xfrm>
          <a:prstGeom prst="rect">
            <a:avLst/>
          </a:prstGeom>
          <a:ln w="9525">
            <a:solidFill>
              <a:srgbClr val="BFBFBF"/>
            </a:solidFill>
            <a:prstDash val="solid"/>
          </a:ln>
        </p:spPr>
      </p:sp>
      <p:sp>
        <p:nvSpPr>
          <p:cNvPr id="11" name="caption"/>
          <p:cNvSpPr txBox="1"/>
          <p:nvPr/>
        </p:nvSpPr>
        <p:spPr>
          <a:xfrm>
            <a:off x="6324448" y="528821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“Floor board” (calculated values)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Startup Calibration</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953512"/>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No tape measure needed</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Fits anchor positions and cable zero lengths</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Held-out poses check the fit</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Full room allowed only within the fit's error bars</a:t>
            </a:r>
            <a:endParaRPr lang="en-US" sz="1800" dirty="0"/>
          </a:p>
        </p:txBody>
      </p:sp>
      <p:sp>
        <p:nvSpPr>
          <p:cNvPr id="5" name="equation box"/>
          <p:cNvSpPr/>
          <p:nvPr/>
        </p:nvSpPr>
        <p:spPr>
          <a:xfrm>
            <a:off x="548640" y="4553712"/>
            <a:ext cx="5364328" cy="1709928"/>
          </a:xfrm>
          <a:prstGeom prst="rect">
            <a:avLst/>
          </a:prstGeom>
          <a:solidFill>
            <a:srgbClr val="F7F8FA"/>
          </a:solidFill>
          <a:ln w="15875">
            <a:solidFill>
              <a:srgbClr val="1F3A5F"/>
            </a:solidFill>
            <a:prstDash val="solid"/>
          </a:ln>
        </p:spPr>
      </p:sp>
      <p:sp>
        <p:nvSpPr>
          <p:cNvPr id="6" name="equation title"/>
          <p:cNvSpPr txBox="1"/>
          <p:nvPr/>
        </p:nvSpPr>
        <p:spPr>
          <a:xfrm>
            <a:off x="713232" y="4626864"/>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Least-squares calibration fit</a:t>
            </a:r>
            <a:endParaRPr lang="en-US" sz="1100" dirty="0"/>
          </a:p>
        </p:txBody>
      </p:sp>
      <p:sp>
        <p:nvSpPr>
          <p:cNvPr id="7" name="equations"/>
          <p:cNvSpPr txBox="1"/>
          <p:nvPr/>
        </p:nvSpPr>
        <p:spPr>
          <a:xfrm>
            <a:off x="713232" y="4864608"/>
            <a:ext cx="5035144" cy="676656"/>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min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i0</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a</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)²</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Full room only if k σ ≤ safety margin</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a</a:t>
            </a:r>
            <a:pPr indent="0" marL="0">
              <a:buNone/>
            </a:pPr>
            <a:r>
              <a:rPr lang="en-US" sz="1100" baseline="-40000" dirty="0">
                <a:solidFill>
                  <a:srgbClr val="404040"/>
                </a:solidFill>
                <a:latin typeface="Arial" pitchFamily="34" charset="0"/>
                <a:ea typeface="Arial" pitchFamily="34" charset="-122"/>
                <a:cs typeface="Arial" pitchFamily="34" charset="-120"/>
              </a:rPr>
              <a:t>i</a:t>
            </a:r>
            <a:pPr indent="0" marL="0">
              <a:buNone/>
            </a:pPr>
            <a:r>
              <a:rPr lang="en-US" sz="1100" dirty="0">
                <a:solidFill>
                  <a:srgbClr val="404040"/>
                </a:solidFill>
                <a:latin typeface="Arial" pitchFamily="34" charset="0"/>
                <a:ea typeface="Arial" pitchFamily="34" charset="-122"/>
                <a:cs typeface="Arial" pitchFamily="34" charset="-120"/>
              </a:rPr>
              <a:t> = anchor i; p</a:t>
            </a:r>
            <a:pPr indent="0" marL="0">
              <a:buNone/>
            </a:pPr>
            <a:r>
              <a:rPr lang="en-US" sz="1100" baseline="-40000" dirty="0">
                <a:solidFill>
                  <a:srgbClr val="404040"/>
                </a:solidFill>
                <a:latin typeface="Arial" pitchFamily="34" charset="0"/>
                <a:ea typeface="Arial" pitchFamily="34" charset="-122"/>
                <a:cs typeface="Arial" pitchFamily="34" charset="-120"/>
              </a:rPr>
              <a:t>k</a:t>
            </a:r>
            <a:pPr indent="0" marL="0">
              <a:buNone/>
            </a:pPr>
            <a:r>
              <a:rPr lang="en-US" sz="1100" dirty="0">
                <a:solidFill>
                  <a:srgbClr val="404040"/>
                </a:solidFill>
                <a:latin typeface="Arial" pitchFamily="34" charset="0"/>
                <a:ea typeface="Arial" pitchFamily="34" charset="-122"/>
                <a:cs typeface="Arial" pitchFamily="34" charset="-120"/>
              </a:rPr>
              <a:t> = claw pose k from the camera; d</a:t>
            </a:r>
            <a:pPr indent="0" marL="0">
              <a:buNone/>
            </a:pPr>
            <a:r>
              <a:rPr lang="en-US" sz="1100" baseline="-40000" dirty="0">
                <a:solidFill>
                  <a:srgbClr val="404040"/>
                </a:solidFill>
                <a:latin typeface="Arial" pitchFamily="34" charset="0"/>
                <a:ea typeface="Arial" pitchFamily="34" charset="-122"/>
                <a:cs typeface="Arial" pitchFamily="34" charset="-120"/>
              </a:rPr>
              <a:t>ik</a:t>
            </a:r>
            <a:pPr indent="0" marL="0">
              <a:buNone/>
            </a:pPr>
            <a:r>
              <a:rPr lang="en-US" sz="1100" dirty="0">
                <a:solidFill>
                  <a:srgbClr val="404040"/>
                </a:solidFill>
                <a:latin typeface="Arial" pitchFamily="34" charset="0"/>
                <a:ea typeface="Arial" pitchFamily="34" charset="-122"/>
                <a:cs typeface="Arial" pitchFamily="34" charset="-120"/>
              </a:rPr>
              <a:t> = cable paid out, from the encoder; L</a:t>
            </a:r>
            <a:pPr indent="0" marL="0">
              <a:buNone/>
            </a:pPr>
            <a:r>
              <a:rPr lang="en-US" sz="1100" baseline="-40000" dirty="0">
                <a:solidFill>
                  <a:srgbClr val="404040"/>
                </a:solidFill>
                <a:latin typeface="Arial" pitchFamily="34" charset="0"/>
                <a:ea typeface="Arial" pitchFamily="34" charset="-122"/>
                <a:cs typeface="Arial" pitchFamily="34" charset="-120"/>
              </a:rPr>
              <a:t>i0</a:t>
            </a:r>
            <a:pPr indent="0" marL="0">
              <a:buNone/>
            </a:pPr>
            <a:r>
              <a:rPr lang="en-US" sz="1100" dirty="0">
                <a:solidFill>
                  <a:srgbClr val="404040"/>
                </a:solidFill>
                <a:latin typeface="Arial" pitchFamily="34" charset="0"/>
                <a:ea typeface="Arial" pitchFamily="34" charset="-122"/>
                <a:cs typeface="Arial" pitchFamily="34" charset="-120"/>
              </a:rPr>
              <a:t> = cable zero length; σ = fit error; k = confidence multiplier</a:t>
            </a:r>
            <a:endParaRPr lang="en-US" sz="1100" dirty="0"/>
          </a:p>
        </p:txBody>
      </p:sp>
      <p:sp>
        <p:nvSpPr>
          <p:cNvPr id="9" name="calibration step 1"/>
          <p:cNvSpPr/>
          <p:nvPr/>
        </p:nvSpPr>
        <p:spPr>
          <a:xfrm>
            <a:off x="6324448" y="1737360"/>
            <a:ext cx="1565605" cy="1399032"/>
          </a:xfrm>
          <a:prstGeom prst="rect">
            <a:avLst/>
          </a:prstGeom>
          <a:solidFill>
            <a:srgbClr val="FFFFFF"/>
          </a:solidFill>
          <a:ln w="15875">
            <a:solidFill>
              <a:srgbClr val="1F3A5F"/>
            </a:solidFill>
            <a:prstDash val="solid"/>
          </a:ln>
        </p:spPr>
      </p:sp>
      <p:sp>
        <p:nvSpPr>
          <p:cNvPr id="10" name="Text 8"/>
          <p:cNvSpPr txBox="1"/>
          <p:nvPr/>
        </p:nvSpPr>
        <p:spPr>
          <a:xfrm>
            <a:off x="6397600" y="1737360"/>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1.  </a:t>
            </a:r>
            <a:pPr algn="ctr" indent="0" marL="0">
              <a:buNone/>
            </a:pPr>
            <a:r>
              <a:rPr lang="en-US" sz="1400" dirty="0">
                <a:solidFill>
                  <a:srgbClr val="000000"/>
                </a:solidFill>
                <a:latin typeface="Arial" pitchFamily="34" charset="0"/>
                <a:ea typeface="Arial" pitchFamily="34" charset="-122"/>
                <a:cs typeface="Arial" pitchFamily="34" charset="-120"/>
              </a:rPr>
              <a:t>Take up slack, one cable at a time</a:t>
            </a:r>
            <a:endParaRPr lang="en-US" sz="1400" dirty="0"/>
          </a:p>
        </p:txBody>
      </p:sp>
      <p:sp>
        <p:nvSpPr>
          <p:cNvPr id="11" name="calibration step 2"/>
          <p:cNvSpPr/>
          <p:nvPr/>
        </p:nvSpPr>
        <p:spPr>
          <a:xfrm>
            <a:off x="8200949" y="1737360"/>
            <a:ext cx="1565605" cy="1399032"/>
          </a:xfrm>
          <a:prstGeom prst="rect">
            <a:avLst/>
          </a:prstGeom>
          <a:solidFill>
            <a:srgbClr val="FFFFFF"/>
          </a:solidFill>
          <a:ln w="15875">
            <a:solidFill>
              <a:srgbClr val="1F3A5F"/>
            </a:solidFill>
            <a:prstDash val="solid"/>
          </a:ln>
        </p:spPr>
      </p:sp>
      <p:sp>
        <p:nvSpPr>
          <p:cNvPr id="12" name="Text 10"/>
          <p:cNvSpPr txBox="1"/>
          <p:nvPr/>
        </p:nvSpPr>
        <p:spPr>
          <a:xfrm>
            <a:off x="8274101" y="1737360"/>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2.  </a:t>
            </a:r>
            <a:pPr algn="ctr" indent="0" marL="0">
              <a:buNone/>
            </a:pPr>
            <a:r>
              <a:rPr lang="en-US" sz="1400" dirty="0">
                <a:solidFill>
                  <a:srgbClr val="000000"/>
                </a:solidFill>
                <a:latin typeface="Arial" pitchFamily="34" charset="0"/>
                <a:ea typeface="Arial" pitchFamily="34" charset="-122"/>
                <a:cs typeface="Arial" pitchFamily="34" charset="-120"/>
              </a:rPr>
              <a:t>Lift the claw off the floor</a:t>
            </a:r>
            <a:endParaRPr lang="en-US" sz="1400" dirty="0"/>
          </a:p>
        </p:txBody>
      </p:sp>
      <p:sp>
        <p:nvSpPr>
          <p:cNvPr id="13" name="calibration step 3"/>
          <p:cNvSpPr/>
          <p:nvPr/>
        </p:nvSpPr>
        <p:spPr>
          <a:xfrm>
            <a:off x="10077450" y="1737360"/>
            <a:ext cx="1565605" cy="1399032"/>
          </a:xfrm>
          <a:prstGeom prst="rect">
            <a:avLst/>
          </a:prstGeom>
          <a:solidFill>
            <a:srgbClr val="FFFFFF"/>
          </a:solidFill>
          <a:ln w="15875">
            <a:solidFill>
              <a:srgbClr val="1F3A5F"/>
            </a:solidFill>
            <a:prstDash val="solid"/>
          </a:ln>
        </p:spPr>
      </p:sp>
      <p:sp>
        <p:nvSpPr>
          <p:cNvPr id="14" name="Text 12"/>
          <p:cNvSpPr txBox="1"/>
          <p:nvPr/>
        </p:nvSpPr>
        <p:spPr>
          <a:xfrm>
            <a:off x="10150602" y="1737360"/>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3.  </a:t>
            </a:r>
            <a:pPr algn="ctr" indent="0" marL="0">
              <a:buNone/>
            </a:pPr>
            <a:r>
              <a:rPr lang="en-US" sz="1400" dirty="0">
                <a:solidFill>
                  <a:srgbClr val="000000"/>
                </a:solidFill>
                <a:latin typeface="Arial" pitchFamily="34" charset="0"/>
                <a:ea typeface="Arial" pitchFamily="34" charset="-122"/>
                <a:cs typeface="Arial" pitchFamily="34" charset="-120"/>
              </a:rPr>
              <a:t>Camera reads the floor board</a:t>
            </a:r>
            <a:endParaRPr lang="en-US" sz="1400" dirty="0"/>
          </a:p>
        </p:txBody>
      </p:sp>
      <p:sp>
        <p:nvSpPr>
          <p:cNvPr id="15" name="calibration step 4"/>
          <p:cNvSpPr/>
          <p:nvPr/>
        </p:nvSpPr>
        <p:spPr>
          <a:xfrm>
            <a:off x="10077450" y="3447288"/>
            <a:ext cx="1565605" cy="1399032"/>
          </a:xfrm>
          <a:prstGeom prst="rect">
            <a:avLst/>
          </a:prstGeom>
          <a:solidFill>
            <a:srgbClr val="FFFFFF"/>
          </a:solidFill>
          <a:ln w="15875">
            <a:solidFill>
              <a:srgbClr val="1F3A5F"/>
            </a:solidFill>
            <a:prstDash val="solid"/>
          </a:ln>
        </p:spPr>
      </p:sp>
      <p:sp>
        <p:nvSpPr>
          <p:cNvPr id="16" name="Text 14"/>
          <p:cNvSpPr txBox="1"/>
          <p:nvPr/>
        </p:nvSpPr>
        <p:spPr>
          <a:xfrm>
            <a:off x="10150602" y="3447288"/>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4.  </a:t>
            </a:r>
            <a:pPr algn="ctr" indent="0" marL="0">
              <a:buNone/>
            </a:pPr>
            <a:r>
              <a:rPr lang="en-US" sz="1400" dirty="0">
                <a:solidFill>
                  <a:srgbClr val="000000"/>
                </a:solidFill>
                <a:latin typeface="Arial" pitchFamily="34" charset="0"/>
                <a:ea typeface="Arial" pitchFamily="34" charset="-122"/>
                <a:cs typeface="Arial" pitchFamily="34" charset="-120"/>
              </a:rPr>
              <a:t>Fit anchors and cable lengths</a:t>
            </a:r>
            <a:endParaRPr lang="en-US" sz="1400" dirty="0"/>
          </a:p>
        </p:txBody>
      </p:sp>
      <p:sp>
        <p:nvSpPr>
          <p:cNvPr id="17" name="calibration step 5"/>
          <p:cNvSpPr/>
          <p:nvPr/>
        </p:nvSpPr>
        <p:spPr>
          <a:xfrm>
            <a:off x="8200949" y="3447288"/>
            <a:ext cx="1565605" cy="1399032"/>
          </a:xfrm>
          <a:prstGeom prst="rect">
            <a:avLst/>
          </a:prstGeom>
          <a:solidFill>
            <a:srgbClr val="FFFFFF"/>
          </a:solidFill>
          <a:ln w="15875">
            <a:solidFill>
              <a:srgbClr val="1F3A5F"/>
            </a:solidFill>
            <a:prstDash val="solid"/>
          </a:ln>
        </p:spPr>
      </p:sp>
      <p:sp>
        <p:nvSpPr>
          <p:cNvPr id="18" name="Text 16"/>
          <p:cNvSpPr txBox="1"/>
          <p:nvPr/>
        </p:nvSpPr>
        <p:spPr>
          <a:xfrm>
            <a:off x="8274101" y="3447288"/>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5.  </a:t>
            </a:r>
            <a:pPr algn="ctr" indent="0" marL="0">
              <a:buNone/>
            </a:pPr>
            <a:r>
              <a:rPr lang="en-US" sz="1400" dirty="0">
                <a:solidFill>
                  <a:srgbClr val="000000"/>
                </a:solidFill>
                <a:latin typeface="Arial" pitchFamily="34" charset="0"/>
                <a:ea typeface="Arial" pitchFamily="34" charset="-122"/>
                <a:cs typeface="Arial" pitchFamily="34" charset="-120"/>
              </a:rPr>
              <a:t>Check on held-out poses</a:t>
            </a:r>
            <a:endParaRPr lang="en-US" sz="1400" dirty="0"/>
          </a:p>
        </p:txBody>
      </p:sp>
      <p:sp>
        <p:nvSpPr>
          <p:cNvPr id="19" name="calibration step 6"/>
          <p:cNvSpPr/>
          <p:nvPr/>
        </p:nvSpPr>
        <p:spPr>
          <a:xfrm>
            <a:off x="6324448" y="3447288"/>
            <a:ext cx="1565605" cy="1399032"/>
          </a:xfrm>
          <a:prstGeom prst="rect">
            <a:avLst/>
          </a:prstGeom>
          <a:solidFill>
            <a:srgbClr val="FFFFFF"/>
          </a:solidFill>
          <a:ln w="15875">
            <a:solidFill>
              <a:srgbClr val="1F3A5F"/>
            </a:solidFill>
            <a:prstDash val="solid"/>
          </a:ln>
        </p:spPr>
      </p:sp>
      <p:sp>
        <p:nvSpPr>
          <p:cNvPr id="20" name="Text 18"/>
          <p:cNvSpPr txBox="1"/>
          <p:nvPr/>
        </p:nvSpPr>
        <p:spPr>
          <a:xfrm>
            <a:off x="6397600" y="3447288"/>
            <a:ext cx="1419301"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6.  </a:t>
            </a:r>
            <a:pPr algn="ctr" indent="0" marL="0">
              <a:buNone/>
            </a:pPr>
            <a:r>
              <a:rPr lang="en-US" sz="1400" dirty="0">
                <a:solidFill>
                  <a:srgbClr val="000000"/>
                </a:solidFill>
                <a:latin typeface="Arial" pitchFamily="34" charset="0"/>
                <a:ea typeface="Arial" pitchFamily="34" charset="-122"/>
                <a:cs typeface="Arial" pitchFamily="34" charset="-120"/>
              </a:rPr>
              <a:t>Ready, inside the safety margins</a:t>
            </a:r>
            <a:endParaRPr lang="en-US" sz="1400" dirty="0"/>
          </a:p>
        </p:txBody>
      </p:sp>
      <p:sp>
        <p:nvSpPr>
          <p:cNvPr id="21" name="Shape 19"/>
          <p:cNvSpPr/>
          <p:nvPr/>
        </p:nvSpPr>
        <p:spPr>
          <a:xfrm>
            <a:off x="7935773" y="2436876"/>
            <a:ext cx="219456" cy="0"/>
          </a:xfrm>
          <a:prstGeom prst="line">
            <a:avLst/>
          </a:prstGeom>
          <a:noFill/>
          <a:ln w="19050">
            <a:solidFill>
              <a:srgbClr val="7F7F7F"/>
            </a:solidFill>
            <a:prstDash val="solid"/>
            <a:tailEnd type="triangle"/>
          </a:ln>
        </p:spPr>
      </p:sp>
      <p:sp>
        <p:nvSpPr>
          <p:cNvPr id="22" name="Shape 20"/>
          <p:cNvSpPr/>
          <p:nvPr/>
        </p:nvSpPr>
        <p:spPr>
          <a:xfrm>
            <a:off x="9812274" y="2436876"/>
            <a:ext cx="219456" cy="0"/>
          </a:xfrm>
          <a:prstGeom prst="line">
            <a:avLst/>
          </a:prstGeom>
          <a:noFill/>
          <a:ln w="19050">
            <a:solidFill>
              <a:srgbClr val="7F7F7F"/>
            </a:solidFill>
            <a:prstDash val="solid"/>
            <a:tailEnd type="triangle"/>
          </a:ln>
        </p:spPr>
      </p:sp>
      <p:sp>
        <p:nvSpPr>
          <p:cNvPr id="23" name="Shape 21"/>
          <p:cNvSpPr/>
          <p:nvPr/>
        </p:nvSpPr>
        <p:spPr>
          <a:xfrm>
            <a:off x="10860253" y="3182112"/>
            <a:ext cx="0" cy="219456"/>
          </a:xfrm>
          <a:prstGeom prst="line">
            <a:avLst/>
          </a:prstGeom>
          <a:noFill/>
          <a:ln w="19050">
            <a:solidFill>
              <a:srgbClr val="7F7F7F"/>
            </a:solidFill>
            <a:prstDash val="solid"/>
            <a:tailEnd type="triangle"/>
          </a:ln>
        </p:spPr>
      </p:sp>
      <p:sp>
        <p:nvSpPr>
          <p:cNvPr id="24" name="Shape 22"/>
          <p:cNvSpPr/>
          <p:nvPr/>
        </p:nvSpPr>
        <p:spPr>
          <a:xfrm flipH="1">
            <a:off x="9812274" y="4146804"/>
            <a:ext cx="219456" cy="0"/>
          </a:xfrm>
          <a:prstGeom prst="line">
            <a:avLst/>
          </a:prstGeom>
          <a:noFill/>
          <a:ln w="19050">
            <a:solidFill>
              <a:srgbClr val="7F7F7F"/>
            </a:solidFill>
            <a:prstDash val="solid"/>
            <a:tailEnd type="triangle"/>
          </a:ln>
        </p:spPr>
      </p:sp>
      <p:sp>
        <p:nvSpPr>
          <p:cNvPr id="25" name="Shape 23"/>
          <p:cNvSpPr/>
          <p:nvPr/>
        </p:nvSpPr>
        <p:spPr>
          <a:xfrm flipH="1">
            <a:off x="7935773" y="4146804"/>
            <a:ext cx="219456" cy="0"/>
          </a:xfrm>
          <a:prstGeom prst="line">
            <a:avLst/>
          </a:prstGeom>
          <a:noFill/>
          <a:ln w="19050">
            <a:solidFill>
              <a:srgbClr val="7F7F7F"/>
            </a:solidFill>
            <a:prstDash val="solid"/>
            <a:tailEnd type="triangle"/>
          </a:ln>
        </p:spPr>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Control Logic: Generation 1 vs. Final</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18883"/>
                <a:gridCol w="3993989"/>
                <a:gridCol w="4881543"/>
              </a:tblGrid>
              <a:tr h="640080">
                <a:tc>
                  <a:txBody>
                    <a:bodyPr/>
                    <a:lstStyle/>
                    <a:p>
                      <a:pPr indent="0" marL="0">
                        <a:buNone/>
                      </a:pP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Generation 1</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Final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Where is the claw?</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Assumed: where the cables were told to put it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Measured: claw camera on the floor board, refit at every startup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Room geometry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Point mass; anchors from a tape measure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Rigid claw; anchors and cable lengths fitted, with error bars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Who runs the motors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One central board steps all four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Each station runs time-stamped moves; the laptop coordinates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Finding laundry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Ceiling camera, pixel to floor map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Claw camera, ray from the claw's pose to the floor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Did the grab work?</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Assumed once the claw closed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Camera checks pickup and delivery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Faults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Emergency stop only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Supervisor: a stop keeps torque; nothing restarts by itself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Operating Sequence</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stage 1"/>
          <p:cNvSpPr/>
          <p:nvPr/>
        </p:nvSpPr>
        <p:spPr>
          <a:xfrm>
            <a:off x="548640" y="1417320"/>
            <a:ext cx="2554148" cy="457200"/>
          </a:xfrm>
          <a:prstGeom prst="rect">
            <a:avLst/>
          </a:prstGeom>
          <a:solidFill>
            <a:srgbClr val="1F3A5F"/>
          </a:solidFill>
          <a:ln w="12700">
            <a:solidFill>
              <a:srgbClr val="1F3A5F"/>
            </a:solidFill>
            <a:prstDash val="solid"/>
          </a:ln>
        </p:spPr>
      </p:sp>
      <p:sp>
        <p:nvSpPr>
          <p:cNvPr id="5" name="label"/>
          <p:cNvSpPr txBox="1"/>
          <p:nvPr/>
        </p:nvSpPr>
        <p:spPr>
          <a:xfrm>
            <a:off x="658368" y="141732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1. Start up</a:t>
            </a:r>
            <a:endParaRPr lang="en-US" sz="1500" dirty="0"/>
          </a:p>
        </p:txBody>
      </p:sp>
      <p:sp>
        <p:nvSpPr>
          <p:cNvPr id="6" name="Shape 4"/>
          <p:cNvSpPr/>
          <p:nvPr/>
        </p:nvSpPr>
        <p:spPr>
          <a:xfrm>
            <a:off x="548640" y="1874520"/>
            <a:ext cx="2554148" cy="2651760"/>
          </a:xfrm>
          <a:prstGeom prst="rect">
            <a:avLst/>
          </a:prstGeom>
          <a:solidFill>
            <a:srgbClr val="FFFFFF"/>
          </a:solidFill>
          <a:ln w="12700">
            <a:solidFill>
              <a:srgbClr val="1F3A5F"/>
            </a:solidFill>
            <a:prstDash val="solid"/>
          </a:ln>
        </p:spPr>
      </p:sp>
      <p:sp>
        <p:nvSpPr>
          <p:cNvPr id="7" name="stage 1 steps"/>
          <p:cNvSpPr txBox="1"/>
          <p:nvPr/>
        </p:nvSpPr>
        <p:spPr>
          <a:xfrm>
            <a:off x="621792" y="196596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Self-check</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Take up slack</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Lift a few centimeters</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Calibrate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Set the trust level</a:t>
            </a:r>
            <a:endParaRPr lang="en-US" sz="1500" dirty="0"/>
          </a:p>
        </p:txBody>
      </p:sp>
      <p:sp>
        <p:nvSpPr>
          <p:cNvPr id="8" name="Shape 6"/>
          <p:cNvSpPr/>
          <p:nvPr/>
        </p:nvSpPr>
        <p:spPr>
          <a:xfrm>
            <a:off x="3139364" y="1645920"/>
            <a:ext cx="219456" cy="0"/>
          </a:xfrm>
          <a:prstGeom prst="line">
            <a:avLst/>
          </a:prstGeom>
          <a:noFill/>
          <a:ln w="19050">
            <a:solidFill>
              <a:srgbClr val="7F7F7F"/>
            </a:solidFill>
            <a:prstDash val="solid"/>
            <a:tailEnd type="triangle"/>
          </a:ln>
        </p:spPr>
      </p:sp>
      <p:sp>
        <p:nvSpPr>
          <p:cNvPr id="9" name="stage 2"/>
          <p:cNvSpPr/>
          <p:nvPr/>
        </p:nvSpPr>
        <p:spPr>
          <a:xfrm>
            <a:off x="3395396" y="1417320"/>
            <a:ext cx="2554148" cy="457200"/>
          </a:xfrm>
          <a:prstGeom prst="rect">
            <a:avLst/>
          </a:prstGeom>
          <a:solidFill>
            <a:srgbClr val="1F3A5F"/>
          </a:solidFill>
          <a:ln w="12700">
            <a:solidFill>
              <a:srgbClr val="1F3A5F"/>
            </a:solidFill>
            <a:prstDash val="solid"/>
          </a:ln>
        </p:spPr>
      </p:sp>
      <p:sp>
        <p:nvSpPr>
          <p:cNvPr id="10" name="label"/>
          <p:cNvSpPr txBox="1"/>
          <p:nvPr/>
        </p:nvSpPr>
        <p:spPr>
          <a:xfrm>
            <a:off x="3505124" y="141732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2. Find</a:t>
            </a:r>
            <a:endParaRPr lang="en-US" sz="1500" dirty="0"/>
          </a:p>
        </p:txBody>
      </p:sp>
      <p:sp>
        <p:nvSpPr>
          <p:cNvPr id="11" name="Shape 9"/>
          <p:cNvSpPr/>
          <p:nvPr/>
        </p:nvSpPr>
        <p:spPr>
          <a:xfrm>
            <a:off x="3395396" y="1874520"/>
            <a:ext cx="2554148" cy="2651760"/>
          </a:xfrm>
          <a:prstGeom prst="rect">
            <a:avLst/>
          </a:prstGeom>
          <a:solidFill>
            <a:srgbClr val="FFFFFF"/>
          </a:solidFill>
          <a:ln w="12700">
            <a:solidFill>
              <a:srgbClr val="1F3A5F"/>
            </a:solidFill>
            <a:prstDash val="solid"/>
          </a:ln>
        </p:spPr>
      </p:sp>
      <p:sp>
        <p:nvSpPr>
          <p:cNvPr id="12" name="stage 2 steps"/>
          <p:cNvSpPr txBox="1"/>
          <p:nvPr/>
        </p:nvSpPr>
        <p:spPr>
          <a:xfrm>
            <a:off x="3468548" y="196596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Rise to scan height</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Detector lists the items</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Map each to the floor</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Choose the nearest</a:t>
            </a:r>
            <a:endParaRPr lang="en-US" sz="1500" dirty="0"/>
          </a:p>
        </p:txBody>
      </p:sp>
      <p:sp>
        <p:nvSpPr>
          <p:cNvPr id="13" name="Shape 11"/>
          <p:cNvSpPr/>
          <p:nvPr/>
        </p:nvSpPr>
        <p:spPr>
          <a:xfrm>
            <a:off x="5986120" y="1645920"/>
            <a:ext cx="219456" cy="0"/>
          </a:xfrm>
          <a:prstGeom prst="line">
            <a:avLst/>
          </a:prstGeom>
          <a:noFill/>
          <a:ln w="19050">
            <a:solidFill>
              <a:srgbClr val="7F7F7F"/>
            </a:solidFill>
            <a:prstDash val="solid"/>
            <a:tailEnd type="triangle"/>
          </a:ln>
        </p:spPr>
      </p:sp>
      <p:sp>
        <p:nvSpPr>
          <p:cNvPr id="14" name="stage 3"/>
          <p:cNvSpPr/>
          <p:nvPr/>
        </p:nvSpPr>
        <p:spPr>
          <a:xfrm>
            <a:off x="6242152" y="1417320"/>
            <a:ext cx="2554148" cy="457200"/>
          </a:xfrm>
          <a:prstGeom prst="rect">
            <a:avLst/>
          </a:prstGeom>
          <a:solidFill>
            <a:srgbClr val="1F3A5F"/>
          </a:solidFill>
          <a:ln w="12700">
            <a:solidFill>
              <a:srgbClr val="1F3A5F"/>
            </a:solidFill>
            <a:prstDash val="solid"/>
          </a:ln>
        </p:spPr>
      </p:sp>
      <p:sp>
        <p:nvSpPr>
          <p:cNvPr id="15" name="label"/>
          <p:cNvSpPr txBox="1"/>
          <p:nvPr/>
        </p:nvSpPr>
        <p:spPr>
          <a:xfrm>
            <a:off x="6351880" y="141732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3. Pick and deliver</a:t>
            </a:r>
            <a:endParaRPr lang="en-US" sz="1500" dirty="0"/>
          </a:p>
        </p:txBody>
      </p:sp>
      <p:sp>
        <p:nvSpPr>
          <p:cNvPr id="16" name="Shape 14"/>
          <p:cNvSpPr/>
          <p:nvPr/>
        </p:nvSpPr>
        <p:spPr>
          <a:xfrm>
            <a:off x="6242152" y="1874520"/>
            <a:ext cx="2554148" cy="2651760"/>
          </a:xfrm>
          <a:prstGeom prst="rect">
            <a:avLst/>
          </a:prstGeom>
          <a:solidFill>
            <a:srgbClr val="FFFFFF"/>
          </a:solidFill>
          <a:ln w="12700">
            <a:solidFill>
              <a:srgbClr val="1F3A5F"/>
            </a:solidFill>
            <a:prstDash val="solid"/>
          </a:ln>
        </p:spPr>
      </p:sp>
      <p:sp>
        <p:nvSpPr>
          <p:cNvPr id="17" name="stage 3 steps"/>
          <p:cNvSpPr txBox="1"/>
          <p:nvPr/>
        </p:nvSpPr>
        <p:spPr>
          <a:xfrm>
            <a:off x="6315304" y="196596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Hover until still</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Descend and close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confirms the grip</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Move to the hamper and release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confirms the drop</a:t>
            </a:r>
            <a:endParaRPr lang="en-US" sz="1500" dirty="0"/>
          </a:p>
        </p:txBody>
      </p:sp>
      <p:sp>
        <p:nvSpPr>
          <p:cNvPr id="18" name="Shape 16"/>
          <p:cNvSpPr/>
          <p:nvPr/>
        </p:nvSpPr>
        <p:spPr>
          <a:xfrm>
            <a:off x="8832875" y="1645920"/>
            <a:ext cx="219456" cy="0"/>
          </a:xfrm>
          <a:prstGeom prst="line">
            <a:avLst/>
          </a:prstGeom>
          <a:noFill/>
          <a:ln w="19050">
            <a:solidFill>
              <a:srgbClr val="7F7F7F"/>
            </a:solidFill>
            <a:prstDash val="solid"/>
            <a:tailEnd type="triangle"/>
          </a:ln>
        </p:spPr>
      </p:sp>
      <p:sp>
        <p:nvSpPr>
          <p:cNvPr id="19" name="stage 4"/>
          <p:cNvSpPr/>
          <p:nvPr/>
        </p:nvSpPr>
        <p:spPr>
          <a:xfrm>
            <a:off x="9088907" y="1417320"/>
            <a:ext cx="2554148" cy="457200"/>
          </a:xfrm>
          <a:prstGeom prst="rect">
            <a:avLst/>
          </a:prstGeom>
          <a:solidFill>
            <a:srgbClr val="1F3A5F"/>
          </a:solidFill>
          <a:ln w="12700">
            <a:solidFill>
              <a:srgbClr val="1F3A5F"/>
            </a:solidFill>
            <a:prstDash val="solid"/>
          </a:ln>
        </p:spPr>
      </p:sp>
      <p:sp>
        <p:nvSpPr>
          <p:cNvPr id="20" name="label"/>
          <p:cNvSpPr txBox="1"/>
          <p:nvPr/>
        </p:nvSpPr>
        <p:spPr>
          <a:xfrm>
            <a:off x="9198635" y="141732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4. Put away</a:t>
            </a:r>
            <a:endParaRPr lang="en-US" sz="1500" dirty="0"/>
          </a:p>
        </p:txBody>
      </p:sp>
      <p:sp>
        <p:nvSpPr>
          <p:cNvPr id="21" name="Shape 19"/>
          <p:cNvSpPr/>
          <p:nvPr/>
        </p:nvSpPr>
        <p:spPr>
          <a:xfrm>
            <a:off x="9088907" y="1874520"/>
            <a:ext cx="2554148" cy="2651760"/>
          </a:xfrm>
          <a:prstGeom prst="rect">
            <a:avLst/>
          </a:prstGeom>
          <a:solidFill>
            <a:srgbClr val="FFFFFF"/>
          </a:solidFill>
          <a:ln w="12700">
            <a:solidFill>
              <a:srgbClr val="1F3A5F"/>
            </a:solidFill>
            <a:prstDash val="solid"/>
          </a:ln>
        </p:spPr>
      </p:sp>
      <p:sp>
        <p:nvSpPr>
          <p:cNvPr id="22" name="stage 4 steps"/>
          <p:cNvSpPr txBox="1"/>
          <p:nvPr/>
        </p:nvSpPr>
        <p:spPr>
          <a:xfrm>
            <a:off x="9162059" y="196596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Lower over the floor board</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confirms the floor</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Disarm after a typed confirmation</a:t>
            </a:r>
            <a:endParaRPr lang="en-US" sz="1500" dirty="0"/>
          </a:p>
        </p:txBody>
      </p:sp>
      <p:sp>
        <p:nvSpPr>
          <p:cNvPr id="23" name="sequence rules"/>
          <p:cNvSpPr txBox="1"/>
          <p:nvPr/>
        </p:nvSpPr>
        <p:spPr>
          <a:xfrm>
            <a:off x="548640" y="4846320"/>
            <a:ext cx="11094415" cy="1188720"/>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After each delivery the robot returns to step 2; three failures in a row pause it for the operator</a:t>
            </a:r>
            <a:endParaRPr lang="en-US" sz="1600" dirty="0"/>
          </a:p>
          <a:p>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PAUSE or any fault stops every station at the same point on the path, still holding; nothing restarts by itself</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Phone App</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032998"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Shows status, the live claw camera and guided setup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Every motion asks for confirmation first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PAUSE holds position immediately</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The switched power strip is the hard stop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 reboot never resumes a task</a:t>
            </a:r>
            <a:endParaRPr lang="en-US" sz="2000" dirty="0"/>
          </a:p>
        </p:txBody>
      </p:sp>
      <p:sp>
        <p:nvSpPr>
          <p:cNvPr id="5" name="Shape 3"/>
          <p:cNvSpPr/>
          <p:nvPr/>
        </p:nvSpPr>
        <p:spPr>
          <a:xfrm>
            <a:off x="4993118" y="1463040"/>
            <a:ext cx="2125206" cy="4526280"/>
          </a:xfrm>
          <a:prstGeom prst="rect">
            <a:avLst/>
          </a:prstGeom>
          <a:solidFill>
            <a:srgbClr val="F2F2F2"/>
          </a:solidFill>
          <a:ln w="12700">
            <a:solidFill>
              <a:srgbClr val="F2F2F2"/>
            </a:solidFill>
            <a:prstDash val="solid"/>
          </a:ln>
        </p:spPr>
      </p:sp>
      <p:pic>
        <p:nvPicPr>
          <p:cNvPr id="6" name="Phone app screens" descr="Phone app screens">    </p:cNvPr>
          <p:cNvPicPr>
            <a:picLocks noChangeAspect="1"/>
          </p:cNvPicPr>
          <p:nvPr/>
        </p:nvPicPr>
        <p:blipFill>
          <a:blip r:embed="rId1"/>
          <a:stretch>
            <a:fillRect/>
          </a:stretch>
        </p:blipFill>
        <p:spPr>
          <a:xfrm>
            <a:off x="5047982" y="1545330"/>
            <a:ext cx="2015478" cy="4361701"/>
          </a:xfrm>
          <a:prstGeom prst="rect">
            <a:avLst/>
          </a:prstGeom>
        </p:spPr>
      </p:pic>
      <p:sp>
        <p:nvSpPr>
          <p:cNvPr id="7" name="Shape 4"/>
          <p:cNvSpPr/>
          <p:nvPr/>
        </p:nvSpPr>
        <p:spPr>
          <a:xfrm>
            <a:off x="7255484" y="1463040"/>
            <a:ext cx="2125206" cy="4526280"/>
          </a:xfrm>
          <a:prstGeom prst="rect">
            <a:avLst/>
          </a:prstGeom>
          <a:solidFill>
            <a:srgbClr val="F2F2F2"/>
          </a:solidFill>
          <a:ln w="12700">
            <a:solidFill>
              <a:srgbClr val="F2F2F2"/>
            </a:solidFill>
            <a:prstDash val="solid"/>
          </a:ln>
        </p:spPr>
      </p:sp>
      <p:pic>
        <p:nvPicPr>
          <p:cNvPr id="8" name="Phone app screens" descr="Phone app screens">    </p:cNvPr>
          <p:cNvPicPr>
            <a:picLocks noChangeAspect="1"/>
          </p:cNvPicPr>
          <p:nvPr/>
        </p:nvPicPr>
        <p:blipFill>
          <a:blip r:embed="rId2"/>
          <a:stretch>
            <a:fillRect/>
          </a:stretch>
        </p:blipFill>
        <p:spPr>
          <a:xfrm>
            <a:off x="7310348" y="1545330"/>
            <a:ext cx="2015478" cy="4361701"/>
          </a:xfrm>
          <a:prstGeom prst="rect">
            <a:avLst/>
          </a:prstGeom>
        </p:spPr>
      </p:pic>
      <p:sp>
        <p:nvSpPr>
          <p:cNvPr id="9" name="Shape 5"/>
          <p:cNvSpPr/>
          <p:nvPr/>
        </p:nvSpPr>
        <p:spPr>
          <a:xfrm>
            <a:off x="9517849" y="1463040"/>
            <a:ext cx="2125206" cy="4526280"/>
          </a:xfrm>
          <a:prstGeom prst="rect">
            <a:avLst/>
          </a:prstGeom>
          <a:solidFill>
            <a:srgbClr val="F2F2F2"/>
          </a:solidFill>
          <a:ln w="12700">
            <a:solidFill>
              <a:srgbClr val="F2F2F2"/>
            </a:solidFill>
            <a:prstDash val="solid"/>
          </a:ln>
        </p:spPr>
      </p:sp>
      <p:pic>
        <p:nvPicPr>
          <p:cNvPr id="10" name="Phone app screens" descr="Phone app screens">    </p:cNvPr>
          <p:cNvPicPr>
            <a:picLocks noChangeAspect="1"/>
          </p:cNvPicPr>
          <p:nvPr/>
        </p:nvPicPr>
        <p:blipFill>
          <a:blip r:embed="rId3"/>
          <a:stretch>
            <a:fillRect/>
          </a:stretch>
        </p:blipFill>
        <p:spPr>
          <a:xfrm>
            <a:off x="9572713" y="1545330"/>
            <a:ext cx="2015478" cy="4361701"/>
          </a:xfrm>
          <a:prstGeom prst="rect">
            <a:avLst/>
          </a:prstGeom>
        </p:spPr>
      </p:pic>
      <p:sp>
        <p:nvSpPr>
          <p:cNvPr id="11" name="caption"/>
          <p:cNvSpPr txBox="1"/>
          <p:nvPr/>
        </p:nvSpPr>
        <p:spPr>
          <a:xfrm>
            <a:off x="4993118" y="6062472"/>
            <a:ext cx="6649937"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Phone app: home, camera and chat screens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Obstacles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920551"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1900" dirty="0">
                <a:solidFill>
                  <a:srgbClr val="000000"/>
                </a:solidFill>
                <a:latin typeface="Arial" pitchFamily="34" charset="0"/>
                <a:ea typeface="Arial" pitchFamily="34" charset="-122"/>
                <a:cs typeface="Arial" pitchFamily="34" charset="-120"/>
              </a:rPr>
              <a:t>Known obstacles modeled as keep-out cylinders</a:t>
            </a:r>
            <a:endParaRPr lang="en-US" sz="1900" dirty="0"/>
          </a:p>
          <a:p>
            <a:pPr algn="l" marL="254000" indent="-254000">
              <a:spcAft>
                <a:spcPts val="1400"/>
              </a:spcAft>
              <a:buSzPct val="100000"/>
              <a:buChar char="•"/>
            </a:pPr>
            <a:r>
              <a:rPr lang="en-US" sz="1900" dirty="0">
                <a:solidFill>
                  <a:srgbClr val="000000"/>
                </a:solidFill>
                <a:latin typeface="Arial" pitchFamily="34" charset="0"/>
                <a:ea typeface="Arial" pitchFamily="34" charset="-122"/>
                <a:cs typeface="Arial" pitchFamily="34" charset="-120"/>
              </a:rPr>
              <a:t>Every cable checked at every point of the path</a:t>
            </a:r>
            <a:endParaRPr lang="en-US" sz="1900" dirty="0"/>
          </a:p>
          <a:p>
            <a:pPr algn="l" marL="254000" indent="-254000">
              <a:spcAft>
                <a:spcPts val="1400"/>
              </a:spcAft>
              <a:buSzPct val="100000"/>
              <a:buChar char="•"/>
            </a:pPr>
            <a:r>
              <a:rPr lang="en-US" sz="1900" dirty="0">
                <a:solidFill>
                  <a:srgbClr val="000000"/>
                </a:solidFill>
                <a:latin typeface="Arial" pitchFamily="34" charset="0"/>
                <a:ea typeface="Arial" pitchFamily="34" charset="-122"/>
                <a:cs typeface="Arial" pitchFamily="34" charset="-120"/>
              </a:rPr>
              <a:t>Moves that fail the check are refused before any motor turns</a:t>
            </a:r>
            <a:endParaRPr lang="en-US" sz="1900" dirty="0"/>
          </a:p>
          <a:p>
            <a:pPr algn="l" marL="254000" indent="-254000">
              <a:spcAft>
                <a:spcPts val="1400"/>
              </a:spcAft>
              <a:buSzPct val="100000"/>
              <a:buChar char="•"/>
            </a:pPr>
            <a:r>
              <a:rPr lang="en-US" sz="1900" dirty="0">
                <a:solidFill>
                  <a:srgbClr val="000000"/>
                </a:solidFill>
                <a:latin typeface="Arial" pitchFamily="34" charset="0"/>
                <a:ea typeface="Arial" pitchFamily="34" charset="-122"/>
                <a:cs typeface="Arial" pitchFamily="34" charset="-120"/>
              </a:rPr>
              <a:t>People are not detected yet, so nobody stands underneath</a:t>
            </a:r>
            <a:endParaRPr lang="en-US" sz="1900" dirty="0"/>
          </a:p>
        </p:txBody>
      </p:sp>
      <p:sp>
        <p:nvSpPr>
          <p:cNvPr id="5" name="Shape 3"/>
          <p:cNvSpPr/>
          <p:nvPr/>
        </p:nvSpPr>
        <p:spPr>
          <a:xfrm>
            <a:off x="5972111" y="5248850"/>
            <a:ext cx="5579504" cy="0"/>
          </a:xfrm>
          <a:prstGeom prst="line">
            <a:avLst/>
          </a:prstGeom>
          <a:noFill/>
          <a:ln w="15875">
            <a:solidFill>
              <a:srgbClr val="000000"/>
            </a:solidFill>
            <a:prstDash val="solid"/>
          </a:ln>
        </p:spPr>
      </p:sp>
      <p:sp>
        <p:nvSpPr>
          <p:cNvPr id="6" name="Shape 4"/>
          <p:cNvSpPr/>
          <p:nvPr/>
        </p:nvSpPr>
        <p:spPr>
          <a:xfrm>
            <a:off x="5972111" y="1600200"/>
            <a:ext cx="5579504" cy="0"/>
          </a:xfrm>
          <a:prstGeom prst="line">
            <a:avLst/>
          </a:prstGeom>
          <a:noFill/>
          <a:ln w="12700">
            <a:solidFill>
              <a:srgbClr val="BFBFBF"/>
            </a:solidFill>
            <a:prstDash val="solid"/>
          </a:ln>
        </p:spPr>
      </p:sp>
      <p:sp>
        <p:nvSpPr>
          <p:cNvPr id="7" name="shelf"/>
          <p:cNvSpPr/>
          <p:nvPr/>
        </p:nvSpPr>
        <p:spPr>
          <a:xfrm>
            <a:off x="7037410" y="2718764"/>
            <a:ext cx="532650" cy="2530085"/>
          </a:xfrm>
          <a:prstGeom prst="rect">
            <a:avLst/>
          </a:prstGeom>
          <a:solidFill>
            <a:srgbClr val="D9DEE5"/>
          </a:solidFill>
          <a:ln w="12700">
            <a:solidFill>
              <a:srgbClr val="7F7F7F"/>
            </a:solidFill>
            <a:prstDash val="solid"/>
          </a:ln>
        </p:spPr>
      </p:sp>
      <p:sp>
        <p:nvSpPr>
          <p:cNvPr id="8" name="label"/>
          <p:cNvSpPr txBox="1"/>
          <p:nvPr/>
        </p:nvSpPr>
        <p:spPr>
          <a:xfrm>
            <a:off x="6123010" y="3650901"/>
            <a:ext cx="859536" cy="457200"/>
          </a:xfrm>
          <a:prstGeom prst="rect">
            <a:avLst/>
          </a:prstGeom>
          <a:noFill/>
          <a:ln/>
        </p:spPr>
        <p:txBody>
          <a:bodyPr wrap="square" lIns="0" tIns="0" rIns="0" bIns="0" rtlCol="0" anchor="ctr"/>
          <a:lstStyle/>
          <a:p>
            <a:pPr algn="r" indent="0" marL="0">
              <a:buNone/>
            </a:pPr>
            <a:r>
              <a:rPr lang="en-US" sz="1100" dirty="0">
                <a:solidFill>
                  <a:srgbClr val="404040"/>
                </a:solidFill>
                <a:latin typeface="Arial" pitchFamily="34" charset="0"/>
                <a:ea typeface="Arial" pitchFamily="34" charset="-122"/>
                <a:cs typeface="Arial" pitchFamily="34" charset="-120"/>
              </a:rPr>
              <a:t>Shelf,</a:t>
            </a:r>
            <a:endParaRPr lang="en-US" sz="1100" dirty="0"/>
          </a:p>
          <a:p>
            <a:pPr algn="r" indent="0" marL="0">
              <a:buNone/>
            </a:pPr>
            <a:r>
              <a:rPr lang="en-US" sz="1100" dirty="0">
                <a:solidFill>
                  <a:srgbClr val="404040"/>
                </a:solidFill>
                <a:latin typeface="Arial" pitchFamily="34" charset="0"/>
                <a:ea typeface="Arial" pitchFamily="34" charset="-122"/>
                <a:cs typeface="Arial" pitchFamily="34" charset="-120"/>
              </a:rPr>
              <a:t>0–1.9 m</a:t>
            </a:r>
            <a:endParaRPr lang="en-US" sz="1100" dirty="0"/>
          </a:p>
        </p:txBody>
      </p:sp>
      <p:sp>
        <p:nvSpPr>
          <p:cNvPr id="9" name="Shape 7"/>
          <p:cNvSpPr/>
          <p:nvPr/>
        </p:nvSpPr>
        <p:spPr>
          <a:xfrm>
            <a:off x="5972111" y="1799944"/>
            <a:ext cx="2796410" cy="1451470"/>
          </a:xfrm>
          <a:prstGeom prst="line">
            <a:avLst/>
          </a:prstGeom>
          <a:noFill/>
          <a:ln w="25400">
            <a:solidFill>
              <a:srgbClr val="1F3A5F"/>
            </a:solidFill>
            <a:prstDash val="solid"/>
          </a:ln>
        </p:spPr>
      </p:sp>
      <p:sp>
        <p:nvSpPr>
          <p:cNvPr id="10" name="Shape 8"/>
          <p:cNvSpPr/>
          <p:nvPr/>
        </p:nvSpPr>
        <p:spPr>
          <a:xfrm flipH="1">
            <a:off x="8768521" y="1799944"/>
            <a:ext cx="2783094" cy="1451470"/>
          </a:xfrm>
          <a:prstGeom prst="line">
            <a:avLst/>
          </a:prstGeom>
          <a:noFill/>
          <a:ln w="25400">
            <a:solidFill>
              <a:srgbClr val="1F3A5F"/>
            </a:solidFill>
            <a:prstDash val="solid"/>
          </a:ln>
        </p:spPr>
      </p:sp>
      <p:sp>
        <p:nvSpPr>
          <p:cNvPr id="11" name="Shape 9"/>
          <p:cNvSpPr/>
          <p:nvPr/>
        </p:nvSpPr>
        <p:spPr>
          <a:xfrm>
            <a:off x="8686225" y="3169118"/>
            <a:ext cx="164592" cy="164592"/>
          </a:xfrm>
          <a:prstGeom prst="rect">
            <a:avLst/>
          </a:prstGeom>
          <a:solidFill>
            <a:srgbClr val="1F3A5F"/>
          </a:solidFill>
          <a:ln w="12700">
            <a:solidFill>
              <a:srgbClr val="1F3A5F"/>
            </a:solidFill>
            <a:prstDash val="solid"/>
          </a:ln>
        </p:spPr>
      </p:sp>
      <p:sp>
        <p:nvSpPr>
          <p:cNvPr id="12" name="Shape 10"/>
          <p:cNvSpPr/>
          <p:nvPr/>
        </p:nvSpPr>
        <p:spPr>
          <a:xfrm>
            <a:off x="5972111" y="1799944"/>
            <a:ext cx="2796410" cy="2383607"/>
          </a:xfrm>
          <a:prstGeom prst="line">
            <a:avLst/>
          </a:prstGeom>
          <a:noFill/>
          <a:ln w="25400">
            <a:solidFill>
              <a:srgbClr val="B23A2E"/>
            </a:solidFill>
            <a:prstDash val="dash"/>
          </a:ln>
        </p:spPr>
      </p:sp>
      <p:sp>
        <p:nvSpPr>
          <p:cNvPr id="13" name="Shape 11"/>
          <p:cNvSpPr/>
          <p:nvPr/>
        </p:nvSpPr>
        <p:spPr>
          <a:xfrm flipH="1">
            <a:off x="8768521" y="1799944"/>
            <a:ext cx="2783094" cy="2383607"/>
          </a:xfrm>
          <a:prstGeom prst="line">
            <a:avLst/>
          </a:prstGeom>
          <a:noFill/>
          <a:ln w="25400">
            <a:solidFill>
              <a:srgbClr val="B23A2E"/>
            </a:solidFill>
            <a:prstDash val="dash"/>
          </a:ln>
        </p:spPr>
      </p:sp>
      <p:sp>
        <p:nvSpPr>
          <p:cNvPr id="14" name="Shape 12"/>
          <p:cNvSpPr/>
          <p:nvPr/>
        </p:nvSpPr>
        <p:spPr>
          <a:xfrm>
            <a:off x="8686225" y="4101254"/>
            <a:ext cx="164592" cy="164592"/>
          </a:xfrm>
          <a:prstGeom prst="rect">
            <a:avLst/>
          </a:prstGeom>
          <a:solidFill>
            <a:srgbClr val="B23A2E"/>
          </a:solidFill>
          <a:ln w="12700">
            <a:solidFill>
              <a:srgbClr val="B23A2E"/>
            </a:solidFill>
            <a:prstDash val="solid"/>
          </a:ln>
        </p:spPr>
      </p:sp>
      <p:sp>
        <p:nvSpPr>
          <p:cNvPr id="15" name="label"/>
          <p:cNvSpPr txBox="1"/>
          <p:nvPr/>
        </p:nvSpPr>
        <p:spPr>
          <a:xfrm>
            <a:off x="8082721" y="3370286"/>
            <a:ext cx="1371600" cy="2286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1.5 m: clear</a:t>
            </a:r>
            <a:endParaRPr lang="en-US" sz="1200" dirty="0"/>
          </a:p>
        </p:txBody>
      </p:sp>
      <p:sp>
        <p:nvSpPr>
          <p:cNvPr id="16" name="label"/>
          <p:cNvSpPr txBox="1"/>
          <p:nvPr/>
        </p:nvSpPr>
        <p:spPr>
          <a:xfrm>
            <a:off x="7945561" y="4302422"/>
            <a:ext cx="1645920" cy="228600"/>
          </a:xfrm>
          <a:prstGeom prst="rect">
            <a:avLst/>
          </a:prstGeom>
          <a:noFill/>
          <a:ln/>
        </p:spPr>
        <p:txBody>
          <a:bodyPr wrap="square" lIns="0" tIns="0" rIns="0" bIns="0" rtlCol="0" anchor="ctr"/>
          <a:lstStyle/>
          <a:p>
            <a:pPr algn="ctr" indent="0" marL="0">
              <a:buNone/>
            </a:pPr>
            <a:r>
              <a:rPr lang="en-US" sz="1200" b="1" dirty="0">
                <a:solidFill>
                  <a:srgbClr val="B23A2E"/>
                </a:solidFill>
                <a:latin typeface="Arial" pitchFamily="34" charset="0"/>
                <a:ea typeface="Arial" pitchFamily="34" charset="-122"/>
                <a:cs typeface="Arial" pitchFamily="34" charset="-120"/>
              </a:rPr>
              <a:t>0.8 m: refused</a:t>
            </a:r>
            <a:endParaRPr lang="en-US" sz="1200" dirty="0"/>
          </a:p>
        </p:txBody>
      </p:sp>
      <p:sp>
        <p:nvSpPr>
          <p:cNvPr id="17" name="caption"/>
          <p:cNvSpPr txBox="1"/>
          <p:nvPr/>
        </p:nvSpPr>
        <p:spPr>
          <a:xfrm>
            <a:off x="5880671" y="5760720"/>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Side view along a room diagonal: the same floor point at two heights, with an example shelf</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Claw Electrical</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4476774"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Two-cell lithium-ion pack: 7.4 V with a 5 A fuse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6 V servo rail and a separate 5 V logic rail</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Peak draw of 2.8–3.1 A against a 3 A pack rating</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Charged with the switch off, attended, at 1 A or less</a:t>
            </a:r>
            <a:endParaRPr lang="en-US" sz="2000" dirty="0"/>
          </a:p>
        </p:txBody>
      </p:sp>
      <p:sp>
        <p:nvSpPr>
          <p:cNvPr id="5" name="Shape 3"/>
          <p:cNvSpPr/>
          <p:nvPr/>
        </p:nvSpPr>
        <p:spPr>
          <a:xfrm>
            <a:off x="5436894" y="1463040"/>
            <a:ext cx="6206161" cy="4526280"/>
          </a:xfrm>
          <a:prstGeom prst="rect">
            <a:avLst/>
          </a:prstGeom>
          <a:solidFill>
            <a:srgbClr val="F2F2F2"/>
          </a:solidFill>
          <a:ln w="12700">
            <a:solidFill>
              <a:srgbClr val="F2F2F2"/>
            </a:solidFill>
            <a:prstDash val="solid"/>
          </a:ln>
        </p:spPr>
      </p:sp>
      <p:pic>
        <p:nvPicPr>
          <p:cNvPr id="6" name="Claw schematic" descr="Claw schematic">    </p:cNvPr>
          <p:cNvPicPr>
            <a:picLocks noChangeAspect="1"/>
          </p:cNvPicPr>
          <p:nvPr/>
        </p:nvPicPr>
        <p:blipFill>
          <a:blip r:embed="rId1"/>
          <a:stretch>
            <a:fillRect/>
          </a:stretch>
        </p:blipFill>
        <p:spPr>
          <a:xfrm>
            <a:off x="5491758" y="1570308"/>
            <a:ext cx="6096433" cy="4311743"/>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Gear Strength</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2624328"/>
          </a:xfrm>
          <a:prstGeom prst="rect">
            <a:avLst/>
          </a:prstGeom>
          <a:noFill/>
          <a:ln/>
        </p:spPr>
        <p:txBody>
          <a:bodyPr wrap="square" lIns="25400" tIns="0" rIns="50800" bIns="25400" rtlCol="0" anchor="t"/>
          <a:lstStyle/>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Module 1.5 gears; PETG allowable stress 22.5 MPa</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Safety factors at 6 V stall: 2.05 pinion, 2.50 compound gear, 2.00 sync gear</a:t>
            </a:r>
            <a:endParaRPr lang="en-US" sz="1800" dirty="0"/>
          </a:p>
          <a:p>
            <a:pPr algn="l" marL="254000" indent="-2540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Module 1 gave safety factors of 0.35–0.41 and was rejected</a:t>
            </a:r>
            <a:endParaRPr lang="en-US" sz="1800" dirty="0"/>
          </a:p>
        </p:txBody>
      </p:sp>
      <p:sp>
        <p:nvSpPr>
          <p:cNvPr id="5" name="equation box"/>
          <p:cNvSpPr/>
          <p:nvPr/>
        </p:nvSpPr>
        <p:spPr>
          <a:xfrm>
            <a:off x="548640" y="4224528"/>
            <a:ext cx="5364328" cy="2039112"/>
          </a:xfrm>
          <a:prstGeom prst="rect">
            <a:avLst/>
          </a:prstGeom>
          <a:solidFill>
            <a:srgbClr val="F7F8FA"/>
          </a:solidFill>
          <a:ln w="15875">
            <a:solidFill>
              <a:srgbClr val="1F3A5F"/>
            </a:solidFill>
            <a:prstDash val="solid"/>
          </a:ln>
        </p:spPr>
      </p:sp>
      <p:sp>
        <p:nvSpPr>
          <p:cNvPr id="6" name="equation title"/>
          <p:cNvSpPr txBox="1"/>
          <p:nvPr/>
        </p:nvSpPr>
        <p:spPr>
          <a:xfrm>
            <a:off x="713232" y="4297680"/>
            <a:ext cx="5035144"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Lewis bending stress at servo stall</a:t>
            </a:r>
            <a:endParaRPr lang="en-US" sz="1100" dirty="0"/>
          </a:p>
        </p:txBody>
      </p:sp>
      <p:sp>
        <p:nvSpPr>
          <p:cNvPr id="7" name="equations"/>
          <p:cNvSpPr txBox="1"/>
          <p:nvPr/>
        </p:nvSpPr>
        <p:spPr>
          <a:xfrm>
            <a:off x="713232" y="4535424"/>
            <a:ext cx="5035144"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2τ / d = 2 × 1.078 / 0.027 = 79.9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(b m Y) = 79.9 / (15.7 × 1.5 × 0.309) = 11.0 MPa</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SF =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allow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σ = 22.5 / 11.0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2.05</a:t>
            </a:r>
            <a:endParaRPr lang="en-US" sz="1550" dirty="0"/>
          </a:p>
        </p:txBody>
      </p:sp>
      <p:sp>
        <p:nvSpPr>
          <p:cNvPr id="8" name="equation inputs"/>
          <p:cNvSpPr txBox="1"/>
          <p:nvPr/>
        </p:nvSpPr>
        <p:spPr>
          <a:xfrm>
            <a:off x="713232" y="5577840"/>
            <a:ext cx="5035144"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τ = servo stall torque; d = pitch diameter (18 teeth × 1.5 mm); b = face width; m = module; Y = Lewis form factor; SF = safety factor</a:t>
            </a:r>
            <a:endParaRPr lang="en-US" sz="1100" dirty="0"/>
          </a:p>
        </p:txBody>
      </p:sp>
      <p:sp>
        <p:nvSpPr>
          <p:cNvPr id="9" name="Shape 7"/>
          <p:cNvSpPr/>
          <p:nvPr/>
        </p:nvSpPr>
        <p:spPr>
          <a:xfrm>
            <a:off x="6324448" y="1463040"/>
            <a:ext cx="2590724" cy="4526280"/>
          </a:xfrm>
          <a:prstGeom prst="rect">
            <a:avLst/>
          </a:prstGeom>
          <a:solidFill>
            <a:srgbClr val="F2F2F2"/>
          </a:solidFill>
          <a:ln w="12700">
            <a:solidFill>
              <a:srgbClr val="F2F2F2"/>
            </a:solidFill>
            <a:prstDash val="solid"/>
          </a:ln>
        </p:spPr>
      </p:sp>
      <p:pic>
        <p:nvPicPr>
          <p:cNvPr id="10" name="Compound and follower gears" descr="Compound and follower gears">    </p:cNvPr>
          <p:cNvPicPr>
            <a:picLocks noChangeAspect="1"/>
          </p:cNvPicPr>
          <p:nvPr/>
        </p:nvPicPr>
        <p:blipFill>
          <a:blip r:embed="rId1"/>
          <a:stretch>
            <a:fillRect/>
          </a:stretch>
        </p:blipFill>
        <p:spPr>
          <a:xfrm>
            <a:off x="6379312" y="2373652"/>
            <a:ext cx="2480996" cy="2705056"/>
          </a:xfrm>
          <a:prstGeom prst="rect">
            <a:avLst/>
          </a:prstGeom>
        </p:spPr>
      </p:pic>
      <p:sp>
        <p:nvSpPr>
          <p:cNvPr id="11" name="Shape 8"/>
          <p:cNvSpPr/>
          <p:nvPr/>
        </p:nvSpPr>
        <p:spPr>
          <a:xfrm>
            <a:off x="9052331" y="1463040"/>
            <a:ext cx="2590724" cy="4526280"/>
          </a:xfrm>
          <a:prstGeom prst="rect">
            <a:avLst/>
          </a:prstGeom>
          <a:solidFill>
            <a:srgbClr val="F2F2F2"/>
          </a:solidFill>
          <a:ln w="12700">
            <a:solidFill>
              <a:srgbClr val="F2F2F2"/>
            </a:solidFill>
            <a:prstDash val="solid"/>
          </a:ln>
        </p:spPr>
      </p:sp>
      <p:pic>
        <p:nvPicPr>
          <p:cNvPr id="12" name="Compound and follower gears" descr="Compound and follower gears">    </p:cNvPr>
          <p:cNvPicPr>
            <a:picLocks noChangeAspect="1"/>
          </p:cNvPicPr>
          <p:nvPr/>
        </p:nvPicPr>
        <p:blipFill>
          <a:blip r:embed="rId2"/>
          <a:stretch>
            <a:fillRect/>
          </a:stretch>
        </p:blipFill>
        <p:spPr>
          <a:xfrm>
            <a:off x="9107195" y="2665251"/>
            <a:ext cx="2480996" cy="2121859"/>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Safety</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919048"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One hard stop: the switched power strip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Faults and PAUSE hold motor torque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Anchors in wall studs; nobody stands under the robot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Motors are never unplugged under power</a:t>
            </a:r>
            <a:endParaRPr lang="en-US" sz="2000" dirty="0"/>
          </a:p>
        </p:txBody>
      </p:sp>
      <p:sp>
        <p:nvSpPr>
          <p:cNvPr id="5" name="Shape 3"/>
          <p:cNvSpPr/>
          <p:nvPr/>
        </p:nvSpPr>
        <p:spPr>
          <a:xfrm>
            <a:off x="6879168" y="1463040"/>
            <a:ext cx="4763887" cy="4526280"/>
          </a:xfrm>
          <a:prstGeom prst="rect">
            <a:avLst/>
          </a:prstGeom>
          <a:solidFill>
            <a:srgbClr val="F2F2F2"/>
          </a:solidFill>
          <a:ln w="12700">
            <a:solidFill>
              <a:srgbClr val="F2F2F2"/>
            </a:solidFill>
            <a:prstDash val="solid"/>
          </a:ln>
        </p:spPr>
      </p:sp>
      <p:pic>
        <p:nvPicPr>
          <p:cNvPr id="6" name="Wall station" descr="Wall station">    </p:cNvPr>
          <p:cNvPicPr>
            <a:picLocks noChangeAspect="1"/>
          </p:cNvPicPr>
          <p:nvPr/>
        </p:nvPicPr>
        <p:blipFill>
          <a:blip r:embed="rId1"/>
          <a:stretch>
            <a:fillRect/>
          </a:stretch>
        </p:blipFill>
        <p:spPr>
          <a:xfrm>
            <a:off x="7445889" y="1517904"/>
            <a:ext cx="3630445" cy="4416552"/>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Acronyms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graphicFrame>
        <p:nvGraphicFramePr>
          <p:cNvPr id="3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440771"/>
                <a:gridCol w="8653644"/>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Term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CAD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Computer-aided design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PETG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Polyethylene terephthalate glycol (the printed plastic)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TPU</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Thermoplastic polyurethane (flexible printed plastic)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NEMA 17</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National Electrical Manufacturers Association motor frame, 1.7 in square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I²C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Inter-Integrated Circuit: a short-range two-wire sensor bus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ESP32</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 Wi-Fi microcontroller family (Espressif)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A4988, AS5600</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Stepper-motor driver chip (Allegro); magnetic angle sensor (ams)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YOLO</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“You Only Look Once”: an object-detection model family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SF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Safety factor: allowable stress divided by actual stress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itle"/>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Arial" pitchFamily="34" charset="0"/>
                <a:ea typeface="Arial" pitchFamily="34" charset="-122"/>
                <a:cs typeface="Arial" pitchFamily="34" charset="-120"/>
              </a:rPr>
              <a:t>Calculations and Sources</a:t>
            </a:r>
            <a:endParaRPr lang="en-US" sz="2800" dirty="0"/>
          </a:p>
        </p:txBody>
      </p:sp>
      <p:sp>
        <p:nvSpPr>
          <p:cNvPr id="3" name="title rule"/>
          <p:cNvSpPr/>
          <p:nvPr/>
        </p:nvSpPr>
        <p:spPr>
          <a:xfrm>
            <a:off x="548640" y="1143000"/>
            <a:ext cx="11094415" cy="0"/>
          </a:xfrm>
          <a:prstGeom prst="line">
            <a:avLst/>
          </a:prstGeom>
          <a:noFill/>
          <a:ln w="9525">
            <a:solidFill>
              <a:srgbClr val="BFBFBF"/>
            </a:solidFill>
            <a:prstDash val="solid"/>
          </a:ln>
        </p:spPr>
      </p:sp>
      <p:sp>
        <p:nvSpPr>
          <p:cNvPr id="4" name="bullets"/>
          <p:cNvSpPr txBox="1"/>
          <p:nvPr/>
        </p:nvSpPr>
        <p:spPr>
          <a:xfrm>
            <a:off x="548640" y="1417320"/>
            <a:ext cx="5364328" cy="48006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All charts come from my engineering calculation sheet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Each result is a formula on labeled inputs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Sources:</a:t>
            </a:r>
            <a:endParaRPr lang="en-US" sz="2000" dirty="0"/>
          </a:p>
          <a:p>
            <a:pPr algn="l" lvl="1" marL="457200" indent="-228600">
              <a:spcAft>
                <a:spcPts val="800"/>
              </a:spcAft>
              <a:buSzPct val="100000"/>
              <a:buChar char="•"/>
            </a:pPr>
            <a:r>
              <a:rPr lang="en-US" sz="1700" dirty="0">
                <a:solidFill>
                  <a:srgbClr val="404040"/>
                </a:solidFill>
                <a:latin typeface="Arial" pitchFamily="34" charset="0"/>
                <a:ea typeface="Arial" pitchFamily="34" charset="-122"/>
                <a:cs typeface="Arial" pitchFamily="34" charset="-120"/>
              </a:rPr>
              <a:t>Incropera et al., Fundamentals of Heat and Mass Transfer, ch. 3</a:t>
            </a:r>
            <a:endParaRPr lang="en-US" sz="2000" dirty="0"/>
          </a:p>
          <a:p>
            <a:pPr algn="l" lvl="1" marL="457200" indent="-228600">
              <a:spcAft>
                <a:spcPts val="800"/>
              </a:spcAft>
              <a:buSzPct val="100000"/>
              <a:buChar char="•"/>
            </a:pPr>
            <a:r>
              <a:rPr lang="en-US" sz="1700" dirty="0">
                <a:solidFill>
                  <a:srgbClr val="404040"/>
                </a:solidFill>
                <a:latin typeface="Arial" pitchFamily="34" charset="0"/>
                <a:ea typeface="Arial" pitchFamily="34" charset="-122"/>
                <a:cs typeface="Arial" pitchFamily="34" charset="-120"/>
              </a:rPr>
              <a:t>Allegro MicroSystems, A4988 datasheet</a:t>
            </a:r>
            <a:endParaRPr lang="en-US" sz="2000" dirty="0"/>
          </a:p>
        </p:txBody>
      </p:sp>
      <p:pic>
        <p:nvPicPr>
          <p:cNvPr id="5" name="Chart from the calculation sheet: Cable " descr="Chart from the calculation sheet: Cable tension">    </p:cNvPr>
          <p:cNvPicPr>
            <a:picLocks noChangeAspect="1"/>
          </p:cNvPicPr>
          <p:nvPr/>
        </p:nvPicPr>
        <p:blipFill>
          <a:blip r:embed="rId1"/>
          <a:stretch>
            <a:fillRect/>
          </a:stretch>
        </p:blipFill>
        <p:spPr>
          <a:xfrm>
            <a:off x="6324448" y="1554480"/>
            <a:ext cx="5318608" cy="3661008"/>
          </a:xfrm>
          <a:prstGeom prst="rect">
            <a:avLst/>
          </a:prstGeom>
        </p:spPr>
      </p:pic>
      <p:sp>
        <p:nvSpPr>
          <p:cNvPr id="6" name="chart frame"/>
          <p:cNvSpPr/>
          <p:nvPr/>
        </p:nvSpPr>
        <p:spPr>
          <a:xfrm>
            <a:off x="6324448" y="1554480"/>
            <a:ext cx="5318608" cy="3661008"/>
          </a:xfrm>
          <a:prstGeom prst="rect">
            <a:avLst/>
          </a:prstGeom>
          <a:ln w="9525">
            <a:solidFill>
              <a:srgbClr val="BFBFBF"/>
            </a:solidFill>
            <a:prstDash val="solid"/>
          </a:ln>
        </p:spPr>
      </p:sp>
      <p:sp>
        <p:nvSpPr>
          <p:cNvPr id="7" name="caption"/>
          <p:cNvSpPr txBox="1"/>
          <p:nvPr/>
        </p:nvSpPr>
        <p:spPr>
          <a:xfrm>
            <a:off x="6324448" y="5288640"/>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Source: RoomCleaner engineering calculations, “Cable tension” (calculated values)</a:t>
            </a:r>
            <a:endParaRPr lang="en-US" sz="1100" dirty="0"/>
          </a:p>
        </p:txBody>
      </p:sp>
      <p:sp>
        <p:nvSpPr>
          <p:cNvPr id="9" name="sheet link"/>
          <p:cNvSpPr txBox="1"/>
          <p:nvPr/>
        </p:nvSpPr>
        <p:spPr>
          <a:xfrm>
            <a:off x="548640" y="5760720"/>
            <a:ext cx="5029200" cy="365760"/>
          </a:xfrm>
          <a:prstGeom prst="rect">
            <a:avLst/>
          </a:prstGeom>
          <a:noFill/>
          <a:ln/>
        </p:spPr>
        <p:txBody>
          <a:bodyPr wrap="square" lIns="0" tIns="0" rIns="0" bIns="0" rtlCol="0" anchor="ctr"/>
          <a:lstStyle/>
          <a:p>
            <a:pPr indent="0" marL="0">
              <a:buNone/>
            </a:pPr>
            <a:r>
              <a:rPr lang="en-US" sz="1500" u="sng" dirty="0">
                <a:solidFill>
                  <a:srgbClr val="1F3A5F"/>
                </a:solidFill>
                <a:latin typeface="Arial" pitchFamily="34" charset="0"/>
                <a:ea typeface="Arial" pitchFamily="34" charset="-122"/>
                <a:cs typeface="Arial" pitchFamily="34" charset="-120"/>
                <a:hlinkClick r:id="rId2" invalidUrl="" action="" tgtFrame="" tooltip="Open the calculation sheet" history="1" highlightClick="0" endSnd="0">
                  <a:extLst>
                    <a:ext uri="{A12FA001-AC4F-418D-AE19-62706E023703}">
                      <ahyp:hlinkClr xmlns:ahyp="http://schemas.microsoft.com/office/drawing/2018/hyperlinkcolor" val="tx"/>
                    </a:ext>
                  </a:extLst>
                </a:hlinkClick>
              </a:rPr>
              <a:t>RoomCleaner engineering calculations (Google Sheets)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RoomCleaner v6">
  <a:themeElements>
    <a:clrScheme name="RoomCleaner v6">
      <a:dk1>
        <a:srgbClr val="1A1A1A"/>
      </a:dk1>
      <a:lt1>
        <a:srgbClr val="FFFFFF"/>
      </a:lt1>
      <a:dk2>
        <a:srgbClr val="1F3A5F"/>
      </a:dk2>
      <a:lt2>
        <a:srgbClr val="F2F2F4"/>
      </a:lt2>
      <a:accent1>
        <a:srgbClr val="1F3A5F"/>
      </a:accent1>
      <a:accent2>
        <a:srgbClr val="8A8F98"/>
      </a:accent2>
      <a:accent3>
        <a:srgbClr val="B23A2E"/>
      </a:accent3>
      <a:accent4>
        <a:srgbClr val="4F6D8F"/>
      </a:accent4>
      <a:accent5>
        <a:srgbClr val="D9DEE5"/>
      </a:accent5>
      <a:accent6>
        <a:srgbClr val="5B6470"/>
      </a:accent6>
      <a:hlink>
        <a:srgbClr val="1F3A5F"/>
      </a:hlink>
      <a:folHlink>
        <a:srgbClr val="4F6D8F"/>
      </a:folHlink>
    </a:clrScheme>
    <a:fontScheme name="RoomCleaner v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2026-10-22T15:18:41Z</dcterms:created>
  <dcterms:modified xsi:type="dcterms:W3CDTF">2026-10-22T15:18:41Z</dcterms:modified>
</cp:coreProperties>
</file>