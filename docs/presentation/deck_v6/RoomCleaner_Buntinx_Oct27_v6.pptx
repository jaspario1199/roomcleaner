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2e38db0-88c9-2fe8-586a-76f19b7e89bc}">
          <p14:sldIdLst>
            <p14:sldId id="256"/>
            <p14:sldId id="257"/>
            <p14:sldId id="258"/>
            <p14:sldId id="259"/>
            <p14:sldId id="260"/>
            <p14:sldId id="261"/>
          </p14:sldIdLst>
        </p14:section>
        <p14:section name="Design" id="{efdb63c3-7391-51ea-f5d9-8bf773c00c0c}">
          <p14:sldIdLst>
            <p14:sldId id="262"/>
            <p14:sldId id="263"/>
            <p14:sldId id="264"/>
            <p14:sldId id="265"/>
            <p14:sldId id="266"/>
            <p14:sldId id="267"/>
            <p14:sldId id="268"/>
            <p14:sldId id="269"/>
            <p14:sldId id="270"/>
            <p14:sldId id="271"/>
          </p14:sldIdLst>
        </p14:section>
        <p14:section name="Build" id="{880a717d-4706-ae41-82fd-03caed40fb2d}">
          <p14:sldIdLst>
            <p14:sldId id="272"/>
            <p14:sldId id="273"/>
            <p14:sldId id="274"/>
          </p14:sldIdLst>
        </p14:section>
        <p14:section name="Test" id="{3f613426-d83c-71ae-9140-d7ff67d6f0ff}">
          <p14:sldIdLst>
            <p14:sldId id="275"/>
            <p14:sldId id="276"/>
          </p14:sldIdLst>
        </p14:section>
        <p14:section name="Lessons" id="{8882284a-2854-f8c2-9506-316e4f4afb43}">
          <p14:sldIdLst>
            <p14:sldId id="277"/>
            <p14:sldId id="278"/>
            <p14:sldId id="279"/>
          </p14:sldIdLst>
        </p14:section>
        <p14:section name="Close" id="{2b39b783-9550-92b0-6c21-d60a61dfbf8e}">
          <p14:sldIdLst>
            <p14:sldId id="280"/>
          </p14:sldIdLst>
        </p14:section>
        <p14:section name="Appendix" id="{32953a1f-1806-c616-9000-bfd3bacc762f}">
          <p14:sldIdLst>
            <p14:sldId id="281"/>
            <p14:sldId id="282"/>
            <p14:sldId id="283"/>
            <p14:sldId id="284"/>
            <p14:sldId id="285"/>
            <p14:sldId id="286"/>
            <p14:sldId id="287"/>
            <p14:sldId id="288"/>
            <p14:sldId id="289"/>
            <p14:sldId id="290"/>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what you learned), the sculptures (fiber laser and welding: real fabrication), one hobby.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then questions. Backup slides at the end cover calibration, control logic, the phone app, obstacles, electrical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cable robot: it covers the whole floor, nothing stands on the floor, and the moving mass is small. Safety rules: stations anchor into studs, the switched power strip is the one hard stop, nobody stands under the robot. 0.9 kg is a screening figure for jeans; the first physical test is 1 lb. The claw tube is 10.5 in. Milestones: one station running repeatably (passed on the bench), three stations holding and moving 1 lb (this week's test), one garment into the hamper.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Generation 1 (August) worked on the bench: corner plates, one central controller board, a finger claw. September to early October was the redesign that drove generation 2: sensors at every winch, the wiring that caused, and the line outlets. Generation 2 in October went through three station and three spool versions to the final design on Oct 21. This week: build and the first test. Say plainly what is mine and what is bought. [Confirm the start date (git shows Jul 16) and what happened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Zoomed out: only the bottom layer turns a motor. The phone asks the supervisor; the supervisor holds one robot state; the planner checks every point of a path before anything moves; the stations run the motion on their own clocks and hold if the laptop goes quiet. The claw is a camera plus a gripper that obeys. Details are in the appendix (operating sequence, obstacles, the phone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targets, each with a number. Two are not met today: lift capacity and claw mass, and they are the same problem seen from two sides. Motor temperature is marginal since the 1.5 A change. Working area and wiring are met by the design. Accuracy, speed and cost wait on the hardware test and the receipts. Safety is a constraint, not a target: I never trade it for any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 helps one thing and hurts another, and each design slide after this is one of these trades. Current: pull goes with I but heat goes with I squared, so 41 % more pull costs twice the heat. Claw strength: the stall check pushed the gears from module 1 to 1.5, and every gram of claw comes out of the payload. Room size: wire resistance grows with length, R = ρL/A; that is why only power travels, and the longest 32 ft run drops 0.51 V at 2 A on 16-gauge wire. Ceiling: tension doubles each time the depth below the anchors halves. Spool: a smaller radius pulls harder but reels slower, and the radius grows as the line winds on. Margins: they buy safety with force and floor area. The last line is why weight matters so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Centered claw, equal shares. D_h = 2.17 m from the room center to a corner. The tension doubles each time the depth halves near the ceiling, so the ceiling margin is set by tension, not by collision. At 1.06 A the design force was 11.9 N, so 0.4 m was only just enough standing still (12.2 N). At 1.5 A it is 16.8 N, so 0.4 m also covers the 2 m/s² acceleration case (14.7 N). 0.3 m would now hold standing still (16.2 N) but not while accelerating (19.5 N), so I keep 0.4 m. If asked about a corner pick: the far cables go near-horizontal and carry little; the planner checks every cable stays inside its tension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the first boards topped out at 0.85 V, which is 1.06 A. I got the drivers to 1.5 A, the motor's rated current, so every pull goes up 41 % (1.5 / 1.06). [Fill in: how, and the Vref you read.] The cost is heat: the motor makes twice the heat (next slides). Running torque is lower than holding torque; I assumed 0.7, and the pull test measures it. A smaller spool gives more pull per amp but more turns per meter. The 1.5 margin covers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 82 ft = 820 ft against 2 × 82 ft = 164 ft for one power pair. The cost: synchronization moved into software. Each station runs time-stamped segments on its own clock; any lost link means hold. Timing skew becomes cable mismatch: 50 mm/s × 50 ms = 2.5 mm, which is why segments are time-stamped.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the fin as a second path out. At 1.5 A the motor makes 4.05 W, double the 2.0 W at 1.06 A. Sheet results, vented shell: no fin 77 °C, 0.019 in fin 57.6 °C, 1/8 in fin 48.9 °C; sealed: 99, 66 and 54 °C, so the shell stays vented. With radiation from the black paint included (refined model) the 1/8 in fin gives about 45 °C. The driver chip also heats more; if it overheats it shuts off and the winch loses torque, so the hold test watches it too. Fallback: 1.35 A. Shape: one tall blade from the heat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length: L95, where a fin gets 95 % of the heat an infinitely long one would. The thin sheet reaches it at 136 mm, so most of its 200 mm does little; the 1/8 in plate keeps gaining to 349 mm, so 200 mm is a compromise with the ceiling (the fin top is 229 mm above the shaft). At 200 mm: sheet 37 % efficient and 22.1 K/W; 1/8 in plate 74 % and 10.9 K/W. Fin equations: Incropera, Fundamentals of Heat and Mass Transfer,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a poor first plan, caught on paper before it was built. The limit is physical, so software cannot remove it. Replacement: take up slack one cable at a time, lift, look at the floor board from several poses, least-squares fit of anchors and zero lengths, check on held-out poses. Safety comes from margins (0.4 m below the anchors, 0.2 m inside the walls), not precision. Four tags in view: 0.7 mm vs 6.6 mm with one (appendix). Simulated so far; the first hardware run is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generation fixed a problem found in the one before. Mass drove most changes: every gram of claw is a gram of laundry the winches cannot lift. Four-bar: ground 36.5, crank 53, rocker 50, coupler 34.7 mm; jaws parallel within about 1 degree; closing drops the tips about 38 mm, a scoop. Gear train: servo, 18-tooth pinion, 36/24-tooth compound, 24-tooth sync gear. Lewis check at servo stall: module 1 safety factor 0.35 to 0.41, so the module went up to 1.5. The camera also moved from the ceiling into the claw: it sees the grasp and reads the floor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even at 1.5 A the current claw plus jeans is too heavy, by about 0.2 kg instead of 0.66 kg. Root cause: I set the mass budget late, after the claw grew. Capacity = design force / (worst tension per unit weight × g) = 16.8 / (1.101 × 9.81) = 1.56 kg; the worst point is the middle of a long wall at task height. Claw mass estimate: 0.55 infill fraction × 927 g solid + 198 g tube + 55 g servo ≈ 0.76 kg. The pull test turns the 0.7 running-torque assumption into a measurement, and that number picks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flat face on the bed, loads along the layers, no supports on mating faces. Bearing pocket Ø14.075 with a Ø14.000 lead-in lip. Heat-set M3 inserts where screws are reused. Spool v1 was longer than the motor shaft could engage; v2's Ø5.2 bore printed too tight on the 5 mm shaft, so the printer undersize is at least 0.2 mm; v3 opened it to Ø5.45 (about 0.25 mm clearance) with a D-flat. Ø15 core, 16 mm drum: 20 ft of line in 5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setup from the same two edges means hole-to-hole errors do not stack. Holes: a 7/8 in pilot for the motor boss and 4 × Ø3.4 on the 31 mm motor square. Paint everywhere except the motor contact square, which gets thermal paste. The production fin is 1/8 in plate. [Fill in: time per fin, how many made, any scrap.]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so the two cannot disagree. The 1.14 V story: measure the hardware before trusting the software's view of it. Checklist: logic supply, sleep, enable and the buck output on every new board.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the tensions are solved exactly and slack shows up directly. It is the simplest real test of the calibration and the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°C limit is for the loaded PETG, and that is the one temperature the hand calculation cannot give: it only knows the motor node. The SolidWorks thermal study uses my 10/21 assembly with a detailed NEMA 17 (aluminum end caps, black steel stator, copper windings as the 4.05 W source, plastic connector), the fin, the four M3 screws into the motor, and the PETG slip-in mount; inside the shell 26 to 27 °C, outside 23 °C. Hand calculation: 56 to 59 °C with the prototype fin, 45 to 49 °C with the 1/8 in fin (the range is the simple and the refined model). An independent 3-D check of the hand calculation showed the PETG next to the motor runs at about the motor temperature, within 1 K, so the motor number is the PETG number. Then the hold test measures it. If they disagree, I fit h and the coil resistance, not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me software synchronization (2.5 mm per 50 ms of skew) but saved 5× the wire. The slide-in mount came from taking stations down to rework them. Calibration by camera replaced a plan that physically limited the motion. The stall check caught gears that would have sheared before I printed them. Poor: the mass budget came after the claw grew, which is the open issue today. Bead homing looked cheap until I computed what it cost. The spool bore needed a coupon. And building several stations before one was fully proven meant repeating each fix. [Confirm the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so the drawing cannot lie.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tags because accuracy comes from seeing several tags, not from the board. Three stations now, because three cables already test calibration and coordinated motion while the fourth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would do differently: weigh the claw and set its mass budget from the measured winch pull before designing it; coupons before every new fit; one complete station tested end to end before building more; a meter on every rail before debugging code. Half the time: most of the lost time was the redesign (September to early October) and the generations that a frozen requirement and an early test would have avoided. Order the slow parts on day one. Three stations are statically determinate and need fewer parts for the first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follows: project status, fin sizing for 4 W, floor board, calibration, control logic, operating sequence, phone app, obstacles, claw electrical, gear strength, safety, acronyms, calculations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calculated or simulated is called that; the next-test column is what turns it into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built sheet works today only because the motor also sheds about 2.5 W into the vented shell. A thin sheet has a large m = √(2h/kt), so its far end does almost nothing: the most heat any length can carry is w √(2hkt) θ_b, about 2 W for 0.019 in at a 60 °C base. The 1/8 in plate of my first drawing, painted, would carry all of it at the same 200 mm, and with the vented shell the motor would run at about 45 °C. Mass is no problem on a wall station. 1/8 in may be beyond a hand shear: bandsaw and square it on the mill. Ranges: flange at one temperature to heat spread over the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tags: 4.85 mrad, 2.5 mm. Noise model: 0.3 px corner noise, 520 px focal length (camera not yet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margins, not precision: 0.4 m below the anchors and 0.2 m inside the walls unless the error bars allow more. If the fit is not good enough: more poses, then fit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 Kept from generation 1: the cable math, the state-machine idea and the YOLO-World detector. All simulated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Grips wait until the claw stops swinging. A refused release pauses over the hamper. Disarm needs a typed confirmation and a fresh floor check, because releasing torque drops a hanging claw.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Tested against a full simulator of the stations and the claw, so lost messages and reboots were exercised before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draw keep-out shapes in the phone app (squares, rectangles, circles with a height), then let the robot build its own room model from the claw camera's scans. Simulated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factors at the 6 V servo stall: pinion 2.05, 36-tooth gear 2.50, sync gear 2.00 with one jaw taking all the load. Stall torque 1.078 N·m is the servo rating,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safety-rated function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400800"/>
            <a:ext cx="11094415" cy="0"/>
          </a:xfrm>
          <a:prstGeom prst="line">
            <a:avLst/>
          </a:prstGeom>
          <a:noFill/>
          <a:ln w="9525">
            <a:solidFill>
              <a:srgbClr val="BFBFBF"/>
            </a:solidFill>
            <a:prstDash val="solid"/>
          </a:ln>
        </p:spPr>
      </p:sp>
      <p:sp>
        <p:nvSpPr>
          <p:cNvPr id="3" name="Text 1"/>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RoomCleaner  |  Jasper Buntinx  |  October 27, 2026</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9-1.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cable-driven robot that picks laundry up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eration 2 winch station, assembled" descr="Generation 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About Me</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4920551"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B.S. Mechanical Engineering, Texas A&amp;M University,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[graduation month and year]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Built EcoFil, a filament recycler with a shredder, dryer and extruder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Metal sculptures for the Austin Creek Show, made with fiber laser cutting and welding</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Outside of class: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[hobbies and interests]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Why this project: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[one sentence]</a:t>
            </a:r>
            <a:endParaRPr lang="en-US" sz="2000" dirty="0"/>
          </a:p>
        </p:txBody>
      </p:sp>
      <p:sp>
        <p:nvSpPr>
          <p:cNvPr id="5" name="placeholder"/>
          <p:cNvSpPr/>
          <p:nvPr/>
        </p:nvSpPr>
        <p:spPr>
          <a:xfrm>
            <a:off x="5880671" y="1463040"/>
            <a:ext cx="5762384" cy="4526280"/>
          </a:xfrm>
          <a:prstGeom prst="rect">
            <a:avLst/>
          </a:prstGeom>
          <a:solidFill>
            <a:srgbClr val="F2F2F2"/>
          </a:solidFill>
          <a:ln w="12700">
            <a:solidFill>
              <a:srgbClr val="B23A2E"/>
            </a:solidFill>
            <a:prstDash val="dash"/>
          </a:ln>
        </p:spPr>
      </p:sp>
      <p:sp>
        <p:nvSpPr>
          <p:cNvPr id="6" name="placeholder text"/>
          <p:cNvSpPr txBox="1"/>
          <p:nvPr/>
        </p:nvSpPr>
        <p:spPr>
          <a:xfrm>
            <a:off x="6063551" y="1463040"/>
            <a:ext cx="5396624" cy="4526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of you building: EcoFil, a sculpture, or the workshop]</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Agenda</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600200"/>
            <a:ext cx="5364328" cy="4800600"/>
          </a:xfrm>
          <a:prstGeom prst="rect">
            <a:avLst/>
          </a:prstGeom>
          <a:noFill/>
          <a:ln/>
        </p:spPr>
        <p:txBody>
          <a:bodyPr wrap="square" lIns="25400" tIns="0" rIns="50800" bIns="25400" rtlCol="0" anchor="t"/>
          <a:lstStyle/>
          <a:p>
            <a:pPr algn="l" marL="330200" indent="-330200">
              <a:spcAft>
                <a:spcPts val="2200"/>
              </a:spcAft>
              <a:buSzPct val="100000"/>
              <a:buFont typeface="+mj-lt"/>
              <a:buAutoNum type="arabicPeriod" startAt="1"/>
            </a:pPr>
            <a:r>
              <a:rPr lang="en-US" sz="2200" dirty="0">
                <a:solidFill>
                  <a:srgbClr val="000000"/>
                </a:solidFill>
                <a:latin typeface="Arial" pitchFamily="34" charset="0"/>
                <a:ea typeface="Arial" pitchFamily="34" charset="-122"/>
                <a:cs typeface="Arial" pitchFamily="34" charset="-120"/>
              </a:rPr>
              <a:t>Project goal, scope and timeline</a:t>
            </a:r>
            <a:endParaRPr lang="en-US" sz="2200" dirty="0"/>
          </a:p>
          <a:p>
            <a:pPr algn="l" marL="330200" indent="-330200">
              <a:spcAft>
                <a:spcPts val="2200"/>
              </a:spcAft>
              <a:buSzPct val="100000"/>
              <a:buFont typeface="+mj-lt"/>
              <a:buAutoNum type="arabicPeriod" startAt="1"/>
            </a:pPr>
            <a:r>
              <a:rPr lang="en-US" sz="2200" dirty="0">
                <a:solidFill>
                  <a:srgbClr val="000000"/>
                </a:solidFill>
                <a:latin typeface="Arial" pitchFamily="34" charset="0"/>
                <a:ea typeface="Arial" pitchFamily="34" charset="-122"/>
                <a:cs typeface="Arial" pitchFamily="34" charset="-120"/>
              </a:rPr>
              <a:t>Design: targets, trade-offs and key calculations</a:t>
            </a:r>
            <a:endParaRPr lang="en-US" sz="2200" dirty="0"/>
          </a:p>
          <a:p>
            <a:pPr algn="l" marL="330200" indent="-330200">
              <a:spcAft>
                <a:spcPts val="2200"/>
              </a:spcAft>
              <a:buSzPct val="100000"/>
              <a:buFont typeface="+mj-lt"/>
              <a:buAutoNum type="arabicPeriod" startAt="1"/>
            </a:pPr>
            <a:r>
              <a:rPr lang="en-US" sz="2200" dirty="0">
                <a:solidFill>
                  <a:srgbClr val="000000"/>
                </a:solidFill>
                <a:latin typeface="Arial" pitchFamily="34" charset="0"/>
                <a:ea typeface="Arial" pitchFamily="34" charset="-122"/>
                <a:cs typeface="Arial" pitchFamily="34" charset="-120"/>
              </a:rPr>
              <a:t>Build: printed parts, machining and electronics</a:t>
            </a:r>
            <a:endParaRPr lang="en-US" sz="2200" dirty="0"/>
          </a:p>
          <a:p>
            <a:pPr algn="l" marL="330200" indent="-330200">
              <a:spcAft>
                <a:spcPts val="2200"/>
              </a:spcAft>
              <a:buSzPct val="100000"/>
              <a:buFont typeface="+mj-lt"/>
              <a:buAutoNum type="arabicPeriod" startAt="1"/>
            </a:pPr>
            <a:r>
              <a:rPr lang="en-US" sz="2200" dirty="0">
                <a:solidFill>
                  <a:srgbClr val="000000"/>
                </a:solidFill>
                <a:latin typeface="Arial" pitchFamily="34" charset="0"/>
                <a:ea typeface="Arial" pitchFamily="34" charset="-122"/>
                <a:cs typeface="Arial" pitchFamily="34" charset="-120"/>
              </a:rPr>
              <a:t>Test: first system test and thermal verification</a:t>
            </a:r>
            <a:endParaRPr lang="en-US" sz="2200" dirty="0"/>
          </a:p>
          <a:p>
            <a:pPr algn="l" marL="330200" indent="-330200">
              <a:spcAft>
                <a:spcPts val="2200"/>
              </a:spcAft>
              <a:buSzPct val="100000"/>
              <a:buFont typeface="+mj-lt"/>
              <a:buAutoNum type="arabicPeriod" startAt="1"/>
            </a:pPr>
            <a:r>
              <a:rPr lang="en-US" sz="2200" dirty="0">
                <a:solidFill>
                  <a:srgbClr val="000000"/>
                </a:solidFill>
                <a:latin typeface="Arial" pitchFamily="34" charset="0"/>
                <a:ea typeface="Arial" pitchFamily="34" charset="-122"/>
                <a:cs typeface="Arial" pitchFamily="34" charset="-120"/>
              </a:rPr>
              <a:t>Good and poor decisions, and lessons learned</a:t>
            </a:r>
            <a:endParaRPr lang="en-US" sz="2200" dirty="0"/>
          </a:p>
        </p:txBody>
      </p:sp>
      <p:sp>
        <p:nvSpPr>
          <p:cNvPr id="5" name="Shape 3"/>
          <p:cNvSpPr/>
          <p:nvPr/>
        </p:nvSpPr>
        <p:spPr>
          <a:xfrm>
            <a:off x="6873088" y="1463040"/>
            <a:ext cx="4221328" cy="4434840"/>
          </a:xfrm>
          <a:prstGeom prst="rect">
            <a:avLst/>
          </a:prstGeom>
          <a:solidFill>
            <a:srgbClr val="F2F2F2"/>
          </a:solidFill>
          <a:ln w="12700">
            <a:solidFill>
              <a:srgbClr val="F2F2F2"/>
            </a:solidFill>
            <a:prstDash val="solid"/>
          </a:ln>
        </p:spPr>
      </p:sp>
      <p:pic>
        <p:nvPicPr>
          <p:cNvPr id="6" name="Cable robot geometry: four anchors and t" descr="Cable robot geometry: four anchors and the claw">    </p:cNvPr>
          <p:cNvPicPr>
            <a:picLocks noChangeAspect="1"/>
          </p:cNvPicPr>
          <p:nvPr/>
        </p:nvPicPr>
        <p:blipFill>
          <a:blip r:embed="rId1"/>
          <a:stretch>
            <a:fillRect/>
          </a:stretch>
        </p:blipFill>
        <p:spPr>
          <a:xfrm>
            <a:off x="6927952" y="1624660"/>
            <a:ext cx="4111600" cy="4111600"/>
          </a:xfrm>
          <a:prstGeom prst="rect">
            <a:avLst/>
          </a:prstGeom>
        </p:spPr>
      </p:pic>
      <p:sp>
        <p:nvSpPr>
          <p:cNvPr id="7" name="caption"/>
          <p:cNvSpPr txBox="1"/>
          <p:nvPr/>
        </p:nvSpPr>
        <p:spPr>
          <a:xfrm>
            <a:off x="6873088" y="5989320"/>
            <a:ext cx="422132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Project Goal</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Pick up laundry anywhere in an 11 × 9 ft room and drop it in a hamper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Four ceiling-mounted winches suspend one claw on cables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Design load: jeans, 0.9 kg, at 2 m/s² acceleration; first test load is 1 lb</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3D-printed PETG (polyethylene terephthalate glycol) parts on a hobby budget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Success: one garment delivered to the hamper with no human input</a:t>
            </a:r>
            <a:endParaRPr lang="en-US" sz="2000" dirty="0"/>
          </a:p>
        </p:txBody>
      </p:sp>
      <p:sp>
        <p:nvSpPr>
          <p:cNvPr id="5" name="Shape 3"/>
          <p:cNvSpPr/>
          <p:nvPr/>
        </p:nvSpPr>
        <p:spPr>
          <a:xfrm>
            <a:off x="6324448" y="1463040"/>
            <a:ext cx="2590724" cy="4526280"/>
          </a:xfrm>
          <a:prstGeom prst="rect">
            <a:avLst/>
          </a:prstGeom>
          <a:solidFill>
            <a:srgbClr val="F2F2F2"/>
          </a:solidFill>
          <a:ln w="12700">
            <a:solidFill>
              <a:srgbClr val="F2F2F2"/>
            </a:solidFill>
            <a:prstDash val="solid"/>
          </a:ln>
        </p:spPr>
      </p:sp>
      <p:pic>
        <p:nvPicPr>
          <p:cNvPr id="6" name="Final wall station" descr="Final wall station">    </p:cNvPr>
          <p:cNvPicPr>
            <a:picLocks noChangeAspect="1"/>
          </p:cNvPicPr>
          <p:nvPr/>
        </p:nvPicPr>
        <p:blipFill>
          <a:blip r:embed="rId1"/>
          <a:stretch>
            <a:fillRect/>
          </a:stretch>
        </p:blipFill>
        <p:spPr>
          <a:xfrm>
            <a:off x="6379312" y="2217075"/>
            <a:ext cx="2480996" cy="3018211"/>
          </a:xfrm>
          <a:prstGeom prst="rect">
            <a:avLst/>
          </a:prstGeom>
        </p:spPr>
      </p:pic>
      <p:sp>
        <p:nvSpPr>
          <p:cNvPr id="7" name="Shape 4"/>
          <p:cNvSpPr/>
          <p:nvPr/>
        </p:nvSpPr>
        <p:spPr>
          <a:xfrm>
            <a:off x="9052331" y="1463040"/>
            <a:ext cx="2590724" cy="4526280"/>
          </a:xfrm>
          <a:prstGeom prst="rect">
            <a:avLst/>
          </a:prstGeom>
          <a:solidFill>
            <a:srgbClr val="F2F2F2"/>
          </a:solidFill>
          <a:ln w="12700">
            <a:solidFill>
              <a:srgbClr val="F2F2F2"/>
            </a:solidFill>
            <a:prstDash val="solid"/>
          </a:ln>
        </p:spPr>
      </p:sp>
      <p:pic>
        <p:nvPicPr>
          <p:cNvPr id="8" name="Final claw" descr="Final claw">    </p:cNvPr>
          <p:cNvPicPr>
            <a:picLocks noChangeAspect="1"/>
          </p:cNvPicPr>
          <p:nvPr/>
        </p:nvPicPr>
        <p:blipFill>
          <a:blip r:embed="rId2"/>
          <a:stretch>
            <a:fillRect/>
          </a:stretch>
        </p:blipFill>
        <p:spPr>
          <a:xfrm>
            <a:off x="9700973" y="1517904"/>
            <a:ext cx="1293441" cy="4416552"/>
          </a:xfrm>
          <a:prstGeom prst="rect">
            <a:avLst/>
          </a:prstGeom>
        </p:spPr>
      </p:pic>
      <p:sp>
        <p:nvSpPr>
          <p:cNvPr id="9" name="caption"/>
          <p:cNvSpPr txBox="1"/>
          <p:nvPr/>
        </p:nvSpPr>
        <p:spPr>
          <a:xfrm>
            <a:off x="6324448" y="606247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(CAD): wall station, left; claw, right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Scope and Timeline</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gantt header"/>
          <p:cNvSpPr/>
          <p:nvPr/>
        </p:nvSpPr>
        <p:spPr>
          <a:xfrm>
            <a:off x="548640" y="1417320"/>
            <a:ext cx="11094415" cy="347472"/>
          </a:xfrm>
          <a:prstGeom prst="rect">
            <a:avLst/>
          </a:prstGeom>
          <a:solidFill>
            <a:srgbClr val="1F3A5F"/>
          </a:solidFill>
          <a:ln w="12700">
            <a:solidFill>
              <a:srgbClr val="1F3A5F"/>
            </a:solidFill>
            <a:prstDash val="solid"/>
          </a:ln>
        </p:spPr>
      </p:sp>
      <p:sp>
        <p:nvSpPr>
          <p:cNvPr id="5" name="label"/>
          <p:cNvSpPr txBox="1"/>
          <p:nvPr/>
        </p:nvSpPr>
        <p:spPr>
          <a:xfrm>
            <a:off x="640080" y="1417320"/>
            <a:ext cx="3200400" cy="347472"/>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6" name="label"/>
          <p:cNvSpPr txBox="1"/>
          <p:nvPr/>
        </p:nvSpPr>
        <p:spPr>
          <a:xfrm>
            <a:off x="4023360" y="1417320"/>
            <a:ext cx="1417320" cy="347472"/>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2148840"/>
            <a:ext cx="11094415" cy="384048"/>
          </a:xfrm>
          <a:prstGeom prst="rect">
            <a:avLst/>
          </a:prstGeom>
          <a:solidFill>
            <a:srgbClr val="F2F2F2"/>
          </a:solidFill>
          <a:ln w="12700">
            <a:solidFill>
              <a:srgbClr val="F2F2F2"/>
            </a:solidFill>
            <a:prstDash val="solid"/>
          </a:ln>
        </p:spPr>
      </p:sp>
      <p:sp>
        <p:nvSpPr>
          <p:cNvPr id="8" name="Shape 6"/>
          <p:cNvSpPr/>
          <p:nvPr/>
        </p:nvSpPr>
        <p:spPr>
          <a:xfrm>
            <a:off x="548640" y="2916936"/>
            <a:ext cx="11094415" cy="384048"/>
          </a:xfrm>
          <a:prstGeom prst="rect">
            <a:avLst/>
          </a:prstGeom>
          <a:solidFill>
            <a:srgbClr val="F2F2F2"/>
          </a:solidFill>
          <a:ln w="12700">
            <a:solidFill>
              <a:srgbClr val="F2F2F2"/>
            </a:solidFill>
            <a:prstDash val="solid"/>
          </a:ln>
        </p:spPr>
      </p:sp>
      <p:sp>
        <p:nvSpPr>
          <p:cNvPr id="9" name="label"/>
          <p:cNvSpPr txBox="1"/>
          <p:nvPr/>
        </p:nvSpPr>
        <p:spPr>
          <a:xfrm>
            <a:off x="5532120" y="1417320"/>
            <a:ext cx="1540154"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7072274" y="1417320"/>
            <a:ext cx="1540154"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7072274" y="1764792"/>
            <a:ext cx="0" cy="1920240"/>
          </a:xfrm>
          <a:prstGeom prst="line">
            <a:avLst/>
          </a:prstGeom>
          <a:noFill/>
          <a:ln w="9525">
            <a:solidFill>
              <a:srgbClr val="BFBFBF"/>
            </a:solidFill>
            <a:prstDash val="solid"/>
          </a:ln>
        </p:spPr>
      </p:sp>
      <p:sp>
        <p:nvSpPr>
          <p:cNvPr id="12" name="label"/>
          <p:cNvSpPr txBox="1"/>
          <p:nvPr/>
        </p:nvSpPr>
        <p:spPr>
          <a:xfrm>
            <a:off x="8612429" y="1417320"/>
            <a:ext cx="1490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612429" y="1764792"/>
            <a:ext cx="0" cy="1920240"/>
          </a:xfrm>
          <a:prstGeom prst="line">
            <a:avLst/>
          </a:prstGeom>
          <a:noFill/>
          <a:ln w="9525">
            <a:solidFill>
              <a:srgbClr val="BFBFBF"/>
            </a:solidFill>
            <a:prstDash val="solid"/>
          </a:ln>
        </p:spPr>
      </p:sp>
      <p:sp>
        <p:nvSpPr>
          <p:cNvPr id="14" name="label"/>
          <p:cNvSpPr txBox="1"/>
          <p:nvPr/>
        </p:nvSpPr>
        <p:spPr>
          <a:xfrm>
            <a:off x="10102901" y="1417320"/>
            <a:ext cx="1540154"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10102901" y="1764792"/>
            <a:ext cx="0" cy="1920240"/>
          </a:xfrm>
          <a:prstGeom prst="line">
            <a:avLst/>
          </a:prstGeom>
          <a:noFill/>
          <a:ln w="9525">
            <a:solidFill>
              <a:srgbClr val="BFBFBF"/>
            </a:solidFill>
            <a:prstDash val="solid"/>
          </a:ln>
        </p:spPr>
      </p:sp>
      <p:sp>
        <p:nvSpPr>
          <p:cNvPr id="16" name="label"/>
          <p:cNvSpPr txBox="1"/>
          <p:nvPr/>
        </p:nvSpPr>
        <p:spPr>
          <a:xfrm>
            <a:off x="640080" y="1764792"/>
            <a:ext cx="3200400" cy="384048"/>
          </a:xfrm>
          <a:prstGeom prst="rect">
            <a:avLst/>
          </a:prstGeom>
          <a:noFill/>
          <a:ln/>
        </p:spPr>
        <p:txBody>
          <a:bodyPr wrap="square" lIns="0" tIns="0" rIns="0" bIns="0" rtlCol="0" anchor="ctr"/>
          <a:lstStyle/>
          <a:p>
            <a:pPr algn="l" indent="0" marL="0">
              <a:buNone/>
            </a:pPr>
            <a:r>
              <a:rPr lang="en-US" sz="1300" dirty="0">
                <a:solidFill>
                  <a:srgbClr val="000000"/>
                </a:solidFill>
                <a:latin typeface="Arial" pitchFamily="34" charset="0"/>
                <a:ea typeface="Arial" pitchFamily="34" charset="-122"/>
                <a:cs typeface="Arial" pitchFamily="34" charset="-120"/>
              </a:rPr>
              <a:t>Concept and requirements</a:t>
            </a:r>
            <a:endParaRPr lang="en-US" sz="1300" dirty="0"/>
          </a:p>
        </p:txBody>
      </p:sp>
      <p:sp>
        <p:nvSpPr>
          <p:cNvPr id="17" name="label"/>
          <p:cNvSpPr txBox="1"/>
          <p:nvPr/>
        </p:nvSpPr>
        <p:spPr>
          <a:xfrm>
            <a:off x="4023360" y="1764792"/>
            <a:ext cx="1417320" cy="384048"/>
          </a:xfrm>
          <a:prstGeom prst="rect">
            <a:avLst/>
          </a:prstGeom>
          <a:noFill/>
          <a:ln/>
        </p:spPr>
        <p:txBody>
          <a:bodyPr wrap="square" lIns="0" tIns="0" rIns="0" bIns="0" rtlCol="0" anchor="ctr"/>
          <a:lstStyle/>
          <a:p>
            <a:pPr algn="l" indent="0" marL="0">
              <a:buNone/>
            </a:pPr>
            <a:r>
              <a:rPr lang="en-US" sz="1300" dirty="0">
                <a:solidFill>
                  <a:srgbClr val="404040"/>
                </a:solidFill>
                <a:latin typeface="Arial" pitchFamily="34" charset="0"/>
                <a:ea typeface="Arial" pitchFamily="34" charset="-122"/>
                <a:cs typeface="Arial" pitchFamily="34" charset="-120"/>
              </a:rPr>
              <a:t>Jul 16 – Aug 5</a:t>
            </a:r>
            <a:endParaRPr lang="en-US" sz="1300" dirty="0"/>
          </a:p>
        </p:txBody>
      </p:sp>
      <p:sp>
        <p:nvSpPr>
          <p:cNvPr id="18" name="Concept and requirements bar"/>
          <p:cNvSpPr/>
          <p:nvPr/>
        </p:nvSpPr>
        <p:spPr>
          <a:xfrm>
            <a:off x="6277356" y="1856232"/>
            <a:ext cx="1043330" cy="201168"/>
          </a:xfrm>
          <a:prstGeom prst="rect">
            <a:avLst/>
          </a:prstGeom>
          <a:solidFill>
            <a:srgbClr val="4F6D8F"/>
          </a:solidFill>
          <a:ln w="12700">
            <a:solidFill>
              <a:srgbClr val="4F6D8F"/>
            </a:solidFill>
            <a:prstDash val="solid"/>
          </a:ln>
        </p:spPr>
      </p:sp>
      <p:sp>
        <p:nvSpPr>
          <p:cNvPr id="19" name="label"/>
          <p:cNvSpPr txBox="1"/>
          <p:nvPr/>
        </p:nvSpPr>
        <p:spPr>
          <a:xfrm>
            <a:off x="640080" y="2148840"/>
            <a:ext cx="3200400" cy="384048"/>
          </a:xfrm>
          <a:prstGeom prst="rect">
            <a:avLst/>
          </a:prstGeom>
          <a:noFill/>
          <a:ln/>
        </p:spPr>
        <p:txBody>
          <a:bodyPr wrap="square" lIns="0" tIns="0" rIns="0" bIns="0" rtlCol="0" anchor="ctr"/>
          <a:lstStyle/>
          <a:p>
            <a:pPr algn="l" indent="0" marL="0">
              <a:buNone/>
            </a:pPr>
            <a:r>
              <a:rPr lang="en-US" sz="1300" dirty="0">
                <a:solidFill>
                  <a:srgbClr val="000000"/>
                </a:solidFill>
                <a:latin typeface="Arial" pitchFamily="34" charset="0"/>
                <a:ea typeface="Arial" pitchFamily="34" charset="-122"/>
                <a:cs typeface="Arial" pitchFamily="34" charset="-120"/>
              </a:rPr>
              <a:t>Generation 1: build and bench test</a:t>
            </a:r>
            <a:endParaRPr lang="en-US" sz="1300" dirty="0"/>
          </a:p>
        </p:txBody>
      </p:sp>
      <p:sp>
        <p:nvSpPr>
          <p:cNvPr id="20" name="label"/>
          <p:cNvSpPr txBox="1"/>
          <p:nvPr/>
        </p:nvSpPr>
        <p:spPr>
          <a:xfrm>
            <a:off x="4023360" y="2148840"/>
            <a:ext cx="1417320" cy="384048"/>
          </a:xfrm>
          <a:prstGeom prst="rect">
            <a:avLst/>
          </a:prstGeom>
          <a:noFill/>
          <a:ln/>
        </p:spPr>
        <p:txBody>
          <a:bodyPr wrap="square" lIns="0" tIns="0" rIns="0" bIns="0" rtlCol="0" anchor="ctr"/>
          <a:lstStyle/>
          <a:p>
            <a:pPr algn="l" indent="0" marL="0">
              <a:buNone/>
            </a:pPr>
            <a:r>
              <a:rPr lang="en-US" sz="1300" dirty="0">
                <a:solidFill>
                  <a:srgbClr val="404040"/>
                </a:solidFill>
                <a:latin typeface="Arial" pitchFamily="34" charset="0"/>
                <a:ea typeface="Arial" pitchFamily="34" charset="-122"/>
                <a:cs typeface="Arial" pitchFamily="34" charset="-120"/>
              </a:rPr>
              <a:t>Aug 6 – Sep 2</a:t>
            </a:r>
            <a:endParaRPr lang="en-US" sz="1300" dirty="0"/>
          </a:p>
        </p:txBody>
      </p:sp>
      <p:sp>
        <p:nvSpPr>
          <p:cNvPr id="21" name="Generation 1: build and bench test bar"/>
          <p:cNvSpPr/>
          <p:nvPr/>
        </p:nvSpPr>
        <p:spPr>
          <a:xfrm>
            <a:off x="7320686" y="2240280"/>
            <a:ext cx="1391107" cy="201168"/>
          </a:xfrm>
          <a:prstGeom prst="rect">
            <a:avLst/>
          </a:prstGeom>
          <a:solidFill>
            <a:srgbClr val="4F6D8F"/>
          </a:solidFill>
          <a:ln w="12700">
            <a:solidFill>
              <a:srgbClr val="4F6D8F"/>
            </a:solidFill>
            <a:prstDash val="solid"/>
          </a:ln>
        </p:spPr>
      </p:sp>
      <p:sp>
        <p:nvSpPr>
          <p:cNvPr id="22" name="label"/>
          <p:cNvSpPr txBox="1"/>
          <p:nvPr/>
        </p:nvSpPr>
        <p:spPr>
          <a:xfrm>
            <a:off x="640080" y="2532888"/>
            <a:ext cx="3200400" cy="384048"/>
          </a:xfrm>
          <a:prstGeom prst="rect">
            <a:avLst/>
          </a:prstGeom>
          <a:noFill/>
          <a:ln/>
        </p:spPr>
        <p:txBody>
          <a:bodyPr wrap="square" lIns="0" tIns="0" rIns="0" bIns="0" rtlCol="0" anchor="ctr"/>
          <a:lstStyle/>
          <a:p>
            <a:pPr algn="l" indent="0" marL="0">
              <a:buNone/>
            </a:pPr>
            <a:r>
              <a:rPr lang="en-US" sz="1300" dirty="0">
                <a:solidFill>
                  <a:srgbClr val="000000"/>
                </a:solidFill>
                <a:latin typeface="Arial" pitchFamily="34" charset="0"/>
                <a:ea typeface="Arial" pitchFamily="34" charset="-122"/>
                <a:cs typeface="Arial" pitchFamily="34" charset="-120"/>
              </a:rPr>
              <a:t>Redesign: sensors and wiring</a:t>
            </a:r>
            <a:endParaRPr lang="en-US" sz="1300" dirty="0"/>
          </a:p>
        </p:txBody>
      </p:sp>
      <p:sp>
        <p:nvSpPr>
          <p:cNvPr id="23" name="label"/>
          <p:cNvSpPr txBox="1"/>
          <p:nvPr/>
        </p:nvSpPr>
        <p:spPr>
          <a:xfrm>
            <a:off x="4023360" y="2532888"/>
            <a:ext cx="1417320" cy="384048"/>
          </a:xfrm>
          <a:prstGeom prst="rect">
            <a:avLst/>
          </a:prstGeom>
          <a:noFill/>
          <a:ln/>
        </p:spPr>
        <p:txBody>
          <a:bodyPr wrap="square" lIns="0" tIns="0" rIns="0" bIns="0" rtlCol="0" anchor="ctr"/>
          <a:lstStyle/>
          <a:p>
            <a:pPr algn="l" indent="0" marL="0">
              <a:buNone/>
            </a:pPr>
            <a:r>
              <a:rPr lang="en-US" sz="1300" dirty="0">
                <a:solidFill>
                  <a:srgbClr val="404040"/>
                </a:solidFill>
                <a:latin typeface="Arial" pitchFamily="34" charset="0"/>
                <a:ea typeface="Arial" pitchFamily="34" charset="-122"/>
                <a:cs typeface="Arial" pitchFamily="34" charset="-120"/>
              </a:rPr>
              <a:t>Sep 3 – Oct 6</a:t>
            </a:r>
            <a:endParaRPr lang="en-US" sz="1300" dirty="0"/>
          </a:p>
        </p:txBody>
      </p:sp>
      <p:sp>
        <p:nvSpPr>
          <p:cNvPr id="24" name="Redesign: sensors and wiring bar"/>
          <p:cNvSpPr/>
          <p:nvPr/>
        </p:nvSpPr>
        <p:spPr>
          <a:xfrm>
            <a:off x="8711794" y="2624328"/>
            <a:ext cx="1689202" cy="201168"/>
          </a:xfrm>
          <a:prstGeom prst="rect">
            <a:avLst/>
          </a:prstGeom>
          <a:solidFill>
            <a:srgbClr val="4F6D8F"/>
          </a:solidFill>
          <a:ln w="12700">
            <a:solidFill>
              <a:srgbClr val="4F6D8F"/>
            </a:solidFill>
            <a:prstDash val="solid"/>
          </a:ln>
        </p:spPr>
      </p:sp>
      <p:sp>
        <p:nvSpPr>
          <p:cNvPr id="25" name="label"/>
          <p:cNvSpPr txBox="1"/>
          <p:nvPr/>
        </p:nvSpPr>
        <p:spPr>
          <a:xfrm>
            <a:off x="640080" y="2916936"/>
            <a:ext cx="3200400" cy="384048"/>
          </a:xfrm>
          <a:prstGeom prst="rect">
            <a:avLst/>
          </a:prstGeom>
          <a:noFill/>
          <a:ln/>
        </p:spPr>
        <p:txBody>
          <a:bodyPr wrap="square" lIns="0" tIns="0" rIns="0" bIns="0" rtlCol="0" anchor="ctr"/>
          <a:lstStyle/>
          <a:p>
            <a:pPr algn="l" indent="0" marL="0">
              <a:buNone/>
            </a:pPr>
            <a:r>
              <a:rPr lang="en-US" sz="1300" dirty="0">
                <a:solidFill>
                  <a:srgbClr val="000000"/>
                </a:solidFill>
                <a:latin typeface="Arial" pitchFamily="34" charset="0"/>
                <a:ea typeface="Arial" pitchFamily="34" charset="-122"/>
                <a:cs typeface="Arial" pitchFamily="34" charset="-120"/>
              </a:rPr>
              <a:t>Generation 2 and final design</a:t>
            </a:r>
            <a:endParaRPr lang="en-US" sz="1300" dirty="0"/>
          </a:p>
        </p:txBody>
      </p:sp>
      <p:sp>
        <p:nvSpPr>
          <p:cNvPr id="26" name="label"/>
          <p:cNvSpPr txBox="1"/>
          <p:nvPr/>
        </p:nvSpPr>
        <p:spPr>
          <a:xfrm>
            <a:off x="4023360" y="2916936"/>
            <a:ext cx="1417320" cy="384048"/>
          </a:xfrm>
          <a:prstGeom prst="rect">
            <a:avLst/>
          </a:prstGeom>
          <a:noFill/>
          <a:ln/>
        </p:spPr>
        <p:txBody>
          <a:bodyPr wrap="square" lIns="0" tIns="0" rIns="0" bIns="0" rtlCol="0" anchor="ctr"/>
          <a:lstStyle/>
          <a:p>
            <a:pPr algn="l" indent="0" marL="0">
              <a:buNone/>
            </a:pPr>
            <a:r>
              <a:rPr lang="en-US" sz="1300" dirty="0">
                <a:solidFill>
                  <a:srgbClr val="404040"/>
                </a:solidFill>
                <a:latin typeface="Arial" pitchFamily="34" charset="0"/>
                <a:ea typeface="Arial" pitchFamily="34" charset="-122"/>
                <a:cs typeface="Arial" pitchFamily="34" charset="-120"/>
              </a:rPr>
              <a:t>Oct 7 – Oct 21</a:t>
            </a:r>
            <a:endParaRPr lang="en-US" sz="1300" dirty="0"/>
          </a:p>
        </p:txBody>
      </p:sp>
      <p:sp>
        <p:nvSpPr>
          <p:cNvPr id="27" name="Generation 2 and final design bar"/>
          <p:cNvSpPr/>
          <p:nvPr/>
        </p:nvSpPr>
        <p:spPr>
          <a:xfrm>
            <a:off x="10400995" y="3008376"/>
            <a:ext cx="745236" cy="201168"/>
          </a:xfrm>
          <a:prstGeom prst="rect">
            <a:avLst/>
          </a:prstGeom>
          <a:solidFill>
            <a:srgbClr val="4F6D8F"/>
          </a:solidFill>
          <a:ln w="12700">
            <a:solidFill>
              <a:srgbClr val="4F6D8F"/>
            </a:solidFill>
            <a:prstDash val="solid"/>
          </a:ln>
        </p:spPr>
      </p:sp>
      <p:sp>
        <p:nvSpPr>
          <p:cNvPr id="28" name="label"/>
          <p:cNvSpPr txBox="1"/>
          <p:nvPr/>
        </p:nvSpPr>
        <p:spPr>
          <a:xfrm>
            <a:off x="640080" y="3300984"/>
            <a:ext cx="3200400" cy="384048"/>
          </a:xfrm>
          <a:prstGeom prst="rect">
            <a:avLst/>
          </a:prstGeom>
          <a:noFill/>
          <a:ln/>
        </p:spPr>
        <p:txBody>
          <a:bodyPr wrap="square" lIns="0" tIns="0" rIns="0" bIns="0" rtlCol="0" anchor="ctr"/>
          <a:lstStyle/>
          <a:p>
            <a:pPr algn="l" indent="0" marL="0">
              <a:buNone/>
            </a:pPr>
            <a:r>
              <a:rPr lang="en-US" sz="1300" dirty="0">
                <a:solidFill>
                  <a:srgbClr val="000000"/>
                </a:solidFill>
                <a:latin typeface="Arial" pitchFamily="34" charset="0"/>
                <a:ea typeface="Arial" pitchFamily="34" charset="-122"/>
                <a:cs typeface="Arial" pitchFamily="34" charset="-120"/>
              </a:rPr>
              <a:t>Build and first system test</a:t>
            </a:r>
            <a:endParaRPr lang="en-US" sz="1300" dirty="0"/>
          </a:p>
        </p:txBody>
      </p:sp>
      <p:sp>
        <p:nvSpPr>
          <p:cNvPr id="29" name="label"/>
          <p:cNvSpPr txBox="1"/>
          <p:nvPr/>
        </p:nvSpPr>
        <p:spPr>
          <a:xfrm>
            <a:off x="4023360" y="3300984"/>
            <a:ext cx="1417320" cy="384048"/>
          </a:xfrm>
          <a:prstGeom prst="rect">
            <a:avLst/>
          </a:prstGeom>
          <a:noFill/>
          <a:ln/>
        </p:spPr>
        <p:txBody>
          <a:bodyPr wrap="square" lIns="0" tIns="0" rIns="0" bIns="0" rtlCol="0" anchor="ctr"/>
          <a:lstStyle/>
          <a:p>
            <a:pPr algn="l" indent="0" marL="0">
              <a:buNone/>
            </a:pPr>
            <a:r>
              <a:rPr lang="en-US" sz="1300" dirty="0">
                <a:solidFill>
                  <a:srgbClr val="404040"/>
                </a:solidFill>
                <a:latin typeface="Arial" pitchFamily="34" charset="0"/>
                <a:ea typeface="Arial" pitchFamily="34" charset="-122"/>
                <a:cs typeface="Arial" pitchFamily="34" charset="-120"/>
              </a:rPr>
              <a:t>Oct 22 – Oct 27</a:t>
            </a:r>
            <a:endParaRPr lang="en-US" sz="1300" dirty="0"/>
          </a:p>
        </p:txBody>
      </p:sp>
      <p:sp>
        <p:nvSpPr>
          <p:cNvPr id="30" name="Build and first system test bar"/>
          <p:cNvSpPr/>
          <p:nvPr/>
        </p:nvSpPr>
        <p:spPr>
          <a:xfrm>
            <a:off x="11146231" y="3392424"/>
            <a:ext cx="298094" cy="201168"/>
          </a:xfrm>
          <a:prstGeom prst="rect">
            <a:avLst/>
          </a:prstGeom>
          <a:solidFill>
            <a:srgbClr val="4F6D8F"/>
          </a:solidFill>
          <a:ln w="12700">
            <a:solidFill>
              <a:srgbClr val="4F6D8F"/>
            </a:solidFill>
            <a:prstDash val="solid"/>
          </a:ln>
        </p:spPr>
      </p:sp>
      <p:sp>
        <p:nvSpPr>
          <p:cNvPr id="31" name="Shape 29"/>
          <p:cNvSpPr/>
          <p:nvPr/>
        </p:nvSpPr>
        <p:spPr>
          <a:xfrm>
            <a:off x="548640" y="3685032"/>
            <a:ext cx="11094415" cy="0"/>
          </a:xfrm>
          <a:prstGeom prst="line">
            <a:avLst/>
          </a:prstGeom>
          <a:noFill/>
          <a:ln w="9525">
            <a:solidFill>
              <a:srgbClr val="BFBFBF"/>
            </a:solidFill>
            <a:prstDash val="solid"/>
          </a:ln>
        </p:spPr>
      </p:sp>
      <p:sp>
        <p:nvSpPr>
          <p:cNvPr id="32" name="My work (solo project) heading"/>
          <p:cNvSpPr txBox="1"/>
          <p:nvPr/>
        </p:nvSpPr>
        <p:spPr>
          <a:xfrm>
            <a:off x="548640" y="4005072"/>
            <a:ext cx="6309360" cy="347472"/>
          </a:xfrm>
          <a:prstGeom prst="rect">
            <a:avLst/>
          </a:prstGeom>
          <a:noFill/>
          <a:ln/>
        </p:spPr>
        <p:txBody>
          <a:bodyPr wrap="square" lIns="0" tIns="0" rIns="0" bIns="0" rtlCol="0" anchor="ctr"/>
          <a:lstStyle/>
          <a:p>
            <a:pPr algn="l" indent="0" marL="0">
              <a:buNone/>
            </a:pPr>
            <a:r>
              <a:rPr lang="en-US" sz="1700" b="1" dirty="0">
                <a:solidFill>
                  <a:srgbClr val="1F3A5F"/>
                </a:solidFill>
                <a:latin typeface="Arial" pitchFamily="34" charset="0"/>
                <a:ea typeface="Arial" pitchFamily="34" charset="-122"/>
                <a:cs typeface="Arial" pitchFamily="34" charset="-120"/>
              </a:rPr>
              <a:t>My work (solo project)</a:t>
            </a:r>
            <a:endParaRPr lang="en-US" sz="1700" dirty="0"/>
          </a:p>
        </p:txBody>
      </p:sp>
      <p:sp>
        <p:nvSpPr>
          <p:cNvPr id="33" name="Shape 31"/>
          <p:cNvSpPr/>
          <p:nvPr/>
        </p:nvSpPr>
        <p:spPr>
          <a:xfrm>
            <a:off x="548640" y="4389120"/>
            <a:ext cx="6309360" cy="0"/>
          </a:xfrm>
          <a:prstGeom prst="line">
            <a:avLst/>
          </a:prstGeom>
          <a:noFill/>
          <a:ln w="12700">
            <a:solidFill>
              <a:srgbClr val="1F3A5F"/>
            </a:solidFill>
            <a:prstDash val="solid"/>
          </a:ln>
        </p:spPr>
      </p:sp>
      <p:sp>
        <p:nvSpPr>
          <p:cNvPr id="34" name="my work"/>
          <p:cNvSpPr txBox="1"/>
          <p:nvPr/>
        </p:nvSpPr>
        <p:spPr>
          <a:xfrm>
            <a:off x="548640" y="4507992"/>
            <a:ext cx="6309360" cy="1755648"/>
          </a:xfrm>
          <a:prstGeom prst="rect">
            <a:avLst/>
          </a:prstGeom>
          <a:noFill/>
          <a:ln/>
        </p:spPr>
        <p:txBody>
          <a:bodyPr wrap="square" lIns="25400" tIns="0" rIns="50800" bIns="25400" rtlCol="0" anchor="t"/>
          <a:lstStyle/>
          <a:p>
            <a:pPr algn="l" marL="254000" indent="-254000">
              <a:spcAft>
                <a:spcPts val="400"/>
              </a:spcAft>
              <a:buSzPct val="100000"/>
              <a:buChar char="•"/>
            </a:pPr>
            <a:r>
              <a:rPr lang="en-US" sz="1600" dirty="0">
                <a:solidFill>
                  <a:srgbClr val="000000"/>
                </a:solidFill>
                <a:latin typeface="Arial" pitchFamily="34" charset="0"/>
                <a:ea typeface="Arial" pitchFamily="34" charset="-122"/>
                <a:cs typeface="Arial" pitchFamily="34" charset="-120"/>
              </a:rPr>
              <a:t>Requirements, calculations and test plans</a:t>
            </a:r>
            <a:endParaRPr lang="en-US" sz="1600" dirty="0"/>
          </a:p>
          <a:p>
            <a:pPr algn="l" marL="254000" indent="-254000">
              <a:spcAft>
                <a:spcPts val="400"/>
              </a:spcAft>
              <a:buSzPct val="100000"/>
              <a:buChar char="•"/>
            </a:pPr>
            <a:r>
              <a:rPr lang="en-US" sz="1600" dirty="0">
                <a:solidFill>
                  <a:srgbClr val="000000"/>
                </a:solidFill>
                <a:latin typeface="Arial" pitchFamily="34" charset="0"/>
                <a:ea typeface="Arial" pitchFamily="34" charset="-122"/>
                <a:cs typeface="Arial" pitchFamily="34" charset="-120"/>
              </a:rPr>
              <a:t>All CAD (computer-aided design) in SolidWorks</a:t>
            </a:r>
            <a:endParaRPr lang="en-US" sz="1600" dirty="0"/>
          </a:p>
          <a:p>
            <a:pPr algn="l" marL="254000" indent="-254000">
              <a:spcAft>
                <a:spcPts val="400"/>
              </a:spcAft>
              <a:buSzPct val="100000"/>
              <a:buChar char="•"/>
            </a:pPr>
            <a:r>
              <a:rPr lang="en-US" sz="1600" dirty="0">
                <a:solidFill>
                  <a:srgbClr val="000000"/>
                </a:solidFill>
                <a:latin typeface="Arial" pitchFamily="34" charset="0"/>
                <a:ea typeface="Arial" pitchFamily="34" charset="-122"/>
                <a:cs typeface="Arial" pitchFamily="34" charset="-120"/>
              </a:rPr>
              <a:t>3D printing, fit testing and machining the heat fin</a:t>
            </a:r>
            <a:endParaRPr lang="en-US" sz="1600" dirty="0"/>
          </a:p>
          <a:p>
            <a:pPr algn="l" marL="254000" indent="-254000">
              <a:spcAft>
                <a:spcPts val="400"/>
              </a:spcAft>
              <a:buSzPct val="100000"/>
              <a:buChar char="•"/>
            </a:pPr>
            <a:r>
              <a:rPr lang="en-US" sz="1600" dirty="0">
                <a:solidFill>
                  <a:srgbClr val="000000"/>
                </a:solidFill>
                <a:latin typeface="Arial" pitchFamily="34" charset="0"/>
                <a:ea typeface="Arial" pitchFamily="34" charset="-122"/>
                <a:cs typeface="Arial" pitchFamily="34" charset="-120"/>
              </a:rPr>
              <a:t>Wiring, soldering and electronics bring-up</a:t>
            </a:r>
            <a:endParaRPr lang="en-US" sz="1600" dirty="0"/>
          </a:p>
          <a:p>
            <a:pPr algn="l" marL="254000" indent="-254000">
              <a:spcAft>
                <a:spcPts val="400"/>
              </a:spcAft>
              <a:buSzPct val="100000"/>
              <a:buChar char="•"/>
            </a:pPr>
            <a:r>
              <a:rPr lang="en-US" sz="1600" dirty="0">
                <a:solidFill>
                  <a:srgbClr val="000000"/>
                </a:solidFill>
                <a:latin typeface="Arial" pitchFamily="34" charset="0"/>
                <a:ea typeface="Arial" pitchFamily="34" charset="-122"/>
                <a:cs typeface="Arial" pitchFamily="34" charset="-120"/>
              </a:rPr>
              <a:t>Control software: </a:t>
            </a:r>
            <a:pPr algn="l" marL="254000" indent="-254000">
              <a:spcAft>
                <a:spcPts val="400"/>
              </a:spcAft>
              <a:buSzPct val="100000"/>
              <a:buChar char="•"/>
            </a:pPr>
            <a:r>
              <a:rPr lang="en-US" sz="1600" i="1" dirty="0">
                <a:solidFill>
                  <a:srgbClr val="B23A2E"/>
                </a:solidFill>
                <a:latin typeface="Arial" pitchFamily="34" charset="0"/>
                <a:ea typeface="Arial" pitchFamily="34" charset="-122"/>
                <a:cs typeface="Arial" pitchFamily="34" charset="-120"/>
              </a:rPr>
              <a:t>[confirm the parts you wrote]</a:t>
            </a:r>
            <a:endParaRPr lang="en-US" sz="1600" dirty="0"/>
          </a:p>
        </p:txBody>
      </p:sp>
      <p:sp>
        <p:nvSpPr>
          <p:cNvPr id="35" name="Purchased or external heading"/>
          <p:cNvSpPr txBox="1"/>
          <p:nvPr/>
        </p:nvSpPr>
        <p:spPr>
          <a:xfrm>
            <a:off x="7223760" y="4005072"/>
            <a:ext cx="4419295" cy="347472"/>
          </a:xfrm>
          <a:prstGeom prst="rect">
            <a:avLst/>
          </a:prstGeom>
          <a:noFill/>
          <a:ln/>
        </p:spPr>
        <p:txBody>
          <a:bodyPr wrap="square" lIns="0" tIns="0" rIns="0" bIns="0" rtlCol="0" anchor="ctr"/>
          <a:lstStyle/>
          <a:p>
            <a:pPr algn="l" indent="0" marL="0">
              <a:buNone/>
            </a:pPr>
            <a:r>
              <a:rPr lang="en-US" sz="1700" b="1" dirty="0">
                <a:solidFill>
                  <a:srgbClr val="1F3A5F"/>
                </a:solidFill>
                <a:latin typeface="Arial" pitchFamily="34" charset="0"/>
                <a:ea typeface="Arial" pitchFamily="34" charset="-122"/>
                <a:cs typeface="Arial" pitchFamily="34" charset="-120"/>
              </a:rPr>
              <a:t>Purchased or external</a:t>
            </a:r>
            <a:endParaRPr lang="en-US" sz="1700" dirty="0"/>
          </a:p>
        </p:txBody>
      </p:sp>
      <p:sp>
        <p:nvSpPr>
          <p:cNvPr id="36" name="Shape 34"/>
          <p:cNvSpPr/>
          <p:nvPr/>
        </p:nvSpPr>
        <p:spPr>
          <a:xfrm>
            <a:off x="7223760" y="4389120"/>
            <a:ext cx="4419295" cy="0"/>
          </a:xfrm>
          <a:prstGeom prst="line">
            <a:avLst/>
          </a:prstGeom>
          <a:noFill/>
          <a:ln w="12700">
            <a:solidFill>
              <a:srgbClr val="1F3A5F"/>
            </a:solidFill>
            <a:prstDash val="solid"/>
          </a:ln>
        </p:spPr>
      </p:sp>
      <p:sp>
        <p:nvSpPr>
          <p:cNvPr id="37" name="bought"/>
          <p:cNvSpPr txBox="1"/>
          <p:nvPr/>
        </p:nvSpPr>
        <p:spPr>
          <a:xfrm>
            <a:off x="7223760" y="4507992"/>
            <a:ext cx="4419295" cy="1755648"/>
          </a:xfrm>
          <a:prstGeom prst="rect">
            <a:avLst/>
          </a:prstGeom>
          <a:noFill/>
          <a:ln/>
        </p:spPr>
        <p:txBody>
          <a:bodyPr wrap="square" lIns="25400" tIns="0" rIns="50800" bIns="25400" rtlCol="0" anchor="t"/>
          <a:lstStyle/>
          <a:p>
            <a:pPr algn="l" marL="254000" indent="-254000">
              <a:spcAft>
                <a:spcPts val="400"/>
              </a:spcAft>
              <a:buSzPct val="100000"/>
              <a:buChar char="•"/>
            </a:pPr>
            <a:r>
              <a:rPr lang="en-US" sz="1600" dirty="0">
                <a:solidFill>
                  <a:srgbClr val="000000"/>
                </a:solidFill>
                <a:latin typeface="Arial" pitchFamily="34" charset="0"/>
                <a:ea typeface="Arial" pitchFamily="34" charset="-122"/>
                <a:cs typeface="Arial" pitchFamily="34" charset="-120"/>
              </a:rPr>
              <a:t>Stepper motors, drivers and controller boards</a:t>
            </a:r>
            <a:endParaRPr lang="en-US" sz="1600" dirty="0"/>
          </a:p>
          <a:p>
            <a:pPr algn="l" marL="254000" indent="-254000">
              <a:spcAft>
                <a:spcPts val="400"/>
              </a:spcAft>
              <a:buSzPct val="100000"/>
              <a:buChar char="•"/>
            </a:pPr>
            <a:r>
              <a:rPr lang="en-US" sz="1600" dirty="0">
                <a:solidFill>
                  <a:srgbClr val="000000"/>
                </a:solidFill>
                <a:latin typeface="Arial" pitchFamily="34" charset="0"/>
                <a:ea typeface="Arial" pitchFamily="34" charset="-122"/>
                <a:cs typeface="Arial" pitchFamily="34" charset="-120"/>
              </a:rPr>
              <a:t>Servo, camera, battery and encoder boards</a:t>
            </a:r>
            <a:endParaRPr lang="en-US" sz="1600" dirty="0"/>
          </a:p>
          <a:p>
            <a:pPr algn="l" marL="254000" indent="-254000">
              <a:spcAft>
                <a:spcPts val="400"/>
              </a:spcAft>
              <a:buSzPct val="100000"/>
              <a:buChar char="•"/>
            </a:pPr>
            <a:r>
              <a:rPr lang="en-US" sz="1600" dirty="0">
                <a:solidFill>
                  <a:srgbClr val="000000"/>
                </a:solidFill>
                <a:latin typeface="Arial" pitchFamily="34" charset="0"/>
                <a:ea typeface="Arial" pitchFamily="34" charset="-122"/>
                <a:cs typeface="Arial" pitchFamily="34" charset="-120"/>
              </a:rPr>
              <a:t>Garment detection: YOLO-World, an open-source model</a:t>
            </a:r>
            <a:endParaRPr lang="en-US" sz="1600" dirty="0"/>
          </a:p>
          <a:p>
            <a:pPr algn="l" marL="254000" indent="-254000">
              <a:spcAft>
                <a:spcPts val="400"/>
              </a:spcAft>
              <a:buSzPct val="100000"/>
              <a:buChar char="•"/>
            </a:pPr>
            <a:r>
              <a:rPr lang="en-US" sz="1600" dirty="0">
                <a:solidFill>
                  <a:srgbClr val="000000"/>
                </a:solidFill>
                <a:latin typeface="Arial" pitchFamily="34" charset="0"/>
                <a:ea typeface="Arial" pitchFamily="34" charset="-122"/>
                <a:cs typeface="Arial" pitchFamily="34" charset="-120"/>
              </a:rPr>
              <a:t>Shop access or mentors: </a:t>
            </a:r>
            <a:pPr algn="l" marL="254000" indent="-254000">
              <a:spcAft>
                <a:spcPts val="400"/>
              </a:spcAft>
              <a:buSzPct val="100000"/>
              <a:buChar char="•"/>
            </a:pPr>
            <a:r>
              <a:rPr lang="en-US" sz="1600" i="1" dirty="0">
                <a:solidFill>
                  <a:srgbClr val="B23A2E"/>
                </a:solidFill>
                <a:latin typeface="Arial" pitchFamily="34" charset="0"/>
                <a:ea typeface="Arial" pitchFamily="34" charset="-122"/>
                <a:cs typeface="Arial" pitchFamily="34" charset="-120"/>
              </a:rPr>
              <a:t>[if any]</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How It Works</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4476774"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Four wall stations, each with its own winch, encoder and controller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claw with a gripper, camera and battery, hung on four cables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Laptop plans each move and checks every cable tension before it runs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Phone app starts, pauses and approves each move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Software simulated end to end; hardware test this week</a:t>
            </a:r>
            <a:endParaRPr lang="en-US" sz="2000" dirty="0"/>
          </a:p>
        </p:txBody>
      </p:sp>
      <p:sp>
        <p:nvSpPr>
          <p:cNvPr id="5" name="layer 1"/>
          <p:cNvSpPr/>
          <p:nvPr/>
        </p:nvSpPr>
        <p:spPr>
          <a:xfrm>
            <a:off x="5436894" y="1463040"/>
            <a:ext cx="4194481" cy="716890"/>
          </a:xfrm>
          <a:prstGeom prst="rect">
            <a:avLst/>
          </a:prstGeom>
          <a:solidFill>
            <a:srgbClr val="FFFFFF"/>
          </a:solidFill>
          <a:ln w="15875">
            <a:solidFill>
              <a:srgbClr val="1F3A5F"/>
            </a:solidFill>
            <a:prstDash val="solid"/>
          </a:ln>
        </p:spPr>
      </p:sp>
      <p:sp>
        <p:nvSpPr>
          <p:cNvPr id="6" name="Text 4"/>
          <p:cNvSpPr txBox="1"/>
          <p:nvPr/>
        </p:nvSpPr>
        <p:spPr>
          <a:xfrm>
            <a:off x="5574054" y="1463040"/>
            <a:ext cx="3920161"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Phone app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Start, pause, and approval before every move</a:t>
            </a:r>
            <a:endParaRPr lang="en-US" sz="1400" dirty="0"/>
          </a:p>
        </p:txBody>
      </p:sp>
      <p:sp>
        <p:nvSpPr>
          <p:cNvPr id="7" name="Shape 5"/>
          <p:cNvSpPr/>
          <p:nvPr/>
        </p:nvSpPr>
        <p:spPr>
          <a:xfrm>
            <a:off x="7534135" y="2198218"/>
            <a:ext cx="0" cy="164592"/>
          </a:xfrm>
          <a:prstGeom prst="line">
            <a:avLst/>
          </a:prstGeom>
          <a:noFill/>
          <a:ln w="19050">
            <a:solidFill>
              <a:srgbClr val="7F7F7F"/>
            </a:solidFill>
            <a:prstDash val="solid"/>
            <a:tailEnd type="triangle"/>
          </a:ln>
        </p:spPr>
      </p:sp>
      <p:sp>
        <p:nvSpPr>
          <p:cNvPr id="8" name="layer 2"/>
          <p:cNvSpPr/>
          <p:nvPr/>
        </p:nvSpPr>
        <p:spPr>
          <a:xfrm>
            <a:off x="5436894" y="2381098"/>
            <a:ext cx="4194481" cy="716890"/>
          </a:xfrm>
          <a:prstGeom prst="rect">
            <a:avLst/>
          </a:prstGeom>
          <a:solidFill>
            <a:srgbClr val="FFFFFF"/>
          </a:solidFill>
          <a:ln w="15875">
            <a:solidFill>
              <a:srgbClr val="1F3A5F"/>
            </a:solidFill>
            <a:prstDash val="solid"/>
          </a:ln>
        </p:spPr>
      </p:sp>
      <p:sp>
        <p:nvSpPr>
          <p:cNvPr id="9" name="Text 7"/>
          <p:cNvSpPr txBox="1"/>
          <p:nvPr/>
        </p:nvSpPr>
        <p:spPr>
          <a:xfrm>
            <a:off x="5574054" y="2381098"/>
            <a:ext cx="3920161"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Supervisor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Holds one robot state; rejects commands that do not fit it</a:t>
            </a:r>
            <a:endParaRPr lang="en-US" sz="1400" dirty="0"/>
          </a:p>
        </p:txBody>
      </p:sp>
      <p:sp>
        <p:nvSpPr>
          <p:cNvPr id="10" name="Shape 8"/>
          <p:cNvSpPr/>
          <p:nvPr/>
        </p:nvSpPr>
        <p:spPr>
          <a:xfrm>
            <a:off x="7534135" y="3116275"/>
            <a:ext cx="0" cy="164592"/>
          </a:xfrm>
          <a:prstGeom prst="line">
            <a:avLst/>
          </a:prstGeom>
          <a:noFill/>
          <a:ln w="19050">
            <a:solidFill>
              <a:srgbClr val="7F7F7F"/>
            </a:solidFill>
            <a:prstDash val="solid"/>
            <a:tailEnd type="triangle"/>
          </a:ln>
        </p:spPr>
      </p:sp>
      <p:sp>
        <p:nvSpPr>
          <p:cNvPr id="11" name="layer 3"/>
          <p:cNvSpPr/>
          <p:nvPr/>
        </p:nvSpPr>
        <p:spPr>
          <a:xfrm>
            <a:off x="5436894" y="3299155"/>
            <a:ext cx="4194481" cy="716890"/>
          </a:xfrm>
          <a:prstGeom prst="rect">
            <a:avLst/>
          </a:prstGeom>
          <a:solidFill>
            <a:srgbClr val="FFFFFF"/>
          </a:solidFill>
          <a:ln w="15875">
            <a:solidFill>
              <a:srgbClr val="1F3A5F"/>
            </a:solidFill>
            <a:prstDash val="solid"/>
          </a:ln>
        </p:spPr>
      </p:sp>
      <p:sp>
        <p:nvSpPr>
          <p:cNvPr id="12" name="Text 10"/>
          <p:cNvSpPr txBox="1"/>
          <p:nvPr/>
        </p:nvSpPr>
        <p:spPr>
          <a:xfrm>
            <a:off x="5574054" y="3299155"/>
            <a:ext cx="3920161"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Startup and tasks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Calibrates, then scans, grips, checks and delivers</a:t>
            </a:r>
            <a:endParaRPr lang="en-US" sz="1400" dirty="0"/>
          </a:p>
        </p:txBody>
      </p:sp>
      <p:sp>
        <p:nvSpPr>
          <p:cNvPr id="13" name="Shape 11"/>
          <p:cNvSpPr/>
          <p:nvPr/>
        </p:nvSpPr>
        <p:spPr>
          <a:xfrm>
            <a:off x="7534135" y="4034333"/>
            <a:ext cx="0" cy="164592"/>
          </a:xfrm>
          <a:prstGeom prst="line">
            <a:avLst/>
          </a:prstGeom>
          <a:noFill/>
          <a:ln w="19050">
            <a:solidFill>
              <a:srgbClr val="7F7F7F"/>
            </a:solidFill>
            <a:prstDash val="solid"/>
            <a:tailEnd type="triangle"/>
          </a:ln>
        </p:spPr>
      </p:sp>
      <p:sp>
        <p:nvSpPr>
          <p:cNvPr id="14" name="layer 4"/>
          <p:cNvSpPr/>
          <p:nvPr/>
        </p:nvSpPr>
        <p:spPr>
          <a:xfrm>
            <a:off x="5436894" y="4217213"/>
            <a:ext cx="4194481" cy="716890"/>
          </a:xfrm>
          <a:prstGeom prst="rect">
            <a:avLst/>
          </a:prstGeom>
          <a:solidFill>
            <a:srgbClr val="FFFFFF"/>
          </a:solidFill>
          <a:ln w="15875">
            <a:solidFill>
              <a:srgbClr val="1F3A5F"/>
            </a:solidFill>
            <a:prstDash val="solid"/>
          </a:ln>
        </p:spPr>
      </p:sp>
      <p:sp>
        <p:nvSpPr>
          <p:cNvPr id="15" name="Text 13"/>
          <p:cNvSpPr txBox="1"/>
          <p:nvPr/>
        </p:nvSpPr>
        <p:spPr>
          <a:xfrm>
            <a:off x="5574054" y="4217213"/>
            <a:ext cx="3920161"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Motion planner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Checks every point of a path, then sends timed moves</a:t>
            </a:r>
            <a:endParaRPr lang="en-US" sz="1400" dirty="0"/>
          </a:p>
        </p:txBody>
      </p:sp>
      <p:sp>
        <p:nvSpPr>
          <p:cNvPr id="16" name="Shape 14"/>
          <p:cNvSpPr/>
          <p:nvPr/>
        </p:nvSpPr>
        <p:spPr>
          <a:xfrm>
            <a:off x="7534135" y="4952390"/>
            <a:ext cx="0" cy="164592"/>
          </a:xfrm>
          <a:prstGeom prst="line">
            <a:avLst/>
          </a:prstGeom>
          <a:noFill/>
          <a:ln w="19050">
            <a:solidFill>
              <a:srgbClr val="7F7F7F"/>
            </a:solidFill>
            <a:prstDash val="solid"/>
            <a:tailEnd type="triangle"/>
          </a:ln>
        </p:spPr>
      </p:sp>
      <p:sp>
        <p:nvSpPr>
          <p:cNvPr id="17" name="layer 5"/>
          <p:cNvSpPr/>
          <p:nvPr/>
        </p:nvSpPr>
        <p:spPr>
          <a:xfrm>
            <a:off x="5436894" y="5135270"/>
            <a:ext cx="4194481" cy="716890"/>
          </a:xfrm>
          <a:prstGeom prst="rect">
            <a:avLst/>
          </a:prstGeom>
          <a:solidFill>
            <a:srgbClr val="FFFFFF"/>
          </a:solidFill>
          <a:ln w="15875">
            <a:solidFill>
              <a:srgbClr val="1F3A5F"/>
            </a:solidFill>
            <a:prstDash val="solid"/>
          </a:ln>
        </p:spPr>
      </p:sp>
      <p:sp>
        <p:nvSpPr>
          <p:cNvPr id="18" name="Text 16"/>
          <p:cNvSpPr txBox="1"/>
          <p:nvPr/>
        </p:nvSpPr>
        <p:spPr>
          <a:xfrm>
            <a:off x="5574054" y="5135270"/>
            <a:ext cx="3920161"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Wall stations (one controller each)</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Step the motor, read the encoder, hold if the link drops</a:t>
            </a:r>
            <a:endParaRPr lang="en-US" sz="1400" dirty="0"/>
          </a:p>
        </p:txBody>
      </p:sp>
      <p:sp>
        <p:nvSpPr>
          <p:cNvPr id="19" name="claw"/>
          <p:cNvSpPr/>
          <p:nvPr/>
        </p:nvSpPr>
        <p:spPr>
          <a:xfrm>
            <a:off x="10042855" y="3207715"/>
            <a:ext cx="1600200" cy="899770"/>
          </a:xfrm>
          <a:prstGeom prst="rect">
            <a:avLst/>
          </a:prstGeom>
          <a:solidFill>
            <a:srgbClr val="FFFFFF"/>
          </a:solidFill>
          <a:ln w="15875">
            <a:solidFill>
              <a:srgbClr val="1F3A5F"/>
            </a:solidFill>
            <a:prstDash val="solid"/>
          </a:ln>
        </p:spPr>
      </p:sp>
      <p:sp>
        <p:nvSpPr>
          <p:cNvPr id="20" name="Text 18"/>
          <p:cNvSpPr txBox="1"/>
          <p:nvPr/>
        </p:nvSpPr>
        <p:spPr>
          <a:xfrm>
            <a:off x="10134295" y="3207715"/>
            <a:ext cx="1417320" cy="89977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Claw</a:t>
            </a:r>
            <a:endParaRPr lang="en-US" sz="1400" dirty="0"/>
          </a:p>
          <a:p>
            <a:pPr indent="0" marL="0">
              <a:buNone/>
            </a:pPr>
            <a:r>
              <a:rPr lang="en-US" sz="1150" dirty="0">
                <a:solidFill>
                  <a:srgbClr val="000000"/>
                </a:solidFill>
                <a:latin typeface="Arial" pitchFamily="34" charset="0"/>
                <a:ea typeface="Arial" pitchFamily="34" charset="-122"/>
                <a:cs typeface="Arial" pitchFamily="34" charset="-120"/>
              </a:rPr>
              <a:t>Sends camera images; grips only when approved</a:t>
            </a:r>
            <a:endParaRPr lang="en-US" sz="1400" dirty="0"/>
          </a:p>
        </p:txBody>
      </p:sp>
      <p:sp>
        <p:nvSpPr>
          <p:cNvPr id="21" name="Shape 19"/>
          <p:cNvSpPr/>
          <p:nvPr/>
        </p:nvSpPr>
        <p:spPr>
          <a:xfrm>
            <a:off x="9667951" y="3657600"/>
            <a:ext cx="338328" cy="0"/>
          </a:xfrm>
          <a:prstGeom prst="line">
            <a:avLst/>
          </a:prstGeom>
          <a:noFill/>
          <a:ln w="19050">
            <a:solidFill>
              <a:srgbClr val="7F7F7F"/>
            </a:solidFill>
            <a:prstDash val="solid"/>
            <a:headEnd type="triangle"/>
            <a:tailEnd type="triangle"/>
          </a:ln>
        </p:spPr>
      </p:sp>
      <p:sp>
        <p:nvSpPr>
          <p:cNvPr id="22" name="layer note"/>
          <p:cNvSpPr txBox="1"/>
          <p:nvPr/>
        </p:nvSpPr>
        <p:spPr>
          <a:xfrm>
            <a:off x="5436894" y="5943600"/>
            <a:ext cx="6206161"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Commands flow down; status and camera images flow up.</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Design Targets</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18883"/>
                <a:gridCol w="3106436"/>
                <a:gridCol w="4104934"/>
                <a:gridCol w="1664162"/>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Parameter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Target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Current value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000000"/>
                          </a:solidFill>
                          <a:latin typeface="Arial" pitchFamily="34" charset="0"/>
                          <a:ea typeface="Arial" pitchFamily="34" charset="-122"/>
                          <a:cs typeface="Arial" pitchFamily="34" charset="-120"/>
                        </a:rPr>
                        <a:t>Lift capacity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1.76 kg: claw, battery and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1.56 kg (calculated)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Not 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000000"/>
                          </a:solidFill>
                          <a:latin typeface="Arial" pitchFamily="34" charset="0"/>
                          <a:ea typeface="Arial" pitchFamily="34" charset="-122"/>
                          <a:cs typeface="Arial" pitchFamily="34" charset="-120"/>
                        </a:rPr>
                        <a:t>Claw 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0.45 kg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0.86 kg with battery (estimated); </a:t>
                      </a:r>
                      <a:pPr indent="0" marL="0">
                        <a:buNone/>
                      </a:pPr>
                      <a:r>
                        <a:rPr lang="en-US" sz="1400" i="1" dirty="0">
                          <a:solidFill>
                            <a:srgbClr val="B23A2E"/>
                          </a:solidFill>
                          <a:latin typeface="Arial" pitchFamily="34" charset="0"/>
                          <a:ea typeface="Arial" pitchFamily="34" charset="-122"/>
                          <a:cs typeface="Arial" pitchFamily="34" charset="-120"/>
                        </a:rPr>
                        <a:t>[weighed]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Not 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000000"/>
                          </a:solidFill>
                          <a:latin typeface="Arial" pitchFamily="34" charset="0"/>
                          <a:ea typeface="Arial" pitchFamily="34" charset="-122"/>
                          <a:cs typeface="Arial" pitchFamily="34" charset="-120"/>
                        </a:rPr>
                        <a:t>Motor 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Below 60 °C (PETG limit)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58 °C prototype fin; 45–49 °C with 1/8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Marginal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000000"/>
                          </a:solidFill>
                          <a:latin typeface="Arial" pitchFamily="34" charset="0"/>
                          <a:ea typeface="Arial" pitchFamily="34" charset="-122"/>
                          <a:cs typeface="Arial" pitchFamily="34" charset="-120"/>
                        </a:rPr>
                        <a:t>Working area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Full 11 × 9 ft floor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All but 0.2 m along the walls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Met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000000"/>
                          </a:solidFill>
                          <a:latin typeface="Arial" pitchFamily="34" charset="0"/>
                          <a:ea typeface="Arial" pitchFamily="34" charset="-122"/>
                          <a:cs typeface="Arial" pitchFamily="34" charset="-120"/>
                        </a:rPr>
                        <a:t>Wiring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cable per station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12 V pair; 0.51 V drop on the longest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000000"/>
                          </a:solidFill>
                          <a:latin typeface="Arial" pitchFamily="34" charset="0"/>
                          <a:ea typeface="Arial" pitchFamily="34" charset="-122"/>
                          <a:cs typeface="Arial" pitchFamily="34" charset="-120"/>
                        </a:rPr>
                        <a:t>Positioning accuracy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2 mm per cable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0.7 mm (calculated)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000000"/>
                          </a:solidFill>
                          <a:latin typeface="Arial" pitchFamily="34" charset="0"/>
                          <a:ea typeface="Arial" pitchFamily="34" charset="-122"/>
                          <a:cs typeface="Arial" pitchFamily="34" charset="-120"/>
                        </a:rPr>
                        <a:t>Speed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50 mm/s at 2 m/s²</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Not yet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000000"/>
                          </a:solidFill>
                          <a:latin typeface="Arial" pitchFamily="34" charset="0"/>
                          <a:ea typeface="Arial" pitchFamily="34" charset="-122"/>
                          <a:cs typeface="Arial" pitchFamily="34" charset="-120"/>
                        </a:rPr>
                        <a:t>Cost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Hobby budget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[total cost]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label"/>
          <p:cNvSpPr txBox="1"/>
          <p:nvPr/>
        </p:nvSpPr>
        <p:spPr>
          <a:xfrm>
            <a:off x="548640" y="5806440"/>
            <a:ext cx="11094415" cy="365760"/>
          </a:xfrm>
          <a:prstGeom prst="rect">
            <a:avLst/>
          </a:prstGeom>
          <a:noFill/>
          <a:ln/>
        </p:spPr>
        <p:txBody>
          <a:bodyPr wrap="square" lIns="0" tIns="0" rIns="0" bIns="0" rtlCol="0" anchor="ctr"/>
          <a:lstStyle/>
          <a:p>
            <a:pPr algn="l" indent="0" marL="0">
              <a:buNone/>
            </a:pPr>
            <a:r>
              <a:rPr lang="en-US" sz="1500" dirty="0">
                <a:solidFill>
                  <a:srgbClr val="000000"/>
                </a:solidFill>
                <a:latin typeface="Arial" pitchFamily="34" charset="0"/>
                <a:ea typeface="Arial" pitchFamily="34" charset="-122"/>
                <a:cs typeface="Arial" pitchFamily="34" charset="-120"/>
              </a:rPr>
              <a:t>Safety is a fixed constraint and is not traded against any of these targets.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Design Trade-offs</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29827"/>
                <a:gridCol w="2662660"/>
                <a:gridCol w="3217380"/>
                <a:gridCol w="2884548"/>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Design change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Benefit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Chosen setting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Higher motor current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41 % more pull at 1.5 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Heat rises with current squared: 2.0 W to 4.05 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1.5 A, vented shell and heat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Stronger claw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Gear safety factor from 0.4 to 2.0</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More claw mass, less payload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Module 1.5 gears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Larger room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More floor covered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Longer wires, more voltage drop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Only 12 V power runs to the stations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Working closer to the ceiling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More working volume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Cable tension rises from 12 N to 32 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Stay 0.4 m below the anchors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Smaller spool radius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More pull per amp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Slower line speed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15 mm core: 34 N empty, 25 N full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Larger safety margins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No skipped steps or wall contact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Less usable force and floor area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Force ÷ 1.5; 0.2 m from walls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label"/>
          <p:cNvSpPr txBox="1"/>
          <p:nvPr/>
        </p:nvSpPr>
        <p:spPr>
          <a:xfrm>
            <a:off x="548640" y="5623560"/>
            <a:ext cx="11094415" cy="457200"/>
          </a:xfrm>
          <a:prstGeom prst="rect">
            <a:avLst/>
          </a:prstGeom>
          <a:noFill/>
          <a:ln/>
        </p:spPr>
        <p:txBody>
          <a:bodyPr wrap="square" lIns="0" tIns="0" rIns="0" bIns="0" rtlCol="0" anchor="ctr"/>
          <a:lstStyle/>
          <a:p>
            <a:pPr algn="l" indent="0" marL="0">
              <a:buNone/>
            </a:pPr>
            <a:r>
              <a:rPr lang="en-US" sz="1500" dirty="0">
                <a:solidFill>
                  <a:srgbClr val="000000"/>
                </a:solidFill>
                <a:latin typeface="Arial" pitchFamily="34" charset="0"/>
                <a:ea typeface="Arial" pitchFamily="34" charset="-122"/>
                <a:cs typeface="Arial" pitchFamily="34" charset="-120"/>
              </a:rPr>
              <a:t>Key coupling: a heavier claw needs more pull, more pull needs more current, and heat rises with the square of the current.</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Cable Tension</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2295144"/>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Cables can only pull, so tension must stay positive</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Tension rises sharply near the ceiling</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32 N per cable at 0.15 m below the anchors; 8.3 N at 0.6 m</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Operating limit: 0.4 m below the anchors</a:t>
            </a:r>
            <a:endParaRPr lang="en-US" sz="1800" dirty="0"/>
          </a:p>
        </p:txBody>
      </p:sp>
      <p:sp>
        <p:nvSpPr>
          <p:cNvPr id="5" name="equation box"/>
          <p:cNvSpPr/>
          <p:nvPr/>
        </p:nvSpPr>
        <p:spPr>
          <a:xfrm>
            <a:off x="548640" y="3895344"/>
            <a:ext cx="5364328" cy="2368296"/>
          </a:xfrm>
          <a:prstGeom prst="rect">
            <a:avLst/>
          </a:prstGeom>
          <a:solidFill>
            <a:srgbClr val="F7F8FA"/>
          </a:solidFill>
          <a:ln w="15875">
            <a:solidFill>
              <a:srgbClr val="1F3A5F"/>
            </a:solidFill>
            <a:prstDash val="solid"/>
          </a:ln>
        </p:spPr>
      </p:sp>
      <p:sp>
        <p:nvSpPr>
          <p:cNvPr id="6" name="equation title"/>
          <p:cNvSpPr txBox="1"/>
          <p:nvPr/>
        </p:nvSpPr>
        <p:spPr>
          <a:xfrm>
            <a:off x="713232" y="3968496"/>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Cable tension at the operating limit</a:t>
            </a:r>
            <a:endParaRPr lang="en-US" sz="1100" dirty="0"/>
          </a:p>
        </p:txBody>
      </p:sp>
      <p:sp>
        <p:nvSpPr>
          <p:cNvPr id="7" name="equations"/>
          <p:cNvSpPr txBox="1"/>
          <p:nvPr/>
        </p:nvSpPr>
        <p:spPr>
          <a:xfrm>
            <a:off x="713232" y="4206240"/>
            <a:ext cx="5035144" cy="1335024"/>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T = W / (4 sin φ),   sin φ = d / √(d² + D</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h</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²)</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sin φ = 0.4 / √(0.4² + 2.17²) = 0.181</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T = 8.87 N / (4 × 0.181)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12.2 N</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With 2 m/s²: 12.2 × 1.20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14.7 N</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&lt; 16.8 N</a:t>
            </a:r>
            <a:endParaRPr lang="en-US" sz="1550" dirty="0"/>
          </a:p>
        </p:txBody>
      </p:sp>
      <p:sp>
        <p:nvSpPr>
          <p:cNvPr id="8" name="equation inputs"/>
          <p:cNvSpPr txBox="1"/>
          <p:nvPr/>
        </p:nvSpPr>
        <p:spPr>
          <a:xfrm>
            <a:off x="713232" y="5577840"/>
            <a:ext cx="5035144" cy="612648"/>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W = (0.45 + 0.454) kg × 9.81 m/s² = 8.87 N; d = 0.4 m below the anchors; D</a:t>
            </a:r>
            <a:pPr indent="0" marL="0">
              <a:buNone/>
            </a:pPr>
            <a:r>
              <a:rPr lang="en-US" sz="1100" baseline="-40000" dirty="0">
                <a:solidFill>
                  <a:srgbClr val="404040"/>
                </a:solidFill>
                <a:latin typeface="Arial" pitchFamily="34" charset="0"/>
                <a:ea typeface="Arial" pitchFamily="34" charset="-122"/>
                <a:cs typeface="Arial" pitchFamily="34" charset="-120"/>
              </a:rPr>
              <a:t>h</a:t>
            </a:r>
            <a:pPr indent="0" marL="0">
              <a:buNone/>
            </a:pPr>
            <a:r>
              <a:rPr lang="en-US" sz="1100" dirty="0">
                <a:solidFill>
                  <a:srgbClr val="404040"/>
                </a:solidFill>
                <a:latin typeface="Arial" pitchFamily="34" charset="0"/>
                <a:ea typeface="Arial" pitchFamily="34" charset="-122"/>
                <a:cs typeface="Arial" pitchFamily="34" charset="-120"/>
              </a:rPr>
              <a:t> = 2.17 m, room center to corner; 16.8 N = winch design force</a:t>
            </a:r>
            <a:endParaRPr lang="en-US" sz="1100" dirty="0"/>
          </a:p>
        </p:txBody>
      </p:sp>
      <p:pic>
        <p:nvPicPr>
          <p:cNvPr id="9" name="Chart from the calculation sheet: Cable " descr="Chart from the calculation sheet: Cable tension">    </p:cNvPr>
          <p:cNvPicPr>
            <a:picLocks noChangeAspect="1"/>
          </p:cNvPicPr>
          <p:nvPr/>
        </p:nvPicPr>
        <p:blipFill>
          <a:blip r:embed="rId1"/>
          <a:stretch>
            <a:fillRect/>
          </a:stretch>
        </p:blipFill>
        <p:spPr>
          <a:xfrm>
            <a:off x="6324448" y="1554480"/>
            <a:ext cx="5318608" cy="3661008"/>
          </a:xfrm>
          <a:prstGeom prst="rect">
            <a:avLst/>
          </a:prstGeom>
        </p:spPr>
      </p:pic>
      <p:sp>
        <p:nvSpPr>
          <p:cNvPr id="10" name="chart frame"/>
          <p:cNvSpPr/>
          <p:nvPr/>
        </p:nvSpPr>
        <p:spPr>
          <a:xfrm>
            <a:off x="6324448" y="1554480"/>
            <a:ext cx="5318608" cy="3661008"/>
          </a:xfrm>
          <a:prstGeom prst="rect">
            <a:avLst/>
          </a:prstGeom>
          <a:ln w="9525">
            <a:solidFill>
              <a:srgbClr val="BFBFBF"/>
            </a:solidFill>
            <a:prstDash val="solid"/>
          </a:ln>
        </p:spPr>
      </p:sp>
      <p:sp>
        <p:nvSpPr>
          <p:cNvPr id="11" name="caption"/>
          <p:cNvSpPr txBox="1"/>
          <p:nvPr/>
        </p:nvSpPr>
        <p:spPr>
          <a:xfrm>
            <a:off x="6324448" y="5288640"/>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 values)</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Winch Pull</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2295144"/>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NEMA 17 (National Electrical Manufacturers Association) stepper with a printed spool</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Driver current raised to the rated 1.5 A (was 1.06 A)</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Pull: 34 N with an empty spool, 25 N when full</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Luggage-scale pull test to confirm the torque</a:t>
            </a:r>
            <a:endParaRPr lang="en-US" sz="1800" dirty="0"/>
          </a:p>
        </p:txBody>
      </p:sp>
      <p:sp>
        <p:nvSpPr>
          <p:cNvPr id="5" name="equation box"/>
          <p:cNvSpPr/>
          <p:nvPr/>
        </p:nvSpPr>
        <p:spPr>
          <a:xfrm>
            <a:off x="548640" y="3895344"/>
            <a:ext cx="5364328" cy="2368296"/>
          </a:xfrm>
          <a:prstGeom prst="rect">
            <a:avLst/>
          </a:prstGeom>
          <a:solidFill>
            <a:srgbClr val="F7F8FA"/>
          </a:solidFill>
          <a:ln w="15875">
            <a:solidFill>
              <a:srgbClr val="1F3A5F"/>
            </a:solidFill>
            <a:prstDash val="solid"/>
          </a:ln>
        </p:spPr>
      </p:sp>
      <p:sp>
        <p:nvSpPr>
          <p:cNvPr id="6" name="equation title"/>
          <p:cNvSpPr txBox="1"/>
          <p:nvPr/>
        </p:nvSpPr>
        <p:spPr>
          <a:xfrm>
            <a:off x="713232" y="3968496"/>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 at 1.5 A</a:t>
            </a:r>
            <a:endParaRPr lang="en-US" sz="1100" dirty="0"/>
          </a:p>
        </p:txBody>
      </p:sp>
      <p:sp>
        <p:nvSpPr>
          <p:cNvPr id="7" name="equations"/>
          <p:cNvSpPr txBox="1"/>
          <p:nvPr/>
        </p:nvSpPr>
        <p:spPr>
          <a:xfrm>
            <a:off x="713232" y="4206240"/>
            <a:ext cx="5035144" cy="1335024"/>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I = V</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ref</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(8 R</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s</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1.2 V / (8 × 0.1 Ω)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1.5 A</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τ</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run</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0.7 × 0.36 N·m = 0.252 N·m</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T = τ / r = 0.252 N·m / 0.010 m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25.2 N</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F</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design</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25.2 N / 1.5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16.8 N</a:t>
            </a:r>
            <a:endParaRPr lang="en-US" sz="1550" dirty="0"/>
          </a:p>
        </p:txBody>
      </p:sp>
      <p:sp>
        <p:nvSpPr>
          <p:cNvPr id="8" name="equation inputs"/>
          <p:cNvSpPr txBox="1"/>
          <p:nvPr/>
        </p:nvSpPr>
        <p:spPr>
          <a:xfrm>
            <a:off x="713232" y="5577840"/>
            <a:ext cx="5035144" cy="612648"/>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V</a:t>
            </a:r>
            <a:pPr indent="0" marL="0">
              <a:buNone/>
            </a:pPr>
            <a:r>
              <a:rPr lang="en-US" sz="1100" baseline="-40000" dirty="0">
                <a:solidFill>
                  <a:srgbClr val="404040"/>
                </a:solidFill>
                <a:latin typeface="Arial" pitchFamily="34" charset="0"/>
                <a:ea typeface="Arial" pitchFamily="34" charset="-122"/>
                <a:cs typeface="Arial" pitchFamily="34" charset="-120"/>
              </a:rPr>
              <a:t>ref</a:t>
            </a:r>
            <a:pPr indent="0" marL="0">
              <a:buNone/>
            </a:pPr>
            <a:r>
              <a:rPr lang="en-US" sz="1100" dirty="0">
                <a:solidFill>
                  <a:srgbClr val="404040"/>
                </a:solidFill>
                <a:latin typeface="Arial" pitchFamily="34" charset="0"/>
                <a:ea typeface="Arial" pitchFamily="34" charset="-122"/>
                <a:cs typeface="Arial" pitchFamily="34" charset="-120"/>
              </a:rPr>
              <a:t> = driver reference voltage; R</a:t>
            </a:r>
            <a:pPr indent="0" marL="0">
              <a:buNone/>
            </a:pPr>
            <a:r>
              <a:rPr lang="en-US" sz="1100" baseline="-40000" dirty="0">
                <a:solidFill>
                  <a:srgbClr val="404040"/>
                </a:solidFill>
                <a:latin typeface="Arial" pitchFamily="34" charset="0"/>
                <a:ea typeface="Arial" pitchFamily="34" charset="-122"/>
                <a:cs typeface="Arial" pitchFamily="34" charset="-120"/>
              </a:rPr>
              <a:t>s</a:t>
            </a:r>
            <a:pPr indent="0" marL="0">
              <a:buNone/>
            </a:pPr>
            <a:r>
              <a:rPr lang="en-US" sz="1100" dirty="0">
                <a:solidFill>
                  <a:srgbClr val="404040"/>
                </a:solidFill>
                <a:latin typeface="Arial" pitchFamily="34" charset="0"/>
                <a:ea typeface="Arial" pitchFamily="34" charset="-122"/>
                <a:cs typeface="Arial" pitchFamily="34" charset="-120"/>
              </a:rPr>
              <a:t> = sense resistor; 0.36 N·m = holding torque at 1.5 A; 0.7 = running/holding ratio (assumed); r = 10 mm full spool; 1.5 = skip margin</a:t>
            </a:r>
            <a:endParaRPr lang="en-US" sz="1100" dirty="0"/>
          </a:p>
        </p:txBody>
      </p:sp>
      <p:pic>
        <p:nvPicPr>
          <p:cNvPr id="9" name="Chart from the calculation sheet: Winch " descr="Chart from the calculation sheet: Winch pull">    </p:cNvPr>
          <p:cNvPicPr>
            <a:picLocks noChangeAspect="1"/>
          </p:cNvPicPr>
          <p:nvPr/>
        </p:nvPicPr>
        <p:blipFill>
          <a:blip r:embed="rId1"/>
          <a:stretch>
            <a:fillRect/>
          </a:stretch>
        </p:blipFill>
        <p:spPr>
          <a:xfrm>
            <a:off x="6324448" y="1554480"/>
            <a:ext cx="5318608" cy="3660580"/>
          </a:xfrm>
          <a:prstGeom prst="rect">
            <a:avLst/>
          </a:prstGeom>
        </p:spPr>
      </p:pic>
      <p:sp>
        <p:nvSpPr>
          <p:cNvPr id="10" name="chart frame"/>
          <p:cNvSpPr/>
          <p:nvPr/>
        </p:nvSpPr>
        <p:spPr>
          <a:xfrm>
            <a:off x="6324448" y="1554480"/>
            <a:ext cx="5318608" cy="3660580"/>
          </a:xfrm>
          <a:prstGeom prst="rect">
            <a:avLst/>
          </a:prstGeom>
          <a:ln w="9525">
            <a:solidFill>
              <a:srgbClr val="BFBFBF"/>
            </a:solidFill>
            <a:prstDash val="solid"/>
          </a:ln>
        </p:spPr>
      </p:sp>
      <p:sp>
        <p:nvSpPr>
          <p:cNvPr id="11" name="caption"/>
          <p:cNvSpPr txBox="1"/>
          <p:nvPr/>
        </p:nvSpPr>
        <p:spPr>
          <a:xfrm>
            <a:off x="6324448" y="528821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“Winch pull” (calculated values)</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One Controller per Winch</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2295144"/>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Generation 1 drove all four motors from one central board</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Adding sensors at each winch required 10 wires per corner</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Moved to a separate controller in each station</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Total wire reduced from 820 ft to 164 ft</a:t>
            </a:r>
            <a:endParaRPr lang="en-US" sz="1800" dirty="0"/>
          </a:p>
        </p:txBody>
      </p:sp>
      <p:sp>
        <p:nvSpPr>
          <p:cNvPr id="5" name="equation box"/>
          <p:cNvSpPr/>
          <p:nvPr/>
        </p:nvSpPr>
        <p:spPr>
          <a:xfrm>
            <a:off x="548640" y="3895344"/>
            <a:ext cx="5364328" cy="2368296"/>
          </a:xfrm>
          <a:prstGeom prst="rect">
            <a:avLst/>
          </a:prstGeom>
          <a:solidFill>
            <a:srgbClr val="F7F8FA"/>
          </a:solidFill>
          <a:ln w="15875">
            <a:solidFill>
              <a:srgbClr val="1F3A5F"/>
            </a:solidFill>
            <a:prstDash val="solid"/>
          </a:ln>
        </p:spPr>
      </p:sp>
      <p:sp>
        <p:nvSpPr>
          <p:cNvPr id="6" name="equation title"/>
          <p:cNvSpPr txBox="1"/>
          <p:nvPr/>
        </p:nvSpPr>
        <p:spPr>
          <a:xfrm>
            <a:off x="713232" y="3968496"/>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Wire length and timing error</a:t>
            </a:r>
            <a:endParaRPr lang="en-US" sz="1100" dirty="0"/>
          </a:p>
        </p:txBody>
      </p:sp>
      <p:sp>
        <p:nvSpPr>
          <p:cNvPr id="7" name="equations"/>
          <p:cNvSpPr txBox="1"/>
          <p:nvPr/>
        </p:nvSpPr>
        <p:spPr>
          <a:xfrm>
            <a:off x="713232" y="4206240"/>
            <a:ext cx="5035144" cy="1335024"/>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Wire = n × ΣL</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Central board: 10 × 82 ft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820 ft</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Controller per station: 2 × 82 ft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164 ft</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Timing error: Δx = v Δt = 50 mm/s × 50 ms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2.5 mm</a:t>
            </a:r>
            <a:endParaRPr lang="en-US" sz="1550" dirty="0"/>
          </a:p>
        </p:txBody>
      </p:sp>
      <p:sp>
        <p:nvSpPr>
          <p:cNvPr id="8" name="equation inputs"/>
          <p:cNvSpPr txBox="1"/>
          <p:nvPr/>
        </p:nvSpPr>
        <p:spPr>
          <a:xfrm>
            <a:off x="713232" y="5577840"/>
            <a:ext cx="5035144" cy="612648"/>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n = conductors per corner (motor 4, switch 2, encoder 4); ΣL = 6 + 21 + 23 + 32 ft of cable routes; v = line speed; Δt = clock offset between stations</a:t>
            </a:r>
            <a:endParaRPr lang="en-US" sz="1100" dirty="0"/>
          </a:p>
        </p:txBody>
      </p:sp>
      <p:pic>
        <p:nvPicPr>
          <p:cNvPr id="9" name="Chart from the calculation sheet: Wiring" descr="Chart from the calculation sheet: Wiring">    </p:cNvPr>
          <p:cNvPicPr>
            <a:picLocks noChangeAspect="1"/>
          </p:cNvPicPr>
          <p:nvPr/>
        </p:nvPicPr>
        <p:blipFill>
          <a:blip r:embed="rId1"/>
          <a:stretch>
            <a:fillRect/>
          </a:stretch>
        </p:blipFill>
        <p:spPr>
          <a:xfrm>
            <a:off x="6324448" y="1554480"/>
            <a:ext cx="5318608" cy="3660580"/>
          </a:xfrm>
          <a:prstGeom prst="rect">
            <a:avLst/>
          </a:prstGeom>
        </p:spPr>
      </p:pic>
      <p:sp>
        <p:nvSpPr>
          <p:cNvPr id="10" name="chart frame"/>
          <p:cNvSpPr/>
          <p:nvPr/>
        </p:nvSpPr>
        <p:spPr>
          <a:xfrm>
            <a:off x="6324448" y="1554480"/>
            <a:ext cx="5318608" cy="3660580"/>
          </a:xfrm>
          <a:prstGeom prst="rect">
            <a:avLst/>
          </a:prstGeom>
          <a:ln w="9525">
            <a:solidFill>
              <a:srgbClr val="BFBFBF"/>
            </a:solidFill>
            <a:prstDash val="solid"/>
          </a:ln>
        </p:spPr>
      </p:sp>
      <p:sp>
        <p:nvSpPr>
          <p:cNvPr id="11" name="caption"/>
          <p:cNvSpPr txBox="1"/>
          <p:nvPr/>
        </p:nvSpPr>
        <p:spPr>
          <a:xfrm>
            <a:off x="6324448" y="528821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“Wiring” (calculated values)</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Motor Cooling</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2295144"/>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Sealed PETG shell traps motor heat</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PETG creeps above 60 °C under load</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Aluminum fin added through the top of the shell</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90-minute hold test at 1.5 A planned</a:t>
            </a:r>
            <a:endParaRPr lang="en-US" sz="1800" dirty="0"/>
          </a:p>
        </p:txBody>
      </p:sp>
      <p:sp>
        <p:nvSpPr>
          <p:cNvPr id="5" name="equation box"/>
          <p:cNvSpPr/>
          <p:nvPr/>
        </p:nvSpPr>
        <p:spPr>
          <a:xfrm>
            <a:off x="548640" y="3895344"/>
            <a:ext cx="5364328" cy="2368296"/>
          </a:xfrm>
          <a:prstGeom prst="rect">
            <a:avLst/>
          </a:prstGeom>
          <a:solidFill>
            <a:srgbClr val="F7F8FA"/>
          </a:solidFill>
          <a:ln w="15875">
            <a:solidFill>
              <a:srgbClr val="1F3A5F"/>
            </a:solidFill>
            <a:prstDash val="solid"/>
          </a:ln>
        </p:spPr>
      </p:sp>
      <p:sp>
        <p:nvSpPr>
          <p:cNvPr id="6" name="equation title"/>
          <p:cNvSpPr txBox="1"/>
          <p:nvPr/>
        </p:nvSpPr>
        <p:spPr>
          <a:xfrm>
            <a:off x="713232" y="3968496"/>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and temperature at 1.5 A</a:t>
            </a:r>
            <a:endParaRPr lang="en-US" sz="1100" dirty="0"/>
          </a:p>
        </p:txBody>
      </p:sp>
      <p:sp>
        <p:nvSpPr>
          <p:cNvPr id="7" name="equations"/>
          <p:cNvSpPr txBox="1"/>
          <p:nvPr/>
        </p:nvSpPr>
        <p:spPr>
          <a:xfrm>
            <a:off x="713232" y="4206240"/>
            <a:ext cx="5035144" cy="1335024"/>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P = I² R</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coil</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(1.5 A)² × 1.8 Ω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4.05 W</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1/R</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th</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1/R</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shell</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+ 1/R</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fin</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ΔT = P × R</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th</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0.019 in fin: R</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fin</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23.1 K/W </a:t>
            </a:r>
            <a:pPr algn="l" indent="0" marL="0">
              <a:spcAft>
                <a:spcPts val="400"/>
              </a:spcAft>
              <a:buNone/>
            </a:pPr>
            <a:r>
              <a:rPr lang="en-US" sz="155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57.6 °C</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1/8 in fin: R</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fin</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11.9 K/W </a:t>
            </a:r>
            <a:pPr algn="l" indent="0" marL="0">
              <a:spcAft>
                <a:spcPts val="400"/>
              </a:spcAft>
              <a:buNone/>
            </a:pPr>
            <a:r>
              <a:rPr lang="en-US" sz="155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48.9 °C</a:t>
            </a:r>
            <a:endParaRPr lang="en-US" sz="1550" dirty="0"/>
          </a:p>
        </p:txBody>
      </p:sp>
      <p:sp>
        <p:nvSpPr>
          <p:cNvPr id="8" name="equation inputs"/>
          <p:cNvSpPr txBox="1"/>
          <p:nvPr/>
        </p:nvSpPr>
        <p:spPr>
          <a:xfrm>
            <a:off x="713232" y="5577840"/>
            <a:ext cx="5035144" cy="612648"/>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R</a:t>
            </a:r>
            <a:pPr indent="0" marL="0">
              <a:buNone/>
            </a:pPr>
            <a:r>
              <a:rPr lang="en-US" sz="1100" baseline="-40000" dirty="0">
                <a:solidFill>
                  <a:srgbClr val="404040"/>
                </a:solidFill>
                <a:latin typeface="Arial" pitchFamily="34" charset="0"/>
                <a:ea typeface="Arial" pitchFamily="34" charset="-122"/>
                <a:cs typeface="Arial" pitchFamily="34" charset="-120"/>
              </a:rPr>
              <a:t>coil</a:t>
            </a:r>
            <a:pPr indent="0" marL="0">
              <a:buNone/>
            </a:pPr>
            <a:r>
              <a:rPr lang="en-US" sz="1100" dirty="0">
                <a:solidFill>
                  <a:srgbClr val="404040"/>
                </a:solidFill>
                <a:latin typeface="Arial" pitchFamily="34" charset="0"/>
                <a:ea typeface="Arial" pitchFamily="34" charset="-122"/>
                <a:cs typeface="Arial" pitchFamily="34" charset="-120"/>
              </a:rPr>
              <a:t> = 1.8 Ω per phase (assumed); R</a:t>
            </a:r>
            <a:pPr indent="0" marL="0">
              <a:buNone/>
            </a:pPr>
            <a:r>
              <a:rPr lang="en-US" sz="1100" baseline="-40000" dirty="0">
                <a:solidFill>
                  <a:srgbClr val="404040"/>
                </a:solidFill>
                <a:latin typeface="Arial" pitchFamily="34" charset="0"/>
                <a:ea typeface="Arial" pitchFamily="34" charset="-122"/>
                <a:cs typeface="Arial" pitchFamily="34" charset="-120"/>
              </a:rPr>
              <a:t>shell</a:t>
            </a:r>
            <a:pPr indent="0" marL="0">
              <a:buNone/>
            </a:pPr>
            <a:r>
              <a:rPr lang="en-US" sz="1100" dirty="0">
                <a:solidFill>
                  <a:srgbClr val="404040"/>
                </a:solidFill>
                <a:latin typeface="Arial" pitchFamily="34" charset="0"/>
                <a:ea typeface="Arial" pitchFamily="34" charset="-122"/>
                <a:cs typeface="Arial" pitchFamily="34" charset="-120"/>
              </a:rPr>
              <a:t> = 12 + 1 K/W, motor to shell air to room; room at 23 °C; 1.5 W of electronics in the shell; limit 60 °C</a:t>
            </a:r>
            <a:endParaRPr lang="en-US" sz="1100" dirty="0"/>
          </a:p>
        </p:txBody>
      </p:sp>
      <p:pic>
        <p:nvPicPr>
          <p:cNvPr id="9" name="Chart from the calculation sheet: Motor " descr="Chart from the calculation sheet: Motor temperature">    </p:cNvPr>
          <p:cNvPicPr>
            <a:picLocks noChangeAspect="1"/>
          </p:cNvPicPr>
          <p:nvPr/>
        </p:nvPicPr>
        <p:blipFill>
          <a:blip r:embed="rId1"/>
          <a:stretch>
            <a:fillRect/>
          </a:stretch>
        </p:blipFill>
        <p:spPr>
          <a:xfrm>
            <a:off x="6324448" y="1554480"/>
            <a:ext cx="5318608" cy="3655001"/>
          </a:xfrm>
          <a:prstGeom prst="rect">
            <a:avLst/>
          </a:prstGeom>
        </p:spPr>
      </p:pic>
      <p:sp>
        <p:nvSpPr>
          <p:cNvPr id="10" name="chart frame"/>
          <p:cNvSpPr/>
          <p:nvPr/>
        </p:nvSpPr>
        <p:spPr>
          <a:xfrm>
            <a:off x="6324448" y="1554480"/>
            <a:ext cx="5318608" cy="3655001"/>
          </a:xfrm>
          <a:prstGeom prst="rect">
            <a:avLst/>
          </a:prstGeom>
          <a:ln w="9525">
            <a:solidFill>
              <a:srgbClr val="BFBFBF"/>
            </a:solidFill>
            <a:prstDash val="solid"/>
          </a:ln>
        </p:spPr>
      </p:sp>
      <p:sp>
        <p:nvSpPr>
          <p:cNvPr id="11" name="caption"/>
          <p:cNvSpPr txBox="1"/>
          <p:nvPr/>
        </p:nvSpPr>
        <p:spPr>
          <a:xfrm>
            <a:off x="6324448" y="5282633"/>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“Motor temperature” (calculated values)</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Heat Fin Sizing</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1636776"/>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0.019 in prototype fin reaches 95 % of its capacity by 136 mm</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1/8 in design fin is 74 % efficient at 200 mm</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Built length of 200 mm, limited by ceiling clearance</a:t>
            </a:r>
            <a:endParaRPr lang="en-US" sz="1800" dirty="0"/>
          </a:p>
        </p:txBody>
      </p:sp>
      <p:sp>
        <p:nvSpPr>
          <p:cNvPr id="5" name="equation box"/>
          <p:cNvSpPr/>
          <p:nvPr/>
        </p:nvSpPr>
        <p:spPr>
          <a:xfrm>
            <a:off x="548640" y="3236976"/>
            <a:ext cx="5364328" cy="3026664"/>
          </a:xfrm>
          <a:prstGeom prst="rect">
            <a:avLst/>
          </a:prstGeom>
          <a:solidFill>
            <a:srgbClr val="F7F8FA"/>
          </a:solidFill>
          <a:ln w="15875">
            <a:solidFill>
              <a:srgbClr val="1F3A5F"/>
            </a:solidFill>
            <a:prstDash val="solid"/>
          </a:ln>
        </p:spPr>
      </p:sp>
      <p:sp>
        <p:nvSpPr>
          <p:cNvPr id="6" name="equation title"/>
          <p:cNvSpPr txBox="1"/>
          <p:nvPr/>
        </p:nvSpPr>
        <p:spPr>
          <a:xfrm>
            <a:off x="713232" y="3310128"/>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7" name="equations"/>
          <p:cNvSpPr txBox="1"/>
          <p:nvPr/>
        </p:nvSpPr>
        <p:spPr>
          <a:xfrm>
            <a:off x="713232" y="3547872"/>
            <a:ext cx="5035144" cy="1993392"/>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m = √(2h / (k t)),   L</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95</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1.83 / m</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0.019 in: m = √(2 × 7 / (160 × 0.00048)) = 13.5 /m</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L</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95</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1.83 / 13.5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136 mm</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1/8 in: m = 5.25 /m,  L</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95</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349 mm</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η = tanh(mL) / (mL) = tanh(1.05) / 1.05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0.74</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R</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fin</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1 / (7 × 0.74 × 0.0176)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10.9 K/W</a:t>
            </a:r>
            <a:endParaRPr lang="en-US" sz="1550" dirty="0"/>
          </a:p>
        </p:txBody>
      </p:sp>
      <p:sp>
        <p:nvSpPr>
          <p:cNvPr id="8" name="equation inputs"/>
          <p:cNvSpPr txBox="1"/>
          <p:nvPr/>
        </p:nvSpPr>
        <p:spPr>
          <a:xfrm>
            <a:off x="713232" y="5577840"/>
            <a:ext cx="5035144" cy="612648"/>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h = 7 W/m²·K, still air; k = 160 W/m·K, aluminum; t = fin thickness; L = 200 mm; A = 2 × 44 mm × 200 mm = 0.0176 m²; R</a:t>
            </a:r>
            <a:pPr indent="0" marL="0">
              <a:buNone/>
            </a:pPr>
            <a:r>
              <a:rPr lang="en-US" sz="1100" baseline="-40000" dirty="0">
                <a:solidFill>
                  <a:srgbClr val="404040"/>
                </a:solidFill>
                <a:latin typeface="Arial" pitchFamily="34" charset="0"/>
                <a:ea typeface="Arial" pitchFamily="34" charset="-122"/>
                <a:cs typeface="Arial" pitchFamily="34" charset="-120"/>
              </a:rPr>
              <a:t>fin</a:t>
            </a:r>
            <a:pPr indent="0" marL="0">
              <a:buNone/>
            </a:pPr>
            <a:r>
              <a:rPr lang="en-US" sz="1100" dirty="0">
                <a:solidFill>
                  <a:srgbClr val="404040"/>
                </a:solidFill>
                <a:latin typeface="Arial" pitchFamily="34" charset="0"/>
                <a:ea typeface="Arial" pitchFamily="34" charset="-122"/>
                <a:cs typeface="Arial" pitchFamily="34" charset="-120"/>
              </a:rPr>
              <a:t> = 1 / (h η A)</a:t>
            </a:r>
            <a:endParaRPr lang="en-US" sz="1100" dirty="0"/>
          </a:p>
        </p:txBody>
      </p:sp>
      <p:pic>
        <p:nvPicPr>
          <p:cNvPr id="9" name="Chart from the calculation sheet: Heat f" descr="Chart from the calculation sheet: Heat fin">    </p:cNvPr>
          <p:cNvPicPr>
            <a:picLocks noChangeAspect="1"/>
          </p:cNvPicPr>
          <p:nvPr/>
        </p:nvPicPr>
        <p:blipFill>
          <a:blip r:embed="rId1"/>
          <a:stretch>
            <a:fillRect/>
          </a:stretch>
        </p:blipFill>
        <p:spPr>
          <a:xfrm>
            <a:off x="6324448" y="1554480"/>
            <a:ext cx="5318608" cy="3654914"/>
          </a:xfrm>
          <a:prstGeom prst="rect">
            <a:avLst/>
          </a:prstGeom>
        </p:spPr>
      </p:pic>
      <p:sp>
        <p:nvSpPr>
          <p:cNvPr id="10" name="chart frame"/>
          <p:cNvSpPr/>
          <p:nvPr/>
        </p:nvSpPr>
        <p:spPr>
          <a:xfrm>
            <a:off x="6324448" y="1554480"/>
            <a:ext cx="5318608" cy="3654914"/>
          </a:xfrm>
          <a:prstGeom prst="rect">
            <a:avLst/>
          </a:prstGeom>
          <a:ln w="9525">
            <a:solidFill>
              <a:srgbClr val="BFBFBF"/>
            </a:solidFill>
            <a:prstDash val="solid"/>
          </a:ln>
        </p:spPr>
      </p:sp>
      <p:sp>
        <p:nvSpPr>
          <p:cNvPr id="11" name="caption"/>
          <p:cNvSpPr txBox="1"/>
          <p:nvPr/>
        </p:nvSpPr>
        <p:spPr>
          <a:xfrm>
            <a:off x="6324448" y="5282546"/>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“Heat fin” (calculated values)</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Homing Method</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2624328"/>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Original plan: a bead on each cable trips a switch at the outlet</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Cables could not get shorter than their homing length</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Replaced with camera calibration on a printed floor board</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Full room now reachable; beads kept as end stops</a:t>
            </a:r>
            <a:endParaRPr lang="en-US" sz="1800" dirty="0"/>
          </a:p>
        </p:txBody>
      </p:sp>
      <p:sp>
        <p:nvSpPr>
          <p:cNvPr id="5" name="equation box"/>
          <p:cNvSpPr/>
          <p:nvPr/>
        </p:nvSpPr>
        <p:spPr>
          <a:xfrm>
            <a:off x="548640" y="4224528"/>
            <a:ext cx="5364328" cy="2039112"/>
          </a:xfrm>
          <a:prstGeom prst="rect">
            <a:avLst/>
          </a:prstGeom>
          <a:solidFill>
            <a:srgbClr val="F7F8FA"/>
          </a:solidFill>
          <a:ln w="15875">
            <a:solidFill>
              <a:srgbClr val="1F3A5F"/>
            </a:solidFill>
            <a:prstDash val="solid"/>
          </a:ln>
        </p:spPr>
      </p:sp>
      <p:sp>
        <p:nvSpPr>
          <p:cNvPr id="6" name="equation title"/>
          <p:cNvSpPr txBox="1"/>
          <p:nvPr/>
        </p:nvSpPr>
        <p:spPr>
          <a:xfrm>
            <a:off x="713232" y="4297680"/>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Reachable area with bead homing</a:t>
            </a:r>
            <a:endParaRPr lang="en-US" sz="1100" dirty="0"/>
          </a:p>
        </p:txBody>
      </p:sp>
      <p:sp>
        <p:nvSpPr>
          <p:cNvPr id="7" name="equations"/>
          <p:cNvSpPr txBox="1"/>
          <p:nvPr/>
        </p:nvSpPr>
        <p:spPr>
          <a:xfrm>
            <a:off x="713232" y="4535424"/>
            <a:ext cx="5035144" cy="1005840"/>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L</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i,home</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home</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Home 1 m above the floor: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5 %</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reachable</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Home 2 m above the floor: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29 %</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reachable</a:t>
            </a:r>
            <a:endParaRPr lang="en-US" sz="1550" dirty="0"/>
          </a:p>
        </p:txBody>
      </p:sp>
      <p:sp>
        <p:nvSpPr>
          <p:cNvPr id="8" name="equation inputs"/>
          <p:cNvSpPr txBox="1"/>
          <p:nvPr/>
        </p:nvSpPr>
        <p:spPr>
          <a:xfrm>
            <a:off x="713232" y="5577840"/>
            <a:ext cx="5035144" cy="612648"/>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a</a:t>
            </a:r>
            <a:pPr indent="0" marL="0">
              <a:buNone/>
            </a:pPr>
            <a:r>
              <a:rPr lang="en-US" sz="1100" baseline="-40000" dirty="0">
                <a:solidFill>
                  <a:srgbClr val="404040"/>
                </a:solidFill>
                <a:latin typeface="Arial" pitchFamily="34" charset="0"/>
                <a:ea typeface="Arial" pitchFamily="34" charset="-122"/>
                <a:cs typeface="Arial" pitchFamily="34" charset="-120"/>
              </a:rPr>
              <a:t>i</a:t>
            </a:r>
            <a:pPr indent="0" marL="0">
              <a:buNone/>
            </a:pPr>
            <a:r>
              <a:rPr lang="en-US" sz="1100" dirty="0">
                <a:solidFill>
                  <a:srgbClr val="404040"/>
                </a:solidFill>
                <a:latin typeface="Arial" pitchFamily="34" charset="0"/>
                <a:ea typeface="Arial" pitchFamily="34" charset="-122"/>
                <a:cs typeface="Arial" pitchFamily="34" charset="-120"/>
              </a:rPr>
              <a:t> = anchor i; p = claw position; reachable = every cable at or above its home length, inside the 0.2 m wall and 0.4 m ceiling margins</a:t>
            </a:r>
            <a:endParaRPr lang="en-US" sz="1100" dirty="0"/>
          </a:p>
        </p:txBody>
      </p:sp>
      <p:pic>
        <p:nvPicPr>
          <p:cNvPr id="9" name="Chart from the calculation sheet: Bead h" descr="Chart from the calculation sheet: Bead homing">    </p:cNvPr>
          <p:cNvPicPr>
            <a:picLocks noChangeAspect="1"/>
          </p:cNvPicPr>
          <p:nvPr/>
        </p:nvPicPr>
        <p:blipFill>
          <a:blip r:embed="rId1"/>
          <a:stretch>
            <a:fillRect/>
          </a:stretch>
        </p:blipFill>
        <p:spPr>
          <a:xfrm>
            <a:off x="6324448" y="1554480"/>
            <a:ext cx="5318608" cy="3661909"/>
          </a:xfrm>
          <a:prstGeom prst="rect">
            <a:avLst/>
          </a:prstGeom>
        </p:spPr>
      </p:pic>
      <p:sp>
        <p:nvSpPr>
          <p:cNvPr id="10" name="chart frame"/>
          <p:cNvSpPr/>
          <p:nvPr/>
        </p:nvSpPr>
        <p:spPr>
          <a:xfrm>
            <a:off x="6324448" y="1554480"/>
            <a:ext cx="5318608" cy="3661909"/>
          </a:xfrm>
          <a:prstGeom prst="rect">
            <a:avLst/>
          </a:prstGeom>
          <a:ln w="9525">
            <a:solidFill>
              <a:srgbClr val="BFBFBF"/>
            </a:solidFill>
            <a:prstDash val="solid"/>
          </a:ln>
        </p:spPr>
      </p:sp>
      <p:sp>
        <p:nvSpPr>
          <p:cNvPr id="11" name="caption"/>
          <p:cNvSpPr txBox="1"/>
          <p:nvPr/>
        </p:nvSpPr>
        <p:spPr>
          <a:xfrm>
            <a:off x="6324448" y="5289541"/>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“Bead homing” (calculated values)</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Claw Design</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2103120"/>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Generation 1 used five TPU (thermoplastic polyurethane) fingers</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Fingers could not pinch thin fabric and were 4.6 times over the mass budget</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Final design: geared four-bar with parallel jaws and a 53 mm opening</a:t>
            </a:r>
            <a:endParaRPr lang="en-US" sz="1800" dirty="0"/>
          </a:p>
        </p:txBody>
      </p:sp>
      <p:sp>
        <p:nvSpPr>
          <p:cNvPr id="5" name="equation box"/>
          <p:cNvSpPr/>
          <p:nvPr/>
        </p:nvSpPr>
        <p:spPr>
          <a:xfrm>
            <a:off x="548640" y="3703320"/>
            <a:ext cx="5364328" cy="2560320"/>
          </a:xfrm>
          <a:prstGeom prst="rect">
            <a:avLst/>
          </a:prstGeom>
          <a:solidFill>
            <a:srgbClr val="F7F8FA"/>
          </a:solidFill>
          <a:ln w="15875">
            <a:solidFill>
              <a:srgbClr val="1F3A5F"/>
            </a:solidFill>
            <a:prstDash val="solid"/>
          </a:ln>
        </p:spPr>
      </p:sp>
      <p:sp>
        <p:nvSpPr>
          <p:cNvPr id="6" name="equation title"/>
          <p:cNvSpPr txBox="1"/>
          <p:nvPr/>
        </p:nvSpPr>
        <p:spPr>
          <a:xfrm>
            <a:off x="713232" y="3776472"/>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and gear stress at servo stall</a:t>
            </a:r>
            <a:endParaRPr lang="en-US" sz="1100" dirty="0"/>
          </a:p>
        </p:txBody>
      </p:sp>
      <p:sp>
        <p:nvSpPr>
          <p:cNvPr id="7" name="equations"/>
          <p:cNvSpPr txBox="1"/>
          <p:nvPr/>
        </p:nvSpPr>
        <p:spPr>
          <a:xfrm>
            <a:off x="713232" y="4014216"/>
            <a:ext cx="5035144" cy="1335024"/>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N ≥ W / (2μ) = 4.45 N / 0.6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7.4 N</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F</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2τ / d = 2 × 1.078 / 0.027 = 79.9 N</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σ = F</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(b m Y) = 79.9 / (15.7 × 1.5 × 0.309)</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σ = 11.0 MPa,  SF = 22.5 / 11.0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2.05</a:t>
            </a:r>
            <a:endParaRPr lang="en-US" sz="1550" dirty="0"/>
          </a:p>
        </p:txBody>
      </p:sp>
      <p:sp>
        <p:nvSpPr>
          <p:cNvPr id="8" name="equation inputs"/>
          <p:cNvSpPr txBox="1"/>
          <p:nvPr/>
        </p:nvSpPr>
        <p:spPr>
          <a:xfrm>
            <a:off x="713232" y="5385816"/>
            <a:ext cx="5035144" cy="804672"/>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N = grip force per jaw; W = 1 lb test load; μ = 0.3; τ = 1.078 N·m servo stall torque; d = 27 mm pitch diameter; b = 15.7 mm face width; m = 1.5 mm module; Y = 0.309 Lewis factor; SF = safety factor</a:t>
            </a:r>
            <a:endParaRPr lang="en-US" sz="1100" dirty="0"/>
          </a:p>
        </p:txBody>
      </p:sp>
      <p:sp>
        <p:nvSpPr>
          <p:cNvPr id="9" name="Shape 7"/>
          <p:cNvSpPr/>
          <p:nvPr/>
        </p:nvSpPr>
        <p:spPr>
          <a:xfrm>
            <a:off x="6324448" y="1463040"/>
            <a:ext cx="2604440" cy="2162556"/>
          </a:xfrm>
          <a:prstGeom prst="rect">
            <a:avLst/>
          </a:prstGeom>
          <a:solidFill>
            <a:srgbClr val="F2F2F2"/>
          </a:solidFill>
          <a:ln w="12700">
            <a:solidFill>
              <a:srgbClr val="F2F2F2"/>
            </a:solidFill>
            <a:prstDash val="solid"/>
          </a:ln>
        </p:spPr>
      </p:sp>
      <p:pic>
        <p:nvPicPr>
          <p:cNvPr id="10" name="Claw generations and the printed gear tr" descr="Claw generations and the printed gear train">    </p:cNvPr>
          <p:cNvPicPr>
            <a:picLocks noChangeAspect="1"/>
          </p:cNvPicPr>
          <p:nvPr/>
        </p:nvPicPr>
        <p:blipFill>
          <a:blip r:embed="rId1"/>
          <a:stretch>
            <a:fillRect/>
          </a:stretch>
        </p:blipFill>
        <p:spPr>
          <a:xfrm>
            <a:off x="6916710" y="1517904"/>
            <a:ext cx="1419915" cy="2052828"/>
          </a:xfrm>
          <a:prstGeom prst="rect">
            <a:avLst/>
          </a:prstGeom>
        </p:spPr>
      </p:pic>
      <p:sp>
        <p:nvSpPr>
          <p:cNvPr id="11" name="Shape 8"/>
          <p:cNvSpPr/>
          <p:nvPr/>
        </p:nvSpPr>
        <p:spPr>
          <a:xfrm>
            <a:off x="9038615" y="1463040"/>
            <a:ext cx="2604440" cy="2162556"/>
          </a:xfrm>
          <a:prstGeom prst="rect">
            <a:avLst/>
          </a:prstGeom>
          <a:solidFill>
            <a:srgbClr val="F2F2F2"/>
          </a:solidFill>
          <a:ln w="12700">
            <a:solidFill>
              <a:srgbClr val="F2F2F2"/>
            </a:solidFill>
            <a:prstDash val="solid"/>
          </a:ln>
        </p:spPr>
      </p:sp>
      <p:pic>
        <p:nvPicPr>
          <p:cNvPr id="12" name="Claw generations and the printed gear tr" descr="Claw generations and the printed gear train">    </p:cNvPr>
          <p:cNvPicPr>
            <a:picLocks noChangeAspect="1"/>
          </p:cNvPicPr>
          <p:nvPr/>
        </p:nvPicPr>
        <p:blipFill>
          <a:blip r:embed="rId2"/>
          <a:stretch>
            <a:fillRect/>
          </a:stretch>
        </p:blipFill>
        <p:spPr>
          <a:xfrm>
            <a:off x="10023816" y="1517904"/>
            <a:ext cx="634038" cy="2052828"/>
          </a:xfrm>
          <a:prstGeom prst="rect">
            <a:avLst/>
          </a:prstGeom>
        </p:spPr>
      </p:pic>
      <p:sp>
        <p:nvSpPr>
          <p:cNvPr id="13" name="Shape 9"/>
          <p:cNvSpPr/>
          <p:nvPr/>
        </p:nvSpPr>
        <p:spPr>
          <a:xfrm>
            <a:off x="6324448" y="3735324"/>
            <a:ext cx="2604440" cy="2162556"/>
          </a:xfrm>
          <a:prstGeom prst="rect">
            <a:avLst/>
          </a:prstGeom>
          <a:solidFill>
            <a:srgbClr val="F2F2F2"/>
          </a:solidFill>
          <a:ln w="12700">
            <a:solidFill>
              <a:srgbClr val="F2F2F2"/>
            </a:solidFill>
            <a:prstDash val="solid"/>
          </a:ln>
        </p:spPr>
      </p:sp>
      <p:pic>
        <p:nvPicPr>
          <p:cNvPr id="14" name="Claw generations and the printed gear tr" descr="Claw generations and the printed gear train">    </p:cNvPr>
          <p:cNvPicPr>
            <a:picLocks noChangeAspect="1"/>
          </p:cNvPicPr>
          <p:nvPr/>
        </p:nvPicPr>
        <p:blipFill>
          <a:blip r:embed="rId3"/>
          <a:stretch>
            <a:fillRect/>
          </a:stretch>
        </p:blipFill>
        <p:spPr>
          <a:xfrm>
            <a:off x="7029886" y="3790188"/>
            <a:ext cx="1193564" cy="2052828"/>
          </a:xfrm>
          <a:prstGeom prst="rect">
            <a:avLst/>
          </a:prstGeom>
        </p:spPr>
      </p:pic>
      <p:sp>
        <p:nvSpPr>
          <p:cNvPr id="15" name="Shape 10"/>
          <p:cNvSpPr/>
          <p:nvPr/>
        </p:nvSpPr>
        <p:spPr>
          <a:xfrm>
            <a:off x="9038615" y="3735324"/>
            <a:ext cx="2604440" cy="2162556"/>
          </a:xfrm>
          <a:prstGeom prst="rect">
            <a:avLst/>
          </a:prstGeom>
          <a:solidFill>
            <a:srgbClr val="F2F2F2"/>
          </a:solidFill>
          <a:ln w="12700">
            <a:solidFill>
              <a:srgbClr val="F2F2F2"/>
            </a:solidFill>
            <a:prstDash val="solid"/>
          </a:ln>
        </p:spPr>
      </p:sp>
      <p:pic>
        <p:nvPicPr>
          <p:cNvPr id="16" name="Claw generations and the printed gear tr" descr="Claw generations and the printed gear train">    </p:cNvPr>
          <p:cNvPicPr>
            <a:picLocks noChangeAspect="1"/>
          </p:cNvPicPr>
          <p:nvPr/>
        </p:nvPicPr>
        <p:blipFill>
          <a:blip r:embed="rId4"/>
          <a:stretch>
            <a:fillRect/>
          </a:stretch>
        </p:blipFill>
        <p:spPr>
          <a:xfrm>
            <a:off x="9571025" y="3790188"/>
            <a:ext cx="1539621" cy="2052828"/>
          </a:xfrm>
          <a:prstGeom prst="rect">
            <a:avLst/>
          </a:prstGeom>
        </p:spPr>
      </p:pic>
      <p:sp>
        <p:nvSpPr>
          <p:cNvPr id="17" name="caption"/>
          <p:cNvSpPr txBox="1"/>
          <p:nvPr/>
        </p:nvSpPr>
        <p:spPr>
          <a:xfrm>
            <a:off x="6324448" y="597103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Left to right, top to bottom: generation 1 fingers, v6 clamp, final four-bar (CAD), printed gear train</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Weight Budget: Open Issue</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2295144"/>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Lift capacity at 1.5 A is 1.56 kg</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Claw with battery estimated at 0.86 kg </a:t>
            </a:r>
            <a:pPr algn="l" marL="254000" indent="-254000">
              <a:spcAft>
                <a:spcPts val="1000"/>
              </a:spcAft>
              <a:buSzPct val="100000"/>
              <a:buChar char="•"/>
            </a:pPr>
            <a:r>
              <a:rPr lang="en-US" sz="1800" i="1" dirty="0">
                <a:solidFill>
                  <a:srgbClr val="B23A2E"/>
                </a:solidFill>
                <a:latin typeface="Arial" pitchFamily="34" charset="0"/>
                <a:ea typeface="Arial" pitchFamily="34" charset="-122"/>
                <a:cs typeface="Arial" pitchFamily="34" charset="-120"/>
              </a:rPr>
              <a:t>[weighed mass]</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1 lb test load fits; jeans exceed capacity by 0.2 kg</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Options: a lighter claw or a 3:1 gear reduction on the winch</a:t>
            </a:r>
            <a:endParaRPr lang="en-US" sz="1800" dirty="0"/>
          </a:p>
        </p:txBody>
      </p:sp>
      <p:sp>
        <p:nvSpPr>
          <p:cNvPr id="5" name="equation box"/>
          <p:cNvSpPr/>
          <p:nvPr/>
        </p:nvSpPr>
        <p:spPr>
          <a:xfrm>
            <a:off x="548640" y="3895344"/>
            <a:ext cx="5364328" cy="2368296"/>
          </a:xfrm>
          <a:prstGeom prst="rect">
            <a:avLst/>
          </a:prstGeom>
          <a:solidFill>
            <a:srgbClr val="F7F8FA"/>
          </a:solidFill>
          <a:ln w="15875">
            <a:solidFill>
              <a:srgbClr val="1F3A5F"/>
            </a:solidFill>
            <a:prstDash val="solid"/>
          </a:ln>
        </p:spPr>
      </p:sp>
      <p:sp>
        <p:nvSpPr>
          <p:cNvPr id="6" name="equation title"/>
          <p:cNvSpPr txBox="1"/>
          <p:nvPr/>
        </p:nvSpPr>
        <p:spPr>
          <a:xfrm>
            <a:off x="713232" y="3968496"/>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 against the required mass</a:t>
            </a:r>
            <a:endParaRPr lang="en-US" sz="1100" dirty="0"/>
          </a:p>
        </p:txBody>
      </p:sp>
      <p:sp>
        <p:nvSpPr>
          <p:cNvPr id="7" name="equations"/>
          <p:cNvSpPr txBox="1"/>
          <p:nvPr/>
        </p:nvSpPr>
        <p:spPr>
          <a:xfrm>
            <a:off x="713232" y="4206240"/>
            <a:ext cx="5035144" cy="1335024"/>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m</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max</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F</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design</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(k g)</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16.8 N / (1.101 × 9.81 m/s²)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1.56 kg</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m</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claw</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0.55 × 0.927 + 0.198 + 0.055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0.76 kg</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Required: 0.76 + 0.10 + 0.90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1.76 kg</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&gt; 1.56 kg</a:t>
            </a:r>
            <a:endParaRPr lang="en-US" sz="1550" dirty="0"/>
          </a:p>
        </p:txBody>
      </p:sp>
      <p:sp>
        <p:nvSpPr>
          <p:cNvPr id="8" name="equation inputs"/>
          <p:cNvSpPr txBox="1"/>
          <p:nvPr/>
        </p:nvSpPr>
        <p:spPr>
          <a:xfrm>
            <a:off x="713232" y="5577840"/>
            <a:ext cx="5035144" cy="612648"/>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k = worst cable tension per unit weight over the room, with 2 m/s²; 0.55 = print fill; 0.927 kg = solid PETG from CAD; 0.198 kg tube; 0.055 kg servo; 0.10 kg battery; 0.90 kg jeans</a:t>
            </a:r>
            <a:endParaRPr lang="en-US" sz="1100" dirty="0"/>
          </a:p>
        </p:txBody>
      </p:sp>
      <p:pic>
        <p:nvPicPr>
          <p:cNvPr id="9" name="Chart from the calculation sheet: Lift b" descr="Chart from the calculation sheet: Lift budget">    </p:cNvPr>
          <p:cNvPicPr>
            <a:picLocks noChangeAspect="1"/>
          </p:cNvPicPr>
          <p:nvPr/>
        </p:nvPicPr>
        <p:blipFill>
          <a:blip r:embed="rId1"/>
          <a:stretch>
            <a:fillRect/>
          </a:stretch>
        </p:blipFill>
        <p:spPr>
          <a:xfrm>
            <a:off x="6324448" y="1554480"/>
            <a:ext cx="5318608" cy="3660580"/>
          </a:xfrm>
          <a:prstGeom prst="rect">
            <a:avLst/>
          </a:prstGeom>
        </p:spPr>
      </p:pic>
      <p:sp>
        <p:nvSpPr>
          <p:cNvPr id="10" name="chart frame"/>
          <p:cNvSpPr/>
          <p:nvPr/>
        </p:nvSpPr>
        <p:spPr>
          <a:xfrm>
            <a:off x="6324448" y="1554480"/>
            <a:ext cx="5318608" cy="3660580"/>
          </a:xfrm>
          <a:prstGeom prst="rect">
            <a:avLst/>
          </a:prstGeom>
          <a:ln w="9525">
            <a:solidFill>
              <a:srgbClr val="BFBFBF"/>
            </a:solidFill>
            <a:prstDash val="solid"/>
          </a:ln>
        </p:spPr>
      </p:sp>
      <p:sp>
        <p:nvSpPr>
          <p:cNvPr id="11" name="caption"/>
          <p:cNvSpPr txBox="1"/>
          <p:nvPr/>
        </p:nvSpPr>
        <p:spPr>
          <a:xfrm>
            <a:off x="6324448" y="528821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“Lift budget” (calculated values)</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Printed Part Fits</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2816352"/>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PETG printed on a Creality K1 at 0.2 mm layers</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Printed holes come out undersize by at least 0.2 mm</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The spool needed three prints to fit the motor shaft</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Fit coupons are now printed before full parts</a:t>
            </a:r>
            <a:endParaRPr lang="en-US" sz="1800" dirty="0"/>
          </a:p>
        </p:txBody>
      </p:sp>
      <p:sp>
        <p:nvSpPr>
          <p:cNvPr id="5" name="equation box"/>
          <p:cNvSpPr/>
          <p:nvPr/>
        </p:nvSpPr>
        <p:spPr>
          <a:xfrm>
            <a:off x="548640" y="4416552"/>
            <a:ext cx="5364328" cy="1847088"/>
          </a:xfrm>
          <a:prstGeom prst="rect">
            <a:avLst/>
          </a:prstGeom>
          <a:solidFill>
            <a:srgbClr val="F7F8FA"/>
          </a:solidFill>
          <a:ln w="15875">
            <a:solidFill>
              <a:srgbClr val="1F3A5F"/>
            </a:solidFill>
            <a:prstDash val="solid"/>
          </a:ln>
        </p:spPr>
      </p:sp>
      <p:sp>
        <p:nvSpPr>
          <p:cNvPr id="6" name="equation title"/>
          <p:cNvSpPr txBox="1"/>
          <p:nvPr/>
        </p:nvSpPr>
        <p:spPr>
          <a:xfrm>
            <a:off x="713232" y="4489704"/>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Spool bore clearance</a:t>
            </a:r>
            <a:endParaRPr lang="en-US" sz="1100" dirty="0"/>
          </a:p>
        </p:txBody>
      </p:sp>
      <p:sp>
        <p:nvSpPr>
          <p:cNvPr id="7" name="equations"/>
          <p:cNvSpPr txBox="1"/>
          <p:nvPr/>
        </p:nvSpPr>
        <p:spPr>
          <a:xfrm>
            <a:off x="713232" y="4727448"/>
            <a:ext cx="5035144" cy="1005840"/>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c = (D</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hole</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u) − D</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shaft</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Ø5.2 bore too tight, so u ≥ 0.2 mm</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c = (5.45 − 0.2) − 5.00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0.25 mm</a:t>
            </a:r>
            <a:endParaRPr lang="en-US" sz="1550" dirty="0"/>
          </a:p>
        </p:txBody>
      </p:sp>
      <p:sp>
        <p:nvSpPr>
          <p:cNvPr id="8" name="equation inputs"/>
          <p:cNvSpPr txBox="1"/>
          <p:nvPr/>
        </p:nvSpPr>
        <p:spPr>
          <a:xfrm>
            <a:off x="713232" y="5769864"/>
            <a:ext cx="5035144" cy="420624"/>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c = clearance; u = printer undersize; D</a:t>
            </a:r>
            <a:pPr indent="0" marL="0">
              <a:buNone/>
            </a:pPr>
            <a:r>
              <a:rPr lang="en-US" sz="1100" baseline="-40000" dirty="0">
                <a:solidFill>
                  <a:srgbClr val="404040"/>
                </a:solidFill>
                <a:latin typeface="Arial" pitchFamily="34" charset="0"/>
                <a:ea typeface="Arial" pitchFamily="34" charset="-122"/>
                <a:cs typeface="Arial" pitchFamily="34" charset="-120"/>
              </a:rPr>
              <a:t>shaft</a:t>
            </a:r>
            <a:pPr indent="0" marL="0">
              <a:buNone/>
            </a:pPr>
            <a:r>
              <a:rPr lang="en-US" sz="1100" dirty="0">
                <a:solidFill>
                  <a:srgbClr val="404040"/>
                </a:solidFill>
                <a:latin typeface="Arial" pitchFamily="34" charset="0"/>
                <a:ea typeface="Arial" pitchFamily="34" charset="-122"/>
                <a:cs typeface="Arial" pitchFamily="34" charset="-120"/>
              </a:rPr>
              <a:t> = 5.00 mm motor shaft; version 3 bore Ø5.45 with a D-flat for the set screw</a:t>
            </a:r>
            <a:endParaRPr lang="en-US" sz="1100" dirty="0"/>
          </a:p>
        </p:txBody>
      </p:sp>
      <p:sp>
        <p:nvSpPr>
          <p:cNvPr id="9" name="Shape 7"/>
          <p:cNvSpPr/>
          <p:nvPr/>
        </p:nvSpPr>
        <p:spPr>
          <a:xfrm>
            <a:off x="6324448" y="1463040"/>
            <a:ext cx="1681429" cy="4526280"/>
          </a:xfrm>
          <a:prstGeom prst="rect">
            <a:avLst/>
          </a:prstGeom>
          <a:solidFill>
            <a:srgbClr val="F2F2F2"/>
          </a:solidFill>
          <a:ln w="12700">
            <a:solidFill>
              <a:srgbClr val="F2F2F2"/>
            </a:solidFill>
            <a:prstDash val="solid"/>
          </a:ln>
        </p:spPr>
      </p:sp>
      <p:pic>
        <p:nvPicPr>
          <p:cNvPr id="10" name="Spool v1, v2, v3" descr="Spool v1, v2, v3">    </p:cNvPr>
          <p:cNvPicPr>
            <a:picLocks noChangeAspect="1"/>
          </p:cNvPicPr>
          <p:nvPr/>
        </p:nvPicPr>
        <p:blipFill>
          <a:blip r:embed="rId1"/>
          <a:stretch>
            <a:fillRect/>
          </a:stretch>
        </p:blipFill>
        <p:spPr>
          <a:xfrm>
            <a:off x="6379312" y="2933089"/>
            <a:ext cx="1571701" cy="1586182"/>
          </a:xfrm>
          <a:prstGeom prst="rect">
            <a:avLst/>
          </a:prstGeom>
        </p:spPr>
      </p:pic>
      <p:sp>
        <p:nvSpPr>
          <p:cNvPr id="11" name="Shape 8"/>
          <p:cNvSpPr/>
          <p:nvPr/>
        </p:nvSpPr>
        <p:spPr>
          <a:xfrm>
            <a:off x="8143037" y="1463040"/>
            <a:ext cx="1681429" cy="4526280"/>
          </a:xfrm>
          <a:prstGeom prst="rect">
            <a:avLst/>
          </a:prstGeom>
          <a:solidFill>
            <a:srgbClr val="F2F2F2"/>
          </a:solidFill>
          <a:ln w="12700">
            <a:solidFill>
              <a:srgbClr val="F2F2F2"/>
            </a:solidFill>
            <a:prstDash val="solid"/>
          </a:ln>
        </p:spPr>
      </p:sp>
      <p:pic>
        <p:nvPicPr>
          <p:cNvPr id="12" name="Spool v1, v2, v3" descr="Spool v1, v2, v3">    </p:cNvPr>
          <p:cNvPicPr>
            <a:picLocks noChangeAspect="1"/>
          </p:cNvPicPr>
          <p:nvPr/>
        </p:nvPicPr>
        <p:blipFill>
          <a:blip r:embed="rId2"/>
          <a:stretch>
            <a:fillRect/>
          </a:stretch>
        </p:blipFill>
        <p:spPr>
          <a:xfrm>
            <a:off x="8197901" y="2989477"/>
            <a:ext cx="1571701" cy="1473405"/>
          </a:xfrm>
          <a:prstGeom prst="rect">
            <a:avLst/>
          </a:prstGeom>
        </p:spPr>
      </p:pic>
      <p:sp>
        <p:nvSpPr>
          <p:cNvPr id="13" name="Shape 9"/>
          <p:cNvSpPr/>
          <p:nvPr/>
        </p:nvSpPr>
        <p:spPr>
          <a:xfrm>
            <a:off x="9961626" y="1463040"/>
            <a:ext cx="1681429" cy="4526280"/>
          </a:xfrm>
          <a:prstGeom prst="rect">
            <a:avLst/>
          </a:prstGeom>
          <a:solidFill>
            <a:srgbClr val="F2F2F2"/>
          </a:solidFill>
          <a:ln w="12700">
            <a:solidFill>
              <a:srgbClr val="F2F2F2"/>
            </a:solidFill>
            <a:prstDash val="solid"/>
          </a:ln>
        </p:spPr>
      </p:sp>
      <p:pic>
        <p:nvPicPr>
          <p:cNvPr id="14" name="Spool v1, v2, v3" descr="Spool v1, v2, v3">    </p:cNvPr>
          <p:cNvPicPr>
            <a:picLocks noChangeAspect="1"/>
          </p:cNvPicPr>
          <p:nvPr/>
        </p:nvPicPr>
        <p:blipFill>
          <a:blip r:embed="rId3"/>
          <a:stretch>
            <a:fillRect/>
          </a:stretch>
        </p:blipFill>
        <p:spPr>
          <a:xfrm>
            <a:off x="10016490" y="2933646"/>
            <a:ext cx="1571701" cy="1585068"/>
          </a:xfrm>
          <a:prstGeom prst="rect">
            <a:avLst/>
          </a:prstGeom>
        </p:spPr>
      </p:pic>
      <p:sp>
        <p:nvSpPr>
          <p:cNvPr id="15" name="caption"/>
          <p:cNvSpPr txBox="1"/>
          <p:nvPr/>
        </p:nvSpPr>
        <p:spPr>
          <a:xfrm>
            <a:off x="6324448" y="606247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versions 1, 2 and 3 (CAD)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Heat Fin Manufacturing</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4920551"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Shop drawing printed 1:1 and used as a hole template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Prototype cut from 0.019 in aluminum sheet already on hand</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All five holes drilled in one mill setup to ±0.1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Fin bolted to the motor without reaming</a:t>
            </a:r>
            <a:endParaRPr lang="en-US" sz="2000" dirty="0"/>
          </a:p>
        </p:txBody>
      </p:sp>
      <p:sp>
        <p:nvSpPr>
          <p:cNvPr id="5" name="Shape 3"/>
          <p:cNvSpPr/>
          <p:nvPr/>
        </p:nvSpPr>
        <p:spPr>
          <a:xfrm>
            <a:off x="5880671" y="1463040"/>
            <a:ext cx="2826328" cy="2162556"/>
          </a:xfrm>
          <a:prstGeom prst="rect">
            <a:avLst/>
          </a:prstGeom>
          <a:solidFill>
            <a:srgbClr val="F2F2F2"/>
          </a:solidFill>
          <a:ln w="12700">
            <a:solidFill>
              <a:srgbClr val="F2F2F2"/>
            </a:solidFill>
            <a:prstDash val="solid"/>
          </a:ln>
        </p:spPr>
      </p:sp>
      <p:pic>
        <p:nvPicPr>
          <p:cNvPr id="6" name="Fin manufacturing photos" descr="Fin manufacturing photos">    </p:cNvPr>
          <p:cNvPicPr>
            <a:picLocks noChangeAspect="1"/>
          </p:cNvPicPr>
          <p:nvPr/>
        </p:nvPicPr>
        <p:blipFill>
          <a:blip r:embed="rId1"/>
          <a:stretch>
            <a:fillRect/>
          </a:stretch>
        </p:blipFill>
        <p:spPr>
          <a:xfrm>
            <a:off x="5935535" y="1525593"/>
            <a:ext cx="2716600" cy="2037450"/>
          </a:xfrm>
          <a:prstGeom prst="rect">
            <a:avLst/>
          </a:prstGeom>
        </p:spPr>
      </p:pic>
      <p:sp>
        <p:nvSpPr>
          <p:cNvPr id="7" name="Shape 4"/>
          <p:cNvSpPr/>
          <p:nvPr/>
        </p:nvSpPr>
        <p:spPr>
          <a:xfrm>
            <a:off x="8816727" y="1463040"/>
            <a:ext cx="2826328" cy="2162556"/>
          </a:xfrm>
          <a:prstGeom prst="rect">
            <a:avLst/>
          </a:prstGeom>
          <a:solidFill>
            <a:srgbClr val="F2F2F2"/>
          </a:solidFill>
          <a:ln w="12700">
            <a:solidFill>
              <a:srgbClr val="F2F2F2"/>
            </a:solidFill>
            <a:prstDash val="solid"/>
          </a:ln>
        </p:spPr>
      </p:sp>
      <p:pic>
        <p:nvPicPr>
          <p:cNvPr id="8" name="Fin manufacturing photos" descr="Fin manufacturing photos">    </p:cNvPr>
          <p:cNvPicPr>
            <a:picLocks noChangeAspect="1"/>
          </p:cNvPicPr>
          <p:nvPr/>
        </p:nvPicPr>
        <p:blipFill>
          <a:blip r:embed="rId2"/>
          <a:stretch>
            <a:fillRect/>
          </a:stretch>
        </p:blipFill>
        <p:spPr>
          <a:xfrm>
            <a:off x="9460081" y="1517904"/>
            <a:ext cx="1539621" cy="2052828"/>
          </a:xfrm>
          <a:prstGeom prst="rect">
            <a:avLst/>
          </a:prstGeom>
        </p:spPr>
      </p:pic>
      <p:sp>
        <p:nvSpPr>
          <p:cNvPr id="9" name="Shape 5"/>
          <p:cNvSpPr/>
          <p:nvPr/>
        </p:nvSpPr>
        <p:spPr>
          <a:xfrm>
            <a:off x="5880671" y="3735324"/>
            <a:ext cx="2826328" cy="2162556"/>
          </a:xfrm>
          <a:prstGeom prst="rect">
            <a:avLst/>
          </a:prstGeom>
          <a:solidFill>
            <a:srgbClr val="F2F2F2"/>
          </a:solidFill>
          <a:ln w="12700">
            <a:solidFill>
              <a:srgbClr val="F2F2F2"/>
            </a:solidFill>
            <a:prstDash val="solid"/>
          </a:ln>
        </p:spPr>
      </p:sp>
      <p:pic>
        <p:nvPicPr>
          <p:cNvPr id="10" name="Fin manufacturing photos" descr="Fin manufacturing photos">    </p:cNvPr>
          <p:cNvPicPr>
            <a:picLocks noChangeAspect="1"/>
          </p:cNvPicPr>
          <p:nvPr/>
        </p:nvPicPr>
        <p:blipFill>
          <a:blip r:embed="rId3"/>
          <a:stretch>
            <a:fillRect/>
          </a:stretch>
        </p:blipFill>
        <p:spPr>
          <a:xfrm>
            <a:off x="6524025" y="3790188"/>
            <a:ext cx="1539621" cy="2052828"/>
          </a:xfrm>
          <a:prstGeom prst="rect">
            <a:avLst/>
          </a:prstGeom>
        </p:spPr>
      </p:pic>
      <p:sp>
        <p:nvSpPr>
          <p:cNvPr id="11" name="Shape 6"/>
          <p:cNvSpPr/>
          <p:nvPr/>
        </p:nvSpPr>
        <p:spPr>
          <a:xfrm>
            <a:off x="8816727" y="3735324"/>
            <a:ext cx="2826328" cy="2162556"/>
          </a:xfrm>
          <a:prstGeom prst="rect">
            <a:avLst/>
          </a:prstGeom>
          <a:solidFill>
            <a:srgbClr val="F2F2F2"/>
          </a:solidFill>
          <a:ln w="12700">
            <a:solidFill>
              <a:srgbClr val="F2F2F2"/>
            </a:solidFill>
            <a:prstDash val="solid"/>
          </a:ln>
        </p:spPr>
      </p:sp>
      <p:pic>
        <p:nvPicPr>
          <p:cNvPr id="12" name="Fin manufacturing photos" descr="Fin manufacturing photos">    </p:cNvPr>
          <p:cNvPicPr>
            <a:picLocks noChangeAspect="1"/>
          </p:cNvPicPr>
          <p:nvPr/>
        </p:nvPicPr>
        <p:blipFill>
          <a:blip r:embed="rId4"/>
          <a:stretch>
            <a:fillRect/>
          </a:stretch>
        </p:blipFill>
        <p:spPr>
          <a:xfrm>
            <a:off x="9460081" y="3790188"/>
            <a:ext cx="1539621" cy="2052828"/>
          </a:xfrm>
          <a:prstGeom prst="rect">
            <a:avLst/>
          </a:prstGeom>
        </p:spPr>
      </p:pic>
      <p:sp>
        <p:nvSpPr>
          <p:cNvPr id="13" name="caption"/>
          <p:cNvSpPr txBox="1"/>
          <p:nvPr/>
        </p:nvSpPr>
        <p:spPr>
          <a:xfrm>
            <a:off x="5880671" y="5971032"/>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Shear and blanks, mill setup with the drawing, drilling, and the finished fin</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Electronics Bring-Up</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4920551"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Driver stays disabled at boot, so a reset cannot move the motor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Schematic generated from the soldered board, 16 nets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First motor failed to turn: logic rail measured 1.14 V instead of 3.3 V</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Supply rails are now checked with a meter before any code is loaded</a:t>
            </a:r>
            <a:endParaRPr lang="en-US" sz="2000" dirty="0"/>
          </a:p>
        </p:txBody>
      </p:sp>
      <p:sp>
        <p:nvSpPr>
          <p:cNvPr id="5" name="Shape 3"/>
          <p:cNvSpPr/>
          <p:nvPr/>
        </p:nvSpPr>
        <p:spPr>
          <a:xfrm>
            <a:off x="5880671" y="1463040"/>
            <a:ext cx="2812612" cy="4526280"/>
          </a:xfrm>
          <a:prstGeom prst="rect">
            <a:avLst/>
          </a:prstGeom>
          <a:solidFill>
            <a:srgbClr val="F2F2F2"/>
          </a:solidFill>
          <a:ln w="12700">
            <a:solidFill>
              <a:srgbClr val="F2F2F2"/>
            </a:solidFill>
            <a:prstDash val="solid"/>
          </a:ln>
        </p:spPr>
      </p:sp>
      <p:pic>
        <p:nvPicPr>
          <p:cNvPr id="6" name="Soldered station board and bench bring-u" descr="Soldered station board and bench bring-up">    </p:cNvPr>
          <p:cNvPicPr>
            <a:picLocks noChangeAspect="1"/>
          </p:cNvPicPr>
          <p:nvPr/>
        </p:nvPicPr>
        <p:blipFill>
          <a:blip r:embed="rId1"/>
          <a:stretch>
            <a:fillRect/>
          </a:stretch>
        </p:blipFill>
        <p:spPr>
          <a:xfrm>
            <a:off x="5935535" y="1924257"/>
            <a:ext cx="2702884" cy="3603845"/>
          </a:xfrm>
          <a:prstGeom prst="rect">
            <a:avLst/>
          </a:prstGeom>
        </p:spPr>
      </p:pic>
      <p:sp>
        <p:nvSpPr>
          <p:cNvPr id="7" name="Shape 4"/>
          <p:cNvSpPr/>
          <p:nvPr/>
        </p:nvSpPr>
        <p:spPr>
          <a:xfrm>
            <a:off x="8830443" y="1463040"/>
            <a:ext cx="2812612" cy="4526280"/>
          </a:xfrm>
          <a:prstGeom prst="rect">
            <a:avLst/>
          </a:prstGeom>
          <a:solidFill>
            <a:srgbClr val="F2F2F2"/>
          </a:solidFill>
          <a:ln w="12700">
            <a:solidFill>
              <a:srgbClr val="F2F2F2"/>
            </a:solidFill>
            <a:prstDash val="solid"/>
          </a:ln>
        </p:spPr>
      </p:sp>
      <p:pic>
        <p:nvPicPr>
          <p:cNvPr id="8" name="Soldered station board and bench bring-u" descr="Soldered station board and bench bring-up">    </p:cNvPr>
          <p:cNvPicPr>
            <a:picLocks noChangeAspect="1"/>
          </p:cNvPicPr>
          <p:nvPr/>
        </p:nvPicPr>
        <p:blipFill>
          <a:blip r:embed="rId2"/>
          <a:stretch>
            <a:fillRect/>
          </a:stretch>
        </p:blipFill>
        <p:spPr>
          <a:xfrm>
            <a:off x="8885307" y="1924257"/>
            <a:ext cx="2702884" cy="3603845"/>
          </a:xfrm>
          <a:prstGeom prst="rect">
            <a:avLst/>
          </a:prstGeom>
        </p:spPr>
      </p:pic>
      <p:sp>
        <p:nvSpPr>
          <p:cNvPr id="9" name="caption"/>
          <p:cNvSpPr txBox="1"/>
          <p:nvPr/>
        </p:nvSpPr>
        <p:spPr>
          <a:xfrm>
            <a:off x="5880671" y="6062472"/>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left; bench bring-up, right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First System Test</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4476774"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Three stations: the fewest cables that fully constrain the claw</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Sequence: self-check, calibration, short move, then pickup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1 lb test load first, then one garment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Pass limits defined before the run</a:t>
            </a:r>
            <a:endParaRPr lang="en-US" sz="2000" dirty="0"/>
          </a:p>
        </p:txBody>
      </p:sp>
      <p:sp>
        <p:nvSpPr>
          <p:cNvPr id="5" name="placeholder"/>
          <p:cNvSpPr/>
          <p:nvPr/>
        </p:nvSpPr>
        <p:spPr>
          <a:xfrm>
            <a:off x="5436894" y="1463040"/>
            <a:ext cx="6206161" cy="2240280"/>
          </a:xfrm>
          <a:prstGeom prst="rect">
            <a:avLst/>
          </a:prstGeom>
          <a:solidFill>
            <a:srgbClr val="F2F2F2"/>
          </a:solidFill>
          <a:ln w="12700">
            <a:solidFill>
              <a:srgbClr val="B23A2E"/>
            </a:solidFill>
            <a:prstDash val="dash"/>
          </a:ln>
        </p:spPr>
      </p:sp>
      <p:sp>
        <p:nvSpPr>
          <p:cNvPr id="6" name="placeholder text"/>
          <p:cNvSpPr txBox="1"/>
          <p:nvPr/>
        </p:nvSpPr>
        <p:spPr>
          <a:xfrm>
            <a:off x="5619774" y="1463040"/>
            <a:ext cx="5840401" cy="2240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21" name="pass limits"/>
          <p:cNvGraphicFramePr>
            <a:graphicFrameLocks noGrp="1"/>
          </p:cNvGraphicFramePr>
          <p:nvPr>
            <p:extLst>
              <p:ext uri="{D42A27DB-BD31-4B8C-83A1-F6EECF244321}">
                <p14:modId xmlns:p14="http://schemas.microsoft.com/office/powerpoint/2010/main" val="1579011935"/>
              </p:ext>
            </p:extLst>
          </p:nvPr>
        </p:nvGraphicFramePr>
        <p:xfrm>
          <a:off x="5436894" y="3886200"/>
          <a:ext cx="6206161" cy="914400"/>
        </p:xfrm>
        <a:graphic>
          <a:graphicData uri="http://schemas.openxmlformats.org/drawingml/2006/table">
            <a:tbl>
              <a:tblPr/>
              <a:tblGrid>
                <a:gridCol w="1861848"/>
                <a:gridCol w="3103080"/>
                <a:gridCol w="1241232"/>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Startup 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Calibration fit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Held-out poses inside the safety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Thermal Verification</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4698663"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PETG mount must stay below 60 °C</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Hand calculation: 56–59 °C with the prototype fin, 45–49 °C with the 1/8 in fin</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SolidWorks thermal study of the motor, fin, screws and mount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90-minute hold test at 1.5 A to confirm</a:t>
            </a:r>
            <a:endParaRPr lang="en-US" sz="2000" dirty="0"/>
          </a:p>
        </p:txBody>
      </p:sp>
      <p:sp>
        <p:nvSpPr>
          <p:cNvPr id="5" name="placeholder"/>
          <p:cNvSpPr/>
          <p:nvPr/>
        </p:nvSpPr>
        <p:spPr>
          <a:xfrm>
            <a:off x="5658783" y="1463040"/>
            <a:ext cx="5984273" cy="2194560"/>
          </a:xfrm>
          <a:prstGeom prst="rect">
            <a:avLst/>
          </a:prstGeom>
          <a:solidFill>
            <a:srgbClr val="F2F2F2"/>
          </a:solidFill>
          <a:ln w="12700">
            <a:solidFill>
              <a:srgbClr val="B23A2E"/>
            </a:solidFill>
            <a:prstDash val="dash"/>
          </a:ln>
        </p:spPr>
      </p:sp>
      <p:sp>
        <p:nvSpPr>
          <p:cNvPr id="6" name="placeholder text"/>
          <p:cNvSpPr txBox="1"/>
          <p:nvPr/>
        </p:nvSpPr>
        <p:spPr>
          <a:xfrm>
            <a:off x="5841663" y="1463040"/>
            <a:ext cx="5618513" cy="21945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[SolidWorks temperature plot: motor, fin, screws and mount]</a:t>
            </a:r>
            <a:endParaRPr lang="en-US" sz="1600" dirty="0"/>
          </a:p>
        </p:txBody>
      </p:sp>
      <p:graphicFrame>
        <p:nvGraphicFramePr>
          <p:cNvPr id="22" name="thermal methods"/>
          <p:cNvGraphicFramePr>
            <a:graphicFrameLocks noGrp="1"/>
          </p:cNvGraphicFramePr>
          <p:nvPr>
            <p:extLst>
              <p:ext uri="{D42A27DB-BD31-4B8C-83A1-F6EECF244321}">
                <p14:modId xmlns:p14="http://schemas.microsoft.com/office/powerpoint/2010/main" val="1579011935"/>
              </p:ext>
            </p:extLst>
          </p:nvPr>
        </p:nvGraphicFramePr>
        <p:xfrm>
          <a:off x="5658783" y="3794760"/>
          <a:ext cx="5984273" cy="914400"/>
        </p:xfrm>
        <a:graphic>
          <a:graphicData uri="http://schemas.openxmlformats.org/drawingml/2006/table">
            <a:tbl>
              <a:tblPr/>
              <a:tblGrid>
                <a:gridCol w="1675596"/>
                <a:gridCol w="1436225"/>
                <a:gridCol w="1436225"/>
                <a:gridCol w="1436225"/>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Method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0.019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1/8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PETG mount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Hand calculation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56–59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45–49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About motor 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SolidWorks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caption"/>
          <p:cNvSpPr txBox="1"/>
          <p:nvPr/>
        </p:nvSpPr>
        <p:spPr>
          <a:xfrm>
            <a:off x="5658783" y="5733288"/>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Motor temperature at 1.5 A, 23 °C room, vented shell</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Good and Poor Decisions</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graphicFrame>
        <p:nvGraphicFramePr>
          <p:cNvPr id="23" name="good decisions"/>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93989"/>
                <a:gridCol w="7100426"/>
              </a:tblGrid>
              <a:tr h="438912">
                <a:tc>
                  <a:txBody>
                    <a:bodyPr/>
                    <a:lstStyle/>
                    <a:p>
                      <a:pPr indent="0" marL="0">
                        <a:buNone/>
                      </a:pPr>
                      <a:r>
                        <a:rPr lang="en-US" sz="1400" b="1" dirty="0">
                          <a:solidFill>
                            <a:srgbClr val="FFFFFF"/>
                          </a:solidFill>
                          <a:latin typeface="Arial" pitchFamily="34" charset="0"/>
                          <a:ea typeface="Arial" pitchFamily="34" charset="-122"/>
                          <a:cs typeface="Arial" pitchFamily="34" charset="-120"/>
                        </a:rPr>
                        <a:t>Good decision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Outcome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400" b="1" dirty="0">
                          <a:solidFill>
                            <a:srgbClr val="000000"/>
                          </a:solidFill>
                          <a:latin typeface="Arial" pitchFamily="34" charset="0"/>
                          <a:ea typeface="Arial" pitchFamily="34" charset="-122"/>
                          <a:cs typeface="Arial" pitchFamily="34" charset="-120"/>
                        </a:rPr>
                        <a:t>One controller per winch</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Five times less wire; each station tested on its own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400" b="1" dirty="0">
                          <a:solidFill>
                            <a:srgbClr val="000000"/>
                          </a:solidFill>
                          <a:latin typeface="Arial" pitchFamily="34" charset="0"/>
                          <a:ea typeface="Arial" pitchFamily="34" charset="-122"/>
                          <a:cs typeface="Arial" pitchFamily="34" charset="-120"/>
                        </a:rPr>
                        <a:t>Slide-in wall mount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 station comes off while its anchor stays in place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400" b="1" dirty="0">
                          <a:solidFill>
                            <a:srgbClr val="000000"/>
                          </a:solidFill>
                          <a:latin typeface="Arial" pitchFamily="34" charset="0"/>
                          <a:ea typeface="Arial" pitchFamily="34" charset="-122"/>
                          <a:cs typeface="Arial" pitchFamily="34" charset="-120"/>
                        </a:rPr>
                        <a:t>Camera calibration instead of bead homing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Whole room reachable; no tape measure needed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400" b="1" dirty="0">
                          <a:solidFill>
                            <a:srgbClr val="000000"/>
                          </a:solidFill>
                          <a:latin typeface="Arial" pitchFamily="34" charset="0"/>
                          <a:ea typeface="Arial" pitchFamily="34" charset="-122"/>
                          <a:cs typeface="Arial" pitchFamily="34" charset="-120"/>
                        </a:rPr>
                        <a:t>Gear strength checked at servo stall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Module 1 gears would have failed; fixed in CAD before printing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45" name="poor decisions"/>
          <p:cNvGraphicFramePr>
            <a:graphicFrameLocks noGrp="1"/>
          </p:cNvGraphicFramePr>
          <p:nvPr>
            <p:extLst>
              <p:ext uri="{D42A27DB-BD31-4B8C-83A1-F6EECF244321}">
                <p14:modId xmlns:p14="http://schemas.microsoft.com/office/powerpoint/2010/main" val="1579011935"/>
              </p:ext>
            </p:extLst>
          </p:nvPr>
        </p:nvGraphicFramePr>
        <p:xfrm>
          <a:off x="548640" y="3886200"/>
          <a:ext cx="11094415" cy="914400"/>
        </p:xfrm>
        <a:graphic>
          <a:graphicData uri="http://schemas.openxmlformats.org/drawingml/2006/table">
            <a:tbl>
              <a:tblPr/>
              <a:tblGrid>
                <a:gridCol w="3993989"/>
                <a:gridCol w="7100426"/>
              </a:tblGrid>
              <a:tr h="438912">
                <a:tc>
                  <a:txBody>
                    <a:bodyPr/>
                    <a:lstStyle/>
                    <a:p>
                      <a:pPr indent="0" marL="0">
                        <a:buNone/>
                      </a:pPr>
                      <a:r>
                        <a:rPr lang="en-US" sz="1400" b="1" dirty="0">
                          <a:solidFill>
                            <a:srgbClr val="FFFFFF"/>
                          </a:solidFill>
                          <a:latin typeface="Arial" pitchFamily="34" charset="0"/>
                          <a:ea typeface="Arial" pitchFamily="34" charset="-122"/>
                          <a:cs typeface="Arial" pitchFamily="34" charset="-120"/>
                        </a:rPr>
                        <a:t>Poor decision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Outcome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38912">
                <a:tc>
                  <a:txBody>
                    <a:bodyPr/>
                    <a:lstStyle/>
                    <a:p>
                      <a:pPr indent="0" marL="0">
                        <a:buNone/>
                      </a:pPr>
                      <a:r>
                        <a:rPr lang="en-US" sz="1400" b="1" dirty="0">
                          <a:solidFill>
                            <a:srgbClr val="000000"/>
                          </a:solidFill>
                          <a:latin typeface="Arial" pitchFamily="34" charset="0"/>
                          <a:ea typeface="Arial" pitchFamily="34" charset="-122"/>
                          <a:cs typeface="Arial" pitchFamily="34" charset="-120"/>
                        </a:rPr>
                        <a:t>Mass budget set late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Claw and jeans are 0.2 kg over capacity, even at 1.5 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400" b="1" dirty="0">
                          <a:solidFill>
                            <a:srgbClr val="000000"/>
                          </a:solidFill>
                          <a:latin typeface="Arial" pitchFamily="34" charset="0"/>
                          <a:ea typeface="Arial" pitchFamily="34" charset="-122"/>
                          <a:cs typeface="Arial" pitchFamily="34" charset="-120"/>
                        </a:rPr>
                        <a:t>Bead homing as the first plan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Under a third of the room reachable; redesign needed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400" b="1" dirty="0">
                          <a:solidFill>
                            <a:srgbClr val="000000"/>
                          </a:solidFill>
                          <a:latin typeface="Arial" pitchFamily="34" charset="0"/>
                          <a:ea typeface="Arial" pitchFamily="34" charset="-122"/>
                          <a:cs typeface="Arial" pitchFamily="34" charset="-120"/>
                        </a:rPr>
                        <a:t>Spool printed before a fit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Three prints to fit the motor shaft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400" b="1" dirty="0">
                          <a:solidFill>
                            <a:srgbClr val="000000"/>
                          </a:solidFill>
                          <a:latin typeface="Arial" pitchFamily="34" charset="0"/>
                          <a:ea typeface="Arial" pitchFamily="34" charset="-122"/>
                          <a:cs typeface="Arial" pitchFamily="34" charset="-120"/>
                        </a:rPr>
                        <a:t>Several stations built before one was proven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Every fix repeated on each station </a:t>
                      </a:r>
                      <a:pPr indent="0" marL="0">
                        <a:buNone/>
                      </a:pPr>
                      <a:r>
                        <a:rPr lang="en-US" sz="1400" i="1" dirty="0">
                          <a:solidFill>
                            <a:srgbClr val="B23A2E"/>
                          </a:solidFill>
                          <a:latin typeface="Arial" pitchFamily="34" charset="0"/>
                          <a:ea typeface="Arial" pitchFamily="34" charset="-122"/>
                          <a:cs typeface="Arial" pitchFamily="34" charset="-120"/>
                        </a:rPr>
                        <a:t>[confirm]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Thorough vs. Scrappy</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Thorough heading"/>
          <p:cNvSpPr txBox="1"/>
          <p:nvPr/>
        </p:nvSpPr>
        <p:spPr>
          <a:xfrm>
            <a:off x="548640" y="1417320"/>
            <a:ext cx="5364328" cy="347472"/>
          </a:xfrm>
          <a:prstGeom prst="rect">
            <a:avLst/>
          </a:prstGeom>
          <a:noFill/>
          <a:ln/>
        </p:spPr>
        <p:txBody>
          <a:bodyPr wrap="square" lIns="0" tIns="0" rIns="0" bIns="0" rtlCol="0" anchor="ctr"/>
          <a:lstStyle/>
          <a:p>
            <a:pPr algn="l" indent="0" marL="0">
              <a:buNone/>
            </a:pPr>
            <a:r>
              <a:rPr lang="en-US" sz="1700" b="1" dirty="0">
                <a:solidFill>
                  <a:srgbClr val="1F3A5F"/>
                </a:solidFill>
                <a:latin typeface="Arial" pitchFamily="34" charset="0"/>
                <a:ea typeface="Arial" pitchFamily="34" charset="-122"/>
                <a:cs typeface="Arial" pitchFamily="34" charset="-120"/>
              </a:rPr>
              <a:t>Thorough</a:t>
            </a:r>
            <a:endParaRPr lang="en-US" sz="1700" dirty="0"/>
          </a:p>
        </p:txBody>
      </p:sp>
      <p:sp>
        <p:nvSpPr>
          <p:cNvPr id="5" name="Shape 3"/>
          <p:cNvSpPr/>
          <p:nvPr/>
        </p:nvSpPr>
        <p:spPr>
          <a:xfrm>
            <a:off x="548640" y="1801368"/>
            <a:ext cx="5364328" cy="0"/>
          </a:xfrm>
          <a:prstGeom prst="line">
            <a:avLst/>
          </a:prstGeom>
          <a:noFill/>
          <a:ln w="12700">
            <a:solidFill>
              <a:srgbClr val="1F3A5F"/>
            </a:solidFill>
            <a:prstDash val="solid"/>
          </a:ln>
        </p:spPr>
      </p:sp>
      <p:sp>
        <p:nvSpPr>
          <p:cNvPr id="6" name="Shape 4"/>
          <p:cNvSpPr/>
          <p:nvPr/>
        </p:nvSpPr>
        <p:spPr>
          <a:xfrm>
            <a:off x="548640" y="1965960"/>
            <a:ext cx="5364328" cy="2103120"/>
          </a:xfrm>
          <a:prstGeom prst="rect">
            <a:avLst/>
          </a:prstGeom>
          <a:solidFill>
            <a:srgbClr val="F2F2F2"/>
          </a:solidFill>
          <a:ln w="12700">
            <a:solidFill>
              <a:srgbClr val="F2F2F2"/>
            </a:solidFill>
            <a:prstDash val="solid"/>
          </a:ln>
        </p:spPr>
      </p:sp>
      <p:pic>
        <p:nvPicPr>
          <p:cNvPr id="7" name="Heat fin: mill setup with the shop drawi" descr="Heat fin: mill setup with the shop drawing">    </p:cNvPr>
          <p:cNvPicPr>
            <a:picLocks noChangeAspect="1"/>
          </p:cNvPicPr>
          <p:nvPr/>
        </p:nvPicPr>
        <p:blipFill>
          <a:blip r:embed="rId1"/>
          <a:stretch>
            <a:fillRect/>
          </a:stretch>
        </p:blipFill>
        <p:spPr>
          <a:xfrm>
            <a:off x="2483282" y="2020824"/>
            <a:ext cx="1495044" cy="1993392"/>
          </a:xfrm>
          <a:prstGeom prst="rect">
            <a:avLst/>
          </a:prstGeom>
        </p:spPr>
      </p:pic>
      <p:sp>
        <p:nvSpPr>
          <p:cNvPr id="8" name="Thorough bullets"/>
          <p:cNvSpPr txBox="1"/>
          <p:nvPr/>
        </p:nvSpPr>
        <p:spPr>
          <a:xfrm>
            <a:off x="548640" y="4206240"/>
            <a:ext cx="536432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Heat fin sized by calculation and machined in one mill setup to ±0.1 mm</a:t>
            </a:r>
            <a:endParaRPr lang="en-US" sz="1600" dirty="0"/>
          </a:p>
          <a:p>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Station schematic checked net by net against the soldered board</a:t>
            </a:r>
            <a:endParaRPr lang="en-US" sz="1600" dirty="0"/>
          </a:p>
          <a:p>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Gear strength checked at servo stall before printing</a:t>
            </a:r>
            <a:endParaRPr lang="en-US" sz="1600" dirty="0"/>
          </a:p>
        </p:txBody>
      </p:sp>
      <p:sp>
        <p:nvSpPr>
          <p:cNvPr id="9" name="Scrappy heading"/>
          <p:cNvSpPr txBox="1"/>
          <p:nvPr/>
        </p:nvSpPr>
        <p:spPr>
          <a:xfrm>
            <a:off x="6278728" y="1417320"/>
            <a:ext cx="5364328" cy="347472"/>
          </a:xfrm>
          <a:prstGeom prst="rect">
            <a:avLst/>
          </a:prstGeom>
          <a:noFill/>
          <a:ln/>
        </p:spPr>
        <p:txBody>
          <a:bodyPr wrap="square" lIns="0" tIns="0" rIns="0" bIns="0" rtlCol="0" anchor="ctr"/>
          <a:lstStyle/>
          <a:p>
            <a:pPr algn="l" indent="0" marL="0">
              <a:buNone/>
            </a:pPr>
            <a:r>
              <a:rPr lang="en-US" sz="1700" b="1" dirty="0">
                <a:solidFill>
                  <a:srgbClr val="1F3A5F"/>
                </a:solidFill>
                <a:latin typeface="Arial" pitchFamily="34" charset="0"/>
                <a:ea typeface="Arial" pitchFamily="34" charset="-122"/>
                <a:cs typeface="Arial" pitchFamily="34" charset="-120"/>
              </a:rPr>
              <a:t>Scrappy</a:t>
            </a:r>
            <a:endParaRPr lang="en-US" sz="1700" dirty="0"/>
          </a:p>
        </p:txBody>
      </p:sp>
      <p:sp>
        <p:nvSpPr>
          <p:cNvPr id="10" name="Shape 7"/>
          <p:cNvSpPr/>
          <p:nvPr/>
        </p:nvSpPr>
        <p:spPr>
          <a:xfrm>
            <a:off x="6278728" y="1801368"/>
            <a:ext cx="5364328" cy="0"/>
          </a:xfrm>
          <a:prstGeom prst="line">
            <a:avLst/>
          </a:prstGeom>
          <a:noFill/>
          <a:ln w="12700">
            <a:solidFill>
              <a:srgbClr val="1F3A5F"/>
            </a:solidFill>
            <a:prstDash val="solid"/>
          </a:ln>
        </p:spPr>
      </p:sp>
      <p:sp>
        <p:nvSpPr>
          <p:cNvPr id="11" name="Shape 8"/>
          <p:cNvSpPr/>
          <p:nvPr/>
        </p:nvSpPr>
        <p:spPr>
          <a:xfrm>
            <a:off x="6278728" y="1965960"/>
            <a:ext cx="5364328" cy="2103120"/>
          </a:xfrm>
          <a:prstGeom prst="rect">
            <a:avLst/>
          </a:prstGeom>
          <a:solidFill>
            <a:srgbClr val="F2F2F2"/>
          </a:solidFill>
          <a:ln w="12700">
            <a:solidFill>
              <a:srgbClr val="F2F2F2"/>
            </a:solidFill>
            <a:prstDash val="solid"/>
          </a:ln>
        </p:spPr>
      </p:sp>
      <p:pic>
        <p:nvPicPr>
          <p:cNvPr id="12" name="ESP32 dev board jumpered onto the statio" descr="ESP32 dev board jumpered onto the station breadboard">    </p:cNvPr>
          <p:cNvPicPr>
            <a:picLocks noChangeAspect="1"/>
          </p:cNvPicPr>
          <p:nvPr/>
        </p:nvPicPr>
        <p:blipFill>
          <a:blip r:embed="rId2"/>
          <a:stretch>
            <a:fillRect/>
          </a:stretch>
        </p:blipFill>
        <p:spPr>
          <a:xfrm>
            <a:off x="7631774" y="2020824"/>
            <a:ext cx="2658235" cy="1993392"/>
          </a:xfrm>
          <a:prstGeom prst="rect">
            <a:avLst/>
          </a:prstGeom>
        </p:spPr>
      </p:pic>
      <p:sp>
        <p:nvSpPr>
          <p:cNvPr id="13" name="Scrappy bullets"/>
          <p:cNvSpPr txBox="1"/>
          <p:nvPr/>
        </p:nvSpPr>
        <p:spPr>
          <a:xfrm>
            <a:off x="6278728" y="4206240"/>
            <a:ext cx="536432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Failed controller replaced by an ESP32 dev board on nine jumpers, same firmware</a:t>
            </a:r>
            <a:endParaRPr lang="en-US" sz="1600" dirty="0"/>
          </a:p>
          <a:p>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Floor board made from paper tags on a 250 mm grid</a:t>
            </a:r>
            <a:endParaRPr lang="en-US" sz="1600" dirty="0"/>
          </a:p>
          <a:p>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Prototype fin cut from 0.019 in sheet already on hand</a:t>
            </a:r>
            <a:endParaRPr lang="en-US" sz="1600" dirty="0"/>
          </a:p>
        </p:txBody>
      </p:sp>
      <p:sp>
        <p:nvSpPr>
          <p:cNvPr id="14" name="label"/>
          <p:cNvSpPr txBox="1"/>
          <p:nvPr/>
        </p:nvSpPr>
        <p:spPr>
          <a:xfrm>
            <a:off x="548640" y="5852160"/>
            <a:ext cx="11094415" cy="411480"/>
          </a:xfrm>
          <a:prstGeom prst="rect">
            <a:avLst/>
          </a:prstGeom>
          <a:noFill/>
          <a:ln/>
        </p:spPr>
        <p:txBody>
          <a:bodyPr wrap="square" lIns="0" tIns="0" rIns="0" bIns="0" rtlCol="0" anchor="ctr"/>
          <a:lstStyle/>
          <a:p>
            <a:pPr algn="l" indent="0" marL="0">
              <a:buNone/>
            </a:pPr>
            <a:r>
              <a:rPr lang="en-US" sz="1600" b="1" dirty="0">
                <a:solidFill>
                  <a:srgbClr val="000000"/>
                </a:solidFill>
                <a:latin typeface="Arial" pitchFamily="34" charset="0"/>
                <a:ea typeface="Arial" pitchFamily="34" charset="-122"/>
                <a:cs typeface="Arial" pitchFamily="34" charset="-120"/>
              </a:rPr>
              <a:t>Approach: thorough where a mistake is expensive or unsafe, scrappy where it is cheap to undo.</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Lessons Learned</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What I would do differently heading"/>
          <p:cNvSpPr txBox="1"/>
          <p:nvPr/>
        </p:nvSpPr>
        <p:spPr>
          <a:xfrm>
            <a:off x="548640" y="1417320"/>
            <a:ext cx="5364328" cy="347472"/>
          </a:xfrm>
          <a:prstGeom prst="rect">
            <a:avLst/>
          </a:prstGeom>
          <a:noFill/>
          <a:ln/>
        </p:spPr>
        <p:txBody>
          <a:bodyPr wrap="square" lIns="0" tIns="0" rIns="0" bIns="0" rtlCol="0" anchor="ctr"/>
          <a:lstStyle/>
          <a:p>
            <a:pPr algn="l" indent="0" marL="0">
              <a:buNone/>
            </a:pPr>
            <a:r>
              <a:rPr lang="en-US" sz="1700" b="1" dirty="0">
                <a:solidFill>
                  <a:srgbClr val="1F3A5F"/>
                </a:solidFill>
                <a:latin typeface="Arial" pitchFamily="34" charset="0"/>
                <a:ea typeface="Arial" pitchFamily="34" charset="-122"/>
                <a:cs typeface="Arial" pitchFamily="34" charset="-120"/>
              </a:rPr>
              <a:t>What I would do differently</a:t>
            </a:r>
            <a:endParaRPr lang="en-US" sz="1700" dirty="0"/>
          </a:p>
        </p:txBody>
      </p:sp>
      <p:sp>
        <p:nvSpPr>
          <p:cNvPr id="5" name="Shape 3"/>
          <p:cNvSpPr/>
          <p:nvPr/>
        </p:nvSpPr>
        <p:spPr>
          <a:xfrm>
            <a:off x="548640" y="1801368"/>
            <a:ext cx="5364328" cy="0"/>
          </a:xfrm>
          <a:prstGeom prst="line">
            <a:avLst/>
          </a:prstGeom>
          <a:noFill/>
          <a:ln w="12700">
            <a:solidFill>
              <a:srgbClr val="1F3A5F"/>
            </a:solidFill>
            <a:prstDash val="solid"/>
          </a:ln>
        </p:spPr>
      </p:sp>
      <p:sp>
        <p:nvSpPr>
          <p:cNvPr id="6" name="do differently"/>
          <p:cNvSpPr txBox="1"/>
          <p:nvPr/>
        </p:nvSpPr>
        <p:spPr>
          <a:xfrm>
            <a:off x="548640" y="1965960"/>
            <a:ext cx="5364328" cy="237744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Set the mass budget early, from the measured winch pull</a:t>
            </a:r>
            <a:endParaRPr lang="en-US" sz="1700" dirty="0"/>
          </a:p>
          <a:p>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Print fit coupons before full parts</a:t>
            </a:r>
            <a:endParaRPr lang="en-US" sz="1700" dirty="0"/>
          </a:p>
          <a:p>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Prove one complete station before building the rest</a:t>
            </a:r>
            <a:endParaRPr lang="en-US" sz="1700" dirty="0"/>
          </a:p>
          <a:p>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Check supply rails with a meter before debugging code</a:t>
            </a:r>
            <a:endParaRPr lang="en-US" sz="1700" dirty="0"/>
          </a:p>
        </p:txBody>
      </p:sp>
      <p:sp>
        <p:nvSpPr>
          <p:cNvPr id="7" name="Completing it in half the time heading"/>
          <p:cNvSpPr txBox="1"/>
          <p:nvPr/>
        </p:nvSpPr>
        <p:spPr>
          <a:xfrm>
            <a:off x="6278728" y="1417320"/>
            <a:ext cx="5364328" cy="347472"/>
          </a:xfrm>
          <a:prstGeom prst="rect">
            <a:avLst/>
          </a:prstGeom>
          <a:noFill/>
          <a:ln/>
        </p:spPr>
        <p:txBody>
          <a:bodyPr wrap="square" lIns="0" tIns="0" rIns="0" bIns="0" rtlCol="0" anchor="ctr"/>
          <a:lstStyle/>
          <a:p>
            <a:pPr algn="l" indent="0" marL="0">
              <a:buNone/>
            </a:pPr>
            <a:r>
              <a:rPr lang="en-US" sz="1700" b="1" dirty="0">
                <a:solidFill>
                  <a:srgbClr val="1F3A5F"/>
                </a:solidFill>
                <a:latin typeface="Arial" pitchFamily="34" charset="0"/>
                <a:ea typeface="Arial" pitchFamily="34" charset="-122"/>
                <a:cs typeface="Arial" pitchFamily="34" charset="-120"/>
              </a:rPr>
              <a:t>Completing it in half the time</a:t>
            </a:r>
            <a:endParaRPr lang="en-US" sz="1700" dirty="0"/>
          </a:p>
        </p:txBody>
      </p:sp>
      <p:sp>
        <p:nvSpPr>
          <p:cNvPr id="8" name="Shape 6"/>
          <p:cNvSpPr/>
          <p:nvPr/>
        </p:nvSpPr>
        <p:spPr>
          <a:xfrm>
            <a:off x="6278728" y="1801368"/>
            <a:ext cx="5364328" cy="0"/>
          </a:xfrm>
          <a:prstGeom prst="line">
            <a:avLst/>
          </a:prstGeom>
          <a:noFill/>
          <a:ln w="12700">
            <a:solidFill>
              <a:srgbClr val="1F3A5F"/>
            </a:solidFill>
            <a:prstDash val="solid"/>
          </a:ln>
        </p:spPr>
      </p:sp>
      <p:sp>
        <p:nvSpPr>
          <p:cNvPr id="9" name="half the time"/>
          <p:cNvSpPr txBox="1"/>
          <p:nvPr/>
        </p:nvSpPr>
        <p:spPr>
          <a:xfrm>
            <a:off x="6278728" y="1965960"/>
            <a:ext cx="5364328" cy="237744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Freeze requirements in the first week</a:t>
            </a:r>
            <a:endParaRPr lang="en-US" sz="1700" dirty="0"/>
          </a:p>
          <a:p>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Order long-lead parts on day one</a:t>
            </a:r>
            <a:endParaRPr lang="en-US" sz="1700" dirty="0"/>
          </a:p>
          <a:p>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Start with three stations</a:t>
            </a:r>
            <a:endParaRPr lang="en-US" sz="1700" dirty="0"/>
          </a:p>
          <a:p>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Limit each part to one generation, gated by a test</a:t>
            </a:r>
            <a:endParaRPr lang="en-US" sz="1700" dirty="0"/>
          </a:p>
        </p:txBody>
      </p:sp>
      <p:sp>
        <p:nvSpPr>
          <p:cNvPr id="10" name="label"/>
          <p:cNvSpPr txBox="1"/>
          <p:nvPr/>
        </p:nvSpPr>
        <p:spPr>
          <a:xfrm>
            <a:off x="548640" y="4343400"/>
            <a:ext cx="1463040" cy="54864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11" name="Concept"/>
          <p:cNvSpPr/>
          <p:nvPr/>
        </p:nvSpPr>
        <p:spPr>
          <a:xfrm>
            <a:off x="2103120" y="4343400"/>
            <a:ext cx="1926333" cy="548640"/>
          </a:xfrm>
          <a:prstGeom prst="rect">
            <a:avLst/>
          </a:prstGeom>
          <a:solidFill>
            <a:srgbClr val="D9DEE5"/>
          </a:solidFill>
          <a:ln w="19050">
            <a:solidFill>
              <a:srgbClr val="FFFFFF"/>
            </a:solidFill>
            <a:prstDash val="solid"/>
          </a:ln>
        </p:spPr>
      </p:sp>
      <p:sp>
        <p:nvSpPr>
          <p:cNvPr id="12" name="label"/>
          <p:cNvSpPr txBox="1"/>
          <p:nvPr/>
        </p:nvSpPr>
        <p:spPr>
          <a:xfrm>
            <a:off x="2139696" y="4343400"/>
            <a:ext cx="1853181" cy="54864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13" name="Generation 1"/>
          <p:cNvSpPr/>
          <p:nvPr/>
        </p:nvSpPr>
        <p:spPr>
          <a:xfrm>
            <a:off x="4029453" y="4343400"/>
            <a:ext cx="2568444" cy="548640"/>
          </a:xfrm>
          <a:prstGeom prst="rect">
            <a:avLst/>
          </a:prstGeom>
          <a:solidFill>
            <a:srgbClr val="4F6D8F"/>
          </a:solidFill>
          <a:ln w="19050">
            <a:solidFill>
              <a:srgbClr val="FFFFFF"/>
            </a:solidFill>
            <a:prstDash val="solid"/>
          </a:ln>
        </p:spPr>
      </p:sp>
      <p:sp>
        <p:nvSpPr>
          <p:cNvPr id="14" name="label"/>
          <p:cNvSpPr txBox="1"/>
          <p:nvPr/>
        </p:nvSpPr>
        <p:spPr>
          <a:xfrm>
            <a:off x="4066029" y="4343400"/>
            <a:ext cx="2495292"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Generation 1</a:t>
            </a:r>
            <a:endParaRPr lang="en-US" sz="1200" dirty="0"/>
          </a:p>
        </p:txBody>
      </p:sp>
      <p:sp>
        <p:nvSpPr>
          <p:cNvPr id="15" name="Redesign"/>
          <p:cNvSpPr/>
          <p:nvPr/>
        </p:nvSpPr>
        <p:spPr>
          <a:xfrm>
            <a:off x="6597897" y="4343400"/>
            <a:ext cx="3118825" cy="548640"/>
          </a:xfrm>
          <a:prstGeom prst="rect">
            <a:avLst/>
          </a:prstGeom>
          <a:solidFill>
            <a:srgbClr val="D9DEE5"/>
          </a:solidFill>
          <a:ln w="19050">
            <a:solidFill>
              <a:srgbClr val="FFFFFF"/>
            </a:solidFill>
            <a:prstDash val="solid"/>
          </a:ln>
        </p:spPr>
      </p:sp>
      <p:sp>
        <p:nvSpPr>
          <p:cNvPr id="16" name="label"/>
          <p:cNvSpPr txBox="1"/>
          <p:nvPr/>
        </p:nvSpPr>
        <p:spPr>
          <a:xfrm>
            <a:off x="6634473" y="4343400"/>
            <a:ext cx="3045673" cy="54864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Redesign</a:t>
            </a:r>
            <a:endParaRPr lang="en-US" sz="1200" dirty="0"/>
          </a:p>
        </p:txBody>
      </p:sp>
      <p:sp>
        <p:nvSpPr>
          <p:cNvPr id="17" name="Gen 2 to final"/>
          <p:cNvSpPr/>
          <p:nvPr/>
        </p:nvSpPr>
        <p:spPr>
          <a:xfrm>
            <a:off x="9716722" y="4343400"/>
            <a:ext cx="1375952" cy="548640"/>
          </a:xfrm>
          <a:prstGeom prst="rect">
            <a:avLst/>
          </a:prstGeom>
          <a:solidFill>
            <a:srgbClr val="4F6D8F"/>
          </a:solidFill>
          <a:ln w="19050">
            <a:solidFill>
              <a:srgbClr val="FFFFFF"/>
            </a:solidFill>
            <a:prstDash val="solid"/>
          </a:ln>
        </p:spPr>
      </p:sp>
      <p:sp>
        <p:nvSpPr>
          <p:cNvPr id="18" name="label"/>
          <p:cNvSpPr txBox="1"/>
          <p:nvPr/>
        </p:nvSpPr>
        <p:spPr>
          <a:xfrm>
            <a:off x="9753298" y="4343400"/>
            <a:ext cx="130280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2 to final</a:t>
            </a:r>
            <a:endParaRPr lang="en-US" sz="1200" dirty="0"/>
          </a:p>
        </p:txBody>
      </p:sp>
      <p:sp>
        <p:nvSpPr>
          <p:cNvPr id="19" name="Build, test"/>
          <p:cNvSpPr/>
          <p:nvPr/>
        </p:nvSpPr>
        <p:spPr>
          <a:xfrm>
            <a:off x="11092674" y="4343400"/>
            <a:ext cx="550381" cy="548640"/>
          </a:xfrm>
          <a:prstGeom prst="rect">
            <a:avLst/>
          </a:prstGeom>
          <a:solidFill>
            <a:srgbClr val="1F3A5F"/>
          </a:solidFill>
          <a:ln w="19050">
            <a:solidFill>
              <a:srgbClr val="FFFFFF"/>
            </a:solidFill>
            <a:prstDash val="solid"/>
          </a:ln>
        </p:spPr>
      </p:sp>
      <p:sp>
        <p:nvSpPr>
          <p:cNvPr id="20" name="label"/>
          <p:cNvSpPr txBox="1"/>
          <p:nvPr/>
        </p:nvSpPr>
        <p:spPr>
          <a:xfrm>
            <a:off x="11129250" y="4343400"/>
            <a:ext cx="477229"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Build, test</a:t>
            </a:r>
            <a:endParaRPr lang="en-US" sz="1000" dirty="0"/>
          </a:p>
        </p:txBody>
      </p:sp>
      <p:sp>
        <p:nvSpPr>
          <p:cNvPr id="21" name="label"/>
          <p:cNvSpPr txBox="1"/>
          <p:nvPr/>
        </p:nvSpPr>
        <p:spPr>
          <a:xfrm>
            <a:off x="548640" y="5166360"/>
            <a:ext cx="1463040" cy="54864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 time</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22" name="Plan"/>
          <p:cNvSpPr/>
          <p:nvPr/>
        </p:nvSpPr>
        <p:spPr>
          <a:xfrm>
            <a:off x="2103120" y="5166360"/>
            <a:ext cx="642111" cy="548640"/>
          </a:xfrm>
          <a:prstGeom prst="rect">
            <a:avLst/>
          </a:prstGeom>
          <a:solidFill>
            <a:srgbClr val="D9DEE5"/>
          </a:solidFill>
          <a:ln w="19050">
            <a:solidFill>
              <a:srgbClr val="FFFFFF"/>
            </a:solidFill>
            <a:prstDash val="solid"/>
          </a:ln>
        </p:spPr>
      </p:sp>
      <p:sp>
        <p:nvSpPr>
          <p:cNvPr id="23" name="label"/>
          <p:cNvSpPr txBox="1"/>
          <p:nvPr/>
        </p:nvSpPr>
        <p:spPr>
          <a:xfrm>
            <a:off x="2139696" y="5166360"/>
            <a:ext cx="568959" cy="548640"/>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Plan</a:t>
            </a:r>
            <a:endParaRPr lang="en-US" sz="1000" dirty="0"/>
          </a:p>
        </p:txBody>
      </p:sp>
      <p:sp>
        <p:nvSpPr>
          <p:cNvPr id="24" name="One full station and tests"/>
          <p:cNvSpPr/>
          <p:nvPr/>
        </p:nvSpPr>
        <p:spPr>
          <a:xfrm>
            <a:off x="2745231" y="5166360"/>
            <a:ext cx="1284222" cy="548640"/>
          </a:xfrm>
          <a:prstGeom prst="rect">
            <a:avLst/>
          </a:prstGeom>
          <a:solidFill>
            <a:srgbClr val="4F6D8F"/>
          </a:solidFill>
          <a:ln w="19050">
            <a:solidFill>
              <a:srgbClr val="FFFFFF"/>
            </a:solidFill>
            <a:prstDash val="solid"/>
          </a:ln>
        </p:spPr>
      </p:sp>
      <p:sp>
        <p:nvSpPr>
          <p:cNvPr id="25" name="label"/>
          <p:cNvSpPr txBox="1"/>
          <p:nvPr/>
        </p:nvSpPr>
        <p:spPr>
          <a:xfrm>
            <a:off x="2781807" y="5166360"/>
            <a:ext cx="121107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One full station and tests</a:t>
            </a:r>
            <a:endParaRPr lang="en-US" sz="1200" dirty="0"/>
          </a:p>
        </p:txBody>
      </p:sp>
      <p:sp>
        <p:nvSpPr>
          <p:cNvPr id="26" name="Copy"/>
          <p:cNvSpPr/>
          <p:nvPr/>
        </p:nvSpPr>
        <p:spPr>
          <a:xfrm>
            <a:off x="4029453" y="5166360"/>
            <a:ext cx="642111" cy="548640"/>
          </a:xfrm>
          <a:prstGeom prst="rect">
            <a:avLst/>
          </a:prstGeom>
          <a:solidFill>
            <a:srgbClr val="D9DEE5"/>
          </a:solidFill>
          <a:ln w="19050">
            <a:solidFill>
              <a:srgbClr val="FFFFFF"/>
            </a:solidFill>
            <a:prstDash val="solid"/>
          </a:ln>
        </p:spPr>
      </p:sp>
      <p:sp>
        <p:nvSpPr>
          <p:cNvPr id="27" name="label"/>
          <p:cNvSpPr txBox="1"/>
          <p:nvPr/>
        </p:nvSpPr>
        <p:spPr>
          <a:xfrm>
            <a:off x="4066029" y="5166360"/>
            <a:ext cx="568959" cy="548640"/>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Copy</a:t>
            </a:r>
            <a:endParaRPr lang="en-US" sz="1000" dirty="0"/>
          </a:p>
        </p:txBody>
      </p:sp>
      <p:sp>
        <p:nvSpPr>
          <p:cNvPr id="28" name="Claw, coupons first"/>
          <p:cNvSpPr/>
          <p:nvPr/>
        </p:nvSpPr>
        <p:spPr>
          <a:xfrm>
            <a:off x="4671564" y="5166360"/>
            <a:ext cx="1284222" cy="548640"/>
          </a:xfrm>
          <a:prstGeom prst="rect">
            <a:avLst/>
          </a:prstGeom>
          <a:solidFill>
            <a:srgbClr val="4F6D8F"/>
          </a:solidFill>
          <a:ln w="19050">
            <a:solidFill>
              <a:srgbClr val="FFFFFF"/>
            </a:solidFill>
            <a:prstDash val="solid"/>
          </a:ln>
        </p:spPr>
      </p:sp>
      <p:sp>
        <p:nvSpPr>
          <p:cNvPr id="29" name="label"/>
          <p:cNvSpPr txBox="1"/>
          <p:nvPr/>
        </p:nvSpPr>
        <p:spPr>
          <a:xfrm>
            <a:off x="4708140" y="5166360"/>
            <a:ext cx="121107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Claw, coupons first</a:t>
            </a:r>
            <a:endParaRPr lang="en-US" sz="1200" dirty="0"/>
          </a:p>
        </p:txBody>
      </p:sp>
      <p:sp>
        <p:nvSpPr>
          <p:cNvPr id="30" name="Test"/>
          <p:cNvSpPr/>
          <p:nvPr/>
        </p:nvSpPr>
        <p:spPr>
          <a:xfrm>
            <a:off x="5955786" y="5166360"/>
            <a:ext cx="642111" cy="548640"/>
          </a:xfrm>
          <a:prstGeom prst="rect">
            <a:avLst/>
          </a:prstGeom>
          <a:solidFill>
            <a:srgbClr val="1F3A5F"/>
          </a:solidFill>
          <a:ln w="19050">
            <a:solidFill>
              <a:srgbClr val="FFFFFF"/>
            </a:solidFill>
            <a:prstDash val="solid"/>
          </a:ln>
        </p:spPr>
      </p:sp>
      <p:sp>
        <p:nvSpPr>
          <p:cNvPr id="31" name="label"/>
          <p:cNvSpPr txBox="1"/>
          <p:nvPr/>
        </p:nvSpPr>
        <p:spPr>
          <a:xfrm>
            <a:off x="5992362" y="5166360"/>
            <a:ext cx="568959"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Test</a:t>
            </a:r>
            <a:endParaRPr lang="en-US" sz="1000" dirty="0"/>
          </a:p>
        </p:txBody>
      </p:sp>
      <p:sp>
        <p:nvSpPr>
          <p:cNvPr id="32" name="caption"/>
          <p:cNvSpPr txBox="1"/>
          <p:nvPr/>
        </p:nvSpPr>
        <p:spPr>
          <a:xfrm>
            <a:off x="2103120" y="5806440"/>
            <a:ext cx="9539935"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time scale. Actual schedule: July 16 to October 27.</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Supporting detail for questions</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Project Status</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550213"/>
                <a:gridCol w="3993989"/>
                <a:gridCol w="3550213"/>
              </a:tblGrid>
              <a:tr h="512064">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Status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Next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Wall stations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 bench-commissioned </a:t>
                      </a:r>
                      <a:pPr indent="0" marL="0">
                        <a:buNone/>
                      </a:pPr>
                      <a:r>
                        <a:rPr lang="en-US" sz="1300" i="1" dirty="0">
                          <a:solidFill>
                            <a:srgbClr val="B23A2E"/>
                          </a:solidFill>
                          <a:latin typeface="Arial" pitchFamily="34" charset="0"/>
                          <a:ea typeface="Arial" pitchFamily="34" charset="-122"/>
                          <a:cs typeface="Arial" pitchFamily="34" charset="-120"/>
                        </a:rPr>
                        <a:t>[how many]</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Three-station test, then the fourth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Station electronics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 drivers at 1.5 A </a:t>
                      </a:r>
                      <a:pPr indent="0" marL="0">
                        <a:buNone/>
                      </a:pPr>
                      <a:r>
                        <a:rPr lang="en-US" sz="1300" i="1" dirty="0">
                          <a:solidFill>
                            <a:srgbClr val="B23A2E"/>
                          </a:solidFill>
                          <a:latin typeface="Arial" pitchFamily="34" charset="0"/>
                          <a:ea typeface="Arial" pitchFamily="34" charset="-122"/>
                          <a:cs typeface="Arial" pitchFamily="34" charset="-120"/>
                        </a:rPr>
                        <a:t>[how: Vref reading]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90-minute hold test at 1.5 A</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Heat fin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Prototype 0.019 in built; 1/8 in designed</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Machine the 1/8 in fin; hold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Thermal model of the station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Hand calculation at 1.5 A; SolidWorks model set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Run it; then the hold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Claw body: tube, mount, servo, gears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Weigh 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Claw hands, camera housing, encoder casing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Checked in CAD; printing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Fit checks on the first print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Calibration and control software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Simulated end to end</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First hardware run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Winch pull</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Calculated at 1.5 A: 25–34 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Luggage-scale pull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Fin Sizing for 4 W</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4254886" cy="2624328"/>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Goal: the fin alone carries all 4.05 W</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0.019 in sheet cannot at any length; maximum about 2 W</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1/8 in plate needs 145–185 mm</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Thickness matters more than length</a:t>
            </a:r>
            <a:endParaRPr lang="en-US" sz="1800" dirty="0"/>
          </a:p>
        </p:txBody>
      </p:sp>
      <p:sp>
        <p:nvSpPr>
          <p:cNvPr id="5" name="equation box"/>
          <p:cNvSpPr/>
          <p:nvPr/>
        </p:nvSpPr>
        <p:spPr>
          <a:xfrm>
            <a:off x="548640" y="4224528"/>
            <a:ext cx="4254886" cy="2039112"/>
          </a:xfrm>
          <a:prstGeom prst="rect">
            <a:avLst/>
          </a:prstGeom>
          <a:solidFill>
            <a:srgbClr val="F7F8FA"/>
          </a:solidFill>
          <a:ln w="15875">
            <a:solidFill>
              <a:srgbClr val="1F3A5F"/>
            </a:solidFill>
            <a:prstDash val="solid"/>
          </a:ln>
        </p:spPr>
      </p:sp>
      <p:sp>
        <p:nvSpPr>
          <p:cNvPr id="6" name="equation title"/>
          <p:cNvSpPr txBox="1"/>
          <p:nvPr/>
        </p:nvSpPr>
        <p:spPr>
          <a:xfrm>
            <a:off x="713232" y="4297680"/>
            <a:ext cx="3925702"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Most heat any fin length can carry</a:t>
            </a:r>
            <a:endParaRPr lang="en-US" sz="1100" dirty="0"/>
          </a:p>
        </p:txBody>
      </p:sp>
      <p:sp>
        <p:nvSpPr>
          <p:cNvPr id="7" name="equations"/>
          <p:cNvSpPr txBox="1"/>
          <p:nvPr/>
        </p:nvSpPr>
        <p:spPr>
          <a:xfrm>
            <a:off x="713232" y="4535424"/>
            <a:ext cx="3925702" cy="1005840"/>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q</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w √(2 h k t) × θ</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b</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0.019 in: 0.044 × √(2 × 9.3 × 167 × 0.000483) × 37</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2.0 W</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&lt; 4.05 W</a:t>
            </a:r>
            <a:endParaRPr lang="en-US" sz="1550" dirty="0"/>
          </a:p>
        </p:txBody>
      </p:sp>
      <p:sp>
        <p:nvSpPr>
          <p:cNvPr id="8" name="equation inputs"/>
          <p:cNvSpPr txBox="1"/>
          <p:nvPr/>
        </p:nvSpPr>
        <p:spPr>
          <a:xfrm>
            <a:off x="713232" y="5577840"/>
            <a:ext cx="3925702" cy="612648"/>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w = 0.044 m fin width; h = 9.3 W/m²·K, painted; k = 167 W/m·K, 6061 aluminum; t = 0.000483 m; θ</a:t>
            </a:r>
            <a:pPr indent="0" marL="0">
              <a:buNone/>
            </a:pPr>
            <a:r>
              <a:rPr lang="en-US" sz="1100" baseline="-40000" dirty="0">
                <a:solidFill>
                  <a:srgbClr val="404040"/>
                </a:solidFill>
                <a:latin typeface="Arial" pitchFamily="34" charset="0"/>
                <a:ea typeface="Arial" pitchFamily="34" charset="-122"/>
                <a:cs typeface="Arial" pitchFamily="34" charset="-120"/>
              </a:rPr>
              <a:t>b</a:t>
            </a:r>
            <a:pPr indent="0" marL="0">
              <a:buNone/>
            </a:pPr>
            <a:r>
              <a:rPr lang="en-US" sz="1100" dirty="0">
                <a:solidFill>
                  <a:srgbClr val="404040"/>
                </a:solidFill>
                <a:latin typeface="Arial" pitchFamily="34" charset="0"/>
                <a:ea typeface="Arial" pitchFamily="34" charset="-122"/>
                <a:cs typeface="Arial" pitchFamily="34" charset="-120"/>
              </a:rPr>
              <a:t> = 60 − 23 = 37 K</a:t>
            </a:r>
            <a:endParaRPr lang="en-US" sz="1100" dirty="0"/>
          </a:p>
        </p:txBody>
      </p:sp>
      <p:graphicFrame>
        <p:nvGraphicFramePr>
          <p:cNvPr id="29" name="fin sizing"/>
          <p:cNvGraphicFramePr>
            <a:graphicFrameLocks noGrp="1"/>
          </p:cNvGraphicFramePr>
          <p:nvPr>
            <p:extLst>
              <p:ext uri="{D42A27DB-BD31-4B8C-83A1-F6EECF244321}">
                <p14:modId xmlns:p14="http://schemas.microsoft.com/office/powerpoint/2010/main" val="1579011935"/>
              </p:ext>
            </p:extLst>
          </p:nvPr>
        </p:nvGraphicFramePr>
        <p:xfrm>
          <a:off x="5215006" y="1554480"/>
          <a:ext cx="6428049" cy="914400"/>
        </p:xfrm>
        <a:graphic>
          <a:graphicData uri="http://schemas.openxmlformats.org/drawingml/2006/table">
            <a:tbl>
              <a:tblPr/>
              <a:tblGrid>
                <a:gridCol w="1928415"/>
                <a:gridCol w="771366"/>
                <a:gridCol w="1799854"/>
                <a:gridCol w="1928415"/>
              </a:tblGrid>
              <a:tr h="45720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Painted 6061, 44 mm wide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Mass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Motor at 200 mm, fin alone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Shortest for ≤ 60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0.019 in (prototype)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14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100–120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None (2.0 W max)</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1/16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47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66–72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None (3.6 W max)</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0.090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68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60–65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210 mm or none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1/8 in (design)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94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56–59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145–185 mm</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3/16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141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53–55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125–140 mm</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1/4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189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51–52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115–125 mm</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0" name="caption"/>
          <p:cNvSpPr txBox="1"/>
          <p:nvPr/>
        </p:nvSpPr>
        <p:spPr>
          <a:xfrm>
            <a:off x="5215006" y="4864608"/>
            <a:ext cx="6428049"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Floor Board Accuracy</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3474720"/>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Position error equals angle error times camera height</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One tag in view: 6.6 mm; four tags: 0.7 mm</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Averaging removes noise, but not bias</a:t>
            </a:r>
            <a:endParaRPr lang="en-US" sz="1800" dirty="0"/>
          </a:p>
        </p:txBody>
      </p:sp>
      <p:sp>
        <p:nvSpPr>
          <p:cNvPr id="5" name="equation box"/>
          <p:cNvSpPr/>
          <p:nvPr/>
        </p:nvSpPr>
        <p:spPr>
          <a:xfrm>
            <a:off x="548640" y="5074920"/>
            <a:ext cx="5364328" cy="1188720"/>
          </a:xfrm>
          <a:prstGeom prst="rect">
            <a:avLst/>
          </a:prstGeom>
          <a:solidFill>
            <a:srgbClr val="F7F8FA"/>
          </a:solidFill>
          <a:ln w="15875">
            <a:solidFill>
              <a:srgbClr val="1F3A5F"/>
            </a:solidFill>
            <a:prstDash val="solid"/>
          </a:ln>
        </p:spPr>
      </p:sp>
      <p:sp>
        <p:nvSpPr>
          <p:cNvPr id="6" name="equation title"/>
          <p:cNvSpPr txBox="1"/>
          <p:nvPr/>
        </p:nvSpPr>
        <p:spPr>
          <a:xfrm>
            <a:off x="713232" y="5148072"/>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Position error with one tag in view</a:t>
            </a:r>
            <a:endParaRPr lang="en-US" sz="1100" dirty="0"/>
          </a:p>
        </p:txBody>
      </p:sp>
      <p:sp>
        <p:nvSpPr>
          <p:cNvPr id="7" name="equations"/>
          <p:cNvSpPr txBox="1"/>
          <p:nvPr/>
        </p:nvSpPr>
        <p:spPr>
          <a:xfrm>
            <a:off x="713232" y="5385816"/>
            <a:ext cx="5035144" cy="347472"/>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δx = σ</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θ</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L = 12.9 mrad × 0.51 m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6.6 mm</a:t>
            </a:r>
            <a:endParaRPr lang="en-US" sz="1550" dirty="0"/>
          </a:p>
        </p:txBody>
      </p:sp>
      <p:sp>
        <p:nvSpPr>
          <p:cNvPr id="8" name="equation inputs"/>
          <p:cNvSpPr txBox="1"/>
          <p:nvPr/>
        </p:nvSpPr>
        <p:spPr>
          <a:xfrm>
            <a:off x="713232" y="5769864"/>
            <a:ext cx="5035144" cy="420624"/>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σ</a:t>
            </a:r>
            <a:pPr indent="0" marL="0">
              <a:buNone/>
            </a:pPr>
            <a:r>
              <a:rPr lang="en-US" sz="1100" baseline="-40000" dirty="0">
                <a:solidFill>
                  <a:srgbClr val="404040"/>
                </a:solidFill>
                <a:latin typeface="Arial" pitchFamily="34" charset="0"/>
                <a:ea typeface="Arial" pitchFamily="34" charset="-122"/>
                <a:cs typeface="Arial" pitchFamily="34" charset="-120"/>
              </a:rPr>
              <a:t>θ</a:t>
            </a:r>
            <a:pPr indent="0" marL="0">
              <a:buNone/>
            </a:pPr>
            <a:r>
              <a:rPr lang="en-US" sz="1100" dirty="0">
                <a:solidFill>
                  <a:srgbClr val="404040"/>
                </a:solidFill>
                <a:latin typeface="Arial" pitchFamily="34" charset="0"/>
                <a:ea typeface="Arial" pitchFamily="34" charset="-122"/>
                <a:cs typeface="Arial" pitchFamily="34" charset="-120"/>
              </a:rPr>
              <a:t> = pose-angle noise with one tag in view; L = 0.51 m camera height above the board</a:t>
            </a:r>
            <a:endParaRPr lang="en-US" sz="1100" dirty="0"/>
          </a:p>
        </p:txBody>
      </p:sp>
      <p:pic>
        <p:nvPicPr>
          <p:cNvPr id="9" name="Chart from the calculation sheet: Floor " descr="Chart from the calculation sheet: Floor board">    </p:cNvPr>
          <p:cNvPicPr>
            <a:picLocks noChangeAspect="1"/>
          </p:cNvPicPr>
          <p:nvPr/>
        </p:nvPicPr>
        <p:blipFill>
          <a:blip r:embed="rId1"/>
          <a:stretch>
            <a:fillRect/>
          </a:stretch>
        </p:blipFill>
        <p:spPr>
          <a:xfrm>
            <a:off x="6324448" y="1554480"/>
            <a:ext cx="5318608" cy="3660580"/>
          </a:xfrm>
          <a:prstGeom prst="rect">
            <a:avLst/>
          </a:prstGeom>
        </p:spPr>
      </p:pic>
      <p:sp>
        <p:nvSpPr>
          <p:cNvPr id="10" name="chart frame"/>
          <p:cNvSpPr/>
          <p:nvPr/>
        </p:nvSpPr>
        <p:spPr>
          <a:xfrm>
            <a:off x="6324448" y="1554480"/>
            <a:ext cx="5318608" cy="3660580"/>
          </a:xfrm>
          <a:prstGeom prst="rect">
            <a:avLst/>
          </a:prstGeom>
          <a:ln w="9525">
            <a:solidFill>
              <a:srgbClr val="BFBFBF"/>
            </a:solidFill>
            <a:prstDash val="solid"/>
          </a:ln>
        </p:spPr>
      </p:sp>
      <p:sp>
        <p:nvSpPr>
          <p:cNvPr id="11" name="caption"/>
          <p:cNvSpPr txBox="1"/>
          <p:nvPr/>
        </p:nvSpPr>
        <p:spPr>
          <a:xfrm>
            <a:off x="6324448" y="528821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“Floor board” (calculated values)</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Startup Calibration</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2953512"/>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No tape measure needed</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Fits anchor positions and cable zero lengths</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Held-out poses check the fit</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Full room allowed only within the fit's error bars</a:t>
            </a:r>
            <a:endParaRPr lang="en-US" sz="1800" dirty="0"/>
          </a:p>
        </p:txBody>
      </p:sp>
      <p:sp>
        <p:nvSpPr>
          <p:cNvPr id="5" name="equation box"/>
          <p:cNvSpPr/>
          <p:nvPr/>
        </p:nvSpPr>
        <p:spPr>
          <a:xfrm>
            <a:off x="548640" y="4553712"/>
            <a:ext cx="5364328" cy="1709928"/>
          </a:xfrm>
          <a:prstGeom prst="rect">
            <a:avLst/>
          </a:prstGeom>
          <a:solidFill>
            <a:srgbClr val="F7F8FA"/>
          </a:solidFill>
          <a:ln w="15875">
            <a:solidFill>
              <a:srgbClr val="1F3A5F"/>
            </a:solidFill>
            <a:prstDash val="solid"/>
          </a:ln>
        </p:spPr>
      </p:sp>
      <p:sp>
        <p:nvSpPr>
          <p:cNvPr id="6" name="equation title"/>
          <p:cNvSpPr txBox="1"/>
          <p:nvPr/>
        </p:nvSpPr>
        <p:spPr>
          <a:xfrm>
            <a:off x="713232" y="4626864"/>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Least-squares calibration fit</a:t>
            </a:r>
            <a:endParaRPr lang="en-US" sz="1100" dirty="0"/>
          </a:p>
        </p:txBody>
      </p:sp>
      <p:sp>
        <p:nvSpPr>
          <p:cNvPr id="7" name="equations"/>
          <p:cNvSpPr txBox="1"/>
          <p:nvPr/>
        </p:nvSpPr>
        <p:spPr>
          <a:xfrm>
            <a:off x="713232" y="4864608"/>
            <a:ext cx="5035144" cy="676656"/>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min Σ</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Σ</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i0</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d</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ik</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)²</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Full room only if k σ ≤ safety margin</a:t>
            </a:r>
            <a:endParaRPr lang="en-US" sz="1550" dirty="0"/>
          </a:p>
        </p:txBody>
      </p:sp>
      <p:sp>
        <p:nvSpPr>
          <p:cNvPr id="8" name="equation inputs"/>
          <p:cNvSpPr txBox="1"/>
          <p:nvPr/>
        </p:nvSpPr>
        <p:spPr>
          <a:xfrm>
            <a:off x="713232" y="5577840"/>
            <a:ext cx="5035144" cy="612648"/>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a</a:t>
            </a:r>
            <a:pPr indent="0" marL="0">
              <a:buNone/>
            </a:pPr>
            <a:r>
              <a:rPr lang="en-US" sz="1100" baseline="-40000" dirty="0">
                <a:solidFill>
                  <a:srgbClr val="404040"/>
                </a:solidFill>
                <a:latin typeface="Arial" pitchFamily="34" charset="0"/>
                <a:ea typeface="Arial" pitchFamily="34" charset="-122"/>
                <a:cs typeface="Arial" pitchFamily="34" charset="-120"/>
              </a:rPr>
              <a:t>i</a:t>
            </a:r>
            <a:pPr indent="0" marL="0">
              <a:buNone/>
            </a:pPr>
            <a:r>
              <a:rPr lang="en-US" sz="1100" dirty="0">
                <a:solidFill>
                  <a:srgbClr val="404040"/>
                </a:solidFill>
                <a:latin typeface="Arial" pitchFamily="34" charset="0"/>
                <a:ea typeface="Arial" pitchFamily="34" charset="-122"/>
                <a:cs typeface="Arial" pitchFamily="34" charset="-120"/>
              </a:rPr>
              <a:t> = anchor i; p</a:t>
            </a:r>
            <a:pPr indent="0" marL="0">
              <a:buNone/>
            </a:pPr>
            <a:r>
              <a:rPr lang="en-US" sz="1100" baseline="-40000" dirty="0">
                <a:solidFill>
                  <a:srgbClr val="404040"/>
                </a:solidFill>
                <a:latin typeface="Arial" pitchFamily="34" charset="0"/>
                <a:ea typeface="Arial" pitchFamily="34" charset="-122"/>
                <a:cs typeface="Arial" pitchFamily="34" charset="-120"/>
              </a:rPr>
              <a:t>k</a:t>
            </a:r>
            <a:pPr indent="0" marL="0">
              <a:buNone/>
            </a:pPr>
            <a:r>
              <a:rPr lang="en-US" sz="1100" dirty="0">
                <a:solidFill>
                  <a:srgbClr val="404040"/>
                </a:solidFill>
                <a:latin typeface="Arial" pitchFamily="34" charset="0"/>
                <a:ea typeface="Arial" pitchFamily="34" charset="-122"/>
                <a:cs typeface="Arial" pitchFamily="34" charset="-120"/>
              </a:rPr>
              <a:t> = claw pose k from the camera; d</a:t>
            </a:r>
            <a:pPr indent="0" marL="0">
              <a:buNone/>
            </a:pPr>
            <a:r>
              <a:rPr lang="en-US" sz="1100" baseline="-40000" dirty="0">
                <a:solidFill>
                  <a:srgbClr val="404040"/>
                </a:solidFill>
                <a:latin typeface="Arial" pitchFamily="34" charset="0"/>
                <a:ea typeface="Arial" pitchFamily="34" charset="-122"/>
                <a:cs typeface="Arial" pitchFamily="34" charset="-120"/>
              </a:rPr>
              <a:t>ik</a:t>
            </a:r>
            <a:pPr indent="0" marL="0">
              <a:buNone/>
            </a:pPr>
            <a:r>
              <a:rPr lang="en-US" sz="1100" dirty="0">
                <a:solidFill>
                  <a:srgbClr val="404040"/>
                </a:solidFill>
                <a:latin typeface="Arial" pitchFamily="34" charset="0"/>
                <a:ea typeface="Arial" pitchFamily="34" charset="-122"/>
                <a:cs typeface="Arial" pitchFamily="34" charset="-120"/>
              </a:rPr>
              <a:t> = cable paid out, from the encoder; L</a:t>
            </a:r>
            <a:pPr indent="0" marL="0">
              <a:buNone/>
            </a:pPr>
            <a:r>
              <a:rPr lang="en-US" sz="1100" baseline="-40000" dirty="0">
                <a:solidFill>
                  <a:srgbClr val="404040"/>
                </a:solidFill>
                <a:latin typeface="Arial" pitchFamily="34" charset="0"/>
                <a:ea typeface="Arial" pitchFamily="34" charset="-122"/>
                <a:cs typeface="Arial" pitchFamily="34" charset="-120"/>
              </a:rPr>
              <a:t>i0</a:t>
            </a:r>
            <a:pPr indent="0" marL="0">
              <a:buNone/>
            </a:pPr>
            <a:r>
              <a:rPr lang="en-US" sz="1100" dirty="0">
                <a:solidFill>
                  <a:srgbClr val="404040"/>
                </a:solidFill>
                <a:latin typeface="Arial" pitchFamily="34" charset="0"/>
                <a:ea typeface="Arial" pitchFamily="34" charset="-122"/>
                <a:cs typeface="Arial" pitchFamily="34" charset="-120"/>
              </a:rPr>
              <a:t> = cable zero length; σ = fit error; k = confidence multiplier</a:t>
            </a:r>
            <a:endParaRPr lang="en-US" sz="1100" dirty="0"/>
          </a:p>
        </p:txBody>
      </p:sp>
      <p:sp>
        <p:nvSpPr>
          <p:cNvPr id="9" name="calibration step 1"/>
          <p:cNvSpPr/>
          <p:nvPr/>
        </p:nvSpPr>
        <p:spPr>
          <a:xfrm>
            <a:off x="6324448" y="1737360"/>
            <a:ext cx="1565605" cy="1399032"/>
          </a:xfrm>
          <a:prstGeom prst="rect">
            <a:avLst/>
          </a:prstGeom>
          <a:solidFill>
            <a:srgbClr val="FFFFFF"/>
          </a:solidFill>
          <a:ln w="15875">
            <a:solidFill>
              <a:srgbClr val="1F3A5F"/>
            </a:solidFill>
            <a:prstDash val="solid"/>
          </a:ln>
        </p:spPr>
      </p:sp>
      <p:sp>
        <p:nvSpPr>
          <p:cNvPr id="10" name="Text 8"/>
          <p:cNvSpPr txBox="1"/>
          <p:nvPr/>
        </p:nvSpPr>
        <p:spPr>
          <a:xfrm>
            <a:off x="6397600" y="1737360"/>
            <a:ext cx="1419301"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1.  </a:t>
            </a:r>
            <a:pPr algn="ctr" indent="0" marL="0">
              <a:buNone/>
            </a:pPr>
            <a:r>
              <a:rPr lang="en-US" sz="1400" dirty="0">
                <a:solidFill>
                  <a:srgbClr val="000000"/>
                </a:solidFill>
                <a:latin typeface="Arial" pitchFamily="34" charset="0"/>
                <a:ea typeface="Arial" pitchFamily="34" charset="-122"/>
                <a:cs typeface="Arial" pitchFamily="34" charset="-120"/>
              </a:rPr>
              <a:t>Take up slack, one cable at a time</a:t>
            </a:r>
            <a:endParaRPr lang="en-US" sz="1400" dirty="0"/>
          </a:p>
        </p:txBody>
      </p:sp>
      <p:sp>
        <p:nvSpPr>
          <p:cNvPr id="11" name="calibration step 2"/>
          <p:cNvSpPr/>
          <p:nvPr/>
        </p:nvSpPr>
        <p:spPr>
          <a:xfrm>
            <a:off x="8200949" y="1737360"/>
            <a:ext cx="1565605" cy="1399032"/>
          </a:xfrm>
          <a:prstGeom prst="rect">
            <a:avLst/>
          </a:prstGeom>
          <a:solidFill>
            <a:srgbClr val="FFFFFF"/>
          </a:solidFill>
          <a:ln w="15875">
            <a:solidFill>
              <a:srgbClr val="1F3A5F"/>
            </a:solidFill>
            <a:prstDash val="solid"/>
          </a:ln>
        </p:spPr>
      </p:sp>
      <p:sp>
        <p:nvSpPr>
          <p:cNvPr id="12" name="Text 10"/>
          <p:cNvSpPr txBox="1"/>
          <p:nvPr/>
        </p:nvSpPr>
        <p:spPr>
          <a:xfrm>
            <a:off x="8274101" y="1737360"/>
            <a:ext cx="1419301"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2.  </a:t>
            </a:r>
            <a:pPr algn="ctr" indent="0" marL="0">
              <a:buNone/>
            </a:pPr>
            <a:r>
              <a:rPr lang="en-US" sz="1400" dirty="0">
                <a:solidFill>
                  <a:srgbClr val="000000"/>
                </a:solidFill>
                <a:latin typeface="Arial" pitchFamily="34" charset="0"/>
                <a:ea typeface="Arial" pitchFamily="34" charset="-122"/>
                <a:cs typeface="Arial" pitchFamily="34" charset="-120"/>
              </a:rPr>
              <a:t>Lift the claw off the floor</a:t>
            </a:r>
            <a:endParaRPr lang="en-US" sz="1400" dirty="0"/>
          </a:p>
        </p:txBody>
      </p:sp>
      <p:sp>
        <p:nvSpPr>
          <p:cNvPr id="13" name="calibration step 3"/>
          <p:cNvSpPr/>
          <p:nvPr/>
        </p:nvSpPr>
        <p:spPr>
          <a:xfrm>
            <a:off x="10077450" y="1737360"/>
            <a:ext cx="1565605" cy="1399032"/>
          </a:xfrm>
          <a:prstGeom prst="rect">
            <a:avLst/>
          </a:prstGeom>
          <a:solidFill>
            <a:srgbClr val="FFFFFF"/>
          </a:solidFill>
          <a:ln w="15875">
            <a:solidFill>
              <a:srgbClr val="1F3A5F"/>
            </a:solidFill>
            <a:prstDash val="solid"/>
          </a:ln>
        </p:spPr>
      </p:sp>
      <p:sp>
        <p:nvSpPr>
          <p:cNvPr id="14" name="Text 12"/>
          <p:cNvSpPr txBox="1"/>
          <p:nvPr/>
        </p:nvSpPr>
        <p:spPr>
          <a:xfrm>
            <a:off x="10150602" y="1737360"/>
            <a:ext cx="1419301"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3.  </a:t>
            </a:r>
            <a:pPr algn="ctr" indent="0" marL="0">
              <a:buNone/>
            </a:pPr>
            <a:r>
              <a:rPr lang="en-US" sz="1400" dirty="0">
                <a:solidFill>
                  <a:srgbClr val="000000"/>
                </a:solidFill>
                <a:latin typeface="Arial" pitchFamily="34" charset="0"/>
                <a:ea typeface="Arial" pitchFamily="34" charset="-122"/>
                <a:cs typeface="Arial" pitchFamily="34" charset="-120"/>
              </a:rPr>
              <a:t>Camera reads the floor board</a:t>
            </a:r>
            <a:endParaRPr lang="en-US" sz="1400" dirty="0"/>
          </a:p>
        </p:txBody>
      </p:sp>
      <p:sp>
        <p:nvSpPr>
          <p:cNvPr id="15" name="calibration step 4"/>
          <p:cNvSpPr/>
          <p:nvPr/>
        </p:nvSpPr>
        <p:spPr>
          <a:xfrm>
            <a:off x="10077450" y="3447288"/>
            <a:ext cx="1565605" cy="1399032"/>
          </a:xfrm>
          <a:prstGeom prst="rect">
            <a:avLst/>
          </a:prstGeom>
          <a:solidFill>
            <a:srgbClr val="FFFFFF"/>
          </a:solidFill>
          <a:ln w="15875">
            <a:solidFill>
              <a:srgbClr val="1F3A5F"/>
            </a:solidFill>
            <a:prstDash val="solid"/>
          </a:ln>
        </p:spPr>
      </p:sp>
      <p:sp>
        <p:nvSpPr>
          <p:cNvPr id="16" name="Text 14"/>
          <p:cNvSpPr txBox="1"/>
          <p:nvPr/>
        </p:nvSpPr>
        <p:spPr>
          <a:xfrm>
            <a:off x="10150602" y="3447288"/>
            <a:ext cx="1419301"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4.  </a:t>
            </a:r>
            <a:pPr algn="ctr" indent="0" marL="0">
              <a:buNone/>
            </a:pPr>
            <a:r>
              <a:rPr lang="en-US" sz="1400" dirty="0">
                <a:solidFill>
                  <a:srgbClr val="000000"/>
                </a:solidFill>
                <a:latin typeface="Arial" pitchFamily="34" charset="0"/>
                <a:ea typeface="Arial" pitchFamily="34" charset="-122"/>
                <a:cs typeface="Arial" pitchFamily="34" charset="-120"/>
              </a:rPr>
              <a:t>Fit anchors and cable lengths</a:t>
            </a:r>
            <a:endParaRPr lang="en-US" sz="1400" dirty="0"/>
          </a:p>
        </p:txBody>
      </p:sp>
      <p:sp>
        <p:nvSpPr>
          <p:cNvPr id="17" name="calibration step 5"/>
          <p:cNvSpPr/>
          <p:nvPr/>
        </p:nvSpPr>
        <p:spPr>
          <a:xfrm>
            <a:off x="8200949" y="3447288"/>
            <a:ext cx="1565605" cy="1399032"/>
          </a:xfrm>
          <a:prstGeom prst="rect">
            <a:avLst/>
          </a:prstGeom>
          <a:solidFill>
            <a:srgbClr val="FFFFFF"/>
          </a:solidFill>
          <a:ln w="15875">
            <a:solidFill>
              <a:srgbClr val="1F3A5F"/>
            </a:solidFill>
            <a:prstDash val="solid"/>
          </a:ln>
        </p:spPr>
      </p:sp>
      <p:sp>
        <p:nvSpPr>
          <p:cNvPr id="18" name="Text 16"/>
          <p:cNvSpPr txBox="1"/>
          <p:nvPr/>
        </p:nvSpPr>
        <p:spPr>
          <a:xfrm>
            <a:off x="8274101" y="3447288"/>
            <a:ext cx="1419301"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5.  </a:t>
            </a:r>
            <a:pPr algn="ctr" indent="0" marL="0">
              <a:buNone/>
            </a:pPr>
            <a:r>
              <a:rPr lang="en-US" sz="1400" dirty="0">
                <a:solidFill>
                  <a:srgbClr val="000000"/>
                </a:solidFill>
                <a:latin typeface="Arial" pitchFamily="34" charset="0"/>
                <a:ea typeface="Arial" pitchFamily="34" charset="-122"/>
                <a:cs typeface="Arial" pitchFamily="34" charset="-120"/>
              </a:rPr>
              <a:t>Check on held-out poses</a:t>
            </a:r>
            <a:endParaRPr lang="en-US" sz="1400" dirty="0"/>
          </a:p>
        </p:txBody>
      </p:sp>
      <p:sp>
        <p:nvSpPr>
          <p:cNvPr id="19" name="calibration step 6"/>
          <p:cNvSpPr/>
          <p:nvPr/>
        </p:nvSpPr>
        <p:spPr>
          <a:xfrm>
            <a:off x="6324448" y="3447288"/>
            <a:ext cx="1565605" cy="1399032"/>
          </a:xfrm>
          <a:prstGeom prst="rect">
            <a:avLst/>
          </a:prstGeom>
          <a:solidFill>
            <a:srgbClr val="FFFFFF"/>
          </a:solidFill>
          <a:ln w="15875">
            <a:solidFill>
              <a:srgbClr val="1F3A5F"/>
            </a:solidFill>
            <a:prstDash val="solid"/>
          </a:ln>
        </p:spPr>
      </p:sp>
      <p:sp>
        <p:nvSpPr>
          <p:cNvPr id="20" name="Text 18"/>
          <p:cNvSpPr txBox="1"/>
          <p:nvPr/>
        </p:nvSpPr>
        <p:spPr>
          <a:xfrm>
            <a:off x="6397600" y="3447288"/>
            <a:ext cx="1419301"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6.  </a:t>
            </a:r>
            <a:pPr algn="ctr" indent="0" marL="0">
              <a:buNone/>
            </a:pPr>
            <a:r>
              <a:rPr lang="en-US" sz="1400" dirty="0">
                <a:solidFill>
                  <a:srgbClr val="000000"/>
                </a:solidFill>
                <a:latin typeface="Arial" pitchFamily="34" charset="0"/>
                <a:ea typeface="Arial" pitchFamily="34" charset="-122"/>
                <a:cs typeface="Arial" pitchFamily="34" charset="-120"/>
              </a:rPr>
              <a:t>Ready, inside the safety margins</a:t>
            </a:r>
            <a:endParaRPr lang="en-US" sz="1400" dirty="0"/>
          </a:p>
        </p:txBody>
      </p:sp>
      <p:sp>
        <p:nvSpPr>
          <p:cNvPr id="21" name="Shape 19"/>
          <p:cNvSpPr/>
          <p:nvPr/>
        </p:nvSpPr>
        <p:spPr>
          <a:xfrm>
            <a:off x="7935773" y="2436876"/>
            <a:ext cx="219456" cy="0"/>
          </a:xfrm>
          <a:prstGeom prst="line">
            <a:avLst/>
          </a:prstGeom>
          <a:noFill/>
          <a:ln w="19050">
            <a:solidFill>
              <a:srgbClr val="7F7F7F"/>
            </a:solidFill>
            <a:prstDash val="solid"/>
            <a:tailEnd type="triangle"/>
          </a:ln>
        </p:spPr>
      </p:sp>
      <p:sp>
        <p:nvSpPr>
          <p:cNvPr id="22" name="Shape 20"/>
          <p:cNvSpPr/>
          <p:nvPr/>
        </p:nvSpPr>
        <p:spPr>
          <a:xfrm>
            <a:off x="9812274" y="2436876"/>
            <a:ext cx="219456" cy="0"/>
          </a:xfrm>
          <a:prstGeom prst="line">
            <a:avLst/>
          </a:prstGeom>
          <a:noFill/>
          <a:ln w="19050">
            <a:solidFill>
              <a:srgbClr val="7F7F7F"/>
            </a:solidFill>
            <a:prstDash val="solid"/>
            <a:tailEnd type="triangle"/>
          </a:ln>
        </p:spPr>
      </p:sp>
      <p:sp>
        <p:nvSpPr>
          <p:cNvPr id="23" name="Shape 21"/>
          <p:cNvSpPr/>
          <p:nvPr/>
        </p:nvSpPr>
        <p:spPr>
          <a:xfrm>
            <a:off x="10860253" y="3182112"/>
            <a:ext cx="0" cy="219456"/>
          </a:xfrm>
          <a:prstGeom prst="line">
            <a:avLst/>
          </a:prstGeom>
          <a:noFill/>
          <a:ln w="19050">
            <a:solidFill>
              <a:srgbClr val="7F7F7F"/>
            </a:solidFill>
            <a:prstDash val="solid"/>
            <a:tailEnd type="triangle"/>
          </a:ln>
        </p:spPr>
      </p:sp>
      <p:sp>
        <p:nvSpPr>
          <p:cNvPr id="24" name="Shape 22"/>
          <p:cNvSpPr/>
          <p:nvPr/>
        </p:nvSpPr>
        <p:spPr>
          <a:xfrm flipH="1">
            <a:off x="9812274" y="4146804"/>
            <a:ext cx="219456" cy="0"/>
          </a:xfrm>
          <a:prstGeom prst="line">
            <a:avLst/>
          </a:prstGeom>
          <a:noFill/>
          <a:ln w="19050">
            <a:solidFill>
              <a:srgbClr val="7F7F7F"/>
            </a:solidFill>
            <a:prstDash val="solid"/>
            <a:tailEnd type="triangle"/>
          </a:ln>
        </p:spPr>
      </p:sp>
      <p:sp>
        <p:nvSpPr>
          <p:cNvPr id="25" name="Shape 23"/>
          <p:cNvSpPr/>
          <p:nvPr/>
        </p:nvSpPr>
        <p:spPr>
          <a:xfrm flipH="1">
            <a:off x="7935773" y="4146804"/>
            <a:ext cx="219456" cy="0"/>
          </a:xfrm>
          <a:prstGeom prst="line">
            <a:avLst/>
          </a:prstGeom>
          <a:noFill/>
          <a:ln w="19050">
            <a:solidFill>
              <a:srgbClr val="7F7F7F"/>
            </a:solidFill>
            <a:prstDash val="solid"/>
            <a:tailEnd type="triangle"/>
          </a:ln>
        </p:spPr>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Control Logic: Generation 1 vs. Final</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18883"/>
                <a:gridCol w="3993989"/>
                <a:gridCol w="4881543"/>
              </a:tblGrid>
              <a:tr h="640080">
                <a:tc>
                  <a:txBody>
                    <a:bodyPr/>
                    <a:lstStyle/>
                    <a:p>
                      <a:pPr indent="0" marL="0">
                        <a:buNone/>
                      </a:pP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Generation 1</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Final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Where is the claw?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where the cables were told to put 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Measured: claw camera on the floor board, refit at every startup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Room geometry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Point mass; anchors from a tape measure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Rigid claw; anchors and cable lengths fitted, with error bars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Who runs the motors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central board steps all four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Each station runs time-stamped moves; the laptop coordinates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Finding laundry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Ceiling camera, pixel to floor map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Claw camera, ray from the claw's pose to the floor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Did the grab work?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once the claw closed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Camera checks pickup and delivery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Faults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Emergency stop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Supervisor: a stop keeps torque; nothing restarts by itself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Operating Sequence</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stage 1"/>
          <p:cNvSpPr/>
          <p:nvPr/>
        </p:nvSpPr>
        <p:spPr>
          <a:xfrm>
            <a:off x="548640" y="1417320"/>
            <a:ext cx="2554148" cy="457200"/>
          </a:xfrm>
          <a:prstGeom prst="rect">
            <a:avLst/>
          </a:prstGeom>
          <a:solidFill>
            <a:srgbClr val="1F3A5F"/>
          </a:solidFill>
          <a:ln w="12700">
            <a:solidFill>
              <a:srgbClr val="1F3A5F"/>
            </a:solidFill>
            <a:prstDash val="solid"/>
          </a:ln>
        </p:spPr>
      </p:sp>
      <p:sp>
        <p:nvSpPr>
          <p:cNvPr id="5" name="label"/>
          <p:cNvSpPr txBox="1"/>
          <p:nvPr/>
        </p:nvSpPr>
        <p:spPr>
          <a:xfrm>
            <a:off x="658368" y="141732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1. Start up</a:t>
            </a:r>
            <a:endParaRPr lang="en-US" sz="1500" dirty="0"/>
          </a:p>
        </p:txBody>
      </p:sp>
      <p:sp>
        <p:nvSpPr>
          <p:cNvPr id="6" name="Shape 4"/>
          <p:cNvSpPr/>
          <p:nvPr/>
        </p:nvSpPr>
        <p:spPr>
          <a:xfrm>
            <a:off x="548640" y="1874520"/>
            <a:ext cx="2554148" cy="2651760"/>
          </a:xfrm>
          <a:prstGeom prst="rect">
            <a:avLst/>
          </a:prstGeom>
          <a:solidFill>
            <a:srgbClr val="FFFFFF"/>
          </a:solidFill>
          <a:ln w="12700">
            <a:solidFill>
              <a:srgbClr val="1F3A5F"/>
            </a:solidFill>
            <a:prstDash val="solid"/>
          </a:ln>
        </p:spPr>
      </p:sp>
      <p:sp>
        <p:nvSpPr>
          <p:cNvPr id="7" name="stage 1 steps"/>
          <p:cNvSpPr txBox="1"/>
          <p:nvPr/>
        </p:nvSpPr>
        <p:spPr>
          <a:xfrm>
            <a:off x="621792" y="196596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Self-check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Take up slack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Lift a few centimeters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Calibrate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Set the trust level</a:t>
            </a:r>
            <a:endParaRPr lang="en-US" sz="1500" dirty="0"/>
          </a:p>
        </p:txBody>
      </p:sp>
      <p:sp>
        <p:nvSpPr>
          <p:cNvPr id="8" name="Shape 6"/>
          <p:cNvSpPr/>
          <p:nvPr/>
        </p:nvSpPr>
        <p:spPr>
          <a:xfrm>
            <a:off x="3139364" y="1645920"/>
            <a:ext cx="219456" cy="0"/>
          </a:xfrm>
          <a:prstGeom prst="line">
            <a:avLst/>
          </a:prstGeom>
          <a:noFill/>
          <a:ln w="19050">
            <a:solidFill>
              <a:srgbClr val="7F7F7F"/>
            </a:solidFill>
            <a:prstDash val="solid"/>
            <a:tailEnd type="triangle"/>
          </a:ln>
        </p:spPr>
      </p:sp>
      <p:sp>
        <p:nvSpPr>
          <p:cNvPr id="9" name="stage 2"/>
          <p:cNvSpPr/>
          <p:nvPr/>
        </p:nvSpPr>
        <p:spPr>
          <a:xfrm>
            <a:off x="3395396" y="1417320"/>
            <a:ext cx="2554148" cy="457200"/>
          </a:xfrm>
          <a:prstGeom prst="rect">
            <a:avLst/>
          </a:prstGeom>
          <a:solidFill>
            <a:srgbClr val="1F3A5F"/>
          </a:solidFill>
          <a:ln w="12700">
            <a:solidFill>
              <a:srgbClr val="1F3A5F"/>
            </a:solidFill>
            <a:prstDash val="solid"/>
          </a:ln>
        </p:spPr>
      </p:sp>
      <p:sp>
        <p:nvSpPr>
          <p:cNvPr id="10" name="label"/>
          <p:cNvSpPr txBox="1"/>
          <p:nvPr/>
        </p:nvSpPr>
        <p:spPr>
          <a:xfrm>
            <a:off x="3505124" y="141732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2. Find</a:t>
            </a:r>
            <a:endParaRPr lang="en-US" sz="1500" dirty="0"/>
          </a:p>
        </p:txBody>
      </p:sp>
      <p:sp>
        <p:nvSpPr>
          <p:cNvPr id="11" name="Shape 9"/>
          <p:cNvSpPr/>
          <p:nvPr/>
        </p:nvSpPr>
        <p:spPr>
          <a:xfrm>
            <a:off x="3395396" y="1874520"/>
            <a:ext cx="2554148" cy="2651760"/>
          </a:xfrm>
          <a:prstGeom prst="rect">
            <a:avLst/>
          </a:prstGeom>
          <a:solidFill>
            <a:srgbClr val="FFFFFF"/>
          </a:solidFill>
          <a:ln w="12700">
            <a:solidFill>
              <a:srgbClr val="1F3A5F"/>
            </a:solidFill>
            <a:prstDash val="solid"/>
          </a:ln>
        </p:spPr>
      </p:sp>
      <p:sp>
        <p:nvSpPr>
          <p:cNvPr id="12" name="stage 2 steps"/>
          <p:cNvSpPr txBox="1"/>
          <p:nvPr/>
        </p:nvSpPr>
        <p:spPr>
          <a:xfrm>
            <a:off x="3468548" y="196596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Rise to scan height</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Detector lists the items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Map each to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Choose the nearest</a:t>
            </a:r>
            <a:endParaRPr lang="en-US" sz="1500" dirty="0"/>
          </a:p>
        </p:txBody>
      </p:sp>
      <p:sp>
        <p:nvSpPr>
          <p:cNvPr id="13" name="Shape 11"/>
          <p:cNvSpPr/>
          <p:nvPr/>
        </p:nvSpPr>
        <p:spPr>
          <a:xfrm>
            <a:off x="5986120" y="1645920"/>
            <a:ext cx="219456" cy="0"/>
          </a:xfrm>
          <a:prstGeom prst="line">
            <a:avLst/>
          </a:prstGeom>
          <a:noFill/>
          <a:ln w="19050">
            <a:solidFill>
              <a:srgbClr val="7F7F7F"/>
            </a:solidFill>
            <a:prstDash val="solid"/>
            <a:tailEnd type="triangle"/>
          </a:ln>
        </p:spPr>
      </p:sp>
      <p:sp>
        <p:nvSpPr>
          <p:cNvPr id="14" name="stage 3"/>
          <p:cNvSpPr/>
          <p:nvPr/>
        </p:nvSpPr>
        <p:spPr>
          <a:xfrm>
            <a:off x="6242152" y="1417320"/>
            <a:ext cx="2554148" cy="457200"/>
          </a:xfrm>
          <a:prstGeom prst="rect">
            <a:avLst/>
          </a:prstGeom>
          <a:solidFill>
            <a:srgbClr val="1F3A5F"/>
          </a:solidFill>
          <a:ln w="12700">
            <a:solidFill>
              <a:srgbClr val="1F3A5F"/>
            </a:solidFill>
            <a:prstDash val="solid"/>
          </a:ln>
        </p:spPr>
      </p:sp>
      <p:sp>
        <p:nvSpPr>
          <p:cNvPr id="15" name="label"/>
          <p:cNvSpPr txBox="1"/>
          <p:nvPr/>
        </p:nvSpPr>
        <p:spPr>
          <a:xfrm>
            <a:off x="6351880" y="141732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3. Pick and deliver</a:t>
            </a:r>
            <a:endParaRPr lang="en-US" sz="1500" dirty="0"/>
          </a:p>
        </p:txBody>
      </p:sp>
      <p:sp>
        <p:nvSpPr>
          <p:cNvPr id="16" name="Shape 14"/>
          <p:cNvSpPr/>
          <p:nvPr/>
        </p:nvSpPr>
        <p:spPr>
          <a:xfrm>
            <a:off x="6242152" y="1874520"/>
            <a:ext cx="2554148" cy="2651760"/>
          </a:xfrm>
          <a:prstGeom prst="rect">
            <a:avLst/>
          </a:prstGeom>
          <a:solidFill>
            <a:srgbClr val="FFFFFF"/>
          </a:solidFill>
          <a:ln w="12700">
            <a:solidFill>
              <a:srgbClr val="1F3A5F"/>
            </a:solidFill>
            <a:prstDash val="solid"/>
          </a:ln>
        </p:spPr>
      </p:sp>
      <p:sp>
        <p:nvSpPr>
          <p:cNvPr id="17" name="stage 3 steps"/>
          <p:cNvSpPr txBox="1"/>
          <p:nvPr/>
        </p:nvSpPr>
        <p:spPr>
          <a:xfrm>
            <a:off x="6315304" y="196596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Hover until still</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Descend and close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confirms the grip</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Move to the hamper and release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confirms the drop</a:t>
            </a:r>
            <a:endParaRPr lang="en-US" sz="1500" dirty="0"/>
          </a:p>
        </p:txBody>
      </p:sp>
      <p:sp>
        <p:nvSpPr>
          <p:cNvPr id="18" name="Shape 16"/>
          <p:cNvSpPr/>
          <p:nvPr/>
        </p:nvSpPr>
        <p:spPr>
          <a:xfrm>
            <a:off x="8832875" y="1645920"/>
            <a:ext cx="219456" cy="0"/>
          </a:xfrm>
          <a:prstGeom prst="line">
            <a:avLst/>
          </a:prstGeom>
          <a:noFill/>
          <a:ln w="19050">
            <a:solidFill>
              <a:srgbClr val="7F7F7F"/>
            </a:solidFill>
            <a:prstDash val="solid"/>
            <a:tailEnd type="triangle"/>
          </a:ln>
        </p:spPr>
      </p:sp>
      <p:sp>
        <p:nvSpPr>
          <p:cNvPr id="19" name="stage 4"/>
          <p:cNvSpPr/>
          <p:nvPr/>
        </p:nvSpPr>
        <p:spPr>
          <a:xfrm>
            <a:off x="9088907" y="1417320"/>
            <a:ext cx="2554148" cy="457200"/>
          </a:xfrm>
          <a:prstGeom prst="rect">
            <a:avLst/>
          </a:prstGeom>
          <a:solidFill>
            <a:srgbClr val="1F3A5F"/>
          </a:solidFill>
          <a:ln w="12700">
            <a:solidFill>
              <a:srgbClr val="1F3A5F"/>
            </a:solidFill>
            <a:prstDash val="solid"/>
          </a:ln>
        </p:spPr>
      </p:sp>
      <p:sp>
        <p:nvSpPr>
          <p:cNvPr id="20" name="label"/>
          <p:cNvSpPr txBox="1"/>
          <p:nvPr/>
        </p:nvSpPr>
        <p:spPr>
          <a:xfrm>
            <a:off x="9198635" y="141732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4. Put away</a:t>
            </a:r>
            <a:endParaRPr lang="en-US" sz="1500" dirty="0"/>
          </a:p>
        </p:txBody>
      </p:sp>
      <p:sp>
        <p:nvSpPr>
          <p:cNvPr id="21" name="Shape 19"/>
          <p:cNvSpPr/>
          <p:nvPr/>
        </p:nvSpPr>
        <p:spPr>
          <a:xfrm>
            <a:off x="9088907" y="1874520"/>
            <a:ext cx="2554148" cy="2651760"/>
          </a:xfrm>
          <a:prstGeom prst="rect">
            <a:avLst/>
          </a:prstGeom>
          <a:solidFill>
            <a:srgbClr val="FFFFFF"/>
          </a:solidFill>
          <a:ln w="12700">
            <a:solidFill>
              <a:srgbClr val="1F3A5F"/>
            </a:solidFill>
            <a:prstDash val="solid"/>
          </a:ln>
        </p:spPr>
      </p:sp>
      <p:sp>
        <p:nvSpPr>
          <p:cNvPr id="22" name="stage 4 steps"/>
          <p:cNvSpPr txBox="1"/>
          <p:nvPr/>
        </p:nvSpPr>
        <p:spPr>
          <a:xfrm>
            <a:off x="9162059" y="196596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Lower over the floor board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confirms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Disarm after a typed confirmation</a:t>
            </a:r>
            <a:endParaRPr lang="en-US" sz="1500" dirty="0"/>
          </a:p>
        </p:txBody>
      </p:sp>
      <p:sp>
        <p:nvSpPr>
          <p:cNvPr id="23" name="sequence rules"/>
          <p:cNvSpPr txBox="1"/>
          <p:nvPr/>
        </p:nvSpPr>
        <p:spPr>
          <a:xfrm>
            <a:off x="548640" y="4846320"/>
            <a:ext cx="11094415" cy="118872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After each delivery the robot returns to step 2; three failures in a row pause it for the operator</a:t>
            </a:r>
            <a:endParaRPr lang="en-US" sz="1600" dirty="0"/>
          </a:p>
          <a:p>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PAUSE or any fault stops every station at the same point on the path, still holding; nothing restarts by itself</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Phone App</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4032998"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Shows status, the live claw camera and guided setup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motion asks for confirmation first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PAUSE holds position immediately</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switched power strip is the hard stop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 reboot never resumes a task</a:t>
            </a:r>
            <a:endParaRPr lang="en-US" sz="2000" dirty="0"/>
          </a:p>
        </p:txBody>
      </p:sp>
      <p:sp>
        <p:nvSpPr>
          <p:cNvPr id="5" name="Shape 3"/>
          <p:cNvSpPr/>
          <p:nvPr/>
        </p:nvSpPr>
        <p:spPr>
          <a:xfrm>
            <a:off x="4993118" y="1463040"/>
            <a:ext cx="2125206" cy="4526280"/>
          </a:xfrm>
          <a:prstGeom prst="rect">
            <a:avLst/>
          </a:prstGeom>
          <a:solidFill>
            <a:srgbClr val="F2F2F2"/>
          </a:solidFill>
          <a:ln w="12700">
            <a:solidFill>
              <a:srgbClr val="F2F2F2"/>
            </a:solidFill>
            <a:prstDash val="solid"/>
          </a:ln>
        </p:spPr>
      </p:sp>
      <p:pic>
        <p:nvPicPr>
          <p:cNvPr id="6" name="Phone app screens" descr="Phone app screens">    </p:cNvPr>
          <p:cNvPicPr>
            <a:picLocks noChangeAspect="1"/>
          </p:cNvPicPr>
          <p:nvPr/>
        </p:nvPicPr>
        <p:blipFill>
          <a:blip r:embed="rId1"/>
          <a:stretch>
            <a:fillRect/>
          </a:stretch>
        </p:blipFill>
        <p:spPr>
          <a:xfrm>
            <a:off x="5047982" y="1545330"/>
            <a:ext cx="2015478" cy="4361701"/>
          </a:xfrm>
          <a:prstGeom prst="rect">
            <a:avLst/>
          </a:prstGeom>
        </p:spPr>
      </p:pic>
      <p:sp>
        <p:nvSpPr>
          <p:cNvPr id="7" name="Shape 4"/>
          <p:cNvSpPr/>
          <p:nvPr/>
        </p:nvSpPr>
        <p:spPr>
          <a:xfrm>
            <a:off x="7255484" y="1463040"/>
            <a:ext cx="2125206" cy="4526280"/>
          </a:xfrm>
          <a:prstGeom prst="rect">
            <a:avLst/>
          </a:prstGeom>
          <a:solidFill>
            <a:srgbClr val="F2F2F2"/>
          </a:solidFill>
          <a:ln w="12700">
            <a:solidFill>
              <a:srgbClr val="F2F2F2"/>
            </a:solidFill>
            <a:prstDash val="solid"/>
          </a:ln>
        </p:spPr>
      </p:sp>
      <p:pic>
        <p:nvPicPr>
          <p:cNvPr id="8" name="Phone app screens" descr="Phone app screens">    </p:cNvPr>
          <p:cNvPicPr>
            <a:picLocks noChangeAspect="1"/>
          </p:cNvPicPr>
          <p:nvPr/>
        </p:nvPicPr>
        <p:blipFill>
          <a:blip r:embed="rId2"/>
          <a:stretch>
            <a:fillRect/>
          </a:stretch>
        </p:blipFill>
        <p:spPr>
          <a:xfrm>
            <a:off x="7310348" y="1545330"/>
            <a:ext cx="2015478" cy="4361701"/>
          </a:xfrm>
          <a:prstGeom prst="rect">
            <a:avLst/>
          </a:prstGeom>
        </p:spPr>
      </p:pic>
      <p:sp>
        <p:nvSpPr>
          <p:cNvPr id="9" name="Shape 5"/>
          <p:cNvSpPr/>
          <p:nvPr/>
        </p:nvSpPr>
        <p:spPr>
          <a:xfrm>
            <a:off x="9517849" y="1463040"/>
            <a:ext cx="2125206" cy="4526280"/>
          </a:xfrm>
          <a:prstGeom prst="rect">
            <a:avLst/>
          </a:prstGeom>
          <a:solidFill>
            <a:srgbClr val="F2F2F2"/>
          </a:solidFill>
          <a:ln w="12700">
            <a:solidFill>
              <a:srgbClr val="F2F2F2"/>
            </a:solidFill>
            <a:prstDash val="solid"/>
          </a:ln>
        </p:spPr>
      </p:sp>
      <p:pic>
        <p:nvPicPr>
          <p:cNvPr id="10" name="Phone app screens" descr="Phone app screens">    </p:cNvPr>
          <p:cNvPicPr>
            <a:picLocks noChangeAspect="1"/>
          </p:cNvPicPr>
          <p:nvPr/>
        </p:nvPicPr>
        <p:blipFill>
          <a:blip r:embed="rId3"/>
          <a:stretch>
            <a:fillRect/>
          </a:stretch>
        </p:blipFill>
        <p:spPr>
          <a:xfrm>
            <a:off x="9572713" y="1545330"/>
            <a:ext cx="2015478" cy="4361701"/>
          </a:xfrm>
          <a:prstGeom prst="rect">
            <a:avLst/>
          </a:prstGeom>
        </p:spPr>
      </p:pic>
      <p:sp>
        <p:nvSpPr>
          <p:cNvPr id="11" name="caption"/>
          <p:cNvSpPr txBox="1"/>
          <p:nvPr/>
        </p:nvSpPr>
        <p:spPr>
          <a:xfrm>
            <a:off x="4993118" y="6062472"/>
            <a:ext cx="6649937"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camera and chat screens</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Obstacles</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4920551"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Known obstacles modeled as keep-out cylinders</a:t>
            </a:r>
            <a:endParaRPr lang="en-US" sz="1900" dirty="0"/>
          </a:p>
          <a:p>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Every cable checked at every point of the path</a:t>
            </a:r>
            <a:endParaRPr lang="en-US" sz="1900" dirty="0"/>
          </a:p>
          <a:p>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Moves that fail the check are refused before any motor turns</a:t>
            </a:r>
            <a:endParaRPr lang="en-US" sz="1900" dirty="0"/>
          </a:p>
          <a:p>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People are not detected yet, so nobody stands underneath</a:t>
            </a:r>
            <a:endParaRPr lang="en-US" sz="1900" dirty="0"/>
          </a:p>
        </p:txBody>
      </p:sp>
      <p:sp>
        <p:nvSpPr>
          <p:cNvPr id="5" name="Shape 3"/>
          <p:cNvSpPr/>
          <p:nvPr/>
        </p:nvSpPr>
        <p:spPr>
          <a:xfrm>
            <a:off x="5972111" y="5248850"/>
            <a:ext cx="5579504" cy="0"/>
          </a:xfrm>
          <a:prstGeom prst="line">
            <a:avLst/>
          </a:prstGeom>
          <a:noFill/>
          <a:ln w="15875">
            <a:solidFill>
              <a:srgbClr val="000000"/>
            </a:solidFill>
            <a:prstDash val="solid"/>
          </a:ln>
        </p:spPr>
      </p:sp>
      <p:sp>
        <p:nvSpPr>
          <p:cNvPr id="6" name="Shape 4"/>
          <p:cNvSpPr/>
          <p:nvPr/>
        </p:nvSpPr>
        <p:spPr>
          <a:xfrm>
            <a:off x="5972111" y="1600200"/>
            <a:ext cx="5579504" cy="0"/>
          </a:xfrm>
          <a:prstGeom prst="line">
            <a:avLst/>
          </a:prstGeom>
          <a:noFill/>
          <a:ln w="12700">
            <a:solidFill>
              <a:srgbClr val="BFBFBF"/>
            </a:solidFill>
            <a:prstDash val="solid"/>
          </a:ln>
        </p:spPr>
      </p:sp>
      <p:sp>
        <p:nvSpPr>
          <p:cNvPr id="7" name="shelf"/>
          <p:cNvSpPr/>
          <p:nvPr/>
        </p:nvSpPr>
        <p:spPr>
          <a:xfrm>
            <a:off x="7037410" y="2718764"/>
            <a:ext cx="532650" cy="2530085"/>
          </a:xfrm>
          <a:prstGeom prst="rect">
            <a:avLst/>
          </a:prstGeom>
          <a:solidFill>
            <a:srgbClr val="D9DEE5"/>
          </a:solidFill>
          <a:ln w="12700">
            <a:solidFill>
              <a:srgbClr val="7F7F7F"/>
            </a:solidFill>
            <a:prstDash val="solid"/>
          </a:ln>
        </p:spPr>
      </p:sp>
      <p:sp>
        <p:nvSpPr>
          <p:cNvPr id="8" name="label"/>
          <p:cNvSpPr txBox="1"/>
          <p:nvPr/>
        </p:nvSpPr>
        <p:spPr>
          <a:xfrm>
            <a:off x="6123010" y="3650901"/>
            <a:ext cx="859536" cy="45720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Shelf,</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0–1.9 m</a:t>
            </a:r>
            <a:endParaRPr lang="en-US" sz="1100" dirty="0"/>
          </a:p>
        </p:txBody>
      </p:sp>
      <p:sp>
        <p:nvSpPr>
          <p:cNvPr id="9" name="Shape 7"/>
          <p:cNvSpPr/>
          <p:nvPr/>
        </p:nvSpPr>
        <p:spPr>
          <a:xfrm>
            <a:off x="5972111" y="1799944"/>
            <a:ext cx="2796410" cy="1451470"/>
          </a:xfrm>
          <a:prstGeom prst="line">
            <a:avLst/>
          </a:prstGeom>
          <a:noFill/>
          <a:ln w="25400">
            <a:solidFill>
              <a:srgbClr val="1F3A5F"/>
            </a:solidFill>
            <a:prstDash val="solid"/>
          </a:ln>
        </p:spPr>
      </p:sp>
      <p:sp>
        <p:nvSpPr>
          <p:cNvPr id="10" name="Shape 8"/>
          <p:cNvSpPr/>
          <p:nvPr/>
        </p:nvSpPr>
        <p:spPr>
          <a:xfrm flipH="1">
            <a:off x="8768521" y="1799944"/>
            <a:ext cx="2783094" cy="1451470"/>
          </a:xfrm>
          <a:prstGeom prst="line">
            <a:avLst/>
          </a:prstGeom>
          <a:noFill/>
          <a:ln w="25400">
            <a:solidFill>
              <a:srgbClr val="1F3A5F"/>
            </a:solidFill>
            <a:prstDash val="solid"/>
          </a:ln>
        </p:spPr>
      </p:sp>
      <p:sp>
        <p:nvSpPr>
          <p:cNvPr id="11" name="Shape 9"/>
          <p:cNvSpPr/>
          <p:nvPr/>
        </p:nvSpPr>
        <p:spPr>
          <a:xfrm>
            <a:off x="8686225" y="3169118"/>
            <a:ext cx="164592" cy="164592"/>
          </a:xfrm>
          <a:prstGeom prst="rect">
            <a:avLst/>
          </a:prstGeom>
          <a:solidFill>
            <a:srgbClr val="1F3A5F"/>
          </a:solidFill>
          <a:ln w="12700">
            <a:solidFill>
              <a:srgbClr val="1F3A5F"/>
            </a:solidFill>
            <a:prstDash val="solid"/>
          </a:ln>
        </p:spPr>
      </p:sp>
      <p:sp>
        <p:nvSpPr>
          <p:cNvPr id="12" name="Shape 10"/>
          <p:cNvSpPr/>
          <p:nvPr/>
        </p:nvSpPr>
        <p:spPr>
          <a:xfrm>
            <a:off x="5972111" y="1799944"/>
            <a:ext cx="2796410" cy="2383607"/>
          </a:xfrm>
          <a:prstGeom prst="line">
            <a:avLst/>
          </a:prstGeom>
          <a:noFill/>
          <a:ln w="25400">
            <a:solidFill>
              <a:srgbClr val="B23A2E"/>
            </a:solidFill>
            <a:prstDash val="dash"/>
          </a:ln>
        </p:spPr>
      </p:sp>
      <p:sp>
        <p:nvSpPr>
          <p:cNvPr id="13" name="Shape 11"/>
          <p:cNvSpPr/>
          <p:nvPr/>
        </p:nvSpPr>
        <p:spPr>
          <a:xfrm flipH="1">
            <a:off x="8768521" y="1799944"/>
            <a:ext cx="2783094" cy="2383607"/>
          </a:xfrm>
          <a:prstGeom prst="line">
            <a:avLst/>
          </a:prstGeom>
          <a:noFill/>
          <a:ln w="25400">
            <a:solidFill>
              <a:srgbClr val="B23A2E"/>
            </a:solidFill>
            <a:prstDash val="dash"/>
          </a:ln>
        </p:spPr>
      </p:sp>
      <p:sp>
        <p:nvSpPr>
          <p:cNvPr id="14" name="Shape 12"/>
          <p:cNvSpPr/>
          <p:nvPr/>
        </p:nvSpPr>
        <p:spPr>
          <a:xfrm>
            <a:off x="8686225" y="4101254"/>
            <a:ext cx="164592" cy="164592"/>
          </a:xfrm>
          <a:prstGeom prst="rect">
            <a:avLst/>
          </a:prstGeom>
          <a:solidFill>
            <a:srgbClr val="B23A2E"/>
          </a:solidFill>
          <a:ln w="12700">
            <a:solidFill>
              <a:srgbClr val="B23A2E"/>
            </a:solidFill>
            <a:prstDash val="solid"/>
          </a:ln>
        </p:spPr>
      </p:sp>
      <p:sp>
        <p:nvSpPr>
          <p:cNvPr id="15" name="label"/>
          <p:cNvSpPr txBox="1"/>
          <p:nvPr/>
        </p:nvSpPr>
        <p:spPr>
          <a:xfrm>
            <a:off x="8082721" y="3370286"/>
            <a:ext cx="1371600" cy="2286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m: clear</a:t>
            </a:r>
            <a:endParaRPr lang="en-US" sz="1200" dirty="0"/>
          </a:p>
        </p:txBody>
      </p:sp>
      <p:sp>
        <p:nvSpPr>
          <p:cNvPr id="16" name="label"/>
          <p:cNvSpPr txBox="1"/>
          <p:nvPr/>
        </p:nvSpPr>
        <p:spPr>
          <a:xfrm>
            <a:off x="7945561" y="4302422"/>
            <a:ext cx="1645920" cy="22860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0.8 m: refused</a:t>
            </a:r>
            <a:endParaRPr lang="en-US" sz="1200" dirty="0"/>
          </a:p>
        </p:txBody>
      </p:sp>
      <p:sp>
        <p:nvSpPr>
          <p:cNvPr id="17" name="caption"/>
          <p:cNvSpPr txBox="1"/>
          <p:nvPr/>
        </p:nvSpPr>
        <p:spPr>
          <a:xfrm>
            <a:off x="5880671" y="5760720"/>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Side view along a room diagonal: the same floor point at two heights, with an example shelf</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Claw Electrical</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4476774"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Two-cell lithium-ion pack: 7.4 V with a 5 A fuse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6 V servo rail and a separate 5 V logic rail</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Peak draw of 2.8–3.1 A against a 3 A pack rating</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Charged with the switch off, attended, at 1 A or less</a:t>
            </a:r>
            <a:endParaRPr lang="en-US" sz="2000" dirty="0"/>
          </a:p>
        </p:txBody>
      </p:sp>
      <p:sp>
        <p:nvSpPr>
          <p:cNvPr id="5" name="Shape 3"/>
          <p:cNvSpPr/>
          <p:nvPr/>
        </p:nvSpPr>
        <p:spPr>
          <a:xfrm>
            <a:off x="5436894" y="1463040"/>
            <a:ext cx="6206161" cy="4526280"/>
          </a:xfrm>
          <a:prstGeom prst="rect">
            <a:avLst/>
          </a:prstGeom>
          <a:solidFill>
            <a:srgbClr val="F2F2F2"/>
          </a:solidFill>
          <a:ln w="12700">
            <a:solidFill>
              <a:srgbClr val="F2F2F2"/>
            </a:solidFill>
            <a:prstDash val="solid"/>
          </a:ln>
        </p:spPr>
      </p:sp>
      <p:pic>
        <p:nvPicPr>
          <p:cNvPr id="6" name="Claw schematic" descr="Claw schematic">    </p:cNvPr>
          <p:cNvPicPr>
            <a:picLocks noChangeAspect="1"/>
          </p:cNvPicPr>
          <p:nvPr/>
        </p:nvPicPr>
        <p:blipFill>
          <a:blip r:embed="rId1"/>
          <a:stretch>
            <a:fillRect/>
          </a:stretch>
        </p:blipFill>
        <p:spPr>
          <a:xfrm>
            <a:off x="5491758" y="1570308"/>
            <a:ext cx="6096433" cy="4311743"/>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Gear Strength</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2624328"/>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Module 1.5 gears; PETG allowable stress 22.5 MPa</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Safety factors at 6 V stall: 2.05 pinion, 2.50 compound gear, 2.00 sync gear</a:t>
            </a:r>
            <a:endParaRPr lang="en-US" sz="1800" dirty="0"/>
          </a:p>
          <a:p>
            <a:pPr algn="l" marL="254000" indent="-254000">
              <a:spcAft>
                <a:spcPts val="1000"/>
              </a:spcAft>
              <a:buSzPct val="100000"/>
              <a:buChar char="•"/>
            </a:pPr>
            <a:r>
              <a:rPr lang="en-US" sz="1800" dirty="0">
                <a:solidFill>
                  <a:srgbClr val="000000"/>
                </a:solidFill>
                <a:latin typeface="Arial" pitchFamily="34" charset="0"/>
                <a:ea typeface="Arial" pitchFamily="34" charset="-122"/>
                <a:cs typeface="Arial" pitchFamily="34" charset="-120"/>
              </a:rPr>
              <a:t>Module 1 gave safety factors of 0.35–0.41 and was rejected</a:t>
            </a:r>
            <a:endParaRPr lang="en-US" sz="1800" dirty="0"/>
          </a:p>
        </p:txBody>
      </p:sp>
      <p:sp>
        <p:nvSpPr>
          <p:cNvPr id="5" name="equation box"/>
          <p:cNvSpPr/>
          <p:nvPr/>
        </p:nvSpPr>
        <p:spPr>
          <a:xfrm>
            <a:off x="548640" y="4224528"/>
            <a:ext cx="5364328" cy="2039112"/>
          </a:xfrm>
          <a:prstGeom prst="rect">
            <a:avLst/>
          </a:prstGeom>
          <a:solidFill>
            <a:srgbClr val="F7F8FA"/>
          </a:solidFill>
          <a:ln w="15875">
            <a:solidFill>
              <a:srgbClr val="1F3A5F"/>
            </a:solidFill>
            <a:prstDash val="solid"/>
          </a:ln>
        </p:spPr>
      </p:sp>
      <p:sp>
        <p:nvSpPr>
          <p:cNvPr id="6" name="equation title"/>
          <p:cNvSpPr txBox="1"/>
          <p:nvPr/>
        </p:nvSpPr>
        <p:spPr>
          <a:xfrm>
            <a:off x="713232" y="4297680"/>
            <a:ext cx="5035144"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Lewis bending stress at servo stall</a:t>
            </a:r>
            <a:endParaRPr lang="en-US" sz="1100" dirty="0"/>
          </a:p>
        </p:txBody>
      </p:sp>
      <p:sp>
        <p:nvSpPr>
          <p:cNvPr id="7" name="equations"/>
          <p:cNvSpPr txBox="1"/>
          <p:nvPr/>
        </p:nvSpPr>
        <p:spPr>
          <a:xfrm>
            <a:off x="713232" y="4535424"/>
            <a:ext cx="5035144" cy="1005840"/>
          </a:xfrm>
          <a:prstGeom prst="rect">
            <a:avLst/>
          </a:prstGeom>
          <a:noFill/>
          <a:ln/>
        </p:spPr>
        <p:txBody>
          <a:bodyPr wrap="square" lIns="0" tIns="0" rIns="0" bIns="0" rtlCol="0" anchor="t"/>
          <a:lstStyle/>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F</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2τ / d = 2 × 1.078 / 0.027 = 79.9 N</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σ = F</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(b m Y) = 79.9 / (15.7 × 1.5 × 0.309) = 11.0 MPa</a:t>
            </a:r>
            <a:endParaRPr lang="en-US" sz="1550" dirty="0"/>
          </a:p>
          <a:p>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SF = σ</a:t>
            </a:r>
            <a:pPr algn="l" indent="0" marL="0">
              <a:spcAft>
                <a:spcPts val="400"/>
              </a:spcAft>
              <a:buNone/>
            </a:pPr>
            <a:r>
              <a:rPr lang="en-US" sz="1550" baseline="-40000" dirty="0">
                <a:solidFill>
                  <a:srgbClr val="000000"/>
                </a:solidFill>
                <a:latin typeface="Cambria" pitchFamily="34" charset="0"/>
                <a:ea typeface="Cambria" pitchFamily="34" charset="-122"/>
                <a:cs typeface="Cambria" pitchFamily="34" charset="-120"/>
              </a:rPr>
              <a:t>allow</a:t>
            </a:r>
            <a:pPr algn="l" indent="0" marL="0">
              <a:spcAft>
                <a:spcPts val="400"/>
              </a:spcAft>
              <a:buNone/>
            </a:pPr>
            <a:r>
              <a:rPr lang="en-US" sz="1550" dirty="0">
                <a:solidFill>
                  <a:srgbClr val="000000"/>
                </a:solidFill>
                <a:latin typeface="Cambria" pitchFamily="34" charset="0"/>
                <a:ea typeface="Cambria" pitchFamily="34" charset="-122"/>
                <a:cs typeface="Cambria" pitchFamily="34" charset="-120"/>
              </a:rPr>
              <a:t> / σ = 22.5 / 11.0 = </a:t>
            </a:r>
            <a:pPr algn="l" indent="0" marL="0">
              <a:spcAft>
                <a:spcPts val="400"/>
              </a:spcAft>
              <a:buNone/>
            </a:pPr>
            <a:r>
              <a:rPr lang="en-US" sz="1550" b="1" dirty="0">
                <a:solidFill>
                  <a:srgbClr val="000000"/>
                </a:solidFill>
                <a:latin typeface="Cambria" pitchFamily="34" charset="0"/>
                <a:ea typeface="Cambria" pitchFamily="34" charset="-122"/>
                <a:cs typeface="Cambria" pitchFamily="34" charset="-120"/>
              </a:rPr>
              <a:t>2.05</a:t>
            </a:r>
            <a:endParaRPr lang="en-US" sz="1550" dirty="0"/>
          </a:p>
        </p:txBody>
      </p:sp>
      <p:sp>
        <p:nvSpPr>
          <p:cNvPr id="8" name="equation inputs"/>
          <p:cNvSpPr txBox="1"/>
          <p:nvPr/>
        </p:nvSpPr>
        <p:spPr>
          <a:xfrm>
            <a:off x="713232" y="5577840"/>
            <a:ext cx="5035144" cy="612648"/>
          </a:xfrm>
          <a:prstGeom prst="rect">
            <a:avLst/>
          </a:prstGeom>
          <a:noFill/>
          <a:ln/>
        </p:spPr>
        <p:txBody>
          <a:bodyPr wrap="square" lIns="0" tIns="0" rIns="0" bIns="0" rtlCol="0" anchor="t"/>
          <a:lstStyle/>
          <a:p>
            <a:pPr indent="0" marL="0">
              <a:buNone/>
            </a:pPr>
            <a:r>
              <a:rPr lang="en-US" sz="1100" b="1" dirty="0">
                <a:solidFill>
                  <a:srgbClr val="404040"/>
                </a:solidFill>
                <a:latin typeface="Arial" pitchFamily="34" charset="0"/>
                <a:ea typeface="Arial" pitchFamily="34" charset="-122"/>
                <a:cs typeface="Arial" pitchFamily="34" charset="-120"/>
              </a:rPr>
              <a:t>Where:</a:t>
            </a:r>
            <a:pPr indent="0" marL="0">
              <a:buNone/>
            </a:pPr>
            <a:r>
              <a:rPr lang="en-US" sz="1100" dirty="0">
                <a:solidFill>
                  <a:srgbClr val="404040"/>
                </a:solidFill>
                <a:latin typeface="Arial" pitchFamily="34" charset="0"/>
                <a:ea typeface="Arial" pitchFamily="34" charset="-122"/>
                <a:cs typeface="Arial" pitchFamily="34" charset="-120"/>
              </a:rPr>
              <a:t>  τ = servo stall torque; d = pitch diameter (18 teeth × 1.5 mm); b = face width; m = module; Y = Lewis form factor; SF = safety factor</a:t>
            </a:r>
            <a:endParaRPr lang="en-US" sz="1100" dirty="0"/>
          </a:p>
        </p:txBody>
      </p:sp>
      <p:sp>
        <p:nvSpPr>
          <p:cNvPr id="9" name="Shape 7"/>
          <p:cNvSpPr/>
          <p:nvPr/>
        </p:nvSpPr>
        <p:spPr>
          <a:xfrm>
            <a:off x="6324448" y="1463040"/>
            <a:ext cx="2590724" cy="4526280"/>
          </a:xfrm>
          <a:prstGeom prst="rect">
            <a:avLst/>
          </a:prstGeom>
          <a:solidFill>
            <a:srgbClr val="F2F2F2"/>
          </a:solidFill>
          <a:ln w="12700">
            <a:solidFill>
              <a:srgbClr val="F2F2F2"/>
            </a:solidFill>
            <a:prstDash val="solid"/>
          </a:ln>
        </p:spPr>
      </p:sp>
      <p:pic>
        <p:nvPicPr>
          <p:cNvPr id="10" name="Compound and follower gears" descr="Compound and follower gears">    </p:cNvPr>
          <p:cNvPicPr>
            <a:picLocks noChangeAspect="1"/>
          </p:cNvPicPr>
          <p:nvPr/>
        </p:nvPicPr>
        <p:blipFill>
          <a:blip r:embed="rId1"/>
          <a:stretch>
            <a:fillRect/>
          </a:stretch>
        </p:blipFill>
        <p:spPr>
          <a:xfrm>
            <a:off x="6379312" y="2373652"/>
            <a:ext cx="2480996" cy="2705056"/>
          </a:xfrm>
          <a:prstGeom prst="rect">
            <a:avLst/>
          </a:prstGeom>
        </p:spPr>
      </p:pic>
      <p:sp>
        <p:nvSpPr>
          <p:cNvPr id="11" name="Shape 8"/>
          <p:cNvSpPr/>
          <p:nvPr/>
        </p:nvSpPr>
        <p:spPr>
          <a:xfrm>
            <a:off x="9052331" y="1463040"/>
            <a:ext cx="2590724" cy="4526280"/>
          </a:xfrm>
          <a:prstGeom prst="rect">
            <a:avLst/>
          </a:prstGeom>
          <a:solidFill>
            <a:srgbClr val="F2F2F2"/>
          </a:solidFill>
          <a:ln w="12700">
            <a:solidFill>
              <a:srgbClr val="F2F2F2"/>
            </a:solidFill>
            <a:prstDash val="solid"/>
          </a:ln>
        </p:spPr>
      </p:sp>
      <p:pic>
        <p:nvPicPr>
          <p:cNvPr id="12" name="Compound and follower gears" descr="Compound and follower gears">    </p:cNvPr>
          <p:cNvPicPr>
            <a:picLocks noChangeAspect="1"/>
          </p:cNvPicPr>
          <p:nvPr/>
        </p:nvPicPr>
        <p:blipFill>
          <a:blip r:embed="rId2"/>
          <a:stretch>
            <a:fillRect/>
          </a:stretch>
        </p:blipFill>
        <p:spPr>
          <a:xfrm>
            <a:off x="9107195" y="2665251"/>
            <a:ext cx="2480996" cy="2121859"/>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Safety</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919048"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hard stop: the switched power strip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Faults and PAUSE hold motor torque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Anchors in wall studs; nobody stands under the robot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Motors are never unplugged under power</a:t>
            </a:r>
            <a:endParaRPr lang="en-US" sz="2000" dirty="0"/>
          </a:p>
        </p:txBody>
      </p:sp>
      <p:sp>
        <p:nvSpPr>
          <p:cNvPr id="5" name="Shape 3"/>
          <p:cNvSpPr/>
          <p:nvPr/>
        </p:nvSpPr>
        <p:spPr>
          <a:xfrm>
            <a:off x="6879168" y="1463040"/>
            <a:ext cx="4763887" cy="4526280"/>
          </a:xfrm>
          <a:prstGeom prst="rect">
            <a:avLst/>
          </a:prstGeom>
          <a:solidFill>
            <a:srgbClr val="F2F2F2"/>
          </a:solidFill>
          <a:ln w="12700">
            <a:solidFill>
              <a:srgbClr val="F2F2F2"/>
            </a:solidFill>
            <a:prstDash val="solid"/>
          </a:ln>
        </p:spPr>
      </p:sp>
      <p:pic>
        <p:nvPicPr>
          <p:cNvPr id="6" name="Wall station" descr="Wall station">    </p:cNvPr>
          <p:cNvPicPr>
            <a:picLocks noChangeAspect="1"/>
          </p:cNvPicPr>
          <p:nvPr/>
        </p:nvPicPr>
        <p:blipFill>
          <a:blip r:embed="rId1"/>
          <a:stretch>
            <a:fillRect/>
          </a:stretch>
        </p:blipFill>
        <p:spPr>
          <a:xfrm>
            <a:off x="7445889" y="1517904"/>
            <a:ext cx="3630445" cy="4416552"/>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Acronyms</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440771"/>
                <a:gridCol w="8653644"/>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Term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Meaning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CAD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Computer-aided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PETG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Polyethylene terephthalate glycol (the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TPU</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Thermoplastic polyurethane (flexible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NEMA 17</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National Electrical Manufacturers Association motor frame, 1.7 in square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I²C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Inter-Integrated Circuit: a short-range two-wire sensor bus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ESP32</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 Wi-Fi microcontroller family (Espressif)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A4988, AS5600</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Stepper-motor driver chip (Allegro); magnetic angle sensor (ams)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YOLO</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“You Only Look Once”: an object-detection model family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SF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Safety factor: allowable stress divided by actual stress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itle"/>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Calculations and Sources</a:t>
            </a:r>
            <a:endParaRPr lang="en-US" sz="2800" dirty="0"/>
          </a:p>
        </p:txBody>
      </p:sp>
      <p:sp>
        <p:nvSpPr>
          <p:cNvPr id="3" name="title rule"/>
          <p:cNvSpPr/>
          <p:nvPr/>
        </p:nvSpPr>
        <p:spPr>
          <a:xfrm>
            <a:off x="548640" y="1143000"/>
            <a:ext cx="11094415" cy="0"/>
          </a:xfrm>
          <a:prstGeom prst="line">
            <a:avLst/>
          </a:prstGeom>
          <a:noFill/>
          <a:ln w="9525">
            <a:solidFill>
              <a:srgbClr val="BFBFBF"/>
            </a:solidFill>
            <a:prstDash val="solid"/>
          </a:ln>
        </p:spPr>
      </p:sp>
      <p:sp>
        <p:nvSpPr>
          <p:cNvPr id="4" name="bullets"/>
          <p:cNvSpPr txBox="1"/>
          <p:nvPr/>
        </p:nvSpPr>
        <p:spPr>
          <a:xfrm>
            <a:off x="548640" y="1417320"/>
            <a:ext cx="5364328" cy="480060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All charts come from my engineering calculation sheet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Each result is a formula on labeled inputs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Sources:</a:t>
            </a:r>
            <a:endParaRPr lang="en-US" sz="2000" dirty="0"/>
          </a:p>
          <a:p>
            <a:pPr algn="l" lvl="1" marL="457200" indent="-228600">
              <a:spcAft>
                <a:spcPts val="800"/>
              </a:spcAft>
              <a:buSzPct val="100000"/>
              <a:buChar char="•"/>
            </a:pPr>
            <a:r>
              <a:rPr lang="en-US" sz="1700" dirty="0">
                <a:solidFill>
                  <a:srgbClr val="404040"/>
                </a:solidFill>
                <a:latin typeface="Arial" pitchFamily="34" charset="0"/>
                <a:ea typeface="Arial" pitchFamily="34" charset="-122"/>
                <a:cs typeface="Arial" pitchFamily="34" charset="-120"/>
              </a:rPr>
              <a:t>Incropera et al., Fundamentals of Heat and Mass Transfer, ch. 3</a:t>
            </a:r>
            <a:endParaRPr lang="en-US" sz="2000" dirty="0"/>
          </a:p>
          <a:p>
            <a:pPr algn="l" lvl="1" marL="457200" indent="-228600">
              <a:spcAft>
                <a:spcPts val="800"/>
              </a:spcAft>
              <a:buSzPct val="100000"/>
              <a:buChar char="•"/>
            </a:pPr>
            <a:r>
              <a:rPr lang="en-US" sz="1700" dirty="0">
                <a:solidFill>
                  <a:srgbClr val="404040"/>
                </a:solidFill>
                <a:latin typeface="Arial" pitchFamily="34" charset="0"/>
                <a:ea typeface="Arial" pitchFamily="34" charset="-122"/>
                <a:cs typeface="Arial" pitchFamily="34" charset="-120"/>
              </a:rPr>
              <a:t>Allegro MicroSystems, A4988 datasheet</a:t>
            </a:r>
            <a:endParaRPr lang="en-US" sz="2000" dirty="0"/>
          </a:p>
        </p:txBody>
      </p:sp>
      <p:pic>
        <p:nvPicPr>
          <p:cNvPr id="5" name="Chart from the calculation sheet: Cable " descr="Chart from the calculation sheet: Cable tension">    </p:cNvPr>
          <p:cNvPicPr>
            <a:picLocks noChangeAspect="1"/>
          </p:cNvPicPr>
          <p:nvPr/>
        </p:nvPicPr>
        <p:blipFill>
          <a:blip r:embed="rId1"/>
          <a:stretch>
            <a:fillRect/>
          </a:stretch>
        </p:blipFill>
        <p:spPr>
          <a:xfrm>
            <a:off x="6324448" y="1554480"/>
            <a:ext cx="5318608" cy="3661008"/>
          </a:xfrm>
          <a:prstGeom prst="rect">
            <a:avLst/>
          </a:prstGeom>
        </p:spPr>
      </p:pic>
      <p:sp>
        <p:nvSpPr>
          <p:cNvPr id="6" name="chart frame"/>
          <p:cNvSpPr/>
          <p:nvPr/>
        </p:nvSpPr>
        <p:spPr>
          <a:xfrm>
            <a:off x="6324448" y="1554480"/>
            <a:ext cx="5318608" cy="3661008"/>
          </a:xfrm>
          <a:prstGeom prst="rect">
            <a:avLst/>
          </a:prstGeom>
          <a:ln w="9525">
            <a:solidFill>
              <a:srgbClr val="BFBFBF"/>
            </a:solidFill>
            <a:prstDash val="solid"/>
          </a:ln>
        </p:spPr>
      </p:sp>
      <p:sp>
        <p:nvSpPr>
          <p:cNvPr id="7" name="caption"/>
          <p:cNvSpPr txBox="1"/>
          <p:nvPr/>
        </p:nvSpPr>
        <p:spPr>
          <a:xfrm>
            <a:off x="6324448" y="5288640"/>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 values)</a:t>
            </a:r>
            <a:endParaRPr lang="en-US" sz="1100" dirty="0"/>
          </a:p>
        </p:txBody>
      </p:sp>
      <p:sp>
        <p:nvSpPr>
          <p:cNvPr id="9" name="sheet link"/>
          <p:cNvSpPr txBox="1"/>
          <p:nvPr/>
        </p:nvSpPr>
        <p:spPr>
          <a:xfrm>
            <a:off x="548640" y="5760720"/>
            <a:ext cx="502920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RoomCleaner v6">
  <a:themeElements>
    <a:clrScheme name="RoomCleaner v6">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6">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2026-10-22T15:23:25Z</dcterms:created>
  <dcterms:modified xsi:type="dcterms:W3CDTF">2026-10-22T15:23:25Z</dcterms:modified>
</cp:coreProperties>
</file>