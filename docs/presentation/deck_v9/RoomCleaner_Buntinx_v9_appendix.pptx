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endix" id="{c057cf7b-6dd1-5b4d-7497-6be9a7c8d161}">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safe state is PAUSE: torque on, holding. Anything that removes power drops the claw, which is why nobody stands under it and why a brake or a non-backdrivable stage is on the next-steps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L95 is where a fin carries 95 % of the heat an infinitely long one would. h = 7 W/m²·K still air, k = 160 W/m·K aluminum. Source: Incropera, ch.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works today only because the motor also sheds heat into the vented shell. Thickness beats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Noise model: 0.3 px corner noise and a 520 px focal length (camera not yet calibrated). The four-tag figure is the best placement; realistic placements are a few times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or a detected fault stops every station on the same point of the path, still holding; nothing restarts by itself. The emergency stop is the switched power strip, and it drops the claw. Known obstacles are keep-out shapes checked against every cable before a move. Simulated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trusted its model; the final logic measures before it trusts and checks after it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gear pockets: the bearing presses past a lip, the T-slots let the lip ends flex, and it then sits free in a pocket 0.075 mm larger. The slide-in runs on 0.175 mm a side. The fin's sheared edges are only good to half a millimetre, so they locate only the first hole; the rest are drilled from it. [[confirm which spool bore is printed, which holes get heat-set inserts, and the insert part number]] If asked which feature each fit belongs to, row by row: gear bearings are the 687 ball bearings in the claw's gear housing, a Ø14.075 pocket behind a Ø14.000 entry lip with eight T-slots so the lip flexes as the bearing snaps past. Gear pins are the printed Ø7 pins the claw gears turn on, into Ø7.05 sockets. Slide-in mount is the station housing's dovetail ribs in the wall-mount grooves, 0.175 mm a side on 30° flanks. Spool on the D-shaft is the winch spool's bore on the motor's 5 mm D-flat shaft, Ø5.45 after Ø5.2 printed too tight. End-stop switch is the homing switch pressed into a pocket in the station slide-in. Heat-set inserts: M3 in the claw gear housing, M2.5 at the station encoder board. Screw clearance: M3 holes in the printed parts and the drilled fin, and the #6 wall-screw holes in the wall mount. Motor pilot is the NEMA 17's Ø22 boss through the printed motor tab and the drilled fin. Fin hole zero is the datum scheme for drilling the fin: the first hole from the sheared edges, the other four from it. All measured from my parts' CAD files and my fin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external 10k pull-up on ENABLE is the reason a reset cannot move a motor; it is also why disabling removes torque, so the pull-up cannot hold a suspended load. The bench script on the Act 5 slide checks each part of this board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bench board (the larger dev module) uses the same layout with the module off the board and nine jumpers into the holes of the small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 Charger: 8.4 V constant current, constant voltage; charged attended, at 1 A or less. The peak sits at the pack rating, so a stall longer than a moment is the thing to watch. On the bench (10/26): live view, 7.2 V battery read, servo moves once it had its own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jp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1"/>
          <p:cNvSpPr txBox="1"/>
          <p:nvPr/>
        </p:nvSpPr>
        <p:spPr>
          <a:xfrm>
            <a:off x="548640" y="3520440"/>
            <a:ext cx="10058400" cy="45720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Fundamentals, safe state, fits, schematics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Safe state and failure modes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884548"/>
                <a:gridCol w="4437766"/>
                <a:gridCol w="3772101"/>
              </a:tblGrid>
              <a:tr h="6400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Mitigation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PAUSE, or a fault the software detects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station holds position with torque 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Nothing moves again without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Wi-Fi link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Stations stop and hold on their own clocks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Resume needs approval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Power loss or emergency stop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Torque is lost and the claw can fall (1.5 kg from about 2 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Nobody underneath; claw parked low when idle; brake planned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Controller reset or brown-out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Driver disabled at boot, so torque is lost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Same as power loss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Driver over-temperature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The A4988 shuts its outputs off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Hold test watches the driver; fallback 1.35 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Three-station run: any station fault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Every cable is needed; the claw falls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clear and padded; movement and calibration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fin length</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Heat f" descr="Chart from the calculation sheet: Heat fin">    </p:cNvPr>
          <p:cNvPicPr>
            <a:picLocks noChangeAspect="1"/>
          </p:cNvPicPr>
          <p:nvPr/>
        </p:nvPicPr>
        <p:blipFill>
          <a:blip r:embed="rId1"/>
          <a:stretch>
            <a:fillRect/>
          </a:stretch>
        </p:blipFill>
        <p:spPr>
          <a:xfrm>
            <a:off x="548640" y="1188720"/>
            <a:ext cx="6400800" cy="4398590"/>
          </a:xfrm>
          <a:prstGeom prst="rect">
            <a:avLst/>
          </a:prstGeom>
        </p:spPr>
      </p:pic>
      <p:sp>
        <p:nvSpPr>
          <p:cNvPr id="6" name="caption"/>
          <p:cNvSpPr txBox="1"/>
          <p:nvPr/>
        </p:nvSpPr>
        <p:spPr>
          <a:xfrm>
            <a:off x="548640" y="5660462"/>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a:t>
            </a:r>
            <a:endParaRPr lang="en-US" sz="1100" dirty="0"/>
          </a:p>
        </p:txBody>
      </p:sp>
      <p:sp>
        <p:nvSpPr>
          <p:cNvPr id="7"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prototype reaches 95 % of its capacity by 136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design keeps gaining to 349 mm</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Built at 200 mm, limited by ceiling clearance</a:t>
            </a:r>
            <a:endParaRPr lang="en-US" sz="1700" dirty="0"/>
          </a:p>
        </p:txBody>
      </p:sp>
      <p:sp>
        <p:nvSpPr>
          <p:cNvPr id="8"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9"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Fin length and efficiency</a:t>
            </a:r>
            <a:endParaRPr lang="en-US" sz="1100" dirty="0"/>
          </a:p>
        </p:txBody>
      </p:sp>
      <p:sp>
        <p:nvSpPr>
          <p:cNvPr id="10"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 = √(2h / (k t)),   L</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1.83 / m</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η = tanh(mL) / (mL)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0.74</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(1/8 in)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Fin sizing for 4 W</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5" name="fin sizing"/>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880360"/>
                <a:gridCol w="1088136"/>
                <a:gridCol w="2432304"/>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Painted 6061, 44 mm wide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Shortest for ≤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0.019 in (prototype)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(2.0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47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 (3.6 W max)</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0.090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68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210 mm or 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1/8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94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145–185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3/16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141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125–140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400" b="1" dirty="0">
                          <a:solidFill>
                            <a:srgbClr val="1A1A1A"/>
                          </a:solidFill>
                          <a:latin typeface="Arial" pitchFamily="34" charset="0"/>
                          <a:ea typeface="Arial" pitchFamily="34" charset="-122"/>
                          <a:cs typeface="Arial" pitchFamily="34" charset="-120"/>
                        </a:rPr>
                        <a:t>1/4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189 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115–125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caption"/>
          <p:cNvSpPr txBox="1"/>
          <p:nvPr/>
        </p:nvSpPr>
        <p:spPr>
          <a:xfrm>
            <a:off x="548640" y="4626864"/>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Calculated.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If the fin alone had to carry all 4.05 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0.019 in sheet: not possible at any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in plate: 145–185 mm</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Floor board accuracy</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Camera pose error per frame, best case: 6.6 mm with one tag, 0.7 mm with four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This is the camera's view, not the cable length</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After the fit, cable lengths are known to about 12–16 mm (simulated)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Operating sequence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5" name="Phone app screens" descr="Phone app screens">    </p:cNvPr>
          <p:cNvPicPr>
            <a:picLocks noChangeAspect="1"/>
          </p:cNvPicPr>
          <p:nvPr/>
        </p:nvPicPr>
        <p:blipFill>
          <a:blip r:embed="rId1"/>
          <a:stretch>
            <a:fillRect/>
          </a:stretch>
        </p:blipFill>
        <p:spPr>
          <a:xfrm>
            <a:off x="548640" y="1268070"/>
            <a:ext cx="2060448" cy="4459021"/>
          </a:xfrm>
          <a:prstGeom prst="rect">
            <a:avLst/>
          </a:prstGeom>
        </p:spPr>
      </p:pic>
      <p:pic>
        <p:nvPicPr>
          <p:cNvPr id="6" name="Phone app screens" descr="Phone app screens">    </p:cNvPr>
          <p:cNvPicPr>
            <a:picLocks noChangeAspect="1"/>
          </p:cNvPicPr>
          <p:nvPr/>
        </p:nvPicPr>
        <p:blipFill>
          <a:blip r:embed="rId2"/>
          <a:stretch>
            <a:fillRect/>
          </a:stretch>
        </p:blipFill>
        <p:spPr>
          <a:xfrm>
            <a:off x="2718816" y="1268070"/>
            <a:ext cx="2060448" cy="4459021"/>
          </a:xfrm>
          <a:prstGeom prst="rect">
            <a:avLst/>
          </a:prstGeom>
        </p:spPr>
      </p:pic>
      <p:pic>
        <p:nvPicPr>
          <p:cNvPr id="7" name="Phone app screens" descr="Phone app screens">    </p:cNvPr>
          <p:cNvPicPr>
            <a:picLocks noChangeAspect="1"/>
          </p:cNvPicPr>
          <p:nvPr/>
        </p:nvPicPr>
        <p:blipFill>
          <a:blip r:embed="rId3"/>
          <a:stretch>
            <a:fillRect/>
          </a:stretch>
        </p:blipFill>
        <p:spPr>
          <a:xfrm>
            <a:off x="4888992" y="1268070"/>
            <a:ext cx="2060448" cy="4459021"/>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in simulation: home, claw camera and chat</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Start up: self-check, take up slack, calibrate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Find: scan from above, detect garments, choose the nearest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hover until still, grip, deliver; the camera confirms each step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move waits for approval on the phone; PAUSE holds position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Control logic: Generation 1 vs. final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18883"/>
                <a:gridCol w="3993989"/>
                <a:gridCol w="4881543"/>
              </a:tblGrid>
              <a:tr h="594360">
                <a:tc>
                  <a:txBody>
                    <a:bodyPr/>
                    <a:lstStyle/>
                    <a:p>
                      <a:pPr indent="0" marL="0">
                        <a:buNone/>
                      </a:pP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Generation 1</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Final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Where is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 from the commanded cable lengths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Measured by the claw camera; refit at every startup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Room geometry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from a tape measure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Anchors and cable lengths fitted, with error bars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Motor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One central board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controller per station, coordinated by the laptop</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Finding laundry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Ceiling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Claw camera</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Did the grab work?</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Assumed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Camera checks pickup and delivery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94360">
                <a:tc>
                  <a:txBody>
                    <a:bodyPr/>
                    <a:lstStyle/>
                    <a:p>
                      <a:pPr indent="0" marL="0">
                        <a:buNone/>
                      </a:pPr>
                      <a:r>
                        <a:rPr lang="en-US" sz="1500" b="1" dirty="0">
                          <a:solidFill>
                            <a:srgbClr val="1A1A1A"/>
                          </a:solidFill>
                          <a:latin typeface="Arial" pitchFamily="34" charset="0"/>
                          <a:ea typeface="Arial" pitchFamily="34" charset="-122"/>
                          <a:cs typeface="Arial" pitchFamily="34" charset="-120"/>
                        </a:rPr>
                        <a:t>Faults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Emergency stop only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PAUSE keeps torque; the emergency stop cuts power and drops the claw</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Manufacturing: fits and datums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End-stop switch pressed into the slide-i" descr="End-stop switch pressed into the slide-in">    </p:cNvPr>
          <p:cNvPicPr>
            <a:picLocks noChangeAspect="1"/>
          </p:cNvPicPr>
          <p:nvPr/>
        </p:nvPicPr>
        <p:blipFill>
          <a:blip r:embed="rId4"/>
          <a:stretch>
            <a:fillRect/>
          </a:stretch>
        </p:blipFill>
        <p:spPr>
          <a:xfrm>
            <a:off x="4327398" y="2761488"/>
            <a:ext cx="1001268"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End-stop switch pressed into the slide-in</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02336">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End-stop switch</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Pocket 6.65 × 20.3 × 9 on a 1 mm ledge, lever window below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Press fit, no screws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Ø4.0 × 5 gear housing; M2.5: Ø3.45 × 4 encoder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Rev D</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Rev D schematic" descr="Station Rev D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One board per station: a Wi-Fi microcontroller, the A4988 driver, a 12 V to 5 V buck, the homing switch and the spool encoder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Pull-up on ENABLE keeps the driver off at boot; pull-downs on STEP and DIR; a 100 µF reservoir at the driver supply</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Fuses at the source end of each 12 V branch; the buck is rated to 20 V in, so the supply stays at 12 V</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breadboard layout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Station breadboard layout" descr="Station breadboard layout">    </p:cNvPr>
          <p:cNvPicPr>
            <a:picLocks noChangeAspect="1"/>
          </p:cNvPicPr>
          <p:nvPr/>
        </p:nvPicPr>
        <p:blipFill>
          <a:blip r:embed="rId1"/>
          <a:stretch>
            <a:fillRect/>
          </a:stretch>
        </p:blipFill>
        <p:spPr>
          <a:xfrm>
            <a:off x="548640" y="1574823"/>
            <a:ext cx="6949440" cy="3845513"/>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Station Rev D breadboard layout, drawn and net-checked</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bench build of Rev D on a mini breadboard: the layout was net-checked against the schematic (PASS) before power</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Each motor coil carries about 1 A through breadboard contacts: short leads, fully seated</a:t>
            </a:r>
            <a:endParaRPr lang="en-US" sz="1500" dirty="0"/>
          </a:p>
          <a:p>
            <a:pPr algn="l" marL="254000" indent="-254000">
              <a:spcAft>
                <a:spcPts val="1200"/>
              </a:spcAft>
              <a:buSzPct val="100000"/>
              <a:buChar char="•"/>
            </a:pPr>
            <a:r>
              <a:rPr lang="en-US" sz="1500" dirty="0">
                <a:solidFill>
                  <a:srgbClr val="1A1A1A"/>
                </a:solidFill>
                <a:latin typeface="Arial" pitchFamily="34" charset="0"/>
                <a:ea typeface="Arial" pitchFamily="34" charset="-122"/>
                <a:cs typeface="Arial" pitchFamily="34" charset="-120"/>
              </a:rPr>
              <a:t>The soldered perfboard and the rail board follow the same net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electrical, Rev B</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law schematic" descr="Claw schematic">    </p:cNvPr>
          <p:cNvPicPr>
            <a:picLocks noChangeAspect="1"/>
          </p:cNvPicPr>
          <p:nvPr/>
        </p:nvPicPr>
        <p:blipFill>
          <a:blip r:embed="rId1"/>
          <a:stretch>
            <a:fillRect/>
          </a:stretch>
        </p:blipFill>
        <p:spPr>
          <a:xfrm>
            <a:off x="758831" y="1188720"/>
            <a:ext cx="6529058" cy="4617720"/>
          </a:xfrm>
          <a:prstGeom prst="rect">
            <a:avLst/>
          </a:prstGeom>
        </p:spPr>
      </p:pic>
      <p:sp>
        <p:nvSpPr>
          <p:cNvPr id="5" name="caption"/>
          <p:cNvSpPr txBox="1"/>
          <p:nvPr/>
        </p:nvSpPr>
        <p:spPr>
          <a:xfrm>
            <a:off x="548640" y="5897880"/>
            <a:ext cx="694944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Claw Rev B schematic</a:t>
            </a:r>
            <a:endParaRPr lang="en-US" sz="1100" dirty="0"/>
          </a:p>
        </p:txBody>
      </p:sp>
      <p:sp>
        <p:nvSpPr>
          <p:cNvPr id="6" name="bullets"/>
          <p:cNvSpPr txBox="1"/>
          <p:nvPr/>
        </p:nvSpPr>
        <p:spPr>
          <a:xfrm>
            <a:off x="7909560" y="1234440"/>
            <a:ext cx="373349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Two-cell lithium-ion pack, 7.4 V; 5 A fuse for shorts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6 V servo rail and a separate 5 V logic rail; 200k/100k divider for battery sense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Peak draw 2.8–3.1 A, at the pack's 3 A rating</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Acronyms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440771"/>
                <a:gridCol w="8653644"/>
              </a:tblGrid>
              <a:tr h="47548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Term</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Meaning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Computer-aided design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PETG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Polyethylene terephthalate glycol (the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TPU</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Thermoplastic polyurethane (flexible printed plastic)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NEMA 17</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National Electrical Manufacturers Association motor frame, 1.7 in square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CNC</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Computer numerical control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ESP32</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Wi-Fi microcontroller family (Espressif)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A4988</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Stepper-motor driver chip (Allegro)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YOLO</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“You Only Look Once”: an object-detection model family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75488">
                <a:tc>
                  <a:txBody>
                    <a:bodyPr/>
                    <a:lstStyle/>
                    <a:p>
                      <a:pPr indent="0" marL="0">
                        <a:buNone/>
                      </a:pPr>
                      <a:r>
                        <a:rPr lang="en-US" sz="1500" b="1" dirty="0">
                          <a:solidFill>
                            <a:srgbClr val="1A1A1A"/>
                          </a:solidFill>
                          <a:latin typeface="Arial" pitchFamily="34" charset="0"/>
                          <a:ea typeface="Arial" pitchFamily="34" charset="-122"/>
                          <a:cs typeface="Arial" pitchFamily="34" charset="-120"/>
                        </a:rPr>
                        <a:t>SF</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Safety factor: allowable stress divided by actual stress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Calculations and sources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Appendix</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 charts come from my engineering calculation sheet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Incropera et al., Fundamentals of Heat and Mass Transfer, ch. 3</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Allegro MicroSystems, A4988 datasheet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2026-10-27T04:18:14Z</dcterms:created>
  <dcterms:modified xsi:type="dcterms:W3CDTF">2026-10-27T04:18:14Z</dcterms:modified>
</cp:coreProperties>
</file>