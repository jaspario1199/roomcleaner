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c617ecd-8528-61e5-a465-7a861b883c2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safe state is PAUSE: torque on, holding. Anything that removes power drops the claw, which is why nobody stands under it and why a brake or a non-backdrivable stage is on the next-steps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L95 is where a fin carries 95 % of the heat an infinitely long one would. h = 7 W/m²·K still air, k = 160 W/m·K aluminum. Source: Incropera, ch.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prototype works today only because the motor also sheds heat into the vented shell. Thickness beats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Noise model: 0.3 px corner noise and a 520 px focal length (camera not yet calibrated). The four-tag figure is the best placement; realistic placements are a few times worse.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or a detected fault stops every station on the same point of the path, still holding; nothing restarts by itself. The emergency stop is the switched power strip, and it drops the claw. Known obstacles are keep-out shapes checked against every cable before a move. Simulated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Generation 1 trusted its model; the final logic measures before it trusts and checks after it 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gear pockets: the bearing presses past a lip, the T-slots let the lip ends flex, and it then sits free in a pocket 0.075 mm larger. The slide-in runs on 0.175 mm a side. The fin's sheared edges are only good to half a millimetre, so they locate only the first hole; the rest are drilled from it. [[confirm which spool bore is printed, which holes get heat-set inserts, and the insert part number]]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external 10k pull-up on ENABLE is the reason a reset cannot move a motor; it is also why disabling removes torque, so the pull-up cannot hold a suspended load. The bench script on the Act 5 slide checks each part of this board in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bench board (the larger dev module) uses the same layout with the module off the board and nine jumpers into the holes of the small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check 0 errors; 9 nets match the specification. Charger: 8.4 V constant current, constant voltage; charged attended, at 1 A or less. The peak sits at the pack rating, so a stall longer than a moment is the thing to watch. On the bench (10/26): live view, 7.2 V battery read, servo moves once it had its own timer.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jpg"/><Relationship Id="rId5" Type="http://schemas.openxmlformats.org/officeDocument/2006/relationships/image" Target="../media/image-8-5.png"/><Relationship Id="rId6" Type="http://schemas.openxmlformats.org/officeDocument/2006/relationships/image" Target="../media/image-8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Fundamentals, safe state, fits, schematics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state and failure modes</a:t>
            </a:r>
            <a:endParaRPr lang="en-US" sz="24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4437766"/>
                <a:gridCol w="3772101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PAUSE, or a fault the software detects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station holds position with torque 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moves again without approval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Wi-Fi link lost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Stations stop and hold on their own clocks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Resume needs approval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loss or emergency stop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Torque is lost and the claw can fall (1.5 kg from about 2 m)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Nobody underneath; claw parked low when idle; brake planned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Controller reset or brown-out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Driver disabled at boot, so torque is lost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as power loss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Driver over-temperature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A4988 shuts its outputs off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 test watches the driver; fallback 1.35 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Three-station run: any station fault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cable is needed; the claw falls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clear and padded; movement and calibration only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95673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fin length</a:t>
            </a:r>
            <a:endParaRPr lang="en-US" sz="2400" dirty="0"/>
          </a:p>
        </p:txBody>
      </p:sp>
      <p:sp>
        <p:nvSpPr>
          <p:cNvPr id="3" name="tag CALCULATED"/>
          <p:cNvSpPr txBox="1"/>
          <p:nvPr/>
        </p:nvSpPr>
        <p:spPr>
          <a:xfrm>
            <a:off x="10408615" y="53035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</a:t>
            </a:r>
            <a:endParaRPr lang="en-US" sz="9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pic>
        <p:nvPicPr>
          <p:cNvPr id="5" name="Chart from the calculation sheet: Heat f" descr="Chart from the calculation sheet: Heat f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0" cy="439859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48640" y="566046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(calc sheet: Heat fin)</a:t>
            </a:r>
            <a:endParaRPr lang="en-US" sz="1100" dirty="0"/>
          </a:p>
        </p:txBody>
      </p:sp>
      <p:sp>
        <p:nvSpPr>
          <p:cNvPr id="7" name="bullets"/>
          <p:cNvSpPr txBox="1"/>
          <p:nvPr/>
        </p:nvSpPr>
        <p:spPr>
          <a:xfrm>
            <a:off x="7360920" y="1234440"/>
            <a:ext cx="4282135" cy="3675888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0.019 in prototype reaches 95 % of its capacity by 136 mm</a:t>
            </a:r>
            <a:endParaRPr lang="en-US" sz="17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1/8 in design keeps gaining to 349 mm</a:t>
            </a:r>
            <a:endParaRPr lang="en-US" sz="17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at 200 mm, limited by ceiling clearance</a:t>
            </a:r>
            <a:endParaRPr lang="en-US" sz="1700" dirty="0"/>
          </a:p>
        </p:txBody>
      </p:sp>
      <p:sp>
        <p:nvSpPr>
          <p:cNvPr id="8" name="equation box"/>
          <p:cNvSpPr/>
          <p:nvPr/>
        </p:nvSpPr>
        <p:spPr>
          <a:xfrm>
            <a:off x="7360920" y="5093208"/>
            <a:ext cx="4282135" cy="1078992"/>
          </a:xfrm>
          <a:prstGeom prst="rect">
            <a:avLst/>
          </a:prstGeom>
          <a:solidFill>
            <a:srgbClr val="F7F8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equation title"/>
          <p:cNvSpPr txBox="1"/>
          <p:nvPr/>
        </p:nvSpPr>
        <p:spPr>
          <a:xfrm>
            <a:off x="7507224" y="5166360"/>
            <a:ext cx="3989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length and efficiency</a:t>
            </a:r>
            <a:endParaRPr lang="en-US" sz="1100" dirty="0"/>
          </a:p>
        </p:txBody>
      </p:sp>
      <p:sp>
        <p:nvSpPr>
          <p:cNvPr id="10" name="equations"/>
          <p:cNvSpPr txBox="1"/>
          <p:nvPr/>
        </p:nvSpPr>
        <p:spPr>
          <a:xfrm>
            <a:off x="7507224" y="5422392"/>
            <a:ext cx="398952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√(2h / (k t)),   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1.83 / m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= tanh(mL) / (mL) =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(1/8 in)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95673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sizing for 4 W</a:t>
            </a:r>
            <a:endParaRPr lang="en-US" sz="2400" dirty="0"/>
          </a:p>
        </p:txBody>
      </p:sp>
      <p:sp>
        <p:nvSpPr>
          <p:cNvPr id="3" name="tag CALCULATED"/>
          <p:cNvSpPr txBox="1"/>
          <p:nvPr/>
        </p:nvSpPr>
        <p:spPr>
          <a:xfrm>
            <a:off x="10408615" y="53035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</a:t>
            </a:r>
            <a:endParaRPr lang="en-US" sz="9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graphicFrame>
        <p:nvGraphicFramePr>
          <p:cNvPr id="5" name="fin sizi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40080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1088136"/>
                <a:gridCol w="243230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Painted 6061, 44 mm wide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Shortest for ≤ 60 °C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0.019 in (prototype)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(2.0 W max)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1/16 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 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(3.6 W max)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0.090 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 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 mm or none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1/8 in (design)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 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145–185 mm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3/16 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 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125–140 mm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1/4 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 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115–125 mm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ption"/>
          <p:cNvSpPr txBox="1"/>
          <p:nvPr/>
        </p:nvSpPr>
        <p:spPr>
          <a:xfrm>
            <a:off x="548640" y="46268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4.05 W through the fin, 23 °C room, paste contact. Calculated.</a:t>
            </a:r>
            <a:endParaRPr lang="en-US" sz="1100" dirty="0"/>
          </a:p>
        </p:txBody>
      </p:sp>
      <p:sp>
        <p:nvSpPr>
          <p:cNvPr id="7" name="bullets"/>
          <p:cNvSpPr txBox="1"/>
          <p:nvPr/>
        </p:nvSpPr>
        <p:spPr>
          <a:xfrm>
            <a:off x="7360920" y="1234440"/>
            <a:ext cx="4282135" cy="49377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fin alone had to carry all 4.05 W</a:t>
            </a:r>
            <a:endParaRPr lang="en-US" sz="17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0.019 in sheet: not possible at any length</a:t>
            </a:r>
            <a:endParaRPr lang="en-US" sz="17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1/8 in plate: 145–185 mm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95673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board accuracy</a:t>
            </a:r>
            <a:endParaRPr lang="en-US" sz="2400" dirty="0"/>
          </a:p>
        </p:txBody>
      </p:sp>
      <p:sp>
        <p:nvSpPr>
          <p:cNvPr id="3" name="tag SIMULATED"/>
          <p:cNvSpPr txBox="1"/>
          <p:nvPr/>
        </p:nvSpPr>
        <p:spPr>
          <a:xfrm>
            <a:off x="10408615" y="53035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9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pic>
        <p:nvPicPr>
          <p:cNvPr id="5" name="Chart from the calculation sheet: Floor " descr="Chart from the calculation sheet: Floor 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0" cy="4405409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48640" y="5667281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(calc sheet: Floor board)</a:t>
            </a:r>
            <a:endParaRPr lang="en-US" sz="1100" dirty="0"/>
          </a:p>
        </p:txBody>
      </p:sp>
      <p:sp>
        <p:nvSpPr>
          <p:cNvPr id="7" name="bullets"/>
          <p:cNvSpPr txBox="1"/>
          <p:nvPr/>
        </p:nvSpPr>
        <p:spPr>
          <a:xfrm>
            <a:off x="7360920" y="1234440"/>
            <a:ext cx="4282135" cy="49377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pose error per frame, best case: 6.6 mm with one tag, 0.7 mm with four</a:t>
            </a:r>
            <a:endParaRPr lang="en-US" sz="17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camera's view, not the cable length</a:t>
            </a:r>
            <a:endParaRPr lang="en-US" sz="17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fit, cable lengths are known to about 12–16 mm (simulated)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95673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sequence</a:t>
            </a:r>
            <a:endParaRPr lang="en-US" sz="2400" dirty="0"/>
          </a:p>
        </p:txBody>
      </p:sp>
      <p:sp>
        <p:nvSpPr>
          <p:cNvPr id="3" name="tag SIMULATED"/>
          <p:cNvSpPr txBox="1"/>
          <p:nvPr/>
        </p:nvSpPr>
        <p:spPr>
          <a:xfrm>
            <a:off x="10408615" y="53035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9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pic>
        <p:nvPicPr>
          <p:cNvPr id="5" name="Phone app screens" descr="Phone app scree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68070"/>
            <a:ext cx="2060448" cy="4459021"/>
          </a:xfrm>
          <a:prstGeom prst="rect">
            <a:avLst/>
          </a:prstGeom>
        </p:spPr>
      </p:pic>
      <p:pic>
        <p:nvPicPr>
          <p:cNvPr id="6" name="Phone app screens" descr="Phone app scree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816" y="1268070"/>
            <a:ext cx="2060448" cy="4459021"/>
          </a:xfrm>
          <a:prstGeom prst="rect">
            <a:avLst/>
          </a:prstGeom>
        </p:spPr>
      </p:pic>
      <p:pic>
        <p:nvPicPr>
          <p:cNvPr id="7" name="Phone app screens" descr="Phone app scree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992" y="1268070"/>
            <a:ext cx="2060448" cy="445902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548640" y="5897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app in simulation: home, claw camera and chat</a:t>
            </a:r>
            <a:endParaRPr lang="en-US" sz="1100" dirty="0"/>
          </a:p>
        </p:txBody>
      </p:sp>
      <p:sp>
        <p:nvSpPr>
          <p:cNvPr id="9" name="bullets"/>
          <p:cNvSpPr txBox="1"/>
          <p:nvPr/>
        </p:nvSpPr>
        <p:spPr>
          <a:xfrm>
            <a:off x="7360920" y="1234440"/>
            <a:ext cx="4282135" cy="49377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up: self-check, take up slack, calibrate</a:t>
            </a:r>
            <a:endParaRPr lang="en-US" sz="17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Find: scan from above, detect garments, choose the nearest</a:t>
            </a:r>
            <a:endParaRPr lang="en-US" sz="17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Pick: hover until still, grip, deliver; the camera confirms each step</a:t>
            </a:r>
            <a:endParaRPr lang="en-US" sz="17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move waits for approval on the phone; PAUSE holds position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logic: Generation 1 vs. final</a:t>
            </a:r>
            <a:endParaRPr lang="en-US" sz="24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3993989"/>
                <a:gridCol w="4881543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Generation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is the claw?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Assumed from the commanded cable lengths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 by the claw camera; refit at every startup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 geometry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Anchors from a tape 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Anchors and cable lengths fitted, with error bars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 control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central board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controller per station, coordinated by the laptop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 laundry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Ceiling camera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Claw camera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Did the grab work?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 checks pickup and delivery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Faults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 stop only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PAUSE keeps torque; the emergency stop cuts power and drops the claw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Manufacturing: fits and datums</a:t>
            </a:r>
            <a:endParaRPr lang="en-US" sz="24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sp>
        <p:nvSpPr>
          <p:cNvPr id="4" name="tile frame"/>
          <p:cNvSpPr/>
          <p:nvPr/>
        </p:nvSpPr>
        <p:spPr>
          <a:xfrm>
            <a:off x="548640" y="1097280"/>
            <a:ext cx="277977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5" name="Gear: Ø14.000 entry lip, 8 T-slots" descr="Gear: Ø14.000 entry lip, 8 T-sl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876" y="1115568"/>
            <a:ext cx="2715303" cy="1335024"/>
          </a:xfrm>
          <a:prstGeom prst="rect">
            <a:avLst/>
          </a:prstGeom>
        </p:spPr>
      </p:pic>
      <p:sp>
        <p:nvSpPr>
          <p:cNvPr id="6" name="tile caption"/>
          <p:cNvSpPr txBox="1"/>
          <p:nvPr/>
        </p:nvSpPr>
        <p:spPr>
          <a:xfrm>
            <a:off x="548640" y="248716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Gear: Ø14.000 entry lip, 8 T-slots</a:t>
            </a:r>
            <a:endParaRPr lang="en-US" sz="1050" dirty="0"/>
          </a:p>
        </p:txBody>
      </p:sp>
      <p:sp>
        <p:nvSpPr>
          <p:cNvPr id="7" name="tile frame"/>
          <p:cNvSpPr/>
          <p:nvPr/>
        </p:nvSpPr>
        <p:spPr>
          <a:xfrm>
            <a:off x="3438144" y="1097280"/>
            <a:ext cx="277977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8" name="Cut open: 687 bearing on the printed pin" descr="Cut open: 687 bearing on the printed 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380" y="1115568"/>
            <a:ext cx="2715303" cy="1335024"/>
          </a:xfrm>
          <a:prstGeom prst="rect">
            <a:avLst/>
          </a:prstGeom>
        </p:spPr>
      </p:pic>
      <p:sp>
        <p:nvSpPr>
          <p:cNvPr id="9" name="tile caption"/>
          <p:cNvSpPr txBox="1"/>
          <p:nvPr/>
        </p:nvSpPr>
        <p:spPr>
          <a:xfrm>
            <a:off x="3438144" y="248716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open: 687 bearing on the printed pin</a:t>
            </a:r>
            <a:endParaRPr lang="en-US" sz="1050" dirty="0"/>
          </a:p>
        </p:txBody>
      </p:sp>
      <p:sp>
        <p:nvSpPr>
          <p:cNvPr id="10" name="tile frame"/>
          <p:cNvSpPr/>
          <p:nvPr/>
        </p:nvSpPr>
        <p:spPr>
          <a:xfrm>
            <a:off x="548640" y="2743200"/>
            <a:ext cx="277977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11" name="Slide-in rib in the wall-mount dovetail" descr="Slide-in rib in the wall-mount doveta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76" y="2761488"/>
            <a:ext cx="2715303" cy="1335024"/>
          </a:xfrm>
          <a:prstGeom prst="rect">
            <a:avLst/>
          </a:prstGeom>
        </p:spPr>
      </p:pic>
      <p:sp>
        <p:nvSpPr>
          <p:cNvPr id="12" name="tile caption"/>
          <p:cNvSpPr txBox="1"/>
          <p:nvPr/>
        </p:nvSpPr>
        <p:spPr>
          <a:xfrm>
            <a:off x="548640" y="413308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Slide-in rib in the wall-mount dovetail</a:t>
            </a:r>
            <a:endParaRPr lang="en-US" sz="1050" dirty="0"/>
          </a:p>
        </p:txBody>
      </p:sp>
      <p:sp>
        <p:nvSpPr>
          <p:cNvPr id="13" name="tile frame"/>
          <p:cNvSpPr/>
          <p:nvPr/>
        </p:nvSpPr>
        <p:spPr>
          <a:xfrm>
            <a:off x="3438144" y="2743200"/>
            <a:ext cx="277977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14" name="End-stop switch pressed into the slide-i" descr="End-stop switch pressed into the slide-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398" y="2761488"/>
            <a:ext cx="1001268" cy="1335024"/>
          </a:xfrm>
          <a:prstGeom prst="rect">
            <a:avLst/>
          </a:prstGeom>
        </p:spPr>
      </p:pic>
      <p:sp>
        <p:nvSpPr>
          <p:cNvPr id="15" name="tile caption"/>
          <p:cNvSpPr txBox="1"/>
          <p:nvPr/>
        </p:nvSpPr>
        <p:spPr>
          <a:xfrm>
            <a:off x="3438144" y="413308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End-stop switch pressed into the slide-in</a:t>
            </a:r>
            <a:endParaRPr lang="en-US" sz="1050" dirty="0"/>
          </a:p>
        </p:txBody>
      </p:sp>
      <p:sp>
        <p:nvSpPr>
          <p:cNvPr id="16" name="tile frame"/>
          <p:cNvSpPr/>
          <p:nvPr/>
        </p:nvSpPr>
        <p:spPr>
          <a:xfrm>
            <a:off x="548640" y="4389120"/>
            <a:ext cx="277977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17" name="v3 spool: D-bore and set-screw hole" descr="v3 spool: D-bore and set-screw ho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876" y="4407408"/>
            <a:ext cx="2715303" cy="1335024"/>
          </a:xfrm>
          <a:prstGeom prst="rect">
            <a:avLst/>
          </a:prstGeom>
        </p:spPr>
      </p:pic>
      <p:sp>
        <p:nvSpPr>
          <p:cNvPr id="18" name="tile caption"/>
          <p:cNvSpPr txBox="1"/>
          <p:nvPr/>
        </p:nvSpPr>
        <p:spPr>
          <a:xfrm>
            <a:off x="548640" y="577900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spool: D-bore and set-screw hole</a:t>
            </a:r>
            <a:endParaRPr lang="en-US" sz="1050" dirty="0"/>
          </a:p>
        </p:txBody>
      </p:sp>
      <p:sp>
        <p:nvSpPr>
          <p:cNvPr id="19" name="tile frame"/>
          <p:cNvSpPr/>
          <p:nvPr/>
        </p:nvSpPr>
        <p:spPr>
          <a:xfrm>
            <a:off x="3438144" y="4389120"/>
            <a:ext cx="277977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0" name="Fin: holes drilled from the first hole" descr="Fin: holes drilled from the first ho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7398" y="4407408"/>
            <a:ext cx="1001268" cy="1335024"/>
          </a:xfrm>
          <a:prstGeom prst="rect">
            <a:avLst/>
          </a:prstGeom>
        </p:spPr>
      </p:pic>
      <p:sp>
        <p:nvSpPr>
          <p:cNvPr id="21" name="tile caption"/>
          <p:cNvSpPr txBox="1"/>
          <p:nvPr/>
        </p:nvSpPr>
        <p:spPr>
          <a:xfrm>
            <a:off x="3438144" y="577900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Fin: holes drilled from the first hole</a:t>
            </a:r>
            <a:endParaRPr lang="en-US" sz="1050" dirty="0"/>
          </a:p>
        </p:txBody>
      </p:sp>
      <p:sp>
        <p:nvSpPr>
          <p:cNvPr id="22" name="caption"/>
          <p:cNvSpPr txBox="1"/>
          <p:nvPr/>
        </p:nvSpPr>
        <p:spPr>
          <a:xfrm>
            <a:off x="548640" y="6035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SolidWorks parts; blue and tan are cut faces, dark grey the bought bearing</a:t>
            </a:r>
            <a:endParaRPr lang="en-US" sz="1100" dirty="0"/>
          </a:p>
        </p:txBody>
      </p:sp>
      <p:graphicFrame>
        <p:nvGraphicFramePr>
          <p:cNvPr id="9" name="fi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143000"/>
          <a:ext cx="5150815" cy="914400"/>
        </p:xfrm>
        <a:graphic>
          <a:graphicData uri="http://schemas.openxmlformats.org/drawingml/2006/table">
            <a:tbl>
              <a:tblPr/>
              <a:tblGrid>
                <a:gridCol w="1287704"/>
                <a:gridCol w="2266359"/>
                <a:gridCol w="1596753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drawn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Gear bearings (687)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Ø14.075 pocket behind a Ø14.000 lip, 1.95 long, 8 T-slots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 past the lip, +0.075 behind 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Gear pins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Printed Ø7.000 pin into a Ø7.05 socket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Line-to-line in the bearing; +0.05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Slide-in mount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0.175 per side; 30° dovetail flanks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Slip fit, 0.14–0.21 on the flanks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Spool on Ø5 D-shaft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Ø5.30 bore (10/21), Ø5.45 in v3; 0.5 mm flat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+0.30 to +0.45: Ø5.2 printed too tight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End-stop switch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Pocket 6.65 × 20.3 × 9 on a 1 mm ledge, lever window below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Press fit, no screws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Heat-set inserts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M3: Ø4.0 × 5 gear housing; M2.5: Ø3.45 × 4 encoder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Melt-in; hole deeper than the insert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Screw clearance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 Ø3.5 printed, Ø3.4 drilled; wall Ø3.97 (5/32 in)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+0.5 printed, +0.4 drilled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 pilot, Ø22 boss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Ø22.4 printed tab, Ø22.5 drilled fin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+0.4 / +0.5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 hole zero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Edges locate the bottom-left hole; drilled, it is the zero for the other 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 ±0.1, free of the ±0.5 sheared edges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printing rules"/>
          <p:cNvSpPr txBox="1"/>
          <p:nvPr/>
        </p:nvSpPr>
        <p:spPr>
          <a:xfrm>
            <a:off x="6492240" y="5349240"/>
            <a:ext cx="5150815" cy="86868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holes come out small, so every printed fit carries an allowance; the drilled fin needs none</a:t>
            </a:r>
            <a:endParaRPr lang="en-US" sz="1200" dirty="0"/>
          </a:p>
          <a:p>
            <a:pPr algn="l" marL="254000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PETG on a Creality K1, 0.4 mm nozzle, 0.2 mm layers; loads along the layers, mating faces off supports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electronics, Rev D</a:t>
            </a:r>
            <a:endParaRPr lang="en-US" sz="24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pic>
        <p:nvPicPr>
          <p:cNvPr id="4" name="Station Rev D schematic" descr="Station Rev D schemat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831" y="1188720"/>
            <a:ext cx="6529058" cy="461772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8978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Rev D schematic</a:t>
            </a:r>
            <a:endParaRPr lang="en-US" sz="1100" dirty="0"/>
          </a:p>
        </p:txBody>
      </p:sp>
      <p:sp>
        <p:nvSpPr>
          <p:cNvPr id="6" name="bullets"/>
          <p:cNvSpPr txBox="1"/>
          <p:nvPr/>
        </p:nvSpPr>
        <p:spPr>
          <a:xfrm>
            <a:off x="7909560" y="1234440"/>
            <a:ext cx="3733495" cy="49377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board per station: a Wi-Fi microcontroller, the A4988 driver, a 12 V to 5 V buck, the homing switch and the spool encoder</a:t>
            </a:r>
            <a:endParaRPr lang="en-US" sz="15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Pull-up on ENABLE keeps the driver off at boot; pull-downs on STEP and DIR; a 100 µF reservoir at the driver supply</a:t>
            </a:r>
            <a:endParaRPr lang="en-US" sz="15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Fuses at the source end of each 12 V branch; the buck is rated to 20 V in, so the supply stays at 12 V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breadboard layout</a:t>
            </a:r>
            <a:endParaRPr lang="en-US" sz="24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pic>
        <p:nvPicPr>
          <p:cNvPr id="4" name="Station breadboard layout" descr="Station breadboard layo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4823"/>
            <a:ext cx="6949440" cy="3845513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8978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Rev D breadboard layout, drawn and net-checked</a:t>
            </a:r>
            <a:endParaRPr lang="en-US" sz="1100" dirty="0"/>
          </a:p>
        </p:txBody>
      </p:sp>
      <p:sp>
        <p:nvSpPr>
          <p:cNvPr id="6" name="bullets"/>
          <p:cNvSpPr txBox="1"/>
          <p:nvPr/>
        </p:nvSpPr>
        <p:spPr>
          <a:xfrm>
            <a:off x="7909560" y="1234440"/>
            <a:ext cx="3733495" cy="49377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bench build of Rev D on a mini breadboard: the layout was net-checked against the schematic (PASS) before power</a:t>
            </a:r>
            <a:endParaRPr lang="en-US" sz="15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motor coil carries about 1 A through breadboard contacts: short leads, fully seated</a:t>
            </a:r>
            <a:endParaRPr lang="en-US" sz="15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soldered perfboard and the rail board follow the same net list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 electrical, Rev B</a:t>
            </a:r>
            <a:endParaRPr lang="en-US" sz="24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pic>
        <p:nvPicPr>
          <p:cNvPr id="4" name="Claw schematic" descr="Claw schemat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831" y="1188720"/>
            <a:ext cx="6529058" cy="461772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8978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 Rev B schematic</a:t>
            </a:r>
            <a:endParaRPr lang="en-US" sz="1100" dirty="0"/>
          </a:p>
        </p:txBody>
      </p:sp>
      <p:sp>
        <p:nvSpPr>
          <p:cNvPr id="6" name="bullets"/>
          <p:cNvSpPr txBox="1"/>
          <p:nvPr/>
        </p:nvSpPr>
        <p:spPr>
          <a:xfrm>
            <a:off x="7909560" y="1234440"/>
            <a:ext cx="3733495" cy="49377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Two-cell lithium-ion pack, 7.4 V; 5 A fuse for shorts</a:t>
            </a:r>
            <a:endParaRPr lang="en-US" sz="17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V servo rail and a separate 5 V logic rail; 200k/100k divider for battery sense</a:t>
            </a:r>
            <a:endParaRPr lang="en-US" sz="17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draw 2.8–3.1 A, at the pack's 3 A rating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Acronyms</a:t>
            </a:r>
            <a:endParaRPr lang="en-US" sz="24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440771"/>
                <a:gridCol w="865364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Computer-aided design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Polyethylene terephthalate glycol (the printed plastic)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Thermoplastic polyurethane (flexible printed plastic)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NEMA 17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Electrical Manufacturers Association motor frame, 1.7 in square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 numerical control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ESP32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Wi-Fi microcontroller family (Espressif)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A4988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Stepper-motor driver chip (Allegro)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“You Only Look Once”: an object-detection model family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 factor: allowable stress divided by actual stress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Calculations and sources</a:t>
            </a:r>
            <a:endParaRPr lang="en-US" sz="24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pic>
        <p:nvPicPr>
          <p:cNvPr id="4" name="Chart from the calculation sheet: Cable " descr="Chart from the calculation sheet: Cable ten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0" cy="4405924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6677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(calc sheet: Cable tension)</a:t>
            </a:r>
            <a:endParaRPr lang="en-US" sz="1100" dirty="0"/>
          </a:p>
        </p:txBody>
      </p:sp>
      <p:sp>
        <p:nvSpPr>
          <p:cNvPr id="6" name="bullets"/>
          <p:cNvSpPr txBox="1"/>
          <p:nvPr/>
        </p:nvSpPr>
        <p:spPr>
          <a:xfrm>
            <a:off x="7360920" y="1234440"/>
            <a:ext cx="4282135" cy="49377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charts come from my engineering calculation sheet</a:t>
            </a:r>
            <a:endParaRPr lang="en-US" sz="17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Incropera et al., Fundamentals of Heat and Mass Transfer, ch. 3</a:t>
            </a:r>
            <a:endParaRPr lang="en-US" sz="1700" dirty="0"/>
          </a:p>
          <a:p>
            <a:pPr algn="l"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MicroSystems, A4988 datasheet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omCleaner v9">
  <a:themeElements>
    <a:clrScheme name="RoomCleaner v9">
      <a:dk1>
        <a:srgbClr val="1A1A1A"/>
      </a:dk1>
      <a:lt1>
        <a:srgbClr val="FFFFFF"/>
      </a:lt1>
      <a:dk2>
        <a:srgbClr val="1F3A5F"/>
      </a:dk2>
      <a:lt2>
        <a:srgbClr val="F2F2F4"/>
      </a:lt2>
      <a:accent1>
        <a:srgbClr val="1F3A5F"/>
      </a:accent1>
      <a:accent2>
        <a:srgbClr val="8A8F98"/>
      </a:accent2>
      <a:accent3>
        <a:srgbClr val="B23A2E"/>
      </a:accent3>
      <a:accent4>
        <a:srgbClr val="4F6D8F"/>
      </a:accent4>
      <a:accent5>
        <a:srgbClr val="D9DEE5"/>
      </a:accent5>
      <a:accent6>
        <a:srgbClr val="5B6470"/>
      </a:accent6>
      <a:hlink>
        <a:srgbClr val="1F3A5F"/>
      </a:hlink>
      <a:folHlink>
        <a:srgbClr val="4F6D8F"/>
      </a:folHlink>
    </a:clrScheme>
    <a:fontScheme name="RoomCleaner v9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RoomCleaner</dc:title>
  <dc:subject>PptxGenJS Presentation</dc:subject>
  <dc:creator>Jasper Buntinx</dc:creator>
  <cp:lastModifiedBy>Jasper Buntinx</cp:lastModifiedBy>
  <cp:revision>1</cp:revision>
  <dcterms:created xsi:type="dcterms:W3CDTF">2026-10-26T20:32:46Z</dcterms:created>
  <dcterms:modified xsi:type="dcterms:W3CDTF">2026-10-26T20:32:46Z</dcterms:modified>
</cp:coreProperties>
</file>