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c3def01a-cc95-e779-dcb4-26de2f62d3fd}">
          <p14:sldIdLst>
            <p14:sldId id="256"/>
            <p14:sldId id="257"/>
            <p14:sldId id="258"/>
            <p14:sldId id="259"/>
          </p14:sldIdLst>
        </p14:section>
        <p14:section name="Concept" id="{316d7b88-6248-05a2-49cf-228c7db293b5}">
          <p14:sldIdLst>
            <p14:sldId id="260"/>
            <p14:sldId id="261"/>
            <p14:sldId id="262"/>
          </p14:sldIdLst>
        </p14:section>
        <p14:section name="Generation 1" id="{3606f840-45f6-b2d1-9305-629bdb4bc885}">
          <p14:sldIdLst>
            <p14:sldId id="263"/>
            <p14:sldId id="264"/>
            <p14:sldId id="265"/>
          </p14:sldIdLst>
        </p14:section>
        <p14:section name="Redesign" id="{78701ae0-9488-eacb-b953-4f3b237d5147}">
          <p14:sldIdLst>
            <p14:sldId id="266"/>
            <p14:sldId id="267"/>
            <p14:sldId id="268"/>
            <p14:sldId id="269"/>
          </p14:sldIdLst>
        </p14:section>
        <p14:section name="Final design" id="{649b2445-37c8-3fc3-2e86-86240da80178}">
          <p14:sldIdLst>
            <p14:sldId id="270"/>
            <p14:sldId id="271"/>
            <p14:sldId id="272"/>
            <p14:sldId id="273"/>
          </p14:sldIdLst>
        </p14:section>
        <p14:section name="Build and bring-up" id="{42055be5-6c87-cdd3-23df-dc880ab0f94d}">
          <p14:sldIdLst>
            <p14:sldId id="274"/>
            <p14:sldId id="275"/>
            <p14:sldId id="276"/>
            <p14:sldId id="277"/>
            <p14:sldId id="278"/>
            <p14:sldId id="279"/>
          </p14:sldIdLst>
        </p14:section>
        <p14:section name="Results and close" id="{635a8031-7f65-1c3e-60b7-04f1ee1dd52c}">
          <p14:sldIdLst>
            <p14:sldId id="280"/>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Pitch (30 s): I'm building a cable-driven parallel robot that picks laundry off my floor. Three or four winches on the walls, each a self-contained module with a stepper, a spool encoder and an ESP32, driving a battery-powered claw on the cables; the photo is the claw hanging from the first three stations in my room yesterday. The hardest problem was safety: four cables can pull against each other hard enough to rip a mount out of the wall. So the drive is designed to slip at a set tension, 34 to 59 N, well below what the mount can hold, and the spool encoder sees the spool fall behind the commanded steps and stops the system. It is in bench testing: both station boards and the claw electronics pass, and the first station is on the wall. The talk goes through the build in the order it happened. Every number carries a tag: measured, calculated, simulated or planned. If asked: it has not picked up a garment yet; the first three-station lift is the next milestone; the slip tension is calculated from the motor's holding torque, not yet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(45 s): the photos carry it, left to right. Mechanical Engineering at Texas A&amp;M, class of 2027. Left: outdoors and endurance, an Ironman 70.3 in 6:53 and a marathon in 2025; I finish long things. Middle: EcoFil, a filament recycler I built with a shredder, dryer and extruder [[one EcoFil number: diameter tolerance or throughput, and what broke]]. Right: as Special Events Build Logistics Chair for the One Army Gladiator Dash I headed assembly, repairs and transport of the obstacles; the event raised $185K for Still Creek Ranch. If asked: metal sculpture for the Austin Creek Show, with fiber laser cutting and welding.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(50 s): The problem in one picture. Four anchors 0.15 m below the ceiling, one claw, a hamper. The shaded bands are the margins the planner keeps: 0.2 m from the walls, 0.4 m below the anchors. The load case is a pair of jeans, 0.9 kg, with a 2 m/s² allowance for stops and snags. The safe state is PAUSE: every station holds with torque on. The emergency stop is the power strip, and because steppers hold only while powered, it drops the claw; nobody stands under the robot. Success means one garment from floor to hamper with no human touch; I approve each move on the phone. If asked: 0.9 kg is a screening value, not weighed. Top speed is 50 mm/s, so a diagonal move takes about a minute and a half. Where it stands today: the stations, their electronics and the claw are built and bench-tested; nothing has picked up a garment yet. The grey lines under each requirement say where it came from: the room is mine as reported, 0.9 kg is a screening value (CR6), 2 m/s² and the 450 g claw budget are assumptions the tension analysis used (R1, R7), 40 N per cable is the motor limit written into the claw requirement (R17), the studs follow from the fixed-anchor decision (D13), the stop rule is D21, the 1 lb gate D19.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(45 s): About fifteen weeks, alone, in five acts: concept in July, a first generation in August, the redesign through September, the final design in the first three weeks of October, and the build and test week that ends on presentation day. The three red marks are the failures that shaped the design, and each gets its own slide. Scope: the requirements, the decisions, the SolidWorks parts, the printing, machining, wiring and bring-up are mine. I dictated the control logic and had Claude Code build it out; it also wrote the calculation scripts and checked my CAD, and I can take you through any number on these slides. The motors, drivers, boards, servo, camera, battery and encoders are bought. If asked about self-imposed limits and how they shaped the design: four. Money: a hobby budget; the cost breakdown puts everything ordered at about $640, of which $220 (three stations) to $260 (four) is in the robot as parts and another $40 to $50 as filament, the rest pack remainders, spares and two tools (prices partly recorded, partly typical; say 'about'). Time: fifteen weeks ending on the presentation date. Mass: a 450 g claw, because every gram on the claw is a gram of payload. Heat: 60 °C for any loaded printed part. Those limits picked the hardware: NEMA 17 steppers at $33 for five instead of self-locking worm-gear motors at $32 each; an A4988 kit chosen by what was in stock; printed parts everywhere except the pulleys; a prototype fin cut from sheet already on hand; and a 1 lb test weight before any jeans. If asked: the garment detector is YOLO-World, an open-source model. [[hours spent, shop access or mentors; was a dollar ceiling set in advance?]]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(45 s): Three ways to reach a floor. A floor robot fights the clutter it is meant to clear. A gantry puts a frame across my room. A cable robot reaches the whole floor with a 0.6 kg moving mass and nothing on the floor; the room is the frame. So: four ceiling winches and one claw. The price is in the geometry: a cable can only pull, so the tension split sets where the claw can go, and that is the next slide. If asked: four cables on three position axes is redundant, so the tension split depends on cable-length errors; that is why the planner checks tensions and the calibration fits the cable lengths.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(50 s): The first calculation I ran, redone here with the claw as weighed. Tension per cable is the weight over four times the sine of the cable angle, so the shallower the cable, the more it carries. Centred 0.4 m below the anchors with the 1 lb test weight, each cable sees 14.3 N static and 17.2 N with the 2 m/s² allowance, which is right at the 16.8 N design limit of a winch. With jeans the claw has to stay 0.6 m down. The planner does this check on every cable at every point of a path, against the pull limit that the pull test will measure. If asked: off-centre is worse than centred; the claw rises only to scan the floor from above, empty. The 1.5 divisor in the winch limit is the margin against skipped steps. If asked what a layout offset to a corner of the room does: cables only pull, so the claw can only hang where the horizontal pulls cancel, which means its floor position has to stay inside the polygon under the anchors. A layout pushed into one corner does not make the rest of the room harder, it makes it unreachable, and the floor it does cover shrinks by a tension-floor margin at each edge. Near an edge the far cable goes slack and the near ones run flat: the largest tension per unit of weight climbs from 1.10 at task height to 2.42 at the 0.4 m ceiling line, worst in the middle of a long wall. The three-station layout is the worked example: anchors in two corners and one mid-wall span a triangle of 47 % of the floor, and after a 0.23 to 0.31 m edge margin only 20 to 27 % is usable, with the start point 0.44 m off the room centre. So: anchors in the corners, as high and as symmetric as the studs allow. All calculated; nothing measured on the rig.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(55 s): Three July choices that each came back later. Steppers: cheap, one shield drives four, and they hold position without a loop. The cost: no brake, so they hold only while powered, and holding current is heat, which becomes the thermal story in Act 4. The architecture: one central unit, an Uno with a CNC shield, driving four motors in the four corners over wires run to each corner, with an overhead camera on the ceiling scanning the room. It worked; the cost was that every motor and every sensor had to be wired back to that one place, and Act 2 shows where that leads. The emergency stop: the switched power strip, the one stop software cannot override; the cost is that it drops the claw, so the rule is nobody under the robot. If asked: a worm-gear DC motor would self-lock and hold with zero current, at about $32 each and with a control loop per motor; I chose the stepper for cost and simplicity and accepted the drop. The overhead camera was retired on Oct 21 (D33): one more device to mount and calibrate in every room, the claw and cables hide the grasp spot from above, and its floor map assumes a flat floor. If asked for the idea behind each trade (the v8 trade-off table). Why heat matters: pull rises with current but coil heat with current squared, P = I²R, 2.0 W at 1.06 A and 4.05 W at 1.5 A with the assumed 1.8 Ω phase; the motor is bolted to a printed PETG tab that carries the whole cable load, PETG conducts about 1/800 as well as aluminium, so the tab climbs toward motor temperature, and above about 60 °C loaded PETG creeps, the motor loosens, the anchor drifts, and anchor error is claw error about one to one. What failure the stronger claw was built for: the gear teeth at servo stall. A clamp stops when the servo stalls, so every grip loads the teeth with full stall torque; module 1 with a 6 mm face gave a Lewis safety factor of 0.35 at 6 V, the built module 1.5 with 16 and 20 mm faces gives 2.05 on the pinion, against a PETG allowable of half its tensile strength; the cost was mass, 0.60 kg against 0.45. How longer wires raise the drop: the longest 12 V branch is 32 ft one way, 64 ft of loop; drop is I × ρ × 2L / A, 0.82 V on 18 AWG and 0.51 V on 16 AWG at 2 A (illustrative), 7 % against 4 % of 12 V, more when the wire runs warm near the ceiling, so 16 AWG went in. How to read the safety margins: three kinds. The 1.5 on the winch pull is a skip margin, running pull divided by 1.5 so a snag does not skip steps. The 1.5 in the weakest-link table is the ratio of the tension at which a part gives to the most the motor can pull before it slips, 59 N: at or above 1.5 the motor gives first, 1.0 to 1.5 is marginal, below 1.0 the part fails before the motor. Gear and structural SFs are allowable stress over calculated stress with printed PETG allowed half its tensile strength and a further 15 % off when warm. All calculated against assumed allowables; none is a tested margin.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(50 s): Generation 1 was built to find out what I did not know. Each corner got a one-piece printed plate with the motor, spool, pulley and homing switch, screwed into a joist. That replaced the closed-eye hooks of the first order, because a hook is a pivot: the anchor moves, and the calibration study shows about one-to-one transfer from anchor error to claw position error; an anchor has to be fixed to be calibratable. One Uno with a CNC shield drove all four motors. On the bench a station lifted a test weight, and the cable tension numbers from the previous slide held. Pause and ask: how would you home a four-cable robot with no reference pose? [[the test weight and how high it lifted]] If asked: the plate's ears see 5.5 MPa worst case at 40 N, about five times under PETG's layer-adhesion limit. If asked what bead homing is: Generation 1's way of finding zero for each cable. A stopper bead is crimped onto each cable, and a lever switch sits in its path at the outlet. To home, every winch reels in until its bead trips the switch; that pose is the reference and each cable's zero length. Because the bead cannot pass the outlet, a cable can never be shorter than it was at home, so the home pose caps how high and how far the claw can go, which is the next slide. The switch had to move below the pulley onto a drop arm so the bead never rides over the pulley groove; the first arm design missed the line by 5 mm in X and 10.5 mm in Y in a CAD check, rev D overlaps a 5 mm bead by 3.75 mm. No bead has tripped a printed arm on real line yet. The beads stay on the final robot as end-of-travel switches.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(55 s): Three things the bench found that no drawing would have. First, the meter: with the plug cut off the supply brick and a fuse fitted, the shield terminal read 18 V, not the nominal 12. Second, the homing switch: I wired it fail-safe, common and normally-closed, so it reads LOW at rest and HIGH when pressed or when a wire breaks; the firmware took LOW as pressed, so homing would have zeroed instantly without moving. The fix was to invert the logic and add a command that reports all four switches. Third, the switch position: it had to sit below the pulley, beside the vertical line, on a drop arm; the first arm design failed an independent CAD check before it was printed. The lesson for the rest of the project: a meter on every rail before code. If asked: whether the 18 V was an open-circuit reading is not recorded; the supply was later identified as 12 V, 6 A, and the station buck accepts up to 20 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(55 s): Here is why Iteration 1 changed. A motor bolted to a wall cannot just run. Things go wrong: the camera malfunctions, a spool winds too tight, cable tension rips something out of the wall, a motor stalls. So every winch needs a switch, a button it can hit, and an encoder on the spool. The encoder is there to measure the discrepancies while I test; if the camera later turns out to be good enough on its own, the encoder can go, but the data comes first. And once every corner carries a motor, a switch and an encoder, driving all of them from one box over a long run of thin wire does not hold up: ten conductors to each corner, 250 metres of wire with the supply on a stand and the runs down the wall and back up, 0.82 V lost on the 32 ft branch at 2 A on 18 AWG, and one loop stepping four motors skews them, 2.5 mm per 50 ms, about 7.5 N on a 3 N/mm line. The chart is the smaller point: homing each cable against a bead from that box capped the room at 5 to 29 % of the volume. If asked why not home each cable at its own shortest length: that drags the claw into the high-tension zone next to an anchor. If asked about floor area instead of volume: 45 % of the floor is reachable at grab height with the beads set 1 m up, 93 % at 1.5 m; what bead homing loses is height, for the scan and the hamper. The encoder's two jobs today: confirm every commanded step, and catch slip as the tension sensor. The switch wiring is fail-safe, LOW at rest and HIGH pressed or with a broken wire (Act 2 bench).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(55 s): The station that came out of the redesign. One plug per station: the wall mount is screwed into a stud, and the station slides onto it on a dovetail, so it lifts off for service while the anchor stays put. Walk the load from the cable to the stud: cable, spool, set screw, motor shaft, the printed motor tab, the slide-in, the wall mount, the screws, the stud. The design idea is to make the motor the part that gives first. At 1.5 A it slips at 34 to 59 N, depending on the spool fill and the cable angle, before any part breaks; the encoder on the spool sees the spool fall behind the command and the station stops and reports an overload. Every other part has to outlast that. If asked: as drawn, the spool's set screw in printed plastic may slip first and the warm motor tab's sharp corner is only about 1.2 times the motor; the fixes are the set screw into metal and a 6 mm tab with fillets. A #6 wood screw in a stud holds about 309 N; in drywall alone about 46 N, so studs only. If asked how to read the safety margins: the 1.5 here is the ratio of the cable tension at which a part gives to the most the motor can pull before it slips, 59 N; at or above 1.5 the motor is guaranteed to give first, 1.0 to 1.5 is marginal, below 1.0 the part fails before the motor. It is a different 1.5 from the skip margin on the winch pull (running pull divided by 1.5 so a snag does not skip steps), and different again from a stress SF, allowable over calculated, where printed PETG gets half its tensile strength and 15 % off when warm. All calculated against assumed allowables; none is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(55 s): The safety idea in one chart: the cable tension at which each part of the lifting chain gives, from the set screw to the screws in the stud. Cables only pull, and four of them on three axes are over-constrained, so a length error turns into tension, and a snag can pull far harder than the load. Rather than make every part strong enough for any snag, I made the motor the fuse: at 1.5 A its rotor skips at 34 to 59 N of cable tension, depending on the spool fill and the cable angle, and everything else in the chain gives at a higher tension, the wall screws in a stud at nine times the motor, the dovetails at over two hundred. When the rotor skips, the encoder on the spool sees the spool fall behind the commanded steps, the station raises a tracking fault and every station holds with torque on. The same mechanism catches a pickup that is too heavy and an over-tension the planner missed. The one part that may give before the motor as drawn is the set screw in its printed thread, so it moves into a metal insert. If asked: the slip is the stepper's own torque limit, not a clutch; a mechanical clutch would add a part, a calibration and a cost to each of four stations, and the stepper already has a sharp, repeatable torque ceiling. What happens after a slip: the station stops and reports; the host does not resume by itself; the spool count is the truth, so the cable's zero length is re-referenced from the encoder and the calibration before the next move, and a person approves it. When the 3:1 stage goes in next iteration the slip point must be re-set: about 130 N at 1.0 A, so that station is sized for 200 N. All calculated from the motor's holding torque; the slip has not been measured yet, the pull test does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(55 s): Iteration 2 puts the brain in the box. Each station has its own ESP32, its driver, its buck, its switch and its encoder, and the only thing that enters is power, on one thicker 12 V pair: 50 metres of wire in total instead of 250, with 0.51 V of drop on the longest run, calculated for 16 AWG. Because power can come from anywhere, a box can sit in any position and orientation; the room's geometry no longer limits where the winches go. Plug and play: once a box works, it works; it slides off its wall mount and unplugs when guests come or the robot is not wanted in the room, and goes in a drawer; back on, one plug, it joins the Wi-Fi by itself and takes its firmware over the air. That is a product, individual packaged boxes with one plug and a Wi-Fi setup, not a tangle of wires from a central area. And the mount is separate from the box, so it can be customised later: a slide-in screwed into a stud today, a clamp on a pole the way gym equipment attaches next. The table is the wider change: Generation 1 trusted its model; the final logic measures before it trusts and checks after it acts. The cost: the four winches now have to agree on time in software; each station runs time-stamped segments on its own clock and holds if the link drops, with a 40 ms skew budget that keeps the error to 2 mm. If asked: cable routes are 6, 21, 23 and 32 ft; line stiffness is about 3 N/mm over a 3 m run; the 0.51 V is calculated at 2 A, not yet measured under load. If asked what happens when the motors lose power: a stepper holds only while it is powered, and there is no brake and no self-locking stage, so if the 12 V goes, from the power strip, a blown fuse or a pulled plug, all four motors lose holding torque and the claw falls, up to 1.5 kg from about 2 m. That is deliberate: the power strip is the one category-0 stop software cannot override, and the mitigation is that nobody stands under the robot. Each station's controller runs from the same 12 V pair, so a power loss is also a reboot: the driver's enable line is pulled high at boot so a reset can never move a motor, and nothing resumes by itself, the host comes back disarmed or in recovery and waits for a person. A lost Wi-Fi link is different: the stations stop and hold on their own clocks with torque on. A brake or a non-backdrivable stage is on the next-steps list. Designed and simulated; not yet run on four stations.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(55 s): Bead homing died on the reachability chart, so the claw camera does the homing instead. At startup the claw looks down at a printed floor board; from the tags it sees, a fit finds the anchor positions and the cable lengths, with error bars, and the whole room becomes reachable. The chart is the camera's per-frame accuracy, best case: 6.6 mm with one tag in view, 0.7 mm with four. That is not the number that matters. The number that matters is the cable length after the fit, about 12 to 16 mm in simulation; averaging frames removes noise but not bias, and the planner opens the room only as far as the error bars allow. The beads stay on the cables as end stops. If asked: noise model 0.3 px corner noise and a 520 px focal length, camera not yet calibrated; realistic tag placements are a few times worse than the four-tag best case. If asked whether floor area shows the reachable share better than volume: yes for where clothes are picked, and it reads kinder to bead homing: with the beads set 1 m up, 45 % of the floor is reachable at grab height, 93 % at 1.5 m, all of it from 1.8 m (same model as the Act 2 chart, calculated). What bead homing loses is height, not footprint: the claw can never rise above its home pose, and the robot needs the height to scan from 1.6 m, lift over the hamper and keep cables off furniture, and a high home sits in the high-tension zone by the anchors. The camera calibration removes the cap entirely, within the error bars.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(55 s): Raising the drivers to the motor's rated 1.5 A doubles the heat to 4.05 W per motor, and the motor sits in a printed PETG mount that softens at 60 °C. A sealed shell would cook it. The answer is a vented shell and an aluminium fin bolted to the motor face and out through a slot in the top. Top chart: motor temperature for each fin, vented and sealed; the prototype fin, 0.019 in scrap sheet, lands at 56 to 59 °C, one to four degrees of margin; the 1/8 in design fin at 45 to 49. Bottom chart: why thickness beats length; the thin sheet stops gaining by 136 mm, the plate keeps gaining to 349. The table answers what fin it would take to carry all the heat alone. If asked: built length is 200 mm, limited by the ceiling; the fallback is 1.35 A; warmer air near the ceiling eats the prototype's margin; a 90-minute hold test is planned. If asked what the fin does for heat dissipation: the motor's only way out of a closed printed box is conduction into the PETG it is bolted to, and PETG is an insulator, 0.2 W/m·K against 160 for aluminium; the 5 mm tab is 14 K/W, a 3 mm aluminium plate 0.011 K/W, 1260 times less. The fin is that plate: it sits between the motor flange and the tab, takes heat from the flange by conduction, carries it along the sheet and out through the slot in the shell top, and sheds it to room air by convection and radiation over both faces, 200 by 44 mm. In the model it carries 35 to 50 % of the 4.05 W, cuts the sealed-shell motor from about 99 to 64 °C and the vented from 77 to 56–59, and it keeps the loaded PETG tab under the motor cooler, which is the creep concern; it also spreads the bolt load. The thin sheet stops gaining by 136 mm because it cannot conduct more; the 1/8 in plate would carry all 4.05 W alone at 56–59 °C. All calculated; no temperature measured yet. If asked why the 6061 is painted: paint is for radiation. Bare aluminium has an emissivity near 0.1 and radiates almost nothing; matte black is about 0.9, and for a thin plate in still air that nearly doubles the heat it sheds per degree: the effective film coefficient is 10.6 W/m²·K painted against 6.2 bare. In the sizing table that is the difference between a 1/8 in fin that works at 145 to 185 mm and a bare one that needs 1/4 in and about 300 mm; the motor itself moves less, 1.5 to 3 K, because it also sheds heat into the shell air. The contact square under the motor stays bare with thermal paste so paint never sits in the conduction path. The drawing calls for matte black; the photos of the built prototype fin show bare metal and the alloy is unconfirmed. [[Jasper: is the built prototype fin painted, with what and when; is the sheet 6061 and how do you know?]]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(55 s): Top chart: what one winch pulls at 1.5 A as the spool fills: 34 N on the empty core, 25 N full, assuming running torque is 0.7 of holding torque. Divided by 1.5 against skipped steps, that is the 16.8 N design force. Bottom chart: what the four winches hold at task height against what they must hold. The claw weighed 0.60 kg with its battery, against 0.86 estimated. With jeans that is 1.50 kg against a capacity of 1.56: a 4 % margin, which is inside the uncertainty, because at 0.5 times holding torque the capacity is 1.1 kg. The pull test decides whether 1.5 A is enough; the alternative is a gear stage at each winch, designed for the next iteration (Act 5, next-iteration slide). Pause and ask: cut claw mass or add the gear stage? If asked: the current is set by the driver reference voltage, I = Vref / (8 × 0.1 Ω) [[how 1.5 A was reached and the Vref read]]; the A4988 runs hot at 1.5 A and shuts down if it overheats, so the hold test watches it. If asked how the pull value was validated: it has not been; the pull is calculated and the test is planned. The chain is Vref to current, 1.5 A at 1.2 V; holding torque proportional to current from the 0.36 N·m rating; running torque assumed 0.7 of holding; and torque over spool radius, 34 N on the empty 7.5 mm core and 25 N at the full 10 mm. The two weak links are the 0.7, a convention, and the torque basis: if the 0.36 N·m rating is a two-phase figure the pull could be about 1.4 times lower. The validation is a 15-minute luggage-scale test on one station, reeling in against the scale at the empty and the full spool until the motor skips; its result replaces the 0.7 and goes into the planner as the tension limit. If asked where the 25 % drop from the 0.86 kg estimate came from: same claw, same parts. The tube (198 g in CAD), servo (55 g) and battery (99 g) were never in doubt; the printed parts came to about 250 g on the scale against 860 g if they were solid plastic, 677 cm³ of CAD volume. The estimate priced them from CAD solids, and printed parts have walls and infill; the exact assumptions behind the 0.86 are not itemized in my notes. The lesson: a CAD mass is an upper bound, the budget is checked on the scale. [[Jasper: infill and wall count on the claw parts; did the 0.86 kg estimate assume solid parts or a slicer mass?]]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(55 s): The final claw. The servo drives an 18-tooth pinion into a 54-tooth gear, 3:1, and each hand is a four-bar coupler on the gear's crank and the arm, a near-parallelogram, so the hands stay within a degree of parallel across the 53 mm opening. Grip: jeans need 17.7 N per jaw at a friction of 0.3; the jaws give 13.3 N at the narrowest grab and 25 N at a 70 mm grab, so narrow grabs are short and grippy pads are next. Power: one two-cell 7.4 V pack, a 6 V regulator for the servo, a 5 V buck for the camera board, a 200k over 100k divider so the board reads its own battery. The right photo is the housing open on the bench. If asked: gear safety factor 2.05 at servo stall; peak draw 2.8 to 3.1 A at the pack's 3 A rating; 5 A fuse; charged attended at 1 A or less; the tips drop about 38 mm while closing, so the claw closes from 35 to 40 mm above the floor. If asked where the 0.3 friction coefficient came from: it is an assumed value for cloth on a bare printed PETG pad, chosen low on purpose, and the numbers are also run at 0.6 for TPU pads. It has not been measured, which is why the jeans case is marked short and why a pull test with a force gauge on the real pads is first on the list. [[Jasper: where did 0.3 come from: a handbook value, a class note, a guess, or a quick test with a scale; if a test, what pad, what cloth, what reading?]] If asked what a narrow grab is: a grip where the jaw tips are close together when the pads meet the cloth, a thin fold rather than a bunched handful. The hands ride on a gear crank, so the effective lever arm from the crank to the pad is longest when the jaws are nearly closed, 59 mm at a 10 mm gap, and shortest at a wide grab, 33 mm at 70 mm; stall torque is fixed, so pad force is lowest at a narrow grab, 13.3 N, and 25 N at 70 mm. Jeans at 0.3 need 17.7 N per jaw, so the force is short until the grab is at least 43 mm wide at 4.8 V, 22 mm at the 6 V the servo rail actually runs. Grippy pads halve the need.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(50 s): The gripper is not the story; it is a modular attachment by design, so I can try different grippers and find what works on shirts. I expected a hard-material pinch to work better than a soft one. Testing showed it does not, because of alignment: the first rack-and-pinion clamp's pinion travel left a 2 mm gap, so on thin cloth on a hard floor the pads never met. So the hands became the geared four-bar on the previous slide, and I am trying other materials on the pads, TPU among them: at a friction of 0.6 instead of the 0.3 I assume for bare PETG, jeans need half the jaw force. Still testing; this part is not a big deal to the system. One lesson did come out of it: the v6 clamp came out at 4.6 times its mass budget in CAD, and since then every part carries a mass budget and the claw goes on the scale. If asked: the 2 mm gap is from the geometry audit of the Sep 30 clamp (pinion radius 18 mm times 120° of travel per rack against a 77.4 mm closed width); no cloth-test reading is logged; the pad-to-cloth friction has not been measured, which is why the jeans case is marked short at narrow grabs.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(55 s): Build week, starting with the parts. Everything structural is PETG on a Creality K1, 0.4 mm nozzle, 0.2 mm layers, loads along the layers, mating faces away from supports. The fits came from coupons: the first spool bore, 5.2 mm on a 5 mm shaft, would not go on; v3 opened it to 5.45 and now every printed fit carries an allowance. The gear bearing pockets are the ones I am proudest of: the bearing presses past a lip, the T-slots let the lip flex, and it sits free in a pocket 0.075 mm larger. The fin is the one machined part: the sheared edges are only good to half a millimetre, so I used them to find the first hole, zeroed the mill on it and put the other four in from there. And one shell kept a failed layer near the top: it is a shell, not in the load path, so it went on the wall. If asked: the spool's set screw carries the torque; which holes get heat-set inserts: M3 in the gear housing, M2.5 at the encoder. [[confirm which spool bore is printed and the insert part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(55 s): The station electronics went through a bench script one part at a time, before the station firmware went on. Boot on USB alone with 12 V off: the board's LED on, the board cool. The homing switch reads LOW at rest and HIGH when pressed or when a wire breaks, the fail-safe wiring from Act 2. The encoder answers at its address and reports the magnet detected. Then 12 V on: the driver must stay off at boot, so a reset can never move a motor. Enable, jog a quarter turn each way, then one full spool turn, which must land within 60 encoder counts of a revolution: PASS on both boards, the dev board and the smaller one. One short announced itself by the LED going out; it traced to the switch pull-up. If asked: the sign the one-turn test prints is what the step and encoder signs in the config must agree on; 60 counts is 0.69 mm of line, about twice the error budget; the magnet reported detected with the Ø4 magnet. If asked about the earlier motor that would not turn and the bad 3.3 V connection (October, the first gen-2 station): the log said it was stepping and the shaft said it was not, so I stopped changing code and put the meter on the driver. Enable toggled with the command, 3.3 V idle, 0 V during the run, 3.3 V after, which cleared the firmware; the sleep pin read about 1 V and the logic rail about 1.14 V instead of 3.3, which pointed at the driver's supply, and it was a bad 3.3 V connection; after the fix the motor turned, loud and slow. Those readings were on my meter, not logged. The habit that came out of it is this slide: a meter on every rail before code, and the driver's logic supply now comes off the same regulated rail as the controller, soldered, with a VDD check before enable. [[Jasper: what you tried before the meter; which wire or pin was the bad 3.3 V connection and what was physically wrong (loose jumper, cold joint, breadboard contact); VDD after the repair; the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(50 s): The claw electronics on the bench, Rev B. Three passes: the camera streams live video to the phone; the board reads its battery through the divider at 7.2 V, matching the meter; and the servo moves. The servo was the find: with the camera running it got no pulses at all. The camera's clock generator and the servo's PWM were sharing one hardware timer; the servo now drives from its own timer and the camera keeps the first. That is the kind of fault the schematic cannot show. Still open: the servo's open and closed end points are not measured, and the camera is not calibrated yet. If asked: the 5 V buck is set to 5.16 V and the board sees about 4.9 V after its diode; an earlier 4.33 V reading was a meter mis-read, not the pack; the board and the wiring were net-checked against the spec before any power went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(50 s): The first station on the wall, in a stud on the TV wall, with the 12 V pair running down the wall and the fin out through the slot in the top of the shell. From below you can see the shell on its grey wall mount, the slide-in from Act 3, and the line leaving the switch tab straight down, with the 12 V lead in a lever nut. Because a station is a sealed box up at the ceiling, it has to look after itself: it boots, joins Wi-Fi at a fixed address and keeps retrying until the router is up, and firmware updates arrive over Wi-Fi, so a boxed station never needs a USB cable again. The motor stays off until the phone arms it, and a station only accepts an update while it is disarmed, so an update can never drop a load. If asked: the one USB flash happens on the bench before boxing; the claw accepts updates only while its grip is open, for the same reason; the three stations are not on the network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(55 s): The first system test runs on three stations, not four. A and B sit in the two corners of one wall, C on the stud nearest the middle of the opposite wall, all at the same height, so the triangle is nearly equilateral and the usable area is as large as it can be; the claw starts at the centroid. Two costs. Tilt: the claw hangs from three of its four corner holes, so its centre of mass is off the centroid of the holes and it hangs 5.5° over at the start; the lift aborts at 8°, and the grip check refuses above 5°, which would refuse grips over 78 % of the floor. A housing with three holes at 120° brings the start tilt to 0.8°; until then, three-station runs are for movement and calibration, not pickups. Redundancy: with four cables a failed station leaves three; with three, a station fault drops the claw, so the floor is clear and padded. If asked: the entries only seed the calibration, which fits the geometry itself; a stud 0.2 m off the midpoint leaves about 0.12 m after the fit; all simulated, not yet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(55 s): Three things that hurt now, and what the next iteration does about them. Pull: the mounted stations are direct-drive spools on the motor shaft, 34 N on an empty spool at 1.5 A, which leaves jeans a 4 % margin. The next station has a 3:1 stage: an 18-tooth pinion into a 54-tooth gear printed in one piece with the spool, module 1, 1.98 to 2.80 kg at 1.0 A with half the heat; it is designed and checked in CAD, the pinion is printed, and it is not fitted. When it goes in, the slip fuse moves to about 130 N and that station is sized for 200 N. Fit: the slide-in binds as it goes onto the wall mount, because the dovetail ribs run parallel; a one-degree draft, thicker at the top and thinning toward the bottom, lets the station self-locate as it slides down. Mass: the wall mount holds about two hundred times what the motor can pull, so it is overbuilt at 597 cm³ of solid CAD; the next one gets thinner walls and ribs, about 200 cm³, which matters for anyone printing it from the open-source files. Limits today, on the strip: positioning is relative, from the cable model and the floor-board calibration, no absolute reference beyond the markers; three stations on the corner holes tilt the claw 5.5° at the start, abort at 8°, and the 5° grip limit refuses grips over 78 % of the floor until the three-hole housing (0.8°); and the robot cannot see a person or a pet, so the rule is nobody under it. If asked: the gear stage's printed pinion teeth hold 1.75 times the motor's slip force at 1.0 A (1.17 at 1.5 A, so 1.0 A is the setting); backlash 0.42 mm, ten encoder counts; the encoder magnet measured Ø4.0. The draft and the lighter mount are intentions, not drawings yet. [[Jasper: photos or CAD of the next iteration]]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(55 s): Back to the targets, with the evidence for each. Measured so far: the claw mass, the two bench tests and the wiring. Three are not met: grip for jeans at narrow grabs, claw mass at 0.60 against 0.45, and the weakest link, which has two cheap fixes. Two are marginal and the next tests decide them: lift capacity, where the gear stage is the answer if the pull test comes in low, and the prototype fin's temperature. Planned: the map of obstacles in the phone app is built and under independent verification, with two findings being fixed before it runs on hardware; and the first three-station lift, which is the next milestone. If asked about the map: the user draws shapes on a top view of the room and every cable and the claw body are checked against them before a move; the two findings are a descent that could enter a refused shape and a calibration detour that strands the claw at the top of the workspace. Cost: about $640 ordered in total, $211 to $248 of it in the robot as parts for three or four stations (the next-iteration gear parts excluded), plus $38 to $49 of filament; prices partly recorded, partly typical, so say 'about'. The one-line statement at the top: 1.56 kg is the calculated worst-point lift at task height with the direct-drive spools at 1.5 A; 12 to 16 mm is the simulated cable-length sigma after the floor-board calibration; $210.78 is the prorated parts cost for three stations without filament, $37.74 the filament estimate at $15/kg. If asked what narrow grabs are: a grip where the jaw tips are close together when the pads meet the cloth, a thin fold rather than a bunched handful. The hands ride on a gear crank, so the lever arm from the crank to the pad is longest at a small gap, 59 mm at 10 mm, and shortest at a wide one, 33 mm at 70 mm; with a fixed stall torque the pad force is 13.3 N at the narrowest grab and 25 N at 70 mm. Jeans at a friction of 0.3 need 17.7 N, so the grip is short until the gap is at least 22 mm at 6 V (43 mm at 4.8 V). Requirement calculated; jaw force from the four-bar model, no force gauge yet; grippy pads halve the need.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(55 s): Three decisions I would make again: a controller in every station, which is why the bench week worked station by station; the camera calibration instead of bead homing, killed on paper before anything was built; and a mass budget per part, late, but it is why the claw got weighed and the gear stage got sized. Three I would not: not tracking the claw's mass per part until the v6 clamp came in at 4.6 times its budget; cutting the prototype fin from scrap sheet, which left one to four degrees of margin; and a build week that ends on presentation day. In half the time I would pull-test one winch and weigh a mock claw in week one and prove one full station before copying it. Next, in order: flash and commission the three stations, the pull test, the first lift with a pound, and then the robot scans its own room and proposes the obstacles in the app. Two more: a pole-clamp back for the wall mount, a gym-pole clamp, so a station can go on a pole where there is no stud; and the build goes up open-source on GitHub so others can build it. Leave this slide up for questions. If asked: the lighter redesign takes about 60 % of the plastic out of the station and brings the claw to its 0.45 kg budget, lifting the jeans margin from 4 % to about 16 %. If asked how the weaker decisions affected the deliverable: each shows up in the results table. Not tracking mass per part put the claw at 0.60 kg against 0.45, which turned the jeans lift margin into 4 % and made the gear stage necessary before any jeans pickup; it is why the demo load is 1 lb. Cutting the prototype fin from scrap sheet left 1 to 4 K of thermal margin at 1.5 A, so the stations cannot run at full current until a hold test passes, with 1.35 A as the fallback. Ending the build week on presentation day means the first three-station lift, the pull test and the hold test have no result on these slides: everything on the robot that moves a load is still planned. And building parts far stronger than any load cost about 1.2 L of PETG and days of printing per station, which the lighter redesign takes back. If asked why larger motors were not the answer when mass was the constraint: because the mass that matters is on the claw and the motors are on the wall; a bigger motor adds nothing to the claw and removes nothing from it. What limits the lift is not the motor's size but the current I can put through it and the heat that makes: pull rises with current, heat with current squared, so 1.0 to 1.5 A bought 50 % more pull for 2.25 times the heat, and at 1.5 A the printed mount is already at its 60 °C limit. A larger motor would need more current, a bigger driver than the 2 A A4988, a bigger supply than the 12 V 6 A brick, thicker wire for the 32 ft run and a new station. The 3:1 stage gives 2.7 times the pull at 1.0 A with half the heat, for two printed gears and two bearings I already use, and it keeps the motor as the fuse of the lifting chain. The lever was the ratio, not the motor; the other lever is mass off the claw. A larger motor was never on my options list; the options were a smaller spool core, the gear stage, a lighter claw and a lighter payload.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1F3A5F"/>
        </a:solidFill>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jpg"/><Relationship Id="rId3" Type="http://schemas.openxmlformats.org/officeDocument/2006/relationships/image" Target="../media/image-11-3.jpg"/><Relationship Id="rId4" Type="http://schemas.openxmlformats.org/officeDocument/2006/relationships/image" Target="../media/image-11-4.jpg"/><Relationship Id="rId5" Type="http://schemas.openxmlformats.org/officeDocument/2006/relationships/slideLayout" Target="../slideLayouts/slideLayout2.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jpg"/><Relationship Id="rId3" Type="http://schemas.openxmlformats.org/officeDocument/2006/relationships/slideLayout" Target="../slideLayouts/slideLayout2.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image" Target="../media/image-17-2.jpg"/><Relationship Id="rId3" Type="http://schemas.openxmlformats.org/officeDocument/2006/relationships/slideLayout" Target="../slideLayouts/slideLayout2.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jpg"/><Relationship Id="rId4" Type="http://schemas.openxmlformats.org/officeDocument/2006/relationships/slideLayout" Target="../slideLayouts/slideLayout2.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jpg"/><Relationship Id="rId5" Type="http://schemas.openxmlformats.org/officeDocument/2006/relationships/slideLayout" Target="../slideLayouts/slideLayout2.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image" Target="../media/image-20-2.jpg"/><Relationship Id="rId3" Type="http://schemas.openxmlformats.org/officeDocument/2006/relationships/image" Target="../media/image-20-3.jpg"/><Relationship Id="rId4" Type="http://schemas.openxmlformats.org/officeDocument/2006/relationships/image" Target="../media/image-20-4.jpg"/><Relationship Id="rId5" Type="http://schemas.openxmlformats.org/officeDocument/2006/relationships/slideLayout" Target="../slideLayouts/slideLayout2.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image" Target="../media/image-22-2.jpg"/><Relationship Id="rId3" Type="http://schemas.openxmlformats.org/officeDocument/2006/relationships/image" Target="../media/image-22-3.jpg"/><Relationship Id="rId4" Type="http://schemas.openxmlformats.org/officeDocument/2006/relationships/slideLayout" Target="../slideLayouts/slideLayout2.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title photo" descr="The claw hanging from three cables in the room corner, Oct 27">    </p:cNvPr>
          <p:cNvPicPr>
            <a:picLocks noChangeAspect="1"/>
          </p:cNvPicPr>
          <p:nvPr/>
        </p:nvPicPr>
        <p:blipFill>
          <a:blip r:embed="rId1"/>
          <a:stretch>
            <a:fillRect/>
          </a:stretch>
        </p:blipFill>
        <p:spPr>
          <a:xfrm>
            <a:off x="7048195" y="0"/>
            <a:ext cx="5143500" cy="6858000"/>
          </a:xfrm>
          <a:prstGeom prst="rect">
            <a:avLst/>
          </a:prstGeom>
        </p:spPr>
      </p:pic>
      <p:sp>
        <p:nvSpPr>
          <p:cNvPr id="3" name="title"/>
          <p:cNvSpPr txBox="1"/>
          <p:nvPr/>
        </p:nvSpPr>
        <p:spPr>
          <a:xfrm>
            <a:off x="548640" y="1371600"/>
            <a:ext cx="6133795" cy="82296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RoomCleaner</a:t>
            </a:r>
            <a:endParaRPr lang="en-US" sz="4400" dirty="0"/>
          </a:p>
        </p:txBody>
      </p:sp>
      <p:sp>
        <p:nvSpPr>
          <p:cNvPr id="4" name="subtitle"/>
          <p:cNvSpPr txBox="1"/>
          <p:nvPr/>
        </p:nvSpPr>
        <p:spPr>
          <a:xfrm>
            <a:off x="548640" y="2240280"/>
            <a:ext cx="6133795" cy="1188720"/>
          </a:xfrm>
          <a:prstGeom prst="rect">
            <a:avLst/>
          </a:prstGeom>
          <a:noFill/>
          <a:ln/>
        </p:spPr>
        <p:txBody>
          <a:bodyPr wrap="square" lIns="0" tIns="0" rIns="0" bIns="0" rtlCol="0" anchor="ctr"/>
          <a:lstStyle/>
          <a:p>
            <a:pPr indent="0" marL="0">
              <a:buNone/>
            </a:pPr>
            <a:r>
              <a:rPr lang="en-US" sz="2600" dirty="0">
                <a:solidFill>
                  <a:srgbClr val="D9DEE5"/>
                </a:solidFill>
                <a:latin typeface="Arial" pitchFamily="34" charset="0"/>
                <a:ea typeface="Arial" pitchFamily="34" charset="-122"/>
                <a:cs typeface="Arial" pitchFamily="34" charset="-120"/>
              </a:rPr>
              <a:t>A four-cable ceiling robot that picks laundry off the floor</a:t>
            </a:r>
            <a:endParaRPr lang="en-US" sz="2600" dirty="0"/>
          </a:p>
        </p:txBody>
      </p:sp>
      <p:sp>
        <p:nvSpPr>
          <p:cNvPr id="5" name="name"/>
          <p:cNvSpPr txBox="1"/>
          <p:nvPr/>
        </p:nvSpPr>
        <p:spPr>
          <a:xfrm>
            <a:off x="548640" y="4114800"/>
            <a:ext cx="6133795" cy="45720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Jasper Buntinx</a:t>
            </a:r>
            <a:endParaRPr lang="en-US" sz="2400" dirty="0"/>
          </a:p>
        </p:txBody>
      </p:sp>
      <p:sp>
        <p:nvSpPr>
          <p:cNvPr id="6" name="school"/>
          <p:cNvSpPr txBox="1"/>
          <p:nvPr/>
        </p:nvSpPr>
        <p:spPr>
          <a:xfrm>
            <a:off x="548640" y="4572000"/>
            <a:ext cx="6133795" cy="411480"/>
          </a:xfrm>
          <a:prstGeom prst="rect">
            <a:avLst/>
          </a:prstGeom>
          <a:noFill/>
          <a:ln/>
        </p:spPr>
        <p:txBody>
          <a:bodyPr wrap="square" lIns="0" tIns="0" rIns="0" bIns="0" rtlCol="0" anchor="ctr"/>
          <a:lstStyle/>
          <a:p>
            <a:pPr indent="0" marL="0">
              <a:buNone/>
            </a:pPr>
            <a:r>
              <a:rPr lang="en-US" sz="1800" dirty="0">
                <a:solidFill>
                  <a:srgbClr val="D9DEE5"/>
                </a:solidFill>
                <a:latin typeface="Arial" pitchFamily="34" charset="0"/>
                <a:ea typeface="Arial" pitchFamily="34" charset="-122"/>
                <a:cs typeface="Arial" pitchFamily="34" charset="-120"/>
              </a:rPr>
              <a:t>Mechanical Engineering, Texas A&amp;M University</a:t>
            </a:r>
            <a:endParaRPr lang="en-US" sz="1800" dirty="0"/>
          </a:p>
        </p:txBody>
      </p:sp>
      <p:sp>
        <p:nvSpPr>
          <p:cNvPr id="7" name="dates"/>
          <p:cNvSpPr txBox="1"/>
          <p:nvPr/>
        </p:nvSpPr>
        <p:spPr>
          <a:xfrm>
            <a:off x="548640" y="5029200"/>
            <a:ext cx="6133795" cy="411480"/>
          </a:xfrm>
          <a:prstGeom prst="rect">
            <a:avLst/>
          </a:prstGeom>
          <a:noFill/>
          <a:ln/>
        </p:spPr>
        <p:txBody>
          <a:bodyPr wrap="square" lIns="0" tIns="0" rIns="0" bIns="0" rtlCol="0" anchor="ctr"/>
          <a:lstStyle/>
          <a:p>
            <a:pPr indent="0" marL="0">
              <a:buNone/>
            </a:pPr>
            <a:r>
              <a:rPr lang="en-US" sz="1800" dirty="0">
                <a:solidFill>
                  <a:srgbClr val="D9DEE5"/>
                </a:solidFill>
                <a:latin typeface="Arial" pitchFamily="34" charset="0"/>
                <a:ea typeface="Arial" pitchFamily="34" charset="-122"/>
                <a:cs typeface="Arial" pitchFamily="34" charset="-120"/>
              </a:rPr>
              <a:t>Built July to October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le"/>
          <p:cNvSpPr txBox="1"/>
          <p:nvPr/>
        </p:nvSpPr>
        <p:spPr>
          <a:xfrm>
            <a:off x="548640" y="274320"/>
            <a:ext cx="11094415"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About me</a:t>
            </a:r>
            <a:endParaRPr lang="en-US" sz="24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a:t>
            </a:r>
            <a:endParaRPr lang="en-US" sz="1000" dirty="0"/>
          </a:p>
        </p:txBody>
      </p:sp>
      <p:pic>
        <p:nvPicPr>
          <p:cNvPr id="4" name="about_outdoors.png" descr="outdoors">    </p:cNvPr>
          <p:cNvPicPr>
            <a:picLocks noChangeAspect="1"/>
          </p:cNvPicPr>
          <p:nvPr/>
        </p:nvPicPr>
        <p:blipFill>
          <a:blip r:embed="rId1"/>
          <a:stretch>
            <a:fillRect/>
          </a:stretch>
        </p:blipFill>
        <p:spPr>
          <a:xfrm>
            <a:off x="1353273" y="1143000"/>
            <a:ext cx="2607191" cy="5120640"/>
          </a:xfrm>
          <a:prstGeom prst="rect">
            <a:avLst/>
          </a:prstGeom>
        </p:spPr>
      </p:pic>
      <p:pic>
        <p:nvPicPr>
          <p:cNvPr id="5" name="about_engineering.png" descr="engineering">    </p:cNvPr>
          <p:cNvPicPr>
            <a:picLocks noChangeAspect="1"/>
          </p:cNvPicPr>
          <p:nvPr/>
        </p:nvPicPr>
        <p:blipFill>
          <a:blip r:embed="rId2"/>
          <a:stretch>
            <a:fillRect/>
          </a:stretch>
        </p:blipFill>
        <p:spPr>
          <a:xfrm>
            <a:off x="4143344" y="1143000"/>
            <a:ext cx="3237812" cy="5120640"/>
          </a:xfrm>
          <a:prstGeom prst="rect">
            <a:avLst/>
          </a:prstGeom>
        </p:spPr>
      </p:pic>
      <p:pic>
        <p:nvPicPr>
          <p:cNvPr id="6" name="about_community.png" descr="community">    </p:cNvPr>
          <p:cNvPicPr>
            <a:picLocks noChangeAspect="1"/>
          </p:cNvPicPr>
          <p:nvPr/>
        </p:nvPicPr>
        <p:blipFill>
          <a:blip r:embed="rId3"/>
          <a:stretch>
            <a:fillRect/>
          </a:stretch>
        </p:blipFill>
        <p:spPr>
          <a:xfrm>
            <a:off x="7564036" y="1143000"/>
            <a:ext cx="3274386" cy="5120640"/>
          </a:xfrm>
          <a:prstGeom prst="rect">
            <a:avLst/>
          </a:prstGeom>
        </p:spPr>
      </p:pic>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le"/>
          <p:cNvSpPr txBox="1"/>
          <p:nvPr/>
        </p:nvSpPr>
        <p:spPr>
          <a:xfrm>
            <a:off x="548640" y="274320"/>
            <a:ext cx="11094415"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The goal: jeans from anywhere on the floor into the hamper, nobody touching it</a:t>
            </a:r>
            <a:endParaRPr lang="en-US" sz="24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a:t>
            </a:r>
            <a:endParaRPr lang="en-US" sz="1000" dirty="0"/>
          </a:p>
        </p:txBody>
      </p:sp>
      <p:sp>
        <p:nvSpPr>
          <p:cNvPr id="4" name="wall margin left"/>
          <p:cNvSpPr/>
          <p:nvPr/>
        </p:nvSpPr>
        <p:spPr>
          <a:xfrm>
            <a:off x="1371600" y="1638414"/>
            <a:ext cx="294792" cy="3817552"/>
          </a:xfrm>
          <a:prstGeom prst="rect">
            <a:avLst/>
          </a:prstGeom>
          <a:solidFill>
            <a:srgbClr val="F2F2F2"/>
          </a:solidFill>
          <a:ln w="12700">
            <a:solidFill>
              <a:srgbClr val="F2F2F2"/>
            </a:solidFill>
            <a:prstDash val="solid"/>
          </a:ln>
        </p:spPr>
      </p:sp>
      <p:sp>
        <p:nvSpPr>
          <p:cNvPr id="5" name="wall margin right"/>
          <p:cNvSpPr/>
          <p:nvPr/>
        </p:nvSpPr>
        <p:spPr>
          <a:xfrm>
            <a:off x="6014568" y="1638414"/>
            <a:ext cx="294792" cy="3817552"/>
          </a:xfrm>
          <a:prstGeom prst="rect">
            <a:avLst/>
          </a:prstGeom>
          <a:solidFill>
            <a:srgbClr val="F2F2F2"/>
          </a:solidFill>
          <a:ln w="12700">
            <a:solidFill>
              <a:srgbClr val="F2F2F2"/>
            </a:solidFill>
            <a:prstDash val="solid"/>
          </a:ln>
        </p:spPr>
      </p:sp>
      <p:sp>
        <p:nvSpPr>
          <p:cNvPr id="6" name="ceiling margin"/>
          <p:cNvSpPr/>
          <p:nvPr/>
        </p:nvSpPr>
        <p:spPr>
          <a:xfrm>
            <a:off x="1666392" y="1638414"/>
            <a:ext cx="4348177" cy="589583"/>
          </a:xfrm>
          <a:prstGeom prst="rect">
            <a:avLst/>
          </a:prstGeom>
          <a:solidFill>
            <a:srgbClr val="F6E3E1"/>
          </a:solidFill>
          <a:ln w="12700">
            <a:solidFill>
              <a:srgbClr val="F6E3E1"/>
            </a:solidFill>
            <a:prstDash val="solid"/>
          </a:ln>
        </p:spPr>
      </p:sp>
      <p:sp>
        <p:nvSpPr>
          <p:cNvPr id="7" name="Shape 5"/>
          <p:cNvSpPr/>
          <p:nvPr/>
        </p:nvSpPr>
        <p:spPr>
          <a:xfrm>
            <a:off x="1371600" y="5455965"/>
            <a:ext cx="4937760" cy="0"/>
          </a:xfrm>
          <a:prstGeom prst="line">
            <a:avLst/>
          </a:prstGeom>
          <a:noFill/>
          <a:ln w="25400">
            <a:solidFill>
              <a:srgbClr val="1A1A1A"/>
            </a:solidFill>
            <a:prstDash val="solid"/>
          </a:ln>
        </p:spPr>
      </p:sp>
      <p:sp>
        <p:nvSpPr>
          <p:cNvPr id="8" name="Shape 6"/>
          <p:cNvSpPr/>
          <p:nvPr/>
        </p:nvSpPr>
        <p:spPr>
          <a:xfrm flipV="1">
            <a:off x="1371600" y="1417320"/>
            <a:ext cx="0" cy="4038645"/>
          </a:xfrm>
          <a:prstGeom prst="line">
            <a:avLst/>
          </a:prstGeom>
          <a:noFill/>
          <a:ln w="15875">
            <a:solidFill>
              <a:srgbClr val="1A1A1A"/>
            </a:solidFill>
            <a:prstDash val="solid"/>
          </a:ln>
        </p:spPr>
      </p:sp>
      <p:sp>
        <p:nvSpPr>
          <p:cNvPr id="9" name="Shape 7"/>
          <p:cNvSpPr/>
          <p:nvPr/>
        </p:nvSpPr>
        <p:spPr>
          <a:xfrm flipV="1">
            <a:off x="6309360" y="1417320"/>
            <a:ext cx="0" cy="4038645"/>
          </a:xfrm>
          <a:prstGeom prst="line">
            <a:avLst/>
          </a:prstGeom>
          <a:noFill/>
          <a:ln w="15875">
            <a:solidFill>
              <a:srgbClr val="1A1A1A"/>
            </a:solidFill>
            <a:prstDash val="solid"/>
          </a:ln>
        </p:spPr>
      </p:sp>
      <p:sp>
        <p:nvSpPr>
          <p:cNvPr id="10" name="Shape 8"/>
          <p:cNvSpPr/>
          <p:nvPr/>
        </p:nvSpPr>
        <p:spPr>
          <a:xfrm>
            <a:off x="1371600" y="1417320"/>
            <a:ext cx="4937760" cy="0"/>
          </a:xfrm>
          <a:prstGeom prst="line">
            <a:avLst/>
          </a:prstGeom>
          <a:noFill/>
          <a:ln w="15875">
            <a:solidFill>
              <a:srgbClr val="1A1A1A"/>
            </a:solidFill>
            <a:prstDash val="solid"/>
          </a:ln>
        </p:spPr>
      </p:sp>
      <p:sp>
        <p:nvSpPr>
          <p:cNvPr id="11" name="Shape 9"/>
          <p:cNvSpPr/>
          <p:nvPr/>
        </p:nvSpPr>
        <p:spPr>
          <a:xfrm>
            <a:off x="1371600" y="1638414"/>
            <a:ext cx="2137239" cy="2417291"/>
          </a:xfrm>
          <a:prstGeom prst="line">
            <a:avLst/>
          </a:prstGeom>
          <a:noFill/>
          <a:ln w="25400">
            <a:solidFill>
              <a:srgbClr val="1F3A5F"/>
            </a:solidFill>
            <a:prstDash val="solid"/>
          </a:ln>
        </p:spPr>
      </p:sp>
      <p:sp>
        <p:nvSpPr>
          <p:cNvPr id="12" name="Shape 10"/>
          <p:cNvSpPr/>
          <p:nvPr/>
        </p:nvSpPr>
        <p:spPr>
          <a:xfrm flipH="1">
            <a:off x="3508839" y="1638414"/>
            <a:ext cx="2800521" cy="2417291"/>
          </a:xfrm>
          <a:prstGeom prst="line">
            <a:avLst/>
          </a:prstGeom>
          <a:noFill/>
          <a:ln w="25400">
            <a:solidFill>
              <a:srgbClr val="1F3A5F"/>
            </a:solidFill>
            <a:prstDash val="solid"/>
          </a:ln>
        </p:spPr>
      </p:sp>
      <p:sp>
        <p:nvSpPr>
          <p:cNvPr id="13" name="anchor"/>
          <p:cNvSpPr/>
          <p:nvPr/>
        </p:nvSpPr>
        <p:spPr>
          <a:xfrm>
            <a:off x="1371600" y="1574406"/>
            <a:ext cx="128016" cy="128016"/>
          </a:xfrm>
          <a:prstGeom prst="rect">
            <a:avLst/>
          </a:prstGeom>
          <a:solidFill>
            <a:srgbClr val="1F3A5F"/>
          </a:solidFill>
          <a:ln w="12700">
            <a:solidFill>
              <a:srgbClr val="1F3A5F"/>
            </a:solidFill>
            <a:prstDash val="solid"/>
          </a:ln>
        </p:spPr>
      </p:sp>
      <p:sp>
        <p:nvSpPr>
          <p:cNvPr id="14" name="anchor"/>
          <p:cNvSpPr/>
          <p:nvPr/>
        </p:nvSpPr>
        <p:spPr>
          <a:xfrm>
            <a:off x="6181344" y="1574406"/>
            <a:ext cx="128016" cy="128016"/>
          </a:xfrm>
          <a:prstGeom prst="rect">
            <a:avLst/>
          </a:prstGeom>
          <a:solidFill>
            <a:srgbClr val="1F3A5F"/>
          </a:solidFill>
          <a:ln w="12700">
            <a:solidFill>
              <a:srgbClr val="1F3A5F"/>
            </a:solidFill>
            <a:prstDash val="solid"/>
          </a:ln>
        </p:spPr>
      </p:sp>
      <p:sp>
        <p:nvSpPr>
          <p:cNvPr id="15" name="claw"/>
          <p:cNvSpPr/>
          <p:nvPr/>
        </p:nvSpPr>
        <p:spPr>
          <a:xfrm>
            <a:off x="3417399" y="4009985"/>
            <a:ext cx="182880" cy="274320"/>
          </a:xfrm>
          <a:prstGeom prst="rect">
            <a:avLst/>
          </a:prstGeom>
          <a:solidFill>
            <a:srgbClr val="4F6D8F"/>
          </a:solidFill>
          <a:ln w="12700">
            <a:solidFill>
              <a:srgbClr val="4F6D8F"/>
            </a:solidFill>
            <a:prstDash val="solid"/>
          </a:ln>
        </p:spPr>
      </p:sp>
      <p:sp>
        <p:nvSpPr>
          <p:cNvPr id="16" name="hamper"/>
          <p:cNvSpPr/>
          <p:nvPr/>
        </p:nvSpPr>
        <p:spPr>
          <a:xfrm>
            <a:off x="5203891" y="4645288"/>
            <a:ext cx="663281" cy="810677"/>
          </a:xfrm>
          <a:prstGeom prst="rect">
            <a:avLst/>
          </a:prstGeom>
          <a:solidFill>
            <a:srgbClr val="D9DEE5"/>
          </a:solidFill>
          <a:ln w="12700">
            <a:solidFill>
              <a:srgbClr val="D9DEE5"/>
            </a:solidFill>
            <a:prstDash val="solid"/>
          </a:ln>
        </p:spPr>
      </p:sp>
      <p:sp>
        <p:nvSpPr>
          <p:cNvPr id="17" name="garment"/>
          <p:cNvSpPr/>
          <p:nvPr/>
        </p:nvSpPr>
        <p:spPr>
          <a:xfrm>
            <a:off x="2255975" y="5382268"/>
            <a:ext cx="736979" cy="73698"/>
          </a:xfrm>
          <a:prstGeom prst="ellipse">
            <a:avLst/>
          </a:prstGeom>
          <a:solidFill>
            <a:srgbClr val="7F7F7F"/>
          </a:solidFill>
          <a:ln w="12700">
            <a:solidFill>
              <a:srgbClr val="7F7F7F"/>
            </a:solidFill>
            <a:prstDash val="solid"/>
          </a:ln>
        </p:spPr>
      </p:sp>
      <p:sp>
        <p:nvSpPr>
          <p:cNvPr id="18" name="label"/>
          <p:cNvSpPr txBox="1"/>
          <p:nvPr/>
        </p:nvSpPr>
        <p:spPr>
          <a:xfrm>
            <a:off x="1371600" y="5529117"/>
            <a:ext cx="4937760" cy="256032"/>
          </a:xfrm>
          <a:prstGeom prst="rect">
            <a:avLst/>
          </a:prstGeom>
          <a:noFill/>
          <a:ln/>
        </p:spPr>
        <p:txBody>
          <a:bodyPr wrap="square" lIns="0" tIns="0" rIns="0" bIns="0" rtlCol="0" anchor="ctr"/>
          <a:lstStyle/>
          <a:p>
            <a:pPr algn="ctr" indent="0" marL="0">
              <a:buNone/>
            </a:pPr>
            <a:r>
              <a:rPr lang="en-US" sz="1200" dirty="0">
                <a:solidFill>
                  <a:srgbClr val="404040"/>
                </a:solidFill>
                <a:latin typeface="Arial" pitchFamily="34" charset="0"/>
                <a:ea typeface="Arial" pitchFamily="34" charset="-122"/>
                <a:cs typeface="Arial" pitchFamily="34" charset="-120"/>
              </a:rPr>
              <a:t>3.35 m (11 ft) wall; room 3.35 × 2.74 m</a:t>
            </a:r>
            <a:endParaRPr lang="en-US" sz="1200" dirty="0"/>
          </a:p>
        </p:txBody>
      </p:sp>
      <p:sp>
        <p:nvSpPr>
          <p:cNvPr id="19" name="label"/>
          <p:cNvSpPr txBox="1"/>
          <p:nvPr/>
        </p:nvSpPr>
        <p:spPr>
          <a:xfrm>
            <a:off x="548640" y="3070883"/>
            <a:ext cx="731520" cy="731520"/>
          </a:xfrm>
          <a:prstGeom prst="rect">
            <a:avLst/>
          </a:prstGeom>
          <a:noFill/>
          <a:ln/>
        </p:spPr>
        <p:txBody>
          <a:bodyPr wrap="square" lIns="0" tIns="0" rIns="0" bIns="0" rtlCol="0" anchor="ctr"/>
          <a:lstStyle/>
          <a:p>
            <a:pPr algn="r" indent="0" marL="0">
              <a:buNone/>
            </a:pPr>
            <a:r>
              <a:rPr lang="en-US" sz="1200" dirty="0">
                <a:solidFill>
                  <a:srgbClr val="404040"/>
                </a:solidFill>
                <a:latin typeface="Arial" pitchFamily="34" charset="0"/>
                <a:ea typeface="Arial" pitchFamily="34" charset="-122"/>
                <a:cs typeface="Arial" pitchFamily="34" charset="-120"/>
              </a:rPr>
              <a:t>2.74 m</a:t>
            </a:r>
            <a:endParaRPr lang="en-US" sz="1200" dirty="0"/>
          </a:p>
          <a:p>
            <a:pPr algn="r" indent="0" marL="0">
              <a:buNone/>
            </a:pPr>
            <a:r>
              <a:rPr lang="en-US" sz="1200" dirty="0">
                <a:solidFill>
                  <a:srgbClr val="404040"/>
                </a:solidFill>
                <a:latin typeface="Arial" pitchFamily="34" charset="0"/>
                <a:ea typeface="Arial" pitchFamily="34" charset="-122"/>
                <a:cs typeface="Arial" pitchFamily="34" charset="-120"/>
              </a:rPr>
              <a:t>(9 ft)</a:t>
            </a:r>
            <a:endParaRPr lang="en-US" sz="1200" dirty="0"/>
          </a:p>
          <a:p>
            <a:pPr algn="r" indent="0" marL="0">
              <a:buNone/>
            </a:pPr>
            <a:r>
              <a:rPr lang="en-US" sz="1200" dirty="0">
                <a:solidFill>
                  <a:srgbClr val="404040"/>
                </a:solidFill>
                <a:latin typeface="Arial" pitchFamily="34" charset="0"/>
                <a:ea typeface="Arial" pitchFamily="34" charset="-122"/>
                <a:cs typeface="Arial" pitchFamily="34" charset="-120"/>
              </a:rPr>
              <a:t>ceiling</a:t>
            </a:r>
            <a:endParaRPr lang="en-US" sz="1200" dirty="0"/>
          </a:p>
        </p:txBody>
      </p:sp>
      <p:sp>
        <p:nvSpPr>
          <p:cNvPr id="20" name="label"/>
          <p:cNvSpPr txBox="1"/>
          <p:nvPr/>
        </p:nvSpPr>
        <p:spPr>
          <a:xfrm>
            <a:off x="1554480" y="1674990"/>
            <a:ext cx="2926080" cy="237744"/>
          </a:xfrm>
          <a:prstGeom prst="rect">
            <a:avLst/>
          </a:prstGeom>
          <a:noFill/>
          <a:ln/>
        </p:spPr>
        <p:txBody>
          <a:bodyPr wrap="square" lIns="0" tIns="0" rIns="0" bIns="0" rtlCol="0" anchor="ctr"/>
          <a:lstStyle/>
          <a:p>
            <a:pPr algn="l" indent="0" marL="0">
              <a:buNone/>
            </a:pPr>
            <a:r>
              <a:rPr lang="en-US" sz="1100" dirty="0">
                <a:solidFill>
                  <a:srgbClr val="1F3A5F"/>
                </a:solidFill>
                <a:latin typeface="Arial" pitchFamily="34" charset="0"/>
                <a:ea typeface="Arial" pitchFamily="34" charset="-122"/>
                <a:cs typeface="Arial" pitchFamily="34" charset="-120"/>
              </a:rPr>
              <a:t>Anchor, 0.15 m below the ceiling</a:t>
            </a:r>
            <a:endParaRPr lang="en-US" sz="1100" dirty="0"/>
          </a:p>
        </p:txBody>
      </p:sp>
      <p:sp>
        <p:nvSpPr>
          <p:cNvPr id="21" name="label"/>
          <p:cNvSpPr txBox="1"/>
          <p:nvPr/>
        </p:nvSpPr>
        <p:spPr>
          <a:xfrm>
            <a:off x="1757832" y="1953677"/>
            <a:ext cx="2194560" cy="237744"/>
          </a:xfrm>
          <a:prstGeom prst="rect">
            <a:avLst/>
          </a:prstGeom>
          <a:noFill/>
          <a:ln/>
        </p:spPr>
        <p:txBody>
          <a:bodyPr wrap="square" lIns="0" tIns="0" rIns="0" bIns="0" rtlCol="0" anchor="ctr"/>
          <a:lstStyle/>
          <a:p>
            <a:pPr algn="l" indent="0" marL="0">
              <a:buNone/>
            </a:pPr>
            <a:r>
              <a:rPr lang="en-US" sz="1100" dirty="0">
                <a:solidFill>
                  <a:srgbClr val="B23A2E"/>
                </a:solidFill>
                <a:latin typeface="Arial" pitchFamily="34" charset="0"/>
                <a:ea typeface="Arial" pitchFamily="34" charset="-122"/>
                <a:cs typeface="Arial" pitchFamily="34" charset="-120"/>
              </a:rPr>
              <a:t>0.4 m ceiling margin</a:t>
            </a:r>
            <a:endParaRPr lang="en-US" sz="1100" dirty="0"/>
          </a:p>
        </p:txBody>
      </p:sp>
      <p:sp>
        <p:nvSpPr>
          <p:cNvPr id="22" name="label"/>
          <p:cNvSpPr txBox="1"/>
          <p:nvPr/>
        </p:nvSpPr>
        <p:spPr>
          <a:xfrm>
            <a:off x="4551528" y="3097632"/>
            <a:ext cx="1371600" cy="237744"/>
          </a:xfrm>
          <a:prstGeom prst="rect">
            <a:avLst/>
          </a:prstGeom>
          <a:noFill/>
          <a:ln/>
        </p:spPr>
        <p:txBody>
          <a:bodyPr wrap="square" lIns="0" tIns="0" rIns="0" bIns="0" rtlCol="0" anchor="ctr"/>
          <a:lstStyle/>
          <a:p>
            <a:pPr algn="r" indent="0" marL="0">
              <a:buNone/>
            </a:pPr>
            <a:r>
              <a:rPr lang="en-US" sz="1100" dirty="0">
                <a:solidFill>
                  <a:srgbClr val="404040"/>
                </a:solidFill>
                <a:latin typeface="Arial" pitchFamily="34" charset="0"/>
                <a:ea typeface="Arial" pitchFamily="34" charset="-122"/>
                <a:cs typeface="Arial" pitchFamily="34" charset="-120"/>
              </a:rPr>
              <a:t>0.2 m wall margin</a:t>
            </a:r>
            <a:endParaRPr lang="en-US" sz="1100" dirty="0"/>
          </a:p>
        </p:txBody>
      </p:sp>
      <p:sp>
        <p:nvSpPr>
          <p:cNvPr id="23" name="label"/>
          <p:cNvSpPr txBox="1"/>
          <p:nvPr/>
        </p:nvSpPr>
        <p:spPr>
          <a:xfrm>
            <a:off x="3655143" y="4037417"/>
            <a:ext cx="731520" cy="237744"/>
          </a:xfrm>
          <a:prstGeom prst="rect">
            <a:avLst/>
          </a:prstGeom>
          <a:noFill/>
          <a:ln/>
        </p:spPr>
        <p:txBody>
          <a:bodyPr wrap="square" lIns="0" tIns="0" rIns="0" bIns="0" rtlCol="0" anchor="ctr"/>
          <a:lstStyle/>
          <a:p>
            <a:pPr algn="l" indent="0" marL="0">
              <a:buNone/>
            </a:pPr>
            <a:r>
              <a:rPr lang="en-US" sz="1100" b="1" dirty="0">
                <a:solidFill>
                  <a:srgbClr val="4F6D8F"/>
                </a:solidFill>
                <a:latin typeface="Arial" pitchFamily="34" charset="0"/>
                <a:ea typeface="Arial" pitchFamily="34" charset="-122"/>
                <a:cs typeface="Arial" pitchFamily="34" charset="-120"/>
              </a:rPr>
              <a:t>Claw</a:t>
            </a:r>
            <a:endParaRPr lang="en-US" sz="1100" dirty="0"/>
          </a:p>
        </p:txBody>
      </p:sp>
      <p:sp>
        <p:nvSpPr>
          <p:cNvPr id="24" name="label"/>
          <p:cNvSpPr txBox="1"/>
          <p:nvPr/>
        </p:nvSpPr>
        <p:spPr>
          <a:xfrm>
            <a:off x="5203891" y="4389256"/>
            <a:ext cx="937601" cy="237744"/>
          </a:xfrm>
          <a:prstGeom prst="rect">
            <a:avLst/>
          </a:prstGeom>
          <a:noFill/>
          <a:ln/>
        </p:spPr>
        <p:txBody>
          <a:bodyPr wrap="square" lIns="0" tIns="0" rIns="0" bIns="0" rtlCol="0" anchor="ctr"/>
          <a:lstStyle/>
          <a:p>
            <a:pPr algn="l" indent="0" marL="0">
              <a:buNone/>
            </a:pPr>
            <a:r>
              <a:rPr lang="en-US" sz="1100" dirty="0">
                <a:solidFill>
                  <a:srgbClr val="404040"/>
                </a:solidFill>
                <a:latin typeface="Arial" pitchFamily="34" charset="0"/>
                <a:ea typeface="Arial" pitchFamily="34" charset="-122"/>
                <a:cs typeface="Arial" pitchFamily="34" charset="-120"/>
              </a:rPr>
              <a:t>Hamper</a:t>
            </a:r>
            <a:endParaRPr lang="en-US" sz="1100" dirty="0"/>
          </a:p>
        </p:txBody>
      </p:sp>
      <p:sp>
        <p:nvSpPr>
          <p:cNvPr id="25" name="label"/>
          <p:cNvSpPr txBox="1"/>
          <p:nvPr/>
        </p:nvSpPr>
        <p:spPr>
          <a:xfrm>
            <a:off x="2255975" y="5107948"/>
            <a:ext cx="914400" cy="237744"/>
          </a:xfrm>
          <a:prstGeom prst="rect">
            <a:avLst/>
          </a:prstGeom>
          <a:noFill/>
          <a:ln/>
        </p:spPr>
        <p:txBody>
          <a:bodyPr wrap="square" lIns="0" tIns="0" rIns="0" bIns="0" rtlCol="0" anchor="ctr"/>
          <a:lstStyle/>
          <a:p>
            <a:pPr algn="l" indent="0" marL="0">
              <a:buNone/>
            </a:pPr>
            <a:r>
              <a:rPr lang="en-US" sz="1100" dirty="0">
                <a:solidFill>
                  <a:srgbClr val="404040"/>
                </a:solidFill>
                <a:latin typeface="Arial" pitchFamily="34" charset="0"/>
                <a:ea typeface="Arial" pitchFamily="34" charset="-122"/>
                <a:cs typeface="Arial" pitchFamily="34" charset="-120"/>
              </a:rPr>
              <a:t>Garment</a:t>
            </a:r>
            <a:endParaRPr lang="en-US" sz="1100" dirty="0"/>
          </a:p>
        </p:txBody>
      </p:sp>
      <p:sp>
        <p:nvSpPr>
          <p:cNvPr id="26" name="caption"/>
          <p:cNvSpPr txBox="1"/>
          <p:nvPr/>
        </p:nvSpPr>
        <p:spPr>
          <a:xfrm>
            <a:off x="548640" y="5897880"/>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Room elevation to scale; seen from the side, the four cables appear as two</a:t>
            </a:r>
            <a:endParaRPr lang="en-US" sz="1100" dirty="0"/>
          </a:p>
        </p:txBody>
      </p:sp>
      <p:sp>
        <p:nvSpPr>
          <p:cNvPr id="27"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700"/>
              </a:spcAft>
              <a:buSzPct val="100000"/>
              <a:buChar char="•"/>
            </a:pPr>
            <a:r>
              <a:rPr lang="en-US" sz="1500" dirty="0">
                <a:solidFill>
                  <a:srgbClr val="1A1A1A"/>
                </a:solidFill>
                <a:latin typeface="Arial" pitchFamily="34" charset="0"/>
                <a:ea typeface="Arial" pitchFamily="34" charset="-122"/>
                <a:cs typeface="Arial" pitchFamily="34" charset="-120"/>
              </a:rPr>
              <a:t>Pick up laundry in a 3.35 × 2.74 m (11 × 9 ft) room under a 2.74 m (9 ft) ceiling; design load 0.9 kg (jeans) plus a 2 m/s² dynamic allowance</a:t>
            </a:r>
            <a:endParaRPr lang="en-US" sz="1500" dirty="0"/>
          </a:p>
          <a:p>
            <a:pPr algn="l" lvl="1" marL="457200" indent="-228600">
              <a:spcAft>
                <a:spcPts val="600"/>
              </a:spcAft>
              <a:buSzPct val="100000"/>
              <a:buChar char="•"/>
            </a:pPr>
            <a:r>
              <a:rPr lang="en-US" sz="1300" dirty="0">
                <a:solidFill>
                  <a:srgbClr val="404040"/>
                </a:solidFill>
                <a:latin typeface="Arial" pitchFamily="34" charset="0"/>
                <a:ea typeface="Arial" pitchFamily="34" charset="-122"/>
                <a:cs typeface="Arial" pitchFamily="34" charset="-120"/>
              </a:rPr>
              <a:t>Room: my room, as reported; 0.9 kg: screening value, not weighed; 2 m/s²: assumed; 450 g claw: the cable-tension budget</a:t>
            </a:r>
            <a:endParaRPr lang="en-US" sz="1500" dirty="0"/>
          </a:p>
          <a:p>
            <a:pPr algn="l" marL="254000" indent="-254000">
              <a:spcAft>
                <a:spcPts val="700"/>
              </a:spcAft>
              <a:buSzPct val="100000"/>
              <a:buChar char="•"/>
            </a:pPr>
            <a:r>
              <a:rPr lang="en-US" sz="1500" dirty="0">
                <a:solidFill>
                  <a:srgbClr val="1A1A1A"/>
                </a:solidFill>
                <a:latin typeface="Arial" pitchFamily="34" charset="0"/>
                <a:ea typeface="Arial" pitchFamily="34" charset="-122"/>
                <a:cs typeface="Arial" pitchFamily="34" charset="-120"/>
              </a:rPr>
              <a:t>Four winches screwed into the studs near the ceiling corners, one claw on four cables, nothing on the floor</a:t>
            </a:r>
            <a:endParaRPr lang="en-US" sz="1500" dirty="0"/>
          </a:p>
          <a:p>
            <a:pPr algn="l" lvl="1" marL="457200" indent="-228600">
              <a:spcAft>
                <a:spcPts val="600"/>
              </a:spcAft>
              <a:buSzPct val="100000"/>
              <a:buChar char="•"/>
            </a:pPr>
            <a:r>
              <a:rPr lang="en-US" sz="1300" dirty="0">
                <a:solidFill>
                  <a:srgbClr val="404040"/>
                </a:solidFill>
                <a:latin typeface="Arial" pitchFamily="34" charset="0"/>
                <a:ea typeface="Arial" pitchFamily="34" charset="-122"/>
                <a:cs typeface="Arial" pitchFamily="34" charset="-120"/>
              </a:rPr>
              <a:t>Studs: an anchor must not move, about 1:1 into claw error; 40 N per cable: motor limit</a:t>
            </a:r>
            <a:endParaRPr lang="en-US" sz="1500" dirty="0"/>
          </a:p>
          <a:p>
            <a:pPr algn="l" marL="254000" indent="-254000">
              <a:spcAft>
                <a:spcPts val="700"/>
              </a:spcAft>
              <a:buSzPct val="100000"/>
              <a:buChar char="•"/>
            </a:pPr>
            <a:r>
              <a:rPr lang="en-US" sz="1500" dirty="0">
                <a:solidFill>
                  <a:srgbClr val="1A1A1A"/>
                </a:solidFill>
                <a:latin typeface="Arial" pitchFamily="34" charset="0"/>
                <a:ea typeface="Arial" pitchFamily="34" charset="-122"/>
                <a:cs typeface="Arial" pitchFamily="34" charset="-120"/>
              </a:rPr>
              <a:t>PAUSE holds position with torque on; the switched power strip is the emergency stop, and it drops the claw</a:t>
            </a:r>
            <a:endParaRPr lang="en-US" sz="1500" dirty="0"/>
          </a:p>
          <a:p>
            <a:pPr algn="l" lvl="1" marL="457200" indent="-228600">
              <a:spcAft>
                <a:spcPts val="600"/>
              </a:spcAft>
              <a:buSzPct val="100000"/>
              <a:buChar char="•"/>
            </a:pPr>
            <a:r>
              <a:rPr lang="en-US" sz="1300" dirty="0">
                <a:solidFill>
                  <a:srgbClr val="404040"/>
                </a:solidFill>
                <a:latin typeface="Arial" pitchFamily="34" charset="0"/>
                <a:ea typeface="Arial" pitchFamily="34" charset="-122"/>
                <a:cs typeface="Arial" pitchFamily="34" charset="-120"/>
              </a:rPr>
              <a:t>Stop never disables, the strip is the only category-0 stop; no safety rating claimed</a:t>
            </a:r>
            <a:endParaRPr lang="en-US" sz="1500" dirty="0"/>
          </a:p>
          <a:p>
            <a:pPr algn="l" marL="254000" indent="-254000">
              <a:spcAft>
                <a:spcPts val="700"/>
              </a:spcAft>
              <a:buSzPct val="100000"/>
              <a:buChar char="•"/>
            </a:pPr>
            <a:r>
              <a:rPr lang="en-US" sz="1500" dirty="0">
                <a:solidFill>
                  <a:srgbClr val="1A1A1A"/>
                </a:solidFill>
                <a:latin typeface="Arial" pitchFamily="34" charset="0"/>
                <a:ea typeface="Arial" pitchFamily="34" charset="-122"/>
                <a:cs typeface="Arial" pitchFamily="34" charset="-120"/>
              </a:rPr>
              <a:t>Success: one garment from floor to hamper with no human touch; I approve each move on the phone</a:t>
            </a:r>
            <a:endParaRPr lang="en-US" sz="1500" dirty="0"/>
          </a:p>
          <a:p>
            <a:pPr algn="l" lvl="1" marL="457200" indent="-228600">
              <a:spcAft>
                <a:spcPts val="600"/>
              </a:spcAft>
              <a:buSzPct val="100000"/>
              <a:buChar char="•"/>
            </a:pPr>
            <a:r>
              <a:rPr lang="en-US" sz="1300" dirty="0">
                <a:solidFill>
                  <a:srgbClr val="404040"/>
                </a:solidFill>
                <a:latin typeface="Arial" pitchFamily="34" charset="0"/>
                <a:ea typeface="Arial" pitchFamily="34" charset="-122"/>
                <a:cs typeface="Arial" pitchFamily="34" charset="-120"/>
              </a:rPr>
              <a:t>First gate: a 1 lb test weight; no payload or accuracy rating until measured</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p:cNvSpPr txBox="1"/>
          <p:nvPr/>
        </p:nvSpPr>
        <p:spPr>
          <a:xfrm>
            <a:off x="548640" y="274320"/>
            <a:ext cx="11094415"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Five phases in fifteen weeks</a:t>
            </a:r>
            <a:endParaRPr lang="en-US" sz="24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a:t>
            </a:r>
            <a:endParaRPr lang="en-US" sz="1000" dirty="0"/>
          </a:p>
        </p:txBody>
      </p:sp>
      <p:sp>
        <p:nvSpPr>
          <p:cNvPr id="4" name="gantt header"/>
          <p:cNvSpPr/>
          <p:nvPr/>
        </p:nvSpPr>
        <p:spPr>
          <a:xfrm>
            <a:off x="548640" y="1188720"/>
            <a:ext cx="11094415" cy="365760"/>
          </a:xfrm>
          <a:prstGeom prst="rect">
            <a:avLst/>
          </a:prstGeom>
          <a:solidFill>
            <a:srgbClr val="1F3A5F"/>
          </a:solidFill>
          <a:ln w="12700">
            <a:solidFill>
              <a:srgbClr val="1F3A5F"/>
            </a:solidFill>
            <a:prstDash val="solid"/>
          </a:ln>
        </p:spPr>
      </p:sp>
      <p:sp>
        <p:nvSpPr>
          <p:cNvPr id="5" name="label"/>
          <p:cNvSpPr txBox="1"/>
          <p:nvPr/>
        </p:nvSpPr>
        <p:spPr>
          <a:xfrm>
            <a:off x="640080" y="1188720"/>
            <a:ext cx="219456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Arial" pitchFamily="34" charset="0"/>
                <a:ea typeface="Arial" pitchFamily="34" charset="-122"/>
                <a:cs typeface="Arial" pitchFamily="34" charset="-120"/>
              </a:rPr>
              <a:t>Act</a:t>
            </a:r>
            <a:endParaRPr lang="en-US" sz="1300" dirty="0"/>
          </a:p>
        </p:txBody>
      </p:sp>
      <p:sp>
        <p:nvSpPr>
          <p:cNvPr id="6" name="label"/>
          <p:cNvSpPr txBox="1"/>
          <p:nvPr/>
        </p:nvSpPr>
        <p:spPr>
          <a:xfrm>
            <a:off x="3017520" y="1188720"/>
            <a:ext cx="141732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Arial" pitchFamily="34" charset="0"/>
                <a:ea typeface="Arial" pitchFamily="34" charset="-122"/>
                <a:cs typeface="Arial" pitchFamily="34" charset="-120"/>
              </a:rPr>
              <a:t>Dates</a:t>
            </a:r>
            <a:endParaRPr lang="en-US" sz="1300" dirty="0"/>
          </a:p>
        </p:txBody>
      </p:sp>
      <p:sp>
        <p:nvSpPr>
          <p:cNvPr id="7" name="Shape 5"/>
          <p:cNvSpPr/>
          <p:nvPr/>
        </p:nvSpPr>
        <p:spPr>
          <a:xfrm>
            <a:off x="548640" y="1975104"/>
            <a:ext cx="11094415" cy="420624"/>
          </a:xfrm>
          <a:prstGeom prst="rect">
            <a:avLst/>
          </a:prstGeom>
          <a:solidFill>
            <a:srgbClr val="F2F2F2"/>
          </a:solidFill>
          <a:ln w="12700">
            <a:solidFill>
              <a:srgbClr val="F2F2F2"/>
            </a:solidFill>
            <a:prstDash val="solid"/>
          </a:ln>
        </p:spPr>
      </p:sp>
      <p:sp>
        <p:nvSpPr>
          <p:cNvPr id="8" name="Shape 6"/>
          <p:cNvSpPr/>
          <p:nvPr/>
        </p:nvSpPr>
        <p:spPr>
          <a:xfrm>
            <a:off x="548640" y="2816352"/>
            <a:ext cx="11094415" cy="420624"/>
          </a:xfrm>
          <a:prstGeom prst="rect">
            <a:avLst/>
          </a:prstGeom>
          <a:solidFill>
            <a:srgbClr val="F2F2F2"/>
          </a:solidFill>
          <a:ln w="12700">
            <a:solidFill>
              <a:srgbClr val="F2F2F2"/>
            </a:solidFill>
            <a:prstDash val="solid"/>
          </a:ln>
        </p:spPr>
      </p:sp>
      <p:sp>
        <p:nvSpPr>
          <p:cNvPr id="9" name="label"/>
          <p:cNvSpPr txBox="1"/>
          <p:nvPr/>
        </p:nvSpPr>
        <p:spPr>
          <a:xfrm>
            <a:off x="4526280" y="1188720"/>
            <a:ext cx="1793659"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July</a:t>
            </a:r>
            <a:endParaRPr lang="en-US" sz="1300" dirty="0"/>
          </a:p>
        </p:txBody>
      </p:sp>
      <p:sp>
        <p:nvSpPr>
          <p:cNvPr id="10" name="label"/>
          <p:cNvSpPr txBox="1"/>
          <p:nvPr/>
        </p:nvSpPr>
        <p:spPr>
          <a:xfrm>
            <a:off x="6319939" y="1188720"/>
            <a:ext cx="1793659"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August</a:t>
            </a:r>
            <a:endParaRPr lang="en-US" sz="1300" dirty="0"/>
          </a:p>
        </p:txBody>
      </p:sp>
      <p:sp>
        <p:nvSpPr>
          <p:cNvPr id="11" name="Shape 9"/>
          <p:cNvSpPr/>
          <p:nvPr/>
        </p:nvSpPr>
        <p:spPr>
          <a:xfrm>
            <a:off x="6319939" y="1554480"/>
            <a:ext cx="0" cy="2103120"/>
          </a:xfrm>
          <a:prstGeom prst="line">
            <a:avLst/>
          </a:prstGeom>
          <a:noFill/>
          <a:ln w="9525">
            <a:solidFill>
              <a:srgbClr val="BFBFBF"/>
            </a:solidFill>
            <a:prstDash val="solid"/>
          </a:ln>
        </p:spPr>
      </p:sp>
      <p:sp>
        <p:nvSpPr>
          <p:cNvPr id="12" name="label"/>
          <p:cNvSpPr txBox="1"/>
          <p:nvPr/>
        </p:nvSpPr>
        <p:spPr>
          <a:xfrm>
            <a:off x="8113598" y="1188720"/>
            <a:ext cx="1735799"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September</a:t>
            </a:r>
            <a:endParaRPr lang="en-US" sz="1300" dirty="0"/>
          </a:p>
        </p:txBody>
      </p:sp>
      <p:sp>
        <p:nvSpPr>
          <p:cNvPr id="13" name="Shape 11"/>
          <p:cNvSpPr/>
          <p:nvPr/>
        </p:nvSpPr>
        <p:spPr>
          <a:xfrm>
            <a:off x="8113598" y="1554480"/>
            <a:ext cx="0" cy="2103120"/>
          </a:xfrm>
          <a:prstGeom prst="line">
            <a:avLst/>
          </a:prstGeom>
          <a:noFill/>
          <a:ln w="9525">
            <a:solidFill>
              <a:srgbClr val="BFBFBF"/>
            </a:solidFill>
            <a:prstDash val="solid"/>
          </a:ln>
        </p:spPr>
      </p:sp>
      <p:sp>
        <p:nvSpPr>
          <p:cNvPr id="14" name="label"/>
          <p:cNvSpPr txBox="1"/>
          <p:nvPr/>
        </p:nvSpPr>
        <p:spPr>
          <a:xfrm>
            <a:off x="9849396" y="1188720"/>
            <a:ext cx="1793659"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October</a:t>
            </a:r>
            <a:endParaRPr lang="en-US" sz="1300" dirty="0"/>
          </a:p>
        </p:txBody>
      </p:sp>
      <p:sp>
        <p:nvSpPr>
          <p:cNvPr id="15" name="Shape 13"/>
          <p:cNvSpPr/>
          <p:nvPr/>
        </p:nvSpPr>
        <p:spPr>
          <a:xfrm>
            <a:off x="9849396" y="1554480"/>
            <a:ext cx="0" cy="2103120"/>
          </a:xfrm>
          <a:prstGeom prst="line">
            <a:avLst/>
          </a:prstGeom>
          <a:noFill/>
          <a:ln w="9525">
            <a:solidFill>
              <a:srgbClr val="BFBFBF"/>
            </a:solidFill>
            <a:prstDash val="solid"/>
          </a:ln>
        </p:spPr>
      </p:sp>
      <p:sp>
        <p:nvSpPr>
          <p:cNvPr id="16" name="label"/>
          <p:cNvSpPr txBox="1"/>
          <p:nvPr/>
        </p:nvSpPr>
        <p:spPr>
          <a:xfrm>
            <a:off x="640080" y="1554480"/>
            <a:ext cx="2194560" cy="420624"/>
          </a:xfrm>
          <a:prstGeom prst="rect">
            <a:avLst/>
          </a:prstGeom>
          <a:noFill/>
          <a:ln/>
        </p:spPr>
        <p:txBody>
          <a:bodyPr wrap="square" lIns="0" tIns="0" rIns="0" bIns="0" rtlCol="0" anchor="ctr"/>
          <a:lstStyle/>
          <a:p>
            <a:pPr algn="l" indent="0" marL="0">
              <a:buNone/>
            </a:pPr>
            <a:r>
              <a:rPr lang="en-US" sz="1400" dirty="0">
                <a:solidFill>
                  <a:srgbClr val="1A1A1A"/>
                </a:solidFill>
                <a:latin typeface="Arial" pitchFamily="34" charset="0"/>
                <a:ea typeface="Arial" pitchFamily="34" charset="-122"/>
                <a:cs typeface="Arial" pitchFamily="34" charset="-120"/>
              </a:rPr>
              <a:t>1. Concept</a:t>
            </a:r>
            <a:endParaRPr lang="en-US" sz="1400" dirty="0"/>
          </a:p>
        </p:txBody>
      </p:sp>
      <p:sp>
        <p:nvSpPr>
          <p:cNvPr id="17" name="label"/>
          <p:cNvSpPr txBox="1"/>
          <p:nvPr/>
        </p:nvSpPr>
        <p:spPr>
          <a:xfrm>
            <a:off x="3017520" y="1554480"/>
            <a:ext cx="1417320" cy="420624"/>
          </a:xfrm>
          <a:prstGeom prst="rect">
            <a:avLst/>
          </a:prstGeom>
          <a:noFill/>
          <a:ln/>
        </p:spPr>
        <p:txBody>
          <a:bodyPr wrap="square" lIns="0" tIns="0" rIns="0" bIns="0" rtlCol="0" anchor="ctr"/>
          <a:lstStyle/>
          <a:p>
            <a:pPr algn="l" indent="0" marL="0">
              <a:buNone/>
            </a:pPr>
            <a:r>
              <a:rPr lang="en-US" sz="1400" dirty="0">
                <a:solidFill>
                  <a:srgbClr val="404040"/>
                </a:solidFill>
                <a:latin typeface="Arial" pitchFamily="34" charset="0"/>
                <a:ea typeface="Arial" pitchFamily="34" charset="-122"/>
                <a:cs typeface="Arial" pitchFamily="34" charset="-120"/>
              </a:rPr>
              <a:t>Jul 16 – Aug 5</a:t>
            </a:r>
            <a:endParaRPr lang="en-US" sz="1400" dirty="0"/>
          </a:p>
        </p:txBody>
      </p:sp>
      <p:sp>
        <p:nvSpPr>
          <p:cNvPr id="18" name="1. Concept bar"/>
          <p:cNvSpPr/>
          <p:nvPr/>
        </p:nvSpPr>
        <p:spPr>
          <a:xfrm>
            <a:off x="5394179" y="1645920"/>
            <a:ext cx="1215059" cy="237744"/>
          </a:xfrm>
          <a:prstGeom prst="rect">
            <a:avLst/>
          </a:prstGeom>
          <a:solidFill>
            <a:srgbClr val="4F6D8F"/>
          </a:solidFill>
          <a:ln w="12700">
            <a:solidFill>
              <a:srgbClr val="4F6D8F"/>
            </a:solidFill>
            <a:prstDash val="solid"/>
          </a:ln>
        </p:spPr>
      </p:sp>
      <p:sp>
        <p:nvSpPr>
          <p:cNvPr id="19" name="label"/>
          <p:cNvSpPr txBox="1"/>
          <p:nvPr/>
        </p:nvSpPr>
        <p:spPr>
          <a:xfrm>
            <a:off x="640080" y="1975104"/>
            <a:ext cx="2194560" cy="420624"/>
          </a:xfrm>
          <a:prstGeom prst="rect">
            <a:avLst/>
          </a:prstGeom>
          <a:noFill/>
          <a:ln/>
        </p:spPr>
        <p:txBody>
          <a:bodyPr wrap="square" lIns="0" tIns="0" rIns="0" bIns="0" rtlCol="0" anchor="ctr"/>
          <a:lstStyle/>
          <a:p>
            <a:pPr algn="l" indent="0" marL="0">
              <a:buNone/>
            </a:pPr>
            <a:r>
              <a:rPr lang="en-US" sz="1400" dirty="0">
                <a:solidFill>
                  <a:srgbClr val="1A1A1A"/>
                </a:solidFill>
                <a:latin typeface="Arial" pitchFamily="34" charset="0"/>
                <a:ea typeface="Arial" pitchFamily="34" charset="-122"/>
                <a:cs typeface="Arial" pitchFamily="34" charset="-120"/>
              </a:rPr>
              <a:t>2. Generation 1</a:t>
            </a:r>
            <a:endParaRPr lang="en-US" sz="1400" dirty="0"/>
          </a:p>
        </p:txBody>
      </p:sp>
      <p:sp>
        <p:nvSpPr>
          <p:cNvPr id="20" name="label"/>
          <p:cNvSpPr txBox="1"/>
          <p:nvPr/>
        </p:nvSpPr>
        <p:spPr>
          <a:xfrm>
            <a:off x="3017520" y="1975104"/>
            <a:ext cx="1417320" cy="420624"/>
          </a:xfrm>
          <a:prstGeom prst="rect">
            <a:avLst/>
          </a:prstGeom>
          <a:noFill/>
          <a:ln/>
        </p:spPr>
        <p:txBody>
          <a:bodyPr wrap="square" lIns="0" tIns="0" rIns="0" bIns="0" rtlCol="0" anchor="ctr"/>
          <a:lstStyle/>
          <a:p>
            <a:pPr algn="l" indent="0" marL="0">
              <a:buNone/>
            </a:pPr>
            <a:r>
              <a:rPr lang="en-US" sz="1400" dirty="0">
                <a:solidFill>
                  <a:srgbClr val="404040"/>
                </a:solidFill>
                <a:latin typeface="Arial" pitchFamily="34" charset="0"/>
                <a:ea typeface="Arial" pitchFamily="34" charset="-122"/>
                <a:cs typeface="Arial" pitchFamily="34" charset="-120"/>
              </a:rPr>
              <a:t>Aug 6 – Sep 2</a:t>
            </a:r>
            <a:endParaRPr lang="en-US" sz="1400" dirty="0"/>
          </a:p>
        </p:txBody>
      </p:sp>
      <p:sp>
        <p:nvSpPr>
          <p:cNvPr id="21" name="2. Generation 1 bar"/>
          <p:cNvSpPr/>
          <p:nvPr/>
        </p:nvSpPr>
        <p:spPr>
          <a:xfrm>
            <a:off x="6609239" y="2066544"/>
            <a:ext cx="1620079" cy="237744"/>
          </a:xfrm>
          <a:prstGeom prst="rect">
            <a:avLst/>
          </a:prstGeom>
          <a:solidFill>
            <a:srgbClr val="4F6D8F"/>
          </a:solidFill>
          <a:ln w="12700">
            <a:solidFill>
              <a:srgbClr val="4F6D8F"/>
            </a:solidFill>
            <a:prstDash val="solid"/>
          </a:ln>
        </p:spPr>
      </p:sp>
      <p:sp>
        <p:nvSpPr>
          <p:cNvPr id="22" name="label"/>
          <p:cNvSpPr txBox="1"/>
          <p:nvPr/>
        </p:nvSpPr>
        <p:spPr>
          <a:xfrm>
            <a:off x="640080" y="2395728"/>
            <a:ext cx="2194560" cy="420624"/>
          </a:xfrm>
          <a:prstGeom prst="rect">
            <a:avLst/>
          </a:prstGeom>
          <a:noFill/>
          <a:ln/>
        </p:spPr>
        <p:txBody>
          <a:bodyPr wrap="square" lIns="0" tIns="0" rIns="0" bIns="0" rtlCol="0" anchor="ctr"/>
          <a:lstStyle/>
          <a:p>
            <a:pPr algn="l" indent="0" marL="0">
              <a:buNone/>
            </a:pPr>
            <a:r>
              <a:rPr lang="en-US" sz="1400" dirty="0">
                <a:solidFill>
                  <a:srgbClr val="1A1A1A"/>
                </a:solidFill>
                <a:latin typeface="Arial" pitchFamily="34" charset="0"/>
                <a:ea typeface="Arial" pitchFamily="34" charset="-122"/>
                <a:cs typeface="Arial" pitchFamily="34" charset="-120"/>
              </a:rPr>
              <a:t>3. Redesign</a:t>
            </a:r>
            <a:endParaRPr lang="en-US" sz="1400" dirty="0"/>
          </a:p>
        </p:txBody>
      </p:sp>
      <p:sp>
        <p:nvSpPr>
          <p:cNvPr id="23" name="label"/>
          <p:cNvSpPr txBox="1"/>
          <p:nvPr/>
        </p:nvSpPr>
        <p:spPr>
          <a:xfrm>
            <a:off x="3017520" y="2395728"/>
            <a:ext cx="1417320" cy="420624"/>
          </a:xfrm>
          <a:prstGeom prst="rect">
            <a:avLst/>
          </a:prstGeom>
          <a:noFill/>
          <a:ln/>
        </p:spPr>
        <p:txBody>
          <a:bodyPr wrap="square" lIns="0" tIns="0" rIns="0" bIns="0" rtlCol="0" anchor="ctr"/>
          <a:lstStyle/>
          <a:p>
            <a:pPr algn="l" indent="0" marL="0">
              <a:buNone/>
            </a:pPr>
            <a:r>
              <a:rPr lang="en-US" sz="1400" dirty="0">
                <a:solidFill>
                  <a:srgbClr val="404040"/>
                </a:solidFill>
                <a:latin typeface="Arial" pitchFamily="34" charset="0"/>
                <a:ea typeface="Arial" pitchFamily="34" charset="-122"/>
                <a:cs typeface="Arial" pitchFamily="34" charset="-120"/>
              </a:rPr>
              <a:t>Sep 3 – Oct 6</a:t>
            </a:r>
            <a:endParaRPr lang="en-US" sz="1400" dirty="0"/>
          </a:p>
        </p:txBody>
      </p:sp>
      <p:sp>
        <p:nvSpPr>
          <p:cNvPr id="24" name="3. Redesign bar"/>
          <p:cNvSpPr/>
          <p:nvPr/>
        </p:nvSpPr>
        <p:spPr>
          <a:xfrm>
            <a:off x="8229318" y="2487168"/>
            <a:ext cx="1967239" cy="237744"/>
          </a:xfrm>
          <a:prstGeom prst="rect">
            <a:avLst/>
          </a:prstGeom>
          <a:solidFill>
            <a:srgbClr val="4F6D8F"/>
          </a:solidFill>
          <a:ln w="12700">
            <a:solidFill>
              <a:srgbClr val="4F6D8F"/>
            </a:solidFill>
            <a:prstDash val="solid"/>
          </a:ln>
        </p:spPr>
      </p:sp>
      <p:sp>
        <p:nvSpPr>
          <p:cNvPr id="25" name="label"/>
          <p:cNvSpPr txBox="1"/>
          <p:nvPr/>
        </p:nvSpPr>
        <p:spPr>
          <a:xfrm>
            <a:off x="640080" y="2816352"/>
            <a:ext cx="2194560" cy="420624"/>
          </a:xfrm>
          <a:prstGeom prst="rect">
            <a:avLst/>
          </a:prstGeom>
          <a:noFill/>
          <a:ln/>
        </p:spPr>
        <p:txBody>
          <a:bodyPr wrap="square" lIns="0" tIns="0" rIns="0" bIns="0" rtlCol="0" anchor="ctr"/>
          <a:lstStyle/>
          <a:p>
            <a:pPr algn="l" indent="0" marL="0">
              <a:buNone/>
            </a:pPr>
            <a:r>
              <a:rPr lang="en-US" sz="1400" dirty="0">
                <a:solidFill>
                  <a:srgbClr val="1A1A1A"/>
                </a:solidFill>
                <a:latin typeface="Arial" pitchFamily="34" charset="0"/>
                <a:ea typeface="Arial" pitchFamily="34" charset="-122"/>
                <a:cs typeface="Arial" pitchFamily="34" charset="-120"/>
              </a:rPr>
              <a:t>4. Final design</a:t>
            </a:r>
            <a:endParaRPr lang="en-US" sz="1400" dirty="0"/>
          </a:p>
        </p:txBody>
      </p:sp>
      <p:sp>
        <p:nvSpPr>
          <p:cNvPr id="26" name="label"/>
          <p:cNvSpPr txBox="1"/>
          <p:nvPr/>
        </p:nvSpPr>
        <p:spPr>
          <a:xfrm>
            <a:off x="3017520" y="2816352"/>
            <a:ext cx="1417320" cy="420624"/>
          </a:xfrm>
          <a:prstGeom prst="rect">
            <a:avLst/>
          </a:prstGeom>
          <a:noFill/>
          <a:ln/>
        </p:spPr>
        <p:txBody>
          <a:bodyPr wrap="square" lIns="0" tIns="0" rIns="0" bIns="0" rtlCol="0" anchor="ctr"/>
          <a:lstStyle/>
          <a:p>
            <a:pPr algn="l" indent="0" marL="0">
              <a:buNone/>
            </a:pPr>
            <a:r>
              <a:rPr lang="en-US" sz="1400" dirty="0">
                <a:solidFill>
                  <a:srgbClr val="404040"/>
                </a:solidFill>
                <a:latin typeface="Arial" pitchFamily="34" charset="0"/>
                <a:ea typeface="Arial" pitchFamily="34" charset="-122"/>
                <a:cs typeface="Arial" pitchFamily="34" charset="-120"/>
              </a:rPr>
              <a:t>Oct 7 – Oct 21</a:t>
            </a:r>
            <a:endParaRPr lang="en-US" sz="1400" dirty="0"/>
          </a:p>
        </p:txBody>
      </p:sp>
      <p:sp>
        <p:nvSpPr>
          <p:cNvPr id="27" name="4. Final design bar"/>
          <p:cNvSpPr/>
          <p:nvPr/>
        </p:nvSpPr>
        <p:spPr>
          <a:xfrm>
            <a:off x="10196556" y="2907792"/>
            <a:ext cx="867899" cy="237744"/>
          </a:xfrm>
          <a:prstGeom prst="rect">
            <a:avLst/>
          </a:prstGeom>
          <a:solidFill>
            <a:srgbClr val="4F6D8F"/>
          </a:solidFill>
          <a:ln w="12700">
            <a:solidFill>
              <a:srgbClr val="4F6D8F"/>
            </a:solidFill>
            <a:prstDash val="solid"/>
          </a:ln>
        </p:spPr>
      </p:sp>
      <p:sp>
        <p:nvSpPr>
          <p:cNvPr id="28" name="label"/>
          <p:cNvSpPr txBox="1"/>
          <p:nvPr/>
        </p:nvSpPr>
        <p:spPr>
          <a:xfrm>
            <a:off x="640080" y="3236976"/>
            <a:ext cx="2194560" cy="420624"/>
          </a:xfrm>
          <a:prstGeom prst="rect">
            <a:avLst/>
          </a:prstGeom>
          <a:noFill/>
          <a:ln/>
        </p:spPr>
        <p:txBody>
          <a:bodyPr wrap="square" lIns="0" tIns="0" rIns="0" bIns="0" rtlCol="0" anchor="ctr"/>
          <a:lstStyle/>
          <a:p>
            <a:pPr algn="l" indent="0" marL="0">
              <a:buNone/>
            </a:pPr>
            <a:r>
              <a:rPr lang="en-US" sz="1400" dirty="0">
                <a:solidFill>
                  <a:srgbClr val="1A1A1A"/>
                </a:solidFill>
                <a:latin typeface="Arial" pitchFamily="34" charset="0"/>
                <a:ea typeface="Arial" pitchFamily="34" charset="-122"/>
                <a:cs typeface="Arial" pitchFamily="34" charset="-120"/>
              </a:rPr>
              <a:t>5. Build and test</a:t>
            </a:r>
            <a:endParaRPr lang="en-US" sz="1400" dirty="0"/>
          </a:p>
        </p:txBody>
      </p:sp>
      <p:sp>
        <p:nvSpPr>
          <p:cNvPr id="29" name="label"/>
          <p:cNvSpPr txBox="1"/>
          <p:nvPr/>
        </p:nvSpPr>
        <p:spPr>
          <a:xfrm>
            <a:off x="3017520" y="3236976"/>
            <a:ext cx="1417320" cy="420624"/>
          </a:xfrm>
          <a:prstGeom prst="rect">
            <a:avLst/>
          </a:prstGeom>
          <a:noFill/>
          <a:ln/>
        </p:spPr>
        <p:txBody>
          <a:bodyPr wrap="square" lIns="0" tIns="0" rIns="0" bIns="0" rtlCol="0" anchor="ctr"/>
          <a:lstStyle/>
          <a:p>
            <a:pPr algn="l" indent="0" marL="0">
              <a:buNone/>
            </a:pPr>
            <a:r>
              <a:rPr lang="en-US" sz="1400" dirty="0">
                <a:solidFill>
                  <a:srgbClr val="404040"/>
                </a:solidFill>
                <a:latin typeface="Arial" pitchFamily="34" charset="0"/>
                <a:ea typeface="Arial" pitchFamily="34" charset="-122"/>
                <a:cs typeface="Arial" pitchFamily="34" charset="-120"/>
              </a:rPr>
              <a:t>Oct 22 – Oct 27</a:t>
            </a:r>
            <a:endParaRPr lang="en-US" sz="1400" dirty="0"/>
          </a:p>
        </p:txBody>
      </p:sp>
      <p:sp>
        <p:nvSpPr>
          <p:cNvPr id="30" name="5. Build and test bar"/>
          <p:cNvSpPr/>
          <p:nvPr/>
        </p:nvSpPr>
        <p:spPr>
          <a:xfrm>
            <a:off x="11064456" y="3328416"/>
            <a:ext cx="347160" cy="237744"/>
          </a:xfrm>
          <a:prstGeom prst="rect">
            <a:avLst/>
          </a:prstGeom>
          <a:solidFill>
            <a:srgbClr val="4F6D8F"/>
          </a:solidFill>
          <a:ln w="12700">
            <a:solidFill>
              <a:srgbClr val="4F6D8F"/>
            </a:solidFill>
            <a:prstDash val="solid"/>
          </a:ln>
        </p:spPr>
      </p:sp>
      <p:sp>
        <p:nvSpPr>
          <p:cNvPr id="31" name="Shape 29"/>
          <p:cNvSpPr/>
          <p:nvPr/>
        </p:nvSpPr>
        <p:spPr>
          <a:xfrm>
            <a:off x="548640" y="3657600"/>
            <a:ext cx="11094415" cy="0"/>
          </a:xfrm>
          <a:prstGeom prst="line">
            <a:avLst/>
          </a:prstGeom>
          <a:noFill/>
          <a:ln w="9525">
            <a:solidFill>
              <a:srgbClr val="BFBFBF"/>
            </a:solidFill>
            <a:prstDash val="solid"/>
          </a:ln>
        </p:spPr>
      </p:sp>
      <p:sp>
        <p:nvSpPr>
          <p:cNvPr id="32" name="milestone 1"/>
          <p:cNvSpPr/>
          <p:nvPr/>
        </p:nvSpPr>
        <p:spPr>
          <a:xfrm>
            <a:off x="9645232" y="2459736"/>
            <a:ext cx="292608" cy="292608"/>
          </a:xfrm>
          <a:prstGeom prst="diamond">
            <a:avLst/>
          </a:prstGeom>
          <a:solidFill>
            <a:srgbClr val="B23A2E"/>
          </a:solidFill>
          <a:ln w="12700">
            <a:solidFill>
              <a:srgbClr val="FFFFFF"/>
            </a:solidFill>
            <a:prstDash val="solid"/>
          </a:ln>
        </p:spPr>
      </p:sp>
      <p:sp>
        <p:nvSpPr>
          <p:cNvPr id="33" name="label"/>
          <p:cNvSpPr txBox="1"/>
          <p:nvPr/>
        </p:nvSpPr>
        <p:spPr>
          <a:xfrm>
            <a:off x="9645232" y="24597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34" name="milestone 2"/>
          <p:cNvSpPr/>
          <p:nvPr/>
        </p:nvSpPr>
        <p:spPr>
          <a:xfrm>
            <a:off x="10802432" y="2880360"/>
            <a:ext cx="292608" cy="292608"/>
          </a:xfrm>
          <a:prstGeom prst="diamond">
            <a:avLst/>
          </a:prstGeom>
          <a:solidFill>
            <a:srgbClr val="B23A2E"/>
          </a:solidFill>
          <a:ln w="12700">
            <a:solidFill>
              <a:srgbClr val="FFFFFF"/>
            </a:solidFill>
            <a:prstDash val="solid"/>
          </a:ln>
        </p:spPr>
      </p:sp>
      <p:sp>
        <p:nvSpPr>
          <p:cNvPr id="35" name="label"/>
          <p:cNvSpPr txBox="1"/>
          <p:nvPr/>
        </p:nvSpPr>
        <p:spPr>
          <a:xfrm>
            <a:off x="10802432" y="2880360"/>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36" name="milestone 3"/>
          <p:cNvSpPr/>
          <p:nvPr/>
        </p:nvSpPr>
        <p:spPr>
          <a:xfrm>
            <a:off x="10918152" y="3300984"/>
            <a:ext cx="292608" cy="292608"/>
          </a:xfrm>
          <a:prstGeom prst="diamond">
            <a:avLst/>
          </a:prstGeom>
          <a:solidFill>
            <a:srgbClr val="B23A2E"/>
          </a:solidFill>
          <a:ln w="12700">
            <a:solidFill>
              <a:srgbClr val="FFFFFF"/>
            </a:solidFill>
            <a:prstDash val="solid"/>
          </a:ln>
        </p:spPr>
      </p:sp>
      <p:sp>
        <p:nvSpPr>
          <p:cNvPr id="37" name="label"/>
          <p:cNvSpPr txBox="1"/>
          <p:nvPr/>
        </p:nvSpPr>
        <p:spPr>
          <a:xfrm>
            <a:off x="10918152" y="330098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38" name="milestone key"/>
          <p:cNvSpPr txBox="1"/>
          <p:nvPr/>
        </p:nvSpPr>
        <p:spPr>
          <a:xfrm>
            <a:off x="548640" y="3730752"/>
            <a:ext cx="11094415" cy="274320"/>
          </a:xfrm>
          <a:prstGeom prst="rect">
            <a:avLst/>
          </a:prstGeom>
          <a:noFill/>
          <a:ln/>
        </p:spPr>
        <p:txBody>
          <a:bodyPr wrap="square" lIns="0" tIns="0" rIns="0" bIns="0" rtlCol="0" anchor="ctr"/>
          <a:lstStyle/>
          <a:p>
            <a:pPr algn="l" indent="0" marL="0">
              <a:buNone/>
            </a:pPr>
            <a:r>
              <a:rPr lang="en-US" sz="1200" dirty="0">
                <a:solidFill>
                  <a:srgbClr val="404040"/>
                </a:solidFill>
                <a:latin typeface="Arial" pitchFamily="34" charset="0"/>
                <a:ea typeface="Arial" pitchFamily="34" charset="-122"/>
                <a:cs typeface="Arial" pitchFamily="34" charset="-120"/>
              </a:rPr>
              <a:t>1  Sep 30: first clamp's jaws cannot close on thin cloth     2  Oct 20: v6 clamp is 4.6 times its mass budget in CAD     3  Oct 22: drivers at 1.5 A; claw weighed</a:t>
            </a:r>
            <a:endParaRPr lang="en-US" sz="1200" dirty="0"/>
          </a:p>
        </p:txBody>
      </p:sp>
      <p:sp>
        <p:nvSpPr>
          <p:cNvPr id="39" name="scope"/>
          <p:cNvSpPr txBox="1"/>
          <p:nvPr/>
        </p:nvSpPr>
        <p:spPr>
          <a:xfrm>
            <a:off x="548640" y="4206240"/>
            <a:ext cx="11094415" cy="2011680"/>
          </a:xfrm>
          <a:prstGeom prst="rect">
            <a:avLst/>
          </a:prstGeom>
          <a:noFill/>
          <a:ln/>
        </p:spPr>
        <p:txBody>
          <a:bodyPr wrap="square" lIns="25400" tIns="0" rIns="50800" bIns="25400" rtlCol="0" anchor="t"/>
          <a:lstStyle/>
          <a:p>
            <a:pPr algn="l" marL="254000" indent="-254000">
              <a:spcAft>
                <a:spcPts val="700"/>
              </a:spcAft>
              <a:buSzPct val="100000"/>
              <a:buChar char="•"/>
            </a:pPr>
            <a:r>
              <a:rPr lang="en-US" sz="1600" dirty="0">
                <a:solidFill>
                  <a:srgbClr val="1A1A1A"/>
                </a:solidFill>
                <a:latin typeface="Arial" pitchFamily="34" charset="0"/>
                <a:ea typeface="Arial" pitchFamily="34" charset="-122"/>
                <a:cs typeface="Arial" pitchFamily="34" charset="-120"/>
              </a:rPr>
              <a:t>Mine: requirements, design decisions, the SolidWorks station and claw, printing, machining, wiring and bring-up</a:t>
            </a:r>
            <a:endParaRPr lang="en-US" sz="1600" dirty="0"/>
          </a:p>
          <a:p>
            <a:pPr algn="l" marL="254000" indent="-254000">
              <a:spcAft>
                <a:spcPts val="700"/>
              </a:spcAft>
              <a:buSzPct val="100000"/>
              <a:buChar char="•"/>
            </a:pPr>
            <a:r>
              <a:rPr lang="en-US" sz="1600" dirty="0">
                <a:solidFill>
                  <a:srgbClr val="1A1A1A"/>
                </a:solidFill>
                <a:latin typeface="Arial" pitchFamily="34" charset="0"/>
                <a:ea typeface="Arial" pitchFamily="34" charset="-122"/>
                <a:cs typeface="Arial" pitchFamily="34" charset="-120"/>
              </a:rPr>
              <a:t>With Claude Code, under my direction: the control software, calculation scripts and CAD checks</a:t>
            </a:r>
            <a:endParaRPr lang="en-US" sz="1600" dirty="0"/>
          </a:p>
          <a:p>
            <a:pPr algn="l" marL="254000" indent="-254000">
              <a:spcAft>
                <a:spcPts val="700"/>
              </a:spcAft>
              <a:buSzPct val="100000"/>
              <a:buChar char="•"/>
            </a:pPr>
            <a:r>
              <a:rPr lang="en-US" sz="1600" dirty="0">
                <a:solidFill>
                  <a:srgbClr val="1A1A1A"/>
                </a:solidFill>
                <a:latin typeface="Arial" pitchFamily="34" charset="0"/>
                <a:ea typeface="Arial" pitchFamily="34" charset="-122"/>
                <a:cs typeface="Arial" pitchFamily="34" charset="-120"/>
              </a:rPr>
              <a:t>Purchased: steppers, drivers, controller boards, servo, camera, battery and encoder boards</a:t>
            </a:r>
            <a:endParaRPr lang="en-US" sz="1600" dirty="0"/>
          </a:p>
          <a:p>
            <a:pPr algn="l" marL="254000" indent="-254000">
              <a:spcAft>
                <a:spcPts val="700"/>
              </a:spcAft>
              <a:buSzPct val="100000"/>
              <a:buChar char="•"/>
            </a:pPr>
            <a:r>
              <a:rPr lang="en-US" sz="1600" dirty="0">
                <a:solidFill>
                  <a:srgbClr val="1A1A1A"/>
                </a:solidFill>
                <a:latin typeface="Arial" pitchFamily="34" charset="0"/>
                <a:ea typeface="Arial" pitchFamily="34" charset="-122"/>
                <a:cs typeface="Arial" pitchFamily="34" charset="-120"/>
              </a:rPr>
              <a:t>Self-imposed limits: a hobby budget (about $640 spent, $220–260 of it in the robot), a 450 g claw, 60 °C for loaded printed parts, and a build week that ends on presentation day</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itle"/>
          <p:cNvSpPr txBox="1"/>
          <p:nvPr/>
        </p:nvSpPr>
        <p:spPr>
          <a:xfrm>
            <a:off x="548640" y="274320"/>
            <a:ext cx="11094415"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Why a cable robot: four winches cover the whole floor with nothing in the room</a:t>
            </a:r>
            <a:endParaRPr lang="en-US" sz="24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1 of 5: Concept (July)</a:t>
            </a:r>
            <a:endParaRPr lang="en-US" sz="1000" dirty="0"/>
          </a:p>
        </p:txBody>
      </p:sp>
      <p:pic>
        <p:nvPicPr>
          <p:cNvPr id="4" name="Cable robot geometry" descr="Cable robot geometry">    </p:cNvPr>
          <p:cNvPicPr>
            <a:picLocks noChangeAspect="1"/>
          </p:cNvPicPr>
          <p:nvPr/>
        </p:nvPicPr>
        <p:blipFill>
          <a:blip r:embed="rId1"/>
          <a:stretch>
            <a:fillRect/>
          </a:stretch>
        </p:blipFill>
        <p:spPr>
          <a:xfrm>
            <a:off x="1165860" y="1188720"/>
            <a:ext cx="4617720" cy="4617720"/>
          </a:xfrm>
          <a:prstGeom prst="rect">
            <a:avLst/>
          </a:prstGeom>
        </p:spPr>
      </p:pic>
      <p:sp>
        <p:nvSpPr>
          <p:cNvPr id="5" name="caption"/>
          <p:cNvSpPr txBox="1"/>
          <p:nvPr/>
        </p:nvSpPr>
        <p:spPr>
          <a:xfrm>
            <a:off x="548640" y="5897880"/>
            <a:ext cx="585216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Cables from the ceiling anchors a</a:t>
            </a:r>
            <a:pPr indent="0" marL="0">
              <a:buNone/>
            </a:pPr>
            <a:r>
              <a:rPr lang="en-US" sz="1100" baseline="-40000" dirty="0">
                <a:solidFill>
                  <a:srgbClr val="7F7F7F"/>
                </a:solidFill>
                <a:latin typeface="Arial" pitchFamily="34" charset="0"/>
                <a:ea typeface="Arial" pitchFamily="34" charset="-122"/>
                <a:cs typeface="Arial" pitchFamily="34" charset="-120"/>
              </a:rPr>
              <a:t>1</a:t>
            </a:r>
            <a:pPr indent="0" marL="0">
              <a:buNone/>
            </a:pPr>
            <a:r>
              <a:rPr lang="en-US" sz="1100" dirty="0">
                <a:solidFill>
                  <a:srgbClr val="7F7F7F"/>
                </a:solidFill>
                <a:latin typeface="Arial" pitchFamily="34" charset="0"/>
                <a:ea typeface="Arial" pitchFamily="34" charset="-122"/>
                <a:cs typeface="Arial" pitchFamily="34" charset="-120"/>
              </a:rPr>
              <a:t> to a</a:t>
            </a:r>
            <a:pPr indent="0" marL="0">
              <a:buNone/>
            </a:pPr>
            <a:r>
              <a:rPr lang="en-US" sz="1100" baseline="-40000" dirty="0">
                <a:solidFill>
                  <a:srgbClr val="7F7F7F"/>
                </a:solidFill>
                <a:latin typeface="Arial" pitchFamily="34" charset="0"/>
                <a:ea typeface="Arial" pitchFamily="34" charset="-122"/>
                <a:cs typeface="Arial" pitchFamily="34" charset="-120"/>
              </a:rPr>
              <a:t>4</a:t>
            </a:r>
            <a:pPr indent="0" marL="0">
              <a:buNone/>
            </a:pPr>
            <a:r>
              <a:rPr lang="en-US" sz="1100" dirty="0">
                <a:solidFill>
                  <a:srgbClr val="7F7F7F"/>
                </a:solidFill>
                <a:latin typeface="Arial" pitchFamily="34" charset="0"/>
                <a:ea typeface="Arial" pitchFamily="34" charset="-122"/>
                <a:cs typeface="Arial" pitchFamily="34" charset="-120"/>
              </a:rPr>
              <a:t> to the claw at p</a:t>
            </a:r>
            <a:endParaRPr lang="en-US" sz="1100" dirty="0"/>
          </a:p>
        </p:txBody>
      </p:sp>
      <p:graphicFrame>
        <p:nvGraphicFramePr>
          <p:cNvPr id="6" name="concept comparison"/>
          <p:cNvGraphicFramePr>
            <a:graphicFrameLocks noGrp="1"/>
          </p:cNvGraphicFramePr>
          <p:nvPr>
            <p:extLst>
              <p:ext uri="{D42A27DB-BD31-4B8C-83A1-F6EECF244321}">
                <p14:modId xmlns:p14="http://schemas.microsoft.com/office/powerpoint/2010/main" val="1579011935"/>
              </p:ext>
            </p:extLst>
          </p:nvPr>
        </p:nvGraphicFramePr>
        <p:xfrm>
          <a:off x="6812280" y="1280160"/>
          <a:ext cx="4830775" cy="914400"/>
        </p:xfrm>
        <a:graphic>
          <a:graphicData uri="http://schemas.openxmlformats.org/drawingml/2006/table">
            <a:tbl>
              <a:tblPr/>
              <a:tblGrid>
                <a:gridCol w="1352617"/>
                <a:gridCol w="1159386"/>
                <a:gridCol w="1159386"/>
                <a:gridCol w="1159386"/>
              </a:tblGrid>
              <a:tr h="502920">
                <a:tc>
                  <a:txBody>
                    <a:bodyPr/>
                    <a:lstStyle/>
                    <a:p>
                      <a:pPr indent="0" marL="0">
                        <a:buNone/>
                      </a:pP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Floor robot</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Gantry</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Cable robot</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502920">
                <a:tc>
                  <a:txBody>
                    <a:bodyPr/>
                    <a:lstStyle/>
                    <a:p>
                      <a:pPr indent="0" marL="0">
                        <a:buNone/>
                      </a:pPr>
                      <a:r>
                        <a:rPr lang="en-US" sz="1200" b="1" dirty="0">
                          <a:solidFill>
                            <a:srgbClr val="1A1A1A"/>
                          </a:solidFill>
                          <a:latin typeface="Arial" pitchFamily="34" charset="0"/>
                          <a:ea typeface="Arial" pitchFamily="34" charset="-122"/>
                          <a:cs typeface="Arial" pitchFamily="34" charset="-120"/>
                        </a:rPr>
                        <a:t>Whole floor</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Furniture blocks it</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Yes</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Yes</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02920">
                <a:tc>
                  <a:txBody>
                    <a:bodyPr/>
                    <a:lstStyle/>
                    <a:p>
                      <a:pPr indent="0" marL="0">
                        <a:buNone/>
                      </a:pPr>
                      <a:r>
                        <a:rPr lang="en-US" sz="1200" b="1" dirty="0">
                          <a:solidFill>
                            <a:srgbClr val="1A1A1A"/>
                          </a:solidFill>
                          <a:latin typeface="Arial" pitchFamily="34" charset="0"/>
                          <a:ea typeface="Arial" pitchFamily="34" charset="-122"/>
                          <a:cs typeface="Arial" pitchFamily="34" charset="-120"/>
                        </a:rPr>
                        <a:t>Floor left clear</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No</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Frame spans the room</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Yes</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02920">
                <a:tc>
                  <a:txBody>
                    <a:bodyPr/>
                    <a:lstStyle/>
                    <a:p>
                      <a:pPr indent="0" marL="0">
                        <a:buNone/>
                      </a:pPr>
                      <a:r>
                        <a:rPr lang="en-US" sz="1200" b="1" dirty="0">
                          <a:solidFill>
                            <a:srgbClr val="1A1A1A"/>
                          </a:solidFill>
                          <a:latin typeface="Arial" pitchFamily="34" charset="0"/>
                          <a:ea typeface="Arial" pitchFamily="34" charset="-122"/>
                          <a:cs typeface="Arial" pitchFamily="34" charset="-120"/>
                        </a:rPr>
                        <a:t>Moving mass</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Whole robot</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Heavy beam</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0.6 kg claw</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7" name="concept bullets"/>
          <p:cNvSpPr txBox="1"/>
          <p:nvPr/>
        </p:nvSpPr>
        <p:spPr>
          <a:xfrm>
            <a:off x="6812280" y="3520440"/>
            <a:ext cx="4830775" cy="2560320"/>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Chosen: four ceiling winches and one claw</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The cost: cables only pull, so cable tension sets the working space</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itle"/>
          <p:cNvSpPr txBox="1"/>
          <p:nvPr/>
        </p:nvSpPr>
        <p:spPr>
          <a:xfrm>
            <a:off x="548640" y="274320"/>
            <a:ext cx="9567367"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The first physics: cable tension climbs toward the ceiling</a:t>
            </a:r>
            <a:endParaRPr lang="en-US" sz="2400" dirty="0"/>
          </a:p>
        </p:txBody>
      </p:sp>
      <p:sp>
        <p:nvSpPr>
          <p:cNvPr id="3" name="tag CALCULATED"/>
          <p:cNvSpPr txBox="1"/>
          <p:nvPr/>
        </p:nvSpPr>
        <p:spPr>
          <a:xfrm>
            <a:off x="10408615" y="530352"/>
            <a:ext cx="1234440" cy="256032"/>
          </a:xfrm>
          <a:prstGeom prst="roundRect">
            <a:avLst>
              <a:gd name="adj" fmla="val 50000"/>
            </a:avLst>
          </a:prstGeom>
          <a:solidFill>
            <a:srgbClr val="FFFFFF"/>
          </a:solidFill>
          <a:ln w="12700">
            <a:solidFill>
              <a:srgbClr val="1F3A5F"/>
            </a:solidFill>
          </a:ln>
        </p:spPr>
        <p:txBody>
          <a:bodyPr wrap="square" lIns="0" tIns="0" rIns="0" bIns="0" rtlCol="0" anchor="ctr"/>
          <a:lstStyle/>
          <a:p>
            <a:pPr algn="ctr" indent="0" marL="0">
              <a:buNone/>
            </a:pPr>
            <a:r>
              <a:rPr lang="en-US" sz="900" b="1" spc="120" kern="0" dirty="0">
                <a:solidFill>
                  <a:srgbClr val="1F3A5F"/>
                </a:solidFill>
                <a:latin typeface="Arial" pitchFamily="34" charset="0"/>
                <a:ea typeface="Arial" pitchFamily="34" charset="-122"/>
                <a:cs typeface="Arial" pitchFamily="34" charset="-120"/>
              </a:rPr>
              <a:t>CALCULATED</a:t>
            </a:r>
            <a:endParaRPr lang="en-US" sz="900" dirty="0"/>
          </a:p>
        </p:txBody>
      </p:sp>
      <p:sp>
        <p:nvSpPr>
          <p:cNvPr id="4"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1 of 5: Concept (July)</a:t>
            </a:r>
            <a:endParaRPr lang="en-US" sz="1000" dirty="0"/>
          </a:p>
        </p:txBody>
      </p:sp>
      <p:pic>
        <p:nvPicPr>
          <p:cNvPr id="5" name="Chart from the calculation sheet: Cable " descr="Chart from the calculation sheet: Cable tension">    </p:cNvPr>
          <p:cNvPicPr>
            <a:picLocks noChangeAspect="1"/>
          </p:cNvPicPr>
          <p:nvPr/>
        </p:nvPicPr>
        <p:blipFill>
          <a:blip r:embed="rId1"/>
          <a:stretch>
            <a:fillRect/>
          </a:stretch>
        </p:blipFill>
        <p:spPr>
          <a:xfrm>
            <a:off x="548640" y="1188720"/>
            <a:ext cx="6400800" cy="4405924"/>
          </a:xfrm>
          <a:prstGeom prst="rect">
            <a:avLst/>
          </a:prstGeom>
        </p:spPr>
      </p:pic>
      <p:sp>
        <p:nvSpPr>
          <p:cNvPr id="6" name="caption"/>
          <p:cNvSpPr txBox="1"/>
          <p:nvPr/>
        </p:nvSpPr>
        <p:spPr>
          <a:xfrm>
            <a:off x="548640" y="5667796"/>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Calculated (calc sheet: Cable tension)</a:t>
            </a:r>
            <a:endParaRPr lang="en-US" sz="1100" dirty="0"/>
          </a:p>
        </p:txBody>
      </p:sp>
      <p:sp>
        <p:nvSpPr>
          <p:cNvPr id="7" name="bullets"/>
          <p:cNvSpPr txBox="1"/>
          <p:nvPr/>
        </p:nvSpPr>
        <p:spPr>
          <a:xfrm>
            <a:off x="7360920" y="1234440"/>
            <a:ext cx="4282135" cy="3337560"/>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Weighed claw plus 1 lb, centred 0.4 m below the anchors: 14.3 N static, 17.2 N at 2 m/s²</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That is at the 16.8 N winch limit; with jeans the claw must stay at least 0.6 m below the anchors</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The planner checks every cable at every path point against the measured pull limit</a:t>
            </a:r>
            <a:endParaRPr lang="en-US" sz="1700" dirty="0"/>
          </a:p>
        </p:txBody>
      </p:sp>
      <p:sp>
        <p:nvSpPr>
          <p:cNvPr id="8" name="equation box"/>
          <p:cNvSpPr/>
          <p:nvPr/>
        </p:nvSpPr>
        <p:spPr>
          <a:xfrm>
            <a:off x="7360920" y="4754880"/>
            <a:ext cx="4282135" cy="1417320"/>
          </a:xfrm>
          <a:prstGeom prst="rect">
            <a:avLst/>
          </a:prstGeom>
          <a:solidFill>
            <a:srgbClr val="F7F8FA"/>
          </a:solidFill>
          <a:ln w="12700">
            <a:solidFill>
              <a:srgbClr val="1F3A5F"/>
            </a:solidFill>
            <a:prstDash val="solid"/>
          </a:ln>
        </p:spPr>
      </p:sp>
      <p:sp>
        <p:nvSpPr>
          <p:cNvPr id="9" name="equation title"/>
          <p:cNvSpPr txBox="1"/>
          <p:nvPr/>
        </p:nvSpPr>
        <p:spPr>
          <a:xfrm>
            <a:off x="7507224" y="4828032"/>
            <a:ext cx="3989527" cy="219456"/>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Tension per cable, 1 lb test at 0.4 m</a:t>
            </a:r>
            <a:endParaRPr lang="en-US" sz="1100" dirty="0"/>
          </a:p>
        </p:txBody>
      </p:sp>
      <p:sp>
        <p:nvSpPr>
          <p:cNvPr id="10" name="equations"/>
          <p:cNvSpPr txBox="1"/>
          <p:nvPr/>
        </p:nvSpPr>
        <p:spPr>
          <a:xfrm>
            <a:off x="7507224" y="5084064"/>
            <a:ext cx="3989527" cy="1033272"/>
          </a:xfrm>
          <a:prstGeom prst="rect">
            <a:avLst/>
          </a:prstGeom>
          <a:noFill/>
          <a:ln/>
        </p:spPr>
        <p:txBody>
          <a:bodyPr wrap="square" lIns="0" tIns="0" rIns="0" bIns="0" rtlCol="0" anchor="t"/>
          <a:lstStyle/>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T = m (g + a) / (4 sin φ)</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1.054 × 11.81 / (4 × 0.181)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17.2 N</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Winch limit: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16.8 N</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tle"/>
          <p:cNvSpPr txBox="1"/>
          <p:nvPr/>
        </p:nvSpPr>
        <p:spPr>
          <a:xfrm>
            <a:off x="548640" y="274320"/>
            <a:ext cx="11094415"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July's choices, and what each one cost later</a:t>
            </a:r>
            <a:endParaRPr lang="en-US" sz="24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1 of 5: Concept (July)</a:t>
            </a:r>
            <a:endParaRPr lang="en-US" sz="1000" dirty="0"/>
          </a:p>
        </p:txBody>
      </p:sp>
      <p:sp>
        <p:nvSpPr>
          <p:cNvPr id="4" name="card NEMA 17 steppers"/>
          <p:cNvSpPr/>
          <p:nvPr/>
        </p:nvSpPr>
        <p:spPr>
          <a:xfrm>
            <a:off x="548640" y="1188720"/>
            <a:ext cx="3545738" cy="4937760"/>
          </a:xfrm>
          <a:prstGeom prst="rect">
            <a:avLst/>
          </a:prstGeom>
          <a:solidFill>
            <a:srgbClr val="F2F2F2"/>
          </a:solidFill>
          <a:ln w="12700">
            <a:solidFill>
              <a:srgbClr val="F2F2F2"/>
            </a:solidFill>
            <a:prstDash val="solid"/>
          </a:ln>
        </p:spPr>
      </p:sp>
      <p:sp>
        <p:nvSpPr>
          <p:cNvPr id="5" name="card eyebrow"/>
          <p:cNvSpPr txBox="1"/>
          <p:nvPr/>
        </p:nvSpPr>
        <p:spPr>
          <a:xfrm>
            <a:off x="777240" y="1371600"/>
            <a:ext cx="3088538" cy="228600"/>
          </a:xfrm>
          <a:prstGeom prst="rect">
            <a:avLst/>
          </a:prstGeom>
          <a:noFill/>
          <a:ln/>
        </p:spPr>
        <p:txBody>
          <a:bodyPr wrap="square" lIns="0" tIns="0" rIns="0" bIns="0" rtlCol="0" anchor="ctr"/>
          <a:lstStyle/>
          <a:p>
            <a:pPr algn="l" indent="0" marL="0">
              <a:buNone/>
            </a:pPr>
            <a:r>
              <a:rPr lang="en-US" sz="1000" b="1" dirty="0">
                <a:solidFill>
                  <a:srgbClr val="7F7F7F"/>
                </a:solidFill>
                <a:latin typeface="Arial" pitchFamily="34" charset="0"/>
                <a:ea typeface="Arial" pitchFamily="34" charset="-122"/>
                <a:cs typeface="Arial" pitchFamily="34" charset="-120"/>
              </a:rPr>
              <a:t>WINCH MOTOR</a:t>
            </a:r>
            <a:endParaRPr lang="en-US" sz="1000" dirty="0"/>
          </a:p>
        </p:txBody>
      </p:sp>
      <p:sp>
        <p:nvSpPr>
          <p:cNvPr id="6" name="card title"/>
          <p:cNvSpPr txBox="1"/>
          <p:nvPr/>
        </p:nvSpPr>
        <p:spPr>
          <a:xfrm>
            <a:off x="777240" y="1600200"/>
            <a:ext cx="3088538" cy="685800"/>
          </a:xfrm>
          <a:prstGeom prst="rect">
            <a:avLst/>
          </a:prstGeom>
          <a:noFill/>
          <a:ln/>
        </p:spPr>
        <p:txBody>
          <a:bodyPr wrap="square" lIns="0" tIns="0" rIns="0" bIns="0" rtlCol="0" anchor="t"/>
          <a:lstStyle/>
          <a:p>
            <a:pPr algn="l" indent="0" marL="0">
              <a:buNone/>
            </a:pPr>
            <a:r>
              <a:rPr lang="en-US" sz="1900" b="1" dirty="0">
                <a:solidFill>
                  <a:srgbClr val="1F3A5F"/>
                </a:solidFill>
                <a:latin typeface="Arial" pitchFamily="34" charset="0"/>
                <a:ea typeface="Arial" pitchFamily="34" charset="-122"/>
                <a:cs typeface="Arial" pitchFamily="34" charset="-120"/>
              </a:rPr>
              <a:t>NEMA 17 steppers</a:t>
            </a:r>
            <a:endParaRPr lang="en-US" sz="1900" dirty="0"/>
          </a:p>
        </p:txBody>
      </p:sp>
      <p:sp>
        <p:nvSpPr>
          <p:cNvPr id="7" name="card label"/>
          <p:cNvSpPr txBox="1"/>
          <p:nvPr/>
        </p:nvSpPr>
        <p:spPr>
          <a:xfrm>
            <a:off x="777240" y="2377440"/>
            <a:ext cx="3088538" cy="228600"/>
          </a:xfrm>
          <a:prstGeom prst="rect">
            <a:avLst/>
          </a:prstGeom>
          <a:noFill/>
          <a:ln/>
        </p:spPr>
        <p:txBody>
          <a:bodyPr wrap="square" lIns="0" tIns="0" rIns="0" bIns="0" rtlCol="0" anchor="ctr"/>
          <a:lstStyle/>
          <a:p>
            <a:pPr algn="l" indent="0" marL="0">
              <a:buNone/>
            </a:pPr>
            <a:r>
              <a:rPr lang="en-US" sz="1000" b="1" dirty="0">
                <a:solidFill>
                  <a:srgbClr val="7F7F7F"/>
                </a:solidFill>
                <a:latin typeface="Arial" pitchFamily="34" charset="0"/>
                <a:ea typeface="Arial" pitchFamily="34" charset="-122"/>
                <a:cs typeface="Arial" pitchFamily="34" charset="-120"/>
              </a:rPr>
              <a:t>CHOSEN BECAUSE</a:t>
            </a:r>
            <a:endParaRPr lang="en-US" sz="1000" dirty="0"/>
          </a:p>
        </p:txBody>
      </p:sp>
      <p:sp>
        <p:nvSpPr>
          <p:cNvPr id="8" name="card why"/>
          <p:cNvSpPr txBox="1"/>
          <p:nvPr/>
        </p:nvSpPr>
        <p:spPr>
          <a:xfrm>
            <a:off x="777240" y="2606040"/>
            <a:ext cx="3088538" cy="1600200"/>
          </a:xfrm>
          <a:prstGeom prst="rect">
            <a:avLst/>
          </a:prstGeom>
          <a:noFill/>
          <a:ln/>
        </p:spPr>
        <p:txBody>
          <a:bodyPr wrap="square" lIns="25400" tIns="0" rIns="50800" bIns="25400" rtlCol="0" anchor="t"/>
          <a:lstStyle/>
          <a:p>
            <a:pPr algn="l" marL="254000" indent="-254000">
              <a:spcAft>
                <a:spcPts val="600"/>
              </a:spcAft>
              <a:buSzPct val="100000"/>
              <a:buChar char="•"/>
            </a:pPr>
            <a:r>
              <a:rPr lang="en-US" sz="1500" dirty="0">
                <a:solidFill>
                  <a:srgbClr val="1A1A1A"/>
                </a:solidFill>
                <a:latin typeface="Arial" pitchFamily="34" charset="0"/>
                <a:ea typeface="Arial" pitchFamily="34" charset="-122"/>
                <a:cs typeface="Arial" pitchFamily="34" charset="-120"/>
              </a:rPr>
              <a:t>Cheap, and one shield drives all four</a:t>
            </a:r>
            <a:endParaRPr lang="en-US" sz="1500" dirty="0"/>
          </a:p>
          <a:p>
            <a:pPr algn="l" marL="254000" indent="-254000">
              <a:spcAft>
                <a:spcPts val="600"/>
              </a:spcAft>
              <a:buSzPct val="100000"/>
              <a:buChar char="•"/>
            </a:pPr>
            <a:r>
              <a:rPr lang="en-US" sz="1500" dirty="0">
                <a:solidFill>
                  <a:srgbClr val="1A1A1A"/>
                </a:solidFill>
                <a:latin typeface="Arial" pitchFamily="34" charset="0"/>
                <a:ea typeface="Arial" pitchFamily="34" charset="-122"/>
                <a:cs typeface="Arial" pitchFamily="34" charset="-120"/>
              </a:rPr>
              <a:t>Holds position without a feedback loop</a:t>
            </a:r>
            <a:endParaRPr lang="en-US" sz="1500" dirty="0"/>
          </a:p>
        </p:txBody>
      </p:sp>
      <p:sp>
        <p:nvSpPr>
          <p:cNvPr id="9" name="card label"/>
          <p:cNvSpPr txBox="1"/>
          <p:nvPr/>
        </p:nvSpPr>
        <p:spPr>
          <a:xfrm>
            <a:off x="777240" y="4251960"/>
            <a:ext cx="3088538" cy="228600"/>
          </a:xfrm>
          <a:prstGeom prst="rect">
            <a:avLst/>
          </a:prstGeom>
          <a:noFill/>
          <a:ln/>
        </p:spPr>
        <p:txBody>
          <a:bodyPr wrap="square" lIns="0" tIns="0" rIns="0" bIns="0" rtlCol="0" anchor="ctr"/>
          <a:lstStyle/>
          <a:p>
            <a:pPr algn="l" indent="0" marL="0">
              <a:buNone/>
            </a:pPr>
            <a:r>
              <a:rPr lang="en-US" sz="1000" b="1" dirty="0">
                <a:solidFill>
                  <a:srgbClr val="B23A2E"/>
                </a:solidFill>
                <a:latin typeface="Arial" pitchFamily="34" charset="0"/>
                <a:ea typeface="Arial" pitchFamily="34" charset="-122"/>
                <a:cs typeface="Arial" pitchFamily="34" charset="-120"/>
              </a:rPr>
              <a:t>WHAT IT COST LATER</a:t>
            </a:r>
            <a:endParaRPr lang="en-US" sz="1000" dirty="0"/>
          </a:p>
        </p:txBody>
      </p:sp>
      <p:sp>
        <p:nvSpPr>
          <p:cNvPr id="10" name="card cost"/>
          <p:cNvSpPr txBox="1"/>
          <p:nvPr/>
        </p:nvSpPr>
        <p:spPr>
          <a:xfrm>
            <a:off x="777240" y="4480560"/>
            <a:ext cx="3088538" cy="1554480"/>
          </a:xfrm>
          <a:prstGeom prst="rect">
            <a:avLst/>
          </a:prstGeom>
          <a:noFill/>
          <a:ln/>
        </p:spPr>
        <p:txBody>
          <a:bodyPr wrap="square" lIns="25400" tIns="0" rIns="50800" bIns="25400" rtlCol="0" anchor="t"/>
          <a:lstStyle/>
          <a:p>
            <a:pPr algn="l" marL="254000" indent="-254000">
              <a:spcAft>
                <a:spcPts val="600"/>
              </a:spcAft>
              <a:buSzPct val="100000"/>
              <a:buChar char="•"/>
            </a:pPr>
            <a:r>
              <a:rPr lang="en-US" sz="1500" dirty="0">
                <a:solidFill>
                  <a:srgbClr val="1A1A1A"/>
                </a:solidFill>
                <a:latin typeface="Arial" pitchFamily="34" charset="0"/>
                <a:ea typeface="Arial" pitchFamily="34" charset="-122"/>
                <a:cs typeface="Arial" pitchFamily="34" charset="-120"/>
              </a:rPr>
              <a:t>No brake: it holds only while powered, so a power loss drops the claw</a:t>
            </a:r>
            <a:endParaRPr lang="en-US" sz="1500" dirty="0"/>
          </a:p>
          <a:p>
            <a:pPr algn="l" marL="254000" indent="-254000">
              <a:spcAft>
                <a:spcPts val="600"/>
              </a:spcAft>
              <a:buSzPct val="100000"/>
              <a:buChar char="•"/>
            </a:pPr>
            <a:r>
              <a:rPr lang="en-US" sz="1500" dirty="0">
                <a:solidFill>
                  <a:srgbClr val="1A1A1A"/>
                </a:solidFill>
                <a:latin typeface="Arial" pitchFamily="34" charset="0"/>
                <a:ea typeface="Arial" pitchFamily="34" charset="-122"/>
                <a:cs typeface="Arial" pitchFamily="34" charset="-120"/>
              </a:rPr>
              <a:t>Runs hot: holding current is heat, 4.05 W per motor at 1.5 A</a:t>
            </a:r>
            <a:endParaRPr lang="en-US" sz="1500" dirty="0"/>
          </a:p>
        </p:txBody>
      </p:sp>
      <p:sp>
        <p:nvSpPr>
          <p:cNvPr id="11" name="card One central unit"/>
          <p:cNvSpPr/>
          <p:nvPr/>
        </p:nvSpPr>
        <p:spPr>
          <a:xfrm>
            <a:off x="4322978" y="1188720"/>
            <a:ext cx="3545738" cy="4937760"/>
          </a:xfrm>
          <a:prstGeom prst="rect">
            <a:avLst/>
          </a:prstGeom>
          <a:solidFill>
            <a:srgbClr val="F2F2F2"/>
          </a:solidFill>
          <a:ln w="12700">
            <a:solidFill>
              <a:srgbClr val="F2F2F2"/>
            </a:solidFill>
            <a:prstDash val="solid"/>
          </a:ln>
        </p:spPr>
      </p:sp>
      <p:sp>
        <p:nvSpPr>
          <p:cNvPr id="12" name="card eyebrow"/>
          <p:cNvSpPr txBox="1"/>
          <p:nvPr/>
        </p:nvSpPr>
        <p:spPr>
          <a:xfrm>
            <a:off x="4551578" y="1371600"/>
            <a:ext cx="3088538" cy="228600"/>
          </a:xfrm>
          <a:prstGeom prst="rect">
            <a:avLst/>
          </a:prstGeom>
          <a:noFill/>
          <a:ln/>
        </p:spPr>
        <p:txBody>
          <a:bodyPr wrap="square" lIns="0" tIns="0" rIns="0" bIns="0" rtlCol="0" anchor="ctr"/>
          <a:lstStyle/>
          <a:p>
            <a:pPr algn="l" indent="0" marL="0">
              <a:buNone/>
            </a:pPr>
            <a:r>
              <a:rPr lang="en-US" sz="1000" b="1" dirty="0">
                <a:solidFill>
                  <a:srgbClr val="7F7F7F"/>
                </a:solidFill>
                <a:latin typeface="Arial" pitchFamily="34" charset="0"/>
                <a:ea typeface="Arial" pitchFamily="34" charset="-122"/>
                <a:cs typeface="Arial" pitchFamily="34" charset="-120"/>
              </a:rPr>
              <a:t>ITERATION 1 ARCHITECTURE</a:t>
            </a:r>
            <a:endParaRPr lang="en-US" sz="1000" dirty="0"/>
          </a:p>
        </p:txBody>
      </p:sp>
      <p:sp>
        <p:nvSpPr>
          <p:cNvPr id="13" name="card title"/>
          <p:cNvSpPr txBox="1"/>
          <p:nvPr/>
        </p:nvSpPr>
        <p:spPr>
          <a:xfrm>
            <a:off x="4551578" y="1600200"/>
            <a:ext cx="3088538" cy="685800"/>
          </a:xfrm>
          <a:prstGeom prst="rect">
            <a:avLst/>
          </a:prstGeom>
          <a:noFill/>
          <a:ln/>
        </p:spPr>
        <p:txBody>
          <a:bodyPr wrap="square" lIns="0" tIns="0" rIns="0" bIns="0" rtlCol="0" anchor="t"/>
          <a:lstStyle/>
          <a:p>
            <a:pPr algn="l" indent="0" marL="0">
              <a:buNone/>
            </a:pPr>
            <a:r>
              <a:rPr lang="en-US" sz="1900" b="1" dirty="0">
                <a:solidFill>
                  <a:srgbClr val="1F3A5F"/>
                </a:solidFill>
                <a:latin typeface="Arial" pitchFamily="34" charset="0"/>
                <a:ea typeface="Arial" pitchFamily="34" charset="-122"/>
                <a:cs typeface="Arial" pitchFamily="34" charset="-120"/>
              </a:rPr>
              <a:t>One central unit</a:t>
            </a:r>
            <a:endParaRPr lang="en-US" sz="1900" dirty="0"/>
          </a:p>
        </p:txBody>
      </p:sp>
      <p:sp>
        <p:nvSpPr>
          <p:cNvPr id="14" name="card label"/>
          <p:cNvSpPr txBox="1"/>
          <p:nvPr/>
        </p:nvSpPr>
        <p:spPr>
          <a:xfrm>
            <a:off x="4551578" y="2377440"/>
            <a:ext cx="3088538" cy="228600"/>
          </a:xfrm>
          <a:prstGeom prst="rect">
            <a:avLst/>
          </a:prstGeom>
          <a:noFill/>
          <a:ln/>
        </p:spPr>
        <p:txBody>
          <a:bodyPr wrap="square" lIns="0" tIns="0" rIns="0" bIns="0" rtlCol="0" anchor="ctr"/>
          <a:lstStyle/>
          <a:p>
            <a:pPr algn="l" indent="0" marL="0">
              <a:buNone/>
            </a:pPr>
            <a:r>
              <a:rPr lang="en-US" sz="1000" b="1" dirty="0">
                <a:solidFill>
                  <a:srgbClr val="7F7F7F"/>
                </a:solidFill>
                <a:latin typeface="Arial" pitchFamily="34" charset="0"/>
                <a:ea typeface="Arial" pitchFamily="34" charset="-122"/>
                <a:cs typeface="Arial" pitchFamily="34" charset="-120"/>
              </a:rPr>
              <a:t>CHOSEN BECAUSE</a:t>
            </a:r>
            <a:endParaRPr lang="en-US" sz="1000" dirty="0"/>
          </a:p>
        </p:txBody>
      </p:sp>
      <p:sp>
        <p:nvSpPr>
          <p:cNvPr id="15" name="card why"/>
          <p:cNvSpPr txBox="1"/>
          <p:nvPr/>
        </p:nvSpPr>
        <p:spPr>
          <a:xfrm>
            <a:off x="4551578" y="2606040"/>
            <a:ext cx="3088538" cy="1600200"/>
          </a:xfrm>
          <a:prstGeom prst="rect">
            <a:avLst/>
          </a:prstGeom>
          <a:noFill/>
          <a:ln/>
        </p:spPr>
        <p:txBody>
          <a:bodyPr wrap="square" lIns="25400" tIns="0" rIns="50800" bIns="25400" rtlCol="0" anchor="t"/>
          <a:lstStyle/>
          <a:p>
            <a:pPr algn="l" marL="254000" indent="-254000">
              <a:spcAft>
                <a:spcPts val="600"/>
              </a:spcAft>
              <a:buSzPct val="100000"/>
              <a:buChar char="•"/>
            </a:pPr>
            <a:r>
              <a:rPr lang="en-US" sz="1500" dirty="0">
                <a:solidFill>
                  <a:srgbClr val="1A1A1A"/>
                </a:solidFill>
                <a:latin typeface="Arial" pitchFamily="34" charset="0"/>
                <a:ea typeface="Arial" pitchFamily="34" charset="-122"/>
                <a:cs typeface="Arial" pitchFamily="34" charset="-120"/>
              </a:rPr>
              <a:t>One Uno and one shield drove four corner motors over wires run to each corner</a:t>
            </a:r>
            <a:endParaRPr lang="en-US" sz="1500" dirty="0"/>
          </a:p>
          <a:p>
            <a:pPr algn="l" marL="254000" indent="-254000">
              <a:spcAft>
                <a:spcPts val="600"/>
              </a:spcAft>
              <a:buSzPct val="100000"/>
              <a:buChar char="•"/>
            </a:pPr>
            <a:r>
              <a:rPr lang="en-US" sz="1500" dirty="0">
                <a:solidFill>
                  <a:srgbClr val="1A1A1A"/>
                </a:solidFill>
                <a:latin typeface="Arial" pitchFamily="34" charset="0"/>
                <a:ea typeface="Arial" pitchFamily="34" charset="-122"/>
                <a:cs typeface="Arial" pitchFamily="34" charset="-120"/>
              </a:rPr>
              <a:t>An overhead ceiling camera scanned the room</a:t>
            </a:r>
            <a:endParaRPr lang="en-US" sz="1500" dirty="0"/>
          </a:p>
        </p:txBody>
      </p:sp>
      <p:sp>
        <p:nvSpPr>
          <p:cNvPr id="16" name="card label"/>
          <p:cNvSpPr txBox="1"/>
          <p:nvPr/>
        </p:nvSpPr>
        <p:spPr>
          <a:xfrm>
            <a:off x="4551578" y="4251960"/>
            <a:ext cx="3088538" cy="228600"/>
          </a:xfrm>
          <a:prstGeom prst="rect">
            <a:avLst/>
          </a:prstGeom>
          <a:noFill/>
          <a:ln/>
        </p:spPr>
        <p:txBody>
          <a:bodyPr wrap="square" lIns="0" tIns="0" rIns="0" bIns="0" rtlCol="0" anchor="ctr"/>
          <a:lstStyle/>
          <a:p>
            <a:pPr algn="l" indent="0" marL="0">
              <a:buNone/>
            </a:pPr>
            <a:r>
              <a:rPr lang="en-US" sz="1000" b="1" dirty="0">
                <a:solidFill>
                  <a:srgbClr val="B23A2E"/>
                </a:solidFill>
                <a:latin typeface="Arial" pitchFamily="34" charset="0"/>
                <a:ea typeface="Arial" pitchFamily="34" charset="-122"/>
                <a:cs typeface="Arial" pitchFamily="34" charset="-120"/>
              </a:rPr>
              <a:t>WHAT IT COST LATER</a:t>
            </a:r>
            <a:endParaRPr lang="en-US" sz="1000" dirty="0"/>
          </a:p>
        </p:txBody>
      </p:sp>
      <p:sp>
        <p:nvSpPr>
          <p:cNvPr id="17" name="card cost"/>
          <p:cNvSpPr txBox="1"/>
          <p:nvPr/>
        </p:nvSpPr>
        <p:spPr>
          <a:xfrm>
            <a:off x="4551578" y="4480560"/>
            <a:ext cx="3088538" cy="1554480"/>
          </a:xfrm>
          <a:prstGeom prst="rect">
            <a:avLst/>
          </a:prstGeom>
          <a:noFill/>
          <a:ln/>
        </p:spPr>
        <p:txBody>
          <a:bodyPr wrap="square" lIns="25400" tIns="0" rIns="50800" bIns="25400" rtlCol="0" anchor="t"/>
          <a:lstStyle/>
          <a:p>
            <a:pPr algn="l" marL="254000" indent="-254000">
              <a:spcAft>
                <a:spcPts val="600"/>
              </a:spcAft>
              <a:buSzPct val="100000"/>
              <a:buChar char="•"/>
            </a:pPr>
            <a:r>
              <a:rPr lang="en-US" sz="1500" dirty="0">
                <a:solidFill>
                  <a:srgbClr val="1A1A1A"/>
                </a:solidFill>
                <a:latin typeface="Arial" pitchFamily="34" charset="0"/>
                <a:ea typeface="Arial" pitchFamily="34" charset="-122"/>
                <a:cs typeface="Arial" pitchFamily="34" charset="-120"/>
              </a:rPr>
              <a:t>Every motor and every sensor wired back to one place</a:t>
            </a:r>
            <a:endParaRPr lang="en-US" sz="1500" dirty="0"/>
          </a:p>
          <a:p>
            <a:pPr algn="l" marL="254000" indent="-254000">
              <a:spcAft>
                <a:spcPts val="600"/>
              </a:spcAft>
              <a:buSzPct val="100000"/>
              <a:buChar char="•"/>
            </a:pPr>
            <a:r>
              <a:rPr lang="en-US" sz="1500" dirty="0">
                <a:solidFill>
                  <a:srgbClr val="1A1A1A"/>
                </a:solidFill>
                <a:latin typeface="Arial" pitchFamily="34" charset="0"/>
                <a:ea typeface="Arial" pitchFamily="34" charset="-122"/>
                <a:cs typeface="Arial" pitchFamily="34" charset="-120"/>
              </a:rPr>
              <a:t>Once each corner had a switch and an encoder: 250 m of wire (Act 2)</a:t>
            </a:r>
            <a:endParaRPr lang="en-US" sz="1500" dirty="0"/>
          </a:p>
        </p:txBody>
      </p:sp>
      <p:sp>
        <p:nvSpPr>
          <p:cNvPr id="18" name="card The power strip"/>
          <p:cNvSpPr/>
          <p:nvPr/>
        </p:nvSpPr>
        <p:spPr>
          <a:xfrm>
            <a:off x="8097317" y="1188720"/>
            <a:ext cx="3545738" cy="4937760"/>
          </a:xfrm>
          <a:prstGeom prst="rect">
            <a:avLst/>
          </a:prstGeom>
          <a:solidFill>
            <a:srgbClr val="F2F2F2"/>
          </a:solidFill>
          <a:ln w="12700">
            <a:solidFill>
              <a:srgbClr val="F2F2F2"/>
            </a:solidFill>
            <a:prstDash val="solid"/>
          </a:ln>
        </p:spPr>
      </p:sp>
      <p:sp>
        <p:nvSpPr>
          <p:cNvPr id="19" name="card eyebrow"/>
          <p:cNvSpPr txBox="1"/>
          <p:nvPr/>
        </p:nvSpPr>
        <p:spPr>
          <a:xfrm>
            <a:off x="8325917" y="1371600"/>
            <a:ext cx="3088538" cy="228600"/>
          </a:xfrm>
          <a:prstGeom prst="rect">
            <a:avLst/>
          </a:prstGeom>
          <a:noFill/>
          <a:ln/>
        </p:spPr>
        <p:txBody>
          <a:bodyPr wrap="square" lIns="0" tIns="0" rIns="0" bIns="0" rtlCol="0" anchor="ctr"/>
          <a:lstStyle/>
          <a:p>
            <a:pPr algn="l" indent="0" marL="0">
              <a:buNone/>
            </a:pPr>
            <a:r>
              <a:rPr lang="en-US" sz="1000" b="1" dirty="0">
                <a:solidFill>
                  <a:srgbClr val="7F7F7F"/>
                </a:solidFill>
                <a:latin typeface="Arial" pitchFamily="34" charset="0"/>
                <a:ea typeface="Arial" pitchFamily="34" charset="-122"/>
                <a:cs typeface="Arial" pitchFamily="34" charset="-120"/>
              </a:rPr>
              <a:t>EMERGENCY STOP</a:t>
            </a:r>
            <a:endParaRPr lang="en-US" sz="1000" dirty="0"/>
          </a:p>
        </p:txBody>
      </p:sp>
      <p:sp>
        <p:nvSpPr>
          <p:cNvPr id="20" name="card title"/>
          <p:cNvSpPr txBox="1"/>
          <p:nvPr/>
        </p:nvSpPr>
        <p:spPr>
          <a:xfrm>
            <a:off x="8325917" y="1600200"/>
            <a:ext cx="3088538" cy="685800"/>
          </a:xfrm>
          <a:prstGeom prst="rect">
            <a:avLst/>
          </a:prstGeom>
          <a:noFill/>
          <a:ln/>
        </p:spPr>
        <p:txBody>
          <a:bodyPr wrap="square" lIns="0" tIns="0" rIns="0" bIns="0" rtlCol="0" anchor="t"/>
          <a:lstStyle/>
          <a:p>
            <a:pPr algn="l" indent="0" marL="0">
              <a:buNone/>
            </a:pPr>
            <a:r>
              <a:rPr lang="en-US" sz="1900" b="1" dirty="0">
                <a:solidFill>
                  <a:srgbClr val="1F3A5F"/>
                </a:solidFill>
                <a:latin typeface="Arial" pitchFamily="34" charset="0"/>
                <a:ea typeface="Arial" pitchFamily="34" charset="-122"/>
                <a:cs typeface="Arial" pitchFamily="34" charset="-120"/>
              </a:rPr>
              <a:t>The power strip</a:t>
            </a:r>
            <a:endParaRPr lang="en-US" sz="1900" dirty="0"/>
          </a:p>
        </p:txBody>
      </p:sp>
      <p:sp>
        <p:nvSpPr>
          <p:cNvPr id="21" name="card label"/>
          <p:cNvSpPr txBox="1"/>
          <p:nvPr/>
        </p:nvSpPr>
        <p:spPr>
          <a:xfrm>
            <a:off x="8325917" y="2377440"/>
            <a:ext cx="3088538" cy="228600"/>
          </a:xfrm>
          <a:prstGeom prst="rect">
            <a:avLst/>
          </a:prstGeom>
          <a:noFill/>
          <a:ln/>
        </p:spPr>
        <p:txBody>
          <a:bodyPr wrap="square" lIns="0" tIns="0" rIns="0" bIns="0" rtlCol="0" anchor="ctr"/>
          <a:lstStyle/>
          <a:p>
            <a:pPr algn="l" indent="0" marL="0">
              <a:buNone/>
            </a:pPr>
            <a:r>
              <a:rPr lang="en-US" sz="1000" b="1" dirty="0">
                <a:solidFill>
                  <a:srgbClr val="7F7F7F"/>
                </a:solidFill>
                <a:latin typeface="Arial" pitchFamily="34" charset="0"/>
                <a:ea typeface="Arial" pitchFamily="34" charset="-122"/>
                <a:cs typeface="Arial" pitchFamily="34" charset="-120"/>
              </a:rPr>
              <a:t>CHOSEN BECAUSE</a:t>
            </a:r>
            <a:endParaRPr lang="en-US" sz="1000" dirty="0"/>
          </a:p>
        </p:txBody>
      </p:sp>
      <p:sp>
        <p:nvSpPr>
          <p:cNvPr id="22" name="card why"/>
          <p:cNvSpPr txBox="1"/>
          <p:nvPr/>
        </p:nvSpPr>
        <p:spPr>
          <a:xfrm>
            <a:off x="8325917" y="2606040"/>
            <a:ext cx="3088538" cy="1600200"/>
          </a:xfrm>
          <a:prstGeom prst="rect">
            <a:avLst/>
          </a:prstGeom>
          <a:noFill/>
          <a:ln/>
        </p:spPr>
        <p:txBody>
          <a:bodyPr wrap="square" lIns="25400" tIns="0" rIns="50800" bIns="25400" rtlCol="0" anchor="t"/>
          <a:lstStyle/>
          <a:p>
            <a:pPr algn="l" marL="254000" indent="-254000">
              <a:spcAft>
                <a:spcPts val="600"/>
              </a:spcAft>
              <a:buSzPct val="100000"/>
              <a:buChar char="•"/>
            </a:pPr>
            <a:r>
              <a:rPr lang="en-US" sz="1500" dirty="0">
                <a:solidFill>
                  <a:srgbClr val="1A1A1A"/>
                </a:solidFill>
                <a:latin typeface="Arial" pitchFamily="34" charset="0"/>
                <a:ea typeface="Arial" pitchFamily="34" charset="-122"/>
                <a:cs typeface="Arial" pitchFamily="34" charset="-120"/>
              </a:rPr>
              <a:t>A guaranteed stop with no extra part</a:t>
            </a:r>
            <a:endParaRPr lang="en-US" sz="1500" dirty="0"/>
          </a:p>
          <a:p>
            <a:pPr algn="l" marL="254000" indent="-254000">
              <a:spcAft>
                <a:spcPts val="600"/>
              </a:spcAft>
              <a:buSzPct val="100000"/>
              <a:buChar char="•"/>
            </a:pPr>
            <a:r>
              <a:rPr lang="en-US" sz="1500" dirty="0">
                <a:solidFill>
                  <a:srgbClr val="1A1A1A"/>
                </a:solidFill>
                <a:latin typeface="Arial" pitchFamily="34" charset="0"/>
                <a:ea typeface="Arial" pitchFamily="34" charset="-122"/>
                <a:cs typeface="Arial" pitchFamily="34" charset="-120"/>
              </a:rPr>
              <a:t>The only stop that cannot be overridden by software</a:t>
            </a:r>
            <a:endParaRPr lang="en-US" sz="1500" dirty="0"/>
          </a:p>
        </p:txBody>
      </p:sp>
      <p:sp>
        <p:nvSpPr>
          <p:cNvPr id="23" name="card label"/>
          <p:cNvSpPr txBox="1"/>
          <p:nvPr/>
        </p:nvSpPr>
        <p:spPr>
          <a:xfrm>
            <a:off x="8325917" y="4251960"/>
            <a:ext cx="3088538" cy="228600"/>
          </a:xfrm>
          <a:prstGeom prst="rect">
            <a:avLst/>
          </a:prstGeom>
          <a:noFill/>
          <a:ln/>
        </p:spPr>
        <p:txBody>
          <a:bodyPr wrap="square" lIns="0" tIns="0" rIns="0" bIns="0" rtlCol="0" anchor="ctr"/>
          <a:lstStyle/>
          <a:p>
            <a:pPr algn="l" indent="0" marL="0">
              <a:buNone/>
            </a:pPr>
            <a:r>
              <a:rPr lang="en-US" sz="1000" b="1" dirty="0">
                <a:solidFill>
                  <a:srgbClr val="B23A2E"/>
                </a:solidFill>
                <a:latin typeface="Arial" pitchFamily="34" charset="0"/>
                <a:ea typeface="Arial" pitchFamily="34" charset="-122"/>
                <a:cs typeface="Arial" pitchFamily="34" charset="-120"/>
              </a:rPr>
              <a:t>WHAT IT COST LATER</a:t>
            </a:r>
            <a:endParaRPr lang="en-US" sz="1000" dirty="0"/>
          </a:p>
        </p:txBody>
      </p:sp>
      <p:sp>
        <p:nvSpPr>
          <p:cNvPr id="24" name="card cost"/>
          <p:cNvSpPr txBox="1"/>
          <p:nvPr/>
        </p:nvSpPr>
        <p:spPr>
          <a:xfrm>
            <a:off x="8325917" y="4480560"/>
            <a:ext cx="3088538" cy="1554480"/>
          </a:xfrm>
          <a:prstGeom prst="rect">
            <a:avLst/>
          </a:prstGeom>
          <a:noFill/>
          <a:ln/>
        </p:spPr>
        <p:txBody>
          <a:bodyPr wrap="square" lIns="25400" tIns="0" rIns="50800" bIns="25400" rtlCol="0" anchor="t"/>
          <a:lstStyle/>
          <a:p>
            <a:pPr algn="l" marL="254000" indent="-254000">
              <a:spcAft>
                <a:spcPts val="600"/>
              </a:spcAft>
              <a:buSzPct val="100000"/>
              <a:buChar char="•"/>
            </a:pPr>
            <a:r>
              <a:rPr lang="en-US" sz="1500" dirty="0">
                <a:solidFill>
                  <a:srgbClr val="1A1A1A"/>
                </a:solidFill>
                <a:latin typeface="Arial" pitchFamily="34" charset="0"/>
                <a:ea typeface="Arial" pitchFamily="34" charset="-122"/>
                <a:cs typeface="Arial" pitchFamily="34" charset="-120"/>
              </a:rPr>
              <a:t>Cutting power drops the claw</a:t>
            </a:r>
            <a:endParaRPr lang="en-US" sz="1500" dirty="0"/>
          </a:p>
          <a:p>
            <a:pPr algn="l" marL="254000" indent="-254000">
              <a:spcAft>
                <a:spcPts val="600"/>
              </a:spcAft>
              <a:buSzPct val="100000"/>
              <a:buChar char="•"/>
            </a:pPr>
            <a:r>
              <a:rPr lang="en-US" sz="1500" dirty="0">
                <a:solidFill>
                  <a:srgbClr val="1A1A1A"/>
                </a:solidFill>
                <a:latin typeface="Arial" pitchFamily="34" charset="0"/>
                <a:ea typeface="Arial" pitchFamily="34" charset="-122"/>
                <a:cs typeface="Arial" pitchFamily="34" charset="-120"/>
              </a:rPr>
              <a:t>Nobody stands under the robot; a brake is on the next-steps list</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itle"/>
          <p:cNvSpPr txBox="1"/>
          <p:nvPr/>
        </p:nvSpPr>
        <p:spPr>
          <a:xfrm>
            <a:off x="548640" y="274320"/>
            <a:ext cx="9567367"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Generation 1: one Uno, one shield, four corner mounts</a:t>
            </a:r>
            <a:endParaRPr lang="en-US" sz="2400" dirty="0"/>
          </a:p>
        </p:txBody>
      </p:sp>
      <p:sp>
        <p:nvSpPr>
          <p:cNvPr id="3" name="tag MEASURED"/>
          <p:cNvSpPr txBox="1"/>
          <p:nvPr/>
        </p:nvSpPr>
        <p:spPr>
          <a:xfrm>
            <a:off x="10408615" y="530352"/>
            <a:ext cx="1234440" cy="256032"/>
          </a:xfrm>
          <a:prstGeom prst="roundRect">
            <a:avLst>
              <a:gd name="adj" fmla="val 50000"/>
            </a:avLst>
          </a:prstGeom>
          <a:solidFill>
            <a:srgbClr val="1F3A5F"/>
          </a:solidFill>
          <a:ln w="12700">
            <a:solidFill>
              <a:srgbClr val="1F3A5F"/>
            </a:solidFill>
          </a:ln>
        </p:spPr>
        <p:txBody>
          <a:bodyPr wrap="square" lIns="0" tIns="0" rIns="0" bIns="0" rtlCol="0" anchor="ctr"/>
          <a:lstStyle/>
          <a:p>
            <a:pPr algn="ctr" indent="0" marL="0">
              <a:buNone/>
            </a:pPr>
            <a:r>
              <a:rPr lang="en-US" sz="900" b="1" spc="120" kern="0" dirty="0">
                <a:solidFill>
                  <a:srgbClr val="FFFFFF"/>
                </a:solidFill>
                <a:latin typeface="Arial" pitchFamily="34" charset="0"/>
                <a:ea typeface="Arial" pitchFamily="34" charset="-122"/>
                <a:cs typeface="Arial" pitchFamily="34" charset="-120"/>
              </a:rPr>
              <a:t>MEASURED</a:t>
            </a:r>
            <a:endParaRPr lang="en-US" sz="900" dirty="0"/>
          </a:p>
        </p:txBody>
      </p:sp>
      <p:sp>
        <p:nvSpPr>
          <p:cNvPr id="4"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2 of 5: Generation 1 (August)</a:t>
            </a:r>
            <a:endParaRPr lang="en-US" sz="1000" dirty="0"/>
          </a:p>
        </p:txBody>
      </p:sp>
      <p:pic>
        <p:nvPicPr>
          <p:cNvPr id="5" name="Gen-1 corner plate: motor, spool, pulley" descr="Gen-1 corner plate: motor, spool, pulley, switch">    </p:cNvPr>
          <p:cNvPicPr>
            <a:picLocks noChangeAspect="1"/>
          </p:cNvPicPr>
          <p:nvPr/>
        </p:nvPicPr>
        <p:blipFill>
          <a:blip r:embed="rId1"/>
          <a:stretch>
            <a:fillRect/>
          </a:stretch>
        </p:blipFill>
        <p:spPr>
          <a:xfrm>
            <a:off x="548640" y="1188720"/>
            <a:ext cx="3331528" cy="4442037"/>
          </a:xfrm>
          <a:prstGeom prst="rect">
            <a:avLst/>
          </a:prstGeom>
        </p:spPr>
      </p:pic>
      <p:sp>
        <p:nvSpPr>
          <p:cNvPr id="6" name="caption"/>
          <p:cNvSpPr txBox="1"/>
          <p:nvPr/>
        </p:nvSpPr>
        <p:spPr>
          <a:xfrm>
            <a:off x="548640" y="5676477"/>
            <a:ext cx="3605848"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1  Gen-1 corner plate: motor, spool, pulley, switch</a:t>
            </a:r>
            <a:endParaRPr lang="en-US" sz="1100" dirty="0"/>
          </a:p>
        </p:txBody>
      </p:sp>
      <p:pic>
        <p:nvPicPr>
          <p:cNvPr id="7" name="Gen-1 station lifting a test weight" descr="Gen-1 station lifting a test weight">    </p:cNvPr>
          <p:cNvPicPr>
            <a:picLocks noChangeAspect="1"/>
          </p:cNvPicPr>
          <p:nvPr/>
        </p:nvPicPr>
        <p:blipFill>
          <a:blip r:embed="rId2"/>
          <a:stretch>
            <a:fillRect/>
          </a:stretch>
        </p:blipFill>
        <p:spPr>
          <a:xfrm>
            <a:off x="3989896" y="1188720"/>
            <a:ext cx="3331528" cy="4442037"/>
          </a:xfrm>
          <a:prstGeom prst="rect">
            <a:avLst/>
          </a:prstGeom>
        </p:spPr>
      </p:pic>
      <p:sp>
        <p:nvSpPr>
          <p:cNvPr id="8" name="caption"/>
          <p:cNvSpPr txBox="1"/>
          <p:nvPr/>
        </p:nvSpPr>
        <p:spPr>
          <a:xfrm>
            <a:off x="3989896" y="5676477"/>
            <a:ext cx="3605848"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2  Gen-1 station lifting a test weight</a:t>
            </a:r>
            <a:endParaRPr lang="en-US" sz="1100" dirty="0"/>
          </a:p>
        </p:txBody>
      </p:sp>
      <p:sp>
        <p:nvSpPr>
          <p:cNvPr id="9" name="bullets"/>
          <p:cNvSpPr txBox="1"/>
          <p:nvPr/>
        </p:nvSpPr>
        <p:spPr>
          <a:xfrm>
            <a:off x="7726680" y="1234440"/>
            <a:ext cx="3916375" cy="4937760"/>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A printed corner plate screwed into a joist replaced hanging hooks: a hook is a pivot, and about 1:1 of anchor error becomes claw position error</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One Uno and one CNC shield drove all four motors from one board</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Bench: the station lifted a test weight; the cable math held</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itle"/>
          <p:cNvSpPr txBox="1"/>
          <p:nvPr/>
        </p:nvSpPr>
        <p:spPr>
          <a:xfrm>
            <a:off x="548640" y="274320"/>
            <a:ext cx="9567367"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Bench week found what the drawings could not</a:t>
            </a:r>
            <a:endParaRPr lang="en-US" sz="2400" dirty="0"/>
          </a:p>
        </p:txBody>
      </p:sp>
      <p:sp>
        <p:nvSpPr>
          <p:cNvPr id="3" name="tag MEASURED"/>
          <p:cNvSpPr txBox="1"/>
          <p:nvPr/>
        </p:nvSpPr>
        <p:spPr>
          <a:xfrm>
            <a:off x="10408615" y="530352"/>
            <a:ext cx="1234440" cy="256032"/>
          </a:xfrm>
          <a:prstGeom prst="roundRect">
            <a:avLst>
              <a:gd name="adj" fmla="val 50000"/>
            </a:avLst>
          </a:prstGeom>
          <a:solidFill>
            <a:srgbClr val="1F3A5F"/>
          </a:solidFill>
          <a:ln w="12700">
            <a:solidFill>
              <a:srgbClr val="1F3A5F"/>
            </a:solidFill>
          </a:ln>
        </p:spPr>
        <p:txBody>
          <a:bodyPr wrap="square" lIns="0" tIns="0" rIns="0" bIns="0" rtlCol="0" anchor="ctr"/>
          <a:lstStyle/>
          <a:p>
            <a:pPr algn="ctr" indent="0" marL="0">
              <a:buNone/>
            </a:pPr>
            <a:r>
              <a:rPr lang="en-US" sz="900" b="1" spc="120" kern="0" dirty="0">
                <a:solidFill>
                  <a:srgbClr val="FFFFFF"/>
                </a:solidFill>
                <a:latin typeface="Arial" pitchFamily="34" charset="0"/>
                <a:ea typeface="Arial" pitchFamily="34" charset="-122"/>
                <a:cs typeface="Arial" pitchFamily="34" charset="-120"/>
              </a:rPr>
              <a:t>MEASURED</a:t>
            </a:r>
            <a:endParaRPr lang="en-US" sz="900" dirty="0"/>
          </a:p>
        </p:txBody>
      </p:sp>
      <p:sp>
        <p:nvSpPr>
          <p:cNvPr id="4"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2 of 5: Generation 1 (August)</a:t>
            </a:r>
            <a:endParaRPr lang="en-US" sz="1000" dirty="0"/>
          </a:p>
        </p:txBody>
      </p:sp>
      <p:pic>
        <p:nvPicPr>
          <p:cNvPr id="5" name="Bench wiring during bring-up" descr="Bench wiring during bring-up">    </p:cNvPr>
          <p:cNvPicPr>
            <a:picLocks noChangeAspect="1"/>
          </p:cNvPicPr>
          <p:nvPr/>
        </p:nvPicPr>
        <p:blipFill>
          <a:blip r:embed="rId1"/>
          <a:stretch>
            <a:fillRect/>
          </a:stretch>
        </p:blipFill>
        <p:spPr>
          <a:xfrm>
            <a:off x="548640" y="1188720"/>
            <a:ext cx="3531870" cy="4709160"/>
          </a:xfrm>
          <a:prstGeom prst="rect">
            <a:avLst/>
          </a:prstGeom>
        </p:spPr>
      </p:pic>
      <p:sp>
        <p:nvSpPr>
          <p:cNvPr id="6" name="caption"/>
          <p:cNvSpPr txBox="1"/>
          <p:nvPr/>
        </p:nvSpPr>
        <p:spPr>
          <a:xfrm>
            <a:off x="548640" y="5943600"/>
            <a:ext cx="380619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1  Bench wiring during bring-up</a:t>
            </a:r>
            <a:endParaRPr lang="en-US" sz="1100" dirty="0"/>
          </a:p>
        </p:txBody>
      </p:sp>
      <p:pic>
        <p:nvPicPr>
          <p:cNvPr id="7" name="Homing switch" descr="Homing switch">    </p:cNvPr>
          <p:cNvPicPr>
            <a:picLocks noChangeAspect="1"/>
          </p:cNvPicPr>
          <p:nvPr/>
        </p:nvPicPr>
        <p:blipFill>
          <a:blip r:embed="rId2"/>
          <a:stretch>
            <a:fillRect/>
          </a:stretch>
        </p:blipFill>
        <p:spPr>
          <a:xfrm>
            <a:off x="4190238" y="1188720"/>
            <a:ext cx="1621917" cy="2162556"/>
          </a:xfrm>
          <a:prstGeom prst="rect">
            <a:avLst/>
          </a:prstGeom>
        </p:spPr>
      </p:pic>
      <p:sp>
        <p:nvSpPr>
          <p:cNvPr id="8" name="caption"/>
          <p:cNvSpPr txBox="1"/>
          <p:nvPr/>
        </p:nvSpPr>
        <p:spPr>
          <a:xfrm>
            <a:off x="4190238" y="3396996"/>
            <a:ext cx="2170557"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2  Homing switch</a:t>
            </a:r>
            <a:endParaRPr lang="en-US" sz="1100" dirty="0"/>
          </a:p>
        </p:txBody>
      </p:sp>
      <p:pic>
        <p:nvPicPr>
          <p:cNvPr id="9" name="Bench laptop" descr="Bench laptop">    </p:cNvPr>
          <p:cNvPicPr>
            <a:picLocks noChangeAspect="1"/>
          </p:cNvPicPr>
          <p:nvPr/>
        </p:nvPicPr>
        <p:blipFill>
          <a:blip r:embed="rId3"/>
          <a:stretch>
            <a:fillRect/>
          </a:stretch>
        </p:blipFill>
        <p:spPr>
          <a:xfrm>
            <a:off x="4190238" y="3735324"/>
            <a:ext cx="1621917" cy="2162556"/>
          </a:xfrm>
          <a:prstGeom prst="rect">
            <a:avLst/>
          </a:prstGeom>
        </p:spPr>
      </p:pic>
      <p:sp>
        <p:nvSpPr>
          <p:cNvPr id="10" name="caption"/>
          <p:cNvSpPr txBox="1"/>
          <p:nvPr/>
        </p:nvSpPr>
        <p:spPr>
          <a:xfrm>
            <a:off x="4190238" y="5943600"/>
            <a:ext cx="2170557"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3  Bench laptop</a:t>
            </a:r>
            <a:endParaRPr lang="en-US" sz="1100" dirty="0"/>
          </a:p>
        </p:txBody>
      </p:sp>
      <p:sp>
        <p:nvSpPr>
          <p:cNvPr id="11" name="bullets"/>
          <p:cNvSpPr txBox="1"/>
          <p:nvPr/>
        </p:nvSpPr>
        <p:spPr>
          <a:xfrm>
            <a:off x="6223635" y="1234440"/>
            <a:ext cx="5419420" cy="4937760"/>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18 V on the meter from a supply labelled 12 V</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A homing switch that would have zeroed without moving: fail-safe wiring reads LOW at rest, and the firmware took LOW as pressed; logic inverted</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The switch had to move below the pulley, onto a drop arm beside the line; the first arm design failed a CAD check before it was printed</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itle"/>
          <p:cNvSpPr txBox="1"/>
          <p:nvPr/>
        </p:nvSpPr>
        <p:spPr>
          <a:xfrm>
            <a:off x="548640" y="274320"/>
            <a:ext cx="9567367"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A motor on a wall needs a switch and an encoder</a:t>
            </a:r>
            <a:endParaRPr lang="en-US" sz="2400" dirty="0"/>
          </a:p>
        </p:txBody>
      </p:sp>
      <p:sp>
        <p:nvSpPr>
          <p:cNvPr id="3" name="tag CALCULATED"/>
          <p:cNvSpPr txBox="1"/>
          <p:nvPr/>
        </p:nvSpPr>
        <p:spPr>
          <a:xfrm>
            <a:off x="10408615" y="530352"/>
            <a:ext cx="1234440" cy="256032"/>
          </a:xfrm>
          <a:prstGeom prst="roundRect">
            <a:avLst>
              <a:gd name="adj" fmla="val 50000"/>
            </a:avLst>
          </a:prstGeom>
          <a:solidFill>
            <a:srgbClr val="FFFFFF"/>
          </a:solidFill>
          <a:ln w="12700">
            <a:solidFill>
              <a:srgbClr val="1F3A5F"/>
            </a:solidFill>
          </a:ln>
        </p:spPr>
        <p:txBody>
          <a:bodyPr wrap="square" lIns="0" tIns="0" rIns="0" bIns="0" rtlCol="0" anchor="ctr"/>
          <a:lstStyle/>
          <a:p>
            <a:pPr algn="ctr" indent="0" marL="0">
              <a:buNone/>
            </a:pPr>
            <a:r>
              <a:rPr lang="en-US" sz="900" b="1" spc="120" kern="0" dirty="0">
                <a:solidFill>
                  <a:srgbClr val="1F3A5F"/>
                </a:solidFill>
                <a:latin typeface="Arial" pitchFamily="34" charset="0"/>
                <a:ea typeface="Arial" pitchFamily="34" charset="-122"/>
                <a:cs typeface="Arial" pitchFamily="34" charset="-120"/>
              </a:rPr>
              <a:t>CALCULATED</a:t>
            </a:r>
            <a:endParaRPr lang="en-US" sz="900" dirty="0"/>
          </a:p>
        </p:txBody>
      </p:sp>
      <p:sp>
        <p:nvSpPr>
          <p:cNvPr id="4"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2 of 5: Generation 1 (August)</a:t>
            </a:r>
            <a:endParaRPr lang="en-US" sz="1000" dirty="0"/>
          </a:p>
        </p:txBody>
      </p:sp>
      <p:pic>
        <p:nvPicPr>
          <p:cNvPr id="5" name="Chart from the calculation sheet: Bead h" descr="Chart from the calculation sheet: Bead homing">    </p:cNvPr>
          <p:cNvPicPr>
            <a:picLocks noChangeAspect="1"/>
          </p:cNvPicPr>
          <p:nvPr/>
        </p:nvPicPr>
        <p:blipFill>
          <a:blip r:embed="rId1"/>
          <a:stretch>
            <a:fillRect/>
          </a:stretch>
        </p:blipFill>
        <p:spPr>
          <a:xfrm>
            <a:off x="548640" y="1188720"/>
            <a:ext cx="6400800" cy="4407009"/>
          </a:xfrm>
          <a:prstGeom prst="rect">
            <a:avLst/>
          </a:prstGeom>
        </p:spPr>
      </p:pic>
      <p:sp>
        <p:nvSpPr>
          <p:cNvPr id="6" name="caption"/>
          <p:cNvSpPr txBox="1"/>
          <p:nvPr/>
        </p:nvSpPr>
        <p:spPr>
          <a:xfrm>
            <a:off x="548640" y="5668881"/>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Calculated (calc sheet: Bead homing)</a:t>
            </a:r>
            <a:endParaRPr lang="en-US" sz="1100" dirty="0"/>
          </a:p>
        </p:txBody>
      </p:sp>
      <p:sp>
        <p:nvSpPr>
          <p:cNvPr id="7"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800"/>
              </a:spcAft>
              <a:buSzPct val="100000"/>
              <a:buChar char="•"/>
            </a:pPr>
            <a:r>
              <a:rPr lang="en-US" sz="1500" dirty="0">
                <a:solidFill>
                  <a:srgbClr val="1A1A1A"/>
                </a:solidFill>
                <a:latin typeface="Arial" pitchFamily="34" charset="0"/>
                <a:ea typeface="Arial" pitchFamily="34" charset="-122"/>
                <a:cs typeface="Arial" pitchFamily="34" charset="-120"/>
              </a:rPr>
              <a:t>A motor bolted to a wall cannot just run: a camera can fail, a spool can overwind, tension can rip a mount out, a motor can stall. So each winch gets a switch and a spool encoder</a:t>
            </a:r>
            <a:endParaRPr lang="en-US" sz="1500" dirty="0"/>
          </a:p>
          <a:p>
            <a:pPr algn="l" marL="254000" indent="-254000">
              <a:spcAft>
                <a:spcPts val="800"/>
              </a:spcAft>
              <a:buSzPct val="100000"/>
              <a:buChar char="•"/>
            </a:pPr>
            <a:r>
              <a:rPr lang="en-US" sz="1500" dirty="0">
                <a:solidFill>
                  <a:srgbClr val="1A1A1A"/>
                </a:solidFill>
                <a:latin typeface="Arial" pitchFamily="34" charset="0"/>
                <a:ea typeface="Arial" pitchFamily="34" charset="-122"/>
                <a:cs typeface="Arial" pitchFamily="34" charset="-120"/>
              </a:rPr>
              <a:t>The encoder is there to measure discrepancies while testing; if the camera proves good enough on its own it can go later. Data first</a:t>
            </a:r>
            <a:endParaRPr lang="en-US" sz="1500" dirty="0"/>
          </a:p>
          <a:p>
            <a:pPr algn="l" marL="254000" indent="-254000">
              <a:spcAft>
                <a:spcPts val="800"/>
              </a:spcAft>
              <a:buSzPct val="100000"/>
              <a:buChar char="•"/>
            </a:pPr>
            <a:r>
              <a:rPr lang="en-US" sz="1500" dirty="0">
                <a:solidFill>
                  <a:srgbClr val="1A1A1A"/>
                </a:solidFill>
                <a:latin typeface="Arial" pitchFamily="34" charset="0"/>
                <a:ea typeface="Arial" pitchFamily="34" charset="-122"/>
                <a:cs typeface="Arial" pitchFamily="34" charset="-120"/>
              </a:rPr>
              <a:t>With a motor, a switch and an encoder in every corner, one central box over long, thin wire stops making sense: 10 conductors per corner, 250 m (820 ft) of wire, 0.82 V lost on the 32 ft run, 2.5 mm of skew per 50 ms</a:t>
            </a:r>
            <a:endParaRPr lang="en-US" sz="1500" dirty="0"/>
          </a:p>
          <a:p>
            <a:pPr algn="l" marL="254000" indent="-254000">
              <a:spcAft>
                <a:spcPts val="800"/>
              </a:spcAft>
              <a:buSzPct val="100000"/>
              <a:buChar char="•"/>
            </a:pPr>
            <a:r>
              <a:rPr lang="en-US" sz="1500" dirty="0">
                <a:solidFill>
                  <a:srgbClr val="1A1A1A"/>
                </a:solidFill>
                <a:latin typeface="Arial" pitchFamily="34" charset="0"/>
                <a:ea typeface="Arial" pitchFamily="34" charset="-122"/>
                <a:cs typeface="Arial" pitchFamily="34" charset="-120"/>
              </a:rPr>
              <a:t>Homing from that central box with beads on the cables also capped the room (chart: 5–29 % of the volume reachable); the claw camera replaced it (Act 3)</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itle"/>
          <p:cNvSpPr txBox="1"/>
          <p:nvPr/>
        </p:nvSpPr>
        <p:spPr>
          <a:xfrm>
            <a:off x="548640" y="274320"/>
            <a:ext cx="9567367"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One plug per station: the station lifts off while the anchor stays in the stud</a:t>
            </a:r>
            <a:endParaRPr lang="en-US" sz="2400" dirty="0"/>
          </a:p>
        </p:txBody>
      </p:sp>
      <p:sp>
        <p:nvSpPr>
          <p:cNvPr id="3" name="tag CALCULATED"/>
          <p:cNvSpPr txBox="1"/>
          <p:nvPr/>
        </p:nvSpPr>
        <p:spPr>
          <a:xfrm>
            <a:off x="10408615" y="530352"/>
            <a:ext cx="1234440" cy="256032"/>
          </a:xfrm>
          <a:prstGeom prst="roundRect">
            <a:avLst>
              <a:gd name="adj" fmla="val 50000"/>
            </a:avLst>
          </a:prstGeom>
          <a:solidFill>
            <a:srgbClr val="FFFFFF"/>
          </a:solidFill>
          <a:ln w="12700">
            <a:solidFill>
              <a:srgbClr val="1F3A5F"/>
            </a:solidFill>
          </a:ln>
        </p:spPr>
        <p:txBody>
          <a:bodyPr wrap="square" lIns="0" tIns="0" rIns="0" bIns="0" rtlCol="0" anchor="ctr"/>
          <a:lstStyle/>
          <a:p>
            <a:pPr algn="ctr" indent="0" marL="0">
              <a:buNone/>
            </a:pPr>
            <a:r>
              <a:rPr lang="en-US" sz="900" b="1" spc="120" kern="0" dirty="0">
                <a:solidFill>
                  <a:srgbClr val="1F3A5F"/>
                </a:solidFill>
                <a:latin typeface="Arial" pitchFamily="34" charset="0"/>
                <a:ea typeface="Arial" pitchFamily="34" charset="-122"/>
                <a:cs typeface="Arial" pitchFamily="34" charset="-120"/>
              </a:rPr>
              <a:t>CALCULATED</a:t>
            </a:r>
            <a:endParaRPr lang="en-US" sz="900" dirty="0"/>
          </a:p>
        </p:txBody>
      </p:sp>
      <p:sp>
        <p:nvSpPr>
          <p:cNvPr id="4"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3 of 5: Redesign (September to early October)</a:t>
            </a:r>
            <a:endParaRPr lang="en-US" sz="1000" dirty="0"/>
          </a:p>
        </p:txBody>
      </p:sp>
      <p:pic>
        <p:nvPicPr>
          <p:cNvPr id="5" name="Final wall station: CAD, on the wall, an" descr="Final wall station: CAD, on the wall, and the wall mount alone">    </p:cNvPr>
          <p:cNvPicPr>
            <a:picLocks noChangeAspect="1"/>
          </p:cNvPicPr>
          <p:nvPr/>
        </p:nvPicPr>
        <p:blipFill>
          <a:blip r:embed="rId1"/>
          <a:stretch>
            <a:fillRect/>
          </a:stretch>
        </p:blipFill>
        <p:spPr>
          <a:xfrm>
            <a:off x="990751" y="1188720"/>
            <a:ext cx="2261314" cy="2253996"/>
          </a:xfrm>
          <a:prstGeom prst="rect">
            <a:avLst/>
          </a:prstGeom>
        </p:spPr>
      </p:pic>
      <p:pic>
        <p:nvPicPr>
          <p:cNvPr id="6" name="Final wall station: CAD, on the wall, an" descr="Final wall station: CAD, on the wall, and the wall mount alone">    </p:cNvPr>
          <p:cNvPicPr>
            <a:picLocks noChangeAspect="1"/>
          </p:cNvPicPr>
          <p:nvPr/>
        </p:nvPicPr>
        <p:blipFill>
          <a:blip r:embed="rId2"/>
          <a:stretch>
            <a:fillRect/>
          </a:stretch>
        </p:blipFill>
        <p:spPr>
          <a:xfrm>
            <a:off x="4531424" y="1188720"/>
            <a:ext cx="1690497" cy="2253996"/>
          </a:xfrm>
          <a:prstGeom prst="rect">
            <a:avLst/>
          </a:prstGeom>
        </p:spPr>
      </p:pic>
      <p:pic>
        <p:nvPicPr>
          <p:cNvPr id="7" name="Final wall station: CAD, on the wall, an" descr="Final wall station: CAD, on the wall, and the wall mount alone">    </p:cNvPr>
          <p:cNvPicPr>
            <a:picLocks noChangeAspect="1"/>
          </p:cNvPicPr>
          <p:nvPr/>
        </p:nvPicPr>
        <p:blipFill>
          <a:blip r:embed="rId3"/>
          <a:stretch>
            <a:fillRect/>
          </a:stretch>
        </p:blipFill>
        <p:spPr>
          <a:xfrm>
            <a:off x="1276160" y="3552444"/>
            <a:ext cx="1690497" cy="2253996"/>
          </a:xfrm>
          <a:prstGeom prst="rect">
            <a:avLst/>
          </a:prstGeom>
        </p:spPr>
      </p:pic>
      <p:pic>
        <p:nvPicPr>
          <p:cNvPr id="8" name="Final wall station: CAD, on the wall, an" descr="Final wall station: CAD, on the wall, and the wall mount alone">    </p:cNvPr>
          <p:cNvPicPr>
            <a:picLocks noChangeAspect="1"/>
          </p:cNvPicPr>
          <p:nvPr/>
        </p:nvPicPr>
        <p:blipFill>
          <a:blip r:embed="rId4"/>
          <a:stretch>
            <a:fillRect/>
          </a:stretch>
        </p:blipFill>
        <p:spPr>
          <a:xfrm>
            <a:off x="4531424" y="3552444"/>
            <a:ext cx="1690497" cy="2253996"/>
          </a:xfrm>
          <a:prstGeom prst="rect">
            <a:avLst/>
          </a:prstGeom>
        </p:spPr>
      </p:pic>
      <p:sp>
        <p:nvSpPr>
          <p:cNvPr id="9" name="caption"/>
          <p:cNvSpPr txBox="1"/>
          <p:nvPr/>
        </p:nvSpPr>
        <p:spPr>
          <a:xfrm>
            <a:off x="548640" y="5897880"/>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SolidWorks, shell transparent; the shell on the wall (Oct 22); the wall mount alone in a corner, and with its XT60 power lead (Oct 27)</a:t>
            </a:r>
            <a:endParaRPr lang="en-US" sz="1100" dirty="0"/>
          </a:p>
        </p:txBody>
      </p:sp>
      <p:sp>
        <p:nvSpPr>
          <p:cNvPr id="10" name="bullets"/>
          <p:cNvSpPr txBox="1"/>
          <p:nvPr/>
        </p:nvSpPr>
        <p:spPr>
          <a:xfrm>
            <a:off x="7360920" y="1234440"/>
            <a:ext cx="4282135" cy="3675888"/>
          </a:xfrm>
          <a:prstGeom prst="rect">
            <a:avLst/>
          </a:prstGeom>
          <a:noFill/>
          <a:ln/>
        </p:spPr>
        <p:txBody>
          <a:bodyPr wrap="square" lIns="25400" tIns="0" rIns="50800" bIns="25400" rtlCol="0" anchor="t"/>
          <a:lstStyle/>
          <a:p>
            <a:pPr algn="l" marL="254000" indent="-254000">
              <a:spcAft>
                <a:spcPts val="900"/>
              </a:spcAft>
              <a:buSzPct val="100000"/>
              <a:buChar char="•"/>
            </a:pPr>
            <a:r>
              <a:rPr lang="en-US" sz="1600" dirty="0">
                <a:solidFill>
                  <a:srgbClr val="1A1A1A"/>
                </a:solidFill>
                <a:latin typeface="Arial" pitchFamily="34" charset="0"/>
                <a:ea typeface="Arial" pitchFamily="34" charset="-122"/>
                <a:cs typeface="Arial" pitchFamily="34" charset="-120"/>
              </a:rPr>
              <a:t>Slide-in wall mount: the station lifts off its dovetail; the wall mount and its screws stay in the stud</a:t>
            </a:r>
            <a:endParaRPr lang="en-US" sz="1600" dirty="0"/>
          </a:p>
          <a:p>
            <a:pPr algn="l" marL="254000" indent="-254000">
              <a:spcAft>
                <a:spcPts val="900"/>
              </a:spcAft>
              <a:buSzPct val="100000"/>
              <a:buChar char="•"/>
            </a:pPr>
            <a:r>
              <a:rPr lang="en-US" sz="1600" dirty="0">
                <a:solidFill>
                  <a:srgbClr val="1A1A1A"/>
                </a:solidFill>
                <a:latin typeface="Arial" pitchFamily="34" charset="0"/>
                <a:ea typeface="Arial" pitchFamily="34" charset="-122"/>
                <a:cs typeface="Arial" pitchFamily="34" charset="-120"/>
              </a:rPr>
              <a:t>Load path: cable, spool, set screw, motor, PETG tab, slide-in, wall mount, screws, stud</a:t>
            </a:r>
            <a:endParaRPr lang="en-US" sz="1600" dirty="0"/>
          </a:p>
          <a:p>
            <a:pPr algn="l" marL="254000" indent="-254000">
              <a:spcAft>
                <a:spcPts val="900"/>
              </a:spcAft>
              <a:buSzPct val="100000"/>
              <a:buChar char="•"/>
            </a:pPr>
            <a:r>
              <a:rPr lang="en-US" sz="1600" dirty="0">
                <a:solidFill>
                  <a:srgbClr val="1A1A1A"/>
                </a:solidFill>
                <a:latin typeface="Arial" pitchFamily="34" charset="0"/>
                <a:ea typeface="Arial" pitchFamily="34" charset="-122"/>
                <a:cs typeface="Arial" pitchFamily="34" charset="-120"/>
              </a:rPr>
              <a:t>The motor is the weakest link: it slips at 34–59 N before anything breaks, and the spool encoder reports the overload</a:t>
            </a:r>
            <a:endParaRPr lang="en-US" sz="1600" dirty="0"/>
          </a:p>
          <a:p>
            <a:pPr algn="l" marL="254000" indent="-254000">
              <a:spcAft>
                <a:spcPts val="900"/>
              </a:spcAft>
              <a:buSzPct val="100000"/>
              <a:buChar char="•"/>
            </a:pPr>
            <a:r>
              <a:rPr lang="en-US" sz="1600" dirty="0">
                <a:solidFill>
                  <a:srgbClr val="1A1A1A"/>
                </a:solidFill>
                <a:latin typeface="Arial" pitchFamily="34" charset="0"/>
                <a:ea typeface="Arial" pitchFamily="34" charset="-122"/>
                <a:cs typeface="Arial" pitchFamily="34" charset="-120"/>
              </a:rPr>
              <a:t>Reading the margins: every other part must give at 1.5 × the motor's slip force (calculated, against derated PETG); the 1.5 on the winch pull is the skipped-step margin</a:t>
            </a:r>
            <a:endParaRPr lang="en-US" sz="1600" dirty="0"/>
          </a:p>
        </p:txBody>
      </p:sp>
      <p:sp>
        <p:nvSpPr>
          <p:cNvPr id="11" name="equation box"/>
          <p:cNvSpPr/>
          <p:nvPr/>
        </p:nvSpPr>
        <p:spPr>
          <a:xfrm>
            <a:off x="7360920" y="5093208"/>
            <a:ext cx="4282135" cy="1078992"/>
          </a:xfrm>
          <a:prstGeom prst="rect">
            <a:avLst/>
          </a:prstGeom>
          <a:solidFill>
            <a:srgbClr val="F7F8FA"/>
          </a:solidFill>
          <a:ln w="12700">
            <a:solidFill>
              <a:srgbClr val="1F3A5F"/>
            </a:solidFill>
            <a:prstDash val="solid"/>
          </a:ln>
        </p:spPr>
      </p:sp>
      <p:sp>
        <p:nvSpPr>
          <p:cNvPr id="12" name="equation title"/>
          <p:cNvSpPr txBox="1"/>
          <p:nvPr/>
        </p:nvSpPr>
        <p:spPr>
          <a:xfrm>
            <a:off x="7507224" y="5166360"/>
            <a:ext cx="3989527" cy="219456"/>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Motor slip force (the fuse)</a:t>
            </a:r>
            <a:endParaRPr lang="en-US" sz="1100" dirty="0"/>
          </a:p>
        </p:txBody>
      </p:sp>
      <p:sp>
        <p:nvSpPr>
          <p:cNvPr id="13" name="equations"/>
          <p:cNvSpPr txBox="1"/>
          <p:nvPr/>
        </p:nvSpPr>
        <p:spPr>
          <a:xfrm>
            <a:off x="7507224" y="5422392"/>
            <a:ext cx="3989527" cy="694944"/>
          </a:xfrm>
          <a:prstGeom prst="rect">
            <a:avLst/>
          </a:prstGeom>
          <a:noFill/>
          <a:ln/>
        </p:spPr>
        <p:txBody>
          <a:bodyPr wrap="square" lIns="0" tIns="0" rIns="0" bIns="0" rtlCol="0" anchor="t"/>
          <a:lstStyle/>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F = τ</a:t>
            </a:r>
            <a:pPr algn="l" indent="0" marL="0">
              <a:spcAft>
                <a:spcPts val="400"/>
              </a:spcAft>
              <a:buNone/>
            </a:pPr>
            <a:r>
              <a:rPr lang="en-US" sz="1500" baseline="-40000" dirty="0">
                <a:solidFill>
                  <a:srgbClr val="1A1A1A"/>
                </a:solidFill>
                <a:latin typeface="Cambria" pitchFamily="34" charset="0"/>
                <a:ea typeface="Cambria" pitchFamily="34" charset="-122"/>
                <a:cs typeface="Cambria" pitchFamily="34" charset="-120"/>
              </a:rPr>
              <a:t>h</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 r = 0.36 N·m / 0.0075 m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48 N</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F</a:t>
            </a:r>
            <a:pPr algn="l" indent="0" marL="0">
              <a:spcAft>
                <a:spcPts val="400"/>
              </a:spcAft>
              <a:buNone/>
            </a:pPr>
            <a:r>
              <a:rPr lang="en-US" sz="1500" baseline="-40000" dirty="0">
                <a:solidFill>
                  <a:srgbClr val="1A1A1A"/>
                </a:solidFill>
                <a:latin typeface="Cambria" pitchFamily="34" charset="0"/>
                <a:ea typeface="Cambria" pitchFamily="34" charset="-122"/>
                <a:cs typeface="Cambria" pitchFamily="34" charset="-120"/>
              </a:rPr>
              <a:t>max</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 48 N × 1.11 (motor) × 1.11 (cable angle)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59 N</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itle"/>
          <p:cNvSpPr txBox="1"/>
          <p:nvPr/>
        </p:nvSpPr>
        <p:spPr>
          <a:xfrm>
            <a:off x="548640" y="274320"/>
            <a:ext cx="9567367"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The drive slips before the wall does: a designed fuse</a:t>
            </a:r>
            <a:endParaRPr lang="en-US" sz="2400" dirty="0"/>
          </a:p>
        </p:txBody>
      </p:sp>
      <p:sp>
        <p:nvSpPr>
          <p:cNvPr id="3" name="tag CALCULATED"/>
          <p:cNvSpPr txBox="1"/>
          <p:nvPr/>
        </p:nvSpPr>
        <p:spPr>
          <a:xfrm>
            <a:off x="10408615" y="530352"/>
            <a:ext cx="1234440" cy="256032"/>
          </a:xfrm>
          <a:prstGeom prst="roundRect">
            <a:avLst>
              <a:gd name="adj" fmla="val 50000"/>
            </a:avLst>
          </a:prstGeom>
          <a:solidFill>
            <a:srgbClr val="FFFFFF"/>
          </a:solidFill>
          <a:ln w="12700">
            <a:solidFill>
              <a:srgbClr val="1F3A5F"/>
            </a:solidFill>
          </a:ln>
        </p:spPr>
        <p:txBody>
          <a:bodyPr wrap="square" lIns="0" tIns="0" rIns="0" bIns="0" rtlCol="0" anchor="ctr"/>
          <a:lstStyle/>
          <a:p>
            <a:pPr algn="ctr" indent="0" marL="0">
              <a:buNone/>
            </a:pPr>
            <a:r>
              <a:rPr lang="en-US" sz="900" b="1" spc="120" kern="0" dirty="0">
                <a:solidFill>
                  <a:srgbClr val="1F3A5F"/>
                </a:solidFill>
                <a:latin typeface="Arial" pitchFamily="34" charset="0"/>
                <a:ea typeface="Arial" pitchFamily="34" charset="-122"/>
                <a:cs typeface="Arial" pitchFamily="34" charset="-120"/>
              </a:rPr>
              <a:t>CALCULATED</a:t>
            </a:r>
            <a:endParaRPr lang="en-US" sz="900" dirty="0"/>
          </a:p>
        </p:txBody>
      </p:sp>
      <p:sp>
        <p:nvSpPr>
          <p:cNvPr id="4"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3 of 5: Redesign (September to early October)</a:t>
            </a:r>
            <a:endParaRPr lang="en-US" sz="1000" dirty="0"/>
          </a:p>
        </p:txBody>
      </p:sp>
      <p:pic>
        <p:nvPicPr>
          <p:cNvPr id="5" name="Chart from the calculation sheet: Weakes" descr="Chart from the calculation sheet: Weakest link">    </p:cNvPr>
          <p:cNvPicPr>
            <a:picLocks noChangeAspect="1"/>
          </p:cNvPicPr>
          <p:nvPr/>
        </p:nvPicPr>
        <p:blipFill>
          <a:blip r:embed="rId1"/>
          <a:stretch>
            <a:fillRect/>
          </a:stretch>
        </p:blipFill>
        <p:spPr>
          <a:xfrm>
            <a:off x="548640" y="1188720"/>
            <a:ext cx="6400800" cy="4458701"/>
          </a:xfrm>
          <a:prstGeom prst="rect">
            <a:avLst/>
          </a:prstGeom>
        </p:spPr>
      </p:pic>
      <p:sp>
        <p:nvSpPr>
          <p:cNvPr id="6" name="caption"/>
          <p:cNvSpPr txBox="1"/>
          <p:nvPr/>
        </p:nvSpPr>
        <p:spPr>
          <a:xfrm>
            <a:off x="548640" y="5720573"/>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Calculated (calc sheet: Weakest link)</a:t>
            </a:r>
            <a:endParaRPr lang="en-US" sz="1100" dirty="0"/>
          </a:p>
        </p:txBody>
      </p:sp>
      <p:sp>
        <p:nvSpPr>
          <p:cNvPr id="7"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900"/>
              </a:spcAft>
              <a:buSzPct val="100000"/>
              <a:buChar char="•"/>
            </a:pPr>
            <a:r>
              <a:rPr lang="en-US" sz="1500" dirty="0">
                <a:solidFill>
                  <a:srgbClr val="1A1A1A"/>
                </a:solidFill>
                <a:latin typeface="Arial" pitchFamily="34" charset="0"/>
                <a:ea typeface="Arial" pitchFamily="34" charset="-122"/>
                <a:cs typeface="Arial" pitchFamily="34" charset="-120"/>
              </a:rPr>
              <a:t>Four cables on three axes can pull against each other; a length error becomes tension, up to a snag that could tear a mount out</a:t>
            </a:r>
            <a:endParaRPr lang="en-US" sz="1500" dirty="0"/>
          </a:p>
          <a:p>
            <a:pPr algn="l" marL="254000" indent="-254000">
              <a:spcAft>
                <a:spcPts val="900"/>
              </a:spcAft>
              <a:buSzPct val="100000"/>
              <a:buChar char="•"/>
            </a:pPr>
            <a:r>
              <a:rPr lang="en-US" sz="1500" dirty="0">
                <a:solidFill>
                  <a:srgbClr val="1A1A1A"/>
                </a:solidFill>
                <a:latin typeface="Arial" pitchFamily="34" charset="0"/>
                <a:ea typeface="Arial" pitchFamily="34" charset="-122"/>
                <a:cs typeface="Arial" pitchFamily="34" charset="-120"/>
              </a:rPr>
              <a:t>The motor's rotor skips at 34–59 N of cable tension, the designed fuse: every other part gives higher, the wall screws in a stud at 9 × and the slide-in dovetails at 225 × the motor's pull</a:t>
            </a:r>
            <a:endParaRPr lang="en-US" sz="1500" dirty="0"/>
          </a:p>
          <a:p>
            <a:pPr algn="l" marL="254000" indent="-254000">
              <a:spcAft>
                <a:spcPts val="900"/>
              </a:spcAft>
              <a:buSzPct val="100000"/>
              <a:buChar char="•"/>
            </a:pPr>
            <a:r>
              <a:rPr lang="en-US" sz="1500" dirty="0">
                <a:solidFill>
                  <a:srgbClr val="1A1A1A"/>
                </a:solidFill>
                <a:latin typeface="Arial" pitchFamily="34" charset="0"/>
                <a:ea typeface="Arial" pitchFamily="34" charset="-122"/>
                <a:cs typeface="Arial" pitchFamily="34" charset="-120"/>
              </a:rPr>
              <a:t>The spool encoder sees the spool fall behind the commanded steps: a TRACKING fault, and every station holds</a:t>
            </a:r>
            <a:endParaRPr lang="en-US" sz="1500" dirty="0"/>
          </a:p>
          <a:p>
            <a:pPr algn="l" marL="254000" indent="-254000">
              <a:spcAft>
                <a:spcPts val="900"/>
              </a:spcAft>
              <a:buSzPct val="100000"/>
              <a:buChar char="•"/>
            </a:pPr>
            <a:r>
              <a:rPr lang="en-US" sz="1500" dirty="0">
                <a:solidFill>
                  <a:srgbClr val="1A1A1A"/>
                </a:solidFill>
                <a:latin typeface="Arial" pitchFamily="34" charset="0"/>
                <a:ea typeface="Arial" pitchFamily="34" charset="-122"/>
                <a:cs typeface="Arial" pitchFamily="34" charset="-120"/>
              </a:rPr>
              <a:t>The same mechanism catches an overweight pickup and a missed over-tension; the one exception as drawn, the set screw in printed plastic (22–64 N), moves into a metal insert</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itle"/>
          <p:cNvSpPr txBox="1"/>
          <p:nvPr/>
        </p:nvSpPr>
        <p:spPr>
          <a:xfrm>
            <a:off x="548640" y="274320"/>
            <a:ext cx="11094415"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Iteration 2: a box with its own brain, and only power going in</a:t>
            </a:r>
            <a:endParaRPr lang="en-US" sz="24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3 of 5: Redesign (September to early October)</a:t>
            </a:r>
            <a:endParaRPr lang="en-US" sz="1000" dirty="0"/>
          </a:p>
        </p:txBody>
      </p:sp>
      <p:pic>
        <p:nvPicPr>
          <p:cNvPr id="4" name="Central board and a boxed station" descr="Central board and a boxed station">    </p:cNvPr>
          <p:cNvPicPr>
            <a:picLocks noChangeAspect="1"/>
          </p:cNvPicPr>
          <p:nvPr/>
        </p:nvPicPr>
        <p:blipFill>
          <a:blip r:embed="rId1"/>
          <a:stretch>
            <a:fillRect/>
          </a:stretch>
        </p:blipFill>
        <p:spPr>
          <a:xfrm>
            <a:off x="1418463" y="1188720"/>
            <a:ext cx="1405890" cy="1874520"/>
          </a:xfrm>
          <a:prstGeom prst="rect">
            <a:avLst/>
          </a:prstGeom>
        </p:spPr>
      </p:pic>
      <p:pic>
        <p:nvPicPr>
          <p:cNvPr id="5" name="Central board and a boxed station" descr="Central board and a boxed station">    </p:cNvPr>
          <p:cNvPicPr>
            <a:picLocks noChangeAspect="1"/>
          </p:cNvPicPr>
          <p:nvPr/>
        </p:nvPicPr>
        <p:blipFill>
          <a:blip r:embed="rId2"/>
          <a:stretch>
            <a:fillRect/>
          </a:stretch>
        </p:blipFill>
        <p:spPr>
          <a:xfrm>
            <a:off x="4673727" y="1188720"/>
            <a:ext cx="1405890" cy="1874520"/>
          </a:xfrm>
          <a:prstGeom prst="rect">
            <a:avLst/>
          </a:prstGeom>
        </p:spPr>
      </p:pic>
      <p:sp>
        <p:nvSpPr>
          <p:cNvPr id="6" name="caption"/>
          <p:cNvSpPr txBox="1"/>
          <p:nvPr/>
        </p:nvSpPr>
        <p:spPr>
          <a:xfrm>
            <a:off x="548640" y="3154680"/>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Before: one central driver board. After: a box on the wall with one plug.</a:t>
            </a:r>
            <a:endParaRPr lang="en-US" sz="1100" dirty="0"/>
          </a:p>
        </p:txBody>
      </p:sp>
      <p:graphicFrame>
        <p:nvGraphicFramePr>
          <p:cNvPr id="14" name="control logic"/>
          <p:cNvGraphicFramePr>
            <a:graphicFrameLocks noGrp="1"/>
          </p:cNvGraphicFramePr>
          <p:nvPr>
            <p:extLst>
              <p:ext uri="{D42A27DB-BD31-4B8C-83A1-F6EECF244321}">
                <p14:modId xmlns:p14="http://schemas.microsoft.com/office/powerpoint/2010/main" val="1579011935"/>
              </p:ext>
            </p:extLst>
          </p:nvPr>
        </p:nvGraphicFramePr>
        <p:xfrm>
          <a:off x="548640" y="3474720"/>
          <a:ext cx="6400800" cy="914400"/>
        </p:xfrm>
        <a:graphic>
          <a:graphicData uri="http://schemas.openxmlformats.org/drawingml/2006/table">
            <a:tbl>
              <a:tblPr/>
              <a:tblGrid>
                <a:gridCol w="1408176"/>
                <a:gridCol w="2112264"/>
                <a:gridCol w="2880360"/>
              </a:tblGrid>
              <a:tr h="310896">
                <a:tc>
                  <a:txBody>
                    <a:bodyPr/>
                    <a:lstStyle/>
                    <a:p>
                      <a:pPr indent="0" marL="0">
                        <a:buNone/>
                      </a:pP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Generation 1</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Final</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310896">
                <a:tc>
                  <a:txBody>
                    <a:bodyPr/>
                    <a:lstStyle/>
                    <a:p>
                      <a:pPr indent="0" marL="0">
                        <a:buNone/>
                      </a:pPr>
                      <a:r>
                        <a:rPr lang="en-US" sz="1050" b="1" dirty="0">
                          <a:solidFill>
                            <a:srgbClr val="1A1A1A"/>
                          </a:solidFill>
                          <a:latin typeface="Arial" pitchFamily="34" charset="0"/>
                          <a:ea typeface="Arial" pitchFamily="34" charset="-122"/>
                          <a:cs typeface="Arial" pitchFamily="34" charset="-120"/>
                        </a:rPr>
                        <a:t>Where is the claw?</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Assumed from commanded cable lengths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Measured by the claw camera at every startup</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10896">
                <a:tc>
                  <a:txBody>
                    <a:bodyPr/>
                    <a:lstStyle/>
                    <a:p>
                      <a:pPr indent="0" marL="0">
                        <a:buNone/>
                      </a:pPr>
                      <a:r>
                        <a:rPr lang="en-US" sz="1050" b="1" dirty="0">
                          <a:solidFill>
                            <a:srgbClr val="1A1A1A"/>
                          </a:solidFill>
                          <a:latin typeface="Arial" pitchFamily="34" charset="0"/>
                          <a:ea typeface="Arial" pitchFamily="34" charset="-122"/>
                          <a:cs typeface="Arial" pitchFamily="34" charset="-120"/>
                        </a:rPr>
                        <a:t>Room geometry</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Anchors from a tape measure</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Anchors and cable lengths fitted, with error bars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10896">
                <a:tc>
                  <a:txBody>
                    <a:bodyPr/>
                    <a:lstStyle/>
                    <a:p>
                      <a:pPr indent="0" marL="0">
                        <a:buNone/>
                      </a:pPr>
                      <a:r>
                        <a:rPr lang="en-US" sz="1050" b="1" dirty="0">
                          <a:solidFill>
                            <a:srgbClr val="1A1A1A"/>
                          </a:solidFill>
                          <a:latin typeface="Arial" pitchFamily="34" charset="0"/>
                          <a:ea typeface="Arial" pitchFamily="34" charset="-122"/>
                          <a:cs typeface="Arial" pitchFamily="34" charset="-120"/>
                        </a:rPr>
                        <a:t>Motor control</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One central board</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A controller per station, coordinated by the laptop</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10896">
                <a:tc>
                  <a:txBody>
                    <a:bodyPr/>
                    <a:lstStyle/>
                    <a:p>
                      <a:pPr indent="0" marL="0">
                        <a:buNone/>
                      </a:pPr>
                      <a:r>
                        <a:rPr lang="en-US" sz="1050" b="1" dirty="0">
                          <a:solidFill>
                            <a:srgbClr val="1A1A1A"/>
                          </a:solidFill>
                          <a:latin typeface="Arial" pitchFamily="34" charset="0"/>
                          <a:ea typeface="Arial" pitchFamily="34" charset="-122"/>
                          <a:cs typeface="Arial" pitchFamily="34" charset="-120"/>
                        </a:rPr>
                        <a:t>Finding laundry</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Ceiling camera</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Claw camera</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10896">
                <a:tc>
                  <a:txBody>
                    <a:bodyPr/>
                    <a:lstStyle/>
                    <a:p>
                      <a:pPr indent="0" marL="0">
                        <a:buNone/>
                      </a:pPr>
                      <a:r>
                        <a:rPr lang="en-US" sz="1050" b="1" dirty="0">
                          <a:solidFill>
                            <a:srgbClr val="1A1A1A"/>
                          </a:solidFill>
                          <a:latin typeface="Arial" pitchFamily="34" charset="0"/>
                          <a:ea typeface="Arial" pitchFamily="34" charset="-122"/>
                          <a:cs typeface="Arial" pitchFamily="34" charset="-120"/>
                        </a:rPr>
                        <a:t>Did the grab work?</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Assumed</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Camera checks pickup and delivery</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10896">
                <a:tc>
                  <a:txBody>
                    <a:bodyPr/>
                    <a:lstStyle/>
                    <a:p>
                      <a:pPr indent="0" marL="0">
                        <a:buNone/>
                      </a:pPr>
                      <a:r>
                        <a:rPr lang="en-US" sz="1050" b="1" dirty="0">
                          <a:solidFill>
                            <a:srgbClr val="1A1A1A"/>
                          </a:solidFill>
                          <a:latin typeface="Arial" pitchFamily="34" charset="0"/>
                          <a:ea typeface="Arial" pitchFamily="34" charset="-122"/>
                          <a:cs typeface="Arial" pitchFamily="34" charset="-120"/>
                        </a:rPr>
                        <a:t>Faults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Emergency stop only</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PAUSE keeps torque; a power loss drops the claw (no brake) and nothing resumes by itself</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8"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900"/>
              </a:spcAft>
              <a:buSzPct val="100000"/>
              <a:buChar char="•"/>
            </a:pPr>
            <a:r>
              <a:rPr lang="en-US" sz="1500" dirty="0">
                <a:solidFill>
                  <a:srgbClr val="1A1A1A"/>
                </a:solidFill>
                <a:latin typeface="Arial" pitchFamily="34" charset="0"/>
                <a:ea typeface="Arial" pitchFamily="34" charset="-122"/>
                <a:cs typeface="Arial" pitchFamily="34" charset="-120"/>
              </a:rPr>
              <a:t>An ESP32 in each box with everything it needs; the only thing going in is power, one thicker 12 V pair: 50 m (164 ft) of wire instead of 250 m, 0.51 V drop (calculated)</a:t>
            </a:r>
            <a:endParaRPr lang="en-US" sz="1500" dirty="0"/>
          </a:p>
          <a:p>
            <a:pPr algn="l" marL="254000" indent="-254000">
              <a:spcAft>
                <a:spcPts val="900"/>
              </a:spcAft>
              <a:buSzPct val="100000"/>
              <a:buChar char="•"/>
            </a:pPr>
            <a:r>
              <a:rPr lang="en-US" sz="1500" dirty="0">
                <a:solidFill>
                  <a:srgbClr val="1A1A1A"/>
                </a:solidFill>
                <a:latin typeface="Arial" pitchFamily="34" charset="0"/>
                <a:ea typeface="Arial" pitchFamily="34" charset="-122"/>
                <a:cs typeface="Arial" pitchFamily="34" charset="-120"/>
              </a:rPr>
              <a:t>Power can come from anywhere, so a box sits in any position and orientation; the room's geometry no longer limits where the winches go</a:t>
            </a:r>
            <a:endParaRPr lang="en-US" sz="1500" dirty="0"/>
          </a:p>
          <a:p>
            <a:pPr algn="l" marL="254000" indent="-254000">
              <a:spcAft>
                <a:spcPts val="900"/>
              </a:spcAft>
              <a:buSzPct val="100000"/>
              <a:buChar char="•"/>
            </a:pPr>
            <a:r>
              <a:rPr lang="en-US" sz="1500" dirty="0">
                <a:solidFill>
                  <a:srgbClr val="1A1A1A"/>
                </a:solidFill>
                <a:latin typeface="Arial" pitchFamily="34" charset="0"/>
                <a:ea typeface="Arial" pitchFamily="34" charset="-122"/>
                <a:cs typeface="Arial" pitchFamily="34" charset="-120"/>
              </a:rPr>
              <a:t>Plug and play: a box slides off its wall mount and unplugs for guests or storage; back on with one plug, it joins Wi-Fi by itself</a:t>
            </a:r>
            <a:endParaRPr lang="en-US" sz="1500" dirty="0"/>
          </a:p>
          <a:p>
            <a:pPr algn="l" marL="254000" indent="-254000">
              <a:spcAft>
                <a:spcPts val="900"/>
              </a:spcAft>
              <a:buSzPct val="100000"/>
              <a:buChar char="•"/>
            </a:pPr>
            <a:r>
              <a:rPr lang="en-US" sz="1500" dirty="0">
                <a:solidFill>
                  <a:srgbClr val="1A1A1A"/>
                </a:solidFill>
                <a:latin typeface="Arial" pitchFamily="34" charset="0"/>
                <a:ea typeface="Arial" pitchFamily="34" charset="-122"/>
                <a:cs typeface="Arial" pitchFamily="34" charset="-120"/>
              </a:rPr>
              <a:t>A product, not a tangle of wires from a central area; the mount is separate, so later a pole clamp instead of screws in a stud</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itle"/>
          <p:cNvSpPr txBox="1"/>
          <p:nvPr/>
        </p:nvSpPr>
        <p:spPr>
          <a:xfrm>
            <a:off x="548640" y="274320"/>
            <a:ext cx="9567367"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The claw camera replaces bead homing</a:t>
            </a:r>
            <a:endParaRPr lang="en-US" sz="2400" dirty="0"/>
          </a:p>
        </p:txBody>
      </p:sp>
      <p:sp>
        <p:nvSpPr>
          <p:cNvPr id="3" name="tag SIMULATED"/>
          <p:cNvSpPr txBox="1"/>
          <p:nvPr/>
        </p:nvSpPr>
        <p:spPr>
          <a:xfrm>
            <a:off x="10408615" y="530352"/>
            <a:ext cx="1234440" cy="256032"/>
          </a:xfrm>
          <a:prstGeom prst="roundRect">
            <a:avLst>
              <a:gd name="adj" fmla="val 50000"/>
            </a:avLst>
          </a:prstGeom>
          <a:solidFill>
            <a:srgbClr val="FFFFFF"/>
          </a:solidFill>
          <a:ln w="12700">
            <a:solidFill>
              <a:srgbClr val="7F7F7F"/>
            </a:solidFill>
            <a:prstDash val="dash"/>
          </a:ln>
        </p:spPr>
        <p:txBody>
          <a:bodyPr wrap="square" lIns="0" tIns="0" rIns="0" bIns="0" rtlCol="0" anchor="ctr"/>
          <a:lstStyle/>
          <a:p>
            <a:pPr algn="ctr" indent="0" marL="0">
              <a:buNone/>
            </a:pPr>
            <a:r>
              <a:rPr lang="en-US" sz="900" b="1" spc="120" kern="0" dirty="0">
                <a:solidFill>
                  <a:srgbClr val="7F7F7F"/>
                </a:solidFill>
                <a:latin typeface="Arial" pitchFamily="34" charset="0"/>
                <a:ea typeface="Arial" pitchFamily="34" charset="-122"/>
                <a:cs typeface="Arial" pitchFamily="34" charset="-120"/>
              </a:rPr>
              <a:t>SIMULATED</a:t>
            </a:r>
            <a:endParaRPr lang="en-US" sz="900" dirty="0"/>
          </a:p>
        </p:txBody>
      </p:sp>
      <p:sp>
        <p:nvSpPr>
          <p:cNvPr id="4"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3 of 5: Redesign (September to early October)</a:t>
            </a:r>
            <a:endParaRPr lang="en-US" sz="1000" dirty="0"/>
          </a:p>
        </p:txBody>
      </p:sp>
      <p:pic>
        <p:nvPicPr>
          <p:cNvPr id="5" name="Chart from the calculation sheet: Floor " descr="Chart from the calculation sheet: Floor board">    </p:cNvPr>
          <p:cNvPicPr>
            <a:picLocks noChangeAspect="1"/>
          </p:cNvPicPr>
          <p:nvPr/>
        </p:nvPicPr>
        <p:blipFill>
          <a:blip r:embed="rId1"/>
          <a:stretch>
            <a:fillRect/>
          </a:stretch>
        </p:blipFill>
        <p:spPr>
          <a:xfrm>
            <a:off x="548640" y="1188720"/>
            <a:ext cx="6400800" cy="4405409"/>
          </a:xfrm>
          <a:prstGeom prst="rect">
            <a:avLst/>
          </a:prstGeom>
        </p:spPr>
      </p:pic>
      <p:sp>
        <p:nvSpPr>
          <p:cNvPr id="6" name="caption"/>
          <p:cNvSpPr txBox="1"/>
          <p:nvPr/>
        </p:nvSpPr>
        <p:spPr>
          <a:xfrm>
            <a:off x="548640" y="5667281"/>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Calculated (calc sheet: Floor board)</a:t>
            </a:r>
            <a:endParaRPr lang="en-US" sz="1100" dirty="0"/>
          </a:p>
        </p:txBody>
      </p:sp>
      <p:sp>
        <p:nvSpPr>
          <p:cNvPr id="7"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The claw camera reads a printed floor board, and a fit finds the anchors and cable lengths: the whole room is reachable</a:t>
            </a:r>
            <a:endParaRPr lang="en-US" sz="1600" dirty="0"/>
          </a:p>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Camera pose per frame, best case: 6.6 mm with one tag in view, 0.7 mm with four</a:t>
            </a:r>
            <a:endParaRPr lang="en-US" sz="1600" dirty="0"/>
          </a:p>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After the fit, cable lengths are known to about 12–16 mm (simulated); the room opens only when the error bars allow it</a:t>
            </a:r>
            <a:endParaRPr lang="en-US" sz="1600" dirty="0"/>
          </a:p>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Beads stay on the cables as end stops: a bead reaching its switch stops that station</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itle"/>
          <p:cNvSpPr txBox="1"/>
          <p:nvPr/>
        </p:nvSpPr>
        <p:spPr>
          <a:xfrm>
            <a:off x="548640" y="274320"/>
            <a:ext cx="9567367"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Heat: a sealed PETG box would cook its own motor mount</a:t>
            </a:r>
            <a:endParaRPr lang="en-US" sz="2400" dirty="0"/>
          </a:p>
        </p:txBody>
      </p:sp>
      <p:sp>
        <p:nvSpPr>
          <p:cNvPr id="3" name="tag CALCULATED"/>
          <p:cNvSpPr txBox="1"/>
          <p:nvPr/>
        </p:nvSpPr>
        <p:spPr>
          <a:xfrm>
            <a:off x="10408615" y="530352"/>
            <a:ext cx="1234440" cy="256032"/>
          </a:xfrm>
          <a:prstGeom prst="roundRect">
            <a:avLst>
              <a:gd name="adj" fmla="val 50000"/>
            </a:avLst>
          </a:prstGeom>
          <a:solidFill>
            <a:srgbClr val="FFFFFF"/>
          </a:solidFill>
          <a:ln w="12700">
            <a:solidFill>
              <a:srgbClr val="1F3A5F"/>
            </a:solidFill>
          </a:ln>
        </p:spPr>
        <p:txBody>
          <a:bodyPr wrap="square" lIns="0" tIns="0" rIns="0" bIns="0" rtlCol="0" anchor="ctr"/>
          <a:lstStyle/>
          <a:p>
            <a:pPr algn="ctr" indent="0" marL="0">
              <a:buNone/>
            </a:pPr>
            <a:r>
              <a:rPr lang="en-US" sz="900" b="1" spc="120" kern="0" dirty="0">
                <a:solidFill>
                  <a:srgbClr val="1F3A5F"/>
                </a:solidFill>
                <a:latin typeface="Arial" pitchFamily="34" charset="0"/>
                <a:ea typeface="Arial" pitchFamily="34" charset="-122"/>
                <a:cs typeface="Arial" pitchFamily="34" charset="-120"/>
              </a:rPr>
              <a:t>CALCULATED</a:t>
            </a:r>
            <a:endParaRPr lang="en-US" sz="900" dirty="0"/>
          </a:p>
        </p:txBody>
      </p:sp>
      <p:sp>
        <p:nvSpPr>
          <p:cNvPr id="4"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4 of 5: Final design (October 7-21)</a:t>
            </a:r>
            <a:endParaRPr lang="en-US" sz="1000" dirty="0"/>
          </a:p>
        </p:txBody>
      </p:sp>
      <p:pic>
        <p:nvPicPr>
          <p:cNvPr id="5" name="Chart from the calculation sheet: Motor " descr="Chart from the calculation sheet: Motor temperature; assumed 1.8 Ω coil, 23 °C room">    </p:cNvPr>
          <p:cNvPicPr>
            <a:picLocks noChangeAspect="1"/>
          </p:cNvPicPr>
          <p:nvPr/>
        </p:nvPicPr>
        <p:blipFill>
          <a:blip r:embed="rId1"/>
          <a:stretch>
            <a:fillRect/>
          </a:stretch>
        </p:blipFill>
        <p:spPr>
          <a:xfrm>
            <a:off x="2189765" y="1188720"/>
            <a:ext cx="3027109" cy="2080260"/>
          </a:xfrm>
          <a:prstGeom prst="rect">
            <a:avLst/>
          </a:prstGeom>
        </p:spPr>
      </p:pic>
      <p:sp>
        <p:nvSpPr>
          <p:cNvPr id="6" name="caption"/>
          <p:cNvSpPr txBox="1"/>
          <p:nvPr/>
        </p:nvSpPr>
        <p:spPr>
          <a:xfrm>
            <a:off x="2189765" y="3342132"/>
            <a:ext cx="4114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Calculated (calc sheet: Motor temperature; assumed 1.8 Ω coil, 23 °C room)</a:t>
            </a:r>
            <a:endParaRPr lang="en-US" sz="1100" dirty="0"/>
          </a:p>
        </p:txBody>
      </p:sp>
      <p:pic>
        <p:nvPicPr>
          <p:cNvPr id="7" name="Chart from the calculation sheet: Heat f" descr="Chart from the calculation sheet: Heat fin; Incropera, ch. 3">    </p:cNvPr>
          <p:cNvPicPr>
            <a:picLocks noChangeAspect="1"/>
          </p:cNvPicPr>
          <p:nvPr/>
        </p:nvPicPr>
        <p:blipFill>
          <a:blip r:embed="rId2"/>
          <a:stretch>
            <a:fillRect/>
          </a:stretch>
        </p:blipFill>
        <p:spPr>
          <a:xfrm>
            <a:off x="2189730" y="3726180"/>
            <a:ext cx="3027181" cy="2080260"/>
          </a:xfrm>
          <a:prstGeom prst="rect">
            <a:avLst/>
          </a:prstGeom>
        </p:spPr>
      </p:pic>
      <p:sp>
        <p:nvSpPr>
          <p:cNvPr id="8" name="caption"/>
          <p:cNvSpPr txBox="1"/>
          <p:nvPr/>
        </p:nvSpPr>
        <p:spPr>
          <a:xfrm>
            <a:off x="2189730" y="5879592"/>
            <a:ext cx="4114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Calculated (calc sheet: Heat fin; Incropera, ch. 3)</a:t>
            </a:r>
            <a:endParaRPr lang="en-US" sz="1100" dirty="0"/>
          </a:p>
        </p:txBody>
      </p:sp>
      <p:sp>
        <p:nvSpPr>
          <p:cNvPr id="9" name="cooling bullets"/>
          <p:cNvSpPr txBox="1"/>
          <p:nvPr/>
        </p:nvSpPr>
        <p:spPr>
          <a:xfrm>
            <a:off x="7223760" y="1234440"/>
            <a:ext cx="4419295" cy="1737360"/>
          </a:xfrm>
          <a:prstGeom prst="rect">
            <a:avLst/>
          </a:prstGeom>
          <a:noFill/>
          <a:ln/>
        </p:spPr>
        <p:txBody>
          <a:bodyPr wrap="square" lIns="25400" tIns="0" rIns="50800" bIns="25400" rtlCol="0" anchor="t"/>
          <a:lstStyle/>
          <a:p>
            <a:pPr algn="l" marL="254000" indent="-254000">
              <a:spcAft>
                <a:spcPts val="400"/>
              </a:spcAft>
              <a:buSzPct val="100000"/>
              <a:buChar char="•"/>
            </a:pPr>
            <a:r>
              <a:rPr lang="en-US" sz="1200" dirty="0">
                <a:solidFill>
                  <a:srgbClr val="1A1A1A"/>
                </a:solidFill>
                <a:latin typeface="Arial" pitchFamily="34" charset="0"/>
                <a:ea typeface="Arial" pitchFamily="34" charset="-122"/>
                <a:cs typeface="Arial" pitchFamily="34" charset="-120"/>
              </a:rPr>
              <a:t>1.5 A doubles motor heat to 4.05 W; the PETG mount must stay below 60 °C</a:t>
            </a:r>
            <a:endParaRPr lang="en-US" sz="1200" dirty="0"/>
          </a:p>
          <a:p>
            <a:pPr algn="l" marL="254000" indent="-254000">
              <a:spcAft>
                <a:spcPts val="400"/>
              </a:spcAft>
              <a:buSzPct val="100000"/>
              <a:buChar char="•"/>
            </a:pPr>
            <a:r>
              <a:rPr lang="en-US" sz="1200" dirty="0">
                <a:solidFill>
                  <a:srgbClr val="1A1A1A"/>
                </a:solidFill>
                <a:latin typeface="Arial" pitchFamily="34" charset="0"/>
                <a:ea typeface="Arial" pitchFamily="34" charset="-122"/>
                <a:cs typeface="Arial" pitchFamily="34" charset="-120"/>
              </a:rPr>
              <a:t>The fin conducts heat off the motor flange and out of the shell to room air: 35–50 % of the 4.05 W</a:t>
            </a:r>
            <a:endParaRPr lang="en-US" sz="1200" dirty="0"/>
          </a:p>
          <a:p>
            <a:pPr algn="l" marL="254000" indent="-254000">
              <a:spcAft>
                <a:spcPts val="400"/>
              </a:spcAft>
              <a:buSzPct val="100000"/>
              <a:buChar char="•"/>
            </a:pPr>
            <a:r>
              <a:rPr lang="en-US" sz="1200" dirty="0">
                <a:solidFill>
                  <a:srgbClr val="1A1A1A"/>
                </a:solidFill>
                <a:latin typeface="Arial" pitchFamily="34" charset="0"/>
                <a:ea typeface="Arial" pitchFamily="34" charset="-122"/>
                <a:cs typeface="Arial" pitchFamily="34" charset="-120"/>
              </a:rPr>
              <a:t>Vented shell and fin: 56–59 °C with the 0.019 in prototype, 45–49 °C with the 1/8 in design</a:t>
            </a:r>
            <a:endParaRPr lang="en-US" sz="1200" dirty="0"/>
          </a:p>
          <a:p>
            <a:pPr algn="l" marL="254000" indent="-254000">
              <a:spcAft>
                <a:spcPts val="400"/>
              </a:spcAft>
              <a:buSzPct val="100000"/>
              <a:buChar char="•"/>
            </a:pPr>
            <a:r>
              <a:rPr lang="en-US" sz="1200" dirty="0">
                <a:solidFill>
                  <a:srgbClr val="1A1A1A"/>
                </a:solidFill>
                <a:latin typeface="Arial" pitchFamily="34" charset="0"/>
                <a:ea typeface="Arial" pitchFamily="34" charset="-122"/>
                <a:cs typeface="Arial" pitchFamily="34" charset="-120"/>
              </a:rPr>
              <a:t>Thin sheet stops gaining by 136 mm; 1/8 in plate keeps gaining to 349 mm</a:t>
            </a:r>
            <a:endParaRPr lang="en-US" sz="1200" dirty="0"/>
          </a:p>
        </p:txBody>
      </p:sp>
      <p:sp>
        <p:nvSpPr>
          <p:cNvPr id="10" name="label"/>
          <p:cNvSpPr txBox="1"/>
          <p:nvPr/>
        </p:nvSpPr>
        <p:spPr>
          <a:xfrm>
            <a:off x="7223760" y="2980944"/>
            <a:ext cx="4419295" cy="219456"/>
          </a:xfrm>
          <a:prstGeom prst="rect">
            <a:avLst/>
          </a:prstGeom>
          <a:noFill/>
          <a:ln/>
        </p:spPr>
        <p:txBody>
          <a:bodyPr wrap="square" lIns="0" tIns="0" rIns="0" bIns="0" rtlCol="0" anchor="ctr"/>
          <a:lstStyle/>
          <a:p>
            <a:pPr algn="l" indent="0" marL="0">
              <a:buNone/>
            </a:pPr>
            <a:r>
              <a:rPr lang="en-US" sz="1100" b="1" dirty="0">
                <a:solidFill>
                  <a:srgbClr val="1F3A5F"/>
                </a:solidFill>
                <a:latin typeface="Arial" pitchFamily="34" charset="0"/>
                <a:ea typeface="Arial" pitchFamily="34" charset="-122"/>
                <a:cs typeface="Arial" pitchFamily="34" charset="-120"/>
              </a:rPr>
              <a:t>If the fin alone carried all 4.05 W (painted 6061, 44 mm wide)</a:t>
            </a:r>
            <a:endParaRPr lang="en-US" sz="1100" dirty="0"/>
          </a:p>
        </p:txBody>
      </p:sp>
      <p:graphicFrame>
        <p:nvGraphicFramePr>
          <p:cNvPr id="16" name="fin sizing"/>
          <p:cNvGraphicFramePr>
            <a:graphicFrameLocks noGrp="1"/>
          </p:cNvGraphicFramePr>
          <p:nvPr>
            <p:extLst>
              <p:ext uri="{D42A27DB-BD31-4B8C-83A1-F6EECF244321}">
                <p14:modId xmlns:p14="http://schemas.microsoft.com/office/powerpoint/2010/main" val="1579011935"/>
              </p:ext>
            </p:extLst>
          </p:nvPr>
        </p:nvGraphicFramePr>
        <p:xfrm>
          <a:off x="7223760" y="3200400"/>
          <a:ext cx="4419295" cy="914400"/>
        </p:xfrm>
        <a:graphic>
          <a:graphicData uri="http://schemas.openxmlformats.org/drawingml/2006/table">
            <a:tbl>
              <a:tblPr/>
              <a:tblGrid>
                <a:gridCol w="1856104"/>
                <a:gridCol w="795473"/>
                <a:gridCol w="1767718"/>
              </a:tblGrid>
              <a:tr h="228600">
                <a:tc>
                  <a:txBody>
                    <a:bodyPr/>
                    <a:lstStyle/>
                    <a:p>
                      <a:pPr indent="0" marL="0">
                        <a:buNone/>
                      </a:pPr>
                      <a:r>
                        <a:rPr lang="en-US" sz="1000" b="1" dirty="0">
                          <a:solidFill>
                            <a:srgbClr val="FFFFFF"/>
                          </a:solidFill>
                          <a:latin typeface="Arial" pitchFamily="34" charset="0"/>
                          <a:ea typeface="Arial" pitchFamily="34" charset="-122"/>
                          <a:cs typeface="Arial" pitchFamily="34" charset="-120"/>
                        </a:rPr>
                        <a:t>Thickness</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Mass</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Shortest for ≤ 60 °C</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228600">
                <a:tc>
                  <a:txBody>
                    <a:bodyPr/>
                    <a:lstStyle/>
                    <a:p>
                      <a:pPr indent="0" marL="0">
                        <a:buNone/>
                      </a:pPr>
                      <a:r>
                        <a:rPr lang="en-US" sz="1000" b="1" dirty="0">
                          <a:solidFill>
                            <a:srgbClr val="1A1A1A"/>
                          </a:solidFill>
                          <a:latin typeface="Arial" pitchFamily="34" charset="0"/>
                          <a:ea typeface="Arial" pitchFamily="34" charset="-122"/>
                          <a:cs typeface="Arial" pitchFamily="34" charset="-120"/>
                        </a:rPr>
                        <a:t>0.019 in (prototype)</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14 g</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None (2.0 W max)</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228600">
                <a:tc>
                  <a:txBody>
                    <a:bodyPr/>
                    <a:lstStyle/>
                    <a:p>
                      <a:pPr indent="0" marL="0">
                        <a:buNone/>
                      </a:pPr>
                      <a:r>
                        <a:rPr lang="en-US" sz="1000" b="1" dirty="0">
                          <a:solidFill>
                            <a:srgbClr val="1A1A1A"/>
                          </a:solidFill>
                          <a:latin typeface="Arial" pitchFamily="34" charset="0"/>
                          <a:ea typeface="Arial" pitchFamily="34" charset="-122"/>
                          <a:cs typeface="Arial" pitchFamily="34" charset="-120"/>
                        </a:rPr>
                        <a:t>1/16 in</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47 g</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None (3.6 W max)</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228600">
                <a:tc>
                  <a:txBody>
                    <a:bodyPr/>
                    <a:lstStyle/>
                    <a:p>
                      <a:pPr indent="0" marL="0">
                        <a:buNone/>
                      </a:pPr>
                      <a:r>
                        <a:rPr lang="en-US" sz="1000" b="1" dirty="0">
                          <a:solidFill>
                            <a:srgbClr val="1A1A1A"/>
                          </a:solidFill>
                          <a:latin typeface="Arial" pitchFamily="34" charset="0"/>
                          <a:ea typeface="Arial" pitchFamily="34" charset="-122"/>
                          <a:cs typeface="Arial" pitchFamily="34" charset="-120"/>
                        </a:rPr>
                        <a:t>0.090 in</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68 g</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210 mm or none</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228600">
                <a:tc>
                  <a:txBody>
                    <a:bodyPr/>
                    <a:lstStyle/>
                    <a:p>
                      <a:pPr indent="0" marL="0">
                        <a:buNone/>
                      </a:pPr>
                      <a:r>
                        <a:rPr lang="en-US" sz="1000" b="1" dirty="0">
                          <a:solidFill>
                            <a:srgbClr val="1A1A1A"/>
                          </a:solidFill>
                          <a:latin typeface="Arial" pitchFamily="34" charset="0"/>
                          <a:ea typeface="Arial" pitchFamily="34" charset="-122"/>
                          <a:cs typeface="Arial" pitchFamily="34" charset="-120"/>
                        </a:rPr>
                        <a:t>1/8 in (design)</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94 g</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145–185 mm</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228600">
                <a:tc>
                  <a:txBody>
                    <a:bodyPr/>
                    <a:lstStyle/>
                    <a:p>
                      <a:pPr indent="0" marL="0">
                        <a:buNone/>
                      </a:pPr>
                      <a:r>
                        <a:rPr lang="en-US" sz="1000" b="1" dirty="0">
                          <a:solidFill>
                            <a:srgbClr val="1A1A1A"/>
                          </a:solidFill>
                          <a:latin typeface="Arial" pitchFamily="34" charset="0"/>
                          <a:ea typeface="Arial" pitchFamily="34" charset="-122"/>
                          <a:cs typeface="Arial" pitchFamily="34" charset="-120"/>
                        </a:rPr>
                        <a:t>3/16 in</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141 g</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125–140 mm</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228600">
                <a:tc>
                  <a:txBody>
                    <a:bodyPr/>
                    <a:lstStyle/>
                    <a:p>
                      <a:pPr indent="0" marL="0">
                        <a:buNone/>
                      </a:pPr>
                      <a:r>
                        <a:rPr lang="en-US" sz="1000" b="1" dirty="0">
                          <a:solidFill>
                            <a:srgbClr val="1A1A1A"/>
                          </a:solidFill>
                          <a:latin typeface="Arial" pitchFamily="34" charset="0"/>
                          <a:ea typeface="Arial" pitchFamily="34" charset="-122"/>
                          <a:cs typeface="Arial" pitchFamily="34" charset="-120"/>
                        </a:rPr>
                        <a:t>1/4 in</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189 g</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115–125 mm</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12" name="equation box"/>
          <p:cNvSpPr/>
          <p:nvPr/>
        </p:nvSpPr>
        <p:spPr>
          <a:xfrm>
            <a:off x="7223760" y="5093208"/>
            <a:ext cx="4419295" cy="1078992"/>
          </a:xfrm>
          <a:prstGeom prst="rect">
            <a:avLst/>
          </a:prstGeom>
          <a:solidFill>
            <a:srgbClr val="F7F8FA"/>
          </a:solidFill>
          <a:ln w="12700">
            <a:solidFill>
              <a:srgbClr val="1F3A5F"/>
            </a:solidFill>
            <a:prstDash val="solid"/>
          </a:ln>
        </p:spPr>
      </p:sp>
      <p:sp>
        <p:nvSpPr>
          <p:cNvPr id="13" name="equation title"/>
          <p:cNvSpPr txBox="1"/>
          <p:nvPr/>
        </p:nvSpPr>
        <p:spPr>
          <a:xfrm>
            <a:off x="7370064" y="5166360"/>
            <a:ext cx="4126687" cy="219456"/>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Motor heat, P = I² R</a:t>
            </a:r>
            <a:endParaRPr lang="en-US" sz="1100" dirty="0"/>
          </a:p>
        </p:txBody>
      </p:sp>
      <p:sp>
        <p:nvSpPr>
          <p:cNvPr id="14" name="equations"/>
          <p:cNvSpPr txBox="1"/>
          <p:nvPr/>
        </p:nvSpPr>
        <p:spPr>
          <a:xfrm>
            <a:off x="7370064" y="5422392"/>
            <a:ext cx="4126687" cy="694944"/>
          </a:xfrm>
          <a:prstGeom prst="rect">
            <a:avLst/>
          </a:prstGeom>
          <a:noFill/>
          <a:ln/>
        </p:spPr>
        <p:txBody>
          <a:bodyPr wrap="square" lIns="0" tIns="0" rIns="0" bIns="0" rtlCol="0" anchor="t"/>
          <a:lstStyle/>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At 1.06 A: (1.06 A)² × 1.8 Ω = 2.0 W</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At 1.5 A: (1.5 A)² × 1.8 Ω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4.05 W</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itle"/>
          <p:cNvSpPr txBox="1"/>
          <p:nvPr/>
        </p:nvSpPr>
        <p:spPr>
          <a:xfrm>
            <a:off x="548640" y="274320"/>
            <a:ext cx="8223199"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Winch pull and what the four winches can lift</a:t>
            </a:r>
            <a:endParaRPr lang="en-US" sz="2400" dirty="0"/>
          </a:p>
        </p:txBody>
      </p:sp>
      <p:sp>
        <p:nvSpPr>
          <p:cNvPr id="3" name="tag MEASURED"/>
          <p:cNvSpPr txBox="1"/>
          <p:nvPr/>
        </p:nvSpPr>
        <p:spPr>
          <a:xfrm>
            <a:off x="9064447" y="530352"/>
            <a:ext cx="1234440" cy="256032"/>
          </a:xfrm>
          <a:prstGeom prst="roundRect">
            <a:avLst>
              <a:gd name="adj" fmla="val 50000"/>
            </a:avLst>
          </a:prstGeom>
          <a:solidFill>
            <a:srgbClr val="1F3A5F"/>
          </a:solidFill>
          <a:ln w="12700">
            <a:solidFill>
              <a:srgbClr val="1F3A5F"/>
            </a:solidFill>
          </a:ln>
        </p:spPr>
        <p:txBody>
          <a:bodyPr wrap="square" lIns="0" tIns="0" rIns="0" bIns="0" rtlCol="0" anchor="ctr"/>
          <a:lstStyle/>
          <a:p>
            <a:pPr algn="ctr" indent="0" marL="0">
              <a:buNone/>
            </a:pPr>
            <a:r>
              <a:rPr lang="en-US" sz="900" b="1" spc="120" kern="0" dirty="0">
                <a:solidFill>
                  <a:srgbClr val="FFFFFF"/>
                </a:solidFill>
                <a:latin typeface="Arial" pitchFamily="34" charset="0"/>
                <a:ea typeface="Arial" pitchFamily="34" charset="-122"/>
                <a:cs typeface="Arial" pitchFamily="34" charset="-120"/>
              </a:rPr>
              <a:t>MEASURED</a:t>
            </a:r>
            <a:endParaRPr lang="en-US" sz="900" dirty="0"/>
          </a:p>
        </p:txBody>
      </p:sp>
      <p:sp>
        <p:nvSpPr>
          <p:cNvPr id="4" name="tag CALCULATED"/>
          <p:cNvSpPr txBox="1"/>
          <p:nvPr/>
        </p:nvSpPr>
        <p:spPr>
          <a:xfrm>
            <a:off x="10408615" y="530352"/>
            <a:ext cx="1234440" cy="256032"/>
          </a:xfrm>
          <a:prstGeom prst="roundRect">
            <a:avLst>
              <a:gd name="adj" fmla="val 50000"/>
            </a:avLst>
          </a:prstGeom>
          <a:solidFill>
            <a:srgbClr val="FFFFFF"/>
          </a:solidFill>
          <a:ln w="12700">
            <a:solidFill>
              <a:srgbClr val="1F3A5F"/>
            </a:solidFill>
          </a:ln>
        </p:spPr>
        <p:txBody>
          <a:bodyPr wrap="square" lIns="0" tIns="0" rIns="0" bIns="0" rtlCol="0" anchor="ctr"/>
          <a:lstStyle/>
          <a:p>
            <a:pPr algn="ctr" indent="0" marL="0">
              <a:buNone/>
            </a:pPr>
            <a:r>
              <a:rPr lang="en-US" sz="900" b="1" spc="120" kern="0" dirty="0">
                <a:solidFill>
                  <a:srgbClr val="1F3A5F"/>
                </a:solidFill>
                <a:latin typeface="Arial" pitchFamily="34" charset="0"/>
                <a:ea typeface="Arial" pitchFamily="34" charset="-122"/>
                <a:cs typeface="Arial" pitchFamily="34" charset="-120"/>
              </a:rPr>
              <a:t>CALCULATED</a:t>
            </a:r>
            <a:endParaRPr lang="en-US" sz="900" dirty="0"/>
          </a:p>
        </p:txBody>
      </p:sp>
      <p:sp>
        <p:nvSpPr>
          <p:cNvPr id="5"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4 of 5: Final design (October 7-21)</a:t>
            </a:r>
            <a:endParaRPr lang="en-US" sz="1000" dirty="0"/>
          </a:p>
        </p:txBody>
      </p:sp>
      <p:pic>
        <p:nvPicPr>
          <p:cNvPr id="6" name="Chart from the calculation sheet: Winch " descr="Chart from the calculation sheet: Winch pull">    </p:cNvPr>
          <p:cNvPicPr>
            <a:picLocks noChangeAspect="1"/>
          </p:cNvPicPr>
          <p:nvPr/>
        </p:nvPicPr>
        <p:blipFill>
          <a:blip r:embed="rId1"/>
          <a:stretch>
            <a:fillRect/>
          </a:stretch>
        </p:blipFill>
        <p:spPr>
          <a:xfrm>
            <a:off x="2192072" y="1188720"/>
            <a:ext cx="3022495" cy="2080260"/>
          </a:xfrm>
          <a:prstGeom prst="rect">
            <a:avLst/>
          </a:prstGeom>
        </p:spPr>
      </p:pic>
      <p:sp>
        <p:nvSpPr>
          <p:cNvPr id="7" name="caption"/>
          <p:cNvSpPr txBox="1"/>
          <p:nvPr/>
        </p:nvSpPr>
        <p:spPr>
          <a:xfrm>
            <a:off x="2192072" y="3342132"/>
            <a:ext cx="4114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Calculated (calc sheet: Winch pull)</a:t>
            </a:r>
            <a:endParaRPr lang="en-US" sz="1100" dirty="0"/>
          </a:p>
        </p:txBody>
      </p:sp>
      <p:pic>
        <p:nvPicPr>
          <p:cNvPr id="8" name="Chart from the calculation sheet: Lift b" descr="Chart from the calculation sheet: Lift budget">    </p:cNvPr>
          <p:cNvPicPr>
            <a:picLocks noChangeAspect="1"/>
          </p:cNvPicPr>
          <p:nvPr/>
        </p:nvPicPr>
        <p:blipFill>
          <a:blip r:embed="rId2"/>
          <a:stretch>
            <a:fillRect/>
          </a:stretch>
        </p:blipFill>
        <p:spPr>
          <a:xfrm>
            <a:off x="2192072" y="3726180"/>
            <a:ext cx="3022495" cy="2080260"/>
          </a:xfrm>
          <a:prstGeom prst="rect">
            <a:avLst/>
          </a:prstGeom>
        </p:spPr>
      </p:pic>
      <p:sp>
        <p:nvSpPr>
          <p:cNvPr id="9" name="caption"/>
          <p:cNvSpPr txBox="1"/>
          <p:nvPr/>
        </p:nvSpPr>
        <p:spPr>
          <a:xfrm>
            <a:off x="2192072" y="5879592"/>
            <a:ext cx="4114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Calculated (calc sheet: Lift budget)</a:t>
            </a:r>
            <a:endParaRPr lang="en-US" sz="1100" dirty="0"/>
          </a:p>
        </p:txBody>
      </p:sp>
      <p:sp>
        <p:nvSpPr>
          <p:cNvPr id="10" name="lift bullets"/>
          <p:cNvSpPr txBox="1"/>
          <p:nvPr/>
        </p:nvSpPr>
        <p:spPr>
          <a:xfrm>
            <a:off x="7223760" y="1234440"/>
            <a:ext cx="4419295" cy="3675888"/>
          </a:xfrm>
          <a:prstGeom prst="rect">
            <a:avLst/>
          </a:prstGeom>
          <a:noFill/>
          <a:ln/>
        </p:spPr>
        <p:txBody>
          <a:bodyPr wrap="square" lIns="25400" tIns="0" rIns="50800" bIns="25400" rtlCol="0" anchor="t"/>
          <a:lstStyle/>
          <a:p>
            <a:pPr algn="l" marL="254000" indent="-254000">
              <a:spcAft>
                <a:spcPts val="800"/>
              </a:spcAft>
              <a:buSzPct val="100000"/>
              <a:buChar char="•"/>
            </a:pPr>
            <a:r>
              <a:rPr lang="en-US" sz="1500" dirty="0">
                <a:solidFill>
                  <a:srgbClr val="1A1A1A"/>
                </a:solidFill>
                <a:latin typeface="Arial" pitchFamily="34" charset="0"/>
                <a:ea typeface="Arial" pitchFamily="34" charset="-122"/>
                <a:cs typeface="Arial" pitchFamily="34" charset="-120"/>
              </a:rPr>
              <a:t>Calculated pull at 1.5 A: 34 N on an empty spool, 25 N when full; running torque assumed 0.7 × holding</a:t>
            </a:r>
            <a:endParaRPr lang="en-US" sz="1500" dirty="0"/>
          </a:p>
          <a:p>
            <a:pPr algn="l" marL="254000" indent="-254000">
              <a:spcAft>
                <a:spcPts val="800"/>
              </a:spcAft>
              <a:buSzPct val="100000"/>
              <a:buChar char="•"/>
            </a:pPr>
            <a:r>
              <a:rPr lang="en-US" sz="1500" dirty="0">
                <a:solidFill>
                  <a:srgbClr val="1A1A1A"/>
                </a:solidFill>
                <a:latin typeface="Arial" pitchFamily="34" charset="0"/>
                <a:ea typeface="Arial" pitchFamily="34" charset="-122"/>
                <a:cs typeface="Arial" pitchFamily="34" charset="-120"/>
              </a:rPr>
              <a:t>Claw with battery weighed 0.60 kg (0.86 kg estimated)</a:t>
            </a:r>
            <a:endParaRPr lang="en-US" sz="1500" dirty="0"/>
          </a:p>
          <a:p>
            <a:pPr algn="l" marL="254000" indent="-254000">
              <a:spcAft>
                <a:spcPts val="800"/>
              </a:spcAft>
              <a:buSzPct val="100000"/>
              <a:buChar char="•"/>
            </a:pPr>
            <a:r>
              <a:rPr lang="en-US" sz="1500" dirty="0">
                <a:solidFill>
                  <a:srgbClr val="1A1A1A"/>
                </a:solidFill>
                <a:latin typeface="Arial" pitchFamily="34" charset="0"/>
                <a:ea typeface="Arial" pitchFamily="34" charset="-122"/>
                <a:cs typeface="Arial" pitchFamily="34" charset="-120"/>
              </a:rPr>
              <a:t>Jeans: 1.50 kg against 1.56 kg capacity, a 4 % margin, inside the uncertainty (1.1 kg at 0.5 × holding torque)</a:t>
            </a:r>
            <a:endParaRPr lang="en-US" sz="1500" dirty="0"/>
          </a:p>
          <a:p>
            <a:pPr algn="l" marL="254000" indent="-254000">
              <a:spcAft>
                <a:spcPts val="800"/>
              </a:spcAft>
              <a:buSzPct val="100000"/>
              <a:buChar char="•"/>
            </a:pPr>
            <a:r>
              <a:rPr lang="en-US" sz="1500" dirty="0">
                <a:solidFill>
                  <a:srgbClr val="1A1A1A"/>
                </a:solidFill>
                <a:latin typeface="Arial" pitchFamily="34" charset="0"/>
                <a:ea typeface="Arial" pitchFamily="34" charset="-122"/>
                <a:cs typeface="Arial" pitchFamily="34" charset="-120"/>
              </a:rPr>
              <a:t>The pull test decides: keep 1.5 A, or add a gear stage at each winch</a:t>
            </a:r>
            <a:endParaRPr lang="en-US" sz="1500" dirty="0"/>
          </a:p>
        </p:txBody>
      </p:sp>
      <p:sp>
        <p:nvSpPr>
          <p:cNvPr id="11" name="equation box"/>
          <p:cNvSpPr/>
          <p:nvPr/>
        </p:nvSpPr>
        <p:spPr>
          <a:xfrm>
            <a:off x="7223760" y="5093208"/>
            <a:ext cx="4419295" cy="1078992"/>
          </a:xfrm>
          <a:prstGeom prst="rect">
            <a:avLst/>
          </a:prstGeom>
          <a:solidFill>
            <a:srgbClr val="F7F8FA"/>
          </a:solidFill>
          <a:ln w="12700">
            <a:solidFill>
              <a:srgbClr val="1F3A5F"/>
            </a:solidFill>
            <a:prstDash val="solid"/>
          </a:ln>
        </p:spPr>
      </p:sp>
      <p:sp>
        <p:nvSpPr>
          <p:cNvPr id="12" name="equation title"/>
          <p:cNvSpPr txBox="1"/>
          <p:nvPr/>
        </p:nvSpPr>
        <p:spPr>
          <a:xfrm>
            <a:off x="7370064" y="5166360"/>
            <a:ext cx="4126687" cy="219456"/>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Lift capacity</a:t>
            </a:r>
            <a:endParaRPr lang="en-US" sz="1100" dirty="0"/>
          </a:p>
        </p:txBody>
      </p:sp>
      <p:sp>
        <p:nvSpPr>
          <p:cNvPr id="13" name="equations"/>
          <p:cNvSpPr txBox="1"/>
          <p:nvPr/>
        </p:nvSpPr>
        <p:spPr>
          <a:xfrm>
            <a:off x="7370064" y="5422392"/>
            <a:ext cx="4126687" cy="694944"/>
          </a:xfrm>
          <a:prstGeom prst="rect">
            <a:avLst/>
          </a:prstGeom>
          <a:noFill/>
          <a:ln/>
        </p:spPr>
        <p:txBody>
          <a:bodyPr wrap="square" lIns="0" tIns="0" rIns="0" bIns="0" rtlCol="0" anchor="t"/>
          <a:lstStyle/>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m</a:t>
            </a:r>
            <a:pPr algn="l" indent="0" marL="0">
              <a:spcAft>
                <a:spcPts val="400"/>
              </a:spcAft>
              <a:buNone/>
            </a:pPr>
            <a:r>
              <a:rPr lang="en-US" sz="1500" baseline="-40000" dirty="0">
                <a:solidFill>
                  <a:srgbClr val="1A1A1A"/>
                </a:solidFill>
                <a:latin typeface="Cambria" pitchFamily="34" charset="0"/>
                <a:ea typeface="Cambria" pitchFamily="34" charset="-122"/>
                <a:cs typeface="Cambria" pitchFamily="34" charset="-120"/>
              </a:rPr>
              <a:t>max</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 F</a:t>
            </a:r>
            <a:pPr algn="l" indent="0" marL="0">
              <a:spcAft>
                <a:spcPts val="400"/>
              </a:spcAft>
              <a:buNone/>
            </a:pPr>
            <a:r>
              <a:rPr lang="en-US" sz="1500" baseline="-40000" dirty="0">
                <a:solidFill>
                  <a:srgbClr val="1A1A1A"/>
                </a:solidFill>
                <a:latin typeface="Cambria" pitchFamily="34" charset="0"/>
                <a:ea typeface="Cambria" pitchFamily="34" charset="-122"/>
                <a:cs typeface="Cambria" pitchFamily="34" charset="-120"/>
              </a:rPr>
              <a:t>design</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 (k g) = 16.8 / (1.101 × 9.81)</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1.56 kg</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against 0.60 + 0.90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1.50 kg</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itle"/>
          <p:cNvSpPr txBox="1"/>
          <p:nvPr/>
        </p:nvSpPr>
        <p:spPr>
          <a:xfrm>
            <a:off x="548640" y="274320"/>
            <a:ext cx="9567367"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The claw: geared four-bar hands, camera bay, one 2S pack</a:t>
            </a:r>
            <a:endParaRPr lang="en-US" sz="2400" dirty="0"/>
          </a:p>
        </p:txBody>
      </p:sp>
      <p:sp>
        <p:nvSpPr>
          <p:cNvPr id="3" name="tag CALCULATED"/>
          <p:cNvSpPr txBox="1"/>
          <p:nvPr/>
        </p:nvSpPr>
        <p:spPr>
          <a:xfrm>
            <a:off x="10408615" y="530352"/>
            <a:ext cx="1234440" cy="256032"/>
          </a:xfrm>
          <a:prstGeom prst="roundRect">
            <a:avLst>
              <a:gd name="adj" fmla="val 50000"/>
            </a:avLst>
          </a:prstGeom>
          <a:solidFill>
            <a:srgbClr val="FFFFFF"/>
          </a:solidFill>
          <a:ln w="12700">
            <a:solidFill>
              <a:srgbClr val="1F3A5F"/>
            </a:solidFill>
          </a:ln>
        </p:spPr>
        <p:txBody>
          <a:bodyPr wrap="square" lIns="0" tIns="0" rIns="0" bIns="0" rtlCol="0" anchor="ctr"/>
          <a:lstStyle/>
          <a:p>
            <a:pPr algn="ctr" indent="0" marL="0">
              <a:buNone/>
            </a:pPr>
            <a:r>
              <a:rPr lang="en-US" sz="900" b="1" spc="120" kern="0" dirty="0">
                <a:solidFill>
                  <a:srgbClr val="1F3A5F"/>
                </a:solidFill>
                <a:latin typeface="Arial" pitchFamily="34" charset="0"/>
                <a:ea typeface="Arial" pitchFamily="34" charset="-122"/>
                <a:cs typeface="Arial" pitchFamily="34" charset="-120"/>
              </a:rPr>
              <a:t>CALCULATED</a:t>
            </a:r>
            <a:endParaRPr lang="en-US" sz="900" dirty="0"/>
          </a:p>
        </p:txBody>
      </p:sp>
      <p:sp>
        <p:nvSpPr>
          <p:cNvPr id="4"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4 of 5: Final design (October 7-21)</a:t>
            </a:r>
            <a:endParaRPr lang="en-US" sz="1000" dirty="0"/>
          </a:p>
        </p:txBody>
      </p:sp>
      <p:pic>
        <p:nvPicPr>
          <p:cNvPr id="5" name="Claw assembled (Oct 22)" descr="Claw assembled (Oct 22)">    </p:cNvPr>
          <p:cNvPicPr>
            <a:picLocks noChangeAspect="1"/>
          </p:cNvPicPr>
          <p:nvPr/>
        </p:nvPicPr>
        <p:blipFill>
          <a:blip r:embed="rId1"/>
          <a:stretch>
            <a:fillRect/>
          </a:stretch>
        </p:blipFill>
        <p:spPr>
          <a:xfrm>
            <a:off x="548640" y="1188720"/>
            <a:ext cx="3331528" cy="4442037"/>
          </a:xfrm>
          <a:prstGeom prst="rect">
            <a:avLst/>
          </a:prstGeom>
        </p:spPr>
      </p:pic>
      <p:sp>
        <p:nvSpPr>
          <p:cNvPr id="6" name="caption"/>
          <p:cNvSpPr txBox="1"/>
          <p:nvPr/>
        </p:nvSpPr>
        <p:spPr>
          <a:xfrm>
            <a:off x="548640" y="5676477"/>
            <a:ext cx="3605848"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1  Claw assembled (Oct 22)</a:t>
            </a:r>
            <a:endParaRPr lang="en-US" sz="1100" dirty="0"/>
          </a:p>
        </p:txBody>
      </p:sp>
      <p:pic>
        <p:nvPicPr>
          <p:cNvPr id="7" name="Electronics housing open (Oct 26)" descr="Electronics housing open (Oct 26)">    </p:cNvPr>
          <p:cNvPicPr>
            <a:picLocks noChangeAspect="1"/>
          </p:cNvPicPr>
          <p:nvPr/>
        </p:nvPicPr>
        <p:blipFill>
          <a:blip r:embed="rId2"/>
          <a:stretch>
            <a:fillRect/>
          </a:stretch>
        </p:blipFill>
        <p:spPr>
          <a:xfrm>
            <a:off x="3989896" y="1188720"/>
            <a:ext cx="3331528" cy="4442037"/>
          </a:xfrm>
          <a:prstGeom prst="rect">
            <a:avLst/>
          </a:prstGeom>
        </p:spPr>
      </p:pic>
      <p:sp>
        <p:nvSpPr>
          <p:cNvPr id="8" name="caption"/>
          <p:cNvSpPr txBox="1"/>
          <p:nvPr/>
        </p:nvSpPr>
        <p:spPr>
          <a:xfrm>
            <a:off x="3989896" y="5676477"/>
            <a:ext cx="3605848"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2  Electronics housing open (Oct 26)</a:t>
            </a:r>
            <a:endParaRPr lang="en-US" sz="1100" dirty="0"/>
          </a:p>
        </p:txBody>
      </p:sp>
      <p:sp>
        <p:nvSpPr>
          <p:cNvPr id="9" name="bullets"/>
          <p:cNvSpPr txBox="1"/>
          <p:nvPr/>
        </p:nvSpPr>
        <p:spPr>
          <a:xfrm>
            <a:off x="7726680" y="1234440"/>
            <a:ext cx="3916375" cy="3675888"/>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The hands are four-bar couplers: they stay within 1° of parallel over the 53 mm opening</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Grip 13.3–25 N per jaw against 17.7 N for jeans: short at the narrowest grab, enough above a 22 mm grab</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One 7.4 V two-cell pack: a 6 V regulator for the servo, a 5 V buck for the board, a 200k/100k divider for battery sense</a:t>
            </a:r>
            <a:endParaRPr lang="en-US" sz="1700" dirty="0"/>
          </a:p>
        </p:txBody>
      </p:sp>
      <p:sp>
        <p:nvSpPr>
          <p:cNvPr id="10" name="equation box"/>
          <p:cNvSpPr/>
          <p:nvPr/>
        </p:nvSpPr>
        <p:spPr>
          <a:xfrm>
            <a:off x="7726680" y="5093208"/>
            <a:ext cx="3916375" cy="1078992"/>
          </a:xfrm>
          <a:prstGeom prst="rect">
            <a:avLst/>
          </a:prstGeom>
          <a:solidFill>
            <a:srgbClr val="F7F8FA"/>
          </a:solidFill>
          <a:ln w="12700">
            <a:solidFill>
              <a:srgbClr val="1F3A5F"/>
            </a:solidFill>
            <a:prstDash val="solid"/>
          </a:ln>
        </p:spPr>
      </p:sp>
      <p:sp>
        <p:nvSpPr>
          <p:cNvPr id="11" name="equation title"/>
          <p:cNvSpPr txBox="1"/>
          <p:nvPr/>
        </p:nvSpPr>
        <p:spPr>
          <a:xfrm>
            <a:off x="7872984" y="5166360"/>
            <a:ext cx="3623767" cy="219456"/>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Grip force per jaw, jeans</a:t>
            </a:r>
            <a:endParaRPr lang="en-US" sz="1100" dirty="0"/>
          </a:p>
        </p:txBody>
      </p:sp>
      <p:sp>
        <p:nvSpPr>
          <p:cNvPr id="12" name="equations"/>
          <p:cNvSpPr txBox="1"/>
          <p:nvPr/>
        </p:nvSpPr>
        <p:spPr>
          <a:xfrm>
            <a:off x="7872984" y="5422392"/>
            <a:ext cx="3623767" cy="694944"/>
          </a:xfrm>
          <a:prstGeom prst="rect">
            <a:avLst/>
          </a:prstGeom>
          <a:noFill/>
          <a:ln/>
        </p:spPr>
        <p:txBody>
          <a:bodyPr wrap="square" lIns="0" tIns="0" rIns="0" bIns="0" rtlCol="0" anchor="t"/>
          <a:lstStyle/>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N ≥ m (g + a) / (2μ) = 0.9 × 11.81 / 0.6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17.7 N</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Jaws: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13.3 N</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narrowest, 25 N at a 70 mm grab</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itle"/>
          <p:cNvSpPr txBox="1"/>
          <p:nvPr/>
        </p:nvSpPr>
        <p:spPr>
          <a:xfrm>
            <a:off x="548640" y="274320"/>
            <a:ext cx="8223199"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The gripper is a modular attachment, on purpose</a:t>
            </a:r>
            <a:endParaRPr lang="en-US" sz="2400" dirty="0"/>
          </a:p>
        </p:txBody>
      </p:sp>
      <p:sp>
        <p:nvSpPr>
          <p:cNvPr id="3" name="tag MEASURED"/>
          <p:cNvSpPr txBox="1"/>
          <p:nvPr/>
        </p:nvSpPr>
        <p:spPr>
          <a:xfrm>
            <a:off x="9064447" y="530352"/>
            <a:ext cx="1234440" cy="256032"/>
          </a:xfrm>
          <a:prstGeom prst="roundRect">
            <a:avLst>
              <a:gd name="adj" fmla="val 50000"/>
            </a:avLst>
          </a:prstGeom>
          <a:solidFill>
            <a:srgbClr val="1F3A5F"/>
          </a:solidFill>
          <a:ln w="12700">
            <a:solidFill>
              <a:srgbClr val="1F3A5F"/>
            </a:solidFill>
          </a:ln>
        </p:spPr>
        <p:txBody>
          <a:bodyPr wrap="square" lIns="0" tIns="0" rIns="0" bIns="0" rtlCol="0" anchor="ctr"/>
          <a:lstStyle/>
          <a:p>
            <a:pPr algn="ctr" indent="0" marL="0">
              <a:buNone/>
            </a:pPr>
            <a:r>
              <a:rPr lang="en-US" sz="900" b="1" spc="120" kern="0" dirty="0">
                <a:solidFill>
                  <a:srgbClr val="FFFFFF"/>
                </a:solidFill>
                <a:latin typeface="Arial" pitchFamily="34" charset="0"/>
                <a:ea typeface="Arial" pitchFamily="34" charset="-122"/>
                <a:cs typeface="Arial" pitchFamily="34" charset="-120"/>
              </a:rPr>
              <a:t>MEASURED</a:t>
            </a:r>
            <a:endParaRPr lang="en-US" sz="900" dirty="0"/>
          </a:p>
        </p:txBody>
      </p:sp>
      <p:sp>
        <p:nvSpPr>
          <p:cNvPr id="4" name="tag CAD"/>
          <p:cNvSpPr txBox="1"/>
          <p:nvPr/>
        </p:nvSpPr>
        <p:spPr>
          <a:xfrm>
            <a:off x="10408615" y="530352"/>
            <a:ext cx="1234440" cy="256032"/>
          </a:xfrm>
          <a:prstGeom prst="roundRect">
            <a:avLst>
              <a:gd name="adj" fmla="val 50000"/>
            </a:avLst>
          </a:prstGeom>
          <a:solidFill>
            <a:srgbClr val="FFFFFF"/>
          </a:solidFill>
          <a:ln w="12700">
            <a:solidFill>
              <a:srgbClr val="1F3A5F"/>
            </a:solidFill>
          </a:ln>
        </p:spPr>
        <p:txBody>
          <a:bodyPr wrap="square" lIns="0" tIns="0" rIns="0" bIns="0" rtlCol="0" anchor="ctr"/>
          <a:lstStyle/>
          <a:p>
            <a:pPr algn="ctr" indent="0" marL="0">
              <a:buNone/>
            </a:pPr>
            <a:r>
              <a:rPr lang="en-US" sz="900" b="1" spc="120" kern="0" dirty="0">
                <a:solidFill>
                  <a:srgbClr val="1F3A5F"/>
                </a:solidFill>
                <a:latin typeface="Arial" pitchFamily="34" charset="0"/>
                <a:ea typeface="Arial" pitchFamily="34" charset="-122"/>
                <a:cs typeface="Arial" pitchFamily="34" charset="-120"/>
              </a:rPr>
              <a:t>CAD</a:t>
            </a:r>
            <a:endParaRPr lang="en-US" sz="900" dirty="0"/>
          </a:p>
        </p:txBody>
      </p:sp>
      <p:sp>
        <p:nvSpPr>
          <p:cNvPr id="5"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4 of 5: Final design (October 7-21)</a:t>
            </a:r>
            <a:endParaRPr lang="en-US" sz="1000" dirty="0"/>
          </a:p>
        </p:txBody>
      </p:sp>
      <p:pic>
        <p:nvPicPr>
          <p:cNvPr id="6" name="Gripper experiments" descr="Gripper experiments">    </p:cNvPr>
          <p:cNvPicPr>
            <a:picLocks noChangeAspect="1"/>
          </p:cNvPicPr>
          <p:nvPr/>
        </p:nvPicPr>
        <p:blipFill>
          <a:blip r:embed="rId1"/>
          <a:stretch>
            <a:fillRect/>
          </a:stretch>
        </p:blipFill>
        <p:spPr>
          <a:xfrm>
            <a:off x="743828" y="1188720"/>
            <a:ext cx="1426233" cy="4617720"/>
          </a:xfrm>
          <a:prstGeom prst="rect">
            <a:avLst/>
          </a:prstGeom>
        </p:spPr>
      </p:pic>
      <p:pic>
        <p:nvPicPr>
          <p:cNvPr id="7" name="Gripper experiments" descr="Gripper experiments">    </p:cNvPr>
          <p:cNvPicPr>
            <a:picLocks noChangeAspect="1"/>
          </p:cNvPicPr>
          <p:nvPr/>
        </p:nvPicPr>
        <p:blipFill>
          <a:blip r:embed="rId2"/>
          <a:stretch>
            <a:fillRect/>
          </a:stretch>
        </p:blipFill>
        <p:spPr>
          <a:xfrm>
            <a:off x="2474976" y="1935375"/>
            <a:ext cx="1816608" cy="3124411"/>
          </a:xfrm>
          <a:prstGeom prst="rect">
            <a:avLst/>
          </a:prstGeom>
        </p:spPr>
      </p:pic>
      <p:pic>
        <p:nvPicPr>
          <p:cNvPr id="8" name="Gripper experiments" descr="Gripper experiments">    </p:cNvPr>
          <p:cNvPicPr>
            <a:picLocks noChangeAspect="1"/>
          </p:cNvPicPr>
          <p:nvPr/>
        </p:nvPicPr>
        <p:blipFill>
          <a:blip r:embed="rId3"/>
          <a:stretch>
            <a:fillRect/>
          </a:stretch>
        </p:blipFill>
        <p:spPr>
          <a:xfrm>
            <a:off x="4401312" y="2286508"/>
            <a:ext cx="1816608" cy="2422144"/>
          </a:xfrm>
          <a:prstGeom prst="rect">
            <a:avLst/>
          </a:prstGeom>
        </p:spPr>
      </p:pic>
      <p:sp>
        <p:nvSpPr>
          <p:cNvPr id="9" name="caption"/>
          <p:cNvSpPr txBox="1"/>
          <p:nvPr/>
        </p:nvSpPr>
        <p:spPr>
          <a:xfrm>
            <a:off x="548640" y="5897880"/>
            <a:ext cx="566928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v6 clamp (CAD), the four-bar hands (CAD), the printed gear train</a:t>
            </a:r>
            <a:endParaRPr lang="en-US" sz="1100" dirty="0"/>
          </a:p>
        </p:txBody>
      </p:sp>
      <p:sp>
        <p:nvSpPr>
          <p:cNvPr id="10" name="bullets"/>
          <p:cNvSpPr txBox="1"/>
          <p:nvPr/>
        </p:nvSpPr>
        <p:spPr>
          <a:xfrm>
            <a:off x="6629400" y="1234440"/>
            <a:ext cx="5013655" cy="4937760"/>
          </a:xfrm>
          <a:prstGeom prst="rect">
            <a:avLst/>
          </a:prstGeom>
          <a:noFill/>
          <a:ln/>
        </p:spPr>
        <p:txBody>
          <a:bodyPr wrap="square" lIns="25400" tIns="0" rIns="50800" bIns="25400" rtlCol="0" anchor="t"/>
          <a:lstStyle/>
          <a:p>
            <a:pPr algn="l" marL="254000" indent="-254000">
              <a:spcAft>
                <a:spcPts val="900"/>
              </a:spcAft>
              <a:buSzPct val="100000"/>
              <a:buChar char="•"/>
            </a:pPr>
            <a:r>
              <a:rPr lang="en-US" sz="1500" dirty="0">
                <a:solidFill>
                  <a:srgbClr val="1A1A1A"/>
                </a:solidFill>
                <a:latin typeface="Arial" pitchFamily="34" charset="0"/>
                <a:ea typeface="Arial" pitchFamily="34" charset="-122"/>
                <a:cs typeface="Arial" pitchFamily="34" charset="-120"/>
              </a:rPr>
              <a:t>The gripper attaches modularly at the tube, so a different gripper can be tried without touching the rest: a test bed for what works on shirts</a:t>
            </a:r>
            <a:endParaRPr lang="en-US" sz="1500" dirty="0"/>
          </a:p>
          <a:p>
            <a:pPr algn="l" marL="254000" indent="-254000">
              <a:spcAft>
                <a:spcPts val="900"/>
              </a:spcAft>
              <a:buSzPct val="100000"/>
              <a:buChar char="•"/>
            </a:pPr>
            <a:r>
              <a:rPr lang="en-US" sz="1500" dirty="0">
                <a:solidFill>
                  <a:srgbClr val="1A1A1A"/>
                </a:solidFill>
                <a:latin typeface="Arial" pitchFamily="34" charset="0"/>
                <a:ea typeface="Arial" pitchFamily="34" charset="-122"/>
                <a:cs typeface="Arial" pitchFamily="34" charset="-120"/>
              </a:rPr>
              <a:t>A hard-material pinch was expected to grip better; testing showed alignment problems: the rack-and-pinion jaws left a 2 mm gap and never met on thin cloth (Sep 30)</a:t>
            </a:r>
            <a:endParaRPr lang="en-US" sz="1500" dirty="0"/>
          </a:p>
          <a:p>
            <a:pPr algn="l" marL="254000" indent="-254000">
              <a:spcAft>
                <a:spcPts val="900"/>
              </a:spcAft>
              <a:buSzPct val="100000"/>
              <a:buChar char="•"/>
            </a:pPr>
            <a:r>
              <a:rPr lang="en-US" sz="1500" dirty="0">
                <a:solidFill>
                  <a:srgbClr val="1A1A1A"/>
                </a:solidFill>
                <a:latin typeface="Arial" pitchFamily="34" charset="0"/>
                <a:ea typeface="Arial" pitchFamily="34" charset="-122"/>
                <a:cs typeface="Arial" pitchFamily="34" charset="-120"/>
              </a:rPr>
              <a:t>Other materials are being tried, TPU pads among them: at a friction of 0.6 instead of the assumed 0.3, jeans need half the jaw force. Still testing</a:t>
            </a:r>
            <a:endParaRPr lang="en-US" sz="1500" dirty="0"/>
          </a:p>
          <a:p>
            <a:pPr algn="l" marL="254000" indent="-254000">
              <a:spcAft>
                <a:spcPts val="900"/>
              </a:spcAft>
              <a:buSzPct val="100000"/>
              <a:buChar char="•"/>
            </a:pPr>
            <a:r>
              <a:rPr lang="en-US" sz="1500" dirty="0">
                <a:solidFill>
                  <a:srgbClr val="1A1A1A"/>
                </a:solidFill>
                <a:latin typeface="Arial" pitchFamily="34" charset="0"/>
                <a:ea typeface="Arial" pitchFamily="34" charset="-122"/>
                <a:cs typeface="Arial" pitchFamily="34" charset="-120"/>
              </a:rPr>
              <a:t>The v6 clamp came out at 4.6 × its mass budget in CAD (Oct 20): since then mass is tracked per part and the claw is weighed</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itle"/>
          <p:cNvSpPr txBox="1"/>
          <p:nvPr/>
        </p:nvSpPr>
        <p:spPr>
          <a:xfrm>
            <a:off x="548640" y="274320"/>
            <a:ext cx="9567367"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Printing and machining: fits came from coupons, not guesses</a:t>
            </a:r>
            <a:endParaRPr lang="en-US" sz="2400" dirty="0"/>
          </a:p>
        </p:txBody>
      </p:sp>
      <p:sp>
        <p:nvSpPr>
          <p:cNvPr id="3" name="tag MEASURED"/>
          <p:cNvSpPr txBox="1"/>
          <p:nvPr/>
        </p:nvSpPr>
        <p:spPr>
          <a:xfrm>
            <a:off x="10408615" y="530352"/>
            <a:ext cx="1234440" cy="256032"/>
          </a:xfrm>
          <a:prstGeom prst="roundRect">
            <a:avLst>
              <a:gd name="adj" fmla="val 50000"/>
            </a:avLst>
          </a:prstGeom>
          <a:solidFill>
            <a:srgbClr val="1F3A5F"/>
          </a:solidFill>
          <a:ln w="12700">
            <a:solidFill>
              <a:srgbClr val="1F3A5F"/>
            </a:solidFill>
          </a:ln>
        </p:spPr>
        <p:txBody>
          <a:bodyPr wrap="square" lIns="0" tIns="0" rIns="0" bIns="0" rtlCol="0" anchor="ctr"/>
          <a:lstStyle/>
          <a:p>
            <a:pPr algn="ctr" indent="0" marL="0">
              <a:buNone/>
            </a:pPr>
            <a:r>
              <a:rPr lang="en-US" sz="900" b="1" spc="120" kern="0" dirty="0">
                <a:solidFill>
                  <a:srgbClr val="FFFFFF"/>
                </a:solidFill>
                <a:latin typeface="Arial" pitchFamily="34" charset="0"/>
                <a:ea typeface="Arial" pitchFamily="34" charset="-122"/>
                <a:cs typeface="Arial" pitchFamily="34" charset="-120"/>
              </a:rPr>
              <a:t>MEASURED</a:t>
            </a:r>
            <a:endParaRPr lang="en-US" sz="900" dirty="0"/>
          </a:p>
        </p:txBody>
      </p:sp>
      <p:sp>
        <p:nvSpPr>
          <p:cNvPr id="4"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5 of 5: Build and bring-up (October 22-27)</a:t>
            </a:r>
            <a:endParaRPr lang="en-US" sz="1000" dirty="0"/>
          </a:p>
        </p:txBody>
      </p:sp>
      <p:pic>
        <p:nvPicPr>
          <p:cNvPr id="5" name="Slicing PETG, 0.2 mm layers" descr="Slicing PETG, 0.2 mm layers">    </p:cNvPr>
          <p:cNvPicPr>
            <a:picLocks noChangeAspect="1"/>
          </p:cNvPicPr>
          <p:nvPr/>
        </p:nvPicPr>
        <p:blipFill>
          <a:blip r:embed="rId1"/>
          <a:stretch>
            <a:fillRect/>
          </a:stretch>
        </p:blipFill>
        <p:spPr>
          <a:xfrm>
            <a:off x="548640" y="1188720"/>
            <a:ext cx="2377440" cy="1783080"/>
          </a:xfrm>
          <a:prstGeom prst="rect">
            <a:avLst/>
          </a:prstGeom>
        </p:spPr>
      </p:pic>
      <p:sp>
        <p:nvSpPr>
          <p:cNvPr id="6" name="caption"/>
          <p:cNvSpPr txBox="1"/>
          <p:nvPr/>
        </p:nvSpPr>
        <p:spPr>
          <a:xfrm>
            <a:off x="548640" y="2990088"/>
            <a:ext cx="27432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1  Slicing PETG, 0.2 mm layers</a:t>
            </a:r>
            <a:endParaRPr lang="en-US" sz="1100" dirty="0"/>
          </a:p>
        </p:txBody>
      </p:sp>
      <p:pic>
        <p:nvPicPr>
          <p:cNvPr id="7" name="Slide-in rib in the dovetail" descr="Slide-in rib in the dovetail">    </p:cNvPr>
          <p:cNvPicPr>
            <a:picLocks noChangeAspect="1"/>
          </p:cNvPicPr>
          <p:nvPr/>
        </p:nvPicPr>
        <p:blipFill>
          <a:blip r:embed="rId2"/>
          <a:stretch>
            <a:fillRect/>
          </a:stretch>
        </p:blipFill>
        <p:spPr>
          <a:xfrm>
            <a:off x="548640" y="3246120"/>
            <a:ext cx="2377440" cy="1168908"/>
          </a:xfrm>
          <a:prstGeom prst="rect">
            <a:avLst/>
          </a:prstGeom>
        </p:spPr>
      </p:pic>
      <p:sp>
        <p:nvSpPr>
          <p:cNvPr id="8" name="caption"/>
          <p:cNvSpPr txBox="1"/>
          <p:nvPr/>
        </p:nvSpPr>
        <p:spPr>
          <a:xfrm>
            <a:off x="548640" y="4433316"/>
            <a:ext cx="27432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2  Slide-in rib in the dovetail</a:t>
            </a:r>
            <a:endParaRPr lang="en-US" sz="1100" dirty="0"/>
          </a:p>
        </p:txBody>
      </p:sp>
      <p:pic>
        <p:nvPicPr>
          <p:cNvPr id="9" name="Gear: Ø14.000 entry lip, 8 T-slots" descr="Gear: Ø14.000 entry lip, 8 T-slots">    </p:cNvPr>
          <p:cNvPicPr>
            <a:picLocks noChangeAspect="1"/>
          </p:cNvPicPr>
          <p:nvPr/>
        </p:nvPicPr>
        <p:blipFill>
          <a:blip r:embed="rId3"/>
          <a:stretch>
            <a:fillRect/>
          </a:stretch>
        </p:blipFill>
        <p:spPr>
          <a:xfrm>
            <a:off x="548640" y="4689348"/>
            <a:ext cx="2377440" cy="1168908"/>
          </a:xfrm>
          <a:prstGeom prst="rect">
            <a:avLst/>
          </a:prstGeom>
        </p:spPr>
      </p:pic>
      <p:sp>
        <p:nvSpPr>
          <p:cNvPr id="10" name="caption"/>
          <p:cNvSpPr txBox="1"/>
          <p:nvPr/>
        </p:nvSpPr>
        <p:spPr>
          <a:xfrm>
            <a:off x="548640" y="5876544"/>
            <a:ext cx="27432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3  Gear: Ø14.000 entry lip, 8 T-slots</a:t>
            </a:r>
            <a:endParaRPr lang="en-US" sz="1100" dirty="0"/>
          </a:p>
        </p:txBody>
      </p:sp>
      <p:pic>
        <p:nvPicPr>
          <p:cNvPr id="11" name="Blue shell with its fin; a failed layer " descr="Blue shell with its fin; a failed layer kept">    </p:cNvPr>
          <p:cNvPicPr>
            <a:picLocks noChangeAspect="1"/>
          </p:cNvPicPr>
          <p:nvPr/>
        </p:nvPicPr>
        <p:blipFill>
          <a:blip r:embed="rId4"/>
          <a:stretch>
            <a:fillRect/>
          </a:stretch>
        </p:blipFill>
        <p:spPr>
          <a:xfrm>
            <a:off x="3310128" y="1188720"/>
            <a:ext cx="3531870" cy="4709160"/>
          </a:xfrm>
          <a:prstGeom prst="rect">
            <a:avLst/>
          </a:prstGeom>
        </p:spPr>
      </p:pic>
      <p:sp>
        <p:nvSpPr>
          <p:cNvPr id="12" name="caption"/>
          <p:cNvSpPr txBox="1"/>
          <p:nvPr/>
        </p:nvSpPr>
        <p:spPr>
          <a:xfrm>
            <a:off x="3310128" y="5943600"/>
            <a:ext cx="398907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4  Blue shell and fin; the failed layer near the top was kept</a:t>
            </a:r>
            <a:endParaRPr lang="en-US" sz="1100" dirty="0"/>
          </a:p>
        </p:txBody>
      </p:sp>
      <p:sp>
        <p:nvSpPr>
          <p:cNvPr id="13" name="fits bullets"/>
          <p:cNvSpPr txBox="1"/>
          <p:nvPr/>
        </p:nvSpPr>
        <p:spPr>
          <a:xfrm>
            <a:off x="7207758" y="1234440"/>
            <a:ext cx="4435297" cy="4937760"/>
          </a:xfrm>
          <a:prstGeom prst="rect">
            <a:avLst/>
          </a:prstGeom>
          <a:noFill/>
          <a:ln/>
        </p:spPr>
        <p:txBody>
          <a:bodyPr wrap="square" lIns="25400" tIns="0" rIns="50800" bIns="25400" rtlCol="0" anchor="t"/>
          <a:lstStyle/>
          <a:p>
            <a:pPr algn="l" marL="254000" indent="-254000">
              <a:spcAft>
                <a:spcPts val="1000"/>
              </a:spcAft>
              <a:buSzPct val="100000"/>
              <a:buChar char="•"/>
            </a:pPr>
            <a:r>
              <a:rPr lang="en-US" sz="1500" dirty="0">
                <a:solidFill>
                  <a:srgbClr val="1A1A1A"/>
                </a:solidFill>
                <a:latin typeface="Arial" pitchFamily="34" charset="0"/>
                <a:ea typeface="Arial" pitchFamily="34" charset="-122"/>
                <a:cs typeface="Arial" pitchFamily="34" charset="-120"/>
              </a:rPr>
              <a:t>The spool bore printed too tight (Ø5.2 on a 5 mm shaft): opened to Ø5.45 after a fit coupon</a:t>
            </a:r>
            <a:endParaRPr lang="en-US" sz="1500" dirty="0"/>
          </a:p>
          <a:p>
            <a:pPr algn="l" marL="254000" indent="-254000">
              <a:spcAft>
                <a:spcPts val="1000"/>
              </a:spcAft>
              <a:buSzPct val="100000"/>
              <a:buChar char="•"/>
            </a:pPr>
            <a:r>
              <a:rPr lang="en-US" sz="1500" dirty="0">
                <a:solidFill>
                  <a:srgbClr val="1A1A1A"/>
                </a:solidFill>
                <a:latin typeface="Arial" pitchFamily="34" charset="0"/>
                <a:ea typeface="Arial" pitchFamily="34" charset="-122"/>
                <a:cs typeface="Arial" pitchFamily="34" charset="-120"/>
              </a:rPr>
              <a:t>Fin holes drilled in one setup: the first hole became the mill's zero, so the pattern carries ±0.1 mm, not the sheared edges' ±0.5</a:t>
            </a:r>
            <a:endParaRPr lang="en-US" sz="1500" dirty="0"/>
          </a:p>
          <a:p>
            <a:pPr algn="l" marL="254000" indent="-254000">
              <a:spcAft>
                <a:spcPts val="1000"/>
              </a:spcAft>
              <a:buSzPct val="100000"/>
              <a:buChar char="•"/>
            </a:pPr>
            <a:r>
              <a:rPr lang="en-US" sz="1500" dirty="0">
                <a:solidFill>
                  <a:srgbClr val="1A1A1A"/>
                </a:solidFill>
                <a:latin typeface="Arial" pitchFamily="34" charset="0"/>
                <a:ea typeface="Arial" pitchFamily="34" charset="-122"/>
                <a:cs typeface="Arial" pitchFamily="34" charset="-120"/>
              </a:rPr>
              <a:t>One shell kept a failed layer: it is a shell, not a load path</a:t>
            </a:r>
            <a:endParaRPr lang="en-US" sz="1500" dirty="0"/>
          </a:p>
          <a:p>
            <a:pPr algn="l" marL="254000" indent="-254000">
              <a:spcAft>
                <a:spcPts val="1000"/>
              </a:spcAft>
              <a:buSzPct val="100000"/>
              <a:buChar char="•"/>
            </a:pPr>
            <a:r>
              <a:rPr lang="en-US" sz="1500" dirty="0">
                <a:solidFill>
                  <a:srgbClr val="1A1A1A"/>
                </a:solidFill>
                <a:latin typeface="Arial" pitchFamily="34" charset="0"/>
                <a:ea typeface="Arial" pitchFamily="34" charset="-122"/>
                <a:cs typeface="Arial" pitchFamily="34" charset="-120"/>
              </a:rPr>
              <a:t>Printed holes come out small, so every printed fit carries an allowance; the drilled fin needs none</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itle"/>
          <p:cNvSpPr txBox="1"/>
          <p:nvPr/>
        </p:nvSpPr>
        <p:spPr>
          <a:xfrm>
            <a:off x="548640" y="274320"/>
            <a:ext cx="9567367"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Station electronics on the bench: every check before the motor turns</a:t>
            </a:r>
            <a:endParaRPr lang="en-US" sz="2400" dirty="0"/>
          </a:p>
        </p:txBody>
      </p:sp>
      <p:sp>
        <p:nvSpPr>
          <p:cNvPr id="3" name="tag MEASURED"/>
          <p:cNvSpPr txBox="1"/>
          <p:nvPr/>
        </p:nvSpPr>
        <p:spPr>
          <a:xfrm>
            <a:off x="10408615" y="530352"/>
            <a:ext cx="1234440" cy="256032"/>
          </a:xfrm>
          <a:prstGeom prst="roundRect">
            <a:avLst>
              <a:gd name="adj" fmla="val 50000"/>
            </a:avLst>
          </a:prstGeom>
          <a:solidFill>
            <a:srgbClr val="1F3A5F"/>
          </a:solidFill>
          <a:ln w="12700">
            <a:solidFill>
              <a:srgbClr val="1F3A5F"/>
            </a:solidFill>
          </a:ln>
        </p:spPr>
        <p:txBody>
          <a:bodyPr wrap="square" lIns="0" tIns="0" rIns="0" bIns="0" rtlCol="0" anchor="ctr"/>
          <a:lstStyle/>
          <a:p>
            <a:pPr algn="ctr" indent="0" marL="0">
              <a:buNone/>
            </a:pPr>
            <a:r>
              <a:rPr lang="en-US" sz="900" b="1" spc="120" kern="0" dirty="0">
                <a:solidFill>
                  <a:srgbClr val="FFFFFF"/>
                </a:solidFill>
                <a:latin typeface="Arial" pitchFamily="34" charset="0"/>
                <a:ea typeface="Arial" pitchFamily="34" charset="-122"/>
                <a:cs typeface="Arial" pitchFamily="34" charset="-120"/>
              </a:rPr>
              <a:t>MEASURED</a:t>
            </a:r>
            <a:endParaRPr lang="en-US" sz="900" dirty="0"/>
          </a:p>
        </p:txBody>
      </p:sp>
      <p:sp>
        <p:nvSpPr>
          <p:cNvPr id="4"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5 of 5: Build and bring-up (October 22-27)</a:t>
            </a:r>
            <a:endParaRPr lang="en-US" sz="1000" dirty="0"/>
          </a:p>
        </p:txBody>
      </p:sp>
      <p:pic>
        <p:nvPicPr>
          <p:cNvPr id="5" name="Bench: two stations, laptop, meter, 12 V" descr="Bench: two stations, laptop, meter, 12 V supply">    </p:cNvPr>
          <p:cNvPicPr>
            <a:picLocks noChangeAspect="1"/>
          </p:cNvPicPr>
          <p:nvPr/>
        </p:nvPicPr>
        <p:blipFill>
          <a:blip r:embed="rId1"/>
          <a:stretch>
            <a:fillRect/>
          </a:stretch>
        </p:blipFill>
        <p:spPr>
          <a:xfrm>
            <a:off x="548640" y="1188720"/>
            <a:ext cx="1621917" cy="2162556"/>
          </a:xfrm>
          <a:prstGeom prst="rect">
            <a:avLst/>
          </a:prstGeom>
        </p:spPr>
      </p:pic>
      <p:sp>
        <p:nvSpPr>
          <p:cNvPr id="6" name="caption"/>
          <p:cNvSpPr txBox="1"/>
          <p:nvPr/>
        </p:nvSpPr>
        <p:spPr>
          <a:xfrm>
            <a:off x="548640" y="3396996"/>
            <a:ext cx="164592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1  Bench: two stations, laptop, meter, 12 V supply</a:t>
            </a:r>
            <a:endParaRPr lang="en-US" sz="1100" dirty="0"/>
          </a:p>
        </p:txBody>
      </p:sp>
      <p:pic>
        <p:nvPicPr>
          <p:cNvPr id="7" name="Dev board, driver, spool and end stop" descr="Dev board, driver, spool and end stop">    </p:cNvPr>
          <p:cNvPicPr>
            <a:picLocks noChangeAspect="1"/>
          </p:cNvPicPr>
          <p:nvPr/>
        </p:nvPicPr>
        <p:blipFill>
          <a:blip r:embed="rId2"/>
          <a:stretch>
            <a:fillRect/>
          </a:stretch>
        </p:blipFill>
        <p:spPr>
          <a:xfrm>
            <a:off x="3986784" y="1188720"/>
            <a:ext cx="1621917" cy="2162556"/>
          </a:xfrm>
          <a:prstGeom prst="rect">
            <a:avLst/>
          </a:prstGeom>
        </p:spPr>
      </p:pic>
      <p:sp>
        <p:nvSpPr>
          <p:cNvPr id="8" name="caption"/>
          <p:cNvSpPr txBox="1"/>
          <p:nvPr/>
        </p:nvSpPr>
        <p:spPr>
          <a:xfrm>
            <a:off x="3986784" y="3396996"/>
            <a:ext cx="164592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2  Dev board, driver, spool and end stop</a:t>
            </a:r>
            <a:endParaRPr lang="en-US" sz="1100" dirty="0"/>
          </a:p>
        </p:txBody>
      </p:sp>
      <p:pic>
        <p:nvPicPr>
          <p:cNvPr id="9" name="Red shell, fused 12 V lead" descr="Red shell, fused 12 V lead">    </p:cNvPr>
          <p:cNvPicPr>
            <a:picLocks noChangeAspect="1"/>
          </p:cNvPicPr>
          <p:nvPr/>
        </p:nvPicPr>
        <p:blipFill>
          <a:blip r:embed="rId3"/>
          <a:stretch>
            <a:fillRect/>
          </a:stretch>
        </p:blipFill>
        <p:spPr>
          <a:xfrm>
            <a:off x="548640" y="3735324"/>
            <a:ext cx="1621917" cy="2162556"/>
          </a:xfrm>
          <a:prstGeom prst="rect">
            <a:avLst/>
          </a:prstGeom>
        </p:spPr>
      </p:pic>
      <p:sp>
        <p:nvSpPr>
          <p:cNvPr id="10" name="caption"/>
          <p:cNvSpPr txBox="1"/>
          <p:nvPr/>
        </p:nvSpPr>
        <p:spPr>
          <a:xfrm>
            <a:off x="548640" y="5943600"/>
            <a:ext cx="164592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3  Red shell, fused 12 V lead</a:t>
            </a:r>
            <a:endParaRPr lang="en-US" sz="1100" dirty="0"/>
          </a:p>
        </p:txBody>
      </p:sp>
      <p:pic>
        <p:nvPicPr>
          <p:cNvPr id="11" name="Second board, shell open" descr="Second board, shell open">    </p:cNvPr>
          <p:cNvPicPr>
            <a:picLocks noChangeAspect="1"/>
          </p:cNvPicPr>
          <p:nvPr/>
        </p:nvPicPr>
        <p:blipFill>
          <a:blip r:embed="rId4"/>
          <a:stretch>
            <a:fillRect/>
          </a:stretch>
        </p:blipFill>
        <p:spPr>
          <a:xfrm>
            <a:off x="3986784" y="3735324"/>
            <a:ext cx="1621917" cy="2162556"/>
          </a:xfrm>
          <a:prstGeom prst="rect">
            <a:avLst/>
          </a:prstGeom>
        </p:spPr>
      </p:pic>
      <p:sp>
        <p:nvSpPr>
          <p:cNvPr id="12" name="caption"/>
          <p:cNvSpPr txBox="1"/>
          <p:nvPr/>
        </p:nvSpPr>
        <p:spPr>
          <a:xfrm>
            <a:off x="3986784" y="5943600"/>
            <a:ext cx="164592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4  Second board, shell open</a:t>
            </a:r>
            <a:endParaRPr lang="en-US" sz="1100" dirty="0"/>
          </a:p>
        </p:txBody>
      </p:sp>
      <p:sp>
        <p:nvSpPr>
          <p:cNvPr id="13" name="bullets"/>
          <p:cNvSpPr txBox="1"/>
          <p:nvPr/>
        </p:nvSpPr>
        <p:spPr>
          <a:xfrm>
            <a:off x="7726680" y="1234440"/>
            <a:ext cx="3916375" cy="4937760"/>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Driver off at boot: a reset cannot move a motor</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Homing switch LOW at rest, HIGH pressed or with a broken wire; the encoder answers at its address with the magnet detected</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One spool turn within 60 encoder counts: PASS on both boards. The spool encoder (magnetic, on the spool shaft, Ø4 magnet) has two jobs: confirm every commanded step, and detect slip as the tension sensor</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A short found by the board's LED going out, traced to the switch pull-up</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itle"/>
          <p:cNvSpPr txBox="1"/>
          <p:nvPr/>
        </p:nvSpPr>
        <p:spPr>
          <a:xfrm>
            <a:off x="548640" y="274320"/>
            <a:ext cx="9567367"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Claw electronics on the bench: camera, battery, servo</a:t>
            </a:r>
            <a:endParaRPr lang="en-US" sz="2400" dirty="0"/>
          </a:p>
        </p:txBody>
      </p:sp>
      <p:sp>
        <p:nvSpPr>
          <p:cNvPr id="3" name="tag MEASURED"/>
          <p:cNvSpPr txBox="1"/>
          <p:nvPr/>
        </p:nvSpPr>
        <p:spPr>
          <a:xfrm>
            <a:off x="10408615" y="530352"/>
            <a:ext cx="1234440" cy="256032"/>
          </a:xfrm>
          <a:prstGeom prst="roundRect">
            <a:avLst>
              <a:gd name="adj" fmla="val 50000"/>
            </a:avLst>
          </a:prstGeom>
          <a:solidFill>
            <a:srgbClr val="1F3A5F"/>
          </a:solidFill>
          <a:ln w="12700">
            <a:solidFill>
              <a:srgbClr val="1F3A5F"/>
            </a:solidFill>
          </a:ln>
        </p:spPr>
        <p:txBody>
          <a:bodyPr wrap="square" lIns="0" tIns="0" rIns="0" bIns="0" rtlCol="0" anchor="ctr"/>
          <a:lstStyle/>
          <a:p>
            <a:pPr algn="ctr" indent="0" marL="0">
              <a:buNone/>
            </a:pPr>
            <a:r>
              <a:rPr lang="en-US" sz="900" b="1" spc="120" kern="0" dirty="0">
                <a:solidFill>
                  <a:srgbClr val="FFFFFF"/>
                </a:solidFill>
                <a:latin typeface="Arial" pitchFamily="34" charset="0"/>
                <a:ea typeface="Arial" pitchFamily="34" charset="-122"/>
                <a:cs typeface="Arial" pitchFamily="34" charset="-120"/>
              </a:rPr>
              <a:t>MEASURED</a:t>
            </a:r>
            <a:endParaRPr lang="en-US" sz="900" dirty="0"/>
          </a:p>
        </p:txBody>
      </p:sp>
      <p:sp>
        <p:nvSpPr>
          <p:cNvPr id="4"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5 of 5: Build and bring-up (October 22-27)</a:t>
            </a:r>
            <a:endParaRPr lang="en-US" sz="1000" dirty="0"/>
          </a:p>
        </p:txBody>
      </p:sp>
      <p:pic>
        <p:nvPicPr>
          <p:cNvPr id="5" name="Claw electronics housing open, lit" descr="Claw electronics housing open, lit">    </p:cNvPr>
          <p:cNvPicPr>
            <a:picLocks noChangeAspect="1"/>
          </p:cNvPicPr>
          <p:nvPr/>
        </p:nvPicPr>
        <p:blipFill>
          <a:blip r:embed="rId1"/>
          <a:stretch>
            <a:fillRect/>
          </a:stretch>
        </p:blipFill>
        <p:spPr>
          <a:xfrm>
            <a:off x="548640" y="1188720"/>
            <a:ext cx="3531870" cy="4709160"/>
          </a:xfrm>
          <a:prstGeom prst="rect">
            <a:avLst/>
          </a:prstGeom>
        </p:spPr>
      </p:pic>
      <p:sp>
        <p:nvSpPr>
          <p:cNvPr id="6" name="caption"/>
          <p:cNvSpPr txBox="1"/>
          <p:nvPr/>
        </p:nvSpPr>
        <p:spPr>
          <a:xfrm>
            <a:off x="548640" y="5943600"/>
            <a:ext cx="362331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1  Housing open: regulators, battery, camera board</a:t>
            </a:r>
            <a:endParaRPr lang="en-US" sz="1100" dirty="0"/>
          </a:p>
        </p:txBody>
      </p:sp>
      <p:sp>
        <p:nvSpPr>
          <p:cNvPr id="7" name="placeholder"/>
          <p:cNvSpPr/>
          <p:nvPr/>
        </p:nvSpPr>
        <p:spPr>
          <a:xfrm>
            <a:off x="4217670" y="1188720"/>
            <a:ext cx="2743200" cy="4709160"/>
          </a:xfrm>
          <a:prstGeom prst="rect">
            <a:avLst/>
          </a:prstGeom>
          <a:solidFill>
            <a:srgbClr val="F2F2F2"/>
          </a:solidFill>
          <a:ln w="12700">
            <a:solidFill>
              <a:srgbClr val="B23A2E"/>
            </a:solidFill>
            <a:prstDash val="dash"/>
          </a:ln>
        </p:spPr>
      </p:sp>
      <p:sp>
        <p:nvSpPr>
          <p:cNvPr id="8" name="placeholder text"/>
          <p:cNvSpPr txBox="1"/>
          <p:nvPr/>
        </p:nvSpPr>
        <p:spPr>
          <a:xfrm>
            <a:off x="4400550" y="1188720"/>
            <a:ext cx="2377440" cy="4709160"/>
          </a:xfrm>
          <a:prstGeom prst="rect">
            <a:avLst/>
          </a:prstGeom>
          <a:noFill/>
          <a:ln/>
        </p:spPr>
        <p:txBody>
          <a:bodyPr wrap="square" lIns="0" tIns="0" rIns="0" bIns="0" rtlCol="0" anchor="ctr"/>
          <a:lstStyle/>
          <a:p>
            <a:pPr algn="ctr" indent="0" marL="0">
              <a:buNone/>
            </a:pPr>
            <a:r>
              <a:rPr lang="en-US" sz="1600" i="1" dirty="0">
                <a:solidFill>
                  <a:srgbClr val="B23A2E"/>
                </a:solidFill>
                <a:latin typeface="Arial" pitchFamily="34" charset="0"/>
                <a:ea typeface="Arial" pitchFamily="34" charset="-122"/>
                <a:cs typeface="Arial" pitchFamily="34" charset="-120"/>
              </a:rPr>
              <a:t>[Jasper: screenshot of the live view on the phone]</a:t>
            </a:r>
            <a:endParaRPr lang="en-US" sz="1600" dirty="0"/>
          </a:p>
        </p:txBody>
      </p:sp>
      <p:sp>
        <p:nvSpPr>
          <p:cNvPr id="9" name="caption"/>
          <p:cNvSpPr txBox="1"/>
          <p:nvPr/>
        </p:nvSpPr>
        <p:spPr>
          <a:xfrm>
            <a:off x="4217670" y="5943600"/>
            <a:ext cx="27432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2  Live view from the claw camera</a:t>
            </a:r>
            <a:endParaRPr lang="en-US" sz="1100" dirty="0"/>
          </a:p>
        </p:txBody>
      </p:sp>
      <p:sp>
        <p:nvSpPr>
          <p:cNvPr id="10" name="claw bench bullets"/>
          <p:cNvSpPr txBox="1"/>
          <p:nvPr/>
        </p:nvSpPr>
        <p:spPr>
          <a:xfrm>
            <a:off x="7326630" y="1234440"/>
            <a:ext cx="4316425" cy="4937760"/>
          </a:xfrm>
          <a:prstGeom prst="rect">
            <a:avLst/>
          </a:prstGeom>
          <a:noFill/>
          <a:ln/>
        </p:spPr>
        <p:txBody>
          <a:bodyPr wrap="square" lIns="25400" tIns="0" rIns="50800" bIns="25400" rtlCol="0" anchor="t"/>
          <a:lstStyle/>
          <a:p>
            <a:pPr algn="l" marL="254000" indent="-254000">
              <a:spcAft>
                <a:spcPts val="1000"/>
              </a:spcAft>
              <a:buSzPct val="100000"/>
              <a:buChar char="•"/>
            </a:pPr>
            <a:r>
              <a:rPr lang="en-US" sz="1500" dirty="0">
                <a:solidFill>
                  <a:srgbClr val="1A1A1A"/>
                </a:solidFill>
                <a:latin typeface="Arial" pitchFamily="34" charset="0"/>
                <a:ea typeface="Arial" pitchFamily="34" charset="-122"/>
                <a:cs typeface="Arial" pitchFamily="34" charset="-120"/>
              </a:rPr>
              <a:t>Live video from the claw camera on the phone</a:t>
            </a:r>
            <a:endParaRPr lang="en-US" sz="1500" dirty="0"/>
          </a:p>
          <a:p>
            <a:pPr algn="l" marL="254000" indent="-254000">
              <a:spcAft>
                <a:spcPts val="1000"/>
              </a:spcAft>
              <a:buSzPct val="100000"/>
              <a:buChar char="•"/>
            </a:pPr>
            <a:r>
              <a:rPr lang="en-US" sz="1500" dirty="0">
                <a:solidFill>
                  <a:srgbClr val="1A1A1A"/>
                </a:solidFill>
                <a:latin typeface="Arial" pitchFamily="34" charset="0"/>
                <a:ea typeface="Arial" pitchFamily="34" charset="-122"/>
                <a:cs typeface="Arial" pitchFamily="34" charset="-120"/>
              </a:rPr>
              <a:t>Battery 7.2 V read through the divider, matching the meter</a:t>
            </a:r>
            <a:endParaRPr lang="en-US" sz="1500" dirty="0"/>
          </a:p>
          <a:p>
            <a:pPr algn="l" marL="254000" indent="-254000">
              <a:spcAft>
                <a:spcPts val="1000"/>
              </a:spcAft>
              <a:buSzPct val="100000"/>
              <a:buChar char="•"/>
            </a:pPr>
            <a:r>
              <a:rPr lang="en-US" sz="1500" dirty="0">
                <a:solidFill>
                  <a:srgbClr val="1A1A1A"/>
                </a:solidFill>
                <a:latin typeface="Arial" pitchFamily="34" charset="0"/>
                <a:ea typeface="Arial" pitchFamily="34" charset="-122"/>
                <a:cs typeface="Arial" pitchFamily="34" charset="-120"/>
              </a:rPr>
              <a:t>The servo only moved once it had its own hardware timer; the camera owned the first one</a:t>
            </a:r>
            <a:endParaRPr lang="en-US" sz="1500" dirty="0"/>
          </a:p>
          <a:p>
            <a:pPr algn="l" marL="254000" indent="-254000">
              <a:spcAft>
                <a:spcPts val="1000"/>
              </a:spcAft>
              <a:buSzPct val="100000"/>
              <a:buChar char="•"/>
            </a:pPr>
            <a:r>
              <a:rPr lang="en-US" sz="1500" dirty="0">
                <a:solidFill>
                  <a:srgbClr val="1A1A1A"/>
                </a:solidFill>
                <a:latin typeface="Arial" pitchFamily="34" charset="0"/>
                <a:ea typeface="Arial" pitchFamily="34" charset="-122"/>
                <a:cs typeface="Arial" pitchFamily="34" charset="-120"/>
              </a:rPr>
              <a:t>Still open: servo end points unmeasured; camera not yet calibrated</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itle"/>
          <p:cNvSpPr txBox="1"/>
          <p:nvPr/>
        </p:nvSpPr>
        <p:spPr>
          <a:xfrm>
            <a:off x="548640" y="274320"/>
            <a:ext cx="11094415"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On the wall</a:t>
            </a:r>
            <a:endParaRPr lang="en-US" sz="24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5 of 5: Build and bring-up (October 22-27)</a:t>
            </a:r>
            <a:endParaRPr lang="en-US" sz="1000" dirty="0"/>
          </a:p>
        </p:txBody>
      </p:sp>
      <p:pic>
        <p:nvPicPr>
          <p:cNvPr id="4" name="Station mounted high on the TV wall, 12 " descr="Station mounted high on the TV wall, 12 V leads down">    </p:cNvPr>
          <p:cNvPicPr>
            <a:picLocks noChangeAspect="1"/>
          </p:cNvPicPr>
          <p:nvPr/>
        </p:nvPicPr>
        <p:blipFill>
          <a:blip r:embed="rId1"/>
          <a:stretch>
            <a:fillRect/>
          </a:stretch>
        </p:blipFill>
        <p:spPr>
          <a:xfrm>
            <a:off x="548640" y="1188720"/>
            <a:ext cx="3531870" cy="4709160"/>
          </a:xfrm>
          <a:prstGeom prst="rect">
            <a:avLst/>
          </a:prstGeom>
        </p:spPr>
      </p:pic>
      <p:sp>
        <p:nvSpPr>
          <p:cNvPr id="5" name="caption"/>
          <p:cNvSpPr txBox="1"/>
          <p:nvPr/>
        </p:nvSpPr>
        <p:spPr>
          <a:xfrm>
            <a:off x="548640" y="5943600"/>
            <a:ext cx="380619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1  Station mounted high on the TV wall, 12 V leads down</a:t>
            </a:r>
            <a:endParaRPr lang="en-US" sz="1100" dirty="0"/>
          </a:p>
        </p:txBody>
      </p:sp>
      <p:pic>
        <p:nvPicPr>
          <p:cNvPr id="6" name="From below: the line leaves the switch t" descr="From below: the line leaves the switch tab straight down">    </p:cNvPr>
          <p:cNvPicPr>
            <a:picLocks noChangeAspect="1"/>
          </p:cNvPicPr>
          <p:nvPr/>
        </p:nvPicPr>
        <p:blipFill>
          <a:blip r:embed="rId2"/>
          <a:stretch>
            <a:fillRect/>
          </a:stretch>
        </p:blipFill>
        <p:spPr>
          <a:xfrm>
            <a:off x="4190238" y="1188720"/>
            <a:ext cx="1621917" cy="2162556"/>
          </a:xfrm>
          <a:prstGeom prst="rect">
            <a:avLst/>
          </a:prstGeom>
        </p:spPr>
      </p:pic>
      <p:sp>
        <p:nvSpPr>
          <p:cNvPr id="7" name="caption"/>
          <p:cNvSpPr txBox="1"/>
          <p:nvPr/>
        </p:nvSpPr>
        <p:spPr>
          <a:xfrm>
            <a:off x="4190238" y="3396996"/>
            <a:ext cx="2170557"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2  From below: the line leaves the switch tab straight down</a:t>
            </a:r>
            <a:endParaRPr lang="en-US" sz="1100" dirty="0"/>
          </a:p>
        </p:txBody>
      </p:sp>
      <p:pic>
        <p:nvPicPr>
          <p:cNvPr id="8" name="Shell front: vents, fin tab" descr="Shell front: vents, fin tab">    </p:cNvPr>
          <p:cNvPicPr>
            <a:picLocks noChangeAspect="1"/>
          </p:cNvPicPr>
          <p:nvPr/>
        </p:nvPicPr>
        <p:blipFill>
          <a:blip r:embed="rId3"/>
          <a:stretch>
            <a:fillRect/>
          </a:stretch>
        </p:blipFill>
        <p:spPr>
          <a:xfrm>
            <a:off x="4190238" y="3735324"/>
            <a:ext cx="1621917" cy="2162556"/>
          </a:xfrm>
          <a:prstGeom prst="rect">
            <a:avLst/>
          </a:prstGeom>
        </p:spPr>
      </p:pic>
      <p:sp>
        <p:nvSpPr>
          <p:cNvPr id="9" name="caption"/>
          <p:cNvSpPr txBox="1"/>
          <p:nvPr/>
        </p:nvSpPr>
        <p:spPr>
          <a:xfrm>
            <a:off x="4190238" y="5943600"/>
            <a:ext cx="2170557"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3  Shell front: vents, fin tab</a:t>
            </a:r>
            <a:endParaRPr lang="en-US" sz="1100" dirty="0"/>
          </a:p>
        </p:txBody>
      </p:sp>
      <p:sp>
        <p:nvSpPr>
          <p:cNvPr id="10" name="bullets"/>
          <p:cNvSpPr txBox="1"/>
          <p:nvPr/>
        </p:nvSpPr>
        <p:spPr>
          <a:xfrm>
            <a:off x="6223635" y="1234440"/>
            <a:ext cx="5419420" cy="4937760"/>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First station in a stud on the TV wall: 12 V down the wall, the fin out through the slot in the top</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Boxed stations boot and join Wi-Fi on their own; firmware updates arrive over Wi-Fi, so a boxed station never needs a USB cable again</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The motor stays off until the phone arms it; a station accepts an update only while disarmed</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itle"/>
          <p:cNvSpPr txBox="1"/>
          <p:nvPr/>
        </p:nvSpPr>
        <p:spPr>
          <a:xfrm>
            <a:off x="548640" y="274320"/>
            <a:ext cx="9567367"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Three stations first: the triangle, the tilt, and no spare cable</a:t>
            </a:r>
            <a:endParaRPr lang="en-US" sz="2400" dirty="0"/>
          </a:p>
        </p:txBody>
      </p:sp>
      <p:sp>
        <p:nvSpPr>
          <p:cNvPr id="3" name="tag SIMULATED"/>
          <p:cNvSpPr txBox="1"/>
          <p:nvPr/>
        </p:nvSpPr>
        <p:spPr>
          <a:xfrm>
            <a:off x="10408615" y="530352"/>
            <a:ext cx="1234440" cy="256032"/>
          </a:xfrm>
          <a:prstGeom prst="roundRect">
            <a:avLst>
              <a:gd name="adj" fmla="val 50000"/>
            </a:avLst>
          </a:prstGeom>
          <a:solidFill>
            <a:srgbClr val="FFFFFF"/>
          </a:solidFill>
          <a:ln w="12700">
            <a:solidFill>
              <a:srgbClr val="7F7F7F"/>
            </a:solidFill>
            <a:prstDash val="dash"/>
          </a:ln>
        </p:spPr>
        <p:txBody>
          <a:bodyPr wrap="square" lIns="0" tIns="0" rIns="0" bIns="0" rtlCol="0" anchor="ctr"/>
          <a:lstStyle/>
          <a:p>
            <a:pPr algn="ctr" indent="0" marL="0">
              <a:buNone/>
            </a:pPr>
            <a:r>
              <a:rPr lang="en-US" sz="900" b="1" spc="120" kern="0" dirty="0">
                <a:solidFill>
                  <a:srgbClr val="7F7F7F"/>
                </a:solidFill>
                <a:latin typeface="Arial" pitchFamily="34" charset="0"/>
                <a:ea typeface="Arial" pitchFamily="34" charset="-122"/>
                <a:cs typeface="Arial" pitchFamily="34" charset="-120"/>
              </a:rPr>
              <a:t>SIMULATED</a:t>
            </a:r>
            <a:endParaRPr lang="en-US" sz="900" dirty="0"/>
          </a:p>
        </p:txBody>
      </p:sp>
      <p:sp>
        <p:nvSpPr>
          <p:cNvPr id="4"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5 of 5: Build and bring-up (October 22-27)</a:t>
            </a:r>
            <a:endParaRPr lang="en-US" sz="1000" dirty="0"/>
          </a:p>
        </p:txBody>
      </p:sp>
      <p:sp>
        <p:nvSpPr>
          <p:cNvPr id="5" name="triangle A B C"/>
          <p:cNvSpPr/>
          <p:nvPr/>
        </p:nvSpPr>
        <p:spPr>
          <a:xfrm>
            <a:off x="0" y="0"/>
            <a:ext cx="12191695" cy="6858000"/>
          </a:xfrm>
          <a:custGeom>
            <a:avLst/>
            <a:gdLst/>
            <a:ahLst/>
            <a:cxnLst/>
            <a:rect l="l" t="t" r="r" b="b"/>
            <a:pathLst>
              <a:path w="12191695" h="6858000">
                <a:moveTo>
                  <a:pt x="1525613" y="5280827"/>
                </a:moveTo>
                <a:lnTo>
                  <a:pt x="5972467" y="5280827"/>
                </a:lnTo>
                <a:lnTo>
                  <a:pt x="3755881" y="1668613"/>
                </a:lnTo>
                <a:close/>
              </a:path>
            </a:pathLst>
          </a:custGeom>
          <a:solidFill>
            <a:srgbClr val="F6E3E1"/>
          </a:solidFill>
          <a:ln w="6350">
            <a:solidFill>
              <a:srgbClr val="F6E3E1"/>
            </a:solidFill>
            <a:prstDash val="solid"/>
          </a:ln>
        </p:spPr>
      </p:sp>
      <p:sp>
        <p:nvSpPr>
          <p:cNvPr id="6" name="room walls"/>
          <p:cNvSpPr/>
          <p:nvPr/>
        </p:nvSpPr>
        <p:spPr>
          <a:xfrm>
            <a:off x="1457200" y="1600200"/>
            <a:ext cx="4583680" cy="3749040"/>
          </a:xfrm>
          <a:prstGeom prst="rect">
            <a:avLst/>
          </a:prstGeom>
          <a:ln w="19050">
            <a:solidFill>
              <a:srgbClr val="1A1A1A"/>
            </a:solidFill>
            <a:prstDash val="solid"/>
          </a:ln>
        </p:spPr>
      </p:sp>
      <p:sp>
        <p:nvSpPr>
          <p:cNvPr id="7" name="Shape 5"/>
          <p:cNvSpPr/>
          <p:nvPr/>
        </p:nvSpPr>
        <p:spPr>
          <a:xfrm>
            <a:off x="1525613" y="5280827"/>
            <a:ext cx="4446854" cy="0"/>
          </a:xfrm>
          <a:prstGeom prst="line">
            <a:avLst/>
          </a:prstGeom>
          <a:noFill/>
          <a:ln w="25400">
            <a:solidFill>
              <a:srgbClr val="1F3A5F"/>
            </a:solidFill>
            <a:prstDash val="solid"/>
          </a:ln>
        </p:spPr>
      </p:sp>
      <p:sp>
        <p:nvSpPr>
          <p:cNvPr id="8" name="Shape 6"/>
          <p:cNvSpPr/>
          <p:nvPr/>
        </p:nvSpPr>
        <p:spPr>
          <a:xfrm flipH="1" flipV="1">
            <a:off x="3755881" y="1668613"/>
            <a:ext cx="2216586" cy="3612214"/>
          </a:xfrm>
          <a:prstGeom prst="line">
            <a:avLst/>
          </a:prstGeom>
          <a:noFill/>
          <a:ln w="25400">
            <a:solidFill>
              <a:srgbClr val="1F3A5F"/>
            </a:solidFill>
            <a:prstDash val="solid"/>
          </a:ln>
        </p:spPr>
      </p:sp>
      <p:sp>
        <p:nvSpPr>
          <p:cNvPr id="9" name="Shape 7"/>
          <p:cNvSpPr/>
          <p:nvPr/>
        </p:nvSpPr>
        <p:spPr>
          <a:xfrm flipH="1">
            <a:off x="1525613" y="1668613"/>
            <a:ext cx="2230268" cy="3612214"/>
          </a:xfrm>
          <a:prstGeom prst="line">
            <a:avLst/>
          </a:prstGeom>
          <a:noFill/>
          <a:ln w="25400">
            <a:solidFill>
              <a:srgbClr val="1F3A5F"/>
            </a:solidFill>
            <a:prstDash val="solid"/>
          </a:ln>
        </p:spPr>
      </p:sp>
      <p:sp>
        <p:nvSpPr>
          <p:cNvPr id="10" name="station A"/>
          <p:cNvSpPr/>
          <p:nvPr/>
        </p:nvSpPr>
        <p:spPr>
          <a:xfrm>
            <a:off x="1425029" y="5180243"/>
            <a:ext cx="201168" cy="201168"/>
          </a:xfrm>
          <a:prstGeom prst="ellipse">
            <a:avLst/>
          </a:prstGeom>
          <a:solidFill>
            <a:srgbClr val="1F3A5F"/>
          </a:solidFill>
          <a:ln w="12700">
            <a:solidFill>
              <a:srgbClr val="1F3A5F"/>
            </a:solidFill>
            <a:prstDash val="solid"/>
          </a:ln>
        </p:spPr>
      </p:sp>
      <p:sp>
        <p:nvSpPr>
          <p:cNvPr id="11" name="station B"/>
          <p:cNvSpPr/>
          <p:nvPr/>
        </p:nvSpPr>
        <p:spPr>
          <a:xfrm>
            <a:off x="5871883" y="5180243"/>
            <a:ext cx="201168" cy="201168"/>
          </a:xfrm>
          <a:prstGeom prst="ellipse">
            <a:avLst/>
          </a:prstGeom>
          <a:solidFill>
            <a:srgbClr val="1F3A5F"/>
          </a:solidFill>
          <a:ln w="12700">
            <a:solidFill>
              <a:srgbClr val="1F3A5F"/>
            </a:solidFill>
            <a:prstDash val="solid"/>
          </a:ln>
        </p:spPr>
      </p:sp>
      <p:sp>
        <p:nvSpPr>
          <p:cNvPr id="12" name="station C"/>
          <p:cNvSpPr/>
          <p:nvPr/>
        </p:nvSpPr>
        <p:spPr>
          <a:xfrm>
            <a:off x="3655297" y="1568029"/>
            <a:ext cx="201168" cy="201168"/>
          </a:xfrm>
          <a:prstGeom prst="ellipse">
            <a:avLst/>
          </a:prstGeom>
          <a:solidFill>
            <a:srgbClr val="1F3A5F"/>
          </a:solidFill>
          <a:ln w="12700">
            <a:solidFill>
              <a:srgbClr val="1F3A5F"/>
            </a:solidFill>
            <a:prstDash val="solid"/>
          </a:ln>
        </p:spPr>
      </p:sp>
      <p:sp>
        <p:nvSpPr>
          <p:cNvPr id="13" name="corner D, empty"/>
          <p:cNvSpPr/>
          <p:nvPr/>
        </p:nvSpPr>
        <p:spPr>
          <a:xfrm>
            <a:off x="1425029" y="1568029"/>
            <a:ext cx="201168" cy="201168"/>
          </a:xfrm>
          <a:prstGeom prst="ellipse">
            <a:avLst/>
          </a:prstGeom>
          <a:solidFill>
            <a:srgbClr val="FFFFFF"/>
          </a:solidFill>
          <a:ln w="12700">
            <a:solidFill>
              <a:srgbClr val="7F7F7F"/>
            </a:solidFill>
            <a:prstDash val="dash"/>
          </a:ln>
        </p:spPr>
      </p:sp>
      <p:sp>
        <p:nvSpPr>
          <p:cNvPr id="14" name="start point"/>
          <p:cNvSpPr/>
          <p:nvPr/>
        </p:nvSpPr>
        <p:spPr>
          <a:xfrm>
            <a:off x="3673585" y="3994460"/>
            <a:ext cx="164592" cy="164592"/>
          </a:xfrm>
          <a:prstGeom prst="ellipse">
            <a:avLst/>
          </a:prstGeom>
          <a:solidFill>
            <a:srgbClr val="B23A2E"/>
          </a:solidFill>
          <a:ln w="12700">
            <a:solidFill>
              <a:srgbClr val="B23A2E"/>
            </a:solidFill>
            <a:prstDash val="solid"/>
          </a:ln>
        </p:spPr>
      </p:sp>
      <p:sp>
        <p:nvSpPr>
          <p:cNvPr id="15" name="label"/>
          <p:cNvSpPr txBox="1"/>
          <p:nvPr/>
        </p:nvSpPr>
        <p:spPr>
          <a:xfrm>
            <a:off x="1434173" y="5390555"/>
            <a:ext cx="1463040" cy="237744"/>
          </a:xfrm>
          <a:prstGeom prst="rect">
            <a:avLst/>
          </a:prstGeom>
          <a:noFill/>
          <a:ln/>
        </p:spPr>
        <p:txBody>
          <a:bodyPr wrap="square" lIns="0" tIns="0" rIns="0" bIns="0" rtlCol="0" anchor="ctr"/>
          <a:lstStyle/>
          <a:p>
            <a:pPr algn="l" indent="0" marL="0">
              <a:buNone/>
            </a:pPr>
            <a:r>
              <a:rPr lang="en-US" sz="1100" b="1" dirty="0">
                <a:solidFill>
                  <a:srgbClr val="1F3A5F"/>
                </a:solidFill>
                <a:latin typeface="Arial" pitchFamily="34" charset="0"/>
                <a:ea typeface="Arial" pitchFamily="34" charset="-122"/>
                <a:cs typeface="Arial" pitchFamily="34" charset="-120"/>
              </a:rPr>
              <a:t>A (0.05, 0.05)</a:t>
            </a:r>
            <a:endParaRPr lang="en-US" sz="1100" dirty="0"/>
          </a:p>
        </p:txBody>
      </p:sp>
      <p:sp>
        <p:nvSpPr>
          <p:cNvPr id="16" name="label"/>
          <p:cNvSpPr txBox="1"/>
          <p:nvPr/>
        </p:nvSpPr>
        <p:spPr>
          <a:xfrm>
            <a:off x="4600867" y="5390555"/>
            <a:ext cx="1463040" cy="237744"/>
          </a:xfrm>
          <a:prstGeom prst="rect">
            <a:avLst/>
          </a:prstGeom>
          <a:noFill/>
          <a:ln/>
        </p:spPr>
        <p:txBody>
          <a:bodyPr wrap="square" lIns="0" tIns="0" rIns="0" bIns="0" rtlCol="0" anchor="ctr"/>
          <a:lstStyle/>
          <a:p>
            <a:pPr algn="r" indent="0" marL="0">
              <a:buNone/>
            </a:pPr>
            <a:r>
              <a:rPr lang="en-US" sz="1100" b="1" dirty="0">
                <a:solidFill>
                  <a:srgbClr val="1F3A5F"/>
                </a:solidFill>
                <a:latin typeface="Arial" pitchFamily="34" charset="0"/>
                <a:ea typeface="Arial" pitchFamily="34" charset="-122"/>
                <a:cs typeface="Arial" pitchFamily="34" charset="-120"/>
              </a:rPr>
              <a:t>B (3.30, 0.05)</a:t>
            </a:r>
            <a:endParaRPr lang="en-US" sz="1100" dirty="0"/>
          </a:p>
        </p:txBody>
      </p:sp>
      <p:sp>
        <p:nvSpPr>
          <p:cNvPr id="17" name="label"/>
          <p:cNvSpPr txBox="1"/>
          <p:nvPr/>
        </p:nvSpPr>
        <p:spPr>
          <a:xfrm>
            <a:off x="2658601" y="1302853"/>
            <a:ext cx="2194560" cy="237744"/>
          </a:xfrm>
          <a:prstGeom prst="rect">
            <a:avLst/>
          </a:prstGeom>
          <a:noFill/>
          <a:ln/>
        </p:spPr>
        <p:txBody>
          <a:bodyPr wrap="square" lIns="0" tIns="0" rIns="0" bIns="0" rtlCol="0" anchor="ctr"/>
          <a:lstStyle/>
          <a:p>
            <a:pPr algn="ctr" indent="0" marL="0">
              <a:buNone/>
            </a:pPr>
            <a:r>
              <a:rPr lang="en-US" sz="1100" b="1" dirty="0">
                <a:solidFill>
                  <a:srgbClr val="1F3A5F"/>
                </a:solidFill>
                <a:latin typeface="Arial" pitchFamily="34" charset="0"/>
                <a:ea typeface="Arial" pitchFamily="34" charset="-122"/>
                <a:cs typeface="Arial" pitchFamily="34" charset="-120"/>
              </a:rPr>
              <a:t>C (1.68, 2.69), mid-wall</a:t>
            </a:r>
            <a:endParaRPr lang="en-US" sz="1100" dirty="0"/>
          </a:p>
        </p:txBody>
      </p:sp>
      <p:sp>
        <p:nvSpPr>
          <p:cNvPr id="18" name="label"/>
          <p:cNvSpPr txBox="1"/>
          <p:nvPr/>
        </p:nvSpPr>
        <p:spPr>
          <a:xfrm>
            <a:off x="1434173" y="1302853"/>
            <a:ext cx="1463040" cy="237744"/>
          </a:xfrm>
          <a:prstGeom prst="rect">
            <a:avLst/>
          </a:prstGeom>
          <a:noFill/>
          <a:ln/>
        </p:spPr>
        <p:txBody>
          <a:bodyPr wrap="square" lIns="0" tIns="0" rIns="0" bIns="0" rtlCol="0" anchor="ctr"/>
          <a:lstStyle/>
          <a:p>
            <a:pPr algn="l" indent="0" marL="0">
              <a:buNone/>
            </a:pPr>
            <a:r>
              <a:rPr lang="en-US" sz="1100" dirty="0">
                <a:solidFill>
                  <a:srgbClr val="7F7F7F"/>
                </a:solidFill>
                <a:latin typeface="Arial" pitchFamily="34" charset="0"/>
                <a:ea typeface="Arial" pitchFamily="34" charset="-122"/>
                <a:cs typeface="Arial" pitchFamily="34" charset="-120"/>
              </a:rPr>
              <a:t>D: not mounted</a:t>
            </a:r>
            <a:endParaRPr lang="en-US" sz="1100" dirty="0"/>
          </a:p>
        </p:txBody>
      </p:sp>
      <p:sp>
        <p:nvSpPr>
          <p:cNvPr id="19" name="label"/>
          <p:cNvSpPr txBox="1"/>
          <p:nvPr/>
        </p:nvSpPr>
        <p:spPr>
          <a:xfrm>
            <a:off x="2567161" y="4186484"/>
            <a:ext cx="2377440" cy="237744"/>
          </a:xfrm>
          <a:prstGeom prst="rect">
            <a:avLst/>
          </a:prstGeom>
          <a:noFill/>
          <a:ln/>
        </p:spPr>
        <p:txBody>
          <a:bodyPr wrap="square" lIns="0" tIns="0" rIns="0" bIns="0" rtlCol="0" anchor="ctr"/>
          <a:lstStyle/>
          <a:p>
            <a:pPr algn="ctr" indent="0" marL="0">
              <a:buNone/>
            </a:pPr>
            <a:r>
              <a:rPr lang="en-US" sz="1100" b="1" dirty="0">
                <a:solidFill>
                  <a:srgbClr val="B23A2E"/>
                </a:solidFill>
                <a:latin typeface="Arial" pitchFamily="34" charset="0"/>
                <a:ea typeface="Arial" pitchFamily="34" charset="-122"/>
                <a:cs typeface="Arial" pitchFamily="34" charset="-120"/>
              </a:rPr>
              <a:t>Start (1.68, 0.93), the centroid</a:t>
            </a:r>
            <a:endParaRPr lang="en-US" sz="1100" dirty="0"/>
          </a:p>
        </p:txBody>
      </p:sp>
      <p:sp>
        <p:nvSpPr>
          <p:cNvPr id="20" name="label"/>
          <p:cNvSpPr txBox="1"/>
          <p:nvPr/>
        </p:nvSpPr>
        <p:spPr>
          <a:xfrm>
            <a:off x="3291840" y="5006507"/>
            <a:ext cx="914400" cy="219456"/>
          </a:xfrm>
          <a:prstGeom prst="rect">
            <a:avLst/>
          </a:prstGeom>
          <a:noFill/>
          <a:ln/>
        </p:spPr>
        <p:txBody>
          <a:bodyPr wrap="square" lIns="0" tIns="0" rIns="0" bIns="0" rtlCol="0" anchor="ctr"/>
          <a:lstStyle/>
          <a:p>
            <a:pPr algn="ctr" indent="0" marL="0">
              <a:buNone/>
            </a:pPr>
            <a:r>
              <a:rPr lang="en-US" sz="1000" dirty="0">
                <a:solidFill>
                  <a:srgbClr val="4F6D8F"/>
                </a:solidFill>
                <a:latin typeface="Arial" pitchFamily="34" charset="0"/>
                <a:ea typeface="Arial" pitchFamily="34" charset="-122"/>
                <a:cs typeface="Arial" pitchFamily="34" charset="-120"/>
              </a:rPr>
              <a:t>3.25 m</a:t>
            </a:r>
            <a:endParaRPr lang="en-US" sz="1000" dirty="0"/>
          </a:p>
        </p:txBody>
      </p:sp>
      <p:sp>
        <p:nvSpPr>
          <p:cNvPr id="21" name="label"/>
          <p:cNvSpPr txBox="1"/>
          <p:nvPr/>
        </p:nvSpPr>
        <p:spPr>
          <a:xfrm>
            <a:off x="1772067" y="3364992"/>
            <a:ext cx="731520" cy="219456"/>
          </a:xfrm>
          <a:prstGeom prst="rect">
            <a:avLst/>
          </a:prstGeom>
          <a:noFill/>
          <a:ln/>
        </p:spPr>
        <p:txBody>
          <a:bodyPr wrap="square" lIns="0" tIns="0" rIns="0" bIns="0" rtlCol="0" anchor="ctr"/>
          <a:lstStyle/>
          <a:p>
            <a:pPr algn="r" indent="0" marL="0">
              <a:buNone/>
            </a:pPr>
            <a:r>
              <a:rPr lang="en-US" sz="1000" dirty="0">
                <a:solidFill>
                  <a:srgbClr val="4F6D8F"/>
                </a:solidFill>
                <a:latin typeface="Arial" pitchFamily="34" charset="0"/>
                <a:ea typeface="Arial" pitchFamily="34" charset="-122"/>
                <a:cs typeface="Arial" pitchFamily="34" charset="-120"/>
              </a:rPr>
              <a:t>3.10 m</a:t>
            </a:r>
            <a:endParaRPr lang="en-US" sz="1000" dirty="0"/>
          </a:p>
        </p:txBody>
      </p:sp>
      <p:sp>
        <p:nvSpPr>
          <p:cNvPr id="22" name="label"/>
          <p:cNvSpPr txBox="1"/>
          <p:nvPr/>
        </p:nvSpPr>
        <p:spPr>
          <a:xfrm>
            <a:off x="5001334" y="3364992"/>
            <a:ext cx="731520" cy="219456"/>
          </a:xfrm>
          <a:prstGeom prst="rect">
            <a:avLst/>
          </a:prstGeom>
          <a:noFill/>
          <a:ln/>
        </p:spPr>
        <p:txBody>
          <a:bodyPr wrap="square" lIns="0" tIns="0" rIns="0" bIns="0" rtlCol="0" anchor="ctr"/>
          <a:lstStyle/>
          <a:p>
            <a:pPr algn="l" indent="0" marL="0">
              <a:buNone/>
            </a:pPr>
            <a:r>
              <a:rPr lang="en-US" sz="1000" dirty="0">
                <a:solidFill>
                  <a:srgbClr val="4F6D8F"/>
                </a:solidFill>
                <a:latin typeface="Arial" pitchFamily="34" charset="0"/>
                <a:ea typeface="Arial" pitchFamily="34" charset="-122"/>
                <a:cs typeface="Arial" pitchFamily="34" charset="-120"/>
              </a:rPr>
              <a:t>3.10 m</a:t>
            </a:r>
            <a:endParaRPr lang="en-US" sz="1000" dirty="0"/>
          </a:p>
        </p:txBody>
      </p:sp>
      <p:sp>
        <p:nvSpPr>
          <p:cNvPr id="23" name="label"/>
          <p:cNvSpPr txBox="1"/>
          <p:nvPr/>
        </p:nvSpPr>
        <p:spPr>
          <a:xfrm>
            <a:off x="2926080" y="5458968"/>
            <a:ext cx="1645920" cy="237744"/>
          </a:xfrm>
          <a:prstGeom prst="rect">
            <a:avLst/>
          </a:prstGeom>
          <a:noFill/>
          <a:ln/>
        </p:spPr>
        <p:txBody>
          <a:bodyPr wrap="square" lIns="0" tIns="0" rIns="0" bIns="0" rtlCol="0" anchor="ctr"/>
          <a:lstStyle/>
          <a:p>
            <a:pPr algn="ctr" indent="0" marL="0">
              <a:buNone/>
            </a:pPr>
            <a:r>
              <a:rPr lang="en-US" sz="1100" dirty="0">
                <a:solidFill>
                  <a:srgbClr val="404040"/>
                </a:solidFill>
                <a:latin typeface="Arial" pitchFamily="34" charset="0"/>
                <a:ea typeface="Arial" pitchFamily="34" charset="-122"/>
                <a:cs typeface="Arial" pitchFamily="34" charset="-120"/>
              </a:rPr>
              <a:t>3.35 m (11 ft) wall</a:t>
            </a:r>
            <a:endParaRPr lang="en-US" sz="1100" dirty="0"/>
          </a:p>
        </p:txBody>
      </p:sp>
      <p:sp>
        <p:nvSpPr>
          <p:cNvPr id="24" name="label"/>
          <p:cNvSpPr txBox="1"/>
          <p:nvPr/>
        </p:nvSpPr>
        <p:spPr>
          <a:xfrm>
            <a:off x="548640" y="3200400"/>
            <a:ext cx="502920" cy="548640"/>
          </a:xfrm>
          <a:prstGeom prst="rect">
            <a:avLst/>
          </a:prstGeom>
          <a:noFill/>
          <a:ln/>
        </p:spPr>
        <p:txBody>
          <a:bodyPr wrap="square" lIns="0" tIns="0" rIns="0" bIns="0" rtlCol="0" anchor="ctr"/>
          <a:lstStyle/>
          <a:p>
            <a:pPr algn="r" indent="0" marL="0">
              <a:buNone/>
            </a:pPr>
            <a:r>
              <a:rPr lang="en-US" sz="1100" dirty="0">
                <a:solidFill>
                  <a:srgbClr val="404040"/>
                </a:solidFill>
                <a:latin typeface="Arial" pitchFamily="34" charset="0"/>
                <a:ea typeface="Arial" pitchFamily="34" charset="-122"/>
                <a:cs typeface="Arial" pitchFamily="34" charset="-120"/>
              </a:rPr>
              <a:t>2.74 m</a:t>
            </a:r>
            <a:endParaRPr lang="en-US" sz="1100" dirty="0"/>
          </a:p>
          <a:p>
            <a:pPr algn="r" indent="0" marL="0">
              <a:buNone/>
            </a:pPr>
            <a:r>
              <a:rPr lang="en-US" sz="1100" dirty="0">
                <a:solidFill>
                  <a:srgbClr val="404040"/>
                </a:solidFill>
                <a:latin typeface="Arial" pitchFamily="34" charset="0"/>
                <a:ea typeface="Arial" pitchFamily="34" charset="-122"/>
                <a:cs typeface="Arial" pitchFamily="34" charset="-120"/>
              </a:rPr>
              <a:t>(9 ft)</a:t>
            </a:r>
            <a:endParaRPr lang="en-US" sz="1100" dirty="0"/>
          </a:p>
        </p:txBody>
      </p:sp>
      <p:sp>
        <p:nvSpPr>
          <p:cNvPr id="25" name="caption"/>
          <p:cNvSpPr txBox="1"/>
          <p:nvPr/>
        </p:nvSpPr>
        <p:spPr>
          <a:xfrm>
            <a:off x="548640" y="5897880"/>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Top view to scale; anchors at one height, 2.59 m; shaded: where three cables hold the claw</a:t>
            </a:r>
            <a:endParaRPr lang="en-US" sz="1100" dirty="0"/>
          </a:p>
        </p:txBody>
      </p:sp>
      <p:sp>
        <p:nvSpPr>
          <p:cNvPr id="26"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A and B in two corners of one wall, C mid-wall opposite: a 3.25 / 3.10 / 3.10 m triangle, nearly equilateral</a:t>
            </a:r>
            <a:endParaRPr lang="en-US" sz="1600" dirty="0"/>
          </a:p>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Hanging from three of the four corner holes tilts the claw 5.5° at the start point; the lift aborts at 8°</a:t>
            </a:r>
            <a:endParaRPr lang="en-US" sz="1600" dirty="0"/>
          </a:p>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Grips (5° limit) would be refused over 78 % of the floor; a three-hole housing at 120° brings the start tilt to 0.8°</a:t>
            </a:r>
            <a:endParaRPr lang="en-US" sz="1600" dirty="0"/>
          </a:p>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No spare cable: a station fault drops the claw, so the floor under it stays clear and padded</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itle"/>
          <p:cNvSpPr txBox="1"/>
          <p:nvPr/>
        </p:nvSpPr>
        <p:spPr>
          <a:xfrm>
            <a:off x="548640" y="274320"/>
            <a:ext cx="8223199"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What hurts now, and the next iteration</a:t>
            </a:r>
            <a:endParaRPr lang="en-US" sz="2400" dirty="0"/>
          </a:p>
        </p:txBody>
      </p:sp>
      <p:sp>
        <p:nvSpPr>
          <p:cNvPr id="3" name="tag CAD"/>
          <p:cNvSpPr txBox="1"/>
          <p:nvPr/>
        </p:nvSpPr>
        <p:spPr>
          <a:xfrm>
            <a:off x="9064447" y="530352"/>
            <a:ext cx="1234440" cy="256032"/>
          </a:xfrm>
          <a:prstGeom prst="roundRect">
            <a:avLst>
              <a:gd name="adj" fmla="val 50000"/>
            </a:avLst>
          </a:prstGeom>
          <a:solidFill>
            <a:srgbClr val="FFFFFF"/>
          </a:solidFill>
          <a:ln w="12700">
            <a:solidFill>
              <a:srgbClr val="1F3A5F"/>
            </a:solidFill>
          </a:ln>
        </p:spPr>
        <p:txBody>
          <a:bodyPr wrap="square" lIns="0" tIns="0" rIns="0" bIns="0" rtlCol="0" anchor="ctr"/>
          <a:lstStyle/>
          <a:p>
            <a:pPr algn="ctr" indent="0" marL="0">
              <a:buNone/>
            </a:pPr>
            <a:r>
              <a:rPr lang="en-US" sz="900" b="1" spc="120" kern="0" dirty="0">
                <a:solidFill>
                  <a:srgbClr val="1F3A5F"/>
                </a:solidFill>
                <a:latin typeface="Arial" pitchFamily="34" charset="0"/>
                <a:ea typeface="Arial" pitchFamily="34" charset="-122"/>
                <a:cs typeface="Arial" pitchFamily="34" charset="-120"/>
              </a:rPr>
              <a:t>CAD</a:t>
            </a:r>
            <a:endParaRPr lang="en-US" sz="900" dirty="0"/>
          </a:p>
        </p:txBody>
      </p:sp>
      <p:sp>
        <p:nvSpPr>
          <p:cNvPr id="4" name="tag PLANNED"/>
          <p:cNvSpPr txBox="1"/>
          <p:nvPr/>
        </p:nvSpPr>
        <p:spPr>
          <a:xfrm>
            <a:off x="10408615" y="530352"/>
            <a:ext cx="1234440" cy="256032"/>
          </a:xfrm>
          <a:prstGeom prst="roundRect">
            <a:avLst>
              <a:gd name="adj" fmla="val 50000"/>
            </a:avLst>
          </a:prstGeom>
          <a:solidFill>
            <a:srgbClr val="F2F2F2"/>
          </a:solidFill>
          <a:ln w="12700">
            <a:solidFill>
              <a:srgbClr val="F2F2F2"/>
            </a:solidFill>
          </a:ln>
        </p:spPr>
        <p:txBody>
          <a:bodyPr wrap="square" lIns="0" tIns="0" rIns="0" bIns="0" rtlCol="0" anchor="ctr"/>
          <a:lstStyle/>
          <a:p>
            <a:pPr algn="ctr" indent="0" marL="0">
              <a:buNone/>
            </a:pPr>
            <a:r>
              <a:rPr lang="en-US" sz="900" b="1" spc="120" kern="0" dirty="0">
                <a:solidFill>
                  <a:srgbClr val="7F7F7F"/>
                </a:solidFill>
                <a:latin typeface="Arial" pitchFamily="34" charset="0"/>
                <a:ea typeface="Arial" pitchFamily="34" charset="-122"/>
                <a:cs typeface="Arial" pitchFamily="34" charset="-120"/>
              </a:rPr>
              <a:t>PLANNED</a:t>
            </a:r>
            <a:endParaRPr lang="en-US" sz="900" dirty="0"/>
          </a:p>
        </p:txBody>
      </p:sp>
      <p:sp>
        <p:nvSpPr>
          <p:cNvPr id="5"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5 of 5: Build and bring-up (October 22-27)</a:t>
            </a:r>
            <a:endParaRPr lang="en-US" sz="1000" dirty="0"/>
          </a:p>
        </p:txBody>
      </p:sp>
      <p:sp>
        <p:nvSpPr>
          <p:cNvPr id="6" name="card A 3:1 printed gear stage"/>
          <p:cNvSpPr/>
          <p:nvPr/>
        </p:nvSpPr>
        <p:spPr>
          <a:xfrm>
            <a:off x="548640" y="1188720"/>
            <a:ext cx="2463698" cy="3749040"/>
          </a:xfrm>
          <a:prstGeom prst="rect">
            <a:avLst/>
          </a:prstGeom>
          <a:solidFill>
            <a:srgbClr val="F2F2F2"/>
          </a:solidFill>
          <a:ln w="12700">
            <a:solidFill>
              <a:srgbClr val="F2F2F2"/>
            </a:solidFill>
            <a:prstDash val="solid"/>
          </a:ln>
        </p:spPr>
      </p:sp>
      <p:sp>
        <p:nvSpPr>
          <p:cNvPr id="7" name="card eyebrow"/>
          <p:cNvSpPr txBox="1"/>
          <p:nvPr/>
        </p:nvSpPr>
        <p:spPr>
          <a:xfrm>
            <a:off x="731520" y="1325880"/>
            <a:ext cx="2097938" cy="228600"/>
          </a:xfrm>
          <a:prstGeom prst="rect">
            <a:avLst/>
          </a:prstGeom>
          <a:noFill/>
          <a:ln/>
        </p:spPr>
        <p:txBody>
          <a:bodyPr wrap="square" lIns="0" tIns="0" rIns="0" bIns="0" rtlCol="0" anchor="ctr"/>
          <a:lstStyle/>
          <a:p>
            <a:pPr algn="l" indent="0" marL="0">
              <a:buNone/>
            </a:pPr>
            <a:r>
              <a:rPr lang="en-US" sz="1000" b="1" dirty="0">
                <a:solidFill>
                  <a:srgbClr val="7F7F7F"/>
                </a:solidFill>
                <a:latin typeface="Arial" pitchFamily="34" charset="0"/>
                <a:ea typeface="Arial" pitchFamily="34" charset="-122"/>
                <a:cs typeface="Arial" pitchFamily="34" charset="-120"/>
              </a:rPr>
              <a:t>WINCH PULL</a:t>
            </a:r>
            <a:endParaRPr lang="en-US" sz="1000" dirty="0"/>
          </a:p>
        </p:txBody>
      </p:sp>
      <p:sp>
        <p:nvSpPr>
          <p:cNvPr id="8" name="card title"/>
          <p:cNvSpPr txBox="1"/>
          <p:nvPr/>
        </p:nvSpPr>
        <p:spPr>
          <a:xfrm>
            <a:off x="731520" y="1554480"/>
            <a:ext cx="2097938" cy="640080"/>
          </a:xfrm>
          <a:prstGeom prst="rect">
            <a:avLst/>
          </a:prstGeom>
          <a:noFill/>
          <a:ln/>
        </p:spPr>
        <p:txBody>
          <a:bodyPr wrap="square" lIns="0" tIns="0" rIns="0" bIns="0" rtlCol="0" anchor="t"/>
          <a:lstStyle/>
          <a:p>
            <a:pPr algn="l" indent="0" marL="0">
              <a:buNone/>
            </a:pPr>
            <a:r>
              <a:rPr lang="en-US" sz="1700" b="1" dirty="0">
                <a:solidFill>
                  <a:srgbClr val="1F3A5F"/>
                </a:solidFill>
                <a:latin typeface="Arial" pitchFamily="34" charset="0"/>
                <a:ea typeface="Arial" pitchFamily="34" charset="-122"/>
                <a:cs typeface="Arial" pitchFamily="34" charset="-120"/>
              </a:rPr>
              <a:t>A 3:1 printed gear stage</a:t>
            </a:r>
            <a:endParaRPr lang="en-US" sz="1700" dirty="0"/>
          </a:p>
        </p:txBody>
      </p:sp>
      <p:sp>
        <p:nvSpPr>
          <p:cNvPr id="9" name="card now"/>
          <p:cNvSpPr txBox="1"/>
          <p:nvPr/>
        </p:nvSpPr>
        <p:spPr>
          <a:xfrm>
            <a:off x="731520" y="2148840"/>
            <a:ext cx="2097938" cy="777240"/>
          </a:xfrm>
          <a:prstGeom prst="rect">
            <a:avLst/>
          </a:prstGeom>
          <a:noFill/>
          <a:ln/>
        </p:spPr>
        <p:txBody>
          <a:bodyPr wrap="square" lIns="0" tIns="0" rIns="0" bIns="0" rtlCol="0" anchor="t"/>
          <a:lstStyle/>
          <a:p>
            <a:pPr algn="l" indent="0" marL="0">
              <a:buNone/>
            </a:pPr>
            <a:r>
              <a:rPr lang="en-US" sz="1100" dirty="0">
                <a:solidFill>
                  <a:srgbClr val="B23A2E"/>
                </a:solidFill>
                <a:latin typeface="Arial" pitchFamily="34" charset="0"/>
                <a:ea typeface="Arial" pitchFamily="34" charset="-122"/>
                <a:cs typeface="Arial" pitchFamily="34" charset="-120"/>
              </a:rPr>
              <a:t>Now: a direct-drive spool on the motor shaft, 34 N on an empty spool at 1.5 A</a:t>
            </a:r>
            <a:endParaRPr lang="en-US" sz="1100" dirty="0"/>
          </a:p>
        </p:txBody>
      </p:sp>
      <p:sp>
        <p:nvSpPr>
          <p:cNvPr id="10" name="card label"/>
          <p:cNvSpPr txBox="1"/>
          <p:nvPr/>
        </p:nvSpPr>
        <p:spPr>
          <a:xfrm>
            <a:off x="731520" y="2971800"/>
            <a:ext cx="2097938" cy="228600"/>
          </a:xfrm>
          <a:prstGeom prst="rect">
            <a:avLst/>
          </a:prstGeom>
          <a:noFill/>
          <a:ln/>
        </p:spPr>
        <p:txBody>
          <a:bodyPr wrap="square" lIns="0" tIns="0" rIns="0" bIns="0" rtlCol="0" anchor="ctr"/>
          <a:lstStyle/>
          <a:p>
            <a:pPr algn="l" indent="0" marL="0">
              <a:buNone/>
            </a:pPr>
            <a:r>
              <a:rPr lang="en-US" sz="1000" b="1" dirty="0">
                <a:solidFill>
                  <a:srgbClr val="7F7F7F"/>
                </a:solidFill>
                <a:latin typeface="Arial" pitchFamily="34" charset="0"/>
                <a:ea typeface="Arial" pitchFamily="34" charset="-122"/>
                <a:cs typeface="Arial" pitchFamily="34" charset="-120"/>
              </a:rPr>
              <a:t>NEXT ITERATION</a:t>
            </a:r>
            <a:endParaRPr lang="en-US" sz="1000" dirty="0"/>
          </a:p>
        </p:txBody>
      </p:sp>
      <p:sp>
        <p:nvSpPr>
          <p:cNvPr id="11" name="card next"/>
          <p:cNvSpPr txBox="1"/>
          <p:nvPr/>
        </p:nvSpPr>
        <p:spPr>
          <a:xfrm>
            <a:off x="731520" y="3200400"/>
            <a:ext cx="2097938" cy="1417320"/>
          </a:xfrm>
          <a:prstGeom prst="rect">
            <a:avLst/>
          </a:prstGeom>
          <a:noFill/>
          <a:ln/>
        </p:spPr>
        <p:txBody>
          <a:bodyPr wrap="square" lIns="25400" tIns="0" rIns="50800" bIns="25400" rtlCol="0" anchor="t"/>
          <a:lstStyle/>
          <a:p>
            <a:pPr algn="l" marL="254000" indent="-254000">
              <a:spcAft>
                <a:spcPts val="400"/>
              </a:spcAft>
              <a:buSzPct val="100000"/>
              <a:buChar char="•"/>
            </a:pPr>
            <a:r>
              <a:rPr lang="en-US" sz="1100" dirty="0">
                <a:solidFill>
                  <a:srgbClr val="1A1A1A"/>
                </a:solidFill>
                <a:latin typeface="Arial" pitchFamily="34" charset="0"/>
                <a:ea typeface="Arial" pitchFamily="34" charset="-122"/>
                <a:cs typeface="Arial" pitchFamily="34" charset="-120"/>
              </a:rPr>
              <a:t>18T/54T, module 1, printed PETG pinion: designed and CAD-verified, pinion printed, not fitted</a:t>
            </a:r>
            <a:endParaRPr lang="en-US" sz="1100" dirty="0"/>
          </a:p>
          <a:p>
            <a:pPr algn="l" marL="254000" indent="-254000">
              <a:spcAft>
                <a:spcPts val="400"/>
              </a:spcAft>
              <a:buSzPct val="100000"/>
              <a:buChar char="•"/>
            </a:pPr>
            <a:r>
              <a:rPr lang="en-US" sz="1100" dirty="0">
                <a:solidFill>
                  <a:srgbClr val="1A1A1A"/>
                </a:solidFill>
                <a:latin typeface="Arial" pitchFamily="34" charset="0"/>
                <a:ea typeface="Arial" pitchFamily="34" charset="-122"/>
                <a:cs typeface="Arial" pitchFamily="34" charset="-120"/>
              </a:rPr>
              <a:t>1.98–2.80 kg at 1.0 A with half the heat; the slip fuse moves to about 130 N, station sized for 200 N</a:t>
            </a:r>
            <a:endParaRPr lang="en-US" sz="1100" dirty="0"/>
          </a:p>
        </p:txBody>
      </p:sp>
      <p:sp>
        <p:nvSpPr>
          <p:cNvPr id="12" name="card tag"/>
          <p:cNvSpPr txBox="1"/>
          <p:nvPr/>
        </p:nvSpPr>
        <p:spPr>
          <a:xfrm>
            <a:off x="731520" y="4617720"/>
            <a:ext cx="2097938" cy="274320"/>
          </a:xfrm>
          <a:prstGeom prst="rect">
            <a:avLst/>
          </a:prstGeom>
          <a:noFill/>
          <a:ln/>
        </p:spPr>
        <p:txBody>
          <a:bodyPr wrap="square" lIns="0" tIns="0" rIns="0" bIns="0" rtlCol="0" anchor="ctr"/>
          <a:lstStyle/>
          <a:p>
            <a:pPr algn="l" indent="0" marL="0">
              <a:buNone/>
            </a:pPr>
            <a:r>
              <a:rPr lang="en-US" sz="1000" b="1" dirty="0">
                <a:solidFill>
                  <a:srgbClr val="4F6D8F"/>
                </a:solidFill>
                <a:latin typeface="Arial" pitchFamily="34" charset="0"/>
                <a:ea typeface="Arial" pitchFamily="34" charset="-122"/>
                <a:cs typeface="Arial" pitchFamily="34" charset="-120"/>
              </a:rPr>
              <a:t>CAD, not fitted</a:t>
            </a:r>
            <a:endParaRPr lang="en-US" sz="1000" dirty="0"/>
          </a:p>
        </p:txBody>
      </p:sp>
      <p:sp>
        <p:nvSpPr>
          <p:cNvPr id="13" name="card A 1° draft on the dovetail"/>
          <p:cNvSpPr/>
          <p:nvPr/>
        </p:nvSpPr>
        <p:spPr>
          <a:xfrm>
            <a:off x="3195218" y="1188720"/>
            <a:ext cx="2463698" cy="3749040"/>
          </a:xfrm>
          <a:prstGeom prst="rect">
            <a:avLst/>
          </a:prstGeom>
          <a:solidFill>
            <a:srgbClr val="F2F2F2"/>
          </a:solidFill>
          <a:ln w="12700">
            <a:solidFill>
              <a:srgbClr val="F2F2F2"/>
            </a:solidFill>
            <a:prstDash val="solid"/>
          </a:ln>
        </p:spPr>
      </p:sp>
      <p:sp>
        <p:nvSpPr>
          <p:cNvPr id="14" name="card eyebrow"/>
          <p:cNvSpPr txBox="1"/>
          <p:nvPr/>
        </p:nvSpPr>
        <p:spPr>
          <a:xfrm>
            <a:off x="3378098" y="1325880"/>
            <a:ext cx="2097938" cy="228600"/>
          </a:xfrm>
          <a:prstGeom prst="rect">
            <a:avLst/>
          </a:prstGeom>
          <a:noFill/>
          <a:ln/>
        </p:spPr>
        <p:txBody>
          <a:bodyPr wrap="square" lIns="0" tIns="0" rIns="0" bIns="0" rtlCol="0" anchor="ctr"/>
          <a:lstStyle/>
          <a:p>
            <a:pPr algn="l" indent="0" marL="0">
              <a:buNone/>
            </a:pPr>
            <a:r>
              <a:rPr lang="en-US" sz="1000" b="1" dirty="0">
                <a:solidFill>
                  <a:srgbClr val="7F7F7F"/>
                </a:solidFill>
                <a:latin typeface="Arial" pitchFamily="34" charset="0"/>
                <a:ea typeface="Arial" pitchFamily="34" charset="-122"/>
                <a:cs typeface="Arial" pitchFamily="34" charset="-120"/>
              </a:rPr>
              <a:t>SLIDE-IN FIT</a:t>
            </a:r>
            <a:endParaRPr lang="en-US" sz="1000" dirty="0"/>
          </a:p>
        </p:txBody>
      </p:sp>
      <p:sp>
        <p:nvSpPr>
          <p:cNvPr id="15" name="card title"/>
          <p:cNvSpPr txBox="1"/>
          <p:nvPr/>
        </p:nvSpPr>
        <p:spPr>
          <a:xfrm>
            <a:off x="3378098" y="1554480"/>
            <a:ext cx="2097938" cy="640080"/>
          </a:xfrm>
          <a:prstGeom prst="rect">
            <a:avLst/>
          </a:prstGeom>
          <a:noFill/>
          <a:ln/>
        </p:spPr>
        <p:txBody>
          <a:bodyPr wrap="square" lIns="0" tIns="0" rIns="0" bIns="0" rtlCol="0" anchor="t"/>
          <a:lstStyle/>
          <a:p>
            <a:pPr algn="l" indent="0" marL="0">
              <a:buNone/>
            </a:pPr>
            <a:r>
              <a:rPr lang="en-US" sz="1700" b="1" dirty="0">
                <a:solidFill>
                  <a:srgbClr val="1F3A5F"/>
                </a:solidFill>
                <a:latin typeface="Arial" pitchFamily="34" charset="0"/>
                <a:ea typeface="Arial" pitchFamily="34" charset="-122"/>
                <a:cs typeface="Arial" pitchFamily="34" charset="-120"/>
              </a:rPr>
              <a:t>A 1° draft on the dovetail</a:t>
            </a:r>
            <a:endParaRPr lang="en-US" sz="1700" dirty="0"/>
          </a:p>
        </p:txBody>
      </p:sp>
      <p:sp>
        <p:nvSpPr>
          <p:cNvPr id="16" name="card now"/>
          <p:cNvSpPr txBox="1"/>
          <p:nvPr/>
        </p:nvSpPr>
        <p:spPr>
          <a:xfrm>
            <a:off x="3378098" y="2148840"/>
            <a:ext cx="2097938" cy="777240"/>
          </a:xfrm>
          <a:prstGeom prst="rect">
            <a:avLst/>
          </a:prstGeom>
          <a:noFill/>
          <a:ln/>
        </p:spPr>
        <p:txBody>
          <a:bodyPr wrap="square" lIns="0" tIns="0" rIns="0" bIns="0" rtlCol="0" anchor="t"/>
          <a:lstStyle/>
          <a:p>
            <a:pPr algn="l" indent="0" marL="0">
              <a:buNone/>
            </a:pPr>
            <a:r>
              <a:rPr lang="en-US" sz="1100" dirty="0">
                <a:solidFill>
                  <a:srgbClr val="B23A2E"/>
                </a:solidFill>
                <a:latin typeface="Arial" pitchFamily="34" charset="0"/>
                <a:ea typeface="Arial" pitchFamily="34" charset="-122"/>
                <a:cs typeface="Arial" pitchFamily="34" charset="-120"/>
              </a:rPr>
              <a:t>Now: the slide-in binds on insertion; its ribs run parallel on 0.175 mm a side</a:t>
            </a:r>
            <a:endParaRPr lang="en-US" sz="1100" dirty="0"/>
          </a:p>
        </p:txBody>
      </p:sp>
      <p:sp>
        <p:nvSpPr>
          <p:cNvPr id="17" name="card label"/>
          <p:cNvSpPr txBox="1"/>
          <p:nvPr/>
        </p:nvSpPr>
        <p:spPr>
          <a:xfrm>
            <a:off x="3378098" y="2971800"/>
            <a:ext cx="2097938" cy="228600"/>
          </a:xfrm>
          <a:prstGeom prst="rect">
            <a:avLst/>
          </a:prstGeom>
          <a:noFill/>
          <a:ln/>
        </p:spPr>
        <p:txBody>
          <a:bodyPr wrap="square" lIns="0" tIns="0" rIns="0" bIns="0" rtlCol="0" anchor="ctr"/>
          <a:lstStyle/>
          <a:p>
            <a:pPr algn="l" indent="0" marL="0">
              <a:buNone/>
            </a:pPr>
            <a:r>
              <a:rPr lang="en-US" sz="1000" b="1" dirty="0">
                <a:solidFill>
                  <a:srgbClr val="7F7F7F"/>
                </a:solidFill>
                <a:latin typeface="Arial" pitchFamily="34" charset="0"/>
                <a:ea typeface="Arial" pitchFamily="34" charset="-122"/>
                <a:cs typeface="Arial" pitchFamily="34" charset="-120"/>
              </a:rPr>
              <a:t>NEXT ITERATION</a:t>
            </a:r>
            <a:endParaRPr lang="en-US" sz="1000" dirty="0"/>
          </a:p>
        </p:txBody>
      </p:sp>
      <p:sp>
        <p:nvSpPr>
          <p:cNvPr id="18" name="card next"/>
          <p:cNvSpPr txBox="1"/>
          <p:nvPr/>
        </p:nvSpPr>
        <p:spPr>
          <a:xfrm>
            <a:off x="3378098" y="3200400"/>
            <a:ext cx="2097938" cy="1417320"/>
          </a:xfrm>
          <a:prstGeom prst="rect">
            <a:avLst/>
          </a:prstGeom>
          <a:noFill/>
          <a:ln/>
        </p:spPr>
        <p:txBody>
          <a:bodyPr wrap="square" lIns="25400" tIns="0" rIns="50800" bIns="25400" rtlCol="0" anchor="t"/>
          <a:lstStyle/>
          <a:p>
            <a:pPr algn="l" marL="254000" indent="-254000">
              <a:spcAft>
                <a:spcPts val="400"/>
              </a:spcAft>
              <a:buSzPct val="100000"/>
              <a:buChar char="•"/>
            </a:pPr>
            <a:r>
              <a:rPr lang="en-US" sz="1100" dirty="0">
                <a:solidFill>
                  <a:srgbClr val="1A1A1A"/>
                </a:solidFill>
                <a:latin typeface="Arial" pitchFamily="34" charset="0"/>
                <a:ea typeface="Arial" pitchFamily="34" charset="-122"/>
                <a:cs typeface="Arial" pitchFamily="34" charset="-120"/>
              </a:rPr>
              <a:t>A 1° draft on the dovetail and the interlocking supports, thicker at the top and thinning toward the bottom</a:t>
            </a:r>
            <a:endParaRPr lang="en-US" sz="1100" dirty="0"/>
          </a:p>
          <a:p>
            <a:pPr algn="l" marL="254000" indent="-254000">
              <a:spcAft>
                <a:spcPts val="400"/>
              </a:spcAft>
              <a:buSzPct val="100000"/>
              <a:buChar char="•"/>
            </a:pPr>
            <a:r>
              <a:rPr lang="en-US" sz="1100" dirty="0">
                <a:solidFill>
                  <a:srgbClr val="1A1A1A"/>
                </a:solidFill>
                <a:latin typeface="Arial" pitchFamily="34" charset="0"/>
                <a:ea typeface="Arial" pitchFamily="34" charset="-122"/>
                <a:cs typeface="Arial" pitchFamily="34" charset="-120"/>
              </a:rPr>
              <a:t>The station self-locates as it slides in and does not bind</a:t>
            </a:r>
            <a:endParaRPr lang="en-US" sz="1100" dirty="0"/>
          </a:p>
        </p:txBody>
      </p:sp>
      <p:sp>
        <p:nvSpPr>
          <p:cNvPr id="19" name="card tag"/>
          <p:cNvSpPr txBox="1"/>
          <p:nvPr/>
        </p:nvSpPr>
        <p:spPr>
          <a:xfrm>
            <a:off x="3378098" y="4617720"/>
            <a:ext cx="2097938" cy="274320"/>
          </a:xfrm>
          <a:prstGeom prst="rect">
            <a:avLst/>
          </a:prstGeom>
          <a:noFill/>
          <a:ln/>
        </p:spPr>
        <p:txBody>
          <a:bodyPr wrap="square" lIns="0" tIns="0" rIns="0" bIns="0" rtlCol="0" anchor="ctr"/>
          <a:lstStyle/>
          <a:p>
            <a:pPr algn="l" indent="0" marL="0">
              <a:buNone/>
            </a:pPr>
            <a:r>
              <a:rPr lang="en-US" sz="1000" b="1" dirty="0">
                <a:solidFill>
                  <a:srgbClr val="4F6D8F"/>
                </a:solidFill>
                <a:latin typeface="Arial" pitchFamily="34" charset="0"/>
                <a:ea typeface="Arial" pitchFamily="34" charset="-122"/>
                <a:cs typeface="Arial" pitchFamily="34" charset="-120"/>
              </a:rPr>
              <a:t>PLANNED</a:t>
            </a:r>
            <a:endParaRPr lang="en-US" sz="1000" dirty="0"/>
          </a:p>
        </p:txBody>
      </p:sp>
      <p:sp>
        <p:nvSpPr>
          <p:cNvPr id="20" name="card A lighter back mount"/>
          <p:cNvSpPr/>
          <p:nvPr/>
        </p:nvSpPr>
        <p:spPr>
          <a:xfrm>
            <a:off x="5841797" y="1188720"/>
            <a:ext cx="2463698" cy="3749040"/>
          </a:xfrm>
          <a:prstGeom prst="rect">
            <a:avLst/>
          </a:prstGeom>
          <a:solidFill>
            <a:srgbClr val="F2F2F2"/>
          </a:solidFill>
          <a:ln w="12700">
            <a:solidFill>
              <a:srgbClr val="F2F2F2"/>
            </a:solidFill>
            <a:prstDash val="solid"/>
          </a:ln>
        </p:spPr>
      </p:sp>
      <p:sp>
        <p:nvSpPr>
          <p:cNvPr id="21" name="card eyebrow"/>
          <p:cNvSpPr txBox="1"/>
          <p:nvPr/>
        </p:nvSpPr>
        <p:spPr>
          <a:xfrm>
            <a:off x="6024677" y="1325880"/>
            <a:ext cx="2097938" cy="228600"/>
          </a:xfrm>
          <a:prstGeom prst="rect">
            <a:avLst/>
          </a:prstGeom>
          <a:noFill/>
          <a:ln/>
        </p:spPr>
        <p:txBody>
          <a:bodyPr wrap="square" lIns="0" tIns="0" rIns="0" bIns="0" rtlCol="0" anchor="ctr"/>
          <a:lstStyle/>
          <a:p>
            <a:pPr algn="l" indent="0" marL="0">
              <a:buNone/>
            </a:pPr>
            <a:r>
              <a:rPr lang="en-US" sz="1000" b="1" dirty="0">
                <a:solidFill>
                  <a:srgbClr val="7F7F7F"/>
                </a:solidFill>
                <a:latin typeface="Arial" pitchFamily="34" charset="0"/>
                <a:ea typeface="Arial" pitchFamily="34" charset="-122"/>
                <a:cs typeface="Arial" pitchFamily="34" charset="-120"/>
              </a:rPr>
              <a:t>WALL MOUNT</a:t>
            </a:r>
            <a:endParaRPr lang="en-US" sz="1000" dirty="0"/>
          </a:p>
        </p:txBody>
      </p:sp>
      <p:sp>
        <p:nvSpPr>
          <p:cNvPr id="22" name="card title"/>
          <p:cNvSpPr txBox="1"/>
          <p:nvPr/>
        </p:nvSpPr>
        <p:spPr>
          <a:xfrm>
            <a:off x="6024677" y="1554480"/>
            <a:ext cx="2097938" cy="640080"/>
          </a:xfrm>
          <a:prstGeom prst="rect">
            <a:avLst/>
          </a:prstGeom>
          <a:noFill/>
          <a:ln/>
        </p:spPr>
        <p:txBody>
          <a:bodyPr wrap="square" lIns="0" tIns="0" rIns="0" bIns="0" rtlCol="0" anchor="t"/>
          <a:lstStyle/>
          <a:p>
            <a:pPr algn="l" indent="0" marL="0">
              <a:buNone/>
            </a:pPr>
            <a:r>
              <a:rPr lang="en-US" sz="1700" b="1" dirty="0">
                <a:solidFill>
                  <a:srgbClr val="1F3A5F"/>
                </a:solidFill>
                <a:latin typeface="Arial" pitchFamily="34" charset="0"/>
                <a:ea typeface="Arial" pitchFamily="34" charset="-122"/>
                <a:cs typeface="Arial" pitchFamily="34" charset="-120"/>
              </a:rPr>
              <a:t>A lighter back mount</a:t>
            </a:r>
            <a:endParaRPr lang="en-US" sz="1700" dirty="0"/>
          </a:p>
        </p:txBody>
      </p:sp>
      <p:sp>
        <p:nvSpPr>
          <p:cNvPr id="23" name="card now"/>
          <p:cNvSpPr txBox="1"/>
          <p:nvPr/>
        </p:nvSpPr>
        <p:spPr>
          <a:xfrm>
            <a:off x="6024677" y="2148840"/>
            <a:ext cx="2097938" cy="777240"/>
          </a:xfrm>
          <a:prstGeom prst="rect">
            <a:avLst/>
          </a:prstGeom>
          <a:noFill/>
          <a:ln/>
        </p:spPr>
        <p:txBody>
          <a:bodyPr wrap="square" lIns="0" tIns="0" rIns="0" bIns="0" rtlCol="0" anchor="t"/>
          <a:lstStyle/>
          <a:p>
            <a:pPr algn="l" indent="0" marL="0">
              <a:buNone/>
            </a:pPr>
            <a:r>
              <a:rPr lang="en-US" sz="1100" dirty="0">
                <a:solidFill>
                  <a:srgbClr val="B23A2E"/>
                </a:solidFill>
                <a:latin typeface="Arial" pitchFamily="34" charset="0"/>
                <a:ea typeface="Arial" pitchFamily="34" charset="-122"/>
                <a:cs typeface="Arial" pitchFamily="34" charset="-120"/>
              </a:rPr>
              <a:t>Now: the mount holds about 200 × the motor's pull (dovetails 225 ×): overbuilt, 597 cm³ solid</a:t>
            </a:r>
            <a:endParaRPr lang="en-US" sz="1100" dirty="0"/>
          </a:p>
        </p:txBody>
      </p:sp>
      <p:sp>
        <p:nvSpPr>
          <p:cNvPr id="24" name="card label"/>
          <p:cNvSpPr txBox="1"/>
          <p:nvPr/>
        </p:nvSpPr>
        <p:spPr>
          <a:xfrm>
            <a:off x="6024677" y="2971800"/>
            <a:ext cx="2097938" cy="228600"/>
          </a:xfrm>
          <a:prstGeom prst="rect">
            <a:avLst/>
          </a:prstGeom>
          <a:noFill/>
          <a:ln/>
        </p:spPr>
        <p:txBody>
          <a:bodyPr wrap="square" lIns="0" tIns="0" rIns="0" bIns="0" rtlCol="0" anchor="ctr"/>
          <a:lstStyle/>
          <a:p>
            <a:pPr algn="l" indent="0" marL="0">
              <a:buNone/>
            </a:pPr>
            <a:r>
              <a:rPr lang="en-US" sz="1000" b="1" dirty="0">
                <a:solidFill>
                  <a:srgbClr val="7F7F7F"/>
                </a:solidFill>
                <a:latin typeface="Arial" pitchFamily="34" charset="0"/>
                <a:ea typeface="Arial" pitchFamily="34" charset="-122"/>
                <a:cs typeface="Arial" pitchFamily="34" charset="-120"/>
              </a:rPr>
              <a:t>NEXT ITERATION</a:t>
            </a:r>
            <a:endParaRPr lang="en-US" sz="1000" dirty="0"/>
          </a:p>
        </p:txBody>
      </p:sp>
      <p:sp>
        <p:nvSpPr>
          <p:cNvPr id="25" name="card next"/>
          <p:cNvSpPr txBox="1"/>
          <p:nvPr/>
        </p:nvSpPr>
        <p:spPr>
          <a:xfrm>
            <a:off x="6024677" y="3200400"/>
            <a:ext cx="2097938" cy="1417320"/>
          </a:xfrm>
          <a:prstGeom prst="rect">
            <a:avLst/>
          </a:prstGeom>
          <a:noFill/>
          <a:ln/>
        </p:spPr>
        <p:txBody>
          <a:bodyPr wrap="square" lIns="25400" tIns="0" rIns="50800" bIns="25400" rtlCol="0" anchor="t"/>
          <a:lstStyle/>
          <a:p>
            <a:pPr algn="l" marL="254000" indent="-254000">
              <a:spcAft>
                <a:spcPts val="400"/>
              </a:spcAft>
              <a:buSzPct val="100000"/>
              <a:buChar char="•"/>
            </a:pPr>
            <a:r>
              <a:rPr lang="en-US" sz="1100" dirty="0">
                <a:solidFill>
                  <a:srgbClr val="1A1A1A"/>
                </a:solidFill>
                <a:latin typeface="Arial" pitchFamily="34" charset="0"/>
                <a:ea typeface="Arial" pitchFamily="34" charset="-122"/>
                <a:cs typeface="Arial" pitchFamily="34" charset="-120"/>
              </a:rPr>
              <a:t>Thinner walls and ribs, about 200 cm³: less print time and filament</a:t>
            </a:r>
            <a:endParaRPr lang="en-US" sz="1100" dirty="0"/>
          </a:p>
          <a:p>
            <a:pPr algn="l" marL="254000" indent="-254000">
              <a:spcAft>
                <a:spcPts val="400"/>
              </a:spcAft>
              <a:buSzPct val="100000"/>
              <a:buChar char="•"/>
            </a:pPr>
            <a:r>
              <a:rPr lang="en-US" sz="1100" dirty="0">
                <a:solidFill>
                  <a:srgbClr val="1A1A1A"/>
                </a:solidFill>
                <a:latin typeface="Arial" pitchFamily="34" charset="0"/>
                <a:ea typeface="Arial" pitchFamily="34" charset="-122"/>
                <a:cs typeface="Arial" pitchFamily="34" charset="-120"/>
              </a:rPr>
              <a:t>For anyone building it from the open-source files</a:t>
            </a:r>
            <a:endParaRPr lang="en-US" sz="1100" dirty="0"/>
          </a:p>
        </p:txBody>
      </p:sp>
      <p:sp>
        <p:nvSpPr>
          <p:cNvPr id="26" name="card tag"/>
          <p:cNvSpPr txBox="1"/>
          <p:nvPr/>
        </p:nvSpPr>
        <p:spPr>
          <a:xfrm>
            <a:off x="6024677" y="4617720"/>
            <a:ext cx="2097938" cy="274320"/>
          </a:xfrm>
          <a:prstGeom prst="rect">
            <a:avLst/>
          </a:prstGeom>
          <a:noFill/>
          <a:ln/>
        </p:spPr>
        <p:txBody>
          <a:bodyPr wrap="square" lIns="0" tIns="0" rIns="0" bIns="0" rtlCol="0" anchor="ctr"/>
          <a:lstStyle/>
          <a:p>
            <a:pPr algn="l" indent="0" marL="0">
              <a:buNone/>
            </a:pPr>
            <a:r>
              <a:rPr lang="en-US" sz="1000" b="1" dirty="0">
                <a:solidFill>
                  <a:srgbClr val="4F6D8F"/>
                </a:solidFill>
                <a:latin typeface="Arial" pitchFamily="34" charset="0"/>
                <a:ea typeface="Arial" pitchFamily="34" charset="-122"/>
                <a:cs typeface="Arial" pitchFamily="34" charset="-120"/>
              </a:rPr>
              <a:t>PLANNED</a:t>
            </a:r>
            <a:endParaRPr lang="en-US" sz="1000" dirty="0"/>
          </a:p>
        </p:txBody>
      </p:sp>
      <p:sp>
        <p:nvSpPr>
          <p:cNvPr id="27" name="limits label"/>
          <p:cNvSpPr txBox="1"/>
          <p:nvPr/>
        </p:nvSpPr>
        <p:spPr>
          <a:xfrm>
            <a:off x="548640" y="5047488"/>
            <a:ext cx="7756855" cy="201168"/>
          </a:xfrm>
          <a:prstGeom prst="rect">
            <a:avLst/>
          </a:prstGeom>
          <a:noFill/>
          <a:ln/>
        </p:spPr>
        <p:txBody>
          <a:bodyPr wrap="square" lIns="0" tIns="0" rIns="0" bIns="0" rtlCol="0" anchor="ctr"/>
          <a:lstStyle/>
          <a:p>
            <a:pPr algn="l" indent="0" marL="0">
              <a:buNone/>
            </a:pPr>
            <a:r>
              <a:rPr lang="en-US" sz="1000" b="1" dirty="0">
                <a:solidFill>
                  <a:srgbClr val="7F7F7F"/>
                </a:solidFill>
                <a:latin typeface="Arial" pitchFamily="34" charset="0"/>
                <a:ea typeface="Arial" pitchFamily="34" charset="-122"/>
                <a:cs typeface="Arial" pitchFamily="34" charset="-120"/>
              </a:rPr>
              <a:t>LIMITS TODAY</a:t>
            </a:r>
            <a:endParaRPr lang="en-US" sz="1000" dirty="0"/>
          </a:p>
        </p:txBody>
      </p:sp>
      <p:sp>
        <p:nvSpPr>
          <p:cNvPr id="28" name="limits"/>
          <p:cNvSpPr txBox="1"/>
          <p:nvPr/>
        </p:nvSpPr>
        <p:spPr>
          <a:xfrm>
            <a:off x="548640" y="5248656"/>
            <a:ext cx="7756855" cy="1060704"/>
          </a:xfrm>
          <a:prstGeom prst="rect">
            <a:avLst/>
          </a:prstGeom>
          <a:noFill/>
          <a:ln/>
        </p:spPr>
        <p:txBody>
          <a:bodyPr wrap="square" lIns="25400" tIns="0" rIns="50800" bIns="25400" rtlCol="0" anchor="t"/>
          <a:lstStyle/>
          <a:p>
            <a:pPr algn="l" marL="254000" indent="-254000">
              <a:spcAft>
                <a:spcPts val="200"/>
              </a:spcAft>
              <a:buSzPct val="100000"/>
              <a:buChar char="•"/>
            </a:pPr>
            <a:r>
              <a:rPr lang="en-US" sz="1050" dirty="0">
                <a:solidFill>
                  <a:srgbClr val="1A1A1A"/>
                </a:solidFill>
                <a:latin typeface="Arial" pitchFamily="34" charset="0"/>
                <a:ea typeface="Arial" pitchFamily="34" charset="-122"/>
                <a:cs typeface="Arial" pitchFamily="34" charset="-120"/>
              </a:rPr>
              <a:t>Relative positioning only: pose from the cable model and the floor-board calibration; no absolute reference beyond the markers</a:t>
            </a:r>
            <a:endParaRPr lang="en-US" sz="1050" dirty="0"/>
          </a:p>
          <a:p>
            <a:pPr algn="l" marL="254000" indent="-254000">
              <a:spcAft>
                <a:spcPts val="200"/>
              </a:spcAft>
              <a:buSzPct val="100000"/>
              <a:buChar char="•"/>
            </a:pPr>
            <a:r>
              <a:rPr lang="en-US" sz="1050" dirty="0">
                <a:solidFill>
                  <a:srgbClr val="1A1A1A"/>
                </a:solidFill>
                <a:latin typeface="Arial" pitchFamily="34" charset="0"/>
                <a:ea typeface="Arial" pitchFamily="34" charset="-122"/>
                <a:cs typeface="Arial" pitchFamily="34" charset="-120"/>
              </a:rPr>
              <a:t>Three stations on the corner holes: the claw tilts 5.5° (abort at 8°), grips refused on 78 % of the floor; the three-hole housing: 0.8°</a:t>
            </a:r>
            <a:endParaRPr lang="en-US" sz="1050" dirty="0"/>
          </a:p>
          <a:p>
            <a:pPr algn="l" marL="254000" indent="-254000">
              <a:spcAft>
                <a:spcPts val="200"/>
              </a:spcAft>
              <a:buSzPct val="100000"/>
              <a:buChar char="•"/>
            </a:pPr>
            <a:r>
              <a:rPr lang="en-US" sz="1050" dirty="0">
                <a:solidFill>
                  <a:srgbClr val="1A1A1A"/>
                </a:solidFill>
                <a:latin typeface="Arial" pitchFamily="34" charset="0"/>
                <a:ea typeface="Arial" pitchFamily="34" charset="-122"/>
                <a:cs typeface="Arial" pitchFamily="34" charset="-120"/>
              </a:rPr>
              <a:t>No person or pet detection: nobody under the robot, with PAUSE and the power strip</a:t>
            </a:r>
            <a:endParaRPr lang="en-US" sz="1050" dirty="0"/>
          </a:p>
        </p:txBody>
      </p:sp>
      <p:sp>
        <p:nvSpPr>
          <p:cNvPr id="29" name="placeholder"/>
          <p:cNvSpPr/>
          <p:nvPr/>
        </p:nvSpPr>
        <p:spPr>
          <a:xfrm>
            <a:off x="8625535" y="1188720"/>
            <a:ext cx="3017520" cy="4663440"/>
          </a:xfrm>
          <a:prstGeom prst="rect">
            <a:avLst/>
          </a:prstGeom>
          <a:solidFill>
            <a:srgbClr val="F2F2F2"/>
          </a:solidFill>
          <a:ln w="12700">
            <a:solidFill>
              <a:srgbClr val="B23A2E"/>
            </a:solidFill>
            <a:prstDash val="dash"/>
          </a:ln>
        </p:spPr>
      </p:sp>
      <p:sp>
        <p:nvSpPr>
          <p:cNvPr id="30" name="placeholder text"/>
          <p:cNvSpPr txBox="1"/>
          <p:nvPr/>
        </p:nvSpPr>
        <p:spPr>
          <a:xfrm>
            <a:off x="8808415" y="1188720"/>
            <a:ext cx="2651760" cy="4663440"/>
          </a:xfrm>
          <a:prstGeom prst="rect">
            <a:avLst/>
          </a:prstGeom>
          <a:noFill/>
          <a:ln/>
        </p:spPr>
        <p:txBody>
          <a:bodyPr wrap="square" lIns="0" tIns="0" rIns="0" bIns="0" rtlCol="0" anchor="ctr"/>
          <a:lstStyle/>
          <a:p>
            <a:pPr algn="ctr" indent="0" marL="0">
              <a:buNone/>
            </a:pPr>
            <a:r>
              <a:rPr lang="en-US" sz="1600" i="1" dirty="0">
                <a:solidFill>
                  <a:srgbClr val="B23A2E"/>
                </a:solidFill>
                <a:latin typeface="Arial" pitchFamily="34" charset="0"/>
                <a:ea typeface="Arial" pitchFamily="34" charset="-122"/>
                <a:cs typeface="Arial" pitchFamily="34" charset="-120"/>
              </a:rPr>
              <a:t>[Jasper: photos or CAD of the next iteration]</a:t>
            </a:r>
            <a:endParaRPr lang="en-US" sz="1600" dirty="0"/>
          </a:p>
        </p:txBody>
      </p:sp>
      <p:sp>
        <p:nvSpPr>
          <p:cNvPr id="31" name="caption"/>
          <p:cNvSpPr txBox="1"/>
          <p:nvPr/>
        </p:nvSpPr>
        <p:spPr>
          <a:xfrm>
            <a:off x="8625535" y="5897880"/>
            <a:ext cx="301752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Next-iteration parts: gear stage, drafted slide-in, lighter mount</a:t>
            </a:r>
            <a:endParaRPr lang="en-US" sz="11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itle"/>
          <p:cNvSpPr txBox="1"/>
          <p:nvPr/>
        </p:nvSpPr>
        <p:spPr>
          <a:xfrm>
            <a:off x="548640" y="274320"/>
            <a:ext cx="6879031"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Results against targets, and what is still planned</a:t>
            </a:r>
            <a:endParaRPr lang="en-US" sz="2400" dirty="0"/>
          </a:p>
        </p:txBody>
      </p:sp>
      <p:sp>
        <p:nvSpPr>
          <p:cNvPr id="3" name="tag MEASURED"/>
          <p:cNvSpPr txBox="1"/>
          <p:nvPr/>
        </p:nvSpPr>
        <p:spPr>
          <a:xfrm>
            <a:off x="7720279" y="530352"/>
            <a:ext cx="1234440" cy="256032"/>
          </a:xfrm>
          <a:prstGeom prst="roundRect">
            <a:avLst>
              <a:gd name="adj" fmla="val 50000"/>
            </a:avLst>
          </a:prstGeom>
          <a:solidFill>
            <a:srgbClr val="1F3A5F"/>
          </a:solidFill>
          <a:ln w="12700">
            <a:solidFill>
              <a:srgbClr val="1F3A5F"/>
            </a:solidFill>
          </a:ln>
        </p:spPr>
        <p:txBody>
          <a:bodyPr wrap="square" lIns="0" tIns="0" rIns="0" bIns="0" rtlCol="0" anchor="ctr"/>
          <a:lstStyle/>
          <a:p>
            <a:pPr algn="ctr" indent="0" marL="0">
              <a:buNone/>
            </a:pPr>
            <a:r>
              <a:rPr lang="en-US" sz="900" b="1" spc="120" kern="0" dirty="0">
                <a:solidFill>
                  <a:srgbClr val="FFFFFF"/>
                </a:solidFill>
                <a:latin typeface="Arial" pitchFamily="34" charset="0"/>
                <a:ea typeface="Arial" pitchFamily="34" charset="-122"/>
                <a:cs typeface="Arial" pitchFamily="34" charset="-120"/>
              </a:rPr>
              <a:t>MEASURED</a:t>
            </a:r>
            <a:endParaRPr lang="en-US" sz="900" dirty="0"/>
          </a:p>
        </p:txBody>
      </p:sp>
      <p:sp>
        <p:nvSpPr>
          <p:cNvPr id="4" name="tag CALCULATED"/>
          <p:cNvSpPr txBox="1"/>
          <p:nvPr/>
        </p:nvSpPr>
        <p:spPr>
          <a:xfrm>
            <a:off x="9064447" y="530352"/>
            <a:ext cx="1234440" cy="256032"/>
          </a:xfrm>
          <a:prstGeom prst="roundRect">
            <a:avLst>
              <a:gd name="adj" fmla="val 50000"/>
            </a:avLst>
          </a:prstGeom>
          <a:solidFill>
            <a:srgbClr val="FFFFFF"/>
          </a:solidFill>
          <a:ln w="12700">
            <a:solidFill>
              <a:srgbClr val="1F3A5F"/>
            </a:solidFill>
          </a:ln>
        </p:spPr>
        <p:txBody>
          <a:bodyPr wrap="square" lIns="0" tIns="0" rIns="0" bIns="0" rtlCol="0" anchor="ctr"/>
          <a:lstStyle/>
          <a:p>
            <a:pPr algn="ctr" indent="0" marL="0">
              <a:buNone/>
            </a:pPr>
            <a:r>
              <a:rPr lang="en-US" sz="900" b="1" spc="120" kern="0" dirty="0">
                <a:solidFill>
                  <a:srgbClr val="1F3A5F"/>
                </a:solidFill>
                <a:latin typeface="Arial" pitchFamily="34" charset="0"/>
                <a:ea typeface="Arial" pitchFamily="34" charset="-122"/>
                <a:cs typeface="Arial" pitchFamily="34" charset="-120"/>
              </a:rPr>
              <a:t>CALCULATED</a:t>
            </a:r>
            <a:endParaRPr lang="en-US" sz="900" dirty="0"/>
          </a:p>
        </p:txBody>
      </p:sp>
      <p:sp>
        <p:nvSpPr>
          <p:cNvPr id="5" name="tag PLANNED"/>
          <p:cNvSpPr txBox="1"/>
          <p:nvPr/>
        </p:nvSpPr>
        <p:spPr>
          <a:xfrm>
            <a:off x="10408615" y="530352"/>
            <a:ext cx="1234440" cy="256032"/>
          </a:xfrm>
          <a:prstGeom prst="roundRect">
            <a:avLst>
              <a:gd name="adj" fmla="val 50000"/>
            </a:avLst>
          </a:prstGeom>
          <a:solidFill>
            <a:srgbClr val="F2F2F2"/>
          </a:solidFill>
          <a:ln w="12700">
            <a:solidFill>
              <a:srgbClr val="F2F2F2"/>
            </a:solidFill>
          </a:ln>
        </p:spPr>
        <p:txBody>
          <a:bodyPr wrap="square" lIns="0" tIns="0" rIns="0" bIns="0" rtlCol="0" anchor="ctr"/>
          <a:lstStyle/>
          <a:p>
            <a:pPr algn="ctr" indent="0" marL="0">
              <a:buNone/>
            </a:pPr>
            <a:r>
              <a:rPr lang="en-US" sz="900" b="1" spc="120" kern="0" dirty="0">
                <a:solidFill>
                  <a:srgbClr val="7F7F7F"/>
                </a:solidFill>
                <a:latin typeface="Arial" pitchFamily="34" charset="0"/>
                <a:ea typeface="Arial" pitchFamily="34" charset="-122"/>
                <a:cs typeface="Arial" pitchFamily="34" charset="-120"/>
              </a:rPr>
              <a:t>PLANNED</a:t>
            </a:r>
            <a:endParaRPr lang="en-US" sz="900" dirty="0"/>
          </a:p>
        </p:txBody>
      </p:sp>
      <p:sp>
        <p:nvSpPr>
          <p:cNvPr id="6"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a:t>
            </a:r>
            <a:endParaRPr lang="en-US" sz="1000" dirty="0"/>
          </a:p>
        </p:txBody>
      </p:sp>
      <p:sp>
        <p:nvSpPr>
          <p:cNvPr id="7" name="one-turn statement"/>
          <p:cNvSpPr txBox="1"/>
          <p:nvPr/>
        </p:nvSpPr>
        <p:spPr>
          <a:xfrm>
            <a:off x="548640" y="1143000"/>
            <a:ext cx="11094415" cy="457200"/>
          </a:xfrm>
          <a:prstGeom prst="rect">
            <a:avLst/>
          </a:prstGeom>
          <a:noFill/>
          <a:ln/>
        </p:spPr>
        <p:txBody>
          <a:bodyPr wrap="square" lIns="0" tIns="0" rIns="0" bIns="0" rtlCol="0" anchor="t"/>
          <a:lstStyle/>
          <a:p>
            <a:pPr algn="l" indent="0" marL="0">
              <a:buNone/>
            </a:pPr>
            <a:r>
              <a:rPr lang="en-US" sz="1300" b="1" dirty="0">
                <a:solidFill>
                  <a:srgbClr val="1F3A5F"/>
                </a:solidFill>
                <a:latin typeface="Arial" pitchFamily="34" charset="0"/>
                <a:ea typeface="Arial" pitchFamily="34" charset="-122"/>
                <a:cs typeface="Arial" pitchFamily="34" charset="-120"/>
              </a:rPr>
              <a:t>Today: the four winches lift 1.56 kg at task height (calculated, direct drive at 1.5 A); cable lengths known to about 12–16 mm after calibration (simulated); $210.78 of parts in the robot for three stations, plus $37.74 of filament.</a:t>
            </a:r>
            <a:endParaRPr lang="en-US" sz="1300" dirty="0"/>
          </a:p>
        </p:txBody>
      </p:sp>
      <p:graphicFrame>
        <p:nvGraphicFramePr>
          <p:cNvPr id="26" name="table"/>
          <p:cNvGraphicFramePr>
            <a:graphicFrameLocks noGrp="1"/>
          </p:cNvGraphicFramePr>
          <p:nvPr>
            <p:extLst>
              <p:ext uri="{D42A27DB-BD31-4B8C-83A1-F6EECF244321}">
                <p14:modId xmlns:p14="http://schemas.microsoft.com/office/powerpoint/2010/main" val="1579011935"/>
              </p:ext>
            </p:extLst>
          </p:nvPr>
        </p:nvGraphicFramePr>
        <p:xfrm>
          <a:off x="548640" y="1645920"/>
          <a:ext cx="11094415" cy="914400"/>
        </p:xfrm>
        <a:graphic>
          <a:graphicData uri="http://schemas.openxmlformats.org/drawingml/2006/table">
            <a:tbl>
              <a:tblPr/>
              <a:tblGrid>
                <a:gridCol w="1886051"/>
                <a:gridCol w="2440771"/>
                <a:gridCol w="3328325"/>
                <a:gridCol w="1331330"/>
                <a:gridCol w="2107939"/>
              </a:tblGrid>
              <a:tr h="274320">
                <a:tc>
                  <a:txBody>
                    <a:bodyPr/>
                    <a:lstStyle/>
                    <a:p>
                      <a:pPr indent="0" marL="0">
                        <a:buNone/>
                      </a:pPr>
                      <a:r>
                        <a:rPr lang="en-US" sz="1050" b="1" dirty="0">
                          <a:solidFill>
                            <a:srgbClr val="FFFFFF"/>
                          </a:solidFill>
                          <a:latin typeface="Arial" pitchFamily="34" charset="0"/>
                          <a:ea typeface="Arial" pitchFamily="34" charset="-122"/>
                          <a:cs typeface="Arial" pitchFamily="34" charset="-120"/>
                        </a:rPr>
                        <a:t>Target</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Goal</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Current</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Evidence</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Status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274320">
                <a:tc>
                  <a:txBody>
                    <a:bodyPr/>
                    <a:lstStyle/>
                    <a:p>
                      <a:pPr indent="0" marL="0">
                        <a:buNone/>
                      </a:pPr>
                      <a:r>
                        <a:rPr lang="en-US" sz="1050" b="1" dirty="0">
                          <a:solidFill>
                            <a:srgbClr val="1A1A1A"/>
                          </a:solidFill>
                          <a:latin typeface="Arial" pitchFamily="34" charset="0"/>
                          <a:ea typeface="Arial" pitchFamily="34" charset="-122"/>
                          <a:cs typeface="Arial" pitchFamily="34" charset="-120"/>
                        </a:rPr>
                        <a:t>Lift capacity</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1.50 kg with jeans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1.56 kg; 1.1 kg at 0.5 × holding torque; 1.98–2.80 kg with the 3:1 stage (next iteration)</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Calculated</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Marginal; pull test</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274320">
                <a:tc>
                  <a:txBody>
                    <a:bodyPr/>
                    <a:lstStyle/>
                    <a:p>
                      <a:pPr indent="0" marL="0">
                        <a:buNone/>
                      </a:pPr>
                      <a:r>
                        <a:rPr lang="en-US" sz="1050" b="1" dirty="0">
                          <a:solidFill>
                            <a:srgbClr val="1A1A1A"/>
                          </a:solidFill>
                          <a:latin typeface="Arial" pitchFamily="34" charset="0"/>
                          <a:ea typeface="Arial" pitchFamily="34" charset="-122"/>
                          <a:cs typeface="Arial" pitchFamily="34" charset="-120"/>
                        </a:rPr>
                        <a:t>Grip for jeans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17.7 N per jaw</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13.3–25 N; a narrow grab is a jaw gap under 22 mm at the cloth (6 V), where the lever arm is longest</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Calculated</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b="1" dirty="0">
                          <a:solidFill>
                            <a:srgbClr val="B23A2E"/>
                          </a:solidFill>
                          <a:latin typeface="Arial" pitchFamily="34" charset="0"/>
                          <a:ea typeface="Arial" pitchFamily="34" charset="-122"/>
                          <a:cs typeface="Arial" pitchFamily="34" charset="-120"/>
                        </a:rPr>
                        <a:t>Short at narrow grabs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274320">
                <a:tc>
                  <a:txBody>
                    <a:bodyPr/>
                    <a:lstStyle/>
                    <a:p>
                      <a:pPr indent="0" marL="0">
                        <a:buNone/>
                      </a:pPr>
                      <a:r>
                        <a:rPr lang="en-US" sz="1050" b="1" dirty="0">
                          <a:solidFill>
                            <a:srgbClr val="1A1A1A"/>
                          </a:solidFill>
                          <a:latin typeface="Arial" pitchFamily="34" charset="0"/>
                          <a:ea typeface="Arial" pitchFamily="34" charset="-122"/>
                          <a:cs typeface="Arial" pitchFamily="34" charset="-120"/>
                        </a:rPr>
                        <a:t>Claw mass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0.45 kg</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0.60 kg with battery</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Weighed</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b="1" dirty="0">
                          <a:solidFill>
                            <a:srgbClr val="B23A2E"/>
                          </a:solidFill>
                          <a:latin typeface="Arial" pitchFamily="34" charset="0"/>
                          <a:ea typeface="Arial" pitchFamily="34" charset="-122"/>
                          <a:cs typeface="Arial" pitchFamily="34" charset="-120"/>
                        </a:rPr>
                        <a:t>Not met</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274320">
                <a:tc>
                  <a:txBody>
                    <a:bodyPr/>
                    <a:lstStyle/>
                    <a:p>
                      <a:pPr indent="0" marL="0">
                        <a:buNone/>
                      </a:pPr>
                      <a:r>
                        <a:rPr lang="en-US" sz="1050" b="1" dirty="0">
                          <a:solidFill>
                            <a:srgbClr val="1A1A1A"/>
                          </a:solidFill>
                          <a:latin typeface="Arial" pitchFamily="34" charset="0"/>
                          <a:ea typeface="Arial" pitchFamily="34" charset="-122"/>
                          <a:cs typeface="Arial" pitchFamily="34" charset="-120"/>
                        </a:rPr>
                        <a:t>Motor temperature</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Below 60 °C</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56–59 °C prototype fin</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Calculated</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Marginal; hold test</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274320">
                <a:tc>
                  <a:txBody>
                    <a:bodyPr/>
                    <a:lstStyle/>
                    <a:p>
                      <a:pPr indent="0" marL="0">
                        <a:buNone/>
                      </a:pPr>
                      <a:r>
                        <a:rPr lang="en-US" sz="1050" b="1" dirty="0">
                          <a:solidFill>
                            <a:srgbClr val="1A1A1A"/>
                          </a:solidFill>
                          <a:latin typeface="Arial" pitchFamily="34" charset="0"/>
                          <a:ea typeface="Arial" pitchFamily="34" charset="-122"/>
                          <a:cs typeface="Arial" pitchFamily="34" charset="-120"/>
                        </a:rPr>
                        <a:t>Weakest link</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Motor slips first</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Set screw may slip first; tab at 1.2 ×</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Calculated</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b="1" dirty="0">
                          <a:solidFill>
                            <a:srgbClr val="B23A2E"/>
                          </a:solidFill>
                          <a:latin typeface="Arial" pitchFamily="34" charset="0"/>
                          <a:ea typeface="Arial" pitchFamily="34" charset="-122"/>
                          <a:cs typeface="Arial" pitchFamily="34" charset="-120"/>
                        </a:rPr>
                        <a:t>Two fixes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274320">
                <a:tc>
                  <a:txBody>
                    <a:bodyPr/>
                    <a:lstStyle/>
                    <a:p>
                      <a:pPr indent="0" marL="0">
                        <a:buNone/>
                      </a:pPr>
                      <a:r>
                        <a:rPr lang="en-US" sz="1050" b="1" dirty="0">
                          <a:solidFill>
                            <a:srgbClr val="1A1A1A"/>
                          </a:solidFill>
                          <a:latin typeface="Arial" pitchFamily="34" charset="0"/>
                          <a:ea typeface="Arial" pitchFamily="34" charset="-122"/>
                          <a:cs typeface="Arial" pitchFamily="34" charset="-120"/>
                        </a:rPr>
                        <a:t>Working area</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Floor, 0.2 m wall margin</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All but 0.2 m at the walls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Calculated</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Met in design</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274320">
                <a:tc>
                  <a:txBody>
                    <a:bodyPr/>
                    <a:lstStyle/>
                    <a:p>
                      <a:pPr indent="0" marL="0">
                        <a:buNone/>
                      </a:pPr>
                      <a:r>
                        <a:rPr lang="en-US" sz="1050" b="1" dirty="0">
                          <a:solidFill>
                            <a:srgbClr val="1A1A1A"/>
                          </a:solidFill>
                          <a:latin typeface="Arial" pitchFamily="34" charset="0"/>
                          <a:ea typeface="Arial" pitchFamily="34" charset="-122"/>
                          <a:cs typeface="Arial" pitchFamily="34" charset="-120"/>
                        </a:rPr>
                        <a:t>Wiring</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One cable per station</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One 12 V pair; 0.51 V drop</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Built</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Met (bench PASS)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274320">
                <a:tc>
                  <a:txBody>
                    <a:bodyPr/>
                    <a:lstStyle/>
                    <a:p>
                      <a:pPr indent="0" marL="0">
                        <a:buNone/>
                      </a:pPr>
                      <a:r>
                        <a:rPr lang="en-US" sz="1050" b="1" dirty="0">
                          <a:solidFill>
                            <a:srgbClr val="1A1A1A"/>
                          </a:solidFill>
                          <a:latin typeface="Arial" pitchFamily="34" charset="0"/>
                          <a:ea typeface="Arial" pitchFamily="34" charset="-122"/>
                          <a:cs typeface="Arial" pitchFamily="34" charset="-120"/>
                        </a:rPr>
                        <a:t>Station bench test</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Switch, encoder, driver, one turn</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PASS on both boards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Measured</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Met</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274320">
                <a:tc>
                  <a:txBody>
                    <a:bodyPr/>
                    <a:lstStyle/>
                    <a:p>
                      <a:pPr indent="0" marL="0">
                        <a:buNone/>
                      </a:pPr>
                      <a:r>
                        <a:rPr lang="en-US" sz="1050" b="1" dirty="0">
                          <a:solidFill>
                            <a:srgbClr val="1A1A1A"/>
                          </a:solidFill>
                          <a:latin typeface="Arial" pitchFamily="34" charset="0"/>
                          <a:ea typeface="Arial" pitchFamily="34" charset="-122"/>
                          <a:cs typeface="Arial" pitchFamily="34" charset="-120"/>
                        </a:rPr>
                        <a:t>Claw bench test</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Camera, battery, servo</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Live view; 7.2 V; servo moves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Measured</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Met</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274320">
                <a:tc>
                  <a:txBody>
                    <a:bodyPr/>
                    <a:lstStyle/>
                    <a:p>
                      <a:pPr indent="0" marL="0">
                        <a:buNone/>
                      </a:pPr>
                      <a:r>
                        <a:rPr lang="en-US" sz="1050" b="1" dirty="0">
                          <a:solidFill>
                            <a:srgbClr val="1A1A1A"/>
                          </a:solidFill>
                          <a:latin typeface="Arial" pitchFamily="34" charset="0"/>
                          <a:ea typeface="Arial" pitchFamily="34" charset="-122"/>
                          <a:cs typeface="Arial" pitchFamily="34" charset="-120"/>
                        </a:rPr>
                        <a:t>Accuracy</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 2 mm cable mismatch</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40 ms skew budget gives 2 mm</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Not measured</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To be tested</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274320">
                <a:tc>
                  <a:txBody>
                    <a:bodyPr/>
                    <a:lstStyle/>
                    <a:p>
                      <a:pPr indent="0" marL="0">
                        <a:buNone/>
                      </a:pPr>
                      <a:r>
                        <a:rPr lang="en-US" sz="1050" b="1" dirty="0">
                          <a:solidFill>
                            <a:srgbClr val="1A1A1A"/>
                          </a:solidFill>
                          <a:latin typeface="Arial" pitchFamily="34" charset="0"/>
                          <a:ea typeface="Arial" pitchFamily="34" charset="-122"/>
                          <a:cs typeface="Arial" pitchFamily="34" charset="-120"/>
                        </a:rPr>
                        <a:t>Obstacle map in the app</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Drawn shapes kept out of every path</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Built; two findings being fixed</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Simulated</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Planned</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274320">
                <a:tc>
                  <a:txBody>
                    <a:bodyPr/>
                    <a:lstStyle/>
                    <a:p>
                      <a:pPr indent="0" marL="0">
                        <a:buNone/>
                      </a:pPr>
                      <a:r>
                        <a:rPr lang="en-US" sz="1050" b="1" dirty="0">
                          <a:solidFill>
                            <a:srgbClr val="1A1A1A"/>
                          </a:solidFill>
                          <a:latin typeface="Arial" pitchFamily="34" charset="0"/>
                          <a:ea typeface="Arial" pitchFamily="34" charset="-122"/>
                          <a:cs typeface="Arial" pitchFamily="34" charset="-120"/>
                        </a:rPr>
                        <a:t>First three-station lift</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Self-check, calibration, short move</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Not yet run</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None</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Planned</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274320">
                <a:tc>
                  <a:txBody>
                    <a:bodyPr/>
                    <a:lstStyle/>
                    <a:p>
                      <a:pPr indent="0" marL="0">
                        <a:buNone/>
                      </a:pPr>
                      <a:r>
                        <a:rPr lang="en-US" sz="1050" b="1" dirty="0">
                          <a:solidFill>
                            <a:srgbClr val="1A1A1A"/>
                          </a:solidFill>
                          <a:latin typeface="Arial" pitchFamily="34" charset="0"/>
                          <a:ea typeface="Arial" pitchFamily="34" charset="-122"/>
                          <a:cs typeface="Arial" pitchFamily="34" charset="-120"/>
                        </a:rPr>
                        <a:t>Cost</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Hobby budget</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About $640 ordered; $211–248 in the robot (3–4 stations), prices partly estimated</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Receipts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Met</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itle"/>
          <p:cNvSpPr txBox="1"/>
          <p:nvPr/>
        </p:nvSpPr>
        <p:spPr>
          <a:xfrm>
            <a:off x="548640" y="274320"/>
            <a:ext cx="11094415"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What I would do first next time, and what happens next</a:t>
            </a:r>
            <a:endParaRPr lang="en-US" sz="24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a:t>
            </a:r>
            <a:endParaRPr lang="en-US" sz="1000" dirty="0"/>
          </a:p>
        </p:txBody>
      </p:sp>
      <p:graphicFrame>
        <p:nvGraphicFramePr>
          <p:cNvPr id="27" name="good decisions"/>
          <p:cNvGraphicFramePr>
            <a:graphicFrameLocks noGrp="1"/>
          </p:cNvGraphicFramePr>
          <p:nvPr>
            <p:extLst>
              <p:ext uri="{D42A27DB-BD31-4B8C-83A1-F6EECF244321}">
                <p14:modId xmlns:p14="http://schemas.microsoft.com/office/powerpoint/2010/main" val="1579011935"/>
              </p:ext>
            </p:extLst>
          </p:nvPr>
        </p:nvGraphicFramePr>
        <p:xfrm>
          <a:off x="548640" y="1188720"/>
          <a:ext cx="6675120" cy="914400"/>
        </p:xfrm>
        <a:graphic>
          <a:graphicData uri="http://schemas.openxmlformats.org/drawingml/2006/table">
            <a:tbl>
              <a:tblPr/>
              <a:tblGrid>
                <a:gridCol w="2670048"/>
                <a:gridCol w="4005072"/>
              </a:tblGrid>
              <a:tr h="411480">
                <a:tc>
                  <a:txBody>
                    <a:bodyPr/>
                    <a:lstStyle/>
                    <a:p>
                      <a:pPr indent="0" marL="0">
                        <a:buNone/>
                      </a:pPr>
                      <a:r>
                        <a:rPr lang="en-US" sz="1300" b="1" dirty="0">
                          <a:solidFill>
                            <a:srgbClr val="FFFFFF"/>
                          </a:solidFill>
                          <a:latin typeface="Arial" pitchFamily="34" charset="0"/>
                          <a:ea typeface="Arial" pitchFamily="34" charset="-122"/>
                          <a:cs typeface="Arial" pitchFamily="34" charset="-120"/>
                        </a:rPr>
                        <a:t>Good decision</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Result</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411480">
                <a:tc>
                  <a:txBody>
                    <a:bodyPr/>
                    <a:lstStyle/>
                    <a:p>
                      <a:pPr indent="0" marL="0">
                        <a:buNone/>
                      </a:pPr>
                      <a:r>
                        <a:rPr lang="en-US" sz="1300" b="1" dirty="0">
                          <a:solidFill>
                            <a:srgbClr val="1A1A1A"/>
                          </a:solidFill>
                          <a:latin typeface="Arial" pitchFamily="34" charset="0"/>
                          <a:ea typeface="Arial" pitchFamily="34" charset="-122"/>
                          <a:cs typeface="Arial" pitchFamily="34" charset="-120"/>
                        </a:rPr>
                        <a:t>One controller per winch</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1A1A1A"/>
                          </a:solidFill>
                          <a:latin typeface="Arial" pitchFamily="34" charset="0"/>
                          <a:ea typeface="Arial" pitchFamily="34" charset="-122"/>
                          <a:cs typeface="Arial" pitchFamily="34" charset="-120"/>
                        </a:rPr>
                        <a:t>Five times less wire; each station tested alone</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11480">
                <a:tc>
                  <a:txBody>
                    <a:bodyPr/>
                    <a:lstStyle/>
                    <a:p>
                      <a:pPr indent="0" marL="0">
                        <a:buNone/>
                      </a:pPr>
                      <a:r>
                        <a:rPr lang="en-US" sz="1300" b="1" dirty="0">
                          <a:solidFill>
                            <a:srgbClr val="1A1A1A"/>
                          </a:solidFill>
                          <a:latin typeface="Arial" pitchFamily="34" charset="0"/>
                          <a:ea typeface="Arial" pitchFamily="34" charset="-122"/>
                          <a:cs typeface="Arial" pitchFamily="34" charset="-120"/>
                        </a:rPr>
                        <a:t>Camera calibration instead of bead homing</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1A1A1A"/>
                          </a:solidFill>
                          <a:latin typeface="Arial" pitchFamily="34" charset="0"/>
                          <a:ea typeface="Arial" pitchFamily="34" charset="-122"/>
                          <a:cs typeface="Arial" pitchFamily="34" charset="-120"/>
                        </a:rPr>
                        <a:t>Whole room reachable; caught on paper before building</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11480">
                <a:tc>
                  <a:txBody>
                    <a:bodyPr/>
                    <a:lstStyle/>
                    <a:p>
                      <a:pPr indent="0" marL="0">
                        <a:buNone/>
                      </a:pPr>
                      <a:r>
                        <a:rPr lang="en-US" sz="1300" b="1" dirty="0">
                          <a:solidFill>
                            <a:srgbClr val="1A1A1A"/>
                          </a:solidFill>
                          <a:latin typeface="Arial" pitchFamily="34" charset="0"/>
                          <a:ea typeface="Arial" pitchFamily="34" charset="-122"/>
                          <a:cs typeface="Arial" pitchFamily="34" charset="-120"/>
                        </a:rPr>
                        <a:t>A mass budget per part</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1A1A1A"/>
                          </a:solidFill>
                          <a:latin typeface="Arial" pitchFamily="34" charset="0"/>
                          <a:ea typeface="Arial" pitchFamily="34" charset="-122"/>
                          <a:cs typeface="Arial" pitchFamily="34" charset="-120"/>
                        </a:rPr>
                        <a:t>The claw was weighed; the next iteration's gear stage sized to the lift margin</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graphicFrame>
        <p:nvGraphicFramePr>
          <p:cNvPr id="53" name="poor decisions"/>
          <p:cNvGraphicFramePr>
            <a:graphicFrameLocks noGrp="1"/>
          </p:cNvGraphicFramePr>
          <p:nvPr>
            <p:extLst>
              <p:ext uri="{D42A27DB-BD31-4B8C-83A1-F6EECF244321}">
                <p14:modId xmlns:p14="http://schemas.microsoft.com/office/powerpoint/2010/main" val="1579011935"/>
              </p:ext>
            </p:extLst>
          </p:nvPr>
        </p:nvGraphicFramePr>
        <p:xfrm>
          <a:off x="548640" y="3154680"/>
          <a:ext cx="6675120" cy="914400"/>
        </p:xfrm>
        <a:graphic>
          <a:graphicData uri="http://schemas.openxmlformats.org/drawingml/2006/table">
            <a:tbl>
              <a:tblPr/>
              <a:tblGrid>
                <a:gridCol w="2670048"/>
                <a:gridCol w="4005072"/>
              </a:tblGrid>
              <a:tr h="411480">
                <a:tc>
                  <a:txBody>
                    <a:bodyPr/>
                    <a:lstStyle/>
                    <a:p>
                      <a:pPr indent="0" marL="0">
                        <a:buNone/>
                      </a:pPr>
                      <a:r>
                        <a:rPr lang="en-US" sz="1300" b="1" dirty="0">
                          <a:solidFill>
                            <a:srgbClr val="FFFFFF"/>
                          </a:solidFill>
                          <a:latin typeface="Arial" pitchFamily="34" charset="0"/>
                          <a:ea typeface="Arial" pitchFamily="34" charset="-122"/>
                          <a:cs typeface="Arial" pitchFamily="34" charset="-120"/>
                        </a:rPr>
                        <a:t>Poor decision</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B23A2E"/>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Result</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B23A2E"/>
                    </a:solidFill>
                  </a:tcPr>
                </a:tc>
              </a:tr>
              <a:tr h="411480">
                <a:tc>
                  <a:txBody>
                    <a:bodyPr/>
                    <a:lstStyle/>
                    <a:p>
                      <a:pPr indent="0" marL="0">
                        <a:buNone/>
                      </a:pPr>
                      <a:r>
                        <a:rPr lang="en-US" sz="1300" b="1" dirty="0">
                          <a:solidFill>
                            <a:srgbClr val="1A1A1A"/>
                          </a:solidFill>
                          <a:latin typeface="Arial" pitchFamily="34" charset="0"/>
                          <a:ea typeface="Arial" pitchFamily="34" charset="-122"/>
                          <a:cs typeface="Arial" pitchFamily="34" charset="-120"/>
                        </a:rPr>
                        <a:t>Mass not tracked per part until Oct 20</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1A1A1A"/>
                          </a:solidFill>
                          <a:latin typeface="Arial" pitchFamily="34" charset="0"/>
                          <a:ea typeface="Arial" pitchFamily="34" charset="-122"/>
                          <a:cs typeface="Arial" pitchFamily="34" charset="-120"/>
                        </a:rPr>
                        <a:t>The v6 clamp reached 4.6 times its budget in CAD; the claw is 0.15 kg over</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11480">
                <a:tc>
                  <a:txBody>
                    <a:bodyPr/>
                    <a:lstStyle/>
                    <a:p>
                      <a:pPr indent="0" marL="0">
                        <a:buNone/>
                      </a:pPr>
                      <a:r>
                        <a:rPr lang="en-US" sz="1300" b="1" dirty="0">
                          <a:solidFill>
                            <a:srgbClr val="1A1A1A"/>
                          </a:solidFill>
                          <a:latin typeface="Arial" pitchFamily="34" charset="0"/>
                          <a:ea typeface="Arial" pitchFamily="34" charset="-122"/>
                          <a:cs typeface="Arial" pitchFamily="34" charset="-120"/>
                        </a:rPr>
                        <a:t>Prototype fin cut from scrap sheet</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1A1A1A"/>
                          </a:solidFill>
                          <a:latin typeface="Arial" pitchFamily="34" charset="0"/>
                          <a:ea typeface="Arial" pitchFamily="34" charset="-122"/>
                          <a:cs typeface="Arial" pitchFamily="34" charset="-120"/>
                        </a:rPr>
                        <a:t>Only 1–4 K of thermal margin</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11480">
                <a:tc>
                  <a:txBody>
                    <a:bodyPr/>
                    <a:lstStyle/>
                    <a:p>
                      <a:pPr indent="0" marL="0">
                        <a:buNone/>
                      </a:pPr>
                      <a:r>
                        <a:rPr lang="en-US" sz="1300" b="1" dirty="0">
                          <a:solidFill>
                            <a:srgbClr val="1A1A1A"/>
                          </a:solidFill>
                          <a:latin typeface="Arial" pitchFamily="34" charset="0"/>
                          <a:ea typeface="Arial" pitchFamily="34" charset="-122"/>
                          <a:cs typeface="Arial" pitchFamily="34" charset="-120"/>
                        </a:rPr>
                        <a:t>Build and test week ending on presentation day</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1A1A1A"/>
                          </a:solidFill>
                          <a:latin typeface="Arial" pitchFamily="34" charset="0"/>
                          <a:ea typeface="Arial" pitchFamily="34" charset="-122"/>
                          <a:cs typeface="Arial" pitchFamily="34" charset="-120"/>
                        </a:rPr>
                        <a:t>System results arrive at the last minute</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6" name="half time"/>
          <p:cNvSpPr txBox="1"/>
          <p:nvPr/>
        </p:nvSpPr>
        <p:spPr>
          <a:xfrm>
            <a:off x="548640" y="5166360"/>
            <a:ext cx="6675120" cy="1005840"/>
          </a:xfrm>
          <a:prstGeom prst="rect">
            <a:avLst/>
          </a:prstGeom>
          <a:noFill/>
          <a:ln/>
        </p:spPr>
        <p:txBody>
          <a:bodyPr wrap="square" lIns="25400" tIns="0" rIns="50800" bIns="25400" rtlCol="0" anchor="t"/>
          <a:lstStyle/>
          <a:p>
            <a:pPr algn="l" marL="254000" indent="-254000">
              <a:spcAft>
                <a:spcPts val="600"/>
              </a:spcAft>
              <a:buSzPct val="100000"/>
              <a:buChar char="•"/>
            </a:pPr>
            <a:r>
              <a:rPr lang="en-US" sz="1400" dirty="0">
                <a:solidFill>
                  <a:srgbClr val="1A1A1A"/>
                </a:solidFill>
                <a:latin typeface="Arial" pitchFamily="34" charset="0"/>
                <a:ea typeface="Arial" pitchFamily="34" charset="-122"/>
                <a:cs typeface="Arial" pitchFamily="34" charset="-120"/>
              </a:rPr>
              <a:t>Half the time: pull-test one winch and weigh a mock claw in week 1; kill the central board and bead homing on paper; prove one station first</a:t>
            </a:r>
            <a:endParaRPr lang="en-US" sz="1400" dirty="0"/>
          </a:p>
        </p:txBody>
      </p:sp>
      <p:sp>
        <p:nvSpPr>
          <p:cNvPr id="7" name="label"/>
          <p:cNvSpPr txBox="1"/>
          <p:nvPr/>
        </p:nvSpPr>
        <p:spPr>
          <a:xfrm>
            <a:off x="7680960" y="1188720"/>
            <a:ext cx="3962095" cy="365760"/>
          </a:xfrm>
          <a:prstGeom prst="rect">
            <a:avLst/>
          </a:prstGeom>
          <a:noFill/>
          <a:ln/>
        </p:spPr>
        <p:txBody>
          <a:bodyPr wrap="square" lIns="0" tIns="0" rIns="0" bIns="0" rtlCol="0" anchor="ctr"/>
          <a:lstStyle/>
          <a:p>
            <a:pPr algn="l" indent="0" marL="0">
              <a:buNone/>
            </a:pPr>
            <a:r>
              <a:rPr lang="en-US" sz="1800" b="1" dirty="0">
                <a:solidFill>
                  <a:srgbClr val="1F3A5F"/>
                </a:solidFill>
                <a:latin typeface="Arial" pitchFamily="34" charset="0"/>
                <a:ea typeface="Arial" pitchFamily="34" charset="-122"/>
                <a:cs typeface="Arial" pitchFamily="34" charset="-120"/>
              </a:rPr>
              <a:t>Next</a:t>
            </a:r>
            <a:endParaRPr lang="en-US" sz="1800" dirty="0"/>
          </a:p>
        </p:txBody>
      </p:sp>
      <p:sp>
        <p:nvSpPr>
          <p:cNvPr id="8" name="next steps"/>
          <p:cNvSpPr txBox="1"/>
          <p:nvPr/>
        </p:nvSpPr>
        <p:spPr>
          <a:xfrm>
            <a:off x="7680960" y="1645920"/>
            <a:ext cx="3962095" cy="4572000"/>
          </a:xfrm>
          <a:prstGeom prst="rect">
            <a:avLst/>
          </a:prstGeom>
          <a:noFill/>
          <a:ln/>
        </p:spPr>
        <p:txBody>
          <a:bodyPr wrap="square" lIns="25400" tIns="0" rIns="50800" bIns="25400" rtlCol="0" anchor="t"/>
          <a:lstStyle/>
          <a:p>
            <a:pPr algn="l" marL="254000" indent="-254000">
              <a:spcAft>
                <a:spcPts val="800"/>
              </a:spcAft>
              <a:buSzPct val="100000"/>
              <a:buChar char="•"/>
            </a:pPr>
            <a:r>
              <a:rPr lang="en-US" sz="1400" dirty="0">
                <a:solidFill>
                  <a:srgbClr val="1A1A1A"/>
                </a:solidFill>
                <a:latin typeface="Arial" pitchFamily="34" charset="0"/>
                <a:ea typeface="Arial" pitchFamily="34" charset="-122"/>
                <a:cs typeface="Arial" pitchFamily="34" charset="-120"/>
              </a:rPr>
              <a:t>Flash and commission the three stations on the wall</a:t>
            </a:r>
            <a:endParaRPr lang="en-US" sz="1400" dirty="0"/>
          </a:p>
          <a:p>
            <a:pPr algn="l" marL="254000" indent="-254000">
              <a:spcAft>
                <a:spcPts val="800"/>
              </a:spcAft>
              <a:buSzPct val="100000"/>
              <a:buChar char="•"/>
            </a:pPr>
            <a:r>
              <a:rPr lang="en-US" sz="1400" dirty="0">
                <a:solidFill>
                  <a:srgbClr val="1A1A1A"/>
                </a:solidFill>
                <a:latin typeface="Arial" pitchFamily="34" charset="0"/>
                <a:ea typeface="Arial" pitchFamily="34" charset="-122"/>
                <a:cs typeface="Arial" pitchFamily="34" charset="-120"/>
              </a:rPr>
              <a:t>Pull test at 1.5 A; enter the measured limit in the planner</a:t>
            </a:r>
            <a:endParaRPr lang="en-US" sz="1400" dirty="0"/>
          </a:p>
          <a:p>
            <a:pPr algn="l" marL="254000" indent="-254000">
              <a:spcAft>
                <a:spcPts val="800"/>
              </a:spcAft>
              <a:buSzPct val="100000"/>
              <a:buChar char="•"/>
            </a:pPr>
            <a:r>
              <a:rPr lang="en-US" sz="1400" dirty="0">
                <a:solidFill>
                  <a:srgbClr val="1A1A1A"/>
                </a:solidFill>
                <a:latin typeface="Arial" pitchFamily="34" charset="0"/>
                <a:ea typeface="Arial" pitchFamily="34" charset="-122"/>
                <a:cs typeface="Arial" pitchFamily="34" charset="-120"/>
              </a:rPr>
              <a:t>First lift: self-check, calibration, a short move with 1 lb</a:t>
            </a:r>
            <a:endParaRPr lang="en-US" sz="1400" dirty="0"/>
          </a:p>
          <a:p>
            <a:pPr algn="l" marL="254000" indent="-254000">
              <a:spcAft>
                <a:spcPts val="800"/>
              </a:spcAft>
              <a:buSzPct val="100000"/>
              <a:buChar char="•"/>
            </a:pPr>
            <a:r>
              <a:rPr lang="en-US" sz="1400" dirty="0">
                <a:solidFill>
                  <a:srgbClr val="1A1A1A"/>
                </a:solidFill>
                <a:latin typeface="Arial" pitchFamily="34" charset="0"/>
                <a:ea typeface="Arial" pitchFamily="34" charset="-122"/>
                <a:cs typeface="Arial" pitchFamily="34" charset="-120"/>
              </a:rPr>
              <a:t>Then the robot scans its own room: height map and obstacle proposals in the app</a:t>
            </a:r>
            <a:endParaRPr lang="en-US" sz="1400" dirty="0"/>
          </a:p>
          <a:p>
            <a:pPr algn="l" marL="254000" indent="-254000">
              <a:spcAft>
                <a:spcPts val="800"/>
              </a:spcAft>
              <a:buSzPct val="100000"/>
              <a:buChar char="•"/>
            </a:pPr>
            <a:r>
              <a:rPr lang="en-US" sz="1400" dirty="0">
                <a:solidFill>
                  <a:srgbClr val="1A1A1A"/>
                </a:solidFill>
                <a:latin typeface="Arial" pitchFamily="34" charset="0"/>
                <a:ea typeface="Arial" pitchFamily="34" charset="-122"/>
                <a:cs typeface="Arial" pitchFamily="34" charset="-120"/>
              </a:rPr>
              <a:t>A brake or non-backdrivable stage, so a power loss cannot drop the claw</a:t>
            </a:r>
            <a:endParaRPr lang="en-US" sz="1400" dirty="0"/>
          </a:p>
          <a:p>
            <a:pPr algn="l" marL="254000" indent="-254000">
              <a:spcAft>
                <a:spcPts val="800"/>
              </a:spcAft>
              <a:buSzPct val="100000"/>
              <a:buChar char="•"/>
            </a:pPr>
            <a:r>
              <a:rPr lang="en-US" sz="1400" dirty="0">
                <a:solidFill>
                  <a:srgbClr val="1A1A1A"/>
                </a:solidFill>
                <a:latin typeface="Arial" pitchFamily="34" charset="0"/>
                <a:ea typeface="Arial" pitchFamily="34" charset="-122"/>
                <a:cs typeface="Arial" pitchFamily="34" charset="-120"/>
              </a:rPr>
              <a:t>A pole-clamp back for the wall mount (a gym-pole clamp), so a station mounts to a pole, not only a wall</a:t>
            </a:r>
            <a:endParaRPr lang="en-US" sz="1400" dirty="0"/>
          </a:p>
          <a:p>
            <a:pPr algn="l" marL="254000" indent="-254000">
              <a:spcAft>
                <a:spcPts val="800"/>
              </a:spcAft>
              <a:buSzPct val="100000"/>
              <a:buChar char="•"/>
            </a:pPr>
            <a:r>
              <a:rPr lang="en-US" sz="1400" dirty="0">
                <a:solidFill>
                  <a:srgbClr val="1A1A1A"/>
                </a:solidFill>
                <a:latin typeface="Arial" pitchFamily="34" charset="0"/>
                <a:ea typeface="Arial" pitchFamily="34" charset="-122"/>
                <a:cs typeface="Arial" pitchFamily="34" charset="-120"/>
              </a:rPr>
              <a:t>Open-source build on GitHub, so others can build it</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26</a:t>
            </a:fld>
            <a:endParaRPr lang="en-US"/>
          </a:p>
        </p:txBody>
      </p:sp>
    </p:spTree>
  </p:cSld>
  <p:clrMapOvr>
    <a:masterClrMapping/>
  </p:clrMapOvr>
</p:sld>
</file>

<file path=ppt/theme/theme1.xml><?xml version="1.0" encoding="utf-8"?>
<a:theme xmlns:a="http://schemas.openxmlformats.org/drawingml/2006/main" name="RoomCleaner v9">
  <a:themeElements>
    <a:clrScheme name="RoomCleaner v9">
      <a:dk1>
        <a:srgbClr val="1A1A1A"/>
      </a:dk1>
      <a:lt1>
        <a:srgbClr val="FFFFFF"/>
      </a:lt1>
      <a:dk2>
        <a:srgbClr val="1F3A5F"/>
      </a:dk2>
      <a:lt2>
        <a:srgbClr val="F2F2F4"/>
      </a:lt2>
      <a:accent1>
        <a:srgbClr val="1F3A5F"/>
      </a:accent1>
      <a:accent2>
        <a:srgbClr val="8A8F98"/>
      </a:accent2>
      <a:accent3>
        <a:srgbClr val="B23A2E"/>
      </a:accent3>
      <a:accent4>
        <a:srgbClr val="4F6D8F"/>
      </a:accent4>
      <a:accent5>
        <a:srgbClr val="D9DEE5"/>
      </a:accent5>
      <a:accent6>
        <a:srgbClr val="5B6470"/>
      </a:accent6>
      <a:hlink>
        <a:srgbClr val="1F3A5F"/>
      </a:hlink>
      <a:folHlink>
        <a:srgbClr val="4F6D8F"/>
      </a:folHlink>
    </a:clrScheme>
    <a:fontScheme name="RoomCleaner v9">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RoomCleaner</dc:title>
  <dc:subject>PptxGenJS Presentation</dc:subject>
  <dc:creator>Jasper Buntinx</dc:creator>
  <cp:lastModifiedBy>Jasper Buntinx</cp:lastModifiedBy>
  <cp:revision>1</cp:revision>
  <dcterms:created xsi:type="dcterms:W3CDTF">2026-10-27T04:18:02Z</dcterms:created>
  <dcterms:modified xsi:type="dcterms:W3CDTF">2026-10-27T04:18:02Z</dcterms:modified>
</cp:coreProperties>
</file>