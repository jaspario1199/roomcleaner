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85d022-a15a-f187-97fb-61f12191d558}">
          <p14:sldIdLst>
            <p14:sldId id="256"/>
            <p14:sldId id="257"/>
            <p14:sldId id="258"/>
            <p14:sldId id="259"/>
          </p14:sldIdLst>
        </p14:section>
        <p14:section name="Concept" id="{11fad657-a084-190a-4084-81e288b1e60e}">
          <p14:sldIdLst>
            <p14:sldId id="260"/>
            <p14:sldId id="261"/>
            <p14:sldId id="262"/>
          </p14:sldIdLst>
        </p14:section>
        <p14:section name="Generation 1" id="{e3fb6a3b-3c93-125d-aeff-464fd8efce6b}">
          <p14:sldIdLst>
            <p14:sldId id="263"/>
            <p14:sldId id="264"/>
            <p14:sldId id="265"/>
          </p14:sldIdLst>
        </p14:section>
        <p14:section name="Redesign" id="{c7dec604-b536-2272-0a3a-3f7134eea574}">
          <p14:sldIdLst>
            <p14:sldId id="266"/>
            <p14:sldId id="267"/>
            <p14:sldId id="268"/>
            <p14:sldId id="269"/>
            <p14:sldId id="270"/>
          </p14:sldIdLst>
        </p14:section>
        <p14:section name="Final design" id="{254ad0ba-6c5e-dac3-acef-6bae6f103b3c}">
          <p14:sldIdLst>
            <p14:sldId id="271"/>
            <p14:sldId id="272"/>
            <p14:sldId id="273"/>
          </p14:sldIdLst>
        </p14:section>
        <p14:section name="Build and bring-up" id="{4554cb8c-06c2-d0e0-f7e4-5e5c1cbc56c8}">
          <p14:sldIdLst>
            <p14:sldId id="274"/>
            <p14:sldId id="275"/>
            <p14:sldId id="276"/>
            <p14:sldId id="277"/>
            <p14:sldId id="278"/>
            <p14:sldId id="279"/>
          </p14:sldIdLst>
        </p14:section>
        <p14:section name="Results and close" id="{c0a66a26-86a6-df34-5e2d-1d18e179b5bc}">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(30 s): I'm building a cable-driven parallel robot that picks laundry off my floor. Three or four winches on the walls, each a self-contained module with a stepper, a spool encoder and an ESP32, driving a battery-powered claw on the cables; the photo is the claw hanging from the first three stations in my room yesterday. The hardest problem was safety: four cables can pull against each other hard enough to rip a mount out of the wall. So the drive is designed to slip at a set tension, 34 to 59 N, well below what the mount can hold, and the spool encoder sees the spool fall behind the commanded steps and stops the system. It is in bench testing: both station boards and the claw electronics pass, and the first station is on the wall. The talk goes through the build in the order it happened. Every number carries a tag: measured, calculated, simulated or planned. If asked: it has not picked up a garment yet; the first three-station lift is the next milestone; the slip tension is calculated from the motor's holding torque, not yet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 The grey lines under each requirement say where it came from: the room is mine as reported, 0.9 kg is a screening value (CR6), 2 m/s² and the 450 g claw budget are assumptions the tension analysis used (R1, R7), 40 N per cable is the motor limit written into the claw requirement (R17), the studs follow from the fixed-anchor decision (D13), the stop rule is D21, the 1 lb gate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 If asked whether floor area is the better measure (it is the honest one for where clothes are picked): same model as the chart, room 11 by 9 ft, anchors 2.59 m up, 0.2 m wall margin, a floor point counts when the claw can reach it at the lowest working height, 0.3 m. With home 1 m up, 45 % of the floor is reachable at grab height, not 5 %; at 1.2 m, 67 %; at 1.5 m, 93 %; from 1.8 m up, all of it. Bead homing does not lose floor, it loses height: the claw cannot rise above the home pose anywhere, and near the walls much less, and the robot needs that height to scan from 1.6 m, lift a garment over the hamper and keep the cables off furniture; a high home pose also sits in the high-tension zone next to the anchors. So the volume figure is the right one for the robot's job, and I lead with the floor figure because it is the fair one. Calculated,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safety idea in one chart: the cable tension at which each part of the lifting chain gives, from the set screw to the screws in the stud. Cables only pull, and four of them on three axes are over-constrained, so a length error turns into tension, and a snag can pull far harder than the load. Rather than make every part strong enough for any snag, I made the motor the fuse: at 1.5 A its rotor skips at 34 to 59 N of cable tension, depending on the spool fill and the cable angle, and everything else in the chain gives at a higher tension, the wall screws in a stud at nine times the motor, the dovetails at over two hundred. When the rotor skips, the encoder on the spool sees the spool fall behind the commanded steps, the station raises a tracking fault and every station holds with torque on. The same mechanism catches a pickup that is too heavy and an over-tension the planner missed. The one part that may give before the motor as drawn is the set screw in its printed thread, so it moves into a metal insert. If asked: the slip is the stepper's own torque limit, not a clutch; a mechanical clutch would add a part, a calibration and a cost to each of four stations, and the stepper already has a sharp, repeatable torque ceiling. What happens after a slip: the station stops and reports; the host does not resume by itself; the spool count is the truth, so the cable's zero length is re-referenced from the encoder and the calibration before the next move, and a person approves it. When the 3:1 stage goes in next iteration the slip point must be re-set: about 130 N at 1.0 A, so that station is sized for 200 N. All calculated from the motor's holding torque; the slip has not been measured yet, the pull test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1's central box, one Uno and one shield, worked within about a day and a half, and it had to go for four reasons: wire, once each winch carried a switch and an encoder, 250 metres against 50; timing, one loop stepping four motors skews them, 2.5 mm per 50 ms; packaging and storage, every test meant unplugging and handling all of that wiring to put it on a shelf; and no modularity, one box for four winches. So: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designed for the next iteration (Act 5, next-iteration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on its grey wall mount, the slide-in from Act 3, and the line leaving the switch tab straight down, with the 12 V lead in a lever nut.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that hurt now, and what the next iteration does about them. Pull: the mounted stations are direct-drive spools on the motor shaft, 34 N on an empty spool at 1.5 A, which leaves jeans a 4 % margin. The next station has a 3:1 stage: an 18-tooth pinion into a 54-tooth gear printed in one piece with the spool, module 1, 1.98 to 2.80 kg at 1.0 A with half the heat; it is designed and checked in CAD, the pinion is printed, and it is not fitted. When it goes in, the slip fuse moves to about 130 N and that station is sized for 200 N. Fit: the slide-in binds as it goes onto the wall mount, because the dovetail ribs run parallel; a one-degree draft, thicker at the top and thinning toward the bottom, lets the station self-locate as it slides down. Mass: the wall mount holds about two hundred times what the motor can pull, so it is overbuilt at 597 cm³ of solid CAD; the next one gets thinner walls and ribs, about 200 cm³, which matters for anyone printing it from the open-source files. Limits today, on the strip: positioning is relative, from the cable model and the floor-board calibration, no absolute reference beyond the markers; three stations on the corner holes tilt the claw 5.5° at the start, abort at 8°, and the 5° grip limit refuses grips over 78 % of the floor until the three-hole housing (0.8°); and the robot cannot see a person or a pet, so the rule is nobody under it. If asked: the gear stage's printed pinion teeth hold 1.75 times the motor's slip force at 1.0 A (1.17 at 1.5 A, so 1.0 A is the setting); backlash 0.42 mm, ten encoder counts; the encoder magnet measured Ø4.0. The draft and the lighter mount are intentions, not drawings yet. [[Jasper: photos or CAD of the next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$211 to $248 of it in the robot as parts for three or four stations (the next-iteration gear parts excluded), plus $38 to $49 of filament; prices partly recorded, partly typical, so say 'about'. The one-line statement at the top: 1.56 kg is the calculated worst-point lift at task height with the direct-drive spools at 1.5 A; 12 to 16 mm is the simulated cable-length sigma after the floor-board calibration; $210.78 is the prorated parts cost for three stations without filament, $37.74 the filament estimate at $15/kg.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Two more: a pole-clamp back for the wall mount, a gym-pole clamp, so a station can go on a pole where there is no stud; and the build goes up open-source on GitHub so others can build it.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through four claw versions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hanging from three cables in the room corner, Oct 27">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Room: my room, as reported; 0.9 kg: screening value, not weighed; 2 m/s²: assumed; 450 g claw: the cable-tension budget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Studs: an anchor must not move, about 1:1 into claw error; 40 N per cable: motor limit</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Stop never disables, the strip is the only category-0 stop; no safety rating claimed</a:t>
            </a:r>
            <a:endParaRPr lang="en-US" sz="1500" dirty="0"/>
          </a:p>
          <a:p>
            <a:pPr algn="l" marL="254000" indent="-254000">
              <a:spcAft>
                <a:spcPts val="700"/>
              </a:spcAft>
              <a:buSzPct val="100000"/>
              <a:buChar char="•"/>
            </a:pPr>
            <a:r>
              <a:rPr lang="en-US" sz="15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500" dirty="0"/>
          </a:p>
          <a:p>
            <a:pPr algn="l" lvl="1" marL="457200" indent="-228600">
              <a:spcAft>
                <a:spcPts val="600"/>
              </a:spcAft>
              <a:buSzPct val="100000"/>
              <a:buChar char="•"/>
            </a:pPr>
            <a:r>
              <a:rPr lang="en-US" sz="1300" dirty="0">
                <a:solidFill>
                  <a:srgbClr val="404040"/>
                </a:solidFill>
                <a:latin typeface="Arial" pitchFamily="34" charset="0"/>
                <a:ea typeface="Arial" pitchFamily="34" charset="-122"/>
                <a:cs typeface="Arial" pitchFamily="34" charset="-120"/>
              </a:rPr>
              <a:t>First gate: a 1 lb test weight; no payload or accuracy rating until measured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Bead homing (a stopper bead on each cable trips the outlet switch, so no cable can ever be shorter than at home) left 5–29 % of the room's volume reachable: home 1 m up, 5 %; 2 m up, 29 %. Caught on paper</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Floor area at grab height reads better, 45 % with home 1 m up and 93 % at 1.5 m: what bead homing loses is height, for the scan and the hamper, not footprint</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on the wall, an" descr="Final wall station: CAD, on the wall, and the wall mount alone">    </p:cNvPr>
          <p:cNvPicPr>
            <a:picLocks noChangeAspect="1"/>
          </p:cNvPicPr>
          <p:nvPr/>
        </p:nvPicPr>
        <p:blipFill>
          <a:blip r:embed="rId1"/>
          <a:stretch>
            <a:fillRect/>
          </a:stretch>
        </p:blipFill>
        <p:spPr>
          <a:xfrm>
            <a:off x="990751" y="1188720"/>
            <a:ext cx="2261314" cy="2253996"/>
          </a:xfrm>
          <a:prstGeom prst="rect">
            <a:avLst/>
          </a:prstGeom>
        </p:spPr>
      </p:pic>
      <p:pic>
        <p:nvPicPr>
          <p:cNvPr id="6" name="Final wall station: CAD, on the wall, an" descr="Final wall station: CAD, on the wall, and the wall mount alone">    </p:cNvPr>
          <p:cNvPicPr>
            <a:picLocks noChangeAspect="1"/>
          </p:cNvPicPr>
          <p:nvPr/>
        </p:nvPicPr>
        <p:blipFill>
          <a:blip r:embed="rId2"/>
          <a:stretch>
            <a:fillRect/>
          </a:stretch>
        </p:blipFill>
        <p:spPr>
          <a:xfrm>
            <a:off x="4531424" y="1188720"/>
            <a:ext cx="1690497" cy="2253996"/>
          </a:xfrm>
          <a:prstGeom prst="rect">
            <a:avLst/>
          </a:prstGeom>
        </p:spPr>
      </p:pic>
      <p:pic>
        <p:nvPicPr>
          <p:cNvPr id="7" name="Final wall station: CAD, on the wall, an" descr="Final wall station: CAD, on the wall, and the wall mount alone">    </p:cNvPr>
          <p:cNvPicPr>
            <a:picLocks noChangeAspect="1"/>
          </p:cNvPicPr>
          <p:nvPr/>
        </p:nvPicPr>
        <p:blipFill>
          <a:blip r:embed="rId3"/>
          <a:stretch>
            <a:fillRect/>
          </a:stretch>
        </p:blipFill>
        <p:spPr>
          <a:xfrm>
            <a:off x="1276160" y="3552444"/>
            <a:ext cx="1690497" cy="2253996"/>
          </a:xfrm>
          <a:prstGeom prst="rect">
            <a:avLst/>
          </a:prstGeom>
        </p:spPr>
      </p:pic>
      <p:pic>
        <p:nvPicPr>
          <p:cNvPr id="8" name="Final wall station: CAD, on the wall, an" descr="Final wall station: CAD, on the wall, and the wall mount alone">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the shell on the wall (Oct 22); the wall mount alone in a corner, and with its XT60 power lead (Oct 27)</a:t>
            </a:r>
            <a:endParaRPr lang="en-US" sz="1100" dirty="0"/>
          </a:p>
        </p:txBody>
      </p:sp>
      <p:sp>
        <p:nvSpPr>
          <p:cNvPr id="10"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11"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2"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3"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drive slips before the wall does: a designed fuse</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6"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Four cables on three axes can pull against each other; a length error becomes tension, up to a snag that could tear a mount out</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motor's rotor skips at 34–59 N of cable tension, the designed fuse: every other part gives higher, the wall screws in a stud at 9 × and the slide-in dovetails at 225 × the motor's pull</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spool encoder sees the spool fall behind the commanded steps: a TRACKING fault, and every station holds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same mechanism catches an overweight pickup and a missed over-tension; the one exception as drawn, the set screw in printed plastic (22–64 N), moves into a metal insert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5"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1's central box worked within about a day and a half; it had to go: 250 m (820 ft) of wire once each winch had sensors, 2.5 mm of skew per 50 ms, a tangle to unplug and shelve, no modularity</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tested and swapped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73736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Thin sheet stops gaining by 136 mm; 1/8 in plate keeps gaining to 349 mm</a:t>
            </a:r>
            <a:endParaRPr lang="en-US" sz="1200" dirty="0"/>
          </a:p>
        </p:txBody>
      </p:sp>
      <p:sp>
        <p:nvSpPr>
          <p:cNvPr id="10" name="label"/>
          <p:cNvSpPr txBox="1"/>
          <p:nvPr/>
        </p:nvSpPr>
        <p:spPr>
          <a:xfrm>
            <a:off x="7223760" y="2980944"/>
            <a:ext cx="4419295" cy="219456"/>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7" name="fin sizing"/>
          <p:cNvGraphicFramePr>
            <a:graphicFrameLocks noGrp="1"/>
          </p:cNvGraphicFramePr>
          <p:nvPr>
            <p:extLst>
              <p:ext uri="{D42A27DB-BD31-4B8C-83A1-F6EECF244321}">
                <p14:modId xmlns:p14="http://schemas.microsoft.com/office/powerpoint/2010/main" val="1579011935"/>
              </p:ext>
            </p:extLst>
          </p:nvPr>
        </p:nvGraphicFramePr>
        <p:xfrm>
          <a:off x="7223760" y="3200400"/>
          <a:ext cx="4419295" cy="914400"/>
        </p:xfrm>
        <a:graphic>
          <a:graphicData uri="http://schemas.openxmlformats.org/drawingml/2006/table">
            <a:tbl>
              <a:tblPr/>
              <a:tblGrid>
                <a:gridCol w="1856104"/>
                <a:gridCol w="795473"/>
                <a:gridCol w="1767718"/>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Bench: two stations, laptop, meter, 12 V" descr="Bench: two stations, laptop, meter, 12 V supply">    </p:cNvPr>
          <p:cNvPicPr>
            <a:picLocks noChangeAspect="1"/>
          </p:cNvPicPr>
          <p:nvPr/>
        </p:nvPicPr>
        <p:blipFill>
          <a:blip r:embed="rId1"/>
          <a:stretch>
            <a:fillRect/>
          </a:stretch>
        </p:blipFill>
        <p:spPr>
          <a:xfrm>
            <a:off x="548640" y="1188720"/>
            <a:ext cx="1621917" cy="2162556"/>
          </a:xfrm>
          <a:prstGeom prst="rect">
            <a:avLst/>
          </a:prstGeom>
        </p:spPr>
      </p:pic>
      <p:sp>
        <p:nvSpPr>
          <p:cNvPr id="6" name="caption"/>
          <p:cNvSpPr txBox="1"/>
          <p:nvPr/>
        </p:nvSpPr>
        <p:spPr>
          <a:xfrm>
            <a:off x="548640"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two stations, laptop, meter, 12 V supply</a:t>
            </a:r>
            <a:endParaRPr lang="en-US" sz="1100" dirty="0"/>
          </a:p>
        </p:txBody>
      </p:sp>
      <p:pic>
        <p:nvPicPr>
          <p:cNvPr id="7" name="Dev board, driver, spool and end stop" descr="Dev board, driver, spool and end stop">    </p:cNvPr>
          <p:cNvPicPr>
            <a:picLocks noChangeAspect="1"/>
          </p:cNvPicPr>
          <p:nvPr/>
        </p:nvPicPr>
        <p:blipFill>
          <a:blip r:embed="rId2"/>
          <a:stretch>
            <a:fillRect/>
          </a:stretch>
        </p:blipFill>
        <p:spPr>
          <a:xfrm>
            <a:off x="3986784" y="1188720"/>
            <a:ext cx="1621917" cy="2162556"/>
          </a:xfrm>
          <a:prstGeom prst="rect">
            <a:avLst/>
          </a:prstGeom>
        </p:spPr>
      </p:pic>
      <p:sp>
        <p:nvSpPr>
          <p:cNvPr id="8" name="caption"/>
          <p:cNvSpPr txBox="1"/>
          <p:nvPr/>
        </p:nvSpPr>
        <p:spPr>
          <a:xfrm>
            <a:off x="3986784"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Dev board, driver, spool and end stop</a:t>
            </a:r>
            <a:endParaRPr lang="en-US" sz="1100" dirty="0"/>
          </a:p>
        </p:txBody>
      </p:sp>
      <p:pic>
        <p:nvPicPr>
          <p:cNvPr id="9" name="Red shell, fused 12 V lead" descr="Red shell, fused 12 V lead">    </p:cNvPr>
          <p:cNvPicPr>
            <a:picLocks noChangeAspect="1"/>
          </p:cNvPicPr>
          <p:nvPr/>
        </p:nvPicPr>
        <p:blipFill>
          <a:blip r:embed="rId3"/>
          <a:stretch>
            <a:fillRect/>
          </a:stretch>
        </p:blipFill>
        <p:spPr>
          <a:xfrm>
            <a:off x="548640" y="3735324"/>
            <a:ext cx="1621917" cy="2162556"/>
          </a:xfrm>
          <a:prstGeom prst="rect">
            <a:avLst/>
          </a:prstGeom>
        </p:spPr>
      </p:pic>
      <p:sp>
        <p:nvSpPr>
          <p:cNvPr id="10" name="caption"/>
          <p:cNvSpPr txBox="1"/>
          <p:nvPr/>
        </p:nvSpPr>
        <p:spPr>
          <a:xfrm>
            <a:off x="548640"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Red shell, fused 12 V lead</a:t>
            </a:r>
            <a:endParaRPr lang="en-US" sz="1100" dirty="0"/>
          </a:p>
        </p:txBody>
      </p:sp>
      <p:pic>
        <p:nvPicPr>
          <p:cNvPr id="11" name="Second board, shell open" descr="Second board, shell open">    </p:cNvPr>
          <p:cNvPicPr>
            <a:picLocks noChangeAspect="1"/>
          </p:cNvPicPr>
          <p:nvPr/>
        </p:nvPicPr>
        <p:blipFill>
          <a:blip r:embed="rId4"/>
          <a:stretch>
            <a:fillRect/>
          </a:stretch>
        </p:blipFill>
        <p:spPr>
          <a:xfrm>
            <a:off x="3986784" y="3735324"/>
            <a:ext cx="1621917" cy="2162556"/>
          </a:xfrm>
          <a:prstGeom prst="rect">
            <a:avLst/>
          </a:prstGeom>
        </p:spPr>
      </p:pic>
      <p:sp>
        <p:nvSpPr>
          <p:cNvPr id="12" name="caption"/>
          <p:cNvSpPr txBox="1"/>
          <p:nvPr/>
        </p:nvSpPr>
        <p:spPr>
          <a:xfrm>
            <a:off x="3986784"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Second board, shell open</a:t>
            </a:r>
            <a:endParaRPr lang="en-US" sz="1100" dirty="0"/>
          </a:p>
        </p:txBody>
      </p:sp>
      <p:sp>
        <p:nvSpPr>
          <p:cNvPr id="13"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 The spool encoder (magnetic, on the spool shaft, Ø4 magnet) has two jobs: confirm every commanded step, and detect slip as the tension sensor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the line leaves the switch t" descr="From below: the line leaves the switch tab straight down">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the line leaves the switch tab straight down</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hurts now, and the next iteration</a:t>
            </a:r>
            <a:endParaRPr lang="en-US" sz="2400" dirty="0"/>
          </a:p>
        </p:txBody>
      </p:sp>
      <p:sp>
        <p:nvSpPr>
          <p:cNvPr id="3" name="tag CA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6" name="card A 3:1 printed gear stage"/>
          <p:cNvSpPr/>
          <p:nvPr/>
        </p:nvSpPr>
        <p:spPr>
          <a:xfrm>
            <a:off x="548640" y="1188720"/>
            <a:ext cx="2463698" cy="3749040"/>
          </a:xfrm>
          <a:prstGeom prst="rect">
            <a:avLst/>
          </a:prstGeom>
          <a:solidFill>
            <a:srgbClr val="F2F2F2"/>
          </a:solidFill>
          <a:ln w="12700">
            <a:solidFill>
              <a:srgbClr val="F2F2F2"/>
            </a:solidFill>
            <a:prstDash val="solid"/>
          </a:ln>
        </p:spPr>
      </p:sp>
      <p:sp>
        <p:nvSpPr>
          <p:cNvPr id="7" name="card eyebrow"/>
          <p:cNvSpPr txBox="1"/>
          <p:nvPr/>
        </p:nvSpPr>
        <p:spPr>
          <a:xfrm>
            <a:off x="731520"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PULL</a:t>
            </a:r>
            <a:endParaRPr lang="en-US" sz="1000" dirty="0"/>
          </a:p>
        </p:txBody>
      </p:sp>
      <p:sp>
        <p:nvSpPr>
          <p:cNvPr id="8" name="card title"/>
          <p:cNvSpPr txBox="1"/>
          <p:nvPr/>
        </p:nvSpPr>
        <p:spPr>
          <a:xfrm>
            <a:off x="731520"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3:1 printed gear stage</a:t>
            </a:r>
            <a:endParaRPr lang="en-US" sz="1700" dirty="0"/>
          </a:p>
        </p:txBody>
      </p:sp>
      <p:sp>
        <p:nvSpPr>
          <p:cNvPr id="9" name="card now"/>
          <p:cNvSpPr txBox="1"/>
          <p:nvPr/>
        </p:nvSpPr>
        <p:spPr>
          <a:xfrm>
            <a:off x="731520"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a direct-drive spool on the motor shaft, 34 N on an empty spool at 1.5 A</a:t>
            </a:r>
            <a:endParaRPr lang="en-US" sz="1100" dirty="0"/>
          </a:p>
        </p:txBody>
      </p:sp>
      <p:sp>
        <p:nvSpPr>
          <p:cNvPr id="10" name="card label"/>
          <p:cNvSpPr txBox="1"/>
          <p:nvPr/>
        </p:nvSpPr>
        <p:spPr>
          <a:xfrm>
            <a:off x="731520"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1" name="card next"/>
          <p:cNvSpPr txBox="1"/>
          <p:nvPr/>
        </p:nvSpPr>
        <p:spPr>
          <a:xfrm>
            <a:off x="731520"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18T/54T, module 1, printed PETG pinion: designed and CAD-verified, pinion printed, not fitted</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1.98–2.80 kg at 1.0 A with half the heat; the slip fuse moves to about 130 N, station sized for 200 N</a:t>
            </a:r>
            <a:endParaRPr lang="en-US" sz="1100" dirty="0"/>
          </a:p>
        </p:txBody>
      </p:sp>
      <p:sp>
        <p:nvSpPr>
          <p:cNvPr id="12" name="card tag"/>
          <p:cNvSpPr txBox="1"/>
          <p:nvPr/>
        </p:nvSpPr>
        <p:spPr>
          <a:xfrm>
            <a:off x="731520"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CAD, not fitted</a:t>
            </a:r>
            <a:endParaRPr lang="en-US" sz="1000" dirty="0"/>
          </a:p>
        </p:txBody>
      </p:sp>
      <p:sp>
        <p:nvSpPr>
          <p:cNvPr id="13" name="card A 1° draft on the dovetail"/>
          <p:cNvSpPr/>
          <p:nvPr/>
        </p:nvSpPr>
        <p:spPr>
          <a:xfrm>
            <a:off x="3195218" y="1188720"/>
            <a:ext cx="2463698" cy="3749040"/>
          </a:xfrm>
          <a:prstGeom prst="rect">
            <a:avLst/>
          </a:prstGeom>
          <a:solidFill>
            <a:srgbClr val="F2F2F2"/>
          </a:solidFill>
          <a:ln w="12700">
            <a:solidFill>
              <a:srgbClr val="F2F2F2"/>
            </a:solidFill>
            <a:prstDash val="solid"/>
          </a:ln>
        </p:spPr>
      </p:sp>
      <p:sp>
        <p:nvSpPr>
          <p:cNvPr id="14" name="card eyebrow"/>
          <p:cNvSpPr txBox="1"/>
          <p:nvPr/>
        </p:nvSpPr>
        <p:spPr>
          <a:xfrm>
            <a:off x="3378098"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SLIDE-IN FIT</a:t>
            </a:r>
            <a:endParaRPr lang="en-US" sz="1000" dirty="0"/>
          </a:p>
        </p:txBody>
      </p:sp>
      <p:sp>
        <p:nvSpPr>
          <p:cNvPr id="15" name="card title"/>
          <p:cNvSpPr txBox="1"/>
          <p:nvPr/>
        </p:nvSpPr>
        <p:spPr>
          <a:xfrm>
            <a:off x="3378098"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1° draft on the dovetail</a:t>
            </a:r>
            <a:endParaRPr lang="en-US" sz="1700" dirty="0"/>
          </a:p>
        </p:txBody>
      </p:sp>
      <p:sp>
        <p:nvSpPr>
          <p:cNvPr id="16" name="card now"/>
          <p:cNvSpPr txBox="1"/>
          <p:nvPr/>
        </p:nvSpPr>
        <p:spPr>
          <a:xfrm>
            <a:off x="3378098"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the slide-in binds on insertion; its ribs run parallel on 0.175 mm a side</a:t>
            </a:r>
            <a:endParaRPr lang="en-US" sz="1100" dirty="0"/>
          </a:p>
        </p:txBody>
      </p:sp>
      <p:sp>
        <p:nvSpPr>
          <p:cNvPr id="17" name="card label"/>
          <p:cNvSpPr txBox="1"/>
          <p:nvPr/>
        </p:nvSpPr>
        <p:spPr>
          <a:xfrm>
            <a:off x="3378098"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8" name="card next"/>
          <p:cNvSpPr txBox="1"/>
          <p:nvPr/>
        </p:nvSpPr>
        <p:spPr>
          <a:xfrm>
            <a:off x="3378098"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A 1° draft on the dovetail and the interlocking supports, thicker at the top and thinning toward the bottom</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The station self-locates as it slides in and does not bind</a:t>
            </a:r>
            <a:endParaRPr lang="en-US" sz="1100" dirty="0"/>
          </a:p>
        </p:txBody>
      </p:sp>
      <p:sp>
        <p:nvSpPr>
          <p:cNvPr id="19" name="card tag"/>
          <p:cNvSpPr txBox="1"/>
          <p:nvPr/>
        </p:nvSpPr>
        <p:spPr>
          <a:xfrm>
            <a:off x="3378098"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0" name="card A lighter back mount"/>
          <p:cNvSpPr/>
          <p:nvPr/>
        </p:nvSpPr>
        <p:spPr>
          <a:xfrm>
            <a:off x="5841797" y="1188720"/>
            <a:ext cx="2463698" cy="3749040"/>
          </a:xfrm>
          <a:prstGeom prst="rect">
            <a:avLst/>
          </a:prstGeom>
          <a:solidFill>
            <a:srgbClr val="F2F2F2"/>
          </a:solidFill>
          <a:ln w="12700">
            <a:solidFill>
              <a:srgbClr val="F2F2F2"/>
            </a:solidFill>
            <a:prstDash val="solid"/>
          </a:ln>
        </p:spPr>
      </p:sp>
      <p:sp>
        <p:nvSpPr>
          <p:cNvPr id="21" name="card eyebrow"/>
          <p:cNvSpPr txBox="1"/>
          <p:nvPr/>
        </p:nvSpPr>
        <p:spPr>
          <a:xfrm>
            <a:off x="6024677"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WALL MOUNT</a:t>
            </a:r>
            <a:endParaRPr lang="en-US" sz="1000" dirty="0"/>
          </a:p>
        </p:txBody>
      </p:sp>
      <p:sp>
        <p:nvSpPr>
          <p:cNvPr id="22" name="card title"/>
          <p:cNvSpPr txBox="1"/>
          <p:nvPr/>
        </p:nvSpPr>
        <p:spPr>
          <a:xfrm>
            <a:off x="6024677"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lighter back mount</a:t>
            </a:r>
            <a:endParaRPr lang="en-US" sz="1700" dirty="0"/>
          </a:p>
        </p:txBody>
      </p:sp>
      <p:sp>
        <p:nvSpPr>
          <p:cNvPr id="23" name="card now"/>
          <p:cNvSpPr txBox="1"/>
          <p:nvPr/>
        </p:nvSpPr>
        <p:spPr>
          <a:xfrm>
            <a:off x="6024677" y="2148840"/>
            <a:ext cx="2097938" cy="777240"/>
          </a:xfrm>
          <a:prstGeom prst="rect">
            <a:avLst/>
          </a:prstGeom>
          <a:noFill/>
          <a:ln/>
        </p:spPr>
        <p:txBody>
          <a:bodyPr wrap="square" lIns="0" tIns="0" rIns="0" bIns="0" rtlCol="0" anchor="t"/>
          <a:lstStyle/>
          <a:p>
            <a:pPr algn="l" indent="0" marL="0">
              <a:buNone/>
            </a:pPr>
            <a:r>
              <a:rPr lang="en-US" sz="1100" dirty="0">
                <a:solidFill>
                  <a:srgbClr val="B23A2E"/>
                </a:solidFill>
                <a:latin typeface="Arial" pitchFamily="34" charset="0"/>
                <a:ea typeface="Arial" pitchFamily="34" charset="-122"/>
                <a:cs typeface="Arial" pitchFamily="34" charset="-120"/>
              </a:rPr>
              <a:t>Now: the mount holds about 200 × the motor's pull (dovetails 225 ×): overbuilt, 597 cm³ solid</a:t>
            </a:r>
            <a:endParaRPr lang="en-US" sz="1100" dirty="0"/>
          </a:p>
        </p:txBody>
      </p:sp>
      <p:sp>
        <p:nvSpPr>
          <p:cNvPr id="24" name="card label"/>
          <p:cNvSpPr txBox="1"/>
          <p:nvPr/>
        </p:nvSpPr>
        <p:spPr>
          <a:xfrm>
            <a:off x="6024677" y="297180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25" name="card next"/>
          <p:cNvSpPr txBox="1"/>
          <p:nvPr/>
        </p:nvSpPr>
        <p:spPr>
          <a:xfrm>
            <a:off x="6024677" y="3200400"/>
            <a:ext cx="2097938" cy="1417320"/>
          </a:xfrm>
          <a:prstGeom prst="rect">
            <a:avLst/>
          </a:prstGeom>
          <a:noFill/>
          <a:ln/>
        </p:spPr>
        <p:txBody>
          <a:bodyPr wrap="square" lIns="25400" tIns="0" rIns="50800" bIns="25400" rtlCol="0" anchor="t"/>
          <a:lstStyle/>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Thinner walls and ribs, about 200 cm³: less print time and filament</a:t>
            </a:r>
            <a:endParaRPr lang="en-US" sz="1100" dirty="0"/>
          </a:p>
          <a:p>
            <a:pPr algn="l" marL="254000" indent="-254000">
              <a:spcAft>
                <a:spcPts val="400"/>
              </a:spcAft>
              <a:buSzPct val="100000"/>
              <a:buChar char="•"/>
            </a:pPr>
            <a:r>
              <a:rPr lang="en-US" sz="1100" dirty="0">
                <a:solidFill>
                  <a:srgbClr val="1A1A1A"/>
                </a:solidFill>
                <a:latin typeface="Arial" pitchFamily="34" charset="0"/>
                <a:ea typeface="Arial" pitchFamily="34" charset="-122"/>
                <a:cs typeface="Arial" pitchFamily="34" charset="-120"/>
              </a:rPr>
              <a:t>For anyone building it from the open-source files</a:t>
            </a:r>
            <a:endParaRPr lang="en-US" sz="1100" dirty="0"/>
          </a:p>
        </p:txBody>
      </p:sp>
      <p:sp>
        <p:nvSpPr>
          <p:cNvPr id="26" name="card tag"/>
          <p:cNvSpPr txBox="1"/>
          <p:nvPr/>
        </p:nvSpPr>
        <p:spPr>
          <a:xfrm>
            <a:off x="6024677" y="4617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7" name="limits label"/>
          <p:cNvSpPr txBox="1"/>
          <p:nvPr/>
        </p:nvSpPr>
        <p:spPr>
          <a:xfrm>
            <a:off x="548640" y="5047488"/>
            <a:ext cx="7756855" cy="201168"/>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LIMITS TODAY</a:t>
            </a:r>
            <a:endParaRPr lang="en-US" sz="1000" dirty="0"/>
          </a:p>
        </p:txBody>
      </p:sp>
      <p:sp>
        <p:nvSpPr>
          <p:cNvPr id="28" name="limits"/>
          <p:cNvSpPr txBox="1"/>
          <p:nvPr/>
        </p:nvSpPr>
        <p:spPr>
          <a:xfrm>
            <a:off x="548640" y="5248656"/>
            <a:ext cx="7756855" cy="1060704"/>
          </a:xfrm>
          <a:prstGeom prst="rect">
            <a:avLst/>
          </a:prstGeom>
          <a:noFill/>
          <a:ln/>
        </p:spPr>
        <p:txBody>
          <a:bodyPr wrap="square" lIns="25400" tIns="0" rIns="50800" bIns="25400" rtlCol="0" anchor="t"/>
          <a:lstStyle/>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Relative positioning only: pose from the cable model and the floor-board calibration; no absolute reference beyond the markers</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Three stations on the corner holes: the claw tilts 5.5° (abort at 8°), grips refused on 78 % of the floor; the three-hole housing: 0.8°</a:t>
            </a:r>
            <a:endParaRPr lang="en-US" sz="1050" dirty="0"/>
          </a:p>
          <a:p>
            <a:pPr algn="l" marL="254000" indent="-254000">
              <a:spcAft>
                <a:spcPts val="200"/>
              </a:spcAft>
              <a:buSzPct val="100000"/>
              <a:buChar char="•"/>
            </a:pPr>
            <a:r>
              <a:rPr lang="en-US" sz="1050" dirty="0">
                <a:solidFill>
                  <a:srgbClr val="1A1A1A"/>
                </a:solidFill>
                <a:latin typeface="Arial" pitchFamily="34" charset="0"/>
                <a:ea typeface="Arial" pitchFamily="34" charset="-122"/>
                <a:cs typeface="Arial" pitchFamily="34" charset="-120"/>
              </a:rPr>
              <a:t>No person or pet detection: nobody under the robot, with PAUSE and the power strip</a:t>
            </a:r>
            <a:endParaRPr lang="en-US" sz="1050" dirty="0"/>
          </a:p>
        </p:txBody>
      </p:sp>
      <p:sp>
        <p:nvSpPr>
          <p:cNvPr id="29" name="placeholder"/>
          <p:cNvSpPr/>
          <p:nvPr/>
        </p:nvSpPr>
        <p:spPr>
          <a:xfrm>
            <a:off x="8625535" y="1188720"/>
            <a:ext cx="3017520" cy="4663440"/>
          </a:xfrm>
          <a:prstGeom prst="rect">
            <a:avLst/>
          </a:prstGeom>
          <a:solidFill>
            <a:srgbClr val="F2F2F2"/>
          </a:solidFill>
          <a:ln w="12700">
            <a:solidFill>
              <a:srgbClr val="B23A2E"/>
            </a:solidFill>
            <a:prstDash val="dash"/>
          </a:ln>
        </p:spPr>
      </p:sp>
      <p:sp>
        <p:nvSpPr>
          <p:cNvPr id="30" name="placeholder text"/>
          <p:cNvSpPr txBox="1"/>
          <p:nvPr/>
        </p:nvSpPr>
        <p:spPr>
          <a:xfrm>
            <a:off x="8808415" y="1188720"/>
            <a:ext cx="2651760" cy="4663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photos or CAD of the next iteration]</a:t>
            </a:r>
            <a:endParaRPr lang="en-US" sz="1600" dirty="0"/>
          </a:p>
        </p:txBody>
      </p:sp>
      <p:sp>
        <p:nvSpPr>
          <p:cNvPr id="31" name="caption"/>
          <p:cNvSpPr txBox="1"/>
          <p:nvPr/>
        </p:nvSpPr>
        <p:spPr>
          <a:xfrm>
            <a:off x="8625535" y="5897880"/>
            <a:ext cx="30175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Next-iteration parts: gear stage, drafted slide-in, lighter mount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7" name="one-turn statement"/>
          <p:cNvSpPr txBox="1"/>
          <p:nvPr/>
        </p:nvSpPr>
        <p:spPr>
          <a:xfrm>
            <a:off x="548640" y="1143000"/>
            <a:ext cx="11094415" cy="457200"/>
          </a:xfrm>
          <a:prstGeom prst="rect">
            <a:avLst/>
          </a:prstGeom>
          <a:noFill/>
          <a:ln/>
        </p:spPr>
        <p:txBody>
          <a:bodyPr wrap="square" lIns="0" tIns="0" rIns="0" bIns="0" rtlCol="0" anchor="t"/>
          <a:lstStyle/>
          <a:p>
            <a:pPr algn="l" indent="0" marL="0">
              <a:buNone/>
            </a:pPr>
            <a:r>
              <a:rPr lang="en-US" sz="1300" b="1" dirty="0">
                <a:solidFill>
                  <a:srgbClr val="1F3A5F"/>
                </a:solidFill>
                <a:latin typeface="Arial" pitchFamily="34" charset="0"/>
                <a:ea typeface="Arial" pitchFamily="34" charset="-122"/>
                <a:cs typeface="Arial" pitchFamily="34" charset="-120"/>
              </a:rPr>
              <a:t>Today: the four winches lift 1.56 kg at task height (calculated, direct drive at 1.5 A); cable lengths known to about 12–16 mm after calibration (simulated); $210.78 of parts in the robot for three stations, plus $37.74 of filament.</a:t>
            </a:r>
            <a:endParaRPr lang="en-US" sz="13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1886051"/>
                <a:gridCol w="2440771"/>
                <a:gridCol w="3328325"/>
                <a:gridCol w="1331330"/>
                <a:gridCol w="2107939"/>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Target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Goal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Current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Evidence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Lift capacity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1.50 kg with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1.56 kg; 1.1 kg at 0.5 × holding torque; 1.98–2.80 kg with the 3:1 stage (next iteration)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pull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Grip for jeans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17.7 N per jaw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Short at narrow grabs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mass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0.45 kg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0.60 kg with battery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Weighed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temperature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Below 60 °C</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56–59 °C prototype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Marginal; hold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Weakest link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Motor slips first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Set screw may slip first; tab at 1.2 ×</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B23A2E"/>
                          </a:solidFill>
                          <a:latin typeface="Arial" pitchFamily="34" charset="0"/>
                          <a:ea typeface="Arial" pitchFamily="34" charset="-122"/>
                          <a:cs typeface="Arial" pitchFamily="34" charset="-120"/>
                        </a:rPr>
                        <a:t>Two fixes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Working area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Floor, 0.2 m wall margin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All but 0.2 m at the walls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Calculated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in design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Wiring</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cable per station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12 V pair; 0.51 V drop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 (bench PASS)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Station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Switch, encoder, driver, one turn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PASS on both boards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Claw bench test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battery, servo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Live view; 7.2 V; servo moves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Accuracy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 2 mm cable mismatch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40 ms skew budget gives 2 mm</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measured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To be tested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Obstacle map in the app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Drawn shapes kept out of every path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Built; two findings being fixed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Simulated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First three-station lift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Self-check, calibration, short move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Not yet run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None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Planned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74320">
                <a:tc>
                  <a:txBody>
                    <a:bodyPr/>
                    <a:lstStyle/>
                    <a:p>
                      <a:pPr indent="0" marL="0">
                        <a:buNone/>
                      </a:pPr>
                      <a:r>
                        <a:rPr lang="en-US" sz="1050" b="1" dirty="0">
                          <a:solidFill>
                            <a:srgbClr val="1A1A1A"/>
                          </a:solidFill>
                          <a:latin typeface="Arial" pitchFamily="34" charset="0"/>
                          <a:ea typeface="Arial" pitchFamily="34" charset="-122"/>
                          <a:cs typeface="Arial" pitchFamily="34" charset="-120"/>
                        </a:rPr>
                        <a:t>Cost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Hobby budget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About $640 ordered; $211–248 in the robot (3–4 stations), prices partly estimated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Receipts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next iteration's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Flash and commission the three stations on the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Pull test at 1.5 A; enter the measured limit in the planner</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First lift: self-check, calibration, a short move with 1 lb</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pole-clamp back for the wall mount (a gym-pole clamp), so a station mounts to a pole, not only a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Open-source build on GitHub, so others can build 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2026-10-27T04:05:18Z</dcterms:created>
  <dcterms:modified xsi:type="dcterms:W3CDTF">2026-10-27T04:05:18Z</dcterms:modified>
</cp:coreProperties>
</file>