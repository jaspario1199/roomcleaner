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c04363ce-4685-7942-4c8f-5c43b7b7e12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safe state is PAUSE: torque on, holding. Anything that removes power drops the claw, which is why nobody stands under it and why a brake or a non-backdrivable stage is on the next-steps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L95 is where a fin carries 95 % of the heat an infinitely long one would. h = 7 W/m²·K still air, k = 160 W/m·K aluminum. Source: Incropera, ch.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works today only because the motor also sheds heat into the vented shell. Thickness beats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 model: 0.3 px corner noise and a 520 px focal length (camera not yet calibrated). The four-tag figure is the best placement; realistic placements are a few times worse.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or a detected fault stops every station on the same point of the path, still holding; nothing restarts by itself. The emergency stop is the switched power strip, and it drops the claw. Known obstacles are keep-out cylinders checked against every cable before a move. Simulated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Generation 1 trusted its model; the final logic measures before it trusts and checks after it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check 0 errors; 9 nets match the specification. Charger: 8.4 V constant current, constant voltage; charged attended, at 1 A or less. The peak sits at the pack rating, so a stall longer than a moment is the thing to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State and Failure Modes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437766"/>
                <a:gridCol w="3772101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PAUSE, or a fault the software detects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station holds position with torque 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moves again without approval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link lost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Stations stop and hold on their own clocks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needs approval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loss or emergency stop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Torque is lost and the claw can fall (1.5 kg from about 2 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Nobody underneath; claw parked low when idle; brake planned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 reset or brown-out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disabled at boot, so torque is lost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as power loss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over-temperature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A4988 shuts its outputs off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test watches the driver; fallback 1.35 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Fin Length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hart from the calculation sheet: Heat f" descr="Chart from the calculation sheet: Heat 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39859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66046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Heat fin)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3675888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 in prototype reaches 95 % of its capacity by 136 mm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 in design keeps gaining to 349 mm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at 200 mm, limited by ceiling clearance</a:t>
            </a:r>
            <a:endParaRPr lang="en-US" sz="1800" dirty="0"/>
          </a:p>
        </p:txBody>
      </p:sp>
      <p:sp>
        <p:nvSpPr>
          <p:cNvPr id="7" name="equation box"/>
          <p:cNvSpPr/>
          <p:nvPr/>
        </p:nvSpPr>
        <p:spPr>
          <a:xfrm>
            <a:off x="7360920" y="5093208"/>
            <a:ext cx="4282135" cy="1078992"/>
          </a:xfrm>
          <a:prstGeom prst="rect">
            <a:avLst/>
          </a:prstGeom>
          <a:solidFill>
            <a:srgbClr val="F7F8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equation title"/>
          <p:cNvSpPr txBox="1"/>
          <p:nvPr/>
        </p:nvSpPr>
        <p:spPr>
          <a:xfrm>
            <a:off x="7507224" y="5166360"/>
            <a:ext cx="3989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length and efficiency</a:t>
            </a:r>
            <a:endParaRPr lang="en-US" sz="1100" dirty="0"/>
          </a:p>
        </p:txBody>
      </p:sp>
      <p:sp>
        <p:nvSpPr>
          <p:cNvPr id="9" name="equations"/>
          <p:cNvSpPr txBox="1"/>
          <p:nvPr/>
        </p:nvSpPr>
        <p:spPr>
          <a:xfrm>
            <a:off x="7507224" y="5422392"/>
            <a:ext cx="398952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√(2h / (k t)),   L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1.83 / m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tanh(mL) / (mL) =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(1/8 in)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Sizing for 4 W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5" name="fin siz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088136"/>
                <a:gridCol w="243230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Painted 6061, 44 mm wide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Shortest for ≤ 60 °C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0.019 in (prototype)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(2.0 W max)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1/16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(3.6 W max)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0.090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mm or none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1/8 in (design)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145–185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3/16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125–140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1/4 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 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115–125 mm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48640" y="4626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4.05 W through the fin, 23 °C room, paste contact. Calculated.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fin alone had to carry all 4.05 W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0.019 in sheet: not possible at any length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 in plate: 145–185 mm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Board Accuracy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hart from the calculation sheet: Floor " descr="Chart from the calculation sheet: Floor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405409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667281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Floor board)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pose error per frame, best case: 6.6 mm with one tag, 0.7 mm with four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camera's view, not the cable length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fit, cable lengths are known to about 12–16 mm (simulated)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Sequence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Phone app screens" descr="Phone app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8070"/>
            <a:ext cx="2060448" cy="4459021"/>
          </a:xfrm>
          <a:prstGeom prst="rect">
            <a:avLst/>
          </a:prstGeom>
        </p:spPr>
      </p:pic>
      <p:pic>
        <p:nvPicPr>
          <p:cNvPr id="5" name="Phone app screens" descr="Phone app scree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16" y="1268070"/>
            <a:ext cx="2060448" cy="4459021"/>
          </a:xfrm>
          <a:prstGeom prst="rect">
            <a:avLst/>
          </a:prstGeom>
        </p:spPr>
      </p:pic>
      <p:pic>
        <p:nvPicPr>
          <p:cNvPr id="6" name="Phone app screens" descr="Phone app scree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92" y="1268070"/>
            <a:ext cx="2060448" cy="445902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54864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app: home, live claw camera and chat</a:t>
            </a:r>
            <a:endParaRPr lang="en-US" sz="1100" dirty="0"/>
          </a:p>
        </p:txBody>
      </p:sp>
      <p:sp>
        <p:nvSpPr>
          <p:cNvPr id="8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up: self-check, take up slack, calibrate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Find: scan from above, detect garments, choose the nearest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Pick: hover until still, grip, deliver; the camera confirms each step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move waits for approval on the phone; PAUSE holds position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Logic: Generation 1 vs. Final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3993989"/>
                <a:gridCol w="4881543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Generation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is the claw?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 from the commanded cable lengths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by the claw camera; refit at every startup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geometry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Anchors from a tape 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Anchors and cable lengths fitted, with error bars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central board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controller per station, coordinated by the laptop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laundry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 camera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Claw camera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 the grab work?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checks pickup and delivery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stop only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keeps torque; the emergency stop cuts power and drops the claw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Electrical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law schematic" descr="Claw schema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76"/>
            <a:ext cx="6400800" cy="4527009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 schematic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Two-cell lithium-ion pack, 7.4 V; 5 A fuse for shorts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 V servo rail and a separate 5 V logic rail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draw 2.8–3.1 A, at the pack's 3 A rating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Acronyms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86536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Computer-aided design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Polyethylene terephthalate glycol (the printed plastic)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Thermoplastic polyurethane (flexible printed plastic)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NEMA 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Electrical Manufacturers Association motor frame, 1.7 in square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numerical 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Wi-Fi microcontroller family (Espressif)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A4988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Stepper-motor driver chip (Allegro)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“You Only Look Once”: an object-detection model 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 factor: allowable stress divided by actual stress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and Sources</a:t>
            </a:r>
            <a:endParaRPr lang="en-US" sz="2600" dirty="0"/>
          </a:p>
        </p:txBody>
      </p:sp>
      <p:sp>
        <p:nvSpPr>
          <p:cNvPr id="3" name="footer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Jasper Buntinx  |  RoomCleaner  |  Appendix</a:t>
            </a:r>
            <a:endParaRPr lang="en-US" sz="1000" dirty="0"/>
          </a:p>
        </p:txBody>
      </p:sp>
      <p:pic>
        <p:nvPicPr>
          <p:cNvPr id="4" name="Chart from the calculation sheet: Cable " descr="Chart from the calculation sheet: Cable 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4405924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48640" y="56677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(calc sheet: Cable tension)</a:t>
            </a:r>
            <a:endParaRPr lang="en-US" sz="1100" dirty="0"/>
          </a:p>
        </p:txBody>
      </p:sp>
      <p:sp>
        <p:nvSpPr>
          <p:cNvPr id="6" name="bullets"/>
          <p:cNvSpPr txBox="1"/>
          <p:nvPr/>
        </p:nvSpPr>
        <p:spPr>
          <a:xfrm>
            <a:off x="7360920" y="1234440"/>
            <a:ext cx="4282135" cy="4937760"/>
          </a:xfrm>
          <a:prstGeom prst="rect">
            <a:avLst/>
          </a:prstGeom>
          <a:noFill/>
          <a:ln/>
        </p:spPr>
        <p:txBody>
          <a:bodyPr wrap="square" lIns="25400" tIns="0" rIns="50800" bIns="25400" rtlCol="0" anchor="t"/>
          <a:lstStyle/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charts come from my engineering calculation sheet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Incropera et al., Fundamentals of Heat and Mass Transfer, ch. 3</a:t>
            </a:r>
            <a:endParaRPr lang="en-US" sz="1800" dirty="0"/>
          </a:p>
          <a:p>
            <a:pPr algn="l"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MicroSystems, A4988 datasheet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mCleaner v7">
  <a:themeElements>
    <a:clrScheme name="RoomCleaner v7">
      <a:dk1>
        <a:srgbClr val="1A1A1A"/>
      </a:dk1>
      <a:lt1>
        <a:srgbClr val="FFFFFF"/>
      </a:lt1>
      <a:dk2>
        <a:srgbClr val="1F3A5F"/>
      </a:dk2>
      <a:lt2>
        <a:srgbClr val="F2F2F4"/>
      </a:lt2>
      <a:accent1>
        <a:srgbClr val="1F3A5F"/>
      </a:accent1>
      <a:accent2>
        <a:srgbClr val="8A8F98"/>
      </a:accent2>
      <a:accent3>
        <a:srgbClr val="B23A2E"/>
      </a:accent3>
      <a:accent4>
        <a:srgbClr val="4F6D8F"/>
      </a:accent4>
      <a:accent5>
        <a:srgbClr val="D9DEE5"/>
      </a:accent5>
      <a:accent6>
        <a:srgbClr val="5B6470"/>
      </a:accent6>
      <a:hlink>
        <a:srgbClr val="1F3A5F"/>
      </a:hlink>
      <a:folHlink>
        <a:srgbClr val="4F6D8F"/>
      </a:folHlink>
    </a:clrScheme>
    <a:fontScheme name="RoomCleaner v7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RoomCleaner</dc:title>
  <dc:subject>PptxGenJS Presentation</dc:subject>
  <dc:creator>Jasper Buntinx</dc:creator>
  <cp:lastModifiedBy>Jasper Buntinx</cp:lastModifiedBy>
  <cp:revision>1</cp:revision>
  <dcterms:created xsi:type="dcterms:W3CDTF">2026-10-22T21:18:01Z</dcterms:created>
  <dcterms:modified xsi:type="dcterms:W3CDTF">2026-10-22T21:18:01Z</dcterms:modified>
</cp:coreProperties>
</file>