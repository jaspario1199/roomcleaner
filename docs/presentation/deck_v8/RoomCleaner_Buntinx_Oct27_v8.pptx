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53698a8-b167-9d28-2c2b-e393a86abafa}">
          <p14:sldIdLst>
            <p14:sldId id="256"/>
            <p14:sldId id="257"/>
            <p14:sldId id="258"/>
            <p14:sldId id="259"/>
          </p14:sldIdLst>
        </p14:section>
        <p14:section name="Concept" id="{b48fc392-832b-4b35-5ad3-8a26791d948f}">
          <p14:sldIdLst>
            <p14:sldId id="260"/>
            <p14:sldId id="261"/>
            <p14:sldId id="262"/>
          </p14:sldIdLst>
        </p14:section>
        <p14:section name="Generation 1" id="{2a745419-67df-028b-4277-860edfb39d9d}">
          <p14:sldIdLst>
            <p14:sldId id="263"/>
          </p14:sldIdLst>
        </p14:section>
        <p14:section name="Redesign" id="{18c9debb-5137-d126-de19-511c6e0c455f}">
          <p14:sldIdLst>
            <p14:sldId id="264"/>
            <p14:sldId id="265"/>
            <p14:sldId id="266"/>
          </p14:sldIdLst>
        </p14:section>
        <p14:section name="Final Design" id="{484f5fc9-82e9-51e8-d323-9eb31eff4845}">
          <p14:sldIdLst>
            <p14:sldId id="267"/>
            <p14:sldId id="268"/>
            <p14:sldId id="269"/>
            <p14:sldId id="270"/>
          </p14:sldIdLst>
        </p14:section>
        <p14:section name="Build and Test" id="{9bb58db8-c0b9-ca9f-6f82-665184c95636}">
          <p14:sldIdLst>
            <p14:sldId id="271"/>
            <p14:sldId id="272"/>
          </p14:sldIdLst>
        </p14:section>
        <p14:section name="Results and Takeaways" id="{fe233e14-e7cc-0fef-8e8e-7d5737dc853d}">
          <p14:sldIdLst>
            <p14:sldId id="273"/>
            <p14:sldId id="274"/>
            <p14:sldId id="275"/>
          </p14:sldIdLst>
        </p14:section>
        <p14:section name="Appendix" id="{af3a3296-0cd3-7ebe-c931-36567f86b58d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four winches near the ceiling corners hold one claw on cables; it is designed to pick clothes off the floor and drop them in a hamper. Then who I 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Ninety seconds. I build things end to end, and I finish long things. EcoFil: what each stage does, and one result [add one number: filament diameter tolerance or throughput, and what broke]. Gladiator Dash: as Special Events Build Logistics Chair I headed assembly, repairs and transport of the obstacles; the event raised $185K for Still Creek Ranch. If asked: metal sculpture for the Austin Creek Show, with fiber laser cutting and welding.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in one picture: four anchors 0.15 m below the ceiling, one claw, a hamper. The shaded bands are the 0.2 m wall and 0.4 m ceiling margins the planner keeps. If asked: 0.9 kg is a screening value for a pair of jeans, not weighed. The 2 m/s² is a 1.2 times dynamic allowance for stops and snags, not the motion profile; top speed is 50 mm/s, so a diagonal move takes about a minute and a half. Where it stands: the stations, their electronics and the claw body are built; the claw is weighed (0.60 kg with battery); most other numbers in this talk are calculated or simulated, and labeled; nothing has picked up a garment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15 weeks, alone. The numbered marks are the failures that shaped the design. I dictated the control logic and had Claude Code build it out; it also wrote calculation scripts and checked my CAD, and I can take you through any number on these slides. If asked: the garment detector is YOLO-World, an open-source model. [Fill in: hours, total cost, shop access or mentors.]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floor robot fights the clutter it is meant to clear; a gantry puts a frame across my room. A cable robot reaches the whole floor with a 0.6 kg moving mass and nothing on the floor. The price is on the next two slides. If asked: four cables on three position axes is redundant, so the tension split depends on cable-length errors; that is why the planner checks tensions and the calibration fits the cable lengths.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levers I set in the concept phase and came back to in every phase after. Current bound the design, with heat right behind it. If asked: the 1.5 divisor on winch force is the margin against skipped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Cables only pull, and the shallower the cable, the more tension it carries for the same weight. 0.4 m is the margin for the empty claw (9.8 N there). With a load, the planner's tension check keeps the claw lower; it needs the measured pull limit entered first, so the pull test comes before the system test. If asked: off-centre is worse than centred; the claw rises to scan the floor from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and ask: how would you home a four-cable robot without a reference pose? Then: each finding here drives one decision on the next three slides. Bead homing: a bead on each cable trips a switch at the outlet, so a cable can never be shorter than at home. [Fill in: the weight and how high it lifted.]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Cable routes are 6, 21, 23 and 32 ft. If asked: each station runs time-stamped segments on its own clock and holds if the link drops; a 40 ms skew budget keeps the error to 2 mm. Line stiffness is about 3 N/mm over a 3 m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curve is why bead homing died: with home 1 m up, 5 % of the room is reachable; 2 m up, 29 %. If asked why not home each cable at its own shortest length: that drags the claw into the high-tension zone next to an anchor (previous phase). Camera pose per frame is 0.7 mm best case with four tags (appendix); the number that matters is the cable length after the fit. Simulated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version failed for a reason I can name. The first clamp's pinion travel left a 2 mm gap, so the pads never met on thin cloth. v6 was up to 2.06 kg in CAD against 0.45 kg, with no torque path from the servo. Final gears: module 1.5 with a 16 mm face (module 1 with a 6 mm face gave a safety factor of 0.35). Grip assumes friction 0.3; at 6 V the jaws give 17 % more, enough above a 22 mm grab; next are grippy pads. If asked: servo heat while holding, and claw yaw.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load from the cable to the stud. 34 N is the spool's slip limit; a stalled winch at 1.5 A could otherwise pull about 48 N over the empty core. The PETG tab has to carry that below 60 °C, which is where the thermal limit on the cooling slide comes from. If asked: the 1/8 in fin needs the shell slot about 1 mm wider on the motor side, and M3 × 12 screws.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how: the current is set by the driver reference voltage, I = Vref / (8 × 0.1 Ω) [fill in how you reached 1.5 A and the Vref you read]. Two torque risks: running torque could be nearer 0.5 of holding, and in microstepping the torque can be about 0.7 of the rating. The A4988 runs hot at 1.5 A; if it shuts down the winch loses torque, so the hold test watches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ranges are the simple and the refined hand model; the bars show the simple one. The PETG next to the motor runs at about the motor temperature (independent 3-D check). If asked: measuring the coil resistance takes 30 seconds with a meter; fin sizing is in the appendix, and thickness beats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and ask: if the pull test comes in low, would you cut claw mass or add a 2:1 gear stage? My answer: the gear stage, because it also lets the current drop to about 1 A and halves the heat. If asked: task height means the claw at or below 1.6 m, and the worst point is the middle of a long wall. The claw is 0.15 kg over its 0.45 kg budget; the 198 g aluminum tube is the first place to cut.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lessons from the bench: measure the hardware before trusting the software's view of it, and test a fit before printing the part. If asked: the driver stays disabled at boot so a reset cannot move a motor, which also means a reset drops a hanging claw (appendix, safe state). [Fill in: readings and date.]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and ask: which pass limit would you tighten? If the test has not run by Monday, show the rig as built and the dated plan, not empty cells. Logged: cable lengths, encoder counts, motor temperatures, the fit's error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to the targets, with the evidence for each. Two are not met: grip for jeans at narrow grabs and claw mass. Two are marginal and this week's tests decide them: lift capacity and the prototype fin's temperature. Only the claw mass is measured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Good: each was a trade I priced first. Poor: the mass problem was not the budget but that I never re-checked it as the claw changed four times; the scrap fin saved a day and cost the thermal margin; and the schedule leaves no slack after the first test. Scrappy: when a controller board died two days before the test, I moved the same circuit to an ESP32 dev board with nine jumpers instead of redesigning it. [If true, add: several stations built before one was proven.]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half the time I would not build the central board, bead homing or the finger claw at all; the week-1 calculations already killed them. Next steps in order: the pull test first, because both the lift margin and the planner's tension check depend on it. Leave this slide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safe state is PAUSE: torque on, holding. Anything that removes power drops the claw, which is why nobody stands under it and why a brake or a non-backdrivable stage is on the next-steps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L95 is where a fin carries 95 % of the heat an infinitely long one would. h = 7 W/m²·K still air, k = 160 W/m·K aluminum. Source: Incropera, ch.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prototype works today only because the motor also sheds heat into the vented shell. Thickness beats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Noise model: 0.3 px corner noise and a 520 px focal length (camera not yet calibrated). The four-tag figure is the best placement; realistic placements are a few times worse.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or a detected fault stops every station on the same point of the path, still holding; nothing restarts by itself. The emergency stop is the switched power strip, and it drops the claw. Known obstacles are keep-out cylinders checked against every cable before a move. Simulated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Generation 1 trusted its model; the final logic measures before it trusts and checks after it 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 0 errors; 9 nets match the specification. Charger: 8.4 V constant current, constant voltage; charged attended, at 1 A or less. The peak sits at the pack rating, so a stall longer than a moment is the thing to watch.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spreadsheets/d/1UGFnkL1v305WnDYj5aj5zBtgxnxmGP7_TVRN0afZTGs/edit" TargetMode="External"/><Relationship Id="rId1" Type="http://schemas.openxmlformats.org/officeDocument/2006/relationships/image" Target="../media/image-30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1031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RoomCleaner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four-cable ceiling robot designed to pick laundry off the floor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2120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Mechanical Engineering, Texas A&amp;M University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27, 2026</a:t>
            </a:r>
            <a:endParaRPr lang="en-US" sz="1400" dirty="0"/>
          </a:p>
        </p:txBody>
      </p:sp>
      <p:pic>
        <p:nvPicPr>
          <p:cNvPr id="6" name="Wall station, assembled" descr="Wall station, assembl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280160"/>
            <a:ext cx="3017520" cy="4023360"/>
          </a:xfrm>
          <a:prstGeom prst="rect">
            <a:avLst/>
          </a:prstGeom>
        </p:spPr>
      </p:pic>
      <p:pic>
        <p:nvPicPr>
          <p:cNvPr id="7" name="Printed claw body with its servo" descr="Printed claw body with its serv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1080" y="1280160"/>
            <a:ext cx="3017520" cy="4023360"/>
          </a:xfrm>
          <a:prstGeom prst="rect">
            <a:avLst/>
          </a:prstGeom>
        </p:spPr>
      </p:pic>
      <p:sp>
        <p:nvSpPr>
          <p:cNvPr id="8" name="label"/>
          <p:cNvSpPr txBox="1"/>
          <p:nvPr/>
        </p:nvSpPr>
        <p:spPr>
          <a:xfrm>
            <a:off x="5486400" y="6126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station (built)</a:t>
            </a:r>
            <a:endParaRPr lang="en-US" sz="1100" dirty="0"/>
          </a:p>
        </p:txBody>
      </p:sp>
      <p:sp>
        <p:nvSpPr>
          <p:cNvPr id="9" name="label"/>
          <p:cNvSpPr txBox="1"/>
          <p:nvPr/>
        </p:nvSpPr>
        <p:spPr>
          <a:xfrm>
            <a:off x="8641080" y="6126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body and servo (built)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Me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pic>
        <p:nvPicPr>
          <p:cNvPr id="4" name="Ironman 70.3, marathon" descr="Ironman 70.3, marath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5149" y="1188720"/>
            <a:ext cx="1017977" cy="288036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1655149" y="4123944"/>
            <a:ext cx="10179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Ironman 70.3, marathon</a:t>
            </a:r>
            <a:endParaRPr lang="en-US" sz="1100" dirty="0"/>
          </a:p>
        </p:txBody>
      </p:sp>
      <p:pic>
        <p:nvPicPr>
          <p:cNvPr id="6" name="EcoFil filament recycler" descr="EcoFil filament recycl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726" y="1188720"/>
            <a:ext cx="2724665" cy="288036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2901726" y="4123944"/>
            <a:ext cx="27246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EcoFil filament recycler</a:t>
            </a:r>
            <a:endParaRPr lang="en-US" sz="1100" dirty="0"/>
          </a:p>
        </p:txBody>
      </p:sp>
      <p:pic>
        <p:nvPicPr>
          <p:cNvPr id="8" name="Gladiator Dash obstacle build" descr="Gladiator Dash obstacle bui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4991" y="1188720"/>
            <a:ext cx="4681555" cy="2880360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5854991" y="4123944"/>
            <a:ext cx="4681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Gladiator Dash obstacle build</a:t>
            </a:r>
            <a:endParaRPr lang="en-US" sz="1100" dirty="0"/>
          </a:p>
        </p:txBody>
      </p:sp>
      <p:sp>
        <p:nvSpPr>
          <p:cNvPr id="10" name="about bullets"/>
          <p:cNvSpPr txBox="1"/>
          <p:nvPr/>
        </p:nvSpPr>
        <p:spPr>
          <a:xfrm>
            <a:off x="1097280" y="4572000"/>
            <a:ext cx="9997135" cy="16916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Mechanical Engineering, Texas A&amp;M University, class of 2027</a:t>
            </a:r>
            <a:endParaRPr lang="en-US" sz="17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EcoFil, a filament recycler with a shredder, dryer and extruder</a:t>
            </a:r>
            <a:endParaRPr lang="en-US" sz="17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logistics chair, Gladiator Dash: obstacle assembly, repairs and transport ($185K raised)</a:t>
            </a:r>
            <a:endParaRPr lang="en-US" sz="17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Ironman 70.3 in 6:53 and a marathon in 2025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Goal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sp>
        <p:nvSpPr>
          <p:cNvPr id="4" name="wall margin left"/>
          <p:cNvSpPr/>
          <p:nvPr/>
        </p:nvSpPr>
        <p:spPr>
          <a:xfrm>
            <a:off x="1371600" y="1638414"/>
            <a:ext cx="294792" cy="381755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" name="wall margin right"/>
          <p:cNvSpPr/>
          <p:nvPr/>
        </p:nvSpPr>
        <p:spPr>
          <a:xfrm>
            <a:off x="6014568" y="1638414"/>
            <a:ext cx="294792" cy="381755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ceiling margin"/>
          <p:cNvSpPr/>
          <p:nvPr/>
        </p:nvSpPr>
        <p:spPr>
          <a:xfrm>
            <a:off x="1666392" y="1638414"/>
            <a:ext cx="4348177" cy="589583"/>
          </a:xfrm>
          <a:prstGeom prst="rect">
            <a:avLst/>
          </a:prstGeom>
          <a:solidFill>
            <a:srgbClr val="F6E3E1"/>
          </a:solidFill>
          <a:ln w="12700">
            <a:solidFill>
              <a:srgbClr val="F6E3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5455965"/>
            <a:ext cx="49377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371600" y="1417320"/>
            <a:ext cx="0" cy="4038645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6309360" y="1417320"/>
            <a:ext cx="0" cy="4038645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417320"/>
            <a:ext cx="49377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1638414"/>
            <a:ext cx="2137239" cy="2417291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3508839" y="1638414"/>
            <a:ext cx="2800521" cy="2417291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3" name="anchor"/>
          <p:cNvSpPr/>
          <p:nvPr/>
        </p:nvSpPr>
        <p:spPr>
          <a:xfrm>
            <a:off x="1371600" y="1574406"/>
            <a:ext cx="128016" cy="128016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4" name="anchor"/>
          <p:cNvSpPr/>
          <p:nvPr/>
        </p:nvSpPr>
        <p:spPr>
          <a:xfrm>
            <a:off x="6181344" y="1574406"/>
            <a:ext cx="128016" cy="128016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5" name="claw"/>
          <p:cNvSpPr/>
          <p:nvPr/>
        </p:nvSpPr>
        <p:spPr>
          <a:xfrm>
            <a:off x="3417399" y="4009985"/>
            <a:ext cx="182880" cy="274320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16" name="hamper"/>
          <p:cNvSpPr/>
          <p:nvPr/>
        </p:nvSpPr>
        <p:spPr>
          <a:xfrm>
            <a:off x="5203891" y="4645288"/>
            <a:ext cx="663281" cy="810677"/>
          </a:xfrm>
          <a:prstGeom prst="rect">
            <a:avLst/>
          </a:prstGeom>
          <a:solidFill>
            <a:srgbClr val="D9DEE5"/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17" name="garment"/>
          <p:cNvSpPr/>
          <p:nvPr/>
        </p:nvSpPr>
        <p:spPr>
          <a:xfrm>
            <a:off x="2255975" y="5382268"/>
            <a:ext cx="736979" cy="7369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label"/>
          <p:cNvSpPr txBox="1"/>
          <p:nvPr/>
        </p:nvSpPr>
        <p:spPr>
          <a:xfrm>
            <a:off x="1371600" y="5529117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3.35 m (11 ft) wall; room 3.35 × 2.74 m</a:t>
            </a:r>
            <a:endParaRPr lang="en-US" sz="1200" dirty="0"/>
          </a:p>
        </p:txBody>
      </p:sp>
      <p:sp>
        <p:nvSpPr>
          <p:cNvPr id="19" name="label"/>
          <p:cNvSpPr txBox="1"/>
          <p:nvPr/>
        </p:nvSpPr>
        <p:spPr>
          <a:xfrm>
            <a:off x="548640" y="3070883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2.74 m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 ft)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ceiling</a:t>
            </a:r>
            <a:endParaRPr lang="en-US" sz="1200" dirty="0"/>
          </a:p>
        </p:txBody>
      </p:sp>
      <p:sp>
        <p:nvSpPr>
          <p:cNvPr id="20" name="label"/>
          <p:cNvSpPr txBox="1"/>
          <p:nvPr/>
        </p:nvSpPr>
        <p:spPr>
          <a:xfrm>
            <a:off x="1554480" y="167499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Anchor, 0.15 m below the ceiling</a:t>
            </a:r>
            <a:endParaRPr lang="en-US" sz="1100" dirty="0"/>
          </a:p>
        </p:txBody>
      </p:sp>
      <p:sp>
        <p:nvSpPr>
          <p:cNvPr id="21" name="label"/>
          <p:cNvSpPr txBox="1"/>
          <p:nvPr/>
        </p:nvSpPr>
        <p:spPr>
          <a:xfrm>
            <a:off x="1757832" y="1953677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 m ceiling margin</a:t>
            </a:r>
            <a:endParaRPr lang="en-US" sz="1100" dirty="0"/>
          </a:p>
        </p:txBody>
      </p:sp>
      <p:sp>
        <p:nvSpPr>
          <p:cNvPr id="22" name="label"/>
          <p:cNvSpPr txBox="1"/>
          <p:nvPr/>
        </p:nvSpPr>
        <p:spPr>
          <a:xfrm>
            <a:off x="4551528" y="30976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 m wall margin</a:t>
            </a:r>
            <a:endParaRPr lang="en-US" sz="1100" dirty="0"/>
          </a:p>
        </p:txBody>
      </p:sp>
      <p:sp>
        <p:nvSpPr>
          <p:cNvPr id="23" name="label"/>
          <p:cNvSpPr txBox="1"/>
          <p:nvPr/>
        </p:nvSpPr>
        <p:spPr>
          <a:xfrm>
            <a:off x="3655143" y="4037417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F6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</a:t>
            </a:r>
            <a:endParaRPr lang="en-US" sz="1100" dirty="0"/>
          </a:p>
        </p:txBody>
      </p:sp>
      <p:sp>
        <p:nvSpPr>
          <p:cNvPr id="24" name="label"/>
          <p:cNvSpPr txBox="1"/>
          <p:nvPr/>
        </p:nvSpPr>
        <p:spPr>
          <a:xfrm>
            <a:off x="5203891" y="4389256"/>
            <a:ext cx="9376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Hamper</a:t>
            </a:r>
            <a:endParaRPr lang="en-US" sz="1100" dirty="0"/>
          </a:p>
        </p:txBody>
      </p:sp>
      <p:sp>
        <p:nvSpPr>
          <p:cNvPr id="25" name="label"/>
          <p:cNvSpPr txBox="1"/>
          <p:nvPr/>
        </p:nvSpPr>
        <p:spPr>
          <a:xfrm>
            <a:off x="2255975" y="51079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Garment</a:t>
            </a:r>
            <a:endParaRPr lang="en-US" sz="1100" dirty="0"/>
          </a:p>
        </p:txBody>
      </p:sp>
      <p:sp>
        <p:nvSpPr>
          <p:cNvPr id="26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elevation to scale; seen from the side, the four cables appear as two</a:t>
            </a:r>
            <a:endParaRPr lang="en-US" sz="1100" dirty="0"/>
          </a:p>
        </p:txBody>
      </p:sp>
      <p:sp>
        <p:nvSpPr>
          <p:cNvPr id="2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up laundry in a 3.35 × 2.74 m (11 × 9 ft) room under a 2.74 m (9 ft) ceiling, and drop it in a hamper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load 0.9 kg (jeans); first test 0.45 kg (1 lb)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Success: one garment from floor to hamper with no human touch; I approve each move on the phone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state: PAUSE holds position, and nobody stands under the robot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and Scope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sp>
        <p:nvSpPr>
          <p:cNvPr id="4" name="gantt header"/>
          <p:cNvSpPr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" name="label"/>
          <p:cNvSpPr txBox="1"/>
          <p:nvPr/>
        </p:nvSpPr>
        <p:spPr>
          <a:xfrm>
            <a:off x="640080" y="1188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300" dirty="0"/>
          </a:p>
        </p:txBody>
      </p:sp>
      <p:sp>
        <p:nvSpPr>
          <p:cNvPr id="6" name="label"/>
          <p:cNvSpPr txBox="1"/>
          <p:nvPr/>
        </p:nvSpPr>
        <p:spPr>
          <a:xfrm>
            <a:off x="3017520" y="1188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75104"/>
            <a:ext cx="11094415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816352"/>
            <a:ext cx="11094415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label"/>
          <p:cNvSpPr txBox="1"/>
          <p:nvPr/>
        </p:nvSpPr>
        <p:spPr>
          <a:xfrm>
            <a:off x="4526280" y="1188720"/>
            <a:ext cx="1793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</a:t>
            </a:r>
            <a:endParaRPr lang="en-US" sz="1300" dirty="0"/>
          </a:p>
        </p:txBody>
      </p:sp>
      <p:sp>
        <p:nvSpPr>
          <p:cNvPr id="10" name="label"/>
          <p:cNvSpPr txBox="1"/>
          <p:nvPr/>
        </p:nvSpPr>
        <p:spPr>
          <a:xfrm>
            <a:off x="6319939" y="1188720"/>
            <a:ext cx="1793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19939" y="1554480"/>
            <a:ext cx="0" cy="21031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2" name="label"/>
          <p:cNvSpPr txBox="1"/>
          <p:nvPr/>
        </p:nvSpPr>
        <p:spPr>
          <a:xfrm>
            <a:off x="8113598" y="1188720"/>
            <a:ext cx="17357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13598" y="1554480"/>
            <a:ext cx="0" cy="21031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label"/>
          <p:cNvSpPr txBox="1"/>
          <p:nvPr/>
        </p:nvSpPr>
        <p:spPr>
          <a:xfrm>
            <a:off x="9849396" y="1188720"/>
            <a:ext cx="1793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849396" y="1554480"/>
            <a:ext cx="0" cy="21031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6" name="label"/>
          <p:cNvSpPr txBox="1"/>
          <p:nvPr/>
        </p:nvSpPr>
        <p:spPr>
          <a:xfrm>
            <a:off x="640080" y="15544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Concept</a:t>
            </a:r>
            <a:endParaRPr lang="en-US" sz="1400" dirty="0"/>
          </a:p>
        </p:txBody>
      </p:sp>
      <p:sp>
        <p:nvSpPr>
          <p:cNvPr id="17" name="label"/>
          <p:cNvSpPr txBox="1"/>
          <p:nvPr/>
        </p:nvSpPr>
        <p:spPr>
          <a:xfrm>
            <a:off x="3017520" y="15544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16 – Aug 5</a:t>
            </a:r>
            <a:endParaRPr lang="en-US" sz="1400" dirty="0"/>
          </a:p>
        </p:txBody>
      </p:sp>
      <p:sp>
        <p:nvSpPr>
          <p:cNvPr id="18" name="1. Concept bar"/>
          <p:cNvSpPr/>
          <p:nvPr/>
        </p:nvSpPr>
        <p:spPr>
          <a:xfrm>
            <a:off x="5394179" y="1645920"/>
            <a:ext cx="121505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19" name="label"/>
          <p:cNvSpPr txBox="1"/>
          <p:nvPr/>
        </p:nvSpPr>
        <p:spPr>
          <a:xfrm>
            <a:off x="640080" y="197510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Generation 1</a:t>
            </a:r>
            <a:endParaRPr lang="en-US" sz="1400" dirty="0"/>
          </a:p>
        </p:txBody>
      </p:sp>
      <p:sp>
        <p:nvSpPr>
          <p:cNvPr id="20" name="label"/>
          <p:cNvSpPr txBox="1"/>
          <p:nvPr/>
        </p:nvSpPr>
        <p:spPr>
          <a:xfrm>
            <a:off x="3017520" y="1975104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6 – Sep 2</a:t>
            </a:r>
            <a:endParaRPr lang="en-US" sz="1400" dirty="0"/>
          </a:p>
        </p:txBody>
      </p:sp>
      <p:sp>
        <p:nvSpPr>
          <p:cNvPr id="21" name="2. Generation 1 bar"/>
          <p:cNvSpPr/>
          <p:nvPr/>
        </p:nvSpPr>
        <p:spPr>
          <a:xfrm>
            <a:off x="6609239" y="2066544"/>
            <a:ext cx="162007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22" name="label"/>
          <p:cNvSpPr txBox="1"/>
          <p:nvPr/>
        </p:nvSpPr>
        <p:spPr>
          <a:xfrm>
            <a:off x="640080" y="23957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Redesign</a:t>
            </a:r>
            <a:endParaRPr lang="en-US" sz="1400" dirty="0"/>
          </a:p>
        </p:txBody>
      </p:sp>
      <p:sp>
        <p:nvSpPr>
          <p:cNvPr id="23" name="label"/>
          <p:cNvSpPr txBox="1"/>
          <p:nvPr/>
        </p:nvSpPr>
        <p:spPr>
          <a:xfrm>
            <a:off x="3017520" y="2395728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3 – Oct 6</a:t>
            </a:r>
            <a:endParaRPr lang="en-US" sz="1400" dirty="0"/>
          </a:p>
        </p:txBody>
      </p:sp>
      <p:sp>
        <p:nvSpPr>
          <p:cNvPr id="24" name="3. Redesign bar"/>
          <p:cNvSpPr/>
          <p:nvPr/>
        </p:nvSpPr>
        <p:spPr>
          <a:xfrm>
            <a:off x="8229318" y="2487168"/>
            <a:ext cx="196723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25" name="label"/>
          <p:cNvSpPr txBox="1"/>
          <p:nvPr/>
        </p:nvSpPr>
        <p:spPr>
          <a:xfrm>
            <a:off x="640080" y="281635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Final design</a:t>
            </a:r>
            <a:endParaRPr lang="en-US" sz="1400" dirty="0"/>
          </a:p>
        </p:txBody>
      </p:sp>
      <p:sp>
        <p:nvSpPr>
          <p:cNvPr id="26" name="label"/>
          <p:cNvSpPr txBox="1"/>
          <p:nvPr/>
        </p:nvSpPr>
        <p:spPr>
          <a:xfrm>
            <a:off x="3017520" y="281635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7 – Oct 21</a:t>
            </a:r>
            <a:endParaRPr lang="en-US" sz="1400" dirty="0"/>
          </a:p>
        </p:txBody>
      </p:sp>
      <p:sp>
        <p:nvSpPr>
          <p:cNvPr id="27" name="4. Final design bar"/>
          <p:cNvSpPr/>
          <p:nvPr/>
        </p:nvSpPr>
        <p:spPr>
          <a:xfrm>
            <a:off x="10196556" y="2907792"/>
            <a:ext cx="86789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28" name="label"/>
          <p:cNvSpPr txBox="1"/>
          <p:nvPr/>
        </p:nvSpPr>
        <p:spPr>
          <a:xfrm>
            <a:off x="640080" y="32369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Build and test</a:t>
            </a:r>
            <a:endParaRPr lang="en-US" sz="1400" dirty="0"/>
          </a:p>
        </p:txBody>
      </p:sp>
      <p:sp>
        <p:nvSpPr>
          <p:cNvPr id="29" name="label"/>
          <p:cNvSpPr txBox="1"/>
          <p:nvPr/>
        </p:nvSpPr>
        <p:spPr>
          <a:xfrm>
            <a:off x="3017520" y="3236976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22 – Oct 27</a:t>
            </a:r>
            <a:endParaRPr lang="en-US" sz="1400" dirty="0"/>
          </a:p>
        </p:txBody>
      </p:sp>
      <p:sp>
        <p:nvSpPr>
          <p:cNvPr id="30" name="5. Build and test bar"/>
          <p:cNvSpPr/>
          <p:nvPr/>
        </p:nvSpPr>
        <p:spPr>
          <a:xfrm>
            <a:off x="11064456" y="3328416"/>
            <a:ext cx="347160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3657600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2" name="milestone 1"/>
          <p:cNvSpPr/>
          <p:nvPr/>
        </p:nvSpPr>
        <p:spPr>
          <a:xfrm>
            <a:off x="9645232" y="2459736"/>
            <a:ext cx="292608" cy="292608"/>
          </a:xfrm>
          <a:prstGeom prst="diamond">
            <a:avLst/>
          </a:prstGeom>
          <a:solidFill>
            <a:srgbClr val="B2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label"/>
          <p:cNvSpPr txBox="1"/>
          <p:nvPr/>
        </p:nvSpPr>
        <p:spPr>
          <a:xfrm>
            <a:off x="9645232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milestone 2"/>
          <p:cNvSpPr/>
          <p:nvPr/>
        </p:nvSpPr>
        <p:spPr>
          <a:xfrm>
            <a:off x="10802432" y="2880360"/>
            <a:ext cx="292608" cy="292608"/>
          </a:xfrm>
          <a:prstGeom prst="diamond">
            <a:avLst/>
          </a:prstGeom>
          <a:solidFill>
            <a:srgbClr val="B2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label"/>
          <p:cNvSpPr txBox="1"/>
          <p:nvPr/>
        </p:nvSpPr>
        <p:spPr>
          <a:xfrm>
            <a:off x="10802432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6" name="milestone 3"/>
          <p:cNvSpPr/>
          <p:nvPr/>
        </p:nvSpPr>
        <p:spPr>
          <a:xfrm>
            <a:off x="10918152" y="3300984"/>
            <a:ext cx="292608" cy="292608"/>
          </a:xfrm>
          <a:prstGeom prst="diamond">
            <a:avLst/>
          </a:prstGeom>
          <a:solidFill>
            <a:srgbClr val="B2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label"/>
          <p:cNvSpPr txBox="1"/>
          <p:nvPr/>
        </p:nvSpPr>
        <p:spPr>
          <a:xfrm>
            <a:off x="10918152" y="3300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8" name="milestone key"/>
          <p:cNvSpPr txBox="1"/>
          <p:nvPr/>
        </p:nvSpPr>
        <p:spPr>
          <a:xfrm>
            <a:off x="548640" y="37307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Sep 30: first clamp's jaws cannot close on thin cloth     2  Oct 20: v6 clamp is 4.6 times its mass budget in CAD     3  Oct 22: drivers at 1.5 A; claw weighed</a:t>
            </a:r>
            <a:endParaRPr lang="en-US" sz="1200" dirty="0"/>
          </a:p>
        </p:txBody>
      </p:sp>
      <p:sp>
        <p:nvSpPr>
          <p:cNvPr id="39" name="scope"/>
          <p:cNvSpPr txBox="1"/>
          <p:nvPr/>
        </p:nvSpPr>
        <p:spPr>
          <a:xfrm>
            <a:off x="548640" y="4206240"/>
            <a:ext cx="11094415" cy="20116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Mine: requirements, design decisions, the SolidWorks station and claw, printing, machining, wiring and bring-up</a:t>
            </a:r>
            <a:endParaRPr lang="en-US" sz="17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Claude Code, under my direction: the control software, calculation scripts and CAD checks</a:t>
            </a:r>
            <a:endParaRPr lang="en-US" sz="17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Purchased: steppers, drivers, controller boards, servo, camera, battery and encoder boards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Cable Robot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1 of 5: Concept</a:t>
            </a:r>
            <a:endParaRPr lang="en-US" sz="1000" dirty="0"/>
          </a:p>
        </p:txBody>
      </p:sp>
      <p:pic>
        <p:nvPicPr>
          <p:cNvPr id="4" name="Cable robot geometry" descr="Cable robot geomet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1188720"/>
            <a:ext cx="4617720" cy="461772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Cables from the ceiling anchors a</a:t>
            </a:r>
            <a:pPr indent="0" marL="0">
              <a:buNone/>
            </a:pPr>
            <a:r>
              <a:rPr lang="en-US" sz="1100" baseline="-40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</a:t>
            </a:r>
            <a:pPr indent="0" marL="0">
              <a:buNone/>
            </a:pPr>
            <a:r>
              <a:rPr lang="en-US" sz="1100" baseline="-40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claw at p</a:t>
            </a:r>
            <a:endParaRPr lang="en-US" sz="1100" dirty="0"/>
          </a:p>
        </p:txBody>
      </p:sp>
      <p:graphicFrame>
        <p:nvGraphicFramePr>
          <p:cNvPr id="6" name="concept 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280160"/>
          <a:ext cx="4830775" cy="914400"/>
        </p:xfrm>
        <a:graphic>
          <a:graphicData uri="http://schemas.openxmlformats.org/drawingml/2006/table">
            <a:tbl>
              <a:tblPr/>
              <a:tblGrid>
                <a:gridCol w="1352617"/>
                <a:gridCol w="1159386"/>
                <a:gridCol w="1159386"/>
                <a:gridCol w="1159386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Gantry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Cable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 floor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Furniture blocks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 left clear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spans the room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Moving mass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 beam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 kg claw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concept bullets"/>
          <p:cNvSpPr txBox="1"/>
          <p:nvPr/>
        </p:nvSpPr>
        <p:spPr>
          <a:xfrm>
            <a:off x="6812280" y="3520440"/>
            <a:ext cx="4830775" cy="256032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Chosen: four ceiling winches and one claw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cost: cables only pull, so cable tension sets the working space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Trade-offs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1 of 5: Concept</a:t>
            </a:r>
            <a:endParaRPr lang="en-US" sz="10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6436"/>
                <a:gridCol w="3661157"/>
                <a:gridCol w="432682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current up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 rises with current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Heat rises with current squared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Stronger claw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Stronger gears, firmer grip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mass, less payload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 working area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floor covered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Longer wires, more voltage drop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Closer to the ceiling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working volume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Cable tension rises steeply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Smaller spool radius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pull per amp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Tighter line bend, less room for the set screw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 safety margins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skipped steps, no wall contact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Less usable force and floor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upling"/>
          <p:cNvSpPr txBox="1"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chain that binds: a heavier claw needs more pull, more pull needs more current, and heat rises with the square of the current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Tension Sets the Ceiling Margin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1 of 5: Concept</a:t>
            </a:r>
            <a:endParaRPr lang="en-US" sz="1000" dirty="0"/>
          </a:p>
        </p:txBody>
      </p:sp>
      <p:pic>
        <p:nvPicPr>
          <p:cNvPr id="4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92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7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Cable tension)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Weighed claw plus 1 lb, centred 0.4 m below the anchors: 14.3 N, 17.2 N at 2 m/s²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at the 16.8 N winch limit; with jeans the claw must stay at least 0.6 m down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planner checks every cable at every path point against the measured pull limit</a:t>
            </a:r>
            <a:endParaRPr lang="en-US" sz="18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4754880"/>
            <a:ext cx="4282135" cy="1417320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4828032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Tension per cable, 1 lb test at 0.4 m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084064"/>
            <a:ext cx="3989527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m (g + a) / (4 sin φ)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1.054 × 11.81 / (4 × 0.181)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17.2 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Winch limit: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16.8 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1: Bench Build and Findings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2 of 5: Generation 1</a:t>
            </a:r>
            <a:endParaRPr lang="en-US" sz="1000" dirty="0"/>
          </a:p>
        </p:txBody>
      </p:sp>
      <p:pic>
        <p:nvPicPr>
          <p:cNvPr id="4" name="Generation 1 hardware" descr="Generation 1 hardw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3948"/>
            <a:ext cx="2060448" cy="2747264"/>
          </a:xfrm>
          <a:prstGeom prst="rect">
            <a:avLst/>
          </a:prstGeom>
        </p:spPr>
      </p:pic>
      <p:pic>
        <p:nvPicPr>
          <p:cNvPr id="5" name="Generation 1 hardware" descr="Generation 1 hardw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816" y="2123948"/>
            <a:ext cx="2060448" cy="2747264"/>
          </a:xfrm>
          <a:prstGeom prst="rect">
            <a:avLst/>
          </a:prstGeom>
        </p:spPr>
      </p:pic>
      <p:pic>
        <p:nvPicPr>
          <p:cNvPr id="6" name="Generation 1 hardware" descr="Generation 1 hardw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992" y="2123948"/>
            <a:ext cx="2060448" cy="2747264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 lift test, one-piece corner plate, homing switch</a:t>
            </a:r>
            <a:endParaRPr lang="en-US" sz="1100" dirty="0"/>
          </a:p>
        </p:txBody>
      </p:sp>
      <p:sp>
        <p:nvSpPr>
          <p:cNvPr id="8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bench station lifted a test weight; the cable math held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 would leave only 5–29 % of the room reachable, caught on paper before it was built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central board would need 10 wires to every corner once each winch had sensors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 claw: designed in CAD (419 g of a 450 g budget), never built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Controller per Winch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3 of 5: Redesign</a:t>
            </a:r>
            <a:endParaRPr lang="en-US" sz="1000" dirty="0"/>
          </a:p>
        </p:txBody>
      </p:sp>
      <p:pic>
        <p:nvPicPr>
          <p:cNvPr id="4" name="Central board and station board" descr="Central board and station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00556"/>
            <a:ext cx="3145536" cy="4194048"/>
          </a:xfrm>
          <a:prstGeom prst="rect">
            <a:avLst/>
          </a:prstGeom>
        </p:spPr>
      </p:pic>
      <p:pic>
        <p:nvPicPr>
          <p:cNvPr id="5" name="Central board and station board" descr="Central board and station 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904" y="1400556"/>
            <a:ext cx="3145536" cy="4194048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one central driver board. After: a controller in each station.</a:t>
            </a:r>
            <a:endParaRPr lang="en-US" sz="1100" dirty="0"/>
          </a:p>
        </p:txBody>
      </p:sp>
      <p:sp>
        <p:nvSpPr>
          <p:cNvPr id="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1: one central board; with sensors it would need 250 m (820 ft) of wire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a controller in each station, fed by one 12 V pair: 50 m (164 ft)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can be built and tested on its own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timing moves into software; 50 ms of skew is 2.5 mm of cable error, about 7.5 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Calibration Replaces Bead Homing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3 of 5: Redesign</a:t>
            </a:r>
            <a:endParaRPr lang="en-US" sz="1000" dirty="0"/>
          </a:p>
        </p:txBody>
      </p:sp>
      <p:pic>
        <p:nvPicPr>
          <p:cNvPr id="4" name="Chart from the calculation sheet: Bead h" descr="Chart from the calculation sheet: Bead ho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70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88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Bead homing)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 fixes each cable's shortest length, so most of the room is out of reach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the claw camera reads a printed floor board, and a fit finds the anchors and cable lengths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Simulated: cable lengths known to about 12–16 mm, well inside the 0.2 m and 0.4 m margins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room opens only when the fit's error bars allow it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Claw: Four Versions to a Parallel Grip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3 of 5: Redesign</a:t>
            </a:r>
            <a:endParaRPr lang="en-US" sz="1000" dirty="0"/>
          </a:p>
        </p:txBody>
      </p:sp>
      <p:pic>
        <p:nvPicPr>
          <p:cNvPr id="4" name="Claw versions" descr="Claw vers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1878" y="1188720"/>
            <a:ext cx="1559061" cy="2253996"/>
          </a:xfrm>
          <a:prstGeom prst="rect">
            <a:avLst/>
          </a:prstGeom>
        </p:spPr>
      </p:pic>
      <p:pic>
        <p:nvPicPr>
          <p:cNvPr id="5" name="Claw versions" descr="Claw vers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8587" y="1188720"/>
            <a:ext cx="696171" cy="2253996"/>
          </a:xfrm>
          <a:prstGeom prst="rect">
            <a:avLst/>
          </a:prstGeom>
        </p:spPr>
      </p:pic>
      <p:pic>
        <p:nvPicPr>
          <p:cNvPr id="6" name="Claw versions" descr="Claw vers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144" y="3552444"/>
            <a:ext cx="1310528" cy="2253996"/>
          </a:xfrm>
          <a:prstGeom prst="rect">
            <a:avLst/>
          </a:prstGeom>
        </p:spPr>
      </p:pic>
      <p:pic>
        <p:nvPicPr>
          <p:cNvPr id="7" name="Claw versions" descr="Claw versio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424" y="3552444"/>
            <a:ext cx="1690497" cy="2253996"/>
          </a:xfrm>
          <a:prstGeom prst="rect">
            <a:avLst/>
          </a:prstGeom>
        </p:spPr>
      </p:pic>
      <p:sp>
        <p:nvSpPr>
          <p:cNvPr id="8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 claw (CAD only), v6 clamp (CAD), final four-bar (CAD), printed gear train</a:t>
            </a:r>
            <a:endParaRPr lang="en-US" sz="1100" dirty="0"/>
          </a:p>
        </p:txBody>
      </p:sp>
      <p:sp>
        <p:nvSpPr>
          <p:cNvPr id="9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Fingers (CAD only), then a clamp whose jaws could not close on thin cloth (Sep 30)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 clamp: 4.6 times its mass budget in CAD (Oct 20)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Final: geared four-bar, parallel jaws, 53 mm opening; gear safety factor 2.05 at servo stall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 for jeans is short at narrow grabs</a:t>
            </a:r>
            <a:endParaRPr lang="en-US" sz="1700" dirty="0"/>
          </a:p>
        </p:txBody>
      </p:sp>
      <p:sp>
        <p:nvSpPr>
          <p:cNvPr id="10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1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 force per jaw, jeans</a:t>
            </a:r>
            <a:endParaRPr lang="en-US" sz="1100" dirty="0"/>
          </a:p>
        </p:txBody>
      </p:sp>
      <p:sp>
        <p:nvSpPr>
          <p:cNvPr id="12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≥ m (g + a) / (2μ) = 0.9 × 11.81 / 0.6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17.7 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Jaws: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13.3 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narrowest to 25 N at a 70 mm grab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Wall Station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Final wall station with a transparent sh" descr="Final wall station with a transparent she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684" y="1188720"/>
            <a:ext cx="4632713" cy="461772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wall station (SolidWorks), shell shown transparent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Slide-in wall mount: the station lifts off while the anchor stays in the stud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path: cable, spool, motor, 5 mm PETG tab, shell, mount, stud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Mount sized for a 34 N cable snag at a safety factor of 3; SolidWorks static study to run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Aluminum fin exits through a slot in the shell top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Winch Pull at 1.5 A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Chart from the calculation sheet: Winch " descr="Chart from the calculation sheet: Winch pu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4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2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Winch pull)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17 (National Electrical Manufacturers Association) stepper at its rated 1.5 A, up from 1.06 A: 41 % more pull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pull: 34 N on an empty spool, 25 N when full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Assumes running torque of 0.7 × holding torque; the pull test measures it</a:t>
            </a:r>
            <a:endParaRPr lang="en-US" sz="17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Winch design force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τ / r = 0.252 N·m / 0.010 m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25.2 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25.2 N / 1.5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16.8 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Cooling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Chart from the calculation sheet: Motor " descr="Chart from the calculation sheet: Motor temper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39869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056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Motor temperature)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 A doubles motor heat to 4.05 W; the PETG mount must stay below 60 °C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Vented shell and aluminum fin: 56–59 °C with the 0.019 in prototype, 45–49 °C with the 1/8 in design fin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Assumed: 1.8 Ω coil (to measure) and a 23 °C room; warmer air near the ceiling uses up the prototype's margin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week: SolidWorks study and a 90-minute hold test; fallback 1.35 A</a:t>
            </a:r>
            <a:endParaRPr lang="en-US" sz="17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heat, P = I² R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1.06 A: (1.06 A)² × 1.8 Ω = 2.0 W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1.5 A: (1.5 A)² × 1.8 Ω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4.05 W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Budget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Chart from the calculation sheet: Lift b" descr="Chart from the calculation sheet: Lift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4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2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Lift budget)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with battery weighed 0.60 kg (0.86 kg estimated)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capacity at task height 1.56 kg; jeans need 1.50 kg, a 4 % margin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margin is inside the uncertainty: at 0.5 × holding torque, capacity is 1.1 kg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pull test decides: keep 1.5 A, or add a 2:1 gear stage at each winch</a:t>
            </a:r>
            <a:endParaRPr lang="en-US" sz="17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capacity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(k g) = 16.8 / (1.101 × 9.81)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1.56 kg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against 0.60 + 0.90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1.50 kg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Printing, Machining, Bring-Up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5 of 5: Build and test</a:t>
            </a:r>
            <a:endParaRPr lang="en-US" sz="1000" dirty="0"/>
          </a:p>
        </p:txBody>
      </p:sp>
      <p:pic>
        <p:nvPicPr>
          <p:cNvPr id="4" name="Build photos" descr="Build pho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8744" y="1188720"/>
            <a:ext cx="3005328" cy="2253996"/>
          </a:xfrm>
          <a:prstGeom prst="rect">
            <a:avLst/>
          </a:prstGeom>
        </p:spPr>
      </p:pic>
      <p:pic>
        <p:nvPicPr>
          <p:cNvPr id="5" name="Build photos" descr="Build pho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424" y="1188720"/>
            <a:ext cx="1690497" cy="2253996"/>
          </a:xfrm>
          <a:prstGeom prst="rect">
            <a:avLst/>
          </a:prstGeom>
        </p:spPr>
      </p:pic>
      <p:pic>
        <p:nvPicPr>
          <p:cNvPr id="6" name="Build photos" descr="Build phot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160" y="3552444"/>
            <a:ext cx="1690497" cy="2253996"/>
          </a:xfrm>
          <a:prstGeom prst="rect">
            <a:avLst/>
          </a:prstGeom>
        </p:spPr>
      </p:pic>
      <p:pic>
        <p:nvPicPr>
          <p:cNvPr id="7" name="Build photos" descr="Build phot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424" y="3552444"/>
            <a:ext cx="1690497" cy="2253996"/>
          </a:xfrm>
          <a:prstGeom prst="rect">
            <a:avLst/>
          </a:prstGeom>
        </p:spPr>
      </p:pic>
      <p:sp>
        <p:nvSpPr>
          <p:cNvPr id="8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blanks and drawing, finished fin, soldered station board, mill setup</a:t>
            </a:r>
            <a:endParaRPr lang="en-US" sz="1100" dirty="0"/>
          </a:p>
        </p:txBody>
      </p:sp>
      <p:sp>
        <p:nvSpPr>
          <p:cNvPr id="9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spool bore printed too tight (Ø5.2 on a 5 mm shaft); v3 opened it to Ø5.45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drilled in one mill setup from a 1:1 drawing; the 7/8 in pilot fits the 22 mm motor boss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motor would not turn: logic rail at 1.14 V, traced to a bad 3.3 V connection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a meter on every rail before code, and fit coupons before new fits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System Test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5 of 5: Build and test</a:t>
            </a:r>
            <a:endParaRPr lang="en-US" sz="1000" dirty="0"/>
          </a:p>
        </p:txBody>
      </p:sp>
      <p:pic>
        <p:nvPicPr>
          <p:cNvPr id="4" name="Stations being built for the test" descr="Stations being built for the te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1790" y="1188720"/>
            <a:ext cx="1714500" cy="228600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3502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being built for the test</a:t>
            </a:r>
            <a:endParaRPr lang="en-US" sz="1100" dirty="0"/>
          </a:p>
        </p:txBody>
      </p:sp>
      <p:graphicFrame>
        <p:nvGraphicFramePr>
          <p:cNvPr id="18" name="pass limi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6400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648456"/>
                <a:gridCol w="115214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limit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Self-check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stations answer; slack taken 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Calibration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Held-out poses: cable residual ≤ 20 mm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move, 1 lb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 mm at 50 mm/s; cable mismatch ≤ 2 mm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Pickup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garment into the hamper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stations hold the claw under gravity over the triangle they span, about half the floor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Self-check, calibration, short move, then pickup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lb first, then one garment; pass limits set before the run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Against Targets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86051"/>
                <a:gridCol w="2218883"/>
                <a:gridCol w="3328325"/>
                <a:gridCol w="1442274"/>
                <a:gridCol w="2218883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Lift capacity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 kg with jeans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 kg; 1.1 kg at 0.5 × holding torque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Marginal; pull test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Grip for jeans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 N per jaw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13.3–25 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at narrow grabs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mass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 kg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 kg with battery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met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temperature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Below 60 °C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56–59 °C prototype fin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Marginal; hold test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Working area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Floor, 0.2 m wall margin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but 0.2 m at the walls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 in design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Wiring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cable per station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12 V pair; 0.51 V drop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 mm cable mismatch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ms skew budget gives 2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measured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be tested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mm/s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run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be tested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Hobby budget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totaled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Receipts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and Poor Decisions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graphicFrame>
        <p:nvGraphicFramePr>
          <p:cNvPr id="20" name="good decis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4215878"/>
                <a:gridCol w="6878537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decision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controller per winch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Five times less wire; each station tested alone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calibration instead of bead homing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 room reachable; caught on paper before building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Teeth checked at servo stall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clamp stalls the servo on every grip: safety factor 2.05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9" name="poor decis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11094415" cy="914400"/>
        </p:xfrm>
        <a:graphic>
          <a:graphicData uri="http://schemas.openxmlformats.org/drawingml/2006/table">
            <a:tbl>
              <a:tblPr/>
              <a:tblGrid>
                <a:gridCol w="4215878"/>
                <a:gridCol w="6878537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Poor decision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Mass not tracked through four claw versions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v6 reached 4.6 times its budget in CAD; the claw is 0.15 kg over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Prototype fin cut from scrap sheet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1–4 K of thermal margin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 and test week ends on presentation day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 results arrive at the last minute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horough and scrappy"/>
          <p:cNvSpPr txBox="1"/>
          <p:nvPr/>
        </p:nvSpPr>
        <p:spPr>
          <a:xfrm>
            <a:off x="548640" y="5166360"/>
            <a:ext cx="11094415" cy="10972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Thorough where a mistake is expensive: the fin's single mill setup, the stall check on the teeth</a:t>
            </a:r>
            <a:endParaRPr lang="en-US" sz="16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Scrappy where it is cheap to undo: a jumpered ESP32 after a controller failed, a floor board printed on paper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and Next Steps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237744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(15 weeks)</a:t>
            </a:r>
            <a:endParaRPr lang="en-US" sz="1300" dirty="0"/>
          </a:p>
        </p:txBody>
      </p:sp>
      <p:sp>
        <p:nvSpPr>
          <p:cNvPr id="5" name="Concept"/>
          <p:cNvSpPr/>
          <p:nvPr/>
        </p:nvSpPr>
        <p:spPr>
          <a:xfrm>
            <a:off x="1874520" y="2377440"/>
            <a:ext cx="1024743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label"/>
          <p:cNvSpPr txBox="1"/>
          <p:nvPr/>
        </p:nvSpPr>
        <p:spPr>
          <a:xfrm>
            <a:off x="1901952" y="2377440"/>
            <a:ext cx="9698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200" dirty="0"/>
          </a:p>
        </p:txBody>
      </p:sp>
      <p:sp>
        <p:nvSpPr>
          <p:cNvPr id="7" name="Gen 1"/>
          <p:cNvSpPr/>
          <p:nvPr/>
        </p:nvSpPr>
        <p:spPr>
          <a:xfrm>
            <a:off x="2899263" y="2377440"/>
            <a:ext cx="1366325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label"/>
          <p:cNvSpPr txBox="1"/>
          <p:nvPr/>
        </p:nvSpPr>
        <p:spPr>
          <a:xfrm>
            <a:off x="2926695" y="2377440"/>
            <a:ext cx="131146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</a:t>
            </a:r>
            <a:endParaRPr lang="en-US" sz="1200" dirty="0"/>
          </a:p>
        </p:txBody>
      </p:sp>
      <p:sp>
        <p:nvSpPr>
          <p:cNvPr id="9" name="Redesign"/>
          <p:cNvSpPr/>
          <p:nvPr/>
        </p:nvSpPr>
        <p:spPr>
          <a:xfrm>
            <a:off x="4265588" y="2377440"/>
            <a:ext cx="1659108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label"/>
          <p:cNvSpPr txBox="1"/>
          <p:nvPr/>
        </p:nvSpPr>
        <p:spPr>
          <a:xfrm>
            <a:off x="4293020" y="2377440"/>
            <a:ext cx="16042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</a:t>
            </a:r>
            <a:endParaRPr lang="en-US" sz="1200" dirty="0"/>
          </a:p>
        </p:txBody>
      </p:sp>
      <p:sp>
        <p:nvSpPr>
          <p:cNvPr id="11" name="Final"/>
          <p:cNvSpPr/>
          <p:nvPr/>
        </p:nvSpPr>
        <p:spPr>
          <a:xfrm>
            <a:off x="5924697" y="2377440"/>
            <a:ext cx="731960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label"/>
          <p:cNvSpPr txBox="1"/>
          <p:nvPr/>
        </p:nvSpPr>
        <p:spPr>
          <a:xfrm>
            <a:off x="5952129" y="2377440"/>
            <a:ext cx="677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</a:t>
            </a:r>
            <a:endParaRPr lang="en-US" sz="1050" dirty="0"/>
          </a:p>
        </p:txBody>
      </p:sp>
      <p:sp>
        <p:nvSpPr>
          <p:cNvPr id="13" name="Build and test"/>
          <p:cNvSpPr/>
          <p:nvPr/>
        </p:nvSpPr>
        <p:spPr>
          <a:xfrm>
            <a:off x="6656656" y="2377440"/>
            <a:ext cx="292784" cy="685800"/>
          </a:xfrm>
          <a:prstGeom prst="rect">
            <a:avLst/>
          </a:prstGeom>
          <a:solidFill>
            <a:srgbClr val="1F3A5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label"/>
          <p:cNvSpPr txBox="1"/>
          <p:nvPr/>
        </p:nvSpPr>
        <p:spPr>
          <a:xfrm>
            <a:off x="5852160" y="3090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test</a:t>
            </a:r>
            <a:endParaRPr lang="en-US" sz="1000" dirty="0"/>
          </a:p>
        </p:txBody>
      </p:sp>
      <p:sp>
        <p:nvSpPr>
          <p:cNvPr id="15" name="label"/>
          <p:cNvSpPr txBox="1"/>
          <p:nvPr/>
        </p:nvSpPr>
        <p:spPr>
          <a:xfrm>
            <a:off x="548640" y="347472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time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 weeks)</a:t>
            </a:r>
            <a:endParaRPr lang="en-US" sz="1300" dirty="0"/>
          </a:p>
        </p:txBody>
      </p:sp>
      <p:sp>
        <p:nvSpPr>
          <p:cNvPr id="16" name="Plan"/>
          <p:cNvSpPr/>
          <p:nvPr/>
        </p:nvSpPr>
        <p:spPr>
          <a:xfrm>
            <a:off x="1874520" y="3474720"/>
            <a:ext cx="341581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label"/>
          <p:cNvSpPr txBox="1"/>
          <p:nvPr/>
        </p:nvSpPr>
        <p:spPr>
          <a:xfrm>
            <a:off x="1901952" y="3474720"/>
            <a:ext cx="2867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00" dirty="0"/>
          </a:p>
        </p:txBody>
      </p:sp>
      <p:sp>
        <p:nvSpPr>
          <p:cNvPr id="18" name="One station"/>
          <p:cNvSpPr/>
          <p:nvPr/>
        </p:nvSpPr>
        <p:spPr>
          <a:xfrm>
            <a:off x="2216101" y="3474720"/>
            <a:ext cx="683162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label"/>
          <p:cNvSpPr txBox="1"/>
          <p:nvPr/>
        </p:nvSpPr>
        <p:spPr>
          <a:xfrm>
            <a:off x="2243533" y="3474720"/>
            <a:ext cx="6282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station</a:t>
            </a:r>
            <a:endParaRPr lang="en-US" sz="1050" dirty="0"/>
          </a:p>
        </p:txBody>
      </p:sp>
      <p:sp>
        <p:nvSpPr>
          <p:cNvPr id="20" name="Copy"/>
          <p:cNvSpPr/>
          <p:nvPr/>
        </p:nvSpPr>
        <p:spPr>
          <a:xfrm>
            <a:off x="2899263" y="3474720"/>
            <a:ext cx="341581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label"/>
          <p:cNvSpPr txBox="1"/>
          <p:nvPr/>
        </p:nvSpPr>
        <p:spPr>
          <a:xfrm>
            <a:off x="2926695" y="3474720"/>
            <a:ext cx="2867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</a:t>
            </a:r>
            <a:endParaRPr lang="en-US" sz="900" dirty="0"/>
          </a:p>
        </p:txBody>
      </p:sp>
      <p:sp>
        <p:nvSpPr>
          <p:cNvPr id="22" name="Clamp"/>
          <p:cNvSpPr/>
          <p:nvPr/>
        </p:nvSpPr>
        <p:spPr>
          <a:xfrm>
            <a:off x="3240845" y="3474720"/>
            <a:ext cx="683162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label"/>
          <p:cNvSpPr txBox="1"/>
          <p:nvPr/>
        </p:nvSpPr>
        <p:spPr>
          <a:xfrm>
            <a:off x="3268277" y="3474720"/>
            <a:ext cx="6282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</a:t>
            </a:r>
            <a:endParaRPr lang="en-US" sz="1050" dirty="0"/>
          </a:p>
        </p:txBody>
      </p:sp>
      <p:sp>
        <p:nvSpPr>
          <p:cNvPr id="24" name="Test"/>
          <p:cNvSpPr/>
          <p:nvPr/>
        </p:nvSpPr>
        <p:spPr>
          <a:xfrm>
            <a:off x="3924007" y="3474720"/>
            <a:ext cx="341581" cy="685800"/>
          </a:xfrm>
          <a:prstGeom prst="rect">
            <a:avLst/>
          </a:prstGeom>
          <a:solidFill>
            <a:srgbClr val="1F3A5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label"/>
          <p:cNvSpPr txBox="1"/>
          <p:nvPr/>
        </p:nvSpPr>
        <p:spPr>
          <a:xfrm>
            <a:off x="3951439" y="3474720"/>
            <a:ext cx="2867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900" dirty="0"/>
          </a:p>
        </p:txBody>
      </p:sp>
      <p:sp>
        <p:nvSpPr>
          <p:cNvPr id="26" name="caption"/>
          <p:cNvSpPr txBox="1"/>
          <p:nvPr/>
        </p:nvSpPr>
        <p:spPr>
          <a:xfrm>
            <a:off x="1874520" y="4297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time scale. Half time: plan (pull test, mass budget), one station, copy, clamp, test.</a:t>
            </a:r>
            <a:endParaRPr lang="en-US" sz="1100" dirty="0"/>
          </a:p>
        </p:txBody>
      </p:sp>
      <p:sp>
        <p:nvSpPr>
          <p:cNvPr id="2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Pull-test one winch and weigh a mock claw in week 1; set the mass budget from that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ideas on paper first: bead homing and the central board failed calculations I could have run in week 1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one full station, calibration included, before copying it</a:t>
            </a:r>
            <a:endParaRPr lang="en-US" sz="16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test, then enter the measured limit in the planner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test at 1.5 A, three-station test, grip pads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brake or non-backdrivable stage, so a power loss cannot drop the claw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4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State and Failure Modes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2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884548"/>
                <a:gridCol w="4437766"/>
                <a:gridCol w="3772101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PAUSE, or a fault the software detects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station holds position with torque 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moves again without approval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Wi-Fi link lost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Stations stop and hold on their own clocks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 needs approval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loss or emergency stop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Torque is lost and the claw can fall (1.5 kg from about 2 m)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Nobody underneath; claw parked low when idle; brake planned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Controller reset or brown-out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disabled at boot, so torque is lost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as power loss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over-temperature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A4988 shuts its outputs off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 test watches the driver; fallback 1.35 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Fin Length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hart from the calculation sheet: Heat f" descr="Chart from the calculation sheet: Heat f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39859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046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Heat fin)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 in prototype reaches 95 % of its capacity by 136 mm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 in design keeps gaining to 349 mm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at 200 mm, limited by ceiling clearance</a:t>
            </a:r>
            <a:endParaRPr lang="en-US" sz="18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length and efficiency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√(2h / (k t)),  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1.83 / 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= tanh(mL) / (mL)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0.74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(1/8 in)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Sizing for 4 W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25" name="fin siz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4008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1088136"/>
                <a:gridCol w="243230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Painted 6061, 44 mm wide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Shortest for ≤ 60 °C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 in (prototype)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(2.0 W max)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1/16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(3.6 W max)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0.090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mm or none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1/8 in (design)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145–185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3/16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125–140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115–125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ption"/>
          <p:cNvSpPr txBox="1"/>
          <p:nvPr/>
        </p:nvSpPr>
        <p:spPr>
          <a:xfrm>
            <a:off x="548640" y="46268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4.05 W through the fin, 23 °C room, paste contact. Calculated.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fin alone had to carry all 4.05 W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 in sheet: not possible at any length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 in plate: 145–185 mm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Board Accuracy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hart from the calculation sheet: Floor " descr="Chart from the calculation sheet: Floor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4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2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Floor board)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pose error per frame, best case: 6.6 mm with one tag, 0.7 mm with four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camera's view, not the cable length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fit, cable lengths are known to about 12–16 mm (simulated)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Sequence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Phone app screens" descr="Phone app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68070"/>
            <a:ext cx="2060448" cy="4459021"/>
          </a:xfrm>
          <a:prstGeom prst="rect">
            <a:avLst/>
          </a:prstGeom>
        </p:spPr>
      </p:pic>
      <p:pic>
        <p:nvPicPr>
          <p:cNvPr id="5" name="Phone app screens" descr="Phone app scree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816" y="1268070"/>
            <a:ext cx="2060448" cy="4459021"/>
          </a:xfrm>
          <a:prstGeom prst="rect">
            <a:avLst/>
          </a:prstGeom>
        </p:spPr>
      </p:pic>
      <p:pic>
        <p:nvPicPr>
          <p:cNvPr id="6" name="Phone app screens" descr="Phone app scree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992" y="1268070"/>
            <a:ext cx="2060448" cy="4459021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app: home, live claw camera and chat</a:t>
            </a:r>
            <a:endParaRPr lang="en-US" sz="1100" dirty="0"/>
          </a:p>
        </p:txBody>
      </p:sp>
      <p:sp>
        <p:nvSpPr>
          <p:cNvPr id="8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up: self-check, take up slack, calibrate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Find: scan from above, detect garments, choose the nearest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Pick: hover until still, grip, deliver; the camera confirms each step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move waits for approval on the phone; PAUSE holds position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Logic: Generation 1 vs. Final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2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883"/>
                <a:gridCol w="3993989"/>
                <a:gridCol w="4881543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Generation 1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is the claw?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 from the commanded cable lengths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by the claw camera; refit at every startup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Room geometry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Anchors from a tape 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Anchors and cable lengths fitted, with error bars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central board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controller per station, coordinated by the laptop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 laundry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 camera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camera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Did the grab work?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checks pickup and delivery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Faults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stop only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 keeps torque; the emergency stop cuts power and drops the claw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Electrical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law schematic" descr="Claw schema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076"/>
            <a:ext cx="6400800" cy="45270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schematic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Two-cell lithium-ion pack, 7.4 V; 5 A fuse for shorts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 V servo rail and a separate 5 V logic rail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draw 2.8–3.1 A, at the pack's 3 A rating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Acronyms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3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440771"/>
                <a:gridCol w="86536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Computer-aided design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PETG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Polyethylene terephthalate glycol (the printed plastic)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Thermoplastic polyurethane (flexible printed plastic)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NEMA 17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Electrical Manufacturers Association motor frame, 1.7 in square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CNC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Computer numerical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ESP32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Wi-Fi microcontroller family (Espressif)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A4988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Stepper-motor driver chip (Allegro)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“You Only Look Once”: an object-detection model family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Safety factor: allowable stress divided by actual stress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Calculations and Sources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92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7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Cable tension)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charts come from my engineering calculation sheet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Incropera et al., Fundamentals of Heat and Mass Transfer, ch. 3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Allegro MicroSystems, A4988 datasheet</a:t>
            </a:r>
            <a:endParaRPr lang="en-US" sz="1800" dirty="0"/>
          </a:p>
        </p:txBody>
      </p:sp>
      <p:sp>
        <p:nvSpPr>
          <p:cNvPr id="8" name="sheet link"/>
          <p:cNvSpPr txBox="1"/>
          <p:nvPr/>
        </p:nvSpPr>
        <p:spPr>
          <a:xfrm>
            <a:off x="7360920" y="4206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Open the calculation shee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RoomCleaner engineering calculations (Google Sheets)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mCleaner v7">
  <a:themeElements>
    <a:clrScheme name="RoomCleaner v7">
      <a:dk1>
        <a:srgbClr val="1A1A1A"/>
      </a:dk1>
      <a:lt1>
        <a:srgbClr val="FFFFFF"/>
      </a:lt1>
      <a:dk2>
        <a:srgbClr val="1F3A5F"/>
      </a:dk2>
      <a:lt2>
        <a:srgbClr val="F2F2F4"/>
      </a:lt2>
      <a:accent1>
        <a:srgbClr val="1F3A5F"/>
      </a:accent1>
      <a:accent2>
        <a:srgbClr val="8A8F98"/>
      </a:accent2>
      <a:accent3>
        <a:srgbClr val="B23A2E"/>
      </a:accent3>
      <a:accent4>
        <a:srgbClr val="4F6D8F"/>
      </a:accent4>
      <a:accent5>
        <a:srgbClr val="D9DEE5"/>
      </a:accent5>
      <a:accent6>
        <a:srgbClr val="5B6470"/>
      </a:accent6>
      <a:hlink>
        <a:srgbClr val="1F3A5F"/>
      </a:hlink>
      <a:folHlink>
        <a:srgbClr val="4F6D8F"/>
      </a:folHlink>
    </a:clrScheme>
    <a:fontScheme name="RoomCleaner v7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RoomCleaner</dc:title>
  <dc:subject>PptxGenJS Presentation</dc:subject>
  <dc:creator>Jasper Buntinx</dc:creator>
  <cp:lastModifiedBy>Jasper Buntinx</cp:lastModifiedBy>
  <cp:revision>1</cp:revision>
  <dcterms:created xsi:type="dcterms:W3CDTF">2026-10-22T19:36:34Z</dcterms:created>
  <dcterms:modified xsi:type="dcterms:W3CDTF">2026-10-22T19:36:34Z</dcterms:modified>
</cp:coreProperties>
</file>