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c8f2ba5-bf8c-724a-0415-c6f7c5797eca}">
          <p14:sldIdLst>
            <p14:sldId id="256"/>
            <p14:sldId id="257"/>
            <p14:sldId id="258"/>
            <p14:sldId id="259"/>
          </p14:sldIdLst>
        </p14:section>
        <p14:section name="Concept" id="{f25e59dc-b20b-8764-b232-b1f32cda2f72}">
          <p14:sldIdLst>
            <p14:sldId id="260"/>
            <p14:sldId id="261"/>
            <p14:sldId id="262"/>
          </p14:sldIdLst>
        </p14:section>
        <p14:section name="Generation 1" id="{c8617d22-3172-4324-110b-0d1a0ce6c4de}">
          <p14:sldIdLst>
            <p14:sldId id="263"/>
          </p14:sldIdLst>
        </p14:section>
        <p14:section name="Redesign" id="{6d6235b5-0cad-f842-f085-35db33644482}">
          <p14:sldIdLst>
            <p14:sldId id="264"/>
            <p14:sldId id="265"/>
            <p14:sldId id="266"/>
          </p14:sldIdLst>
        </p14:section>
        <p14:section name="Final Design" id="{cd1884ff-c859-5ca8-e057-9b32f494dd8b}">
          <p14:sldIdLst>
            <p14:sldId id="267"/>
            <p14:sldId id="268"/>
            <p14:sldId id="269"/>
            <p14:sldId id="270"/>
          </p14:sldIdLst>
        </p14:section>
        <p14:section name="Build and Test" id="{164a6b8b-3560-0765-269c-b5889d01c1f6}">
          <p14:sldIdLst>
            <p14:sldId id="271"/>
            <p14:sldId id="272"/>
            <p14:sldId id="273"/>
          </p14:sldIdLst>
        </p14:section>
        <p14:section name="Results and Takeaways" id="{293b8c29-83dc-c025-5860-281ace5f6d1f}">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is designed to pick clothes off the floor and drop them in a hamper. Then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photos carry it, left to right. Mechanical Engineering at Texas A&amp;M, class of 2027. Left: outdoors and endurance, an Ironman 70.3 in 6:53 and a marathon in 2025; I finish long things. Middle: EcoFil, a filament recycler I built with a shredder, dryer and extruder [add one number: filament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one picture: four anchors 0.15 m below the ceiling, one claw, a hamper. The shaded bands are the 0.2 m wall and 0.4 m ceiling margins the planner keeps. If asked: 0.9 kg is a screening value for a pair of jeans, not weighed. The 2 m/s² is a 1.2 times dynamic allowance for stops and snags, not the motion profile; top speed is 50 mm/s, so a diagonal move takes about a minute and a half. Where it stands: the stations, their electronics and the claw body are built; the claw is weighed (0.60 kg with battery); most other numbers in this talk are calculated or simulated, and labeled;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The numbered marks are the failures that shaped the design. I dictated the control logic and had Claude Code build it out; it also wrote calculation scripts and checked my CAD, and I can take you through any number on these slides. If asked: the garment detector is YOLO-World, an open-source model. [Fill in: hours, total cost, shop access or mentors.]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floor robot fights the clutter it is meant to clear; a gantry puts a frame across my room. A cable robot reaches the whole floor with a 0.6 kg moving mass and nothing on the floor. The price is on the next two slides.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came back to in every phase after. Current bound the design, with heat right behind it. If asked: the 1.5 divisor on winch force is the margin against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Cables only pull, and the shallower the cable, the more tension it carries for the same weight. 0.4 m is the margin for the empty claw (9.8 N there). With a load, the planner's tension check keeps the claw lower; it needs the measured pull limit entered first, so the pull test comes before the system test. If asked: off-centre is worse than centred; the claw rises to scan the floor from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how would you home a four-cable robot without a reference pose? Then: each finding here drives one decision on the next three slides. Bead homing: a bead on each cable trips a switch at the outlet, so a cable can never be shorter than at home. [Fill in: the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 routes are 6, 21, 23 and 32 ft. Generation 1 trusted its model; the final logic measures before it trusts and checks after it acts. If asked: each station runs time-stamped segments on its own clock and holds if the link drops; a 40 ms skew budget keeps the error to 2 mm. Line stiffness is about 3 N/mm over a 3 m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why bead homing died; with home 1 m up, 5 % of the room is reachable, 2 m up, 29 %. Bottom: the floor board, per camera frame. If asked why not home each cable at its own shortest length: that drags the claw into the high-tension zone next to an anchor. The number that matters is the cable length after the fit, not the per-frame camera error; averaging tags removes noise but not bias. Simulated so far. Beads now: the startup self-check requires every switch closed; until a bead is verified the planner keeps each cable a margin longer than its bead trip length; a bead search one station at a time is optional, as a cross-check of the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version failed for a reason I can name. The first clamp's pinion travel left a 2 mm gap, so the pads never met on thin cloth. v6 was up to 2.06 kg in CAD against 0.45 kg, with no torque path from the servo. Final gears: module 1.5 with a 16 mm face (module 1 with a 6 mm face gave a safety factor of 0.35). Grip assumes friction 0.3; at 6 V the jaws give 17 % more, enough above a 22 mm grab; next are grippy pads. If asked: servo heat while holding, and claw yaw. Electrical: 5 A fuse for shorts; the claw schematic passes its rules check with 0 errors; charged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load from the cable to the stud. The design idea: make the motor the part that gives first. At 1.5 A it holds up to 48 N on the empty spool (59 N at most, with a 40 N·cm motor and the cable at its steepest angle); above that it skips, the encoder on the spool sees the spool fall behind the command, and the station stops and reports an overload, so nothing is damaged. Every other part has to outlast that. Elaborate: studs are far from the limit (one #6 wood screw holds about 309 N at the code design value; the same screws in drywall alone let go at about 46 N, below the motor, so studs only); as drawn, the spool's set screw in printed plastic may slip first and the warm motor tab's sharp corner is only about 1.2 times the motor; fixes are the set screw into metal (the pull test settles it) and a 6 mm tab with fillets. The rest of the station is 17 to 225 times stronger than it needs to be, which is where the lighter redesign comes from. If asked: calculation and independent check in calculations/lift_chain_weakest_link.md; the static manual was written at the old 34 N and scales linearly; the 1/8 in fin needs the shell slot about 1 mm wider on the motor side, and M3 × 12 screws.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current is set by the driver reference voltage, I = Vref / (8 × 0.1 Ω) [fill in how you reached 1.5 A and the Vref you read]. Two torque risks: running torque could be nearer 0.5 of holding, and in microstepping the torque can be about 0.7 of the rating. The A4988 runs hot at 1.5 A; if it shuts down the winch loses torque, so the hold test watches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chart: motor temperature for each fin, vented and sealed; the ranges in the bullets are the simple and the refined hand model. Bottom chart: why thickness beats length; the built length is 200 mm, limited by the ceiling. The table answers what fin it would take to carry all the heat alone. This week: SolidWorks study and a 90-minute hold test; fallback 1.35 A. If asked: measuring the coil resistance takes 30 seconds; warmer air near the ceiling uses up the prototype's 1–4 K margin; the PETG next to the motor runs at about the motor temperature (independent 3-D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if the pull test comes in low, would you cut claw mass or add a 2:1 gear stage? My answer: the gear stage, because it also lets the current drop to about 1 A and halves the heat. If asked: task height means the claw at or below 1.6 m, and the worst point is the middle of a long wall. The claw is 0.15 kg over its 0.45 kg budget; the 198 g aluminum tube is the first place to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lessons from the bench: measure the hardware before trusting the software's view of it, and test a fit before printing the part. If asked: the driver stays disabled at boot so a reset cannot move a motor, which also means a reset drops a hanging claw (safe-state table on the system-test slide). [Fill in: readings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 designed into the parts so they assemble without filing. The gear pockets are the one I am proudest of: the bearing presses past a lip, the T-slots let the lip ends flex, and it then sits free in a pocket 0.075 mm larger, so the lip holds it in without squeezing the race. The slide-in runs on 0.175 mm a side, enough to lift out by hand after printing shrinkage. The fin is the one metal part. The sheared edges are only good to half a millimetre, so I used them only to find the first hole; once it was drilled I zeroed the mill on that hole and put the other four in from it, so the hole pattern carries the mill's accuracy, not the edges', and the fin bolts on without reaming. If asked: the spool bore taught me the allowance (Ø5.2 would not go on a 5 mm shaft; v3 opened it to Ø5.45 and the 10/21 CAD has Ø5.30; the set screw carries the torque). [Confirm which spool bore is printed, which holes get heat-set inserts,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which pass limit would you tighten? Three cables give three force equations, so slack shows up directly. The app runs the sequence: start up (self-check, take up slack, calibrate), find (scan, detect, choose the nearest), pick (hover until still, grip, deliver; the camera confirms each step). The safe state is PAUSE, torque on; anything that removes power drops the claw. If the test has not run by Monday, show the rig and the dated plan. Logged: cable lengths, encoder counts, motor temperatures, the fit's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with the evidence for each. Three are not met: grip for jeans at narrow grabs, claw mass, and the weakest link (two cheap fixes). Two are marginal and this week's tests decide them: lift capacity and the prototype fin's temperature. Only the claw mass is measured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Poor: the mass problem was not the budget but that I never re-checked it as the claw changed four times; the scrap fin saved a day and cost the thermal margin; and the schedule leaves no slack after the first test. Scrappy: when a controller board died two days before the test, I moved the same circuit to an ESP32 dev board with nine jumpers instead of redesigning it. [If true, add: several stations built before one was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half the time I would not build the central board, bead homing or the finger claw at all; the week-1 calculations already killed them. Next steps in order: the pull test first, because both the lift margin and the planner's tension check depend on it. The redesign uses the weakest-link numbers: the mount and dovetails are 90 to 225 times stronger than the motor can pull, so the station can lose about 60 % of its plastic while the motor tab, the one part that is short, gets thicker; a carbon tube and thinner housings bring the claw to 0.45 kg, which lifts the jeans margin from 4 % to about 16 % (docs/decisions/WEIGHT_REDESIGN_PROPOSAL_20261022.md). Continuous testing then runs the robot for hours and logs every tracking fault, temperature and any creep.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jpg"/><Relationship Id="rId7" Type="http://schemas.openxmlformats.org/officeDocument/2006/relationships/slideLayout" Target="../slideLayouts/slideLayout2.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four-cable ceiling robot designed to pick laundry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Wall station, assembled" descr="Wall station, assembled">    </p:cNvPr>
          <p:cNvPicPr>
            <a:picLocks noChangeAspect="1"/>
          </p:cNvPicPr>
          <p:nvPr/>
        </p:nvPicPr>
        <p:blipFill>
          <a:blip r:embed="rId1"/>
          <a:stretch>
            <a:fillRect/>
          </a:stretch>
        </p:blipFill>
        <p:spPr>
          <a:xfrm>
            <a:off x="5486400" y="128016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280160"/>
            <a:ext cx="3017520" cy="4023360"/>
          </a:xfrm>
          <a:prstGeom prst="rect">
            <a:avLst/>
          </a:prstGeom>
        </p:spPr>
      </p:pic>
      <p:sp>
        <p:nvSpPr>
          <p:cNvPr id="8" name="label"/>
          <p:cNvSpPr txBox="1"/>
          <p:nvPr/>
        </p:nvSpPr>
        <p:spPr>
          <a:xfrm>
            <a:off x="5486400" y="612648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Wall station (built)</a:t>
            </a:r>
            <a:endParaRPr lang="en-US" sz="1100" dirty="0"/>
          </a:p>
        </p:txBody>
      </p:sp>
      <p:sp>
        <p:nvSpPr>
          <p:cNvPr id="9" name="label"/>
          <p:cNvSpPr txBox="1"/>
          <p:nvPr/>
        </p:nvSpPr>
        <p:spPr>
          <a:xfrm>
            <a:off x="8641080" y="612648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Claw body and servo (built)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up laundry in a 3.35 × 2.74 m (11 × 9 ft) room under a 2.74 m (9 ft) ceiling, and drop it in a hamper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Design load 0.9 kg (jeans); first test 0.45 kg (1 lb)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Safe state: PAUSE holds position, and nobody stands under the robot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3106436"/>
                <a:gridCol w="3661157"/>
                <a:gridCol w="4326822"/>
              </a:tblGrid>
              <a:tr h="566928">
                <a:tc>
                  <a:txBody>
                    <a:bodyPr/>
                    <a:lstStyle/>
                    <a:p>
                      <a:pPr indent="0" marL="0">
                        <a:buNone/>
                      </a:pPr>
                      <a:r>
                        <a:rPr lang="en-US" sz="1600" b="1" dirty="0">
                          <a:solidFill>
                            <a:srgbClr val="FFFFFF"/>
                          </a:solidFill>
                          <a:latin typeface="Arial" pitchFamily="34" charset="0"/>
                          <a:ea typeface="Arial" pitchFamily="34" charset="-122"/>
                          <a:cs typeface="Arial" pitchFamily="34" charset="-120"/>
                        </a:rPr>
                        <a:t>Lever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Gain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Cost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Motor current up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Pull rises with current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Heat rises with current squared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Stronger claw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Stronger gears, firmer grip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mass, less payload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working area</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floor covered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Longer wires, more voltage drop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Closer to the ceiling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working volume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Cable tension rises steeply</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Smaller spool radius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pull per amp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Tighter line bend, less room for the set screw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safety margins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No skipped steps, no wall contact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Less usable force and floor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chain that binds: 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Sets the Ceiling Margin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Weighed claw plus 1 lb, centred 0.4 m below the anchors: 14.3 N, 17.2 N at 2 m/s²</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That is at the 16.8 N winch limit; with jeans the claw must stay at least 0.6 m down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800" dirty="0"/>
          </a:p>
        </p:txBody>
      </p:sp>
      <p:sp>
        <p:nvSpPr>
          <p:cNvPr id="7"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8"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9"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Bench Build and Findings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2 of 5: Generation 1</a:t>
            </a:r>
            <a:endParaRPr lang="en-US" sz="1000" dirty="0"/>
          </a:p>
        </p:txBody>
      </p:sp>
      <p:pic>
        <p:nvPicPr>
          <p:cNvPr id="4" name="Generation 1 hardware" descr="Generation 1 hardware">    </p:cNvPr>
          <p:cNvPicPr>
            <a:picLocks noChangeAspect="1"/>
          </p:cNvPicPr>
          <p:nvPr/>
        </p:nvPicPr>
        <p:blipFill>
          <a:blip r:embed="rId1"/>
          <a:stretch>
            <a:fillRect/>
          </a:stretch>
        </p:blipFill>
        <p:spPr>
          <a:xfrm>
            <a:off x="548640" y="2123948"/>
            <a:ext cx="2060448" cy="2747264"/>
          </a:xfrm>
          <a:prstGeom prst="rect">
            <a:avLst/>
          </a:prstGeom>
        </p:spPr>
      </p:pic>
      <p:pic>
        <p:nvPicPr>
          <p:cNvPr id="5" name="Generation 1 hardware" descr="Generation 1 hardware">    </p:cNvPr>
          <p:cNvPicPr>
            <a:picLocks noChangeAspect="1"/>
          </p:cNvPicPr>
          <p:nvPr/>
        </p:nvPicPr>
        <p:blipFill>
          <a:blip r:embed="rId2"/>
          <a:stretch>
            <a:fillRect/>
          </a:stretch>
        </p:blipFill>
        <p:spPr>
          <a:xfrm>
            <a:off x="2718816" y="2123948"/>
            <a:ext cx="2060448" cy="2747264"/>
          </a:xfrm>
          <a:prstGeom prst="rect">
            <a:avLst/>
          </a:prstGeom>
        </p:spPr>
      </p:pic>
      <p:pic>
        <p:nvPicPr>
          <p:cNvPr id="6" name="Generation 1 hardware" descr="Generation 1 hardware">    </p:cNvPr>
          <p:cNvPicPr>
            <a:picLocks noChangeAspect="1"/>
          </p:cNvPicPr>
          <p:nvPr/>
        </p:nvPicPr>
        <p:blipFill>
          <a:blip r:embed="rId3"/>
          <a:stretch>
            <a:fillRect/>
          </a:stretch>
        </p:blipFill>
        <p:spPr>
          <a:xfrm>
            <a:off x="4888992" y="2123948"/>
            <a:ext cx="2060448" cy="2747264"/>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one-piece corner plate, homing switch</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bench station lifted a test weight; the cable math held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Bead homing would leave only 5–29 % of the room reachable, caught on paper before it was built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central board would need 10 wires to every corner once each winch had sensors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Finger claw: designed in CAD (419 g of a 450 g budget), never built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0"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the emergency stop cuts power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Generation 1: one central board; with sensors it would need 250 m (820 ft) of wire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Each station can be built and tested on its own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Cost: timing moves into software; 50 ms of skew is 2.5 mm of cable error, about 7.5 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Bead Homing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hart from the calculation sheet: Bead h" descr="Chart from the calculation sheet: Bead homing">    </p:cNvPr>
          <p:cNvPicPr>
            <a:picLocks noChangeAspect="1"/>
          </p:cNvPicPr>
          <p:nvPr/>
        </p:nvPicPr>
        <p:blipFill>
          <a:blip r:embed="rId1"/>
          <a:stretch>
            <a:fillRect/>
          </a:stretch>
        </p:blipFill>
        <p:spPr>
          <a:xfrm>
            <a:off x="2238341" y="1188720"/>
            <a:ext cx="3021398" cy="2080260"/>
          </a:xfrm>
          <a:prstGeom prst="rect">
            <a:avLst/>
          </a:prstGeom>
        </p:spPr>
      </p:pic>
      <p:sp>
        <p:nvSpPr>
          <p:cNvPr id="5" name="caption"/>
          <p:cNvSpPr txBox="1"/>
          <p:nvPr/>
        </p:nvSpPr>
        <p:spPr>
          <a:xfrm>
            <a:off x="2238341"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pic>
        <p:nvPicPr>
          <p:cNvPr id="6" name="Chart from the calculation sheet: Floor " descr="Chart from the calculation sheet: Floor board">    </p:cNvPr>
          <p:cNvPicPr>
            <a:picLocks noChangeAspect="1"/>
          </p:cNvPicPr>
          <p:nvPr/>
        </p:nvPicPr>
        <p:blipFill>
          <a:blip r:embed="rId2"/>
          <a:stretch>
            <a:fillRect/>
          </a:stretch>
        </p:blipFill>
        <p:spPr>
          <a:xfrm>
            <a:off x="2237792" y="3726180"/>
            <a:ext cx="3022495" cy="2080260"/>
          </a:xfrm>
          <a:prstGeom prst="rect">
            <a:avLst/>
          </a:prstGeom>
        </p:spPr>
      </p:pic>
      <p:sp>
        <p:nvSpPr>
          <p:cNvPr id="7" name="caption"/>
          <p:cNvSpPr txBox="1"/>
          <p:nvPr/>
        </p:nvSpPr>
        <p:spPr>
          <a:xfrm>
            <a:off x="223779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 homing fixes each cable's shortest length, so most of the room is out of reach</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Instead the claw camera reads a printed floor board, and a fit finds the anchors and cable lengths</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Simulated: cable lengths known to about 12–16 mm after the fit; the whole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Four Versions to a Parallel Grip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5"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6"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7"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9"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Fingers (CAD only), then a clamp whose jaws could not close on thin cloth (Sep 30)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v6 clamp: 4.6 times its mass budget in CAD (Oct 20)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Final: geared four-bar, parallel jaws, 53 mm opening; gear safety factor 2.05 at servo stall</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Grip for jeans is short at narrow grabs</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Power: two-cell 7.4 V pack, 6 V servo rail, separate 5 V logic; peak 2.8–3.1 A at the pack's 3 A rating</a:t>
            </a:r>
            <a:endParaRPr lang="en-US" sz="1600" dirty="0"/>
          </a:p>
        </p:txBody>
      </p:sp>
      <p:sp>
        <p:nvSpPr>
          <p:cNvPr id="10"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1"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to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Final wall station with a transparent sh" descr="Final wall station with a transparent shell">    </p:cNvPr>
          <p:cNvPicPr>
            <a:picLocks noChangeAspect="1"/>
          </p:cNvPicPr>
          <p:nvPr/>
        </p:nvPicPr>
        <p:blipFill>
          <a:blip r:embed="rId1"/>
          <a:stretch>
            <a:fillRect/>
          </a:stretch>
        </p:blipFill>
        <p:spPr>
          <a:xfrm>
            <a:off x="1432684" y="1188720"/>
            <a:ext cx="4632713"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wall station (SolidWorks), shell shown transparent</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Slide-in wall mount: the station lifts off while the anchor stays in the stud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Design idea: the motor is the weakest link. It slips at 34–59 N, before any part breaks, and the spool encoder reports the overload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Aluminum fin exits through a slot in the shell top</a:t>
            </a:r>
            <a:endParaRPr lang="en-US" sz="16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NEMA 17 (National Electrical Manufacturers Association) stepper at its rated 1.5 A, up from 1.06 A: 41 % more pull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Calculated pull: 34 N on an empty spool, 25 N when full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Assumes running torque of 0.7 × holding torque; the pull test measures it</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5"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6"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7"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8" name="cooling bullets"/>
          <p:cNvSpPr txBox="1"/>
          <p:nvPr/>
        </p:nvSpPr>
        <p:spPr>
          <a:xfrm>
            <a:off x="7223760" y="1234440"/>
            <a:ext cx="4419295" cy="16459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thin sheet stops gaining by 136 mm; the 1/8 in plate keeps gaining to 349 mm</a:t>
            </a:r>
            <a:endParaRPr lang="en-US" sz="1500" dirty="0"/>
          </a:p>
        </p:txBody>
      </p:sp>
      <p:sp>
        <p:nvSpPr>
          <p:cNvPr id="9" name="label"/>
          <p:cNvSpPr txBox="1"/>
          <p:nvPr/>
        </p:nvSpPr>
        <p:spPr>
          <a:xfrm>
            <a:off x="7223760" y="2880360"/>
            <a:ext cx="4419295" cy="256032"/>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5" name="fin sizing"/>
          <p:cNvGraphicFramePr>
            <a:graphicFrameLocks noGrp="1"/>
          </p:cNvGraphicFramePr>
          <p:nvPr>
            <p:extLst>
              <p:ext uri="{D42A27DB-BD31-4B8C-83A1-F6EECF244321}">
                <p14:modId xmlns:p14="http://schemas.microsoft.com/office/powerpoint/2010/main" val="1579011935"/>
              </p:ext>
            </p:extLst>
          </p:nvPr>
        </p:nvGraphicFramePr>
        <p:xfrm>
          <a:off x="7223760" y="3154680"/>
          <a:ext cx="4419295" cy="914400"/>
        </p:xfrm>
        <a:graphic>
          <a:graphicData uri="http://schemas.openxmlformats.org/drawingml/2006/table">
            <a:tbl>
              <a:tblPr/>
              <a:tblGrid>
                <a:gridCol w="1856104"/>
                <a:gridCol w="795473"/>
                <a:gridCol w="1767718"/>
              </a:tblGrid>
              <a:tr h="256032">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Claw with battery weighed 0.60 kg (0.86 kg estimated)</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Calculated capacity at task height 1.56 kg; jeans need 1.50 kg, a 4 % margin</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That margin is inside the uncertainty: at 0.5 × holding torque, capacity is 1.1 kg</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The pull test decides: keep 1.5 A, or add a 2:1 gear stage at each winch</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Build: Printing, Machining, Bring-Up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Build photos" descr="Build photos">    </p:cNvPr>
          <p:cNvPicPr>
            <a:picLocks noChangeAspect="1"/>
          </p:cNvPicPr>
          <p:nvPr/>
        </p:nvPicPr>
        <p:blipFill>
          <a:blip r:embed="rId1"/>
          <a:stretch>
            <a:fillRect/>
          </a:stretch>
        </p:blipFill>
        <p:spPr>
          <a:xfrm>
            <a:off x="618744" y="1188720"/>
            <a:ext cx="3005328" cy="2253996"/>
          </a:xfrm>
          <a:prstGeom prst="rect">
            <a:avLst/>
          </a:prstGeom>
        </p:spPr>
      </p:pic>
      <p:pic>
        <p:nvPicPr>
          <p:cNvPr id="5" name="Build photos" descr="Build photos">    </p:cNvPr>
          <p:cNvPicPr>
            <a:picLocks noChangeAspect="1"/>
          </p:cNvPicPr>
          <p:nvPr/>
        </p:nvPicPr>
        <p:blipFill>
          <a:blip r:embed="rId2"/>
          <a:stretch>
            <a:fillRect/>
          </a:stretch>
        </p:blipFill>
        <p:spPr>
          <a:xfrm>
            <a:off x="4531424" y="1188720"/>
            <a:ext cx="1690497" cy="2253996"/>
          </a:xfrm>
          <a:prstGeom prst="rect">
            <a:avLst/>
          </a:prstGeom>
        </p:spPr>
      </p:pic>
      <p:pic>
        <p:nvPicPr>
          <p:cNvPr id="6" name="Build photos" descr="Build photos">    </p:cNvPr>
          <p:cNvPicPr>
            <a:picLocks noChangeAspect="1"/>
          </p:cNvPicPr>
          <p:nvPr/>
        </p:nvPicPr>
        <p:blipFill>
          <a:blip r:embed="rId3"/>
          <a:stretch>
            <a:fillRect/>
          </a:stretch>
        </p:blipFill>
        <p:spPr>
          <a:xfrm>
            <a:off x="1276160" y="3552444"/>
            <a:ext cx="1690497" cy="2253996"/>
          </a:xfrm>
          <a:prstGeom prst="rect">
            <a:avLst/>
          </a:prstGeom>
        </p:spPr>
      </p:pic>
      <p:pic>
        <p:nvPicPr>
          <p:cNvPr id="7" name="Build photos" descr="Build photo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 blanks and drawing, finished fin, soldered station board, mill setup</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bore printed too tight (Ø5.2 on a 5 mm shaft); v3 opened it to Ø5.45</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 drilled in one mill setup from a 1:1 drawing; the 7/8 in pilot fits the 22 mm motor boss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motor would not turn: logic rail at 1.14 V, traced to a bad 3.3 V connection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meter on every rail before code, and fit coupons before new fits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Manufacturing: Fits and Datums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sp>
        <p:nvSpPr>
          <p:cNvPr id="4" name="tile frame"/>
          <p:cNvSpPr/>
          <p:nvPr/>
        </p:nvSpPr>
        <p:spPr>
          <a:xfrm>
            <a:off x="548640" y="1097280"/>
            <a:ext cx="2779776" cy="1371600"/>
          </a:xfrm>
          <a:prstGeom prst="rect">
            <a:avLst/>
          </a:prstGeom>
          <a:solidFill>
            <a:srgbClr val="FFFFFF"/>
          </a:solidFill>
          <a:ln w="9525">
            <a:solidFill>
              <a:srgbClr val="BFBFBF"/>
            </a:solidFill>
            <a:prstDash val="solid"/>
          </a:ln>
        </p:spPr>
      </p:sp>
      <p:pic>
        <p:nvPicPr>
          <p:cNvPr id="5" name="Gear: Ø14.000 entry lip, 8 T-slots" descr="Gear: Ø14.000 entry lip, 8 T-slots">    </p:cNvPr>
          <p:cNvPicPr>
            <a:picLocks noChangeAspect="1"/>
          </p:cNvPicPr>
          <p:nvPr/>
        </p:nvPicPr>
        <p:blipFill>
          <a:blip r:embed="rId1"/>
          <a:stretch>
            <a:fillRect/>
          </a:stretch>
        </p:blipFill>
        <p:spPr>
          <a:xfrm>
            <a:off x="580876" y="1115568"/>
            <a:ext cx="2715303" cy="1335024"/>
          </a:xfrm>
          <a:prstGeom prst="rect">
            <a:avLst/>
          </a:prstGeom>
        </p:spPr>
      </p:pic>
      <p:sp>
        <p:nvSpPr>
          <p:cNvPr id="6" name="tile caption"/>
          <p:cNvSpPr txBox="1"/>
          <p:nvPr/>
        </p:nvSpPr>
        <p:spPr>
          <a:xfrm>
            <a:off x="548640"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Gear: Ø14.000 entry lip, 8 T-slots</a:t>
            </a:r>
            <a:endParaRPr lang="en-US" sz="1050" dirty="0"/>
          </a:p>
        </p:txBody>
      </p:sp>
      <p:sp>
        <p:nvSpPr>
          <p:cNvPr id="7" name="tile frame"/>
          <p:cNvSpPr/>
          <p:nvPr/>
        </p:nvSpPr>
        <p:spPr>
          <a:xfrm>
            <a:off x="3438144" y="1097280"/>
            <a:ext cx="2779776" cy="1371600"/>
          </a:xfrm>
          <a:prstGeom prst="rect">
            <a:avLst/>
          </a:prstGeom>
          <a:solidFill>
            <a:srgbClr val="FFFFFF"/>
          </a:solidFill>
          <a:ln w="9525">
            <a:solidFill>
              <a:srgbClr val="BFBFBF"/>
            </a:solidFill>
            <a:prstDash val="solid"/>
          </a:ln>
        </p:spPr>
      </p:sp>
      <p:pic>
        <p:nvPicPr>
          <p:cNvPr id="8" name="Cut open: 687 bearing on the printed pin" descr="Cut open: 687 bearing on the printed pin">    </p:cNvPr>
          <p:cNvPicPr>
            <a:picLocks noChangeAspect="1"/>
          </p:cNvPicPr>
          <p:nvPr/>
        </p:nvPicPr>
        <p:blipFill>
          <a:blip r:embed="rId2"/>
          <a:stretch>
            <a:fillRect/>
          </a:stretch>
        </p:blipFill>
        <p:spPr>
          <a:xfrm>
            <a:off x="3470380" y="1115568"/>
            <a:ext cx="2715303" cy="1335024"/>
          </a:xfrm>
          <a:prstGeom prst="rect">
            <a:avLst/>
          </a:prstGeom>
        </p:spPr>
      </p:pic>
      <p:sp>
        <p:nvSpPr>
          <p:cNvPr id="9" name="tile caption"/>
          <p:cNvSpPr txBox="1"/>
          <p:nvPr/>
        </p:nvSpPr>
        <p:spPr>
          <a:xfrm>
            <a:off x="3438144"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Cut open: 687 bearing on the printed pin</a:t>
            </a:r>
            <a:endParaRPr lang="en-US" sz="1050" dirty="0"/>
          </a:p>
        </p:txBody>
      </p:sp>
      <p:sp>
        <p:nvSpPr>
          <p:cNvPr id="10" name="tile frame"/>
          <p:cNvSpPr/>
          <p:nvPr/>
        </p:nvSpPr>
        <p:spPr>
          <a:xfrm>
            <a:off x="548640" y="2743200"/>
            <a:ext cx="2779776" cy="1371600"/>
          </a:xfrm>
          <a:prstGeom prst="rect">
            <a:avLst/>
          </a:prstGeom>
          <a:solidFill>
            <a:srgbClr val="FFFFFF"/>
          </a:solidFill>
          <a:ln w="9525">
            <a:solidFill>
              <a:srgbClr val="BFBFBF"/>
            </a:solidFill>
            <a:prstDash val="solid"/>
          </a:ln>
        </p:spPr>
      </p:sp>
      <p:pic>
        <p:nvPicPr>
          <p:cNvPr id="11" name="Slide-in rib in the wall-mount dovetail" descr="Slide-in rib in the wall-mount dovetail">    </p:cNvPr>
          <p:cNvPicPr>
            <a:picLocks noChangeAspect="1"/>
          </p:cNvPicPr>
          <p:nvPr/>
        </p:nvPicPr>
        <p:blipFill>
          <a:blip r:embed="rId3"/>
          <a:stretch>
            <a:fillRect/>
          </a:stretch>
        </p:blipFill>
        <p:spPr>
          <a:xfrm>
            <a:off x="580876" y="2761488"/>
            <a:ext cx="2715303" cy="1335024"/>
          </a:xfrm>
          <a:prstGeom prst="rect">
            <a:avLst/>
          </a:prstGeom>
        </p:spPr>
      </p:pic>
      <p:sp>
        <p:nvSpPr>
          <p:cNvPr id="12" name="tile caption"/>
          <p:cNvSpPr txBox="1"/>
          <p:nvPr/>
        </p:nvSpPr>
        <p:spPr>
          <a:xfrm>
            <a:off x="548640"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Slide-in rib in the wall-mount dovetail</a:t>
            </a:r>
            <a:endParaRPr lang="en-US" sz="1050" dirty="0"/>
          </a:p>
        </p:txBody>
      </p:sp>
      <p:sp>
        <p:nvSpPr>
          <p:cNvPr id="13" name="tile frame"/>
          <p:cNvSpPr/>
          <p:nvPr/>
        </p:nvSpPr>
        <p:spPr>
          <a:xfrm>
            <a:off x="3438144" y="2743200"/>
            <a:ext cx="2779776" cy="1371600"/>
          </a:xfrm>
          <a:prstGeom prst="rect">
            <a:avLst/>
          </a:prstGeom>
          <a:solidFill>
            <a:srgbClr val="FFFFFF"/>
          </a:solidFill>
          <a:ln w="9525">
            <a:solidFill>
              <a:srgbClr val="BFBFBF"/>
            </a:solidFill>
            <a:prstDash val="solid"/>
          </a:ln>
        </p:spPr>
      </p:sp>
      <p:pic>
        <p:nvPicPr>
          <p:cNvPr id="14" name="Heat-set pocket: Ø4.1 × 7 over Ø3.4" descr="Heat-set pocket: Ø4.1 × 7 over Ø3.4">    </p:cNvPr>
          <p:cNvPicPr>
            <a:picLocks noChangeAspect="1"/>
          </p:cNvPicPr>
          <p:nvPr/>
        </p:nvPicPr>
        <p:blipFill>
          <a:blip r:embed="rId4"/>
          <a:stretch>
            <a:fillRect/>
          </a:stretch>
        </p:blipFill>
        <p:spPr>
          <a:xfrm>
            <a:off x="3470380" y="2761488"/>
            <a:ext cx="2715303" cy="1335024"/>
          </a:xfrm>
          <a:prstGeom prst="rect">
            <a:avLst/>
          </a:prstGeom>
        </p:spPr>
      </p:pic>
      <p:sp>
        <p:nvSpPr>
          <p:cNvPr id="15" name="tile caption"/>
          <p:cNvSpPr txBox="1"/>
          <p:nvPr/>
        </p:nvSpPr>
        <p:spPr>
          <a:xfrm>
            <a:off x="3438144"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Heat-set pocket: Ø4.1 × 7 over Ø3.4</a:t>
            </a:r>
            <a:endParaRPr lang="en-US" sz="1050" dirty="0"/>
          </a:p>
        </p:txBody>
      </p:sp>
      <p:sp>
        <p:nvSpPr>
          <p:cNvPr id="16" name="tile frame"/>
          <p:cNvSpPr/>
          <p:nvPr/>
        </p:nvSpPr>
        <p:spPr>
          <a:xfrm>
            <a:off x="548640" y="4389120"/>
            <a:ext cx="2779776" cy="1371600"/>
          </a:xfrm>
          <a:prstGeom prst="rect">
            <a:avLst/>
          </a:prstGeom>
          <a:solidFill>
            <a:srgbClr val="FFFFFF"/>
          </a:solidFill>
          <a:ln w="9525">
            <a:solidFill>
              <a:srgbClr val="BFBFBF"/>
            </a:solidFill>
            <a:prstDash val="solid"/>
          </a:ln>
        </p:spPr>
      </p:sp>
      <p:pic>
        <p:nvPicPr>
          <p:cNvPr id="17" name="v3 spool: D-bore and set-screw hole" descr="v3 spool: D-bore and set-screw hole">    </p:cNvPr>
          <p:cNvPicPr>
            <a:picLocks noChangeAspect="1"/>
          </p:cNvPicPr>
          <p:nvPr/>
        </p:nvPicPr>
        <p:blipFill>
          <a:blip r:embed="rId5"/>
          <a:stretch>
            <a:fillRect/>
          </a:stretch>
        </p:blipFill>
        <p:spPr>
          <a:xfrm>
            <a:off x="580876" y="4407408"/>
            <a:ext cx="2715303" cy="1335024"/>
          </a:xfrm>
          <a:prstGeom prst="rect">
            <a:avLst/>
          </a:prstGeom>
        </p:spPr>
      </p:pic>
      <p:sp>
        <p:nvSpPr>
          <p:cNvPr id="18" name="tile caption"/>
          <p:cNvSpPr txBox="1"/>
          <p:nvPr/>
        </p:nvSpPr>
        <p:spPr>
          <a:xfrm>
            <a:off x="548640"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v3 spool: D-bore and set-screw hole</a:t>
            </a:r>
            <a:endParaRPr lang="en-US" sz="1050" dirty="0"/>
          </a:p>
        </p:txBody>
      </p:sp>
      <p:sp>
        <p:nvSpPr>
          <p:cNvPr id="19" name="tile frame"/>
          <p:cNvSpPr/>
          <p:nvPr/>
        </p:nvSpPr>
        <p:spPr>
          <a:xfrm>
            <a:off x="3438144" y="4389120"/>
            <a:ext cx="2779776" cy="1371600"/>
          </a:xfrm>
          <a:prstGeom prst="rect">
            <a:avLst/>
          </a:prstGeom>
          <a:solidFill>
            <a:srgbClr val="FFFFFF"/>
          </a:solidFill>
          <a:ln w="9525">
            <a:solidFill>
              <a:srgbClr val="BFBFBF"/>
            </a:solidFill>
            <a:prstDash val="solid"/>
          </a:ln>
        </p:spPr>
      </p:sp>
      <p:pic>
        <p:nvPicPr>
          <p:cNvPr id="20" name="Fin: holes drilled from the first hole" descr="Fin: holes drilled from the first hole">    </p:cNvPr>
          <p:cNvPicPr>
            <a:picLocks noChangeAspect="1"/>
          </p:cNvPicPr>
          <p:nvPr/>
        </p:nvPicPr>
        <p:blipFill>
          <a:blip r:embed="rId6"/>
          <a:stretch>
            <a:fillRect/>
          </a:stretch>
        </p:blipFill>
        <p:spPr>
          <a:xfrm>
            <a:off x="4327398" y="4407408"/>
            <a:ext cx="1001268" cy="1335024"/>
          </a:xfrm>
          <a:prstGeom prst="rect">
            <a:avLst/>
          </a:prstGeom>
        </p:spPr>
      </p:pic>
      <p:sp>
        <p:nvSpPr>
          <p:cNvPr id="21" name="tile caption"/>
          <p:cNvSpPr txBox="1"/>
          <p:nvPr/>
        </p:nvSpPr>
        <p:spPr>
          <a:xfrm>
            <a:off x="3438144"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Fin: holes drilled from the first hole</a:t>
            </a:r>
            <a:endParaRPr lang="en-US" sz="1050" dirty="0"/>
          </a:p>
        </p:txBody>
      </p:sp>
      <p:sp>
        <p:nvSpPr>
          <p:cNvPr id="22" name="caption"/>
          <p:cNvSpPr txBox="1"/>
          <p:nvPr/>
        </p:nvSpPr>
        <p:spPr>
          <a:xfrm>
            <a:off x="548640" y="603504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SolidWorks parts; blue and tan are cut faces, dark grey the bought bearing</a:t>
            </a:r>
            <a:endParaRPr lang="en-US" sz="1100" dirty="0"/>
          </a:p>
        </p:txBody>
      </p:sp>
      <p:graphicFrame>
        <p:nvGraphicFramePr>
          <p:cNvPr id="18"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287704"/>
                <a:gridCol w="2266359"/>
                <a:gridCol w="1596753"/>
              </a:tblGrid>
              <a:tr h="45720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 drawn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bearings (687)</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Ø14.075 pocket behind a Ø14.000 lip, 1.95 long, 8 T-slots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Snaps past the lip, +0.075 behind 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pins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Printed Ø7.000 pin into a Ø7.05 socket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Line-to-line in the bearing; +0.05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Slide-in mount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0.175 per side; 30° dovetail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Slip fit, 0.14–0.21 on the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Spool on Ø5 D-shaft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Ø5.30 bore (10/21), Ø5.45 in v3; 0.5 mm flat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+0.30 to +0.45: Ø5.2 printed too tight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Heat-set inserts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Ø4.1 × 7 deck, Ø4.0 × 5 gear housing; M2.5: Ø3.45 ×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Melt-in; hole deeper than the insert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Screw clearance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Ø3.5 printed, Ø3.4 drilled; wall Ø3.97 (5/32 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+0.5 printed, +0.4 drilled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pilot, Ø22 boss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Ø22.4 printed tab, Ø22.5 drilled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 / +0.5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 hole zero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Edges locate the bottom-left hole; drilled, it is the zero for the other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Pattern ±0.1, free of the ±0.5 sheared edges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4" name="printing rules"/>
          <p:cNvSpPr txBox="1"/>
          <p:nvPr/>
        </p:nvSpPr>
        <p:spPr>
          <a:xfrm>
            <a:off x="6492240" y="5349240"/>
            <a:ext cx="5150815" cy="86868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Phone app screens" descr="Phone app screens">    </p:cNvPr>
          <p:cNvPicPr>
            <a:picLocks noChangeAspect="1"/>
          </p:cNvPicPr>
          <p:nvPr/>
        </p:nvPicPr>
        <p:blipFill>
          <a:blip r:embed="rId1"/>
          <a:stretch>
            <a:fillRect/>
          </a:stretch>
        </p:blipFill>
        <p:spPr>
          <a:xfrm>
            <a:off x="1024897" y="1188720"/>
            <a:ext cx="1077454" cy="2331720"/>
          </a:xfrm>
          <a:prstGeom prst="rect">
            <a:avLst/>
          </a:prstGeom>
        </p:spPr>
      </p:pic>
      <p:pic>
        <p:nvPicPr>
          <p:cNvPr id="5" name="Phone app screens" descr="Phone app screens">    </p:cNvPr>
          <p:cNvPicPr>
            <a:picLocks noChangeAspect="1"/>
          </p:cNvPicPr>
          <p:nvPr/>
        </p:nvPicPr>
        <p:blipFill>
          <a:blip r:embed="rId2"/>
          <a:stretch>
            <a:fillRect/>
          </a:stretch>
        </p:blipFill>
        <p:spPr>
          <a:xfrm>
            <a:off x="3164593" y="1188720"/>
            <a:ext cx="1077454" cy="2331720"/>
          </a:xfrm>
          <a:prstGeom prst="rect">
            <a:avLst/>
          </a:prstGeom>
        </p:spPr>
      </p:pic>
      <p:pic>
        <p:nvPicPr>
          <p:cNvPr id="6" name="Phone app screens" descr="Phone app screens">    </p:cNvPr>
          <p:cNvPicPr>
            <a:picLocks noChangeAspect="1"/>
          </p:cNvPicPr>
          <p:nvPr/>
        </p:nvPicPr>
        <p:blipFill>
          <a:blip r:embed="rId3"/>
          <a:stretch>
            <a:fillRect/>
          </a:stretch>
        </p:blipFill>
        <p:spPr>
          <a:xfrm>
            <a:off x="5304289" y="1188720"/>
            <a:ext cx="1077454" cy="2331720"/>
          </a:xfrm>
          <a:prstGeom prst="rect">
            <a:avLst/>
          </a:prstGeom>
        </p:spPr>
      </p:pic>
      <p:sp>
        <p:nvSpPr>
          <p:cNvPr id="7" name="caption"/>
          <p:cNvSpPr txBox="1"/>
          <p:nvPr/>
        </p:nvSpPr>
        <p:spPr>
          <a:xfrm>
            <a:off x="548640" y="3611880"/>
            <a:ext cx="63093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chat; every move waits for approval</a:t>
            </a:r>
            <a:endParaRPr lang="en-US" sz="1100" dirty="0"/>
          </a:p>
        </p:txBody>
      </p:sp>
      <p:graphicFrame>
        <p:nvGraphicFramePr>
          <p:cNvPr id="19" name="pass limits"/>
          <p:cNvGraphicFramePr>
            <a:graphicFrameLocks noGrp="1"/>
          </p:cNvGraphicFramePr>
          <p:nvPr>
            <p:extLst>
              <p:ext uri="{D42A27DB-BD31-4B8C-83A1-F6EECF244321}">
                <p14:modId xmlns:p14="http://schemas.microsoft.com/office/powerpoint/2010/main" val="1579011935"/>
              </p:ext>
            </p:extLst>
          </p:nvPr>
        </p:nvGraphicFramePr>
        <p:xfrm>
          <a:off x="548640" y="4069080"/>
          <a:ext cx="6309360" cy="914400"/>
        </p:xfrm>
        <a:graphic>
          <a:graphicData uri="http://schemas.openxmlformats.org/drawingml/2006/table">
            <a:tbl>
              <a:tblPr/>
              <a:tblGrid>
                <a:gridCol w="1577340"/>
                <a:gridCol w="3596335"/>
                <a:gridCol w="1135685"/>
              </a:tblGrid>
              <a:tr h="402336">
                <a:tc>
                  <a:txBody>
                    <a:bodyPr/>
                    <a:lstStyle/>
                    <a:p>
                      <a:pPr indent="0" marL="0">
                        <a:buNone/>
                      </a:pPr>
                      <a:r>
                        <a:rPr lang="en-US" sz="1200" b="1" dirty="0">
                          <a:solidFill>
                            <a:srgbClr val="FFFFFF"/>
                          </a:solidFill>
                          <a:latin typeface="Arial" pitchFamily="34" charset="0"/>
                          <a:ea typeface="Arial" pitchFamily="34" charset="-122"/>
                          <a:cs typeface="Arial" pitchFamily="34" charset="-120"/>
                        </a:rPr>
                        <a:t>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 limit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Result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Self-check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All stations answer; slack taken 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Calibration</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Held-out poses: cable residual ≤ 20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Short move, 1 lb</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300 mm at 50 mm/s; cable mismatch ≤ 2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Pickup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One garment into the hamper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9" name="test bullets"/>
          <p:cNvSpPr txBox="1"/>
          <p:nvPr/>
        </p:nvSpPr>
        <p:spPr>
          <a:xfrm>
            <a:off x="7223760" y="1234440"/>
            <a:ext cx="4419295" cy="192024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Three stations hold the claw under gravity over the triangle they span, about half the floor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Sequence: self-check, calibration, short move, then pickup</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 lb first, then one garment; pass limits set before the run</a:t>
            </a:r>
            <a:endParaRPr lang="en-US" sz="1500" dirty="0"/>
          </a:p>
        </p:txBody>
      </p:sp>
      <p:sp>
        <p:nvSpPr>
          <p:cNvPr id="10" name="label"/>
          <p:cNvSpPr txBox="1"/>
          <p:nvPr/>
        </p:nvSpPr>
        <p:spPr>
          <a:xfrm>
            <a:off x="7223760" y="3200400"/>
            <a:ext cx="4419295" cy="256032"/>
          </a:xfrm>
          <a:prstGeom prst="rect">
            <a:avLst/>
          </a:prstGeom>
          <a:noFill/>
          <a:ln/>
        </p:spPr>
        <p:txBody>
          <a:bodyPr wrap="square" lIns="0" tIns="0" rIns="0" bIns="0" rtlCol="0" anchor="ctr"/>
          <a:lstStyle/>
          <a:p>
            <a:pPr algn="l" indent="0" marL="0">
              <a:buNone/>
            </a:pPr>
            <a:r>
              <a:rPr lang="en-US" sz="1200" b="1" dirty="0">
                <a:solidFill>
                  <a:srgbClr val="1F3A5F"/>
                </a:solidFill>
                <a:latin typeface="Arial" pitchFamily="34" charset="0"/>
                <a:ea typeface="Arial" pitchFamily="34" charset="-122"/>
                <a:cs typeface="Arial" pitchFamily="34" charset="-120"/>
              </a:rPr>
              <a:t>If something goes wrong</a:t>
            </a:r>
            <a:endParaRPr lang="en-US" sz="1200" dirty="0"/>
          </a:p>
        </p:txBody>
      </p:sp>
      <p:graphicFrame>
        <p:nvGraphicFramePr>
          <p:cNvPr id="37" name="safe state"/>
          <p:cNvGraphicFramePr>
            <a:graphicFrameLocks noGrp="1"/>
          </p:cNvGraphicFramePr>
          <p:nvPr>
            <p:extLst>
              <p:ext uri="{D42A27DB-BD31-4B8C-83A1-F6EECF244321}">
                <p14:modId xmlns:p14="http://schemas.microsoft.com/office/powerpoint/2010/main" val="1579011935"/>
              </p:ext>
            </p:extLst>
          </p:nvPr>
        </p:nvGraphicFramePr>
        <p:xfrm>
          <a:off x="7223760" y="3474720"/>
          <a:ext cx="4419295" cy="914400"/>
        </p:xfrm>
        <a:graphic>
          <a:graphicData uri="http://schemas.openxmlformats.org/drawingml/2006/table">
            <a:tbl>
              <a:tblPr/>
              <a:tblGrid>
                <a:gridCol w="1679332"/>
                <a:gridCol w="2739963"/>
              </a:tblGrid>
              <a:tr h="402336">
                <a:tc>
                  <a:txBody>
                    <a:bodyPr/>
                    <a:lstStyle/>
                    <a:p>
                      <a:pPr indent="0" marL="0">
                        <a:buNone/>
                      </a:pPr>
                      <a:r>
                        <a:rPr lang="en-US" sz="1000" b="1" dirty="0">
                          <a:solidFill>
                            <a:srgbClr val="FFFFFF"/>
                          </a:solidFill>
                          <a:latin typeface="Arial" pitchFamily="34" charset="0"/>
                          <a:ea typeface="Arial" pitchFamily="34" charset="-122"/>
                          <a:cs typeface="Arial" pitchFamily="34" charset="-120"/>
                        </a:rPr>
                        <a:t>Event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happens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PAUSE or a detected fault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All stations hold with torque on; nothing restarts without approval</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Wi-Fi link lost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Stations stop and hold on their own clocks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Power loss or emergency stop</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Torque is lost and the claw can fall, so nobody stands underneath; brake planned</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Reset or brown-out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Driver off at boot: same as a power loss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Driver over-temperature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The A4988 shuts off; the hold test watches it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218883"/>
                <a:gridCol w="3328325"/>
                <a:gridCol w="1442274"/>
                <a:gridCol w="2218883"/>
              </a:tblGrid>
              <a:tr h="4114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Target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Goal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Current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Evidence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Lift capacity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1.50 kg with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1.56 kg; 1.1 kg at 0.5 × holding torque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pull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Grip for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17.7 N per jaw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13.3–25 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Short at narrow grabs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Claw 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0.45 kg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0.60 kg with battery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Weighed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Not 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Motor 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Below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 prototype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Weakest link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Motor slips first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Set screw may slip first; tab at 1.2 ×</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Two fixes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Working area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0.2 m wall margin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All but 0.2 m at the walls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Wiring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cable per station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12 V pair; 0.51 V drop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Built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Accuracy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 2 mm cable mismatch</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40 ms skew budget gives 2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measured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Speed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50 mm/s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Hobby budget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totaled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Receipts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Open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1"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Good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One controller per winch</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Five times less wire; each station tested alone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Camera calibration instead of bead homing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Whole room reachable; caught on paper before building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Teeth checked at servo stall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clamp stalls the servo on every grip: safety factor 2.05</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41" name="poor decisions"/>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4215878"/>
                <a:gridCol w="6878537"/>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Poor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Mass not tracked through four claw versions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v6 reached 4.6 times its budget in CAD; the claw is 0.15 kg over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Prototype fin cut from scrap sheet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1–4 K of thermal margin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Build and test week ends on presentation day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System results arrive at the last minute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Parts built far stronger than any load needed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Station mount 17 to 225 times the motor's pull; 1.2 L of PETG per station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horough and scrappy"/>
          <p:cNvSpPr txBox="1"/>
          <p:nvPr/>
        </p:nvSpPr>
        <p:spPr>
          <a:xfrm>
            <a:off x="548640" y="5257800"/>
            <a:ext cx="11094415" cy="960120"/>
          </a:xfrm>
          <a:prstGeom prst="rect">
            <a:avLst/>
          </a:prstGeom>
          <a:noFill/>
          <a:ln/>
        </p:spPr>
        <p:txBody>
          <a:bodyPr wrap="square" lIns="25400" tIns="0" rIns="50800" bIns="25400" rtlCol="0" anchor="t"/>
          <a:lstStyle/>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Thorough where a mistake is expensive: fin holes drilled from the first hole as zero, the stall check on the teeth</a:t>
            </a:r>
            <a:endParaRPr lang="en-US" sz="1600" dirty="0"/>
          </a:p>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Scrappy where it is cheap to undo: a jumpered ESP32 after a controller failed, a floor board printed on paper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label"/>
          <p:cNvSpPr txBox="1"/>
          <p:nvPr/>
        </p:nvSpPr>
        <p:spPr>
          <a:xfrm>
            <a:off x="548640" y="237744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5" name="Concept"/>
          <p:cNvSpPr/>
          <p:nvPr/>
        </p:nvSpPr>
        <p:spPr>
          <a:xfrm>
            <a:off x="1874520" y="2377440"/>
            <a:ext cx="1024743" cy="685800"/>
          </a:xfrm>
          <a:prstGeom prst="rect">
            <a:avLst/>
          </a:prstGeom>
          <a:solidFill>
            <a:srgbClr val="D9DEE5"/>
          </a:solidFill>
          <a:ln w="19050">
            <a:solidFill>
              <a:srgbClr val="FFFFFF"/>
            </a:solidFill>
            <a:prstDash val="solid"/>
          </a:ln>
        </p:spPr>
      </p:sp>
      <p:sp>
        <p:nvSpPr>
          <p:cNvPr id="6" name="label"/>
          <p:cNvSpPr txBox="1"/>
          <p:nvPr/>
        </p:nvSpPr>
        <p:spPr>
          <a:xfrm>
            <a:off x="1901952" y="2377440"/>
            <a:ext cx="969879"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7" name="Gen 1"/>
          <p:cNvSpPr/>
          <p:nvPr/>
        </p:nvSpPr>
        <p:spPr>
          <a:xfrm>
            <a:off x="2899263" y="2377440"/>
            <a:ext cx="1366325" cy="685800"/>
          </a:xfrm>
          <a:prstGeom prst="rect">
            <a:avLst/>
          </a:prstGeom>
          <a:solidFill>
            <a:srgbClr val="4F6D8F"/>
          </a:solidFill>
          <a:ln w="19050">
            <a:solidFill>
              <a:srgbClr val="FFFFFF"/>
            </a:solidFill>
            <a:prstDash val="solid"/>
          </a:ln>
        </p:spPr>
      </p:sp>
      <p:sp>
        <p:nvSpPr>
          <p:cNvPr id="8" name="label"/>
          <p:cNvSpPr txBox="1"/>
          <p:nvPr/>
        </p:nvSpPr>
        <p:spPr>
          <a:xfrm>
            <a:off x="2926695" y="2377440"/>
            <a:ext cx="1311461"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9" name="Redesign"/>
          <p:cNvSpPr/>
          <p:nvPr/>
        </p:nvSpPr>
        <p:spPr>
          <a:xfrm>
            <a:off x="4265588" y="2377440"/>
            <a:ext cx="1659108" cy="685800"/>
          </a:xfrm>
          <a:prstGeom prst="rect">
            <a:avLst/>
          </a:prstGeom>
          <a:solidFill>
            <a:srgbClr val="D9DEE5"/>
          </a:solidFill>
          <a:ln w="19050">
            <a:solidFill>
              <a:srgbClr val="FFFFFF"/>
            </a:solidFill>
            <a:prstDash val="solid"/>
          </a:ln>
        </p:spPr>
      </p:sp>
      <p:sp>
        <p:nvSpPr>
          <p:cNvPr id="10" name="label"/>
          <p:cNvSpPr txBox="1"/>
          <p:nvPr/>
        </p:nvSpPr>
        <p:spPr>
          <a:xfrm>
            <a:off x="4293020" y="2377440"/>
            <a:ext cx="1604244"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Redesign</a:t>
            </a:r>
            <a:endParaRPr lang="en-US" sz="1200" dirty="0"/>
          </a:p>
        </p:txBody>
      </p:sp>
      <p:sp>
        <p:nvSpPr>
          <p:cNvPr id="11" name="Final"/>
          <p:cNvSpPr/>
          <p:nvPr/>
        </p:nvSpPr>
        <p:spPr>
          <a:xfrm>
            <a:off x="5924697" y="2377440"/>
            <a:ext cx="731960" cy="685800"/>
          </a:xfrm>
          <a:prstGeom prst="rect">
            <a:avLst/>
          </a:prstGeom>
          <a:solidFill>
            <a:srgbClr val="4F6D8F"/>
          </a:solidFill>
          <a:ln w="19050">
            <a:solidFill>
              <a:srgbClr val="FFFFFF"/>
            </a:solidFill>
            <a:prstDash val="solid"/>
          </a:ln>
        </p:spPr>
      </p:sp>
      <p:sp>
        <p:nvSpPr>
          <p:cNvPr id="12" name="label"/>
          <p:cNvSpPr txBox="1"/>
          <p:nvPr/>
        </p:nvSpPr>
        <p:spPr>
          <a:xfrm>
            <a:off x="5952129" y="2377440"/>
            <a:ext cx="677096"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p>
        </p:txBody>
      </p:sp>
      <p:sp>
        <p:nvSpPr>
          <p:cNvPr id="13" name="Build and test"/>
          <p:cNvSpPr/>
          <p:nvPr/>
        </p:nvSpPr>
        <p:spPr>
          <a:xfrm>
            <a:off x="6656656" y="2377440"/>
            <a:ext cx="292784" cy="685800"/>
          </a:xfrm>
          <a:prstGeom prst="rect">
            <a:avLst/>
          </a:prstGeom>
          <a:solidFill>
            <a:srgbClr val="1F3A5F"/>
          </a:solidFill>
          <a:ln w="19050">
            <a:solidFill>
              <a:srgbClr val="FFFFFF"/>
            </a:solidFill>
            <a:prstDash val="solid"/>
          </a:ln>
        </p:spPr>
      </p:sp>
      <p:sp>
        <p:nvSpPr>
          <p:cNvPr id="14" name="label"/>
          <p:cNvSpPr txBox="1"/>
          <p:nvPr/>
        </p:nvSpPr>
        <p:spPr>
          <a:xfrm>
            <a:off x="5852160" y="3090672"/>
            <a:ext cx="1097280" cy="228600"/>
          </a:xfrm>
          <a:prstGeom prst="rect">
            <a:avLst/>
          </a:prstGeom>
          <a:noFill/>
          <a:ln/>
        </p:spPr>
        <p:txBody>
          <a:bodyPr wrap="square" lIns="0" tIns="0" rIns="0" bIns="0" rtlCol="0" anchor="ctr"/>
          <a:lstStyle/>
          <a:p>
            <a:pPr algn="r" indent="0" marL="0">
              <a:buNone/>
            </a:pPr>
            <a:r>
              <a:rPr lang="en-US" sz="1000" b="1" dirty="0">
                <a:solidFill>
                  <a:srgbClr val="1F3A5F"/>
                </a:solidFill>
                <a:latin typeface="Arial" pitchFamily="34" charset="0"/>
                <a:ea typeface="Arial" pitchFamily="34" charset="-122"/>
                <a:cs typeface="Arial" pitchFamily="34" charset="-120"/>
              </a:rPr>
              <a:t>Build and test</a:t>
            </a:r>
            <a:endParaRPr lang="en-US" sz="1000" dirty="0"/>
          </a:p>
        </p:txBody>
      </p:sp>
      <p:sp>
        <p:nvSpPr>
          <p:cNvPr id="15" name="label"/>
          <p:cNvSpPr txBox="1"/>
          <p:nvPr/>
        </p:nvSpPr>
        <p:spPr>
          <a:xfrm>
            <a:off x="548640" y="347472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 time</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16" name="Plan"/>
          <p:cNvSpPr/>
          <p:nvPr/>
        </p:nvSpPr>
        <p:spPr>
          <a:xfrm>
            <a:off x="1874520" y="3474720"/>
            <a:ext cx="341581" cy="685800"/>
          </a:xfrm>
          <a:prstGeom prst="rect">
            <a:avLst/>
          </a:prstGeom>
          <a:solidFill>
            <a:srgbClr val="D9DEE5"/>
          </a:solidFill>
          <a:ln w="19050">
            <a:solidFill>
              <a:srgbClr val="FFFFFF"/>
            </a:solidFill>
            <a:prstDash val="solid"/>
          </a:ln>
        </p:spPr>
      </p:sp>
      <p:sp>
        <p:nvSpPr>
          <p:cNvPr id="17" name="label"/>
          <p:cNvSpPr txBox="1"/>
          <p:nvPr/>
        </p:nvSpPr>
        <p:spPr>
          <a:xfrm>
            <a:off x="1901952" y="3474720"/>
            <a:ext cx="286717"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Plan</a:t>
            </a:r>
            <a:endParaRPr lang="en-US" sz="900" dirty="0"/>
          </a:p>
        </p:txBody>
      </p:sp>
      <p:sp>
        <p:nvSpPr>
          <p:cNvPr id="18" name="One station"/>
          <p:cNvSpPr/>
          <p:nvPr/>
        </p:nvSpPr>
        <p:spPr>
          <a:xfrm>
            <a:off x="2216101" y="3474720"/>
            <a:ext cx="683162" cy="685800"/>
          </a:xfrm>
          <a:prstGeom prst="rect">
            <a:avLst/>
          </a:prstGeom>
          <a:solidFill>
            <a:srgbClr val="4F6D8F"/>
          </a:solidFill>
          <a:ln w="19050">
            <a:solidFill>
              <a:srgbClr val="FFFFFF"/>
            </a:solidFill>
            <a:prstDash val="solid"/>
          </a:ln>
        </p:spPr>
      </p:sp>
      <p:sp>
        <p:nvSpPr>
          <p:cNvPr id="19" name="label"/>
          <p:cNvSpPr txBox="1"/>
          <p:nvPr/>
        </p:nvSpPr>
        <p:spPr>
          <a:xfrm>
            <a:off x="2243533" y="3474720"/>
            <a:ext cx="628298"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One station</a:t>
            </a:r>
            <a:endParaRPr lang="en-US" sz="1050" dirty="0"/>
          </a:p>
        </p:txBody>
      </p:sp>
      <p:sp>
        <p:nvSpPr>
          <p:cNvPr id="20" name="Copy"/>
          <p:cNvSpPr/>
          <p:nvPr/>
        </p:nvSpPr>
        <p:spPr>
          <a:xfrm>
            <a:off x="2899263" y="3474720"/>
            <a:ext cx="341581" cy="685800"/>
          </a:xfrm>
          <a:prstGeom prst="rect">
            <a:avLst/>
          </a:prstGeom>
          <a:solidFill>
            <a:srgbClr val="D9DEE5"/>
          </a:solidFill>
          <a:ln w="19050">
            <a:solidFill>
              <a:srgbClr val="FFFFFF"/>
            </a:solidFill>
            <a:prstDash val="solid"/>
          </a:ln>
        </p:spPr>
      </p:sp>
      <p:sp>
        <p:nvSpPr>
          <p:cNvPr id="21" name="label"/>
          <p:cNvSpPr txBox="1"/>
          <p:nvPr/>
        </p:nvSpPr>
        <p:spPr>
          <a:xfrm>
            <a:off x="2926695" y="3474720"/>
            <a:ext cx="286717"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Copy</a:t>
            </a:r>
            <a:endParaRPr lang="en-US" sz="900" dirty="0"/>
          </a:p>
        </p:txBody>
      </p:sp>
      <p:sp>
        <p:nvSpPr>
          <p:cNvPr id="22" name="Clamp"/>
          <p:cNvSpPr/>
          <p:nvPr/>
        </p:nvSpPr>
        <p:spPr>
          <a:xfrm>
            <a:off x="3240845" y="3474720"/>
            <a:ext cx="683162" cy="685800"/>
          </a:xfrm>
          <a:prstGeom prst="rect">
            <a:avLst/>
          </a:prstGeom>
          <a:solidFill>
            <a:srgbClr val="4F6D8F"/>
          </a:solidFill>
          <a:ln w="19050">
            <a:solidFill>
              <a:srgbClr val="FFFFFF"/>
            </a:solidFill>
            <a:prstDash val="solid"/>
          </a:ln>
        </p:spPr>
      </p:sp>
      <p:sp>
        <p:nvSpPr>
          <p:cNvPr id="23" name="label"/>
          <p:cNvSpPr txBox="1"/>
          <p:nvPr/>
        </p:nvSpPr>
        <p:spPr>
          <a:xfrm>
            <a:off x="3268277" y="3474720"/>
            <a:ext cx="628298"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Clamp</a:t>
            </a:r>
            <a:endParaRPr lang="en-US" sz="1050" dirty="0"/>
          </a:p>
        </p:txBody>
      </p:sp>
      <p:sp>
        <p:nvSpPr>
          <p:cNvPr id="24" name="Test"/>
          <p:cNvSpPr/>
          <p:nvPr/>
        </p:nvSpPr>
        <p:spPr>
          <a:xfrm>
            <a:off x="3924007" y="3474720"/>
            <a:ext cx="341581" cy="685800"/>
          </a:xfrm>
          <a:prstGeom prst="rect">
            <a:avLst/>
          </a:prstGeom>
          <a:solidFill>
            <a:srgbClr val="1F3A5F"/>
          </a:solidFill>
          <a:ln w="19050">
            <a:solidFill>
              <a:srgbClr val="FFFFFF"/>
            </a:solidFill>
            <a:prstDash val="solid"/>
          </a:ln>
        </p:spPr>
      </p:sp>
      <p:sp>
        <p:nvSpPr>
          <p:cNvPr id="25" name="label"/>
          <p:cNvSpPr txBox="1"/>
          <p:nvPr/>
        </p:nvSpPr>
        <p:spPr>
          <a:xfrm>
            <a:off x="3951439" y="3474720"/>
            <a:ext cx="286717" cy="6858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p>
        </p:txBody>
      </p:sp>
      <p:sp>
        <p:nvSpPr>
          <p:cNvPr id="26" name="caption"/>
          <p:cNvSpPr txBox="1"/>
          <p:nvPr/>
        </p:nvSpPr>
        <p:spPr>
          <a:xfrm>
            <a:off x="1874520" y="4297680"/>
            <a:ext cx="5074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time scale. Half time: plan (pull test, mass budget), one station, copy, clamp, test.</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400"/>
              </a:spcAft>
              <a:buSzPct val="100000"/>
              <a:buChar char="•"/>
            </a:pPr>
            <a:r>
              <a:rPr lang="en-US" sz="1400" dirty="0">
                <a:solidFill>
                  <a:srgbClr val="1A1A1A"/>
                </a:solidFill>
                <a:latin typeface="Arial" pitchFamily="34" charset="0"/>
                <a:ea typeface="Arial" pitchFamily="34" charset="-122"/>
                <a:cs typeface="Arial" pitchFamily="34" charset="-120"/>
              </a:rPr>
              <a:t>Takeaways</a:t>
            </a:r>
            <a:endParaRPr lang="en-US" sz="1400" dirty="0"/>
          </a:p>
          <a:p>
            <a:pPr algn="l" lvl="1" marL="457200" indent="-228600">
              <a:spcAft>
                <a:spcPts val="600"/>
              </a:spcAft>
              <a:buSzPct val="100000"/>
              <a:buChar char="•"/>
            </a:pPr>
            <a:r>
              <a:rPr lang="en-US" sz="1200" dirty="0">
                <a:solidFill>
                  <a:srgbClr val="404040"/>
                </a:solidFill>
                <a:latin typeface="Arial" pitchFamily="34" charset="0"/>
                <a:ea typeface="Arial" pitchFamily="34" charset="-122"/>
                <a:cs typeface="Arial" pitchFamily="34" charset="-120"/>
              </a:rPr>
              <a:t>Pull-test one winch and weigh a mock claw in week 1; set the mass budget from that</a:t>
            </a:r>
            <a:endParaRPr lang="en-US" sz="1400" dirty="0"/>
          </a:p>
          <a:p>
            <a:pPr algn="l" lvl="1" marL="457200" indent="-228600">
              <a:spcAft>
                <a:spcPts val="600"/>
              </a:spcAft>
              <a:buSzPct val="100000"/>
              <a:buChar char="•"/>
            </a:pPr>
            <a:r>
              <a:rPr lang="en-US" sz="1200" dirty="0">
                <a:solidFill>
                  <a:srgbClr val="404040"/>
                </a:solidFill>
                <a:latin typeface="Arial" pitchFamily="34" charset="0"/>
                <a:ea typeface="Arial" pitchFamily="34" charset="-122"/>
                <a:cs typeface="Arial" pitchFamily="34" charset="-120"/>
              </a:rPr>
              <a:t>Kill ideas on paper first: bead homing and the central board failed calculations I could have run in week 1</a:t>
            </a:r>
            <a:endParaRPr lang="en-US" sz="1400" dirty="0"/>
          </a:p>
          <a:p>
            <a:pPr algn="l" lvl="1" marL="457200" indent="-228600">
              <a:spcAft>
                <a:spcPts val="600"/>
              </a:spcAft>
              <a:buSzPct val="100000"/>
              <a:buChar char="•"/>
            </a:pPr>
            <a:r>
              <a:rPr lang="en-US" sz="1200" dirty="0">
                <a:solidFill>
                  <a:srgbClr val="404040"/>
                </a:solidFill>
                <a:latin typeface="Arial" pitchFamily="34" charset="0"/>
                <a:ea typeface="Arial" pitchFamily="34" charset="-122"/>
                <a:cs typeface="Arial" pitchFamily="34" charset="-120"/>
              </a:rPr>
              <a:t>Prove one full station, calibration included, before copying it</a:t>
            </a:r>
            <a:endParaRPr lang="en-US" sz="1400" dirty="0"/>
          </a:p>
          <a:p>
            <a:pPr algn="l" lvl="1" marL="457200" indent="-228600">
              <a:spcAft>
                <a:spcPts val="600"/>
              </a:spcAft>
              <a:buSzPct val="100000"/>
              <a:buChar char="•"/>
            </a:pPr>
            <a:r>
              <a:rPr lang="en-US" sz="1200" dirty="0">
                <a:solidFill>
                  <a:srgbClr val="404040"/>
                </a:solidFill>
                <a:latin typeface="Arial" pitchFamily="34" charset="0"/>
                <a:ea typeface="Arial" pitchFamily="34" charset="-122"/>
                <a:cs typeface="Arial" pitchFamily="34" charset="-120"/>
              </a:rPr>
              <a:t>Size every part to a load number; over-building cost weight, plastic and print time</a:t>
            </a:r>
            <a:endParaRPr lang="en-US" sz="1400" dirty="0"/>
          </a:p>
          <a:p>
            <a:pPr algn="l" marL="254000" indent="-254000">
              <a:spcAft>
                <a:spcPts val="400"/>
              </a:spcAft>
              <a:buSzPct val="100000"/>
              <a:buChar char="•"/>
            </a:pPr>
            <a:r>
              <a:rPr lang="en-US" sz="1400" dirty="0">
                <a:solidFill>
                  <a:srgbClr val="1A1A1A"/>
                </a:solidFill>
                <a:latin typeface="Arial" pitchFamily="34" charset="0"/>
                <a:ea typeface="Arial" pitchFamily="34" charset="-122"/>
                <a:cs typeface="Arial" pitchFamily="34" charset="-120"/>
              </a:rPr>
              <a:t>Next steps</a:t>
            </a:r>
            <a:endParaRPr lang="en-US" sz="1400" dirty="0"/>
          </a:p>
          <a:p>
            <a:pPr algn="l" lvl="1" marL="457200" indent="-228600">
              <a:spcAft>
                <a:spcPts val="600"/>
              </a:spcAft>
              <a:buSzPct val="100000"/>
              <a:buChar char="•"/>
            </a:pPr>
            <a:r>
              <a:rPr lang="en-US" sz="1200" dirty="0">
                <a:solidFill>
                  <a:srgbClr val="404040"/>
                </a:solidFill>
                <a:latin typeface="Arial" pitchFamily="34" charset="0"/>
                <a:ea typeface="Arial" pitchFamily="34" charset="-122"/>
                <a:cs typeface="Arial" pitchFamily="34" charset="-120"/>
              </a:rPr>
              <a:t>Pull test, then enter the measured limit in the planner</a:t>
            </a:r>
            <a:endParaRPr lang="en-US" sz="1400" dirty="0"/>
          </a:p>
          <a:p>
            <a:pPr algn="l" lvl="1" marL="457200" indent="-228600">
              <a:spcAft>
                <a:spcPts val="600"/>
              </a:spcAft>
              <a:buSzPct val="100000"/>
              <a:buChar char="•"/>
            </a:pPr>
            <a:r>
              <a:rPr lang="en-US" sz="1200" dirty="0">
                <a:solidFill>
                  <a:srgbClr val="404040"/>
                </a:solidFill>
                <a:latin typeface="Arial" pitchFamily="34" charset="0"/>
                <a:ea typeface="Arial" pitchFamily="34" charset="-122"/>
                <a:cs typeface="Arial" pitchFamily="34" charset="-120"/>
              </a:rPr>
              <a:t>Hold test at 1.5 A, three-station test, grip pads</a:t>
            </a:r>
            <a:endParaRPr lang="en-US" sz="1400" dirty="0"/>
          </a:p>
          <a:p>
            <a:pPr algn="l" lvl="1" marL="457200" indent="-228600">
              <a:spcAft>
                <a:spcPts val="600"/>
              </a:spcAft>
              <a:buSzPct val="100000"/>
              <a:buChar char="•"/>
            </a:pPr>
            <a:r>
              <a:rPr lang="en-US" sz="1200" dirty="0">
                <a:solidFill>
                  <a:srgbClr val="404040"/>
                </a:solidFill>
                <a:latin typeface="Arial" pitchFamily="34" charset="0"/>
                <a:ea typeface="Arial" pitchFamily="34" charset="-122"/>
                <a:cs typeface="Arial" pitchFamily="34" charset="-120"/>
              </a:rPr>
              <a:t>Spool set screw into metal; 6 mm motor tab with fillets on both roots</a:t>
            </a:r>
            <a:endParaRPr lang="en-US" sz="1400" dirty="0"/>
          </a:p>
          <a:p>
            <a:pPr algn="l" lvl="1" marL="457200" indent="-228600">
              <a:spcAft>
                <a:spcPts val="600"/>
              </a:spcAft>
              <a:buSzPct val="100000"/>
              <a:buChar char="•"/>
            </a:pPr>
            <a:r>
              <a:rPr lang="en-US" sz="1200" dirty="0">
                <a:solidFill>
                  <a:srgbClr val="404040"/>
                </a:solidFill>
                <a:latin typeface="Arial" pitchFamily="34" charset="0"/>
                <a:ea typeface="Arial" pitchFamily="34" charset="-122"/>
                <a:cs typeface="Arial" pitchFamily="34" charset="-120"/>
              </a:rPr>
              <a:t>Lighter redesign sized to the loads: about 60 % less station plastic, claw to its 0.45 kg budget</a:t>
            </a:r>
            <a:endParaRPr lang="en-US" sz="1400" dirty="0"/>
          </a:p>
          <a:p>
            <a:pPr algn="l" lvl="1" marL="457200" indent="-228600">
              <a:spcAft>
                <a:spcPts val="600"/>
              </a:spcAft>
              <a:buSzPct val="100000"/>
              <a:buChar char="•"/>
            </a:pPr>
            <a:r>
              <a:rPr lang="en-US" sz="1200" dirty="0">
                <a:solidFill>
                  <a:srgbClr val="404040"/>
                </a:solidFill>
                <a:latin typeface="Arial" pitchFamily="34" charset="0"/>
                <a:ea typeface="Arial" pitchFamily="34" charset="-122"/>
                <a:cs typeface="Arial" pitchFamily="34" charset="-120"/>
              </a:rPr>
              <a:t>Continuous testing: long runs logging tracking faults, temperatures and creep</a:t>
            </a:r>
            <a:endParaRPr lang="en-US" sz="1400" dirty="0"/>
          </a:p>
          <a:p>
            <a:pPr algn="l" lvl="1" marL="457200" indent="-228600">
              <a:spcAft>
                <a:spcPts val="600"/>
              </a:spcAft>
              <a:buSzPct val="100000"/>
              <a:buChar char="•"/>
            </a:pPr>
            <a:r>
              <a:rPr lang="en-US" sz="1200" dirty="0">
                <a:solidFill>
                  <a:srgbClr val="404040"/>
                </a:solidFill>
                <a:latin typeface="Arial" pitchFamily="34" charset="0"/>
                <a:ea typeface="Arial" pitchFamily="34" charset="-122"/>
                <a:cs typeface="Arial" pitchFamily="34" charset="-120"/>
              </a:rPr>
              <a:t>A brake or non-backdrivable stage, so a power loss cannot drop the claw</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2026-10-22T21:17:53Z</dcterms:created>
  <dcterms:modified xsi:type="dcterms:W3CDTF">2026-10-22T21:17:53Z</dcterms:modified>
</cp:coreProperties>
</file>