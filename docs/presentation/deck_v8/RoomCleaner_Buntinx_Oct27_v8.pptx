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239830a-f98e-1c26-c28b-e02bb103b41a}">
          <p14:sldIdLst>
            <p14:sldId id="256"/>
            <p14:sldId id="257"/>
            <p14:sldId id="258"/>
            <p14:sldId id="259"/>
          </p14:sldIdLst>
        </p14:section>
        <p14:section name="Concept" id="{3cdc5b85-c38c-f36c-b85f-3f5ba118f741}">
          <p14:sldIdLst>
            <p14:sldId id="260"/>
            <p14:sldId id="261"/>
            <p14:sldId id="262"/>
          </p14:sldIdLst>
        </p14:section>
        <p14:section name="Generation 1" id="{015d6271-049d-efe8-06b7-d2c5fab482f2}">
          <p14:sldIdLst>
            <p14:sldId id="263"/>
          </p14:sldIdLst>
        </p14:section>
        <p14:section name="Redesign" id="{c99db427-b775-6a36-f77a-73cd188d611a}">
          <p14:sldIdLst>
            <p14:sldId id="264"/>
            <p14:sldId id="265"/>
            <p14:sldId id="266"/>
          </p14:sldIdLst>
        </p14:section>
        <p14:section name="Final Design" id="{62b4cc2b-0fef-b6d0-6b48-90e3c6b1ab07}">
          <p14:sldIdLst>
            <p14:sldId id="267"/>
            <p14:sldId id="268"/>
            <p14:sldId id="269"/>
            <p14:sldId id="270"/>
          </p14:sldIdLst>
        </p14:section>
        <p14:section name="Build and Test" id="{a46c60a6-d888-54d8-870e-b059bebc707b}">
          <p14:sldIdLst>
            <p14:sldId id="271"/>
            <p14:sldId id="272"/>
          </p14:sldIdLst>
        </p14:section>
        <p14:section name="Results and Takeaways" id="{da8d4e32-1157-bfd5-e094-f98798b47988}">
          <p14:sldIdLst>
            <p14:sldId id="273"/>
            <p14:sldId id="274"/>
            <p14:sldId id="275"/>
          </p14:sldIdLst>
        </p14:section>
        <p14:section name="Appendix" id="{4d40a845-7092-d6eb-4fa6-123ec3a8bb9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four winches near the ceiling corners hold one claw on cables; it is designed to pick clothes off the floor and drop them in a hamper. Then who I 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seconds; the photos carry it, left to right. Mechanical Engineering at Texas A&amp;M, class of 2027. Left: outdoors and endurance, an Ironman 70.3 in 6:53 and a marathon in 2025; I finish long things. Middle: EcoFil, a filament recycler I built with a shredder, dryer and extruder [add one number: filament diameter tolerance or throughput, and what broke]. Right: as Special Events Build Logistics Chair for the One Army Gladiator Dash I headed assembly, repairs and transport of the obstacles; the event raised $185K for Still Creek Ranch. If asked: metal sculpture for the Austin Creek Show, with fiber laser cutting and welding.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one picture: four anchors 0.15 m below the ceiling, one claw, a hamper. The shaded bands are the 0.2 m wall and 0.4 m ceiling margins the planner keeps. If asked: 0.9 kg is a screening value for a pair of jeans, not weighed. The 2 m/s² is a 1.2 times dynamic allowance for stops and snags, not the motion profile; top speed is 50 mm/s, so a diagonal move takes about a minute and a half. Where it stands: the stations, their electronics and the claw body are built; the claw is weighed (0.60 kg with battery); most other numbers in this talk are calculated or simulated, and labeled; nothing has picked up a garment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weeks, alone. The numbered marks are the failures that shaped the design. I dictated the control logic and had Claude Code build it out; it also wrote calculation scripts and checked my CAD, and I can take you through any number on these slides. If asked: the garment detector is YOLO-World, an open-source model. [Fill in: hours, total cost, shop access or mentors.]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floor robot fights the clutter it is meant to clear; a gantry puts a frame across my room. A cable robot reaches the whole floor with a 0.6 kg moving mass and nothing on the floor. The price is on the next two slides. If asked: four cables on three position axes is redundant, so the tension split depends on cable-length errors; that is why the planner checks tensions and the calibration fits the cable lengths.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levers I set in the concept phase and came back to in every phase after. Current bound the design, with heat right behind it. If asked: the 1.5 divisor on winch force is the margin against skipped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Cables only pull, and the shallower the cable, the more tension it carries for the same weight. 0.4 m is the margin for the empty claw (9.8 N there). With a load, the planner's tension check keeps the claw lower; it needs the measured pull limit entered first, so the pull test comes before the system test. If asked: off-centre is worse than centred; the claw rises to scan the floor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how would you home a four-cable robot without a reference pose? Then: each finding here drives one decision on the next three slides. Bead homing: a bead on each cable trips a switch at the outlet, so a cable can never be shorter than at home. [Fill in: the weight and how high it lifted.]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 routes are 6, 21, 23 and 32 ft. If asked: each station runs time-stamped segments on its own clock and holds if the link drops; a 40 ms skew budget keeps the error to 2 mm. Line stiffness is about 3 N/mm over a 3 m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curve is why bead homing died: with home 1 m up, 5 % of the room is reachable; 2 m up, 29 %. If asked why not home each cable at its own shortest length: that drags the claw into the high-tension zone next to an anchor (previous phase). Camera pose per frame is 0.7 mm best case with four tags (appendix); the number that matters is the cable length after the fit.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version failed for a reason I can name. The first clamp's pinion travel left a 2 mm gap, so the pads never met on thin cloth. v6 was up to 2.06 kg in CAD against 0.45 kg, with no torque path from the servo. Final gears: module 1.5 with a 16 mm face (module 1 with a 6 mm face gave a safety factor of 0.35). Grip assumes friction 0.3; at 6 V the jaws give 17 % more, enough above a 22 mm grab; next are grippy pads. If asked: servo heat while holding, and claw yaw.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load from the cable to the stud. 34 N is the spool's slip limit; a stalled winch at 1.5 A could otherwise pull about 48 N over the empty core. The PETG tab has to carry that below 60 °C, which is where the thermal limit on the cooling slide comes from. If asked: the 1/8 in fin needs the shell slot about 1 mm wider on the motor side, and M3 × 12 screws.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how: the current is set by the driver reference voltage, I = Vref / (8 × 0.1 Ω) [fill in how you reached 1.5 A and the Vref you read]. Two torque risks: running torque could be nearer 0.5 of holding, and in microstepping the torque can be about 0.7 of the rating. The A4988 runs hot at 1.5 A; if it shuts down the winch loses torque, so the hold test watches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ranges are the simple and the refined hand model; the bars show the simple one. The PETG next to the motor runs at about the motor temperature (independent 3-D check). If asked: measuring the coil resistance takes 30 seconds with a meter; fin sizing is in the appendix, and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if the pull test comes in low, would you cut claw mass or add a 2:1 gear stage? My answer: the gear stage, because it also lets the current drop to about 1 A and halves the heat. If asked: task height means the claw at or below 1.6 m, and the worst point is the middle of a long wall. The claw is 0.15 kg over its 0.45 kg budget; the 198 g aluminum tube is the first place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the bench: measure the hardware before trusting the software's view of it, and test a fit before printing the part. If asked: the driver stays disabled at boot so a reset cannot move a motor, which also means a reset drops a hanging claw (appendix, safe state). [Fill in: readings and date.]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which pass limit would you tighten? If the test has not run by Monday, show the rig as built and the dated plan, not empty cells. Logged: cable lengths, encoder counts, motor temperatures, the fit's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targets, with the evidence for each. Two are not met: grip for jeans at narrow grabs and claw mass. Two are marginal and this week's tests decide them: lift capacity and the prototype fin's temperature. Only the claw mass is measured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Good: each was a trade I priced first. Poor: the mass problem was not the budget but that I never re-checked it as the claw changed four times; the scrap fin saved a day and cost the thermal margin; and the schedule leaves no slack after the first test. Scrappy: when a controller board died two days before the test, I moved the same circuit to an ESP32 dev board with nine jumpers instead of redesigning it. [If true, add: several stations built before one was proven.]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half the time I would not build the central board, bead homing or the finger claw at all; the week-1 calculations already killed them. Next steps in order: the pull test first, because both the lift margin and the planner's tension check depend on it. Leave this slide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cylinders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UGFnkL1v305WnDYj5aj5zBtgxnxmGP7_TVRN0afZTGs/edit" TargetMode="Externa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designed to pick laundry off the floor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12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27, 2026</a:t>
            </a:r>
            <a:endParaRPr lang="en-US" sz="1400" dirty="0"/>
          </a:p>
        </p:txBody>
      </p:sp>
      <p:pic>
        <p:nvPicPr>
          <p:cNvPr id="6" name="Wall station, assembled" descr="Wall station, assem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017520" cy="4023360"/>
          </a:xfrm>
          <a:prstGeom prst="rect">
            <a:avLst/>
          </a:prstGeom>
        </p:spPr>
      </p:pic>
      <p:pic>
        <p:nvPicPr>
          <p:cNvPr id="7" name="Printed claw body with its servo" descr="Printed claw body with its ser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280160"/>
            <a:ext cx="3017520" cy="402336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548640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station (built)</a:t>
            </a:r>
            <a:endParaRPr lang="en-US" sz="1100" dirty="0"/>
          </a:p>
        </p:txBody>
      </p:sp>
      <p:sp>
        <p:nvSpPr>
          <p:cNvPr id="9" name="label"/>
          <p:cNvSpPr txBox="1"/>
          <p:nvPr/>
        </p:nvSpPr>
        <p:spPr>
          <a:xfrm>
            <a:off x="864108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body and servo (built)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about_outdoors.png" descr="outdo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273" y="1143000"/>
            <a:ext cx="2607191" cy="5120640"/>
          </a:xfrm>
          <a:prstGeom prst="rect">
            <a:avLst/>
          </a:prstGeom>
        </p:spPr>
      </p:pic>
      <p:pic>
        <p:nvPicPr>
          <p:cNvPr id="5" name="about_engineering.png" descr="enginee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44" y="1143000"/>
            <a:ext cx="3237812" cy="5120640"/>
          </a:xfrm>
          <a:prstGeom prst="rect">
            <a:avLst/>
          </a:prstGeom>
        </p:spPr>
      </p:pic>
      <p:pic>
        <p:nvPicPr>
          <p:cNvPr id="6" name="about_community.png" descr="commun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036" y="1143000"/>
            <a:ext cx="327438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wall margin left"/>
          <p:cNvSpPr/>
          <p:nvPr/>
        </p:nvSpPr>
        <p:spPr>
          <a:xfrm>
            <a:off x="1371600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wall margin right"/>
          <p:cNvSpPr/>
          <p:nvPr/>
        </p:nvSpPr>
        <p:spPr>
          <a:xfrm>
            <a:off x="6014568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ceiling margin"/>
          <p:cNvSpPr/>
          <p:nvPr/>
        </p:nvSpPr>
        <p:spPr>
          <a:xfrm>
            <a:off x="1666392" y="1638414"/>
            <a:ext cx="4348177" cy="589583"/>
          </a:xfrm>
          <a:prstGeom prst="rect">
            <a:avLst/>
          </a:prstGeom>
          <a:solidFill>
            <a:srgbClr val="F6E3E1"/>
          </a:solidFill>
          <a:ln w="12700">
            <a:solidFill>
              <a:srgbClr val="F6E3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455965"/>
            <a:ext cx="49377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30936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417320"/>
            <a:ext cx="4937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638414"/>
            <a:ext cx="2137239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3508839" y="1638414"/>
            <a:ext cx="2800521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3" name="anchor"/>
          <p:cNvSpPr/>
          <p:nvPr/>
        </p:nvSpPr>
        <p:spPr>
          <a:xfrm>
            <a:off x="1371600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anchor"/>
          <p:cNvSpPr/>
          <p:nvPr/>
        </p:nvSpPr>
        <p:spPr>
          <a:xfrm>
            <a:off x="6181344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claw"/>
          <p:cNvSpPr/>
          <p:nvPr/>
        </p:nvSpPr>
        <p:spPr>
          <a:xfrm>
            <a:off x="3417399" y="4009985"/>
            <a:ext cx="182880" cy="274320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6" name="hamper"/>
          <p:cNvSpPr/>
          <p:nvPr/>
        </p:nvSpPr>
        <p:spPr>
          <a:xfrm>
            <a:off x="5203891" y="4645288"/>
            <a:ext cx="663281" cy="810677"/>
          </a:xfrm>
          <a:prstGeom prst="rect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7" name="garment"/>
          <p:cNvSpPr/>
          <p:nvPr/>
        </p:nvSpPr>
        <p:spPr>
          <a:xfrm>
            <a:off x="2255975" y="5382268"/>
            <a:ext cx="736979" cy="7369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label"/>
          <p:cNvSpPr txBox="1"/>
          <p:nvPr/>
        </p:nvSpPr>
        <p:spPr>
          <a:xfrm>
            <a:off x="1371600" y="5529117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 m (11 ft) wall; room 3.35 × 2.74 m</a:t>
            </a:r>
            <a:endParaRPr lang="en-US" sz="1200" dirty="0"/>
          </a:p>
        </p:txBody>
      </p:sp>
      <p:sp>
        <p:nvSpPr>
          <p:cNvPr id="19" name="label"/>
          <p:cNvSpPr txBox="1"/>
          <p:nvPr/>
        </p:nvSpPr>
        <p:spPr>
          <a:xfrm>
            <a:off x="548640" y="307088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 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ft)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200" dirty="0"/>
          </a:p>
        </p:txBody>
      </p:sp>
      <p:sp>
        <p:nvSpPr>
          <p:cNvPr id="20" name="label"/>
          <p:cNvSpPr txBox="1"/>
          <p:nvPr/>
        </p:nvSpPr>
        <p:spPr>
          <a:xfrm>
            <a:off x="1554480" y="167499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Anchor, 0.15 m below the ceiling</a:t>
            </a:r>
            <a:endParaRPr lang="en-US" sz="1100" dirty="0"/>
          </a:p>
        </p:txBody>
      </p:sp>
      <p:sp>
        <p:nvSpPr>
          <p:cNvPr id="21" name="label"/>
          <p:cNvSpPr txBox="1"/>
          <p:nvPr/>
        </p:nvSpPr>
        <p:spPr>
          <a:xfrm>
            <a:off x="1757832" y="1953677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ceiling margin</a:t>
            </a:r>
            <a:endParaRPr lang="en-US" sz="1100" dirty="0"/>
          </a:p>
        </p:txBody>
      </p:sp>
      <p:sp>
        <p:nvSpPr>
          <p:cNvPr id="22" name="label"/>
          <p:cNvSpPr txBox="1"/>
          <p:nvPr/>
        </p:nvSpPr>
        <p:spPr>
          <a:xfrm>
            <a:off x="4551528" y="3097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 wall margin</a:t>
            </a:r>
            <a:endParaRPr lang="en-US" sz="1100" dirty="0"/>
          </a:p>
        </p:txBody>
      </p:sp>
      <p:sp>
        <p:nvSpPr>
          <p:cNvPr id="23" name="label"/>
          <p:cNvSpPr txBox="1"/>
          <p:nvPr/>
        </p:nvSpPr>
        <p:spPr>
          <a:xfrm>
            <a:off x="3655143" y="40374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100" dirty="0"/>
          </a:p>
        </p:txBody>
      </p:sp>
      <p:sp>
        <p:nvSpPr>
          <p:cNvPr id="24" name="label"/>
          <p:cNvSpPr txBox="1"/>
          <p:nvPr/>
        </p:nvSpPr>
        <p:spPr>
          <a:xfrm>
            <a:off x="5203891" y="4389256"/>
            <a:ext cx="9376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Hamper</a:t>
            </a:r>
            <a:endParaRPr lang="en-US" sz="1100" dirty="0"/>
          </a:p>
        </p:txBody>
      </p:sp>
      <p:sp>
        <p:nvSpPr>
          <p:cNvPr id="25" name="label"/>
          <p:cNvSpPr txBox="1"/>
          <p:nvPr/>
        </p:nvSpPr>
        <p:spPr>
          <a:xfrm>
            <a:off x="2255975" y="51079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Garment</a:t>
            </a:r>
            <a:endParaRPr lang="en-US" sz="1100" dirty="0"/>
          </a:p>
        </p:txBody>
      </p:sp>
      <p:sp>
        <p:nvSpPr>
          <p:cNvPr id="2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elevation to scale; seen from the side, the four cables appear as two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laundry in a 3.35 × 2.74 m (11 × 9 ft) room under a 2.74 m (9 ft) ceiling, and drop it in a hamper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load 0.9 kg (jeans); first test 0.45 kg (1 lb)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one garment from floor to hamper with no human touch; I approve each move on the phone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state: PAUSE holds position, and nobody stands under the robot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and Scope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gantt header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4008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300" dirty="0"/>
          </a:p>
        </p:txBody>
      </p:sp>
      <p:sp>
        <p:nvSpPr>
          <p:cNvPr id="6" name="label"/>
          <p:cNvSpPr txBox="1"/>
          <p:nvPr/>
        </p:nvSpPr>
        <p:spPr>
          <a:xfrm>
            <a:off x="3017520" y="1188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16352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label"/>
          <p:cNvSpPr txBox="1"/>
          <p:nvPr/>
        </p:nvSpPr>
        <p:spPr>
          <a:xfrm>
            <a:off x="4526280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300" dirty="0"/>
          </a:p>
        </p:txBody>
      </p:sp>
      <p:sp>
        <p:nvSpPr>
          <p:cNvPr id="10" name="label"/>
          <p:cNvSpPr txBox="1"/>
          <p:nvPr/>
        </p:nvSpPr>
        <p:spPr>
          <a:xfrm>
            <a:off x="6319939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19939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8113598" y="1188720"/>
            <a:ext cx="1735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3598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9849396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49396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label"/>
          <p:cNvSpPr txBox="1"/>
          <p:nvPr/>
        </p:nvSpPr>
        <p:spPr>
          <a:xfrm>
            <a:off x="640080" y="15544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Concept</a:t>
            </a:r>
            <a:endParaRPr lang="en-US" sz="1400" dirty="0"/>
          </a:p>
        </p:txBody>
      </p:sp>
      <p:sp>
        <p:nvSpPr>
          <p:cNvPr id="17" name="label"/>
          <p:cNvSpPr txBox="1"/>
          <p:nvPr/>
        </p:nvSpPr>
        <p:spPr>
          <a:xfrm>
            <a:off x="3017520" y="15544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 – Aug 5</a:t>
            </a:r>
            <a:endParaRPr lang="en-US" sz="1400" dirty="0"/>
          </a:p>
        </p:txBody>
      </p:sp>
      <p:sp>
        <p:nvSpPr>
          <p:cNvPr id="18" name="1. Concept bar"/>
          <p:cNvSpPr/>
          <p:nvPr/>
        </p:nvSpPr>
        <p:spPr>
          <a:xfrm>
            <a:off x="5394179" y="1645920"/>
            <a:ext cx="121505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640080" y="19751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Generation 1</a:t>
            </a:r>
            <a:endParaRPr lang="en-US" sz="1400" dirty="0"/>
          </a:p>
        </p:txBody>
      </p:sp>
      <p:sp>
        <p:nvSpPr>
          <p:cNvPr id="20" name="label"/>
          <p:cNvSpPr txBox="1"/>
          <p:nvPr/>
        </p:nvSpPr>
        <p:spPr>
          <a:xfrm>
            <a:off x="3017520" y="19751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6 – Sep 2</a:t>
            </a:r>
            <a:endParaRPr lang="en-US" sz="1400" dirty="0"/>
          </a:p>
        </p:txBody>
      </p:sp>
      <p:sp>
        <p:nvSpPr>
          <p:cNvPr id="21" name="2. Generation 1 bar"/>
          <p:cNvSpPr/>
          <p:nvPr/>
        </p:nvSpPr>
        <p:spPr>
          <a:xfrm>
            <a:off x="6609239" y="2066544"/>
            <a:ext cx="162007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64008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Redesign</a:t>
            </a:r>
            <a:endParaRPr lang="en-US" sz="1400" dirty="0"/>
          </a:p>
        </p:txBody>
      </p:sp>
      <p:sp>
        <p:nvSpPr>
          <p:cNvPr id="23" name="label"/>
          <p:cNvSpPr txBox="1"/>
          <p:nvPr/>
        </p:nvSpPr>
        <p:spPr>
          <a:xfrm>
            <a:off x="3017520" y="239572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 – Oct 6</a:t>
            </a:r>
            <a:endParaRPr lang="en-US" sz="1400" dirty="0"/>
          </a:p>
        </p:txBody>
      </p:sp>
      <p:sp>
        <p:nvSpPr>
          <p:cNvPr id="24" name="3. Redesign bar"/>
          <p:cNvSpPr/>
          <p:nvPr/>
        </p:nvSpPr>
        <p:spPr>
          <a:xfrm>
            <a:off x="8229318" y="2487168"/>
            <a:ext cx="196723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640080" y="28163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Final design</a:t>
            </a:r>
            <a:endParaRPr lang="en-US" sz="1400" dirty="0"/>
          </a:p>
        </p:txBody>
      </p:sp>
      <p:sp>
        <p:nvSpPr>
          <p:cNvPr id="26" name="label"/>
          <p:cNvSpPr txBox="1"/>
          <p:nvPr/>
        </p:nvSpPr>
        <p:spPr>
          <a:xfrm>
            <a:off x="3017520" y="2816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 – Oct 21</a:t>
            </a:r>
            <a:endParaRPr lang="en-US" sz="1400" dirty="0"/>
          </a:p>
        </p:txBody>
      </p:sp>
      <p:sp>
        <p:nvSpPr>
          <p:cNvPr id="27" name="4. Final design bar"/>
          <p:cNvSpPr/>
          <p:nvPr/>
        </p:nvSpPr>
        <p:spPr>
          <a:xfrm>
            <a:off x="10196556" y="2907792"/>
            <a:ext cx="86789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8" name="label"/>
          <p:cNvSpPr txBox="1"/>
          <p:nvPr/>
        </p:nvSpPr>
        <p:spPr>
          <a:xfrm>
            <a:off x="640080" y="32369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Build and test</a:t>
            </a:r>
            <a:endParaRPr lang="en-US" sz="1400" dirty="0"/>
          </a:p>
        </p:txBody>
      </p:sp>
      <p:sp>
        <p:nvSpPr>
          <p:cNvPr id="29" name="label"/>
          <p:cNvSpPr txBox="1"/>
          <p:nvPr/>
        </p:nvSpPr>
        <p:spPr>
          <a:xfrm>
            <a:off x="3017520" y="32369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22 – Oct 27</a:t>
            </a:r>
            <a:endParaRPr lang="en-US" sz="1400" dirty="0"/>
          </a:p>
        </p:txBody>
      </p:sp>
      <p:sp>
        <p:nvSpPr>
          <p:cNvPr id="30" name="5. Build and test bar"/>
          <p:cNvSpPr/>
          <p:nvPr/>
        </p:nvSpPr>
        <p:spPr>
          <a:xfrm>
            <a:off x="11064456" y="3328416"/>
            <a:ext cx="347160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milestone 1"/>
          <p:cNvSpPr/>
          <p:nvPr/>
        </p:nvSpPr>
        <p:spPr>
          <a:xfrm>
            <a:off x="9645232" y="2459736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label"/>
          <p:cNvSpPr txBox="1"/>
          <p:nvPr/>
        </p:nvSpPr>
        <p:spPr>
          <a:xfrm>
            <a:off x="964523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milestone 2"/>
          <p:cNvSpPr/>
          <p:nvPr/>
        </p:nvSpPr>
        <p:spPr>
          <a:xfrm>
            <a:off x="10802432" y="2880360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label"/>
          <p:cNvSpPr txBox="1"/>
          <p:nvPr/>
        </p:nvSpPr>
        <p:spPr>
          <a:xfrm>
            <a:off x="10802432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milestone 3"/>
          <p:cNvSpPr/>
          <p:nvPr/>
        </p:nvSpPr>
        <p:spPr>
          <a:xfrm>
            <a:off x="10918152" y="3300984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label"/>
          <p:cNvSpPr txBox="1"/>
          <p:nvPr/>
        </p:nvSpPr>
        <p:spPr>
          <a:xfrm>
            <a:off x="1091815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milestone key"/>
          <p:cNvSpPr txBox="1"/>
          <p:nvPr/>
        </p:nvSpPr>
        <p:spPr>
          <a:xfrm>
            <a:off x="548640" y="3730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Sep 30: first clamp's jaws cannot close on thin cloth     2  Oct 20: v6 clamp is 4.6 times its mass budget in CAD     3  Oct 22: drivers at 1.5 A; claw weighed</a:t>
            </a:r>
            <a:endParaRPr lang="en-US" sz="1200" dirty="0"/>
          </a:p>
        </p:txBody>
      </p:sp>
      <p:sp>
        <p:nvSpPr>
          <p:cNvPr id="39" name="scope"/>
          <p:cNvSpPr txBox="1"/>
          <p:nvPr/>
        </p:nvSpPr>
        <p:spPr>
          <a:xfrm>
            <a:off x="548640" y="4206240"/>
            <a:ext cx="11094415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Mine: requirements, design decisions, the SolidWorks station and claw, printing, machining, wiring and bring-up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Claude Code, under my direction: the control software, calculation scripts and CAD checks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Purchased: steppers, drivers, controller boards, servo, camera, battery and encoder 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Cable Robot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able robot geometry" descr="Cable robot geome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88720"/>
            <a:ext cx="4617720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from the ceiling anchors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claw at p</a:t>
            </a:r>
            <a:endParaRPr lang="en-US" sz="1100" dirty="0"/>
          </a:p>
        </p:txBody>
      </p:sp>
      <p:graphicFrame>
        <p:nvGraphicFramePr>
          <p:cNvPr id="6" name="concept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80160"/>
          <a:ext cx="4830775" cy="914400"/>
        </p:xfrm>
        <a:graphic>
          <a:graphicData uri="http://schemas.openxmlformats.org/drawingml/2006/table">
            <a:tbl>
              <a:tblPr/>
              <a:tblGrid>
                <a:gridCol w="1352617"/>
                <a:gridCol w="1159386"/>
                <a:gridCol w="1159386"/>
                <a:gridCol w="115938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Furniture blocks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left clear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spans the room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mass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beam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 kg claw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oncept bullets"/>
          <p:cNvSpPr txBox="1"/>
          <p:nvPr/>
        </p:nvSpPr>
        <p:spPr>
          <a:xfrm>
            <a:off x="6812280" y="3520440"/>
            <a:ext cx="4830775" cy="25603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Chosen: four ceiling winches and one claw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cost: cables only pull, so cable tension sets the working space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3661157"/>
                <a:gridCol w="432682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current 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rises with current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rises with current squared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claw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gears, firmer grip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mass, less payload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working area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floor covered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wires, more voltage drop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Closer to the ceiling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working volume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tension rises steeply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 spool radius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pull per amp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Tighter line bend, less room for the set screw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safety margins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skipped steps, no wall contact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usable force and floor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upling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that binds: a heavier claw needs more pull, more pull needs more current, and heat rises with the square of the current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 Sets the Ceiling Margin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Weighed claw plus 1 lb, centred 0.4 m below the anchors: 14.3 N, 17.2 N at 2 m/s²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at the 16.8 N winch limit; with jeans the claw must stay at least 0.6 m down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checks every cable at every path point against the measured pull limit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4754880"/>
            <a:ext cx="4282135" cy="1417320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4828032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per cable, 1 lb test at 0.4 m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084064"/>
            <a:ext cx="3989527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m (g + a) / (4 sin φ)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1.054 × 11.81 / (4 × 0.181)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Winch limit: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Bench Build and Findings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2 of 5: Generation 1</a:t>
            </a:r>
            <a:endParaRPr lang="en-US" sz="1000" dirty="0"/>
          </a:p>
        </p:txBody>
      </p:sp>
      <p:pic>
        <p:nvPicPr>
          <p:cNvPr id="4" name="Generation 1 hardware" descr="Generation 1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3948"/>
            <a:ext cx="2060448" cy="2747264"/>
          </a:xfrm>
          <a:prstGeom prst="rect">
            <a:avLst/>
          </a:prstGeom>
        </p:spPr>
      </p:pic>
      <p:pic>
        <p:nvPicPr>
          <p:cNvPr id="5" name="Generation 1 hardware" descr="Generation 1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2123948"/>
            <a:ext cx="2060448" cy="2747264"/>
          </a:xfrm>
          <a:prstGeom prst="rect">
            <a:avLst/>
          </a:prstGeom>
        </p:spPr>
      </p:pic>
      <p:pic>
        <p:nvPicPr>
          <p:cNvPr id="6" name="Generation 1 hardware" descr="Generation 1 hardw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2123948"/>
            <a:ext cx="2060448" cy="2747264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lift test, one-piece corner plate, homing switch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bench station lifted a test weight; the cable math held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would leave only 5–29 % of the room reachable, caught on paper before it was built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board would need 10 wires to every corner once each winch had sensors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claw: designed in CAD (419 g of a 450 g budget), never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Controller per Winch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0556"/>
            <a:ext cx="3145536" cy="4194048"/>
          </a:xfrm>
          <a:prstGeom prst="rect">
            <a:avLst/>
          </a:prstGeom>
        </p:spPr>
      </p:pic>
      <p:pic>
        <p:nvPicPr>
          <p:cNvPr id="5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400556"/>
            <a:ext cx="3145536" cy="419404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one central driver board. After: a controller in each station.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one central board; with sensors it would need 250 m (820 ft) of wire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controller in each station, fed by one 12 V pair: 50 m (164 ft)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can be built and tested on its own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moves into software; 50 ms of skew is 2.5 mm of cable error, about 7.5 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Calibration Replaces Bead Homing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88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Bead homing)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fixes each cable's shortest length, so most of the room is out of reach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the claw camera reads a printed floor board, and a fit finds the anchors and cable lengths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Simulated: cable lengths known to about 12–16 mm, well inside the 0.2 m and 0.4 m margins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room opens only when the fit's error bars allow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Claw: Four Versions to a Parallel Grip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law versions" descr="Claw ver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878" y="1188720"/>
            <a:ext cx="1559061" cy="2253996"/>
          </a:xfrm>
          <a:prstGeom prst="rect">
            <a:avLst/>
          </a:prstGeom>
        </p:spPr>
      </p:pic>
      <p:pic>
        <p:nvPicPr>
          <p:cNvPr id="5" name="Claw versions" descr="Claw vers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587" y="1188720"/>
            <a:ext cx="696171" cy="2253996"/>
          </a:xfrm>
          <a:prstGeom prst="rect">
            <a:avLst/>
          </a:prstGeom>
        </p:spPr>
      </p:pic>
      <p:pic>
        <p:nvPicPr>
          <p:cNvPr id="6" name="Claw versions" descr="Claw vers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44" y="3552444"/>
            <a:ext cx="1310528" cy="2253996"/>
          </a:xfrm>
          <a:prstGeom prst="rect">
            <a:avLst/>
          </a:prstGeom>
        </p:spPr>
      </p:pic>
      <p:pic>
        <p:nvPicPr>
          <p:cNvPr id="7" name="Claw versions" descr="Claw vers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 (CAD only), v6 clamp (CAD), final four-bar (CAD), printed gear train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 (CAD only), then a clamp whose jaws could not close on thin cloth (Sep 30)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 clamp: 4.6 times its mass budget in CAD (Oct 20)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geared four-bar, parallel jaws, 53 mm opening; gear safety factor 2.05 at servo stall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 jeans is short at narrow grabs</a:t>
            </a:r>
            <a:endParaRPr lang="en-US" sz="1700" dirty="0"/>
          </a:p>
        </p:txBody>
      </p:sp>
      <p:sp>
        <p:nvSpPr>
          <p:cNvPr id="10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force per jaw, jeans</a:t>
            </a:r>
            <a:endParaRPr lang="en-US" sz="1100" dirty="0"/>
          </a:p>
        </p:txBody>
      </p:sp>
      <p:sp>
        <p:nvSpPr>
          <p:cNvPr id="12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≥ m (g + a) / (2μ) = 0.9 × 11.81 / 0.6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Jaws: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 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narrowest to 25 N at a 70 mm grab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Final wall station with a transparent sh" descr="Final wall station with a transparent sh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684" y="1188720"/>
            <a:ext cx="4632713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 (SolidWorks), shell shown transparent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wall mount: the station lifts off while the anchor stays in the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path: cable, spool, motor, 5 mm PETG tab, shell, mount,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sized for a 34 N cable snag at a safety factor of 3; SolidWorks static study to run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Aluminum fin exits through a slot in the shell top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at 1.5 A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Winch pull)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(National Electrical Manufacturers Association) stepper at its rated 1.5 A, up from 1.06 A: 41 % more pull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pull: 34 N on an empty spool, 25 N when full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running torque of 0.7 × holding torque; the pull test measures it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design force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 = 0.252 N·m / 0.010 m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25.2 N / 1.5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Cooling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69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56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Motor temperature)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 A doubles motor heat to 4.05 W; the PETG mount must stay below 60 °C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Vented shell and aluminum fin: 56–59 °C with the 0.019 in prototype, 45–49 °C with the 1/8 in design fin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Assumed: 1.8 Ω coil (to measure) and a 23 °C room; warmer air near the ceiling uses up the prototype's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SolidWorks study and a 90-minute hold test; fallback 1.35 A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heat, P = I² R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1.06 A: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1.5 A: (1.5 A)² × 1.8 Ω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4.05 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Budget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Lift budget)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with battery weighed 0.60 kg (0.86 kg estimated)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capacity at task height 1.56 kg; jeans need 1.50 kg, a 4 %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margin is inside the uncertainty: at 0.5 × holding torque, capacity is 1.1 kg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test decides: keep 1.5 A, or add a 2:1 gear stage at each winch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capacity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(k g) = 16.8 / (1.101 × 9.81)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 kg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against 0.60 + 0.90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 kg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Printing, Machining, Bring-Up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Build photos" descr="Build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744" y="1188720"/>
            <a:ext cx="3005328" cy="2253996"/>
          </a:xfrm>
          <a:prstGeom prst="rect">
            <a:avLst/>
          </a:prstGeom>
        </p:spPr>
      </p:pic>
      <p:pic>
        <p:nvPicPr>
          <p:cNvPr id="5" name="Build photos" descr="Build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24" y="1188720"/>
            <a:ext cx="1690497" cy="2253996"/>
          </a:xfrm>
          <a:prstGeom prst="rect">
            <a:avLst/>
          </a:prstGeom>
        </p:spPr>
      </p:pic>
      <p:pic>
        <p:nvPicPr>
          <p:cNvPr id="6" name="Build photos" descr="Build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0" y="3552444"/>
            <a:ext cx="1690497" cy="2253996"/>
          </a:xfrm>
          <a:prstGeom prst="rect">
            <a:avLst/>
          </a:prstGeom>
        </p:spPr>
      </p:pic>
      <p:pic>
        <p:nvPicPr>
          <p:cNvPr id="7" name="Build photos" descr="Build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blanks and drawing, finished fin, soldered station board, mill setup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spool bore printed too tight (Ø5.2 on a 5 mm shaft); v3 opened it to Ø5.45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drilled in one mill setup from a 1:1 drawing; the 7/8 in pilot fits the 22 mm motor boss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motor would not turn: logic rail at 1.14 V, traced to a bad 3.3 V connection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meter on every rail before code, and fit coupons before new fits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System Test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Stations being built for the test" descr="Stations being built for the t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188720"/>
            <a:ext cx="1714500" cy="22860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3502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being built for the test</a:t>
            </a:r>
            <a:endParaRPr lang="en-US" sz="1100" dirty="0"/>
          </a:p>
        </p:txBody>
      </p:sp>
      <p:graphicFrame>
        <p:nvGraphicFramePr>
          <p:cNvPr id="18" name="pass lim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6400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48456"/>
                <a:gridCol w="115214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limit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Self-check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answer; slack taken 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poses: cable residual ≤ 20 mm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move, 1 lb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mm at 50 mm/s; cable mismatch ≤ 2 mm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garment into the hamper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stations hold the claw under gravity over the triangle they span, about half the floor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Self-check, calibration, short move, then pickup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lb first, then one garment; pass limits set before the run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Targets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86051"/>
                <a:gridCol w="2218883"/>
                <a:gridCol w="3328325"/>
                <a:gridCol w="1442274"/>
                <a:gridCol w="2218883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capacity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 kg with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 kg; 1.1 kg at 0.5 × holding torque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pull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Grip for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 N per jaw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13.3–25 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at narrow grabs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 kg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 kg with battery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56–59 °C prototype fin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hold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area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Floor, 0.2 m wall margin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but 0.2 m at the walls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 in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cable per station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12 V pair; 0.51 V drop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 mm cable mismatch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ms skew budget gives 2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mm/s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Hobby 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totaled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and Poor Decisions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0" name="good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controller per winch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times less wire; each station tested alone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calibration instead of bead homing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room reachable; caught on paper before building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Teeth checked at servo stall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clamp stalls the servo on every grip: safety factor 2.05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9" name="poor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 not tracked through four claw versions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reached 4.6 times its budget in CAD; the claw is 0.15 kg 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Prototype fin cut from scrap sheet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1–4 K of thermal margin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and test week ends on presentation 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results arrive at the last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horough and scrappy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Thorough where a mistake is expensive: the fin's single mill setup, the stall check on the teeth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Scrappy where it is cheap to undo: a jumpered ESP32 after a controller failed, a floor board printed on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23774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 weeks)</a:t>
            </a:r>
            <a:endParaRPr lang="en-US" sz="1300" dirty="0"/>
          </a:p>
        </p:txBody>
      </p:sp>
      <p:sp>
        <p:nvSpPr>
          <p:cNvPr id="5" name="Concept"/>
          <p:cNvSpPr/>
          <p:nvPr/>
        </p:nvSpPr>
        <p:spPr>
          <a:xfrm>
            <a:off x="1874520" y="2377440"/>
            <a:ext cx="1024743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label"/>
          <p:cNvSpPr txBox="1"/>
          <p:nvPr/>
        </p:nvSpPr>
        <p:spPr>
          <a:xfrm>
            <a:off x="1901952" y="2377440"/>
            <a:ext cx="969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200" dirty="0"/>
          </a:p>
        </p:txBody>
      </p:sp>
      <p:sp>
        <p:nvSpPr>
          <p:cNvPr id="7" name="Gen 1"/>
          <p:cNvSpPr/>
          <p:nvPr/>
        </p:nvSpPr>
        <p:spPr>
          <a:xfrm>
            <a:off x="2899263" y="2377440"/>
            <a:ext cx="1366325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label"/>
          <p:cNvSpPr txBox="1"/>
          <p:nvPr/>
        </p:nvSpPr>
        <p:spPr>
          <a:xfrm>
            <a:off x="2926695" y="2377440"/>
            <a:ext cx="13114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</a:t>
            </a:r>
            <a:endParaRPr lang="en-US" sz="1200" dirty="0"/>
          </a:p>
        </p:txBody>
      </p:sp>
      <p:sp>
        <p:nvSpPr>
          <p:cNvPr id="9" name="Redesign"/>
          <p:cNvSpPr/>
          <p:nvPr/>
        </p:nvSpPr>
        <p:spPr>
          <a:xfrm>
            <a:off x="4265588" y="2377440"/>
            <a:ext cx="1659108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4293020" y="2377440"/>
            <a:ext cx="1604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1" name="Final"/>
          <p:cNvSpPr/>
          <p:nvPr/>
        </p:nvSpPr>
        <p:spPr>
          <a:xfrm>
            <a:off x="5924697" y="2377440"/>
            <a:ext cx="731960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5952129" y="2377440"/>
            <a:ext cx="677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13" name="Build and test"/>
          <p:cNvSpPr/>
          <p:nvPr/>
        </p:nvSpPr>
        <p:spPr>
          <a:xfrm>
            <a:off x="6656656" y="2377440"/>
            <a:ext cx="292784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585216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</a:t>
            </a:r>
            <a:endParaRPr lang="en-US" sz="10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347472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time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 weeks)</a:t>
            </a:r>
            <a:endParaRPr lang="en-US" sz="1300" dirty="0"/>
          </a:p>
        </p:txBody>
      </p:sp>
      <p:sp>
        <p:nvSpPr>
          <p:cNvPr id="16" name="Plan"/>
          <p:cNvSpPr/>
          <p:nvPr/>
        </p:nvSpPr>
        <p:spPr>
          <a:xfrm>
            <a:off x="1874520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label"/>
          <p:cNvSpPr txBox="1"/>
          <p:nvPr/>
        </p:nvSpPr>
        <p:spPr>
          <a:xfrm>
            <a:off x="1901952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8" name="One station"/>
          <p:cNvSpPr/>
          <p:nvPr/>
        </p:nvSpPr>
        <p:spPr>
          <a:xfrm>
            <a:off x="2216101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2243533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station</a:t>
            </a:r>
            <a:endParaRPr lang="en-US" sz="1050" dirty="0"/>
          </a:p>
        </p:txBody>
      </p:sp>
      <p:sp>
        <p:nvSpPr>
          <p:cNvPr id="20" name="Copy"/>
          <p:cNvSpPr/>
          <p:nvPr/>
        </p:nvSpPr>
        <p:spPr>
          <a:xfrm>
            <a:off x="2899263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label"/>
          <p:cNvSpPr txBox="1"/>
          <p:nvPr/>
        </p:nvSpPr>
        <p:spPr>
          <a:xfrm>
            <a:off x="2926695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900" dirty="0"/>
          </a:p>
        </p:txBody>
      </p:sp>
      <p:sp>
        <p:nvSpPr>
          <p:cNvPr id="22" name="Clamp"/>
          <p:cNvSpPr/>
          <p:nvPr/>
        </p:nvSpPr>
        <p:spPr>
          <a:xfrm>
            <a:off x="3240845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label"/>
          <p:cNvSpPr txBox="1"/>
          <p:nvPr/>
        </p:nvSpPr>
        <p:spPr>
          <a:xfrm>
            <a:off x="3268277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</a:t>
            </a:r>
            <a:endParaRPr lang="en-US" sz="1050" dirty="0"/>
          </a:p>
        </p:txBody>
      </p:sp>
      <p:sp>
        <p:nvSpPr>
          <p:cNvPr id="24" name="Test"/>
          <p:cNvSpPr/>
          <p:nvPr/>
        </p:nvSpPr>
        <p:spPr>
          <a:xfrm>
            <a:off x="3924007" y="3474720"/>
            <a:ext cx="341581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3951439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caption"/>
          <p:cNvSpPr txBox="1"/>
          <p:nvPr/>
        </p:nvSpPr>
        <p:spPr>
          <a:xfrm>
            <a:off x="1874520" y="4297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time scale. Half time: plan (pull test, mass budget), one station, copy, clamp, test.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Pull-test one winch and weigh a mock claw in week 1; set the mass budget from that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ideas on paper first: bead homing and the central board failed calculations I could have run in week 1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one full station, calibration included, before copying it</a:t>
            </a:r>
            <a:endParaRPr lang="en-US" sz="16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test, then enter the measured limit in the planner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test at 1.5 A, three-station test, grip pads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brake or non-backdrivable stage, so a power loss cannot drop the claw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prototype reaches 95 % of its capacity by 136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design keeps gaining to 349 mm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 mm, limited by ceiling clearance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 W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 in sheet: not possible at any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 in plate: 145–185 mm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 mm with one tag, 0.7 mm with four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 mm (simulated)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 and chat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076"/>
            <a:ext cx="6400800" cy="45270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 V; 5 A fuse for shorts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V servo rail and a separate 5 V logic rail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 A, at the pack's 3 A rating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 datasheet</a:t>
            </a:r>
            <a:endParaRPr lang="en-US" sz="1800" dirty="0"/>
          </a:p>
        </p:txBody>
      </p:sp>
      <p:sp>
        <p:nvSpPr>
          <p:cNvPr id="8" name="sheet link"/>
          <p:cNvSpPr txBox="1"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2026-10-22T19:37:57Z</dcterms:created>
  <dcterms:modified xsi:type="dcterms:W3CDTF">2026-10-22T19:37:57Z</dcterms:modified>
</cp:coreProperties>
</file>