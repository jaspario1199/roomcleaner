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6ee3ed7-0a68-e3b6-990c-662a790fc2f0}">
          <p14:sldIdLst>
            <p14:sldId id="256"/>
            <p14:sldId id="257"/>
            <p14:sldId id="258"/>
            <p14:sldId id="259"/>
          </p14:sldIdLst>
        </p14:section>
        <p14:section name="Concept" id="{06f80fda-8bfb-24ca-c985-a5e59bded08a}">
          <p14:sldIdLst>
            <p14:sldId id="260"/>
            <p14:sldId id="261"/>
            <p14:sldId id="262"/>
          </p14:sldIdLst>
        </p14:section>
        <p14:section name="Generation 1" id="{a7a1dbbc-af8b-72c9-a6bd-9304b8c1f747}">
          <p14:sldIdLst>
            <p14:sldId id="263"/>
          </p14:sldIdLst>
        </p14:section>
        <p14:section name="Redesign" id="{98b41d09-02ca-c696-9177-77fe54a91b00}">
          <p14:sldIdLst>
            <p14:sldId id="264"/>
            <p14:sldId id="265"/>
            <p14:sldId id="266"/>
          </p14:sldIdLst>
        </p14:section>
        <p14:section name="Final Design" id="{e6d1cf75-c3e0-5706-41ff-5a9c43692b83}">
          <p14:sldIdLst>
            <p14:sldId id="267"/>
            <p14:sldId id="268"/>
            <p14:sldId id="269"/>
            <p14:sldId id="270"/>
            <p14:sldId id="271"/>
          </p14:sldIdLst>
        </p14:section>
        <p14:section name="Build and Test" id="{370834b3-a701-1d56-963a-0d7477a7e650}">
          <p14:sldIdLst>
            <p14:sldId id="272"/>
            <p14:sldId id="273"/>
            <p14:sldId id="274"/>
          </p14:sldIdLst>
        </p14:section>
        <p14:section name="Results and Takeaways" id="{841a0cad-7361-19f6-e584-91f4f9f50d75}">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sentence: four winches near the ceiling corners hold one claw on cables; it is designed to pick clothes off the floor and drop them in a hamper. Then who I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Ninety seconds; the photos carry it, left to right. Mechanical Engineering at Texas A&amp;M, class of 2027. Left: outdoors and endurance, an Ironman 70.3 in 6:53 and a marathon in 2025; I finish long things. Middle: EcoFil, a filament recycler I built with a shredder, dryer and extruder [add one number: filament diameter tolerance or throughput, and what broke]. Right: as Special Events Build Logistics Chair for the One Army Gladiator Dash I headed assembly, repairs and transport of the obstacles; the event raised $185K for Still Creek Ranch. If asked: metal sculpture for the Austin Creek Show, with fiber laser cutting and welding.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problem in one picture: four anchors 0.15 m below the ceiling, one claw, a hamper. The shaded bands are the 0.2 m wall and 0.4 m ceiling margins the planner keeps. If asked: 0.9 kg is a screening value for a pair of jeans, not weighed. The 2 m/s² is a 1.2 times dynamic allowance for stops and snags, not the motion profile; top speed is 50 mm/s, so a diagonal move takes about a minute and a half. Where it stands: the stations, their electronics and the claw body are built; the claw is weighed (0.60 kg with battery); most other numbers in this talk are calculated or simulated, and labeled; nothing has picked up a garment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15 weeks, alone. The numbered marks are the failures that shaped the design. I dictated the control logic and had Claude Code build it out; it also wrote calculation scripts and checked my CAD, and I can take you through any number on these slides. If asked: the garment detector is YOLO-World, an open-source model. [Fill in: hours, total cost, shop access or mentors.]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floor robot fights the clutter it is meant to clear; a gantry puts a frame across my room. A cable robot reaches the whole floor with a 0.6 kg moving mass and nothing on the floor. The price is on the next two slides. If asked: four cables on three position axes is redundant, so the tension split depends on cable-length errors; that is why the planner checks tensions and the calibration fits the cable lengths.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levers I set in the concept phase and came back to in every phase after. Current bound the design, with heat right behind it. If asked: the 1.5 divisor on winch force is the margin against skipped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Cables only pull, and the shallower the cable, the more tension it carries for the same weight. 0.4 m is the margin for the empty claw (9.8 N there). With a load, the planner's tension check keeps the claw lower; it needs the measured pull limit entered first, so the pull test comes before the system test. If asked: off-centre is worse than centred; the claw rises to scan the floor from above.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how would you home a four-cable robot without a reference pose? Then: each finding here drives one decision on the next three slides. Bead homing: a bead on each cable trips a switch at the outlet, so a cable can never be shorter than at home. [Fill in: the weight and how high it lifted.]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Cable routes are 6, 21, 23 and 32 ft. Generation 1 trusted its model; the final logic measures before it trusts and checks after it acts. If asked: each station runs time-stamped segments on its own clock and holds if the link drops; a 40 ms skew budget keeps the error to 2 mm. Line stiffness is about 3 N/mm over a 3 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why bead homing died; with home 1 m up, 5 % of the room is reachable, 2 m up, 29 %. Bottom: the floor board, per camera frame. If asked why not home each cable at its own shortest length: that drags the claw into the high-tension zone next to an anchor. The number that matters is the cable length after the fit, not the per-frame camera error; averaging tags removes noise but not bias. Simulated so far. Beads now: the startup self-check requires every switch closed; until a bead is verified the planner keeps each cable a margin longer than its bead trip length; a bead search one station at a time is optional, as a cross-check of the calibration.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version failed for a reason I can name. The first clamp's pinion travel left a 2 mm gap, so the pads never met on thin cloth. v6 was up to 2.06 kg in CAD against 0.45 kg, with no torque path from the servo. Final gears: module 1.5 with a 16 mm face (module 1 with a 6 mm face gave a safety factor of 0.35). Grip assumes friction 0.3; at 6 V the jaws give 17 % more, enough above a 22 mm grab; next are grippy pads. If asked: servo heat while holding, and claw yaw. Electrical: 5 A fuse for shorts; the claw schematic passes its rules check with 0 errors; charged attended at 1 A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load from the cable to the stud. At 1.5 A the motor holds up to 48 N on the empty spool before it slips, so that is the most the cable can put on the station. The PETG tab has to carry it below 60 °C, which is where the thermal limit on the cooling slide comes from. If asked: the static manual was written at the old 34 N and scales linearly; the 1/8 in fin needs the shell slot about 1 mm wider on the motor side, and M3 × 12 screws.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the current is set by the driver reference voltage, I = Vref / (8 × 0.1 Ω) [fill in how you reached 1.5 A and the Vref you read]. Two torque risks: running torque could be nearer 0.5 of holding, and in microstepping the torque can be about 0.7 of the rating. The A4988 runs hot at 1.5 A; if it shuts down the winch loses torque, so the hold test watches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question for every part between the cable and the stud: does it outlast the motor? The motor is the fuse: above its holding torque it skips, the spool's encoder sees the spool fall behind the command, and the station stops. That only works if everything else is stronger. As drawn, two parts are too close: the set screw that holds the spool on the shaft is threaded into printed plastic, so it may slip first, and the motor tab runs warm next to the motor, so its sharp back corner gives at about 1.2 times the motor. A 6 mm tab with fillets fixes the tab. The set screw goes into metal (a short insert or a captive nut: a standard 5.7 mm insert does not fit the 5.35 mm hub wall), and the pull test settles it: paint a line across the shaft and the spool; if it breaks, the spool slipped. If asked: wood-screw withdrawal from the NDS, W = 2850 G² D per inch of thread, G 0.42 for spruce-pine-fir; the average test failure is about 5.5 times that. If a 2:1 gear stage is added, the motor's pull doubles and this ranking has to be redone. Independent check: verification/lift_chain_weakest_link_check.md.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chart: motor temperature for each fin, vented and sealed; the ranges in the bullets are the simple and the refined hand model. Bottom chart: why thickness beats length; the built length is 200 mm, limited by the ceiling. The table answers what fin it would take to carry all the heat alone. This week: SolidWorks study and a 90-minute hold test; fallback 1.35 A. If asked: measuring the coil resistance takes 30 seconds; warmer air near the ceiling uses up the prototype's 1–4 K margin; the PETG next to the motor runs at about the motor temperature (independent 3-D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if the pull test comes in low, would you cut claw mass or add a 2:1 gear stage? My answer: the gear stage, because it also lets the current drop to about 1 A and halves the heat. If asked: task height means the claw at or below 1.6 m, and the worst point is the middle of a long wall. The claw is 0.15 kg over its 0.45 kg budget; the 198 g aluminum tube is the first place to cut.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lessons from the bench: measure the hardware before trusting the software's view of it, and test a fit before printing the part. If asked: the driver stays disabled at boot so a reset cannot move a motor, which also means a reset drops a hanging claw (safe-state table on the system-test slide). [Fill in: readings and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I designed into the parts so they assemble without filing. The gear pockets are the one I am proudest of: the bearing presses past a lip, the T-slots let the lip ends flex, and it then sits free in a pocket 0.075 mm larger, so the lip holds it in without squeezing the race. The slide-in runs on 0.175 mm a side, enough to lift out by hand after printing shrinkage. The fin is the one metal part. The sheared edges are only good to half a millimetre, so I used them only to find the first hole; once it was drilled I zeroed the mill on that hole and put the other four in from it, so the hole pattern carries the mill's accuracy, not the edges', and the fin bolts on without reaming. If asked: the spool bore taught me the allowance (Ø5.2 would not go on a 5 mm shaft; v3 opened it to Ø5.45 and the 10/21 CAD has Ø5.30; the set screw carries the torque). [Confirm which spool bore is printed, which holes get heat-set inserts, and the insert part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Pause and ask: which pass limit would you tighten? Three cables give three force equations, so slack shows up directly. The app runs the sequence: start up (self-check, take up slack, calibrate), find (scan, detect, choose the nearest), pick (hover until still, grip, deliver; the camera confirms each step). The safe state is PAUSE, torque on; anything that removes power drops the claw. If the test has not run by Monday, show the rig and the dated plan. Logged: cable lengths, encoder counts, motor temperatures, the fit's error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 to the targets, with the evidence for each. Three are not met: grip for jeans at narrow grabs, claw mass, and the weakest link (two cheap fixes). Two are marginal and this week's tests decide them: lift capacity and the prototype fin's temperature. Only the claw mass is measured so far.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each was a trade I priced first. Poor: the mass problem was not the budget but that I never re-checked it as the claw changed four times; the scrap fin saved a day and cost the thermal margin; and the schedule leaves no slack after the first test. Scrappy: when a controller board died two days before the test, I moved the same circuit to an ESP32 dev board with nine jumpers instead of redesigning it. [If true, add: several stations built before one was proven.]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half the time I would not build the central board, bead homing or the finger claw at all; the week-1 calculations already killed them. Next steps in order: the pull test first, because both the lift margin and the planner's tension check depend on it. Leave this slide up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1F3A5F"/>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slideLayout" Target="../slideLayouts/slideLayout4.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2.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jp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jp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2.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jpg"/><Relationship Id="rId2" Type="http://schemas.openxmlformats.org/officeDocument/2006/relationships/image" Target="../media/image-17-2.jpg"/><Relationship Id="rId3" Type="http://schemas.openxmlformats.org/officeDocument/2006/relationships/image" Target="../media/image-17-3.jpg"/><Relationship Id="rId4" Type="http://schemas.openxmlformats.org/officeDocument/2006/relationships/image" Target="../media/image-17-4.jpg"/><Relationship Id="rId5" Type="http://schemas.openxmlformats.org/officeDocument/2006/relationships/slideLayout" Target="../slideLayouts/slideLayout2.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2.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hyperlink" Target="https://docs.google.com/spreadsheets/d/1UGFnkL1v305WnDYj5aj5zBtgxnxmGP7_TVRN0afZTGs/edit" TargetMode="External"/><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5120640" cy="6858000"/>
          </a:xfrm>
          <a:prstGeom prst="rect">
            <a:avLst/>
          </a:prstGeom>
          <a:solidFill>
            <a:srgbClr val="1F3A5F"/>
          </a:solidFill>
          <a:ln w="12700">
            <a:solidFill>
              <a:srgbClr val="1F3A5F"/>
            </a:solidFill>
            <a:prstDash val="solid"/>
          </a:ln>
        </p:spPr>
      </p:sp>
      <p:sp>
        <p:nvSpPr>
          <p:cNvPr id="3" name="Text 1"/>
          <p:cNvSpPr txBox="1"/>
          <p:nvPr/>
        </p:nvSpPr>
        <p:spPr>
          <a:xfrm>
            <a:off x="548640" y="2103120"/>
            <a:ext cx="4389120" cy="91440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RoomCleaner</a:t>
            </a:r>
            <a:endParaRPr lang="en-US" sz="4400" dirty="0"/>
          </a:p>
        </p:txBody>
      </p:sp>
      <p:sp>
        <p:nvSpPr>
          <p:cNvPr id="4" name="Text 2"/>
          <p:cNvSpPr txBox="1"/>
          <p:nvPr/>
        </p:nvSpPr>
        <p:spPr>
          <a:xfrm>
            <a:off x="548640" y="3063240"/>
            <a:ext cx="4206240" cy="1097280"/>
          </a:xfrm>
          <a:prstGeom prst="rect">
            <a:avLst/>
          </a:prstGeom>
          <a:noFill/>
          <a:ln/>
        </p:spPr>
        <p:txBody>
          <a:bodyPr wrap="square" lIns="0" tIns="0" rIns="0" bIns="0" rtlCol="0" anchor="ctr"/>
          <a:lstStyle/>
          <a:p>
            <a:pPr indent="0" marL="0">
              <a:buNone/>
            </a:pPr>
            <a:r>
              <a:rPr lang="en-US" sz="2200" dirty="0">
                <a:solidFill>
                  <a:srgbClr val="D9DEE5"/>
                </a:solidFill>
                <a:latin typeface="Arial" pitchFamily="34" charset="0"/>
                <a:ea typeface="Arial" pitchFamily="34" charset="-122"/>
                <a:cs typeface="Arial" pitchFamily="34" charset="-120"/>
              </a:rPr>
              <a:t>A four-cable ceiling robot designed to pick laundry off the floor</a:t>
            </a:r>
            <a:endParaRPr lang="en-US" sz="2200" dirty="0"/>
          </a:p>
        </p:txBody>
      </p:sp>
      <p:sp>
        <p:nvSpPr>
          <p:cNvPr id="5" name="Text 3"/>
          <p:cNvSpPr txBox="1"/>
          <p:nvPr/>
        </p:nvSpPr>
        <p:spPr>
          <a:xfrm>
            <a:off x="548640" y="5212080"/>
            <a:ext cx="4389120" cy="1005840"/>
          </a:xfrm>
          <a:prstGeom prst="rect">
            <a:avLst/>
          </a:prstGeom>
          <a:noFill/>
          <a:ln/>
        </p:spPr>
        <p:txBody>
          <a:bodyPr wrap="square" lIns="0" tIns="0" rIns="0" bIns="0" rtlCol="0" anchor="ctr"/>
          <a:lstStyle/>
          <a:p>
            <a:pPr indent="0" marL="0">
              <a:buNone/>
            </a:pPr>
            <a:r>
              <a:rPr lang="en-US" sz="1400" dirty="0">
                <a:solidFill>
                  <a:srgbClr val="D9DEE5"/>
                </a:solidFill>
                <a:latin typeface="Arial" pitchFamily="34" charset="0"/>
                <a:ea typeface="Arial" pitchFamily="34" charset="-122"/>
                <a:cs typeface="Arial" pitchFamily="34" charset="-120"/>
              </a:rPr>
              <a:t>Jasper Buntinx</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Mechanical Engineering, Texas A&amp;M University</a:t>
            </a:r>
            <a:endParaRPr lang="en-US" sz="1400" dirty="0"/>
          </a:p>
          <a:p>
            <a:pPr indent="0" marL="0">
              <a:buNone/>
            </a:pPr>
            <a:r>
              <a:rPr lang="en-US" sz="1400" dirty="0">
                <a:solidFill>
                  <a:srgbClr val="D9DEE5"/>
                </a:solidFill>
                <a:latin typeface="Arial" pitchFamily="34" charset="0"/>
                <a:ea typeface="Arial" pitchFamily="34" charset="-122"/>
                <a:cs typeface="Arial" pitchFamily="34" charset="-120"/>
              </a:rPr>
              <a:t>October 27, 2026</a:t>
            </a:r>
            <a:endParaRPr lang="en-US" sz="1400" dirty="0"/>
          </a:p>
        </p:txBody>
      </p:sp>
      <p:pic>
        <p:nvPicPr>
          <p:cNvPr id="6" name="Wall station, assembled" descr="Wall station, assembled">    </p:cNvPr>
          <p:cNvPicPr>
            <a:picLocks noChangeAspect="1"/>
          </p:cNvPicPr>
          <p:nvPr/>
        </p:nvPicPr>
        <p:blipFill>
          <a:blip r:embed="rId1"/>
          <a:stretch>
            <a:fillRect/>
          </a:stretch>
        </p:blipFill>
        <p:spPr>
          <a:xfrm>
            <a:off x="5486400" y="1280160"/>
            <a:ext cx="3017520" cy="4023360"/>
          </a:xfrm>
          <a:prstGeom prst="rect">
            <a:avLst/>
          </a:prstGeom>
        </p:spPr>
      </p:pic>
      <p:pic>
        <p:nvPicPr>
          <p:cNvPr id="7" name="Printed claw body with its servo" descr="Printed claw body with its servo">    </p:cNvPr>
          <p:cNvPicPr>
            <a:picLocks noChangeAspect="1"/>
          </p:cNvPicPr>
          <p:nvPr/>
        </p:nvPicPr>
        <p:blipFill>
          <a:blip r:embed="rId2"/>
          <a:stretch>
            <a:fillRect/>
          </a:stretch>
        </p:blipFill>
        <p:spPr>
          <a:xfrm>
            <a:off x="8641080" y="1280160"/>
            <a:ext cx="3017520" cy="4023360"/>
          </a:xfrm>
          <a:prstGeom prst="rect">
            <a:avLst/>
          </a:prstGeom>
        </p:spPr>
      </p:pic>
      <p:sp>
        <p:nvSpPr>
          <p:cNvPr id="8" name="label"/>
          <p:cNvSpPr txBox="1"/>
          <p:nvPr/>
        </p:nvSpPr>
        <p:spPr>
          <a:xfrm>
            <a:off x="548640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Wall station (built)</a:t>
            </a:r>
            <a:endParaRPr lang="en-US" sz="1100" dirty="0"/>
          </a:p>
        </p:txBody>
      </p:sp>
      <p:sp>
        <p:nvSpPr>
          <p:cNvPr id="9" name="label"/>
          <p:cNvSpPr txBox="1"/>
          <p:nvPr/>
        </p:nvSpPr>
        <p:spPr>
          <a:xfrm>
            <a:off x="8641080" y="6126480"/>
            <a:ext cx="3017520" cy="274320"/>
          </a:xfrm>
          <a:prstGeom prst="rect">
            <a:avLst/>
          </a:prstGeom>
          <a:noFill/>
          <a:ln/>
        </p:spPr>
        <p:txBody>
          <a:bodyPr wrap="square" lIns="0" tIns="0" rIns="0" bIns="0" rtlCol="0" anchor="ctr"/>
          <a:lstStyle/>
          <a:p>
            <a:pPr algn="ctr" indent="0" marL="0">
              <a:buNone/>
            </a:pPr>
            <a:r>
              <a:rPr lang="en-US" sz="1100" dirty="0">
                <a:solidFill>
                  <a:srgbClr val="7F7F7F"/>
                </a:solidFill>
                <a:latin typeface="Arial" pitchFamily="34" charset="0"/>
                <a:ea typeface="Arial" pitchFamily="34" charset="-122"/>
                <a:cs typeface="Arial" pitchFamily="34" charset="-120"/>
              </a:rPr>
              <a:t>Claw body and servo (built)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About Me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pic>
        <p:nvPicPr>
          <p:cNvPr id="4" name="about_outdoors.png" descr="outdoors">    </p:cNvPr>
          <p:cNvPicPr>
            <a:picLocks noChangeAspect="1"/>
          </p:cNvPicPr>
          <p:nvPr/>
        </p:nvPicPr>
        <p:blipFill>
          <a:blip r:embed="rId1"/>
          <a:stretch>
            <a:fillRect/>
          </a:stretch>
        </p:blipFill>
        <p:spPr>
          <a:xfrm>
            <a:off x="1353273" y="1143000"/>
            <a:ext cx="2607191" cy="5120640"/>
          </a:xfrm>
          <a:prstGeom prst="rect">
            <a:avLst/>
          </a:prstGeom>
        </p:spPr>
      </p:pic>
      <p:pic>
        <p:nvPicPr>
          <p:cNvPr id="5" name="about_engineering.png" descr="engineering">    </p:cNvPr>
          <p:cNvPicPr>
            <a:picLocks noChangeAspect="1"/>
          </p:cNvPicPr>
          <p:nvPr/>
        </p:nvPicPr>
        <p:blipFill>
          <a:blip r:embed="rId2"/>
          <a:stretch>
            <a:fillRect/>
          </a:stretch>
        </p:blipFill>
        <p:spPr>
          <a:xfrm>
            <a:off x="4143344" y="1143000"/>
            <a:ext cx="3237812" cy="5120640"/>
          </a:xfrm>
          <a:prstGeom prst="rect">
            <a:avLst/>
          </a:prstGeom>
        </p:spPr>
      </p:pic>
      <p:pic>
        <p:nvPicPr>
          <p:cNvPr id="6" name="about_community.png" descr="community">    </p:cNvPr>
          <p:cNvPicPr>
            <a:picLocks noChangeAspect="1"/>
          </p:cNvPicPr>
          <p:nvPr/>
        </p:nvPicPr>
        <p:blipFill>
          <a:blip r:embed="rId3"/>
          <a:stretch>
            <a:fillRect/>
          </a:stretch>
        </p:blipFill>
        <p:spPr>
          <a:xfrm>
            <a:off x="7564036" y="1143000"/>
            <a:ext cx="3274386" cy="5120640"/>
          </a:xfrm>
          <a:prstGeom prst="rect">
            <a:avLst/>
          </a:prstGeom>
        </p:spPr>
      </p:pic>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Project Goal</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wall margin left"/>
          <p:cNvSpPr/>
          <p:nvPr/>
        </p:nvSpPr>
        <p:spPr>
          <a:xfrm>
            <a:off x="1371600" y="1638414"/>
            <a:ext cx="294792" cy="3817552"/>
          </a:xfrm>
          <a:prstGeom prst="rect">
            <a:avLst/>
          </a:prstGeom>
          <a:solidFill>
            <a:srgbClr val="F2F2F2"/>
          </a:solidFill>
          <a:ln w="12700">
            <a:solidFill>
              <a:srgbClr val="F2F2F2"/>
            </a:solidFill>
            <a:prstDash val="solid"/>
          </a:ln>
        </p:spPr>
      </p:sp>
      <p:sp>
        <p:nvSpPr>
          <p:cNvPr id="5" name="wall margin right"/>
          <p:cNvSpPr/>
          <p:nvPr/>
        </p:nvSpPr>
        <p:spPr>
          <a:xfrm>
            <a:off x="6014568" y="1638414"/>
            <a:ext cx="294792" cy="3817552"/>
          </a:xfrm>
          <a:prstGeom prst="rect">
            <a:avLst/>
          </a:prstGeom>
          <a:solidFill>
            <a:srgbClr val="F2F2F2"/>
          </a:solidFill>
          <a:ln w="12700">
            <a:solidFill>
              <a:srgbClr val="F2F2F2"/>
            </a:solidFill>
            <a:prstDash val="solid"/>
          </a:ln>
        </p:spPr>
      </p:sp>
      <p:sp>
        <p:nvSpPr>
          <p:cNvPr id="6" name="ceiling margin"/>
          <p:cNvSpPr/>
          <p:nvPr/>
        </p:nvSpPr>
        <p:spPr>
          <a:xfrm>
            <a:off x="1666392" y="1638414"/>
            <a:ext cx="4348177" cy="589583"/>
          </a:xfrm>
          <a:prstGeom prst="rect">
            <a:avLst/>
          </a:prstGeom>
          <a:solidFill>
            <a:srgbClr val="F6E3E1"/>
          </a:solidFill>
          <a:ln w="12700">
            <a:solidFill>
              <a:srgbClr val="F6E3E1"/>
            </a:solidFill>
            <a:prstDash val="solid"/>
          </a:ln>
        </p:spPr>
      </p:sp>
      <p:sp>
        <p:nvSpPr>
          <p:cNvPr id="7" name="Shape 5"/>
          <p:cNvSpPr/>
          <p:nvPr/>
        </p:nvSpPr>
        <p:spPr>
          <a:xfrm>
            <a:off x="1371600" y="5455965"/>
            <a:ext cx="4937760" cy="0"/>
          </a:xfrm>
          <a:prstGeom prst="line">
            <a:avLst/>
          </a:prstGeom>
          <a:noFill/>
          <a:ln w="25400">
            <a:solidFill>
              <a:srgbClr val="1A1A1A"/>
            </a:solidFill>
            <a:prstDash val="solid"/>
          </a:ln>
        </p:spPr>
      </p:sp>
      <p:sp>
        <p:nvSpPr>
          <p:cNvPr id="8" name="Shape 6"/>
          <p:cNvSpPr/>
          <p:nvPr/>
        </p:nvSpPr>
        <p:spPr>
          <a:xfrm flipV="1">
            <a:off x="1371600" y="1417320"/>
            <a:ext cx="0" cy="4038645"/>
          </a:xfrm>
          <a:prstGeom prst="line">
            <a:avLst/>
          </a:prstGeom>
          <a:noFill/>
          <a:ln w="15875">
            <a:solidFill>
              <a:srgbClr val="1A1A1A"/>
            </a:solidFill>
            <a:prstDash val="solid"/>
          </a:ln>
        </p:spPr>
      </p:sp>
      <p:sp>
        <p:nvSpPr>
          <p:cNvPr id="9" name="Shape 7"/>
          <p:cNvSpPr/>
          <p:nvPr/>
        </p:nvSpPr>
        <p:spPr>
          <a:xfrm flipV="1">
            <a:off x="6309360" y="1417320"/>
            <a:ext cx="0" cy="4038645"/>
          </a:xfrm>
          <a:prstGeom prst="line">
            <a:avLst/>
          </a:prstGeom>
          <a:noFill/>
          <a:ln w="15875">
            <a:solidFill>
              <a:srgbClr val="1A1A1A"/>
            </a:solidFill>
            <a:prstDash val="solid"/>
          </a:ln>
        </p:spPr>
      </p:sp>
      <p:sp>
        <p:nvSpPr>
          <p:cNvPr id="10" name="Shape 8"/>
          <p:cNvSpPr/>
          <p:nvPr/>
        </p:nvSpPr>
        <p:spPr>
          <a:xfrm>
            <a:off x="1371600" y="1417320"/>
            <a:ext cx="4937760" cy="0"/>
          </a:xfrm>
          <a:prstGeom prst="line">
            <a:avLst/>
          </a:prstGeom>
          <a:noFill/>
          <a:ln w="15875">
            <a:solidFill>
              <a:srgbClr val="1A1A1A"/>
            </a:solidFill>
            <a:prstDash val="solid"/>
          </a:ln>
        </p:spPr>
      </p:sp>
      <p:sp>
        <p:nvSpPr>
          <p:cNvPr id="11" name="Shape 9"/>
          <p:cNvSpPr/>
          <p:nvPr/>
        </p:nvSpPr>
        <p:spPr>
          <a:xfrm>
            <a:off x="1371600" y="1638414"/>
            <a:ext cx="2137239" cy="2417291"/>
          </a:xfrm>
          <a:prstGeom prst="line">
            <a:avLst/>
          </a:prstGeom>
          <a:noFill/>
          <a:ln w="25400">
            <a:solidFill>
              <a:srgbClr val="1F3A5F"/>
            </a:solidFill>
            <a:prstDash val="solid"/>
          </a:ln>
        </p:spPr>
      </p:sp>
      <p:sp>
        <p:nvSpPr>
          <p:cNvPr id="12" name="Shape 10"/>
          <p:cNvSpPr/>
          <p:nvPr/>
        </p:nvSpPr>
        <p:spPr>
          <a:xfrm flipH="1">
            <a:off x="3508839" y="1638414"/>
            <a:ext cx="2800521" cy="2417291"/>
          </a:xfrm>
          <a:prstGeom prst="line">
            <a:avLst/>
          </a:prstGeom>
          <a:noFill/>
          <a:ln w="25400">
            <a:solidFill>
              <a:srgbClr val="1F3A5F"/>
            </a:solidFill>
            <a:prstDash val="solid"/>
          </a:ln>
        </p:spPr>
      </p:sp>
      <p:sp>
        <p:nvSpPr>
          <p:cNvPr id="13" name="anchor"/>
          <p:cNvSpPr/>
          <p:nvPr/>
        </p:nvSpPr>
        <p:spPr>
          <a:xfrm>
            <a:off x="1371600" y="1574406"/>
            <a:ext cx="128016" cy="128016"/>
          </a:xfrm>
          <a:prstGeom prst="rect">
            <a:avLst/>
          </a:prstGeom>
          <a:solidFill>
            <a:srgbClr val="1F3A5F"/>
          </a:solidFill>
          <a:ln w="12700">
            <a:solidFill>
              <a:srgbClr val="1F3A5F"/>
            </a:solidFill>
            <a:prstDash val="solid"/>
          </a:ln>
        </p:spPr>
      </p:sp>
      <p:sp>
        <p:nvSpPr>
          <p:cNvPr id="14" name="anchor"/>
          <p:cNvSpPr/>
          <p:nvPr/>
        </p:nvSpPr>
        <p:spPr>
          <a:xfrm>
            <a:off x="6181344" y="1574406"/>
            <a:ext cx="128016" cy="128016"/>
          </a:xfrm>
          <a:prstGeom prst="rect">
            <a:avLst/>
          </a:prstGeom>
          <a:solidFill>
            <a:srgbClr val="1F3A5F"/>
          </a:solidFill>
          <a:ln w="12700">
            <a:solidFill>
              <a:srgbClr val="1F3A5F"/>
            </a:solidFill>
            <a:prstDash val="solid"/>
          </a:ln>
        </p:spPr>
      </p:sp>
      <p:sp>
        <p:nvSpPr>
          <p:cNvPr id="15" name="claw"/>
          <p:cNvSpPr/>
          <p:nvPr/>
        </p:nvSpPr>
        <p:spPr>
          <a:xfrm>
            <a:off x="3417399" y="4009985"/>
            <a:ext cx="182880" cy="274320"/>
          </a:xfrm>
          <a:prstGeom prst="rect">
            <a:avLst/>
          </a:prstGeom>
          <a:solidFill>
            <a:srgbClr val="4F6D8F"/>
          </a:solidFill>
          <a:ln w="12700">
            <a:solidFill>
              <a:srgbClr val="4F6D8F"/>
            </a:solidFill>
            <a:prstDash val="solid"/>
          </a:ln>
        </p:spPr>
      </p:sp>
      <p:sp>
        <p:nvSpPr>
          <p:cNvPr id="16" name="hamper"/>
          <p:cNvSpPr/>
          <p:nvPr/>
        </p:nvSpPr>
        <p:spPr>
          <a:xfrm>
            <a:off x="5203891" y="4645288"/>
            <a:ext cx="663281" cy="810677"/>
          </a:xfrm>
          <a:prstGeom prst="rect">
            <a:avLst/>
          </a:prstGeom>
          <a:solidFill>
            <a:srgbClr val="D9DEE5"/>
          </a:solidFill>
          <a:ln w="12700">
            <a:solidFill>
              <a:srgbClr val="D9DEE5"/>
            </a:solidFill>
            <a:prstDash val="solid"/>
          </a:ln>
        </p:spPr>
      </p:sp>
      <p:sp>
        <p:nvSpPr>
          <p:cNvPr id="17" name="garment"/>
          <p:cNvSpPr/>
          <p:nvPr/>
        </p:nvSpPr>
        <p:spPr>
          <a:xfrm>
            <a:off x="2255975" y="5382268"/>
            <a:ext cx="736979" cy="73698"/>
          </a:xfrm>
          <a:prstGeom prst="ellipse">
            <a:avLst/>
          </a:prstGeom>
          <a:solidFill>
            <a:srgbClr val="7F7F7F"/>
          </a:solidFill>
          <a:ln w="12700">
            <a:solidFill>
              <a:srgbClr val="7F7F7F"/>
            </a:solidFill>
            <a:prstDash val="solid"/>
          </a:ln>
        </p:spPr>
      </p:sp>
      <p:sp>
        <p:nvSpPr>
          <p:cNvPr id="18" name="label"/>
          <p:cNvSpPr txBox="1"/>
          <p:nvPr/>
        </p:nvSpPr>
        <p:spPr>
          <a:xfrm>
            <a:off x="1371600" y="5529117"/>
            <a:ext cx="4937760" cy="256032"/>
          </a:xfrm>
          <a:prstGeom prst="rect">
            <a:avLst/>
          </a:prstGeom>
          <a:noFill/>
          <a:ln/>
        </p:spPr>
        <p:txBody>
          <a:bodyPr wrap="square" lIns="0" tIns="0" rIns="0" bIns="0" rtlCol="0" anchor="ctr"/>
          <a:lstStyle/>
          <a:p>
            <a:pPr algn="ctr" indent="0" marL="0">
              <a:buNone/>
            </a:pPr>
            <a:r>
              <a:rPr lang="en-US" sz="1200" dirty="0">
                <a:solidFill>
                  <a:srgbClr val="404040"/>
                </a:solidFill>
                <a:latin typeface="Arial" pitchFamily="34" charset="0"/>
                <a:ea typeface="Arial" pitchFamily="34" charset="-122"/>
                <a:cs typeface="Arial" pitchFamily="34" charset="-120"/>
              </a:rPr>
              <a:t>3.35 m (11 ft) wall; room 3.35 × 2.74 m</a:t>
            </a:r>
            <a:endParaRPr lang="en-US" sz="1200" dirty="0"/>
          </a:p>
        </p:txBody>
      </p:sp>
      <p:sp>
        <p:nvSpPr>
          <p:cNvPr id="19" name="label"/>
          <p:cNvSpPr txBox="1"/>
          <p:nvPr/>
        </p:nvSpPr>
        <p:spPr>
          <a:xfrm>
            <a:off x="548640" y="3070883"/>
            <a:ext cx="731520" cy="731520"/>
          </a:xfrm>
          <a:prstGeom prst="rect">
            <a:avLst/>
          </a:prstGeom>
          <a:noFill/>
          <a:ln/>
        </p:spPr>
        <p:txBody>
          <a:bodyPr wrap="square" lIns="0" tIns="0" rIns="0" bIns="0" rtlCol="0" anchor="ctr"/>
          <a:lstStyle/>
          <a:p>
            <a:pPr algn="r" indent="0" marL="0">
              <a:buNone/>
            </a:pPr>
            <a:r>
              <a:rPr lang="en-US" sz="1200" dirty="0">
                <a:solidFill>
                  <a:srgbClr val="404040"/>
                </a:solidFill>
                <a:latin typeface="Arial" pitchFamily="34" charset="0"/>
                <a:ea typeface="Arial" pitchFamily="34" charset="-122"/>
                <a:cs typeface="Arial" pitchFamily="34" charset="-120"/>
              </a:rPr>
              <a:t>2.74 m</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(9 ft)</a:t>
            </a:r>
            <a:endParaRPr lang="en-US" sz="1200" dirty="0"/>
          </a:p>
          <a:p>
            <a:pPr algn="r" indent="0" marL="0">
              <a:buNone/>
            </a:pPr>
            <a:r>
              <a:rPr lang="en-US" sz="1200" dirty="0">
                <a:solidFill>
                  <a:srgbClr val="404040"/>
                </a:solidFill>
                <a:latin typeface="Arial" pitchFamily="34" charset="0"/>
                <a:ea typeface="Arial" pitchFamily="34" charset="-122"/>
                <a:cs typeface="Arial" pitchFamily="34" charset="-120"/>
              </a:rPr>
              <a:t>ceiling</a:t>
            </a:r>
            <a:endParaRPr lang="en-US" sz="1200" dirty="0"/>
          </a:p>
        </p:txBody>
      </p:sp>
      <p:sp>
        <p:nvSpPr>
          <p:cNvPr id="20" name="label"/>
          <p:cNvSpPr txBox="1"/>
          <p:nvPr/>
        </p:nvSpPr>
        <p:spPr>
          <a:xfrm>
            <a:off x="1554480" y="1674990"/>
            <a:ext cx="2926080" cy="237744"/>
          </a:xfrm>
          <a:prstGeom prst="rect">
            <a:avLst/>
          </a:prstGeom>
          <a:noFill/>
          <a:ln/>
        </p:spPr>
        <p:txBody>
          <a:bodyPr wrap="square" lIns="0" tIns="0" rIns="0" bIns="0" rtlCol="0" anchor="ctr"/>
          <a:lstStyle/>
          <a:p>
            <a:pPr algn="l" indent="0" marL="0">
              <a:buNone/>
            </a:pPr>
            <a:r>
              <a:rPr lang="en-US" sz="1100" dirty="0">
                <a:solidFill>
                  <a:srgbClr val="1F3A5F"/>
                </a:solidFill>
                <a:latin typeface="Arial" pitchFamily="34" charset="0"/>
                <a:ea typeface="Arial" pitchFamily="34" charset="-122"/>
                <a:cs typeface="Arial" pitchFamily="34" charset="-120"/>
              </a:rPr>
              <a:t>Anchor, 0.15 m below the ceiling</a:t>
            </a:r>
            <a:endParaRPr lang="en-US" sz="1100" dirty="0"/>
          </a:p>
        </p:txBody>
      </p:sp>
      <p:sp>
        <p:nvSpPr>
          <p:cNvPr id="21" name="label"/>
          <p:cNvSpPr txBox="1"/>
          <p:nvPr/>
        </p:nvSpPr>
        <p:spPr>
          <a:xfrm>
            <a:off x="1757832" y="1953677"/>
            <a:ext cx="2194560" cy="237744"/>
          </a:xfrm>
          <a:prstGeom prst="rect">
            <a:avLst/>
          </a:prstGeom>
          <a:noFill/>
          <a:ln/>
        </p:spPr>
        <p:txBody>
          <a:bodyPr wrap="square" lIns="0" tIns="0" rIns="0" bIns="0" rtlCol="0" anchor="ctr"/>
          <a:lstStyle/>
          <a:p>
            <a:pPr algn="l" indent="0" marL="0">
              <a:buNone/>
            </a:pPr>
            <a:r>
              <a:rPr lang="en-US" sz="1100" dirty="0">
                <a:solidFill>
                  <a:srgbClr val="B23A2E"/>
                </a:solidFill>
                <a:latin typeface="Arial" pitchFamily="34" charset="0"/>
                <a:ea typeface="Arial" pitchFamily="34" charset="-122"/>
                <a:cs typeface="Arial" pitchFamily="34" charset="-120"/>
              </a:rPr>
              <a:t>0.4 m ceiling margin</a:t>
            </a:r>
            <a:endParaRPr lang="en-US" sz="1100" dirty="0"/>
          </a:p>
        </p:txBody>
      </p:sp>
      <p:sp>
        <p:nvSpPr>
          <p:cNvPr id="22" name="label"/>
          <p:cNvSpPr txBox="1"/>
          <p:nvPr/>
        </p:nvSpPr>
        <p:spPr>
          <a:xfrm>
            <a:off x="4551528" y="3097632"/>
            <a:ext cx="1371600" cy="237744"/>
          </a:xfrm>
          <a:prstGeom prst="rect">
            <a:avLst/>
          </a:prstGeom>
          <a:noFill/>
          <a:ln/>
        </p:spPr>
        <p:txBody>
          <a:bodyPr wrap="square" lIns="0" tIns="0" rIns="0" bIns="0" rtlCol="0" anchor="ctr"/>
          <a:lstStyle/>
          <a:p>
            <a:pPr algn="r" indent="0" marL="0">
              <a:buNone/>
            </a:pPr>
            <a:r>
              <a:rPr lang="en-US" sz="1100" dirty="0">
                <a:solidFill>
                  <a:srgbClr val="404040"/>
                </a:solidFill>
                <a:latin typeface="Arial" pitchFamily="34" charset="0"/>
                <a:ea typeface="Arial" pitchFamily="34" charset="-122"/>
                <a:cs typeface="Arial" pitchFamily="34" charset="-120"/>
              </a:rPr>
              <a:t>0.2 m wall margin</a:t>
            </a:r>
            <a:endParaRPr lang="en-US" sz="1100" dirty="0"/>
          </a:p>
        </p:txBody>
      </p:sp>
      <p:sp>
        <p:nvSpPr>
          <p:cNvPr id="23" name="label"/>
          <p:cNvSpPr txBox="1"/>
          <p:nvPr/>
        </p:nvSpPr>
        <p:spPr>
          <a:xfrm>
            <a:off x="3655143" y="4037417"/>
            <a:ext cx="731520" cy="237744"/>
          </a:xfrm>
          <a:prstGeom prst="rect">
            <a:avLst/>
          </a:prstGeom>
          <a:noFill/>
          <a:ln/>
        </p:spPr>
        <p:txBody>
          <a:bodyPr wrap="square" lIns="0" tIns="0" rIns="0" bIns="0" rtlCol="0" anchor="ctr"/>
          <a:lstStyle/>
          <a:p>
            <a:pPr algn="l" indent="0" marL="0">
              <a:buNone/>
            </a:pPr>
            <a:r>
              <a:rPr lang="en-US" sz="1100" b="1" dirty="0">
                <a:solidFill>
                  <a:srgbClr val="4F6D8F"/>
                </a:solidFill>
                <a:latin typeface="Arial" pitchFamily="34" charset="0"/>
                <a:ea typeface="Arial" pitchFamily="34" charset="-122"/>
                <a:cs typeface="Arial" pitchFamily="34" charset="-120"/>
              </a:rPr>
              <a:t>Claw</a:t>
            </a:r>
            <a:endParaRPr lang="en-US" sz="1100" dirty="0"/>
          </a:p>
        </p:txBody>
      </p:sp>
      <p:sp>
        <p:nvSpPr>
          <p:cNvPr id="24" name="label"/>
          <p:cNvSpPr txBox="1"/>
          <p:nvPr/>
        </p:nvSpPr>
        <p:spPr>
          <a:xfrm>
            <a:off x="5203891" y="4389256"/>
            <a:ext cx="937601"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Hamper</a:t>
            </a:r>
            <a:endParaRPr lang="en-US" sz="1100" dirty="0"/>
          </a:p>
        </p:txBody>
      </p:sp>
      <p:sp>
        <p:nvSpPr>
          <p:cNvPr id="25" name="label"/>
          <p:cNvSpPr txBox="1"/>
          <p:nvPr/>
        </p:nvSpPr>
        <p:spPr>
          <a:xfrm>
            <a:off x="2255975" y="5107948"/>
            <a:ext cx="914400" cy="237744"/>
          </a:xfrm>
          <a:prstGeom prst="rect">
            <a:avLst/>
          </a:prstGeom>
          <a:noFill/>
          <a:ln/>
        </p:spPr>
        <p:txBody>
          <a:bodyPr wrap="square" lIns="0" tIns="0" rIns="0" bIns="0" rtlCol="0" anchor="ctr"/>
          <a:lstStyle/>
          <a:p>
            <a:pPr algn="l" indent="0" marL="0">
              <a:buNone/>
            </a:pPr>
            <a:r>
              <a:rPr lang="en-US" sz="1100" dirty="0">
                <a:solidFill>
                  <a:srgbClr val="404040"/>
                </a:solidFill>
                <a:latin typeface="Arial" pitchFamily="34" charset="0"/>
                <a:ea typeface="Arial" pitchFamily="34" charset="-122"/>
                <a:cs typeface="Arial" pitchFamily="34" charset="-120"/>
              </a:rPr>
              <a:t>Garment</a:t>
            </a:r>
            <a:endParaRPr lang="en-US" sz="1100" dirty="0"/>
          </a:p>
        </p:txBody>
      </p:sp>
      <p:sp>
        <p:nvSpPr>
          <p:cNvPr id="26"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Room elevation to scale; seen from the side, the four cables appear as two</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Pick up laundry in a 3.35 × 2.74 m (11 × 9 ft) room under a 2.74 m (9 ft) ceiling, and drop it in a hamper</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Design load 0.9 kg (jeans); first test 0.45 kg (1 lb)</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Success: one garment from floor to hamper with no human touch; I approve each move on the phone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Safe state: PAUSE holds position, and nobody stands under the robot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Timeline and Scope</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gantt header"/>
          <p:cNvSpPr/>
          <p:nvPr/>
        </p:nvSpPr>
        <p:spPr>
          <a:xfrm>
            <a:off x="548640" y="1188720"/>
            <a:ext cx="11094415" cy="365760"/>
          </a:xfrm>
          <a:prstGeom prst="rect">
            <a:avLst/>
          </a:prstGeom>
          <a:solidFill>
            <a:srgbClr val="1F3A5F"/>
          </a:solidFill>
          <a:ln w="12700">
            <a:solidFill>
              <a:srgbClr val="1F3A5F"/>
            </a:solidFill>
            <a:prstDash val="solid"/>
          </a:ln>
        </p:spPr>
      </p:sp>
      <p:sp>
        <p:nvSpPr>
          <p:cNvPr id="5" name="label"/>
          <p:cNvSpPr txBox="1"/>
          <p:nvPr/>
        </p:nvSpPr>
        <p:spPr>
          <a:xfrm>
            <a:off x="640080" y="1188720"/>
            <a:ext cx="219456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Phase</a:t>
            </a:r>
            <a:endParaRPr lang="en-US" sz="1300" dirty="0"/>
          </a:p>
        </p:txBody>
      </p:sp>
      <p:sp>
        <p:nvSpPr>
          <p:cNvPr id="6" name="label"/>
          <p:cNvSpPr txBox="1"/>
          <p:nvPr/>
        </p:nvSpPr>
        <p:spPr>
          <a:xfrm>
            <a:off x="3017520" y="1188720"/>
            <a:ext cx="141732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Arial" pitchFamily="34" charset="0"/>
                <a:ea typeface="Arial" pitchFamily="34" charset="-122"/>
                <a:cs typeface="Arial" pitchFamily="34" charset="-120"/>
              </a:rPr>
              <a:t>Dates</a:t>
            </a:r>
            <a:endParaRPr lang="en-US" sz="1300" dirty="0"/>
          </a:p>
        </p:txBody>
      </p:sp>
      <p:sp>
        <p:nvSpPr>
          <p:cNvPr id="7" name="Shape 5"/>
          <p:cNvSpPr/>
          <p:nvPr/>
        </p:nvSpPr>
        <p:spPr>
          <a:xfrm>
            <a:off x="548640" y="1975104"/>
            <a:ext cx="11094415" cy="420624"/>
          </a:xfrm>
          <a:prstGeom prst="rect">
            <a:avLst/>
          </a:prstGeom>
          <a:solidFill>
            <a:srgbClr val="F2F2F2"/>
          </a:solidFill>
          <a:ln w="12700">
            <a:solidFill>
              <a:srgbClr val="F2F2F2"/>
            </a:solidFill>
            <a:prstDash val="solid"/>
          </a:ln>
        </p:spPr>
      </p:sp>
      <p:sp>
        <p:nvSpPr>
          <p:cNvPr id="8" name="Shape 6"/>
          <p:cNvSpPr/>
          <p:nvPr/>
        </p:nvSpPr>
        <p:spPr>
          <a:xfrm>
            <a:off x="548640" y="2816352"/>
            <a:ext cx="11094415" cy="420624"/>
          </a:xfrm>
          <a:prstGeom prst="rect">
            <a:avLst/>
          </a:prstGeom>
          <a:solidFill>
            <a:srgbClr val="F2F2F2"/>
          </a:solidFill>
          <a:ln w="12700">
            <a:solidFill>
              <a:srgbClr val="F2F2F2"/>
            </a:solidFill>
            <a:prstDash val="solid"/>
          </a:ln>
        </p:spPr>
      </p:sp>
      <p:sp>
        <p:nvSpPr>
          <p:cNvPr id="9" name="label"/>
          <p:cNvSpPr txBox="1"/>
          <p:nvPr/>
        </p:nvSpPr>
        <p:spPr>
          <a:xfrm>
            <a:off x="4526280"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July</a:t>
            </a:r>
            <a:endParaRPr lang="en-US" sz="1300" dirty="0"/>
          </a:p>
        </p:txBody>
      </p:sp>
      <p:sp>
        <p:nvSpPr>
          <p:cNvPr id="10" name="label"/>
          <p:cNvSpPr txBox="1"/>
          <p:nvPr/>
        </p:nvSpPr>
        <p:spPr>
          <a:xfrm>
            <a:off x="6319939"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August</a:t>
            </a:r>
            <a:endParaRPr lang="en-US" sz="1300" dirty="0"/>
          </a:p>
        </p:txBody>
      </p:sp>
      <p:sp>
        <p:nvSpPr>
          <p:cNvPr id="11" name="Shape 9"/>
          <p:cNvSpPr/>
          <p:nvPr/>
        </p:nvSpPr>
        <p:spPr>
          <a:xfrm>
            <a:off x="6319939" y="1554480"/>
            <a:ext cx="0" cy="2103120"/>
          </a:xfrm>
          <a:prstGeom prst="line">
            <a:avLst/>
          </a:prstGeom>
          <a:noFill/>
          <a:ln w="9525">
            <a:solidFill>
              <a:srgbClr val="BFBFBF"/>
            </a:solidFill>
            <a:prstDash val="solid"/>
          </a:ln>
        </p:spPr>
      </p:sp>
      <p:sp>
        <p:nvSpPr>
          <p:cNvPr id="12" name="label"/>
          <p:cNvSpPr txBox="1"/>
          <p:nvPr/>
        </p:nvSpPr>
        <p:spPr>
          <a:xfrm>
            <a:off x="8113598" y="1188720"/>
            <a:ext cx="173579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September</a:t>
            </a:r>
            <a:endParaRPr lang="en-US" sz="1300" dirty="0"/>
          </a:p>
        </p:txBody>
      </p:sp>
      <p:sp>
        <p:nvSpPr>
          <p:cNvPr id="13" name="Shape 11"/>
          <p:cNvSpPr/>
          <p:nvPr/>
        </p:nvSpPr>
        <p:spPr>
          <a:xfrm>
            <a:off x="8113598" y="1554480"/>
            <a:ext cx="0" cy="2103120"/>
          </a:xfrm>
          <a:prstGeom prst="line">
            <a:avLst/>
          </a:prstGeom>
          <a:noFill/>
          <a:ln w="9525">
            <a:solidFill>
              <a:srgbClr val="BFBFBF"/>
            </a:solidFill>
            <a:prstDash val="solid"/>
          </a:ln>
        </p:spPr>
      </p:sp>
      <p:sp>
        <p:nvSpPr>
          <p:cNvPr id="14" name="label"/>
          <p:cNvSpPr txBox="1"/>
          <p:nvPr/>
        </p:nvSpPr>
        <p:spPr>
          <a:xfrm>
            <a:off x="9849396" y="1188720"/>
            <a:ext cx="1793659"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October</a:t>
            </a:r>
            <a:endParaRPr lang="en-US" sz="1300" dirty="0"/>
          </a:p>
        </p:txBody>
      </p:sp>
      <p:sp>
        <p:nvSpPr>
          <p:cNvPr id="15" name="Shape 13"/>
          <p:cNvSpPr/>
          <p:nvPr/>
        </p:nvSpPr>
        <p:spPr>
          <a:xfrm>
            <a:off x="9849396" y="1554480"/>
            <a:ext cx="0" cy="2103120"/>
          </a:xfrm>
          <a:prstGeom prst="line">
            <a:avLst/>
          </a:prstGeom>
          <a:noFill/>
          <a:ln w="9525">
            <a:solidFill>
              <a:srgbClr val="BFBFBF"/>
            </a:solidFill>
            <a:prstDash val="solid"/>
          </a:ln>
        </p:spPr>
      </p:sp>
      <p:sp>
        <p:nvSpPr>
          <p:cNvPr id="16" name="label"/>
          <p:cNvSpPr txBox="1"/>
          <p:nvPr/>
        </p:nvSpPr>
        <p:spPr>
          <a:xfrm>
            <a:off x="640080" y="1554480"/>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1. Concept</a:t>
            </a:r>
            <a:endParaRPr lang="en-US" sz="1400" dirty="0"/>
          </a:p>
        </p:txBody>
      </p:sp>
      <p:sp>
        <p:nvSpPr>
          <p:cNvPr id="17" name="label"/>
          <p:cNvSpPr txBox="1"/>
          <p:nvPr/>
        </p:nvSpPr>
        <p:spPr>
          <a:xfrm>
            <a:off x="3017520" y="1554480"/>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Jul 16 – Aug 5</a:t>
            </a:r>
            <a:endParaRPr lang="en-US" sz="1400" dirty="0"/>
          </a:p>
        </p:txBody>
      </p:sp>
      <p:sp>
        <p:nvSpPr>
          <p:cNvPr id="18" name="1. Concept bar"/>
          <p:cNvSpPr/>
          <p:nvPr/>
        </p:nvSpPr>
        <p:spPr>
          <a:xfrm>
            <a:off x="5394179" y="1645920"/>
            <a:ext cx="1215059" cy="237744"/>
          </a:xfrm>
          <a:prstGeom prst="rect">
            <a:avLst/>
          </a:prstGeom>
          <a:solidFill>
            <a:srgbClr val="4F6D8F"/>
          </a:solidFill>
          <a:ln w="12700">
            <a:solidFill>
              <a:srgbClr val="4F6D8F"/>
            </a:solidFill>
            <a:prstDash val="solid"/>
          </a:ln>
        </p:spPr>
      </p:sp>
      <p:sp>
        <p:nvSpPr>
          <p:cNvPr id="19" name="label"/>
          <p:cNvSpPr txBox="1"/>
          <p:nvPr/>
        </p:nvSpPr>
        <p:spPr>
          <a:xfrm>
            <a:off x="640080" y="1975104"/>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2. Generation 1</a:t>
            </a:r>
            <a:endParaRPr lang="en-US" sz="1400" dirty="0"/>
          </a:p>
        </p:txBody>
      </p:sp>
      <p:sp>
        <p:nvSpPr>
          <p:cNvPr id="20" name="label"/>
          <p:cNvSpPr txBox="1"/>
          <p:nvPr/>
        </p:nvSpPr>
        <p:spPr>
          <a:xfrm>
            <a:off x="3017520" y="1975104"/>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Aug 6 – Sep 2</a:t>
            </a:r>
            <a:endParaRPr lang="en-US" sz="1400" dirty="0"/>
          </a:p>
        </p:txBody>
      </p:sp>
      <p:sp>
        <p:nvSpPr>
          <p:cNvPr id="21" name="2. Generation 1 bar"/>
          <p:cNvSpPr/>
          <p:nvPr/>
        </p:nvSpPr>
        <p:spPr>
          <a:xfrm>
            <a:off x="6609239" y="2066544"/>
            <a:ext cx="1620079" cy="237744"/>
          </a:xfrm>
          <a:prstGeom prst="rect">
            <a:avLst/>
          </a:prstGeom>
          <a:solidFill>
            <a:srgbClr val="4F6D8F"/>
          </a:solidFill>
          <a:ln w="12700">
            <a:solidFill>
              <a:srgbClr val="4F6D8F"/>
            </a:solidFill>
            <a:prstDash val="solid"/>
          </a:ln>
        </p:spPr>
      </p:sp>
      <p:sp>
        <p:nvSpPr>
          <p:cNvPr id="22" name="label"/>
          <p:cNvSpPr txBox="1"/>
          <p:nvPr/>
        </p:nvSpPr>
        <p:spPr>
          <a:xfrm>
            <a:off x="640080" y="2395728"/>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3. Redesign</a:t>
            </a:r>
            <a:endParaRPr lang="en-US" sz="1400" dirty="0"/>
          </a:p>
        </p:txBody>
      </p:sp>
      <p:sp>
        <p:nvSpPr>
          <p:cNvPr id="23" name="label"/>
          <p:cNvSpPr txBox="1"/>
          <p:nvPr/>
        </p:nvSpPr>
        <p:spPr>
          <a:xfrm>
            <a:off x="3017520" y="2395728"/>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Sep 3 – Oct 6</a:t>
            </a:r>
            <a:endParaRPr lang="en-US" sz="1400" dirty="0"/>
          </a:p>
        </p:txBody>
      </p:sp>
      <p:sp>
        <p:nvSpPr>
          <p:cNvPr id="24" name="3. Redesign bar"/>
          <p:cNvSpPr/>
          <p:nvPr/>
        </p:nvSpPr>
        <p:spPr>
          <a:xfrm>
            <a:off x="8229318" y="2487168"/>
            <a:ext cx="1967239" cy="237744"/>
          </a:xfrm>
          <a:prstGeom prst="rect">
            <a:avLst/>
          </a:prstGeom>
          <a:solidFill>
            <a:srgbClr val="4F6D8F"/>
          </a:solidFill>
          <a:ln w="12700">
            <a:solidFill>
              <a:srgbClr val="4F6D8F"/>
            </a:solidFill>
            <a:prstDash val="solid"/>
          </a:ln>
        </p:spPr>
      </p:sp>
      <p:sp>
        <p:nvSpPr>
          <p:cNvPr id="25" name="label"/>
          <p:cNvSpPr txBox="1"/>
          <p:nvPr/>
        </p:nvSpPr>
        <p:spPr>
          <a:xfrm>
            <a:off x="640080" y="2816352"/>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4. Final design</a:t>
            </a:r>
            <a:endParaRPr lang="en-US" sz="1400" dirty="0"/>
          </a:p>
        </p:txBody>
      </p:sp>
      <p:sp>
        <p:nvSpPr>
          <p:cNvPr id="26" name="label"/>
          <p:cNvSpPr txBox="1"/>
          <p:nvPr/>
        </p:nvSpPr>
        <p:spPr>
          <a:xfrm>
            <a:off x="3017520" y="2816352"/>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7 – Oct 21</a:t>
            </a:r>
            <a:endParaRPr lang="en-US" sz="1400" dirty="0"/>
          </a:p>
        </p:txBody>
      </p:sp>
      <p:sp>
        <p:nvSpPr>
          <p:cNvPr id="27" name="4. Final design bar"/>
          <p:cNvSpPr/>
          <p:nvPr/>
        </p:nvSpPr>
        <p:spPr>
          <a:xfrm>
            <a:off x="10196556" y="2907792"/>
            <a:ext cx="867899" cy="237744"/>
          </a:xfrm>
          <a:prstGeom prst="rect">
            <a:avLst/>
          </a:prstGeom>
          <a:solidFill>
            <a:srgbClr val="4F6D8F"/>
          </a:solidFill>
          <a:ln w="12700">
            <a:solidFill>
              <a:srgbClr val="4F6D8F"/>
            </a:solidFill>
            <a:prstDash val="solid"/>
          </a:ln>
        </p:spPr>
      </p:sp>
      <p:sp>
        <p:nvSpPr>
          <p:cNvPr id="28" name="label"/>
          <p:cNvSpPr txBox="1"/>
          <p:nvPr/>
        </p:nvSpPr>
        <p:spPr>
          <a:xfrm>
            <a:off x="640080" y="3236976"/>
            <a:ext cx="2194560" cy="420624"/>
          </a:xfrm>
          <a:prstGeom prst="rect">
            <a:avLst/>
          </a:prstGeom>
          <a:noFill/>
          <a:ln/>
        </p:spPr>
        <p:txBody>
          <a:bodyPr wrap="square" lIns="0" tIns="0" rIns="0" bIns="0" rtlCol="0" anchor="ctr"/>
          <a:lstStyle/>
          <a:p>
            <a:pPr algn="l" indent="0" marL="0">
              <a:buNone/>
            </a:pPr>
            <a:r>
              <a:rPr lang="en-US" sz="1400" dirty="0">
                <a:solidFill>
                  <a:srgbClr val="1A1A1A"/>
                </a:solidFill>
                <a:latin typeface="Arial" pitchFamily="34" charset="0"/>
                <a:ea typeface="Arial" pitchFamily="34" charset="-122"/>
                <a:cs typeface="Arial" pitchFamily="34" charset="-120"/>
              </a:rPr>
              <a:t>5. Build and test</a:t>
            </a:r>
            <a:endParaRPr lang="en-US" sz="1400" dirty="0"/>
          </a:p>
        </p:txBody>
      </p:sp>
      <p:sp>
        <p:nvSpPr>
          <p:cNvPr id="29" name="label"/>
          <p:cNvSpPr txBox="1"/>
          <p:nvPr/>
        </p:nvSpPr>
        <p:spPr>
          <a:xfrm>
            <a:off x="3017520" y="3236976"/>
            <a:ext cx="1417320" cy="420624"/>
          </a:xfrm>
          <a:prstGeom prst="rect">
            <a:avLst/>
          </a:prstGeom>
          <a:noFill/>
          <a:ln/>
        </p:spPr>
        <p:txBody>
          <a:bodyPr wrap="square" lIns="0" tIns="0" rIns="0" bIns="0" rtlCol="0" anchor="ctr"/>
          <a:lstStyle/>
          <a:p>
            <a:pPr algn="l" indent="0" marL="0">
              <a:buNone/>
            </a:pPr>
            <a:r>
              <a:rPr lang="en-US" sz="1400" dirty="0">
                <a:solidFill>
                  <a:srgbClr val="404040"/>
                </a:solidFill>
                <a:latin typeface="Arial" pitchFamily="34" charset="0"/>
                <a:ea typeface="Arial" pitchFamily="34" charset="-122"/>
                <a:cs typeface="Arial" pitchFamily="34" charset="-120"/>
              </a:rPr>
              <a:t>Oct 22 – Oct 27</a:t>
            </a:r>
            <a:endParaRPr lang="en-US" sz="1400" dirty="0"/>
          </a:p>
        </p:txBody>
      </p:sp>
      <p:sp>
        <p:nvSpPr>
          <p:cNvPr id="30" name="5. Build and test bar"/>
          <p:cNvSpPr/>
          <p:nvPr/>
        </p:nvSpPr>
        <p:spPr>
          <a:xfrm>
            <a:off x="11064456" y="3328416"/>
            <a:ext cx="347160" cy="237744"/>
          </a:xfrm>
          <a:prstGeom prst="rect">
            <a:avLst/>
          </a:prstGeom>
          <a:solidFill>
            <a:srgbClr val="4F6D8F"/>
          </a:solidFill>
          <a:ln w="12700">
            <a:solidFill>
              <a:srgbClr val="4F6D8F"/>
            </a:solidFill>
            <a:prstDash val="solid"/>
          </a:ln>
        </p:spPr>
      </p:sp>
      <p:sp>
        <p:nvSpPr>
          <p:cNvPr id="31" name="Shape 29"/>
          <p:cNvSpPr/>
          <p:nvPr/>
        </p:nvSpPr>
        <p:spPr>
          <a:xfrm>
            <a:off x="548640" y="3657600"/>
            <a:ext cx="11094415" cy="0"/>
          </a:xfrm>
          <a:prstGeom prst="line">
            <a:avLst/>
          </a:prstGeom>
          <a:noFill/>
          <a:ln w="9525">
            <a:solidFill>
              <a:srgbClr val="BFBFBF"/>
            </a:solidFill>
            <a:prstDash val="solid"/>
          </a:ln>
        </p:spPr>
      </p:sp>
      <p:sp>
        <p:nvSpPr>
          <p:cNvPr id="32" name="milestone 1"/>
          <p:cNvSpPr/>
          <p:nvPr/>
        </p:nvSpPr>
        <p:spPr>
          <a:xfrm>
            <a:off x="9645232" y="2459736"/>
            <a:ext cx="292608" cy="292608"/>
          </a:xfrm>
          <a:prstGeom prst="diamond">
            <a:avLst/>
          </a:prstGeom>
          <a:solidFill>
            <a:srgbClr val="B23A2E"/>
          </a:solidFill>
          <a:ln w="12700">
            <a:solidFill>
              <a:srgbClr val="FFFFFF"/>
            </a:solidFill>
            <a:prstDash val="solid"/>
          </a:ln>
        </p:spPr>
      </p:sp>
      <p:sp>
        <p:nvSpPr>
          <p:cNvPr id="33" name="label"/>
          <p:cNvSpPr txBox="1"/>
          <p:nvPr/>
        </p:nvSpPr>
        <p:spPr>
          <a:xfrm>
            <a:off x="9645232" y="24597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a:t>
            </a:r>
            <a:endParaRPr lang="en-US" sz="1000" dirty="0"/>
          </a:p>
        </p:txBody>
      </p:sp>
      <p:sp>
        <p:nvSpPr>
          <p:cNvPr id="34" name="milestone 2"/>
          <p:cNvSpPr/>
          <p:nvPr/>
        </p:nvSpPr>
        <p:spPr>
          <a:xfrm>
            <a:off x="10802432" y="2880360"/>
            <a:ext cx="292608" cy="292608"/>
          </a:xfrm>
          <a:prstGeom prst="diamond">
            <a:avLst/>
          </a:prstGeom>
          <a:solidFill>
            <a:srgbClr val="B23A2E"/>
          </a:solidFill>
          <a:ln w="12700">
            <a:solidFill>
              <a:srgbClr val="FFFFFF"/>
            </a:solidFill>
            <a:prstDash val="solid"/>
          </a:ln>
        </p:spPr>
      </p:sp>
      <p:sp>
        <p:nvSpPr>
          <p:cNvPr id="35" name="label"/>
          <p:cNvSpPr txBox="1"/>
          <p:nvPr/>
        </p:nvSpPr>
        <p:spPr>
          <a:xfrm>
            <a:off x="10802432" y="2880360"/>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a:t>
            </a:r>
            <a:endParaRPr lang="en-US" sz="1000" dirty="0"/>
          </a:p>
        </p:txBody>
      </p:sp>
      <p:sp>
        <p:nvSpPr>
          <p:cNvPr id="36" name="milestone 3"/>
          <p:cNvSpPr/>
          <p:nvPr/>
        </p:nvSpPr>
        <p:spPr>
          <a:xfrm>
            <a:off x="10918152" y="3300984"/>
            <a:ext cx="292608" cy="292608"/>
          </a:xfrm>
          <a:prstGeom prst="diamond">
            <a:avLst/>
          </a:prstGeom>
          <a:solidFill>
            <a:srgbClr val="B23A2E"/>
          </a:solidFill>
          <a:ln w="12700">
            <a:solidFill>
              <a:srgbClr val="FFFFFF"/>
            </a:solidFill>
            <a:prstDash val="solid"/>
          </a:ln>
        </p:spPr>
      </p:sp>
      <p:sp>
        <p:nvSpPr>
          <p:cNvPr id="37" name="label"/>
          <p:cNvSpPr txBox="1"/>
          <p:nvPr/>
        </p:nvSpPr>
        <p:spPr>
          <a:xfrm>
            <a:off x="10918152" y="330098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3</a:t>
            </a:r>
            <a:endParaRPr lang="en-US" sz="1000" dirty="0"/>
          </a:p>
        </p:txBody>
      </p:sp>
      <p:sp>
        <p:nvSpPr>
          <p:cNvPr id="38" name="milestone key"/>
          <p:cNvSpPr txBox="1"/>
          <p:nvPr/>
        </p:nvSpPr>
        <p:spPr>
          <a:xfrm>
            <a:off x="548640" y="3730752"/>
            <a:ext cx="11094415" cy="274320"/>
          </a:xfrm>
          <a:prstGeom prst="rect">
            <a:avLst/>
          </a:prstGeom>
          <a:noFill/>
          <a:ln/>
        </p:spPr>
        <p:txBody>
          <a:bodyPr wrap="square" lIns="0" tIns="0" rIns="0" bIns="0" rtlCol="0" anchor="ctr"/>
          <a:lstStyle/>
          <a:p>
            <a:pPr algn="l" indent="0" marL="0">
              <a:buNone/>
            </a:pPr>
            <a:r>
              <a:rPr lang="en-US" sz="1200" dirty="0">
                <a:solidFill>
                  <a:srgbClr val="404040"/>
                </a:solidFill>
                <a:latin typeface="Arial" pitchFamily="34" charset="0"/>
                <a:ea typeface="Arial" pitchFamily="34" charset="-122"/>
                <a:cs typeface="Arial" pitchFamily="34" charset="-120"/>
              </a:rPr>
              <a:t>1  Sep 30: first clamp's jaws cannot close on thin cloth     2  Oct 20: v6 clamp is 4.6 times its mass budget in CAD     3  Oct 22: drivers at 1.5 A; claw weighed</a:t>
            </a:r>
            <a:endParaRPr lang="en-US" sz="1200" dirty="0"/>
          </a:p>
        </p:txBody>
      </p:sp>
      <p:sp>
        <p:nvSpPr>
          <p:cNvPr id="39" name="scope"/>
          <p:cNvSpPr txBox="1"/>
          <p:nvPr/>
        </p:nvSpPr>
        <p:spPr>
          <a:xfrm>
            <a:off x="548640" y="4206240"/>
            <a:ext cx="11094415" cy="2011680"/>
          </a:xfrm>
          <a:prstGeom prst="rect">
            <a:avLst/>
          </a:prstGeom>
          <a:noFill/>
          <a:ln/>
        </p:spPr>
        <p:txBody>
          <a:bodyPr wrap="square" lIns="25400" tIns="0" rIns="50800" bIns="25400" rtlCol="0" anchor="t"/>
          <a:lstStyle/>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Mine: requirements, design decisions, the SolidWorks station and claw, printing, machining, wiring and bring-up</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With Claude Code, under my direction: the control software, calculation scripts and CAD checks</a:t>
            </a:r>
            <a:endParaRPr lang="en-US" sz="1700" dirty="0"/>
          </a:p>
          <a:p>
            <a:pPr algn="l" marL="254000" indent="-254000">
              <a:spcAft>
                <a:spcPts val="800"/>
              </a:spcAft>
              <a:buSzPct val="100000"/>
              <a:buChar char="•"/>
            </a:pPr>
            <a:r>
              <a:rPr lang="en-US" sz="1700" dirty="0">
                <a:solidFill>
                  <a:srgbClr val="1A1A1A"/>
                </a:solidFill>
                <a:latin typeface="Arial" pitchFamily="34" charset="0"/>
                <a:ea typeface="Arial" pitchFamily="34" charset="-122"/>
                <a:cs typeface="Arial" pitchFamily="34" charset="-120"/>
              </a:rPr>
              <a:t>Purchased: steppers, drivers, controller boards, servo, camera, battery and encoder boards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Why a Cable Robot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able robot geometry" descr="Cable robot geometry">    </p:cNvPr>
          <p:cNvPicPr>
            <a:picLocks noChangeAspect="1"/>
          </p:cNvPicPr>
          <p:nvPr/>
        </p:nvPicPr>
        <p:blipFill>
          <a:blip r:embed="rId1"/>
          <a:stretch>
            <a:fillRect/>
          </a:stretch>
        </p:blipFill>
        <p:spPr>
          <a:xfrm>
            <a:off x="1165860" y="1188720"/>
            <a:ext cx="4617720" cy="4617720"/>
          </a:xfrm>
          <a:prstGeom prst="rect">
            <a:avLst/>
          </a:prstGeom>
        </p:spPr>
      </p:pic>
      <p:sp>
        <p:nvSpPr>
          <p:cNvPr id="5" name="caption"/>
          <p:cNvSpPr txBox="1"/>
          <p:nvPr/>
        </p:nvSpPr>
        <p:spPr>
          <a:xfrm>
            <a:off x="548640" y="5897880"/>
            <a:ext cx="58521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Cables from the ceiling anchors a</a:t>
            </a:r>
            <a:pPr indent="0" marL="0">
              <a:buNone/>
            </a:pPr>
            <a:r>
              <a:rPr lang="en-US" sz="1100" baseline="-40000" dirty="0">
                <a:solidFill>
                  <a:srgbClr val="7F7F7F"/>
                </a:solidFill>
                <a:latin typeface="Arial" pitchFamily="34" charset="0"/>
                <a:ea typeface="Arial" pitchFamily="34" charset="-122"/>
                <a:cs typeface="Arial" pitchFamily="34" charset="-120"/>
              </a:rPr>
              <a:t>1</a:t>
            </a:r>
            <a:pPr indent="0" marL="0">
              <a:buNone/>
            </a:pPr>
            <a:r>
              <a:rPr lang="en-US" sz="1100" dirty="0">
                <a:solidFill>
                  <a:srgbClr val="7F7F7F"/>
                </a:solidFill>
                <a:latin typeface="Arial" pitchFamily="34" charset="0"/>
                <a:ea typeface="Arial" pitchFamily="34" charset="-122"/>
                <a:cs typeface="Arial" pitchFamily="34" charset="-120"/>
              </a:rPr>
              <a:t> to a</a:t>
            </a:r>
            <a:pPr indent="0" marL="0">
              <a:buNone/>
            </a:pPr>
            <a:r>
              <a:rPr lang="en-US" sz="1100" baseline="-40000" dirty="0">
                <a:solidFill>
                  <a:srgbClr val="7F7F7F"/>
                </a:solidFill>
                <a:latin typeface="Arial" pitchFamily="34" charset="0"/>
                <a:ea typeface="Arial" pitchFamily="34" charset="-122"/>
                <a:cs typeface="Arial" pitchFamily="34" charset="-120"/>
              </a:rPr>
              <a:t>4</a:t>
            </a:r>
            <a:pPr indent="0" marL="0">
              <a:buNone/>
            </a:pPr>
            <a:r>
              <a:rPr lang="en-US" sz="1100" dirty="0">
                <a:solidFill>
                  <a:srgbClr val="7F7F7F"/>
                </a:solidFill>
                <a:latin typeface="Arial" pitchFamily="34" charset="0"/>
                <a:ea typeface="Arial" pitchFamily="34" charset="-122"/>
                <a:cs typeface="Arial" pitchFamily="34" charset="-120"/>
              </a:rPr>
              <a:t> to the claw at p</a:t>
            </a:r>
            <a:endParaRPr lang="en-US" sz="1100" dirty="0"/>
          </a:p>
        </p:txBody>
      </p:sp>
      <p:graphicFrame>
        <p:nvGraphicFramePr>
          <p:cNvPr id="6" name="concept comparison"/>
          <p:cNvGraphicFramePr>
            <a:graphicFrameLocks noGrp="1"/>
          </p:cNvGraphicFramePr>
          <p:nvPr>
            <p:extLst>
              <p:ext uri="{D42A27DB-BD31-4B8C-83A1-F6EECF244321}">
                <p14:modId xmlns:p14="http://schemas.microsoft.com/office/powerpoint/2010/main" val="1579011935"/>
              </p:ext>
            </p:extLst>
          </p:nvPr>
        </p:nvGraphicFramePr>
        <p:xfrm>
          <a:off x="6812280" y="1280160"/>
          <a:ext cx="4830775" cy="914400"/>
        </p:xfrm>
        <a:graphic>
          <a:graphicData uri="http://schemas.openxmlformats.org/drawingml/2006/table">
            <a:tbl>
              <a:tblPr/>
              <a:tblGrid>
                <a:gridCol w="1352617"/>
                <a:gridCol w="1159386"/>
                <a:gridCol w="1159386"/>
                <a:gridCol w="1159386"/>
              </a:tblGrid>
              <a:tr h="502920">
                <a:tc>
                  <a:txBody>
                    <a:bodyPr/>
                    <a:lstStyle/>
                    <a:p>
                      <a:pPr indent="0" marL="0">
                        <a:buNone/>
                      </a:pP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Floor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Gantry</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Cable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Whole floor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Furniture blocks 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Floor left clear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Frame spans the room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Yes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02920">
                <a:tc>
                  <a:txBody>
                    <a:bodyPr/>
                    <a:lstStyle/>
                    <a:p>
                      <a:pPr indent="0" marL="0">
                        <a:buNone/>
                      </a:pPr>
                      <a:r>
                        <a:rPr lang="en-US" sz="1200" b="1" dirty="0">
                          <a:solidFill>
                            <a:srgbClr val="1A1A1A"/>
                          </a:solidFill>
                          <a:latin typeface="Arial" pitchFamily="34" charset="0"/>
                          <a:ea typeface="Arial" pitchFamily="34" charset="-122"/>
                          <a:cs typeface="Arial" pitchFamily="34" charset="-120"/>
                        </a:rPr>
                        <a:t>Moving mass</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Whole robot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Heavy beam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0.6 kg claw</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concept bullets"/>
          <p:cNvSpPr txBox="1"/>
          <p:nvPr/>
        </p:nvSpPr>
        <p:spPr>
          <a:xfrm>
            <a:off x="6812280" y="3520440"/>
            <a:ext cx="4830775" cy="256032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Chosen: four ceiling winches and one claw</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The cost: cables only pull, so cable tension sets the working space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Design Trade-offs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graphicFrame>
        <p:nvGraphicFramePr>
          <p:cNvPr id="7"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3106436"/>
                <a:gridCol w="3661157"/>
                <a:gridCol w="4326822"/>
              </a:tblGrid>
              <a:tr h="566928">
                <a:tc>
                  <a:txBody>
                    <a:bodyPr/>
                    <a:lstStyle/>
                    <a:p>
                      <a:pPr indent="0" marL="0">
                        <a:buNone/>
                      </a:pPr>
                      <a:r>
                        <a:rPr lang="en-US" sz="1600" b="1" dirty="0">
                          <a:solidFill>
                            <a:srgbClr val="FFFFFF"/>
                          </a:solidFill>
                          <a:latin typeface="Arial" pitchFamily="34" charset="0"/>
                          <a:ea typeface="Arial" pitchFamily="34" charset="-122"/>
                          <a:cs typeface="Arial" pitchFamily="34" charset="-120"/>
                        </a:rPr>
                        <a:t>Lever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Gain</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600" b="1" dirty="0">
                          <a:solidFill>
                            <a:srgbClr val="FFFFFF"/>
                          </a:solidFill>
                          <a:latin typeface="Arial" pitchFamily="34" charset="0"/>
                          <a:ea typeface="Arial" pitchFamily="34" charset="-122"/>
                          <a:cs typeface="Arial" pitchFamily="34" charset="-120"/>
                        </a:rPr>
                        <a:t>Cost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Motor current up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Pull rises with current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Heat rises with current squared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Stronger claw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Stronger gears, firmer grip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mass, less payload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working area</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floor covered</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Longer wires, more voltage drop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Closer to the ceiling</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working volume</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Cable tension rises steeply</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Smaller spool radius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More pull per amp</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Tighter line bend, less room for the set screw</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66928">
                <a:tc>
                  <a:txBody>
                    <a:bodyPr/>
                    <a:lstStyle/>
                    <a:p>
                      <a:pPr indent="0" marL="0">
                        <a:buNone/>
                      </a:pPr>
                      <a:r>
                        <a:rPr lang="en-US" sz="1600" b="1" dirty="0">
                          <a:solidFill>
                            <a:srgbClr val="1A1A1A"/>
                          </a:solidFill>
                          <a:latin typeface="Arial" pitchFamily="34" charset="0"/>
                          <a:ea typeface="Arial" pitchFamily="34" charset="-122"/>
                          <a:cs typeface="Arial" pitchFamily="34" charset="-120"/>
                        </a:rPr>
                        <a:t>Larger safety margins</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No skipped steps, no wall contact</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600" dirty="0">
                          <a:solidFill>
                            <a:srgbClr val="1A1A1A"/>
                          </a:solidFill>
                          <a:latin typeface="Arial" pitchFamily="34" charset="0"/>
                          <a:ea typeface="Arial" pitchFamily="34" charset="-122"/>
                          <a:cs typeface="Arial" pitchFamily="34" charset="-120"/>
                        </a:rPr>
                        <a:t>Less usable force and floor</a:t>
                      </a:r>
                      <a:endParaRPr lang="en-US" sz="16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coupling"/>
          <p:cNvSpPr txBox="1"/>
          <p:nvPr/>
        </p:nvSpPr>
        <p:spPr>
          <a:xfrm>
            <a:off x="548640" y="5486400"/>
            <a:ext cx="11094415" cy="64008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chain that binds: a heavier claw needs more pull, more pull needs more current, and heat rises with the square of the current</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Cable Tension Sets the Ceiling Margin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1 of 5: Concept</a:t>
            </a:r>
            <a:endParaRPr lang="en-US" sz="1000" dirty="0"/>
          </a:p>
        </p:txBody>
      </p:sp>
      <p:pic>
        <p:nvPicPr>
          <p:cNvPr id="4" name="Chart from the calculation sheet: Cable " descr="Chart from the calculation sheet: Cable tension">    </p:cNvPr>
          <p:cNvPicPr>
            <a:picLocks noChangeAspect="1"/>
          </p:cNvPicPr>
          <p:nvPr/>
        </p:nvPicPr>
        <p:blipFill>
          <a:blip r:embed="rId1"/>
          <a:stretch>
            <a:fillRect/>
          </a:stretch>
        </p:blipFill>
        <p:spPr>
          <a:xfrm>
            <a:off x="548640" y="1188720"/>
            <a:ext cx="6400800" cy="4405924"/>
          </a:xfrm>
          <a:prstGeom prst="rect">
            <a:avLst/>
          </a:prstGeom>
        </p:spPr>
      </p:pic>
      <p:sp>
        <p:nvSpPr>
          <p:cNvPr id="5" name="caption"/>
          <p:cNvSpPr txBox="1"/>
          <p:nvPr/>
        </p:nvSpPr>
        <p:spPr>
          <a:xfrm>
            <a:off x="548640" y="5667796"/>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Cable tension)</a:t>
            </a:r>
            <a:endParaRPr lang="en-US" sz="1100" dirty="0"/>
          </a:p>
        </p:txBody>
      </p:sp>
      <p:sp>
        <p:nvSpPr>
          <p:cNvPr id="6" name="bullets"/>
          <p:cNvSpPr txBox="1"/>
          <p:nvPr/>
        </p:nvSpPr>
        <p:spPr>
          <a:xfrm>
            <a:off x="7360920" y="1234440"/>
            <a:ext cx="4282135" cy="3337560"/>
          </a:xfrm>
          <a:prstGeom prst="rect">
            <a:avLst/>
          </a:prstGeom>
          <a:noFill/>
          <a:ln/>
        </p:spPr>
        <p:txBody>
          <a:bodyPr wrap="square" lIns="25400" tIns="0" rIns="50800" bIns="25400" rtlCol="0" anchor="t"/>
          <a:lstStyle/>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Weighed claw plus 1 lb, centred 0.4 m below the anchors: 14.3 N, 17.2 N at 2 m/s²</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That is at the 16.8 N winch limit; with jeans the claw must stay at least 0.6 m down</a:t>
            </a:r>
            <a:endParaRPr lang="en-US" sz="1800" dirty="0"/>
          </a:p>
          <a:p>
            <a:pPr algn="l" marL="254000" indent="-254000">
              <a:spcAft>
                <a:spcPts val="1400"/>
              </a:spcAft>
              <a:buSzPct val="100000"/>
              <a:buChar char="•"/>
            </a:pPr>
            <a:r>
              <a:rPr lang="en-US" sz="1800" dirty="0">
                <a:solidFill>
                  <a:srgbClr val="1A1A1A"/>
                </a:solidFill>
                <a:latin typeface="Arial" pitchFamily="34" charset="0"/>
                <a:ea typeface="Arial" pitchFamily="34" charset="-122"/>
                <a:cs typeface="Arial" pitchFamily="34" charset="-120"/>
              </a:rPr>
              <a:t>The planner checks every cable at every path point against the measured pull limit</a:t>
            </a:r>
            <a:endParaRPr lang="en-US" sz="1800" dirty="0"/>
          </a:p>
        </p:txBody>
      </p:sp>
      <p:sp>
        <p:nvSpPr>
          <p:cNvPr id="7" name="equation box"/>
          <p:cNvSpPr/>
          <p:nvPr/>
        </p:nvSpPr>
        <p:spPr>
          <a:xfrm>
            <a:off x="7360920" y="4754880"/>
            <a:ext cx="4282135" cy="1417320"/>
          </a:xfrm>
          <a:prstGeom prst="rect">
            <a:avLst/>
          </a:prstGeom>
          <a:solidFill>
            <a:srgbClr val="F7F8FA"/>
          </a:solidFill>
          <a:ln w="12700">
            <a:solidFill>
              <a:srgbClr val="1F3A5F"/>
            </a:solidFill>
            <a:prstDash val="solid"/>
          </a:ln>
        </p:spPr>
      </p:sp>
      <p:sp>
        <p:nvSpPr>
          <p:cNvPr id="8" name="equation title"/>
          <p:cNvSpPr txBox="1"/>
          <p:nvPr/>
        </p:nvSpPr>
        <p:spPr>
          <a:xfrm>
            <a:off x="7507224" y="4828032"/>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Tension per cable, 1 lb test at 0.4 m</a:t>
            </a:r>
            <a:endParaRPr lang="en-US" sz="1100" dirty="0"/>
          </a:p>
        </p:txBody>
      </p:sp>
      <p:sp>
        <p:nvSpPr>
          <p:cNvPr id="9" name="equations"/>
          <p:cNvSpPr txBox="1"/>
          <p:nvPr/>
        </p:nvSpPr>
        <p:spPr>
          <a:xfrm>
            <a:off x="7507224" y="5084064"/>
            <a:ext cx="3989527" cy="1033272"/>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m (g + a) / (4 sin φ)</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1.054 × 11.81 / (4 × 0.181)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Winch limit: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Generation 1: Bench Build and Findings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2 of 5: Generation 1</a:t>
            </a:r>
            <a:endParaRPr lang="en-US" sz="1000" dirty="0"/>
          </a:p>
        </p:txBody>
      </p:sp>
      <p:pic>
        <p:nvPicPr>
          <p:cNvPr id="4" name="Generation 1 hardware" descr="Generation 1 hardware">    </p:cNvPr>
          <p:cNvPicPr>
            <a:picLocks noChangeAspect="1"/>
          </p:cNvPicPr>
          <p:nvPr/>
        </p:nvPicPr>
        <p:blipFill>
          <a:blip r:embed="rId1"/>
          <a:stretch>
            <a:fillRect/>
          </a:stretch>
        </p:blipFill>
        <p:spPr>
          <a:xfrm>
            <a:off x="548640" y="2123948"/>
            <a:ext cx="2060448" cy="2747264"/>
          </a:xfrm>
          <a:prstGeom prst="rect">
            <a:avLst/>
          </a:prstGeom>
        </p:spPr>
      </p:pic>
      <p:pic>
        <p:nvPicPr>
          <p:cNvPr id="5" name="Generation 1 hardware" descr="Generation 1 hardware">    </p:cNvPr>
          <p:cNvPicPr>
            <a:picLocks noChangeAspect="1"/>
          </p:cNvPicPr>
          <p:nvPr/>
        </p:nvPicPr>
        <p:blipFill>
          <a:blip r:embed="rId2"/>
          <a:stretch>
            <a:fillRect/>
          </a:stretch>
        </p:blipFill>
        <p:spPr>
          <a:xfrm>
            <a:off x="2718816" y="2123948"/>
            <a:ext cx="2060448" cy="2747264"/>
          </a:xfrm>
          <a:prstGeom prst="rect">
            <a:avLst/>
          </a:prstGeom>
        </p:spPr>
      </p:pic>
      <p:pic>
        <p:nvPicPr>
          <p:cNvPr id="6" name="Generation 1 hardware" descr="Generation 1 hardware">    </p:cNvPr>
          <p:cNvPicPr>
            <a:picLocks noChangeAspect="1"/>
          </p:cNvPicPr>
          <p:nvPr/>
        </p:nvPicPr>
        <p:blipFill>
          <a:blip r:embed="rId3"/>
          <a:stretch>
            <a:fillRect/>
          </a:stretch>
        </p:blipFill>
        <p:spPr>
          <a:xfrm>
            <a:off x="4888992" y="2123948"/>
            <a:ext cx="2060448" cy="2747264"/>
          </a:xfrm>
          <a:prstGeom prst="rect">
            <a:avLst/>
          </a:prstGeom>
        </p:spPr>
      </p:pic>
      <p:sp>
        <p:nvSpPr>
          <p:cNvPr id="7"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Bench lift test, one-piece corner plate, homing switch</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 bench station lifted a test weight; the cable math held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Bead homing would leave only 5–29 % of the room reachable, caught on paper before it was built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central board would need 10 wires to every corner once each winch had sensors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Finger claw: designed in CAD (419 g of a 450 g budget), never built</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One Controller per Winch</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entral board and station board" descr="Central board and station board">    </p:cNvPr>
          <p:cNvPicPr>
            <a:picLocks noChangeAspect="1"/>
          </p:cNvPicPr>
          <p:nvPr/>
        </p:nvPicPr>
        <p:blipFill>
          <a:blip r:embed="rId1"/>
          <a:stretch>
            <a:fillRect/>
          </a:stretch>
        </p:blipFill>
        <p:spPr>
          <a:xfrm>
            <a:off x="1418463" y="1188720"/>
            <a:ext cx="1405890" cy="1874520"/>
          </a:xfrm>
          <a:prstGeom prst="rect">
            <a:avLst/>
          </a:prstGeom>
        </p:spPr>
      </p:pic>
      <p:pic>
        <p:nvPicPr>
          <p:cNvPr id="5" name="Central board and station board" descr="Central board and station board">    </p:cNvPr>
          <p:cNvPicPr>
            <a:picLocks noChangeAspect="1"/>
          </p:cNvPicPr>
          <p:nvPr/>
        </p:nvPicPr>
        <p:blipFill>
          <a:blip r:embed="rId2"/>
          <a:stretch>
            <a:fillRect/>
          </a:stretch>
        </p:blipFill>
        <p:spPr>
          <a:xfrm>
            <a:off x="4673727" y="1188720"/>
            <a:ext cx="1405890" cy="1874520"/>
          </a:xfrm>
          <a:prstGeom prst="rect">
            <a:avLst/>
          </a:prstGeom>
        </p:spPr>
      </p:pic>
      <p:sp>
        <p:nvSpPr>
          <p:cNvPr id="6" name="caption"/>
          <p:cNvSpPr txBox="1"/>
          <p:nvPr/>
        </p:nvSpPr>
        <p:spPr>
          <a:xfrm>
            <a:off x="548640" y="31546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Before: one central driver board. After: a controller in each station.</a:t>
            </a:r>
            <a:endParaRPr lang="en-US" sz="1100" dirty="0"/>
          </a:p>
        </p:txBody>
      </p:sp>
      <p:graphicFrame>
        <p:nvGraphicFramePr>
          <p:cNvPr id="10" name="control logic"/>
          <p:cNvGraphicFramePr>
            <a:graphicFrameLocks noGrp="1"/>
          </p:cNvGraphicFramePr>
          <p:nvPr>
            <p:extLst>
              <p:ext uri="{D42A27DB-BD31-4B8C-83A1-F6EECF244321}">
                <p14:modId xmlns:p14="http://schemas.microsoft.com/office/powerpoint/2010/main" val="1579011935"/>
              </p:ext>
            </p:extLst>
          </p:nvPr>
        </p:nvGraphicFramePr>
        <p:xfrm>
          <a:off x="548640" y="3474720"/>
          <a:ext cx="6400800" cy="914400"/>
        </p:xfrm>
        <a:graphic>
          <a:graphicData uri="http://schemas.openxmlformats.org/drawingml/2006/table">
            <a:tbl>
              <a:tblPr/>
              <a:tblGrid>
                <a:gridCol w="1408176"/>
                <a:gridCol w="2112264"/>
                <a:gridCol w="2880360"/>
              </a:tblGrid>
              <a:tr h="310896">
                <a:tc>
                  <a:txBody>
                    <a:bodyPr/>
                    <a:lstStyle/>
                    <a:p>
                      <a:pPr indent="0" marL="0">
                        <a:buNone/>
                      </a:pP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Generation 1</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Where is the claw?</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 from commanded cable lengths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Measured by the claw camera at every startup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Room geometry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from a tape measure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Anchors and cable lengths fitted, with error bars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control</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One central board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 controller per station, coordinated by the laptop</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Finding laundry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Ceiling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Claw camera</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Did the grab work?</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Assumed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Camera checks pickup and delivery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10896">
                <a:tc>
                  <a:txBody>
                    <a:bodyPr/>
                    <a:lstStyle/>
                    <a:p>
                      <a:pPr indent="0" marL="0">
                        <a:buNone/>
                      </a:pPr>
                      <a:r>
                        <a:rPr lang="en-US" sz="1050" b="1" dirty="0">
                          <a:solidFill>
                            <a:srgbClr val="1A1A1A"/>
                          </a:solidFill>
                          <a:latin typeface="Arial" pitchFamily="34" charset="0"/>
                          <a:ea typeface="Arial" pitchFamily="34" charset="-122"/>
                          <a:cs typeface="Arial" pitchFamily="34" charset="-120"/>
                        </a:rPr>
                        <a:t>Faults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Emergency stop only</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PAUSE keeps torque; the emergency stop cuts power</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Generation 1: one central board; with sensors it would need 250 m (820 ft) of wire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controller in each station, fed by one 12 V pair: 50 m (164 ft)</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Each station can be built and tested on its own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Cost: timing moves into software; 50 ms of skew is 2.5 mm of cable error, about 7.5 N</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Camera Calibration Replaces Bead Homing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hart from the calculation sheet: Bead h" descr="Chart from the calculation sheet: Bead homing">    </p:cNvPr>
          <p:cNvPicPr>
            <a:picLocks noChangeAspect="1"/>
          </p:cNvPicPr>
          <p:nvPr/>
        </p:nvPicPr>
        <p:blipFill>
          <a:blip r:embed="rId1"/>
          <a:stretch>
            <a:fillRect/>
          </a:stretch>
        </p:blipFill>
        <p:spPr>
          <a:xfrm>
            <a:off x="2238341" y="1188720"/>
            <a:ext cx="3021398" cy="2080260"/>
          </a:xfrm>
          <a:prstGeom prst="rect">
            <a:avLst/>
          </a:prstGeom>
        </p:spPr>
      </p:pic>
      <p:sp>
        <p:nvSpPr>
          <p:cNvPr id="5" name="caption"/>
          <p:cNvSpPr txBox="1"/>
          <p:nvPr/>
        </p:nvSpPr>
        <p:spPr>
          <a:xfrm>
            <a:off x="2238341"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Bead homing)</a:t>
            </a:r>
            <a:endParaRPr lang="en-US" sz="1100" dirty="0"/>
          </a:p>
        </p:txBody>
      </p:sp>
      <p:pic>
        <p:nvPicPr>
          <p:cNvPr id="6" name="Chart from the calculation sheet: Floor " descr="Chart from the calculation sheet: Floor board">    </p:cNvPr>
          <p:cNvPicPr>
            <a:picLocks noChangeAspect="1"/>
          </p:cNvPicPr>
          <p:nvPr/>
        </p:nvPicPr>
        <p:blipFill>
          <a:blip r:embed="rId2"/>
          <a:stretch>
            <a:fillRect/>
          </a:stretch>
        </p:blipFill>
        <p:spPr>
          <a:xfrm>
            <a:off x="2237792" y="3726180"/>
            <a:ext cx="3022495" cy="2080260"/>
          </a:xfrm>
          <a:prstGeom prst="rect">
            <a:avLst/>
          </a:prstGeom>
        </p:spPr>
      </p:pic>
      <p:sp>
        <p:nvSpPr>
          <p:cNvPr id="7" name="caption"/>
          <p:cNvSpPr txBox="1"/>
          <p:nvPr/>
        </p:nvSpPr>
        <p:spPr>
          <a:xfrm>
            <a:off x="2237792"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Floor board)</a:t>
            </a:r>
            <a:endParaRPr lang="en-US" sz="1100" dirty="0"/>
          </a:p>
        </p:txBody>
      </p:sp>
      <p:sp>
        <p:nvSpPr>
          <p:cNvPr id="8"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 homing fixes each cable's shortest length, so most of the room is out of reach</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Instead the claw camera reads a printed floor board, and a fit finds the anchors and cable lengths</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Camera pose per frame, best case: 6.6 mm with one tag in view, 0.7 mm with four</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Simulated: cable lengths known to about 12–16 mm after the fit; the whole room opens only when the error bars allow it</a:t>
            </a:r>
            <a:endParaRPr lang="en-US" sz="1600" dirty="0"/>
          </a:p>
          <a:p>
            <a:pPr algn="l" marL="254000" indent="-254000">
              <a:spcAft>
                <a:spcPts val="1000"/>
              </a:spcAft>
              <a:buSzPct val="100000"/>
              <a:buChar char="•"/>
            </a:pPr>
            <a:r>
              <a:rPr lang="en-US" sz="1600" dirty="0">
                <a:solidFill>
                  <a:srgbClr val="1A1A1A"/>
                </a:solidFill>
                <a:latin typeface="Arial" pitchFamily="34" charset="0"/>
                <a:ea typeface="Arial" pitchFamily="34" charset="-122"/>
                <a:cs typeface="Arial" pitchFamily="34" charset="-120"/>
              </a:rPr>
              <a:t>Beads stay on the cables as end stops: a bead reaching its switch stops that station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Claw: Four Versions to a Parallel Grip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3 of 5: Redesign</a:t>
            </a:r>
            <a:endParaRPr lang="en-US" sz="1000" dirty="0"/>
          </a:p>
        </p:txBody>
      </p:sp>
      <p:pic>
        <p:nvPicPr>
          <p:cNvPr id="4" name="Claw versions" descr="Claw versions">    </p:cNvPr>
          <p:cNvPicPr>
            <a:picLocks noChangeAspect="1"/>
          </p:cNvPicPr>
          <p:nvPr/>
        </p:nvPicPr>
        <p:blipFill>
          <a:blip r:embed="rId1"/>
          <a:stretch>
            <a:fillRect/>
          </a:stretch>
        </p:blipFill>
        <p:spPr>
          <a:xfrm>
            <a:off x="1341878" y="1188720"/>
            <a:ext cx="1559061" cy="2253996"/>
          </a:xfrm>
          <a:prstGeom prst="rect">
            <a:avLst/>
          </a:prstGeom>
        </p:spPr>
      </p:pic>
      <p:pic>
        <p:nvPicPr>
          <p:cNvPr id="5" name="Claw versions" descr="Claw versions">    </p:cNvPr>
          <p:cNvPicPr>
            <a:picLocks noChangeAspect="1"/>
          </p:cNvPicPr>
          <p:nvPr/>
        </p:nvPicPr>
        <p:blipFill>
          <a:blip r:embed="rId2"/>
          <a:stretch>
            <a:fillRect/>
          </a:stretch>
        </p:blipFill>
        <p:spPr>
          <a:xfrm>
            <a:off x="5028587" y="1188720"/>
            <a:ext cx="696171" cy="2253996"/>
          </a:xfrm>
          <a:prstGeom prst="rect">
            <a:avLst/>
          </a:prstGeom>
        </p:spPr>
      </p:pic>
      <p:pic>
        <p:nvPicPr>
          <p:cNvPr id="6" name="Claw versions" descr="Claw versions">    </p:cNvPr>
          <p:cNvPicPr>
            <a:picLocks noChangeAspect="1"/>
          </p:cNvPicPr>
          <p:nvPr/>
        </p:nvPicPr>
        <p:blipFill>
          <a:blip r:embed="rId3"/>
          <a:stretch>
            <a:fillRect/>
          </a:stretch>
        </p:blipFill>
        <p:spPr>
          <a:xfrm>
            <a:off x="1466144" y="3552444"/>
            <a:ext cx="1310528" cy="2253996"/>
          </a:xfrm>
          <a:prstGeom prst="rect">
            <a:avLst/>
          </a:prstGeom>
        </p:spPr>
      </p:pic>
      <p:pic>
        <p:nvPicPr>
          <p:cNvPr id="7" name="Claw versions" descr="Claw version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Finger claw (CAD only), v6 clamp (CAD), final four-bar (CAD), printed gear train</a:t>
            </a:r>
            <a:endParaRPr lang="en-US" sz="1100" dirty="0"/>
          </a:p>
        </p:txBody>
      </p:sp>
      <p:sp>
        <p:nvSpPr>
          <p:cNvPr id="9"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Fingers (CAD only), then a clamp whose jaws could not close on thin cloth (Sep 30)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v6 clamp: 4.6 times its mass budget in CAD (Oct 20)</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Final: geared four-bar, parallel jaws, 53 mm opening; gear safety factor 2.05 at servo stall</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Grip for jeans is short at narrow grabs</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Power: two-cell 7.4 V pack, 6 V servo rail, separate 5 V logic; peak 2.8–3.1 A at the pack's 3 A rating</a:t>
            </a:r>
            <a:endParaRPr lang="en-US" sz="1600" dirty="0"/>
          </a:p>
        </p:txBody>
      </p:sp>
      <p:sp>
        <p:nvSpPr>
          <p:cNvPr id="10"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11"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Grip force per jaw, jeans</a:t>
            </a:r>
            <a:endParaRPr lang="en-US" sz="1100" dirty="0"/>
          </a:p>
        </p:txBody>
      </p:sp>
      <p:sp>
        <p:nvSpPr>
          <p:cNvPr id="12"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N ≥ m (g + a) / (2μ) = 0.9 × 11.81 / 0.6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17.7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Jaws: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13.3 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narrowest to 25 N at a 70 mm grab</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Final Wall Station</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Final wall station with a transparent sh" descr="Final wall station with a transparent shell">    </p:cNvPr>
          <p:cNvPicPr>
            <a:picLocks noChangeAspect="1"/>
          </p:cNvPicPr>
          <p:nvPr/>
        </p:nvPicPr>
        <p:blipFill>
          <a:blip r:embed="rId1"/>
          <a:stretch>
            <a:fillRect/>
          </a:stretch>
        </p:blipFill>
        <p:spPr>
          <a:xfrm>
            <a:off x="1432684" y="1188720"/>
            <a:ext cx="4632713" cy="4617720"/>
          </a:xfrm>
          <a:prstGeom prst="rect">
            <a:avLst/>
          </a:prstGeom>
        </p:spPr>
      </p:pic>
      <p:sp>
        <p:nvSpPr>
          <p:cNvPr id="5"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Final wall station (SolidWorks), shell shown transparent</a:t>
            </a:r>
            <a:endParaRPr lang="en-US" sz="1100" dirty="0"/>
          </a:p>
        </p:txBody>
      </p:sp>
      <p:sp>
        <p:nvSpPr>
          <p:cNvPr id="6"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Slide-in wall mount: the station lifts off while the anchor stays in the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Load path: cable, spool, set screw, motor, 5 mm PETG tab, slide-in, wall mount, screws, stud</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Every part must outlast the motor's 48 N slip force (two slides on); SolidWorks static study to run at that force</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Aluminum fin exits through a slot in the shell top</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Winch Pull at 1.5 A</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inch " descr="Chart from the calculation sheet: Winch pull">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Winch pull)</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NEMA 17 (National Electrical Manufacturers Association) stepper at its rated 1.5 A, up from 1.06 A: 41 % more pull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Calculated pull: 34 N on an empty spool, 25 N when full</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Assumes running torque of 0.7 × holding torque; the pull test measures it</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Winch design force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T = τ / r = 0.252 N·m / 0.010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25.2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25.2 N / 1.5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16.8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Which Part Gives First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Weakes" descr="Chart from the calculation sheet: Weakest link">    </p:cNvPr>
          <p:cNvPicPr>
            <a:picLocks noChangeAspect="1"/>
          </p:cNvPicPr>
          <p:nvPr/>
        </p:nvPicPr>
        <p:blipFill>
          <a:blip r:embed="rId1"/>
          <a:stretch>
            <a:fillRect/>
          </a:stretch>
        </p:blipFill>
        <p:spPr>
          <a:xfrm>
            <a:off x="548640" y="1188720"/>
            <a:ext cx="6400800" cy="4458701"/>
          </a:xfrm>
          <a:prstGeom prst="rect">
            <a:avLst/>
          </a:prstGeom>
        </p:spPr>
      </p:pic>
      <p:sp>
        <p:nvSpPr>
          <p:cNvPr id="5" name="caption"/>
          <p:cNvSpPr txBox="1"/>
          <p:nvPr/>
        </p:nvSpPr>
        <p:spPr>
          <a:xfrm>
            <a:off x="548640" y="5720573"/>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Weakest link)</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Goal: the motor slips before any part breaks. It slips at 34–59 N of cable pull; jeans need 16 N</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 slip of 0.7 mm of cable trips the spool encoder; the station stops and reports an overload</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As drawn, the spool's set screw in printed plastic may slip first, and the warm tab's sharp corner gives at 70 N, 1.2 times the motor</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Fixes: a 6 mm tab with fillets on both roots (2.1 times); the set screw into metal, and the pull test decides it</a:t>
            </a:r>
            <a:endParaRPr lang="en-US" sz="1500" dirty="0"/>
          </a:p>
          <a:p>
            <a:pPr algn="l" marL="254000" indent="-254000">
              <a:spcAft>
                <a:spcPts val="800"/>
              </a:spcAft>
              <a:buSzPct val="100000"/>
              <a:buChar char="•"/>
            </a:pPr>
            <a:r>
              <a:rPr lang="en-US" sz="1500" dirty="0">
                <a:solidFill>
                  <a:srgbClr val="1A1A1A"/>
                </a:solidFill>
                <a:latin typeface="Arial" pitchFamily="34" charset="0"/>
                <a:ea typeface="Arial" pitchFamily="34" charset="-122"/>
                <a:cs typeface="Arial" pitchFamily="34" charset="-120"/>
              </a:rPr>
              <a:t>Studs only: one #6 screw holds 309 N (code design value); in drywall the mount lets go at 46 N</a:t>
            </a:r>
            <a:endParaRPr lang="en-US" sz="15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slip force (the fuse)</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 = τ</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h</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r = 0.36 N·m / 0.0075 m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48 N</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48 N × 1.11 (motor) × 1.11 (cable angle)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59 N</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Motor Cooling</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Motor " descr="Chart from the calculation sheet: Motor temperature; assumed 1.8 Ω coil, 23 °C room">    </p:cNvPr>
          <p:cNvPicPr>
            <a:picLocks noChangeAspect="1"/>
          </p:cNvPicPr>
          <p:nvPr/>
        </p:nvPicPr>
        <p:blipFill>
          <a:blip r:embed="rId1"/>
          <a:stretch>
            <a:fillRect/>
          </a:stretch>
        </p:blipFill>
        <p:spPr>
          <a:xfrm>
            <a:off x="2189765" y="1188720"/>
            <a:ext cx="3027109" cy="2080260"/>
          </a:xfrm>
          <a:prstGeom prst="rect">
            <a:avLst/>
          </a:prstGeom>
        </p:spPr>
      </p:pic>
      <p:sp>
        <p:nvSpPr>
          <p:cNvPr id="5" name="caption"/>
          <p:cNvSpPr txBox="1"/>
          <p:nvPr/>
        </p:nvSpPr>
        <p:spPr>
          <a:xfrm>
            <a:off x="2189765" y="334213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Motor temperature; assumed 1.8 Ω coil, 23 °C room)</a:t>
            </a:r>
            <a:endParaRPr lang="en-US" sz="1100" dirty="0"/>
          </a:p>
        </p:txBody>
      </p:sp>
      <p:pic>
        <p:nvPicPr>
          <p:cNvPr id="6" name="Chart from the calculation sheet: Heat f" descr="Chart from the calculation sheet: Heat fin; Incropera, ch. 3">    </p:cNvPr>
          <p:cNvPicPr>
            <a:picLocks noChangeAspect="1"/>
          </p:cNvPicPr>
          <p:nvPr/>
        </p:nvPicPr>
        <p:blipFill>
          <a:blip r:embed="rId2"/>
          <a:stretch>
            <a:fillRect/>
          </a:stretch>
        </p:blipFill>
        <p:spPr>
          <a:xfrm>
            <a:off x="2189730" y="3726180"/>
            <a:ext cx="3027181" cy="2080260"/>
          </a:xfrm>
          <a:prstGeom prst="rect">
            <a:avLst/>
          </a:prstGeom>
        </p:spPr>
      </p:pic>
      <p:sp>
        <p:nvSpPr>
          <p:cNvPr id="7" name="caption"/>
          <p:cNvSpPr txBox="1"/>
          <p:nvPr/>
        </p:nvSpPr>
        <p:spPr>
          <a:xfrm>
            <a:off x="2189730" y="5879592"/>
            <a:ext cx="4114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Heat fin; Incropera, ch. 3)</a:t>
            </a:r>
            <a:endParaRPr lang="en-US" sz="1100" dirty="0"/>
          </a:p>
        </p:txBody>
      </p:sp>
      <p:sp>
        <p:nvSpPr>
          <p:cNvPr id="8" name="cooling bullets"/>
          <p:cNvSpPr txBox="1"/>
          <p:nvPr/>
        </p:nvSpPr>
        <p:spPr>
          <a:xfrm>
            <a:off x="7223760" y="1234440"/>
            <a:ext cx="4419295" cy="164592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1.5 A doubles motor heat to 4.05 W; the PETG mount must stay below 60 °C</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Vented shell and fin: 56–59 °C with the 0.019 in prototype, 45–49 °C with the 1/8 in design</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The thin sheet stops gaining by 136 mm; the 1/8 in plate keeps gaining to 349 mm</a:t>
            </a:r>
            <a:endParaRPr lang="en-US" sz="1500" dirty="0"/>
          </a:p>
        </p:txBody>
      </p:sp>
      <p:sp>
        <p:nvSpPr>
          <p:cNvPr id="9" name="label"/>
          <p:cNvSpPr txBox="1"/>
          <p:nvPr/>
        </p:nvSpPr>
        <p:spPr>
          <a:xfrm>
            <a:off x="7223760" y="2880360"/>
            <a:ext cx="4419295" cy="256032"/>
          </a:xfrm>
          <a:prstGeom prst="rect">
            <a:avLst/>
          </a:prstGeom>
          <a:noFill/>
          <a:ln/>
        </p:spPr>
        <p:txBody>
          <a:bodyPr wrap="square" lIns="0" tIns="0" rIns="0" bIns="0" rtlCol="0" anchor="ctr"/>
          <a:lstStyle/>
          <a:p>
            <a:pPr algn="l" indent="0" marL="0">
              <a:buNone/>
            </a:pPr>
            <a:r>
              <a:rPr lang="en-US" sz="1100" b="1" dirty="0">
                <a:solidFill>
                  <a:srgbClr val="1F3A5F"/>
                </a:solidFill>
                <a:latin typeface="Arial" pitchFamily="34" charset="0"/>
                <a:ea typeface="Arial" pitchFamily="34" charset="-122"/>
                <a:cs typeface="Arial" pitchFamily="34" charset="-120"/>
              </a:rPr>
              <a:t>If the fin alone carried all 4.05 W (painted 6061, 44 mm wide)</a:t>
            </a:r>
            <a:endParaRPr lang="en-US" sz="1100" dirty="0"/>
          </a:p>
        </p:txBody>
      </p:sp>
      <p:graphicFrame>
        <p:nvGraphicFramePr>
          <p:cNvPr id="16" name="fin sizing"/>
          <p:cNvGraphicFramePr>
            <a:graphicFrameLocks noGrp="1"/>
          </p:cNvGraphicFramePr>
          <p:nvPr>
            <p:extLst>
              <p:ext uri="{D42A27DB-BD31-4B8C-83A1-F6EECF244321}">
                <p14:modId xmlns:p14="http://schemas.microsoft.com/office/powerpoint/2010/main" val="1579011935"/>
              </p:ext>
            </p:extLst>
          </p:nvPr>
        </p:nvGraphicFramePr>
        <p:xfrm>
          <a:off x="7223760" y="3154680"/>
          <a:ext cx="4419295" cy="914400"/>
        </p:xfrm>
        <a:graphic>
          <a:graphicData uri="http://schemas.openxmlformats.org/drawingml/2006/table">
            <a:tbl>
              <a:tblPr/>
              <a:tblGrid>
                <a:gridCol w="1856104"/>
                <a:gridCol w="795473"/>
                <a:gridCol w="1767718"/>
              </a:tblGrid>
              <a:tr h="256032">
                <a:tc>
                  <a:txBody>
                    <a:bodyPr/>
                    <a:lstStyle/>
                    <a:p>
                      <a:pPr indent="0" marL="0">
                        <a:buNone/>
                      </a:pPr>
                      <a:r>
                        <a:rPr lang="en-US" sz="1000" b="1" dirty="0">
                          <a:solidFill>
                            <a:srgbClr val="FFFFFF"/>
                          </a:solidFill>
                          <a:latin typeface="Arial" pitchFamily="34" charset="0"/>
                          <a:ea typeface="Arial" pitchFamily="34" charset="-122"/>
                          <a:cs typeface="Arial" pitchFamily="34" charset="-120"/>
                        </a:rPr>
                        <a:t>Thickness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Mass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Shortest for ≤ 60 °C</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0.019 in (prototype)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(2.0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47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None (3.6 W max)</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0.090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68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210 mm or none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1/8 in (design)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94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145–185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3/16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141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125–140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256032">
                <a:tc>
                  <a:txBody>
                    <a:bodyPr/>
                    <a:lstStyle/>
                    <a:p>
                      <a:pPr indent="0" marL="0">
                        <a:buNone/>
                      </a:pPr>
                      <a:r>
                        <a:rPr lang="en-US" sz="1000" b="1" dirty="0">
                          <a:solidFill>
                            <a:srgbClr val="1A1A1A"/>
                          </a:solidFill>
                          <a:latin typeface="Arial" pitchFamily="34" charset="0"/>
                          <a:ea typeface="Arial" pitchFamily="34" charset="-122"/>
                          <a:cs typeface="Arial" pitchFamily="34" charset="-120"/>
                        </a:rPr>
                        <a:t>1/4 in</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189 g</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115–125 mm</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11" name="equation box"/>
          <p:cNvSpPr/>
          <p:nvPr/>
        </p:nvSpPr>
        <p:spPr>
          <a:xfrm>
            <a:off x="7223760" y="5093208"/>
            <a:ext cx="4419295" cy="1078992"/>
          </a:xfrm>
          <a:prstGeom prst="rect">
            <a:avLst/>
          </a:prstGeom>
          <a:solidFill>
            <a:srgbClr val="F7F8FA"/>
          </a:solidFill>
          <a:ln w="12700">
            <a:solidFill>
              <a:srgbClr val="1F3A5F"/>
            </a:solidFill>
            <a:prstDash val="solid"/>
          </a:ln>
        </p:spPr>
      </p:sp>
      <p:sp>
        <p:nvSpPr>
          <p:cNvPr id="12" name="equation title"/>
          <p:cNvSpPr txBox="1"/>
          <p:nvPr/>
        </p:nvSpPr>
        <p:spPr>
          <a:xfrm>
            <a:off x="7370064" y="5166360"/>
            <a:ext cx="412668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Motor heat, P = I² R</a:t>
            </a:r>
            <a:endParaRPr lang="en-US" sz="1100" dirty="0"/>
          </a:p>
        </p:txBody>
      </p:sp>
      <p:sp>
        <p:nvSpPr>
          <p:cNvPr id="13" name="equations"/>
          <p:cNvSpPr txBox="1"/>
          <p:nvPr/>
        </p:nvSpPr>
        <p:spPr>
          <a:xfrm>
            <a:off x="7370064" y="5422392"/>
            <a:ext cx="412668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1.06 A: (1.06 A)² × 1.8 Ω = 2.0 W</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At 1.5 A: (1.5 A)² × 1.8 Ω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4.05 W</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Weight Budget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4 of 5: Final design</a:t>
            </a:r>
            <a:endParaRPr lang="en-US" sz="1000" dirty="0"/>
          </a:p>
        </p:txBody>
      </p:sp>
      <p:pic>
        <p:nvPicPr>
          <p:cNvPr id="4" name="Chart from the calculation sheet: Lift b" descr="Chart from the calculation sheet: Lift budget">    </p:cNvPr>
          <p:cNvPicPr>
            <a:picLocks noChangeAspect="1"/>
          </p:cNvPicPr>
          <p:nvPr/>
        </p:nvPicPr>
        <p:blipFill>
          <a:blip r:embed="rId1"/>
          <a:stretch>
            <a:fillRect/>
          </a:stretch>
        </p:blipFill>
        <p:spPr>
          <a:xfrm>
            <a:off x="548640" y="1188720"/>
            <a:ext cx="6400800" cy="4405409"/>
          </a:xfrm>
          <a:prstGeom prst="rect">
            <a:avLst/>
          </a:prstGeom>
        </p:spPr>
      </p:pic>
      <p:sp>
        <p:nvSpPr>
          <p:cNvPr id="5" name="caption"/>
          <p:cNvSpPr txBox="1"/>
          <p:nvPr/>
        </p:nvSpPr>
        <p:spPr>
          <a:xfrm>
            <a:off x="548640" y="5667281"/>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Calculated (calc sheet: Lift budget)</a:t>
            </a:r>
            <a:endParaRPr lang="en-US" sz="1100" dirty="0"/>
          </a:p>
        </p:txBody>
      </p:sp>
      <p:sp>
        <p:nvSpPr>
          <p:cNvPr id="6" name="bullets"/>
          <p:cNvSpPr txBox="1"/>
          <p:nvPr/>
        </p:nvSpPr>
        <p:spPr>
          <a:xfrm>
            <a:off x="7360920" y="1234440"/>
            <a:ext cx="4282135" cy="3675888"/>
          </a:xfrm>
          <a:prstGeom prst="rect">
            <a:avLst/>
          </a:prstGeom>
          <a:noFill/>
          <a:ln/>
        </p:spPr>
        <p:txBody>
          <a:bodyPr wrap="square" lIns="25400" tIns="0" rIns="50800" bIns="25400" rtlCol="0" anchor="t"/>
          <a:lstStyle/>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Claw with battery weighed 0.60 kg (0.86 kg estimated)</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Calculated capacity at task height 1.56 kg; jeans need 1.50 kg, a 4 % margin</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That margin is inside the uncertainty: at 0.5 × holding torque, capacity is 1.1 kg</a:t>
            </a:r>
            <a:endParaRPr lang="en-US" sz="1700" dirty="0"/>
          </a:p>
          <a:p>
            <a:pPr algn="l" marL="254000" indent="-254000">
              <a:spcAft>
                <a:spcPts val="1000"/>
              </a:spcAft>
              <a:buSzPct val="100000"/>
              <a:buChar char="•"/>
            </a:pPr>
            <a:r>
              <a:rPr lang="en-US" sz="1700" dirty="0">
                <a:solidFill>
                  <a:srgbClr val="1A1A1A"/>
                </a:solidFill>
                <a:latin typeface="Arial" pitchFamily="34" charset="0"/>
                <a:ea typeface="Arial" pitchFamily="34" charset="-122"/>
                <a:cs typeface="Arial" pitchFamily="34" charset="-120"/>
              </a:rPr>
              <a:t>The pull test decides: keep 1.5 A, or add a 2:1 gear stage at each winch</a:t>
            </a:r>
            <a:endParaRPr lang="en-US" sz="1700" dirty="0"/>
          </a:p>
        </p:txBody>
      </p:sp>
      <p:sp>
        <p:nvSpPr>
          <p:cNvPr id="7" name="equation box"/>
          <p:cNvSpPr/>
          <p:nvPr/>
        </p:nvSpPr>
        <p:spPr>
          <a:xfrm>
            <a:off x="7360920" y="5093208"/>
            <a:ext cx="4282135" cy="1078992"/>
          </a:xfrm>
          <a:prstGeom prst="rect">
            <a:avLst/>
          </a:prstGeom>
          <a:solidFill>
            <a:srgbClr val="F7F8FA"/>
          </a:solidFill>
          <a:ln w="12700">
            <a:solidFill>
              <a:srgbClr val="1F3A5F"/>
            </a:solidFill>
            <a:prstDash val="solid"/>
          </a:ln>
        </p:spPr>
      </p:sp>
      <p:sp>
        <p:nvSpPr>
          <p:cNvPr id="8" name="equation title"/>
          <p:cNvSpPr txBox="1"/>
          <p:nvPr/>
        </p:nvSpPr>
        <p:spPr>
          <a:xfrm>
            <a:off x="7507224" y="5166360"/>
            <a:ext cx="3989527" cy="219456"/>
          </a:xfrm>
          <a:prstGeom prst="rect">
            <a:avLst/>
          </a:prstGeom>
          <a:noFill/>
          <a:ln/>
        </p:spPr>
        <p:txBody>
          <a:bodyPr wrap="square" lIns="0" tIns="0" rIns="0" bIns="0" rtlCol="0" anchor="ctr"/>
          <a:lstStyle/>
          <a:p>
            <a:pPr indent="0" marL="0">
              <a:buNone/>
            </a:pPr>
            <a:r>
              <a:rPr lang="en-US" sz="1100" b="1" dirty="0">
                <a:solidFill>
                  <a:srgbClr val="1F3A5F"/>
                </a:solidFill>
                <a:latin typeface="Arial" pitchFamily="34" charset="0"/>
                <a:ea typeface="Arial" pitchFamily="34" charset="-122"/>
                <a:cs typeface="Arial" pitchFamily="34" charset="-120"/>
              </a:rPr>
              <a:t>Lift capacity</a:t>
            </a:r>
            <a:endParaRPr lang="en-US" sz="1100" dirty="0"/>
          </a:p>
        </p:txBody>
      </p:sp>
      <p:sp>
        <p:nvSpPr>
          <p:cNvPr id="9" name="equations"/>
          <p:cNvSpPr txBox="1"/>
          <p:nvPr/>
        </p:nvSpPr>
        <p:spPr>
          <a:xfrm>
            <a:off x="7507224" y="5422392"/>
            <a:ext cx="3989527" cy="694944"/>
          </a:xfrm>
          <a:prstGeom prst="rect">
            <a:avLst/>
          </a:prstGeom>
          <a:noFill/>
          <a:ln/>
        </p:spPr>
        <p:txBody>
          <a:bodyPr wrap="square" lIns="0" tIns="0" rIns="0" bIns="0" rtlCol="0" anchor="t"/>
          <a:lstStyle/>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m</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max</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F</a:t>
            </a:r>
            <a:pPr algn="l" indent="0" marL="0">
              <a:spcAft>
                <a:spcPts val="400"/>
              </a:spcAft>
              <a:buNone/>
            </a:pPr>
            <a:r>
              <a:rPr lang="en-US" sz="1500" baseline="-40000" dirty="0">
                <a:solidFill>
                  <a:srgbClr val="1A1A1A"/>
                </a:solidFill>
                <a:latin typeface="Cambria" pitchFamily="34" charset="0"/>
                <a:ea typeface="Cambria" pitchFamily="34" charset="-122"/>
                <a:cs typeface="Cambria" pitchFamily="34" charset="-120"/>
              </a:rPr>
              <a:t>design</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 (k g) = 16.8 / (1.101 × 9.81)</a:t>
            </a:r>
            <a:endParaRPr lang="en-US" sz="1500" dirty="0"/>
          </a:p>
          <a:p>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1.56 kg</a:t>
            </a:r>
            <a:pPr algn="l" indent="0" marL="0">
              <a:spcAft>
                <a:spcPts val="400"/>
              </a:spcAft>
              <a:buNone/>
            </a:pPr>
            <a:r>
              <a:rPr lang="en-US" sz="1500" dirty="0">
                <a:solidFill>
                  <a:srgbClr val="1A1A1A"/>
                </a:solidFill>
                <a:latin typeface="Cambria" pitchFamily="34" charset="0"/>
                <a:ea typeface="Cambria" pitchFamily="34" charset="-122"/>
                <a:cs typeface="Cambria" pitchFamily="34" charset="-120"/>
              </a:rPr>
              <a:t> against 0.60 + 0.90 = </a:t>
            </a:r>
            <a:pPr algn="l" indent="0" marL="0">
              <a:spcAft>
                <a:spcPts val="400"/>
              </a:spcAft>
              <a:buNone/>
            </a:pPr>
            <a:r>
              <a:rPr lang="en-US" sz="1500" b="1" dirty="0">
                <a:solidFill>
                  <a:srgbClr val="1A1A1A"/>
                </a:solidFill>
                <a:latin typeface="Cambria" pitchFamily="34" charset="0"/>
                <a:ea typeface="Cambria" pitchFamily="34" charset="-122"/>
                <a:cs typeface="Cambria" pitchFamily="34" charset="-120"/>
              </a:rPr>
              <a:t>1.50 kg</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Build: Printing, Machining, Bring-Up</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Build photos" descr="Build photos">    </p:cNvPr>
          <p:cNvPicPr>
            <a:picLocks noChangeAspect="1"/>
          </p:cNvPicPr>
          <p:nvPr/>
        </p:nvPicPr>
        <p:blipFill>
          <a:blip r:embed="rId1"/>
          <a:stretch>
            <a:fillRect/>
          </a:stretch>
        </p:blipFill>
        <p:spPr>
          <a:xfrm>
            <a:off x="618744" y="1188720"/>
            <a:ext cx="3005328" cy="2253996"/>
          </a:xfrm>
          <a:prstGeom prst="rect">
            <a:avLst/>
          </a:prstGeom>
        </p:spPr>
      </p:pic>
      <p:pic>
        <p:nvPicPr>
          <p:cNvPr id="5" name="Build photos" descr="Build photos">    </p:cNvPr>
          <p:cNvPicPr>
            <a:picLocks noChangeAspect="1"/>
          </p:cNvPicPr>
          <p:nvPr/>
        </p:nvPicPr>
        <p:blipFill>
          <a:blip r:embed="rId2"/>
          <a:stretch>
            <a:fillRect/>
          </a:stretch>
        </p:blipFill>
        <p:spPr>
          <a:xfrm>
            <a:off x="4531424" y="1188720"/>
            <a:ext cx="1690497" cy="2253996"/>
          </a:xfrm>
          <a:prstGeom prst="rect">
            <a:avLst/>
          </a:prstGeom>
        </p:spPr>
      </p:pic>
      <p:pic>
        <p:nvPicPr>
          <p:cNvPr id="6" name="Build photos" descr="Build photos">    </p:cNvPr>
          <p:cNvPicPr>
            <a:picLocks noChangeAspect="1"/>
          </p:cNvPicPr>
          <p:nvPr/>
        </p:nvPicPr>
        <p:blipFill>
          <a:blip r:embed="rId3"/>
          <a:stretch>
            <a:fillRect/>
          </a:stretch>
        </p:blipFill>
        <p:spPr>
          <a:xfrm>
            <a:off x="1276160" y="3552444"/>
            <a:ext cx="1690497" cy="2253996"/>
          </a:xfrm>
          <a:prstGeom prst="rect">
            <a:avLst/>
          </a:prstGeom>
        </p:spPr>
      </p:pic>
      <p:pic>
        <p:nvPicPr>
          <p:cNvPr id="7" name="Build photos" descr="Build photos">    </p:cNvPr>
          <p:cNvPicPr>
            <a:picLocks noChangeAspect="1"/>
          </p:cNvPicPr>
          <p:nvPr/>
        </p:nvPicPr>
        <p:blipFill>
          <a:blip r:embed="rId4"/>
          <a:stretch>
            <a:fillRect/>
          </a:stretch>
        </p:blipFill>
        <p:spPr>
          <a:xfrm>
            <a:off x="4531424" y="3552444"/>
            <a:ext cx="1690497" cy="2253996"/>
          </a:xfrm>
          <a:prstGeom prst="rect">
            <a:avLst/>
          </a:prstGeom>
        </p:spPr>
      </p:pic>
      <p:sp>
        <p:nvSpPr>
          <p:cNvPr id="8" name="caption"/>
          <p:cNvSpPr txBox="1"/>
          <p:nvPr/>
        </p:nvSpPr>
        <p:spPr>
          <a:xfrm>
            <a:off x="548640" y="5897880"/>
            <a:ext cx="640080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Fin blanks and drawing, finished fin, soldered station board, mill setup</a:t>
            </a:r>
            <a:endParaRPr lang="en-US" sz="1100" dirty="0"/>
          </a:p>
        </p:txBody>
      </p:sp>
      <p:sp>
        <p:nvSpPr>
          <p:cNvPr id="9"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One spool bore printed too tight (Ø5.2 on a 5 mm shaft); v3 opened it to Ø5.45</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Fin drilled in one mill setup from a 1:1 drawing; the 7/8 in pilot fits the 22 mm motor boss</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First motor would not turn: logic rail at 1.14 V, traced to a bad 3.3 V connection</a:t>
            </a:r>
            <a:endParaRPr lang="en-US" sz="1700" dirty="0"/>
          </a:p>
          <a:p>
            <a:pPr algn="l" marL="254000" indent="-254000">
              <a:spcAft>
                <a:spcPts val="1200"/>
              </a:spcAft>
              <a:buSzPct val="100000"/>
              <a:buChar char="•"/>
            </a:pPr>
            <a:r>
              <a:rPr lang="en-US" sz="1700" dirty="0">
                <a:solidFill>
                  <a:srgbClr val="1A1A1A"/>
                </a:solidFill>
                <a:latin typeface="Arial" pitchFamily="34" charset="0"/>
                <a:ea typeface="Arial" pitchFamily="34" charset="-122"/>
                <a:cs typeface="Arial" pitchFamily="34" charset="-120"/>
              </a:rPr>
              <a:t>Now: a meter on every rail before code, and fit coupons before new fits</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Manufacturing: Fits and Datums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Fit details from the CAD: gear bearing p" descr="Fit details from the CAD: gear bearing pocket, entry lip, slide-in dovetail, fin datums">    </p:cNvPr>
          <p:cNvPicPr>
            <a:picLocks noChangeAspect="1"/>
          </p:cNvPicPr>
          <p:nvPr/>
        </p:nvPicPr>
        <p:blipFill>
          <a:blip r:embed="rId1"/>
          <a:stretch>
            <a:fillRect/>
          </a:stretch>
        </p:blipFill>
        <p:spPr>
          <a:xfrm>
            <a:off x="548640" y="1097280"/>
            <a:ext cx="5669280" cy="4749937"/>
          </a:xfrm>
          <a:prstGeom prst="rect">
            <a:avLst/>
          </a:prstGeom>
        </p:spPr>
      </p:pic>
      <p:sp>
        <p:nvSpPr>
          <p:cNvPr id="5" name="caption"/>
          <p:cNvSpPr txBox="1"/>
          <p:nvPr/>
        </p:nvSpPr>
        <p:spPr>
          <a:xfrm>
            <a:off x="548640" y="5943600"/>
            <a:ext cx="566928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From my SolidWorks parts: claw gear, wall station, heat fin (mm)</a:t>
            </a:r>
            <a:endParaRPr lang="en-US" sz="1100" dirty="0"/>
          </a:p>
        </p:txBody>
      </p:sp>
      <p:graphicFrame>
        <p:nvGraphicFramePr>
          <p:cNvPr id="19" name="fits"/>
          <p:cNvGraphicFramePr>
            <a:graphicFrameLocks noGrp="1"/>
          </p:cNvGraphicFramePr>
          <p:nvPr>
            <p:extLst>
              <p:ext uri="{D42A27DB-BD31-4B8C-83A1-F6EECF244321}">
                <p14:modId xmlns:p14="http://schemas.microsoft.com/office/powerpoint/2010/main" val="1579011935"/>
              </p:ext>
            </p:extLst>
          </p:nvPr>
        </p:nvGraphicFramePr>
        <p:xfrm>
          <a:off x="6492240" y="1143000"/>
          <a:ext cx="5150815" cy="914400"/>
        </p:xfrm>
        <a:graphic>
          <a:graphicData uri="http://schemas.openxmlformats.org/drawingml/2006/table">
            <a:tbl>
              <a:tblPr/>
              <a:tblGrid>
                <a:gridCol w="1287704"/>
                <a:gridCol w="2266359"/>
                <a:gridCol w="1596753"/>
              </a:tblGrid>
              <a:tr h="457200">
                <a:tc>
                  <a:txBody>
                    <a:bodyPr/>
                    <a:lstStyle/>
                    <a:p>
                      <a:pPr indent="0" marL="0">
                        <a:buNone/>
                      </a:pPr>
                      <a:r>
                        <a:rPr lang="en-US" sz="1050" b="1" dirty="0">
                          <a:solidFill>
                            <a:srgbClr val="FFFFFF"/>
                          </a:solidFill>
                          <a:latin typeface="Arial" pitchFamily="34" charset="0"/>
                          <a:ea typeface="Arial" pitchFamily="34" charset="-122"/>
                          <a:cs typeface="Arial" pitchFamily="34" charset="-120"/>
                        </a:rPr>
                        <a:t>Feature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As drawn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50" b="1" dirty="0">
                          <a:solidFill>
                            <a:srgbClr val="FFFFFF"/>
                          </a:solidFill>
                          <a:latin typeface="Arial" pitchFamily="34" charset="0"/>
                          <a:ea typeface="Arial" pitchFamily="34" charset="-122"/>
                          <a:cs typeface="Arial" pitchFamily="34" charset="-120"/>
                        </a:rPr>
                        <a:t>Fit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bearings (687)</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Ø14.075 pocket behind a Ø14.000 lip, 1.95 long, 8 T-slots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Snaps past the lip, +0.075 behind it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Gear pins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Printed Ø7.000 pin into a Ø7.05 socket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Line-to-line in the bearing; +0.05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Slide-in mount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0.175 per side; 30° dovetail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Slip fit, 0.14–0.21 on the flanks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Spool on Ø5 D-shaft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Ø5.30 bore (10/21), Ø5.45 in v3; 0.5 mm flat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+0.30 to +0.45: Ø5.2 printed too tight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Heat-set inserts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Ø4.1 × 7 deck, Ø4.0 × 5 gear housing; M2.5: Ø3.45 ×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Melt-in; hole deeper than the insert</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Screw clearance</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M3 Ø3.5 printed, Ø3.4 drilled; wall Ø3.97 (5/32 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+0.5 printed, +0.4 drilled</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Motor pilot, Ø22 boss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Ø22.4 printed tab, Ø22.5 drilled fin</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+0.4 / +0.5</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050" b="1" dirty="0">
                          <a:solidFill>
                            <a:srgbClr val="1A1A1A"/>
                          </a:solidFill>
                          <a:latin typeface="Arial" pitchFamily="34" charset="0"/>
                          <a:ea typeface="Arial" pitchFamily="34" charset="-122"/>
                          <a:cs typeface="Arial" pitchFamily="34" charset="-120"/>
                        </a:rPr>
                        <a:t>Fin hole zero</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Edges locate the bottom-left hole; drilled, it is the zero for the other 4</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50" dirty="0">
                          <a:solidFill>
                            <a:srgbClr val="1A1A1A"/>
                          </a:solidFill>
                          <a:latin typeface="Arial" pitchFamily="34" charset="0"/>
                          <a:ea typeface="Arial" pitchFamily="34" charset="-122"/>
                          <a:cs typeface="Arial" pitchFamily="34" charset="-120"/>
                        </a:rPr>
                        <a:t>Pattern ±0.1, free of the ±0.5 sheared edges</a:t>
                      </a:r>
                      <a:endParaRPr lang="en-US" sz="105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7" name="printing rules"/>
          <p:cNvSpPr txBox="1"/>
          <p:nvPr/>
        </p:nvSpPr>
        <p:spPr>
          <a:xfrm>
            <a:off x="6492240" y="5349240"/>
            <a:ext cx="5150815" cy="868680"/>
          </a:xfrm>
          <a:prstGeom prst="rect">
            <a:avLst/>
          </a:prstGeom>
          <a:noFill/>
          <a:ln/>
        </p:spPr>
        <p:txBody>
          <a:bodyPr wrap="square" lIns="25400" tIns="0" rIns="50800" bIns="25400" rtlCol="0" anchor="t"/>
          <a:lstStyle/>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Printed holes come out small, so every printed fit carries an allowance; the drilled fin needs none</a:t>
            </a:r>
            <a:endParaRPr lang="en-US" sz="1200" dirty="0"/>
          </a:p>
          <a:p>
            <a:pPr algn="l" marL="254000" indent="-254000">
              <a:spcAft>
                <a:spcPts val="400"/>
              </a:spcAft>
              <a:buSzPct val="100000"/>
              <a:buChar char="•"/>
            </a:pPr>
            <a:r>
              <a:rPr lang="en-US" sz="1200" dirty="0">
                <a:solidFill>
                  <a:srgbClr val="1A1A1A"/>
                </a:solidFill>
                <a:latin typeface="Arial" pitchFamily="34" charset="0"/>
                <a:ea typeface="Arial" pitchFamily="34" charset="-122"/>
                <a:cs typeface="Arial" pitchFamily="34" charset="-120"/>
              </a:rPr>
              <a:t>PETG on a Creality K1, 0.4 mm nozzle, 0.2 mm layers; loads along the layers, mating faces off supports</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First System Test</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  |  Phase 5 of 5: Build and test</a:t>
            </a:r>
            <a:endParaRPr lang="en-US" sz="1000" dirty="0"/>
          </a:p>
        </p:txBody>
      </p:sp>
      <p:pic>
        <p:nvPicPr>
          <p:cNvPr id="4" name="Phone app screens" descr="Phone app screens">    </p:cNvPr>
          <p:cNvPicPr>
            <a:picLocks noChangeAspect="1"/>
          </p:cNvPicPr>
          <p:nvPr/>
        </p:nvPicPr>
        <p:blipFill>
          <a:blip r:embed="rId1"/>
          <a:stretch>
            <a:fillRect/>
          </a:stretch>
        </p:blipFill>
        <p:spPr>
          <a:xfrm>
            <a:off x="1024897" y="1188720"/>
            <a:ext cx="1077454" cy="2331720"/>
          </a:xfrm>
          <a:prstGeom prst="rect">
            <a:avLst/>
          </a:prstGeom>
        </p:spPr>
      </p:pic>
      <p:pic>
        <p:nvPicPr>
          <p:cNvPr id="5" name="Phone app screens" descr="Phone app screens">    </p:cNvPr>
          <p:cNvPicPr>
            <a:picLocks noChangeAspect="1"/>
          </p:cNvPicPr>
          <p:nvPr/>
        </p:nvPicPr>
        <p:blipFill>
          <a:blip r:embed="rId2"/>
          <a:stretch>
            <a:fillRect/>
          </a:stretch>
        </p:blipFill>
        <p:spPr>
          <a:xfrm>
            <a:off x="3164593" y="1188720"/>
            <a:ext cx="1077454" cy="2331720"/>
          </a:xfrm>
          <a:prstGeom prst="rect">
            <a:avLst/>
          </a:prstGeom>
        </p:spPr>
      </p:pic>
      <p:pic>
        <p:nvPicPr>
          <p:cNvPr id="6" name="Phone app screens" descr="Phone app screens">    </p:cNvPr>
          <p:cNvPicPr>
            <a:picLocks noChangeAspect="1"/>
          </p:cNvPicPr>
          <p:nvPr/>
        </p:nvPicPr>
        <p:blipFill>
          <a:blip r:embed="rId3"/>
          <a:stretch>
            <a:fillRect/>
          </a:stretch>
        </p:blipFill>
        <p:spPr>
          <a:xfrm>
            <a:off x="5304289" y="1188720"/>
            <a:ext cx="1077454" cy="2331720"/>
          </a:xfrm>
          <a:prstGeom prst="rect">
            <a:avLst/>
          </a:prstGeom>
        </p:spPr>
      </p:pic>
      <p:sp>
        <p:nvSpPr>
          <p:cNvPr id="7" name="caption"/>
          <p:cNvSpPr txBox="1"/>
          <p:nvPr/>
        </p:nvSpPr>
        <p:spPr>
          <a:xfrm>
            <a:off x="548640" y="3611880"/>
            <a:ext cx="630936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Phone app: home, live claw camera, chat; every move waits for approval</a:t>
            </a:r>
            <a:endParaRPr lang="en-US" sz="1100" dirty="0"/>
          </a:p>
        </p:txBody>
      </p:sp>
      <p:graphicFrame>
        <p:nvGraphicFramePr>
          <p:cNvPr id="20" name="pass limits"/>
          <p:cNvGraphicFramePr>
            <a:graphicFrameLocks noGrp="1"/>
          </p:cNvGraphicFramePr>
          <p:nvPr>
            <p:extLst>
              <p:ext uri="{D42A27DB-BD31-4B8C-83A1-F6EECF244321}">
                <p14:modId xmlns:p14="http://schemas.microsoft.com/office/powerpoint/2010/main" val="1579011935"/>
              </p:ext>
            </p:extLst>
          </p:nvPr>
        </p:nvGraphicFramePr>
        <p:xfrm>
          <a:off x="548640" y="4069080"/>
          <a:ext cx="6309360" cy="914400"/>
        </p:xfrm>
        <a:graphic>
          <a:graphicData uri="http://schemas.openxmlformats.org/drawingml/2006/table">
            <a:tbl>
              <a:tblPr/>
              <a:tblGrid>
                <a:gridCol w="1577340"/>
                <a:gridCol w="3596335"/>
                <a:gridCol w="1135685"/>
              </a:tblGrid>
              <a:tr h="402336">
                <a:tc>
                  <a:txBody>
                    <a:bodyPr/>
                    <a:lstStyle/>
                    <a:p>
                      <a:pPr indent="0" marL="0">
                        <a:buNone/>
                      </a:pPr>
                      <a:r>
                        <a:rPr lang="en-US" sz="1200" b="1" dirty="0">
                          <a:solidFill>
                            <a:srgbClr val="FFFFFF"/>
                          </a:solidFill>
                          <a:latin typeface="Arial" pitchFamily="34" charset="0"/>
                          <a:ea typeface="Arial" pitchFamily="34" charset="-122"/>
                          <a:cs typeface="Arial" pitchFamily="34" charset="-120"/>
                        </a:rPr>
                        <a:t>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Pass limit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Result</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Self-check</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All stations answer; slack taken 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Calibration</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Held-out poses: cable residual ≤ 20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Short move, 1 lb</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300 mm at 50 mm/s; cable mismatch ≤ 2 mm</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200" b="1" dirty="0">
                          <a:solidFill>
                            <a:srgbClr val="1A1A1A"/>
                          </a:solidFill>
                          <a:latin typeface="Arial" pitchFamily="34" charset="0"/>
                          <a:ea typeface="Arial" pitchFamily="34" charset="-122"/>
                          <a:cs typeface="Arial" pitchFamily="34" charset="-120"/>
                        </a:rPr>
                        <a:t>Pickup</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One garment into the hamper</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200" dirty="0">
                          <a:solidFill>
                            <a:srgbClr val="1A1A1A"/>
                          </a:solidFill>
                          <a:latin typeface="Arial" pitchFamily="34" charset="0"/>
                          <a:ea typeface="Arial" pitchFamily="34" charset="-122"/>
                          <a:cs typeface="Arial" pitchFamily="34" charset="-120"/>
                        </a:rPr>
                        <a:t>Planned</a:t>
                      </a:r>
                      <a:endParaRPr lang="en-US" sz="12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9" name="test bullets"/>
          <p:cNvSpPr txBox="1"/>
          <p:nvPr/>
        </p:nvSpPr>
        <p:spPr>
          <a:xfrm>
            <a:off x="7223760" y="1234440"/>
            <a:ext cx="4419295" cy="1920240"/>
          </a:xfrm>
          <a:prstGeom prst="rect">
            <a:avLst/>
          </a:prstGeom>
          <a:noFill/>
          <a:ln/>
        </p:spPr>
        <p:txBody>
          <a:bodyPr wrap="square" lIns="25400" tIns="0" rIns="50800" bIns="25400" rtlCol="0" anchor="t"/>
          <a:lstStyle/>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Three stations hold the claw under gravity over the triangle they span, about half the floor</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Sequence: self-check, calibration, short move, then pickup</a:t>
            </a:r>
            <a:endParaRPr lang="en-US" sz="1500" dirty="0"/>
          </a:p>
          <a:p>
            <a:pPr algn="l" marL="254000" indent="-254000">
              <a:spcAft>
                <a:spcPts val="600"/>
              </a:spcAft>
              <a:buSzPct val="100000"/>
              <a:buChar char="•"/>
            </a:pPr>
            <a:r>
              <a:rPr lang="en-US" sz="1500" dirty="0">
                <a:solidFill>
                  <a:srgbClr val="1A1A1A"/>
                </a:solidFill>
                <a:latin typeface="Arial" pitchFamily="34" charset="0"/>
                <a:ea typeface="Arial" pitchFamily="34" charset="-122"/>
                <a:cs typeface="Arial" pitchFamily="34" charset="-120"/>
              </a:rPr>
              <a:t>1 lb first, then one garment; pass limits set before the run</a:t>
            </a:r>
            <a:endParaRPr lang="en-US" sz="1500" dirty="0"/>
          </a:p>
        </p:txBody>
      </p:sp>
      <p:sp>
        <p:nvSpPr>
          <p:cNvPr id="10" name="label"/>
          <p:cNvSpPr txBox="1"/>
          <p:nvPr/>
        </p:nvSpPr>
        <p:spPr>
          <a:xfrm>
            <a:off x="7223760" y="3200400"/>
            <a:ext cx="4419295" cy="256032"/>
          </a:xfrm>
          <a:prstGeom prst="rect">
            <a:avLst/>
          </a:prstGeom>
          <a:noFill/>
          <a:ln/>
        </p:spPr>
        <p:txBody>
          <a:bodyPr wrap="square" lIns="0" tIns="0" rIns="0" bIns="0" rtlCol="0" anchor="ctr"/>
          <a:lstStyle/>
          <a:p>
            <a:pPr algn="l" indent="0" marL="0">
              <a:buNone/>
            </a:pPr>
            <a:r>
              <a:rPr lang="en-US" sz="1200" b="1" dirty="0">
                <a:solidFill>
                  <a:srgbClr val="1F3A5F"/>
                </a:solidFill>
                <a:latin typeface="Arial" pitchFamily="34" charset="0"/>
                <a:ea typeface="Arial" pitchFamily="34" charset="-122"/>
                <a:cs typeface="Arial" pitchFamily="34" charset="-120"/>
              </a:rPr>
              <a:t>If something goes wrong</a:t>
            </a:r>
            <a:endParaRPr lang="en-US" sz="1200" dirty="0"/>
          </a:p>
        </p:txBody>
      </p:sp>
      <p:graphicFrame>
        <p:nvGraphicFramePr>
          <p:cNvPr id="39" name="safe state"/>
          <p:cNvGraphicFramePr>
            <a:graphicFrameLocks noGrp="1"/>
          </p:cNvGraphicFramePr>
          <p:nvPr>
            <p:extLst>
              <p:ext uri="{D42A27DB-BD31-4B8C-83A1-F6EECF244321}">
                <p14:modId xmlns:p14="http://schemas.microsoft.com/office/powerpoint/2010/main" val="1579011935"/>
              </p:ext>
            </p:extLst>
          </p:nvPr>
        </p:nvGraphicFramePr>
        <p:xfrm>
          <a:off x="7223760" y="3474720"/>
          <a:ext cx="4419295" cy="914400"/>
        </p:xfrm>
        <a:graphic>
          <a:graphicData uri="http://schemas.openxmlformats.org/drawingml/2006/table">
            <a:tbl>
              <a:tblPr/>
              <a:tblGrid>
                <a:gridCol w="1679332"/>
                <a:gridCol w="2739963"/>
              </a:tblGrid>
              <a:tr h="402336">
                <a:tc>
                  <a:txBody>
                    <a:bodyPr/>
                    <a:lstStyle/>
                    <a:p>
                      <a:pPr indent="0" marL="0">
                        <a:buNone/>
                      </a:pPr>
                      <a:r>
                        <a:rPr lang="en-US" sz="1000" b="1" dirty="0">
                          <a:solidFill>
                            <a:srgbClr val="FFFFFF"/>
                          </a:solidFill>
                          <a:latin typeface="Arial" pitchFamily="34" charset="0"/>
                          <a:ea typeface="Arial" pitchFamily="34" charset="-122"/>
                          <a:cs typeface="Arial" pitchFamily="34" charset="-120"/>
                        </a:rPr>
                        <a:t>Event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000" b="1" dirty="0">
                          <a:solidFill>
                            <a:srgbClr val="FFFFFF"/>
                          </a:solidFill>
                          <a:latin typeface="Arial" pitchFamily="34" charset="0"/>
                          <a:ea typeface="Arial" pitchFamily="34" charset="-122"/>
                          <a:cs typeface="Arial" pitchFamily="34" charset="-120"/>
                        </a:rPr>
                        <a:t>What happens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PAUSE or a detected fault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All stations hold with torque on; nothing restarts without approval</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Wi-Fi link lost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Stations stop and hold on their own clocks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Power loss or emergency stop</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Torque is lost and the claw can fall, so nobody stands underneath; brake planned</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Reset or brown-out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Driver off at boot: same as a power loss</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02336">
                <a:tc>
                  <a:txBody>
                    <a:bodyPr/>
                    <a:lstStyle/>
                    <a:p>
                      <a:pPr indent="0" marL="0">
                        <a:buNone/>
                      </a:pPr>
                      <a:r>
                        <a:rPr lang="en-US" sz="1000" b="1" dirty="0">
                          <a:solidFill>
                            <a:srgbClr val="1A1A1A"/>
                          </a:solidFill>
                          <a:latin typeface="Arial" pitchFamily="34" charset="0"/>
                          <a:ea typeface="Arial" pitchFamily="34" charset="-122"/>
                          <a:cs typeface="Arial" pitchFamily="34" charset="-120"/>
                        </a:rPr>
                        <a:t>Driver over-temperature</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000" dirty="0">
                          <a:solidFill>
                            <a:srgbClr val="1A1A1A"/>
                          </a:solidFill>
                          <a:latin typeface="Arial" pitchFamily="34" charset="0"/>
                          <a:ea typeface="Arial" pitchFamily="34" charset="-122"/>
                          <a:cs typeface="Arial" pitchFamily="34" charset="-120"/>
                        </a:rPr>
                        <a:t>The A4988 shuts off; the hold test watches it</a:t>
                      </a:r>
                      <a:endParaRPr lang="en-US" sz="10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Results Against Targets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1" name="table"/>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1886051"/>
                <a:gridCol w="2218883"/>
                <a:gridCol w="3328325"/>
                <a:gridCol w="1442274"/>
                <a:gridCol w="2218883"/>
              </a:tblGrid>
              <a:tr h="411480">
                <a:tc>
                  <a:txBody>
                    <a:bodyPr/>
                    <a:lstStyle/>
                    <a:p>
                      <a:pPr indent="0" marL="0">
                        <a:buNone/>
                      </a:pPr>
                      <a:r>
                        <a:rPr lang="en-US" sz="1400" b="1" dirty="0">
                          <a:solidFill>
                            <a:srgbClr val="FFFFFF"/>
                          </a:solidFill>
                          <a:latin typeface="Arial" pitchFamily="34" charset="0"/>
                          <a:ea typeface="Arial" pitchFamily="34" charset="-122"/>
                          <a:cs typeface="Arial" pitchFamily="34" charset="-120"/>
                        </a:rPr>
                        <a:t>Target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Goal</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Current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Evidence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Status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Lift capacity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1.50 kg with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1.56 kg; 1.1 kg at 0.5 × holding torque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pull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Grip for jeans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17.7 N per jaw</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13.3–25 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Short at narrow grabs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Claw mass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0.45 kg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0.60 kg with battery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Weighed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Not 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Motor temperature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Below 60 °C</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56–59 °C prototype fin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Marginal; hold test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Weakest link</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Motor slips first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Set screw may slip first; tab at 1.2 ×</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b="1" dirty="0">
                          <a:solidFill>
                            <a:srgbClr val="B23A2E"/>
                          </a:solidFill>
                          <a:latin typeface="Arial" pitchFamily="34" charset="0"/>
                          <a:ea typeface="Arial" pitchFamily="34" charset="-122"/>
                          <a:cs typeface="Arial" pitchFamily="34" charset="-120"/>
                        </a:rPr>
                        <a:t>Two fixes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Working area</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Floor, 0.2 m wall margin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All but 0.2 m at the walls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Calculated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 in design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Wiring</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cable per station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One 12 V pair; 0.51 V drop</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Built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Met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Accuracy</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 2 mm cable mismatch</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40 ms skew budget gives 2 mm</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measured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Speed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50 mm/s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run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None</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To be tested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11480">
                <a:tc>
                  <a:txBody>
                    <a:bodyPr/>
                    <a:lstStyle/>
                    <a:p>
                      <a:pPr indent="0" marL="0">
                        <a:buNone/>
                      </a:pPr>
                      <a:r>
                        <a:rPr lang="en-US" sz="1400" b="1" dirty="0">
                          <a:solidFill>
                            <a:srgbClr val="1A1A1A"/>
                          </a:solidFill>
                          <a:latin typeface="Arial" pitchFamily="34" charset="0"/>
                          <a:ea typeface="Arial" pitchFamily="34" charset="-122"/>
                          <a:cs typeface="Arial" pitchFamily="34" charset="-120"/>
                        </a:rPr>
                        <a:t>Cost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Hobby budget</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Not yet totaled</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Receipts</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1A1A1A"/>
                          </a:solidFill>
                          <a:latin typeface="Arial" pitchFamily="34" charset="0"/>
                          <a:ea typeface="Arial" pitchFamily="34" charset="-122"/>
                          <a:cs typeface="Arial" pitchFamily="34" charset="-120"/>
                        </a:rPr>
                        <a:t>Open</a:t>
                      </a:r>
                      <a:endParaRPr lang="en-US" sz="14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sheet link"/>
          <p:cNvSpPr txBox="1"/>
          <p:nvPr/>
        </p:nvSpPr>
        <p:spPr>
          <a:xfrm>
            <a:off x="548640" y="5943600"/>
            <a:ext cx="7315200" cy="292608"/>
          </a:xfrm>
          <a:prstGeom prst="rect">
            <a:avLst/>
          </a:prstGeom>
          <a:noFill/>
          <a:ln/>
        </p:spPr>
        <p:txBody>
          <a:bodyPr wrap="square" lIns="0" tIns="0" rIns="0" bIns="0" rtlCol="0" anchor="ctr"/>
          <a:lstStyle/>
          <a:p>
            <a:pPr indent="0" marL="0">
              <a:buNone/>
            </a:pPr>
            <a:r>
              <a:rPr lang="en-US" sz="1300" u="sng" dirty="0">
                <a:solidFill>
                  <a:srgbClr val="1F3A5F"/>
                </a:solidFill>
                <a:latin typeface="Arial" pitchFamily="34" charset="0"/>
                <a:ea typeface="Arial" pitchFamily="34" charset="-122"/>
                <a:cs typeface="Arial" pitchFamily="34" charset="-120"/>
                <a:hlinkClick r:id="rId1" invalidUrl="" action="" tgtFrame="" tooltip="Open the calculation sheet" history="1" highlightClick="0" endSnd="0">
                  <a:extLst>
                    <a:ext uri="{A12FA001-AC4F-418D-AE19-62706E023703}">
                      <ahyp:hlinkClr xmlns:ahyp="http://schemas.microsoft.com/office/drawing/2018/hyperlinkcolor" val="tx"/>
                    </a:ext>
                  </a:extLst>
                </a:hlinkClick>
              </a:rPr>
              <a:t>Calculations: RoomCleaner engineering calculations (Google Sheets)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Good and Poor Decisions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graphicFrame>
        <p:nvGraphicFramePr>
          <p:cNvPr id="22" name="good decisions"/>
          <p:cNvGraphicFramePr>
            <a:graphicFrameLocks noGrp="1"/>
          </p:cNvGraphicFramePr>
          <p:nvPr>
            <p:extLst>
              <p:ext uri="{D42A27DB-BD31-4B8C-83A1-F6EECF244321}">
                <p14:modId xmlns:p14="http://schemas.microsoft.com/office/powerpoint/2010/main" val="1579011935"/>
              </p:ext>
            </p:extLst>
          </p:nvPr>
        </p:nvGraphicFramePr>
        <p:xfrm>
          <a:off x="548640" y="1188720"/>
          <a:ext cx="11094415" cy="914400"/>
        </p:xfrm>
        <a:graphic>
          <a:graphicData uri="http://schemas.openxmlformats.org/drawingml/2006/table">
            <a:tbl>
              <a:tblPr/>
              <a:tblGrid>
                <a:gridCol w="4215878"/>
                <a:gridCol w="6878537"/>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Good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3A5F"/>
                    </a:solidFill>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One controller per winch</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Five times less wire; each station tested alone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Camera calibration instead of bead homing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Whole room reachable; caught on paper before building</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Teeth checked at servo stall</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A clamp stalls the servo on every grip: safety factor 2.05</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graphicFrame>
        <p:nvGraphicFramePr>
          <p:cNvPr id="43" name="poor decisions"/>
          <p:cNvGraphicFramePr>
            <a:graphicFrameLocks noGrp="1"/>
          </p:cNvGraphicFramePr>
          <p:nvPr>
            <p:extLst>
              <p:ext uri="{D42A27DB-BD31-4B8C-83A1-F6EECF244321}">
                <p14:modId xmlns:p14="http://schemas.microsoft.com/office/powerpoint/2010/main" val="1579011935"/>
              </p:ext>
            </p:extLst>
          </p:nvPr>
        </p:nvGraphicFramePr>
        <p:xfrm>
          <a:off x="548640" y="3154680"/>
          <a:ext cx="11094415" cy="914400"/>
        </p:xfrm>
        <a:graphic>
          <a:graphicData uri="http://schemas.openxmlformats.org/drawingml/2006/table">
            <a:tbl>
              <a:tblPr/>
              <a:tblGrid>
                <a:gridCol w="4215878"/>
                <a:gridCol w="6878537"/>
              </a:tblGrid>
              <a:tr h="457200">
                <a:tc>
                  <a:txBody>
                    <a:bodyPr/>
                    <a:lstStyle/>
                    <a:p>
                      <a:pPr indent="0" marL="0">
                        <a:buNone/>
                      </a:pPr>
                      <a:r>
                        <a:rPr lang="en-US" sz="1500" b="1" dirty="0">
                          <a:solidFill>
                            <a:srgbClr val="FFFFFF"/>
                          </a:solidFill>
                          <a:latin typeface="Arial" pitchFamily="34" charset="0"/>
                          <a:ea typeface="Arial" pitchFamily="34" charset="-122"/>
                          <a:cs typeface="Arial" pitchFamily="34" charset="-120"/>
                        </a:rPr>
                        <a:t>Poor decision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c>
                  <a:txBody>
                    <a:bodyPr/>
                    <a:lstStyle/>
                    <a:p>
                      <a:pPr indent="0" marL="0">
                        <a:buNone/>
                      </a:pPr>
                      <a:r>
                        <a:rPr lang="en-US" sz="1500" b="1" dirty="0">
                          <a:solidFill>
                            <a:srgbClr val="FFFFFF"/>
                          </a:solidFill>
                          <a:latin typeface="Arial" pitchFamily="34" charset="0"/>
                          <a:ea typeface="Arial" pitchFamily="34" charset="-122"/>
                          <a:cs typeface="Arial" pitchFamily="34" charset="-120"/>
                        </a:rPr>
                        <a:t>Result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B23A2E"/>
                    </a:solidFill>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Mass not tracked through four claw versions</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v6 reached 4.6 times its budget in CAD; the claw is 0.15 kg over</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Prototype fin cut from scrap sheet</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Only 1–4 K of thermal margin</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57200">
                <a:tc>
                  <a:txBody>
                    <a:bodyPr/>
                    <a:lstStyle/>
                    <a:p>
                      <a:pPr indent="0" marL="0">
                        <a:buNone/>
                      </a:pPr>
                      <a:r>
                        <a:rPr lang="en-US" sz="1500" b="1" dirty="0">
                          <a:solidFill>
                            <a:srgbClr val="1A1A1A"/>
                          </a:solidFill>
                          <a:latin typeface="Arial" pitchFamily="34" charset="0"/>
                          <a:ea typeface="Arial" pitchFamily="34" charset="-122"/>
                          <a:cs typeface="Arial" pitchFamily="34" charset="-120"/>
                        </a:rPr>
                        <a:t>Build and test week ends on presentation day</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rgbClr val="1A1A1A"/>
                          </a:solidFill>
                          <a:latin typeface="Arial" pitchFamily="34" charset="0"/>
                          <a:ea typeface="Arial" pitchFamily="34" charset="-122"/>
                          <a:cs typeface="Arial" pitchFamily="34" charset="-120"/>
                        </a:rPr>
                        <a:t>System results arrive at the last minute</a:t>
                      </a:r>
                      <a:endParaRPr lang="en-US" sz="1500" dirty="0">
                        <a:latin typeface="Arial" charset="0"/>
                        <a:ea typeface="Arial" charset="0"/>
                        <a:cs typeface="Arial"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horough and scrappy"/>
          <p:cNvSpPr txBox="1"/>
          <p:nvPr/>
        </p:nvSpPr>
        <p:spPr>
          <a:xfrm>
            <a:off x="548640" y="5166360"/>
            <a:ext cx="11094415" cy="1097280"/>
          </a:xfrm>
          <a:prstGeom prst="rect">
            <a:avLst/>
          </a:prstGeom>
          <a:noFill/>
          <a:ln/>
        </p:spPr>
        <p:txBody>
          <a:bodyPr wrap="square" lIns="25400" tIns="0" rIns="50800" bIns="25400" rtlCol="0" anchor="t"/>
          <a:lstStyle/>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Thorough where a mistake is expensive: the fin's single mill setup, the stall check on the teeth</a:t>
            </a:r>
            <a:endParaRPr lang="en-US" sz="1600" dirty="0"/>
          </a:p>
          <a:p>
            <a:pPr algn="l" marL="254000" indent="-254000">
              <a:spcAft>
                <a:spcPts val="800"/>
              </a:spcAft>
              <a:buSzPct val="100000"/>
              <a:buChar char="•"/>
            </a:pPr>
            <a:r>
              <a:rPr lang="en-US" sz="1600" dirty="0">
                <a:solidFill>
                  <a:srgbClr val="1A1A1A"/>
                </a:solidFill>
                <a:latin typeface="Arial" pitchFamily="34" charset="0"/>
                <a:ea typeface="Arial" pitchFamily="34" charset="-122"/>
                <a:cs typeface="Arial" pitchFamily="34" charset="-120"/>
              </a:rPr>
              <a:t>Scrappy where it is cheap to undo: a jumpered ESP32 after a controller failed, a floor board printed on paper</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itle"/>
          <p:cNvSpPr txBox="1"/>
          <p:nvPr/>
        </p:nvSpPr>
        <p:spPr>
          <a:xfrm>
            <a:off x="548640" y="365760"/>
            <a:ext cx="11094415" cy="594360"/>
          </a:xfrm>
          <a:prstGeom prst="rect">
            <a:avLst/>
          </a:prstGeom>
          <a:noFill/>
          <a:ln/>
        </p:spPr>
        <p:txBody>
          <a:bodyPr wrap="square" lIns="0" tIns="0" rIns="0" bIns="0" rtlCol="0" anchor="ctr"/>
          <a:lstStyle/>
          <a:p>
            <a:pPr indent="0" marL="0">
              <a:buNone/>
            </a:pPr>
            <a:r>
              <a:rPr lang="en-US" sz="2600" b="1" dirty="0">
                <a:solidFill>
                  <a:srgbClr val="1A1A1A"/>
                </a:solidFill>
                <a:latin typeface="Arial" pitchFamily="34" charset="0"/>
                <a:ea typeface="Arial" pitchFamily="34" charset="-122"/>
                <a:cs typeface="Arial" pitchFamily="34" charset="-120"/>
              </a:rPr>
              <a:t>Takeaways and Next Steps</a:t>
            </a:r>
            <a:endParaRPr lang="en-US" sz="2600" dirty="0"/>
          </a:p>
        </p:txBody>
      </p:sp>
      <p:sp>
        <p:nvSpPr>
          <p:cNvPr id="3" name="footer"/>
          <p:cNvSpPr txBox="1"/>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rgbClr val="7F7F7F"/>
                </a:solidFill>
                <a:latin typeface="Arial" pitchFamily="34" charset="0"/>
                <a:ea typeface="Arial" pitchFamily="34" charset="-122"/>
                <a:cs typeface="Arial" pitchFamily="34" charset="-120"/>
              </a:rPr>
              <a:t>Jasper Buntinx  |  RoomCleaner</a:t>
            </a:r>
            <a:endParaRPr lang="en-US" sz="1000" dirty="0"/>
          </a:p>
        </p:txBody>
      </p:sp>
      <p:sp>
        <p:nvSpPr>
          <p:cNvPr id="4" name="label"/>
          <p:cNvSpPr txBox="1"/>
          <p:nvPr/>
        </p:nvSpPr>
        <p:spPr>
          <a:xfrm>
            <a:off x="548640" y="237744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Actual</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(15 weeks)</a:t>
            </a:r>
            <a:endParaRPr lang="en-US" sz="1300" dirty="0"/>
          </a:p>
        </p:txBody>
      </p:sp>
      <p:sp>
        <p:nvSpPr>
          <p:cNvPr id="5" name="Concept"/>
          <p:cNvSpPr/>
          <p:nvPr/>
        </p:nvSpPr>
        <p:spPr>
          <a:xfrm>
            <a:off x="1874520" y="2377440"/>
            <a:ext cx="1024743" cy="685800"/>
          </a:xfrm>
          <a:prstGeom prst="rect">
            <a:avLst/>
          </a:prstGeom>
          <a:solidFill>
            <a:srgbClr val="D9DEE5"/>
          </a:solidFill>
          <a:ln w="19050">
            <a:solidFill>
              <a:srgbClr val="FFFFFF"/>
            </a:solidFill>
            <a:prstDash val="solid"/>
          </a:ln>
        </p:spPr>
      </p:sp>
      <p:sp>
        <p:nvSpPr>
          <p:cNvPr id="6" name="label"/>
          <p:cNvSpPr txBox="1"/>
          <p:nvPr/>
        </p:nvSpPr>
        <p:spPr>
          <a:xfrm>
            <a:off x="1901952" y="2377440"/>
            <a:ext cx="969879"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Concept</a:t>
            </a:r>
            <a:endParaRPr lang="en-US" sz="1200" dirty="0"/>
          </a:p>
        </p:txBody>
      </p:sp>
      <p:sp>
        <p:nvSpPr>
          <p:cNvPr id="7" name="Gen 1"/>
          <p:cNvSpPr/>
          <p:nvPr/>
        </p:nvSpPr>
        <p:spPr>
          <a:xfrm>
            <a:off x="2899263" y="2377440"/>
            <a:ext cx="1366325" cy="685800"/>
          </a:xfrm>
          <a:prstGeom prst="rect">
            <a:avLst/>
          </a:prstGeom>
          <a:solidFill>
            <a:srgbClr val="4F6D8F"/>
          </a:solidFill>
          <a:ln w="19050">
            <a:solidFill>
              <a:srgbClr val="FFFFFF"/>
            </a:solidFill>
            <a:prstDash val="solid"/>
          </a:ln>
        </p:spPr>
      </p:sp>
      <p:sp>
        <p:nvSpPr>
          <p:cNvPr id="8" name="label"/>
          <p:cNvSpPr txBox="1"/>
          <p:nvPr/>
        </p:nvSpPr>
        <p:spPr>
          <a:xfrm>
            <a:off x="2926695" y="2377440"/>
            <a:ext cx="1311461" cy="68580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Gen 1</a:t>
            </a:r>
            <a:endParaRPr lang="en-US" sz="1200" dirty="0"/>
          </a:p>
        </p:txBody>
      </p:sp>
      <p:sp>
        <p:nvSpPr>
          <p:cNvPr id="9" name="Redesign"/>
          <p:cNvSpPr/>
          <p:nvPr/>
        </p:nvSpPr>
        <p:spPr>
          <a:xfrm>
            <a:off x="4265588" y="2377440"/>
            <a:ext cx="1659108" cy="685800"/>
          </a:xfrm>
          <a:prstGeom prst="rect">
            <a:avLst/>
          </a:prstGeom>
          <a:solidFill>
            <a:srgbClr val="D9DEE5"/>
          </a:solidFill>
          <a:ln w="19050">
            <a:solidFill>
              <a:srgbClr val="FFFFFF"/>
            </a:solidFill>
            <a:prstDash val="solid"/>
          </a:ln>
        </p:spPr>
      </p:sp>
      <p:sp>
        <p:nvSpPr>
          <p:cNvPr id="10" name="label"/>
          <p:cNvSpPr txBox="1"/>
          <p:nvPr/>
        </p:nvSpPr>
        <p:spPr>
          <a:xfrm>
            <a:off x="4293020" y="2377440"/>
            <a:ext cx="1604244" cy="685800"/>
          </a:xfrm>
          <a:prstGeom prst="rect">
            <a:avLst/>
          </a:prstGeom>
          <a:noFill/>
          <a:ln/>
        </p:spPr>
        <p:txBody>
          <a:bodyPr wrap="square" lIns="0" tIns="0" rIns="0" bIns="0" rtlCol="0" anchor="ctr"/>
          <a:lstStyle/>
          <a:p>
            <a:pPr algn="ctr" indent="0" marL="0">
              <a:buNone/>
            </a:pPr>
            <a:r>
              <a:rPr lang="en-US" sz="1200" b="1" dirty="0">
                <a:solidFill>
                  <a:srgbClr val="1F3A5F"/>
                </a:solidFill>
                <a:latin typeface="Arial" pitchFamily="34" charset="0"/>
                <a:ea typeface="Arial" pitchFamily="34" charset="-122"/>
                <a:cs typeface="Arial" pitchFamily="34" charset="-120"/>
              </a:rPr>
              <a:t>Redesign</a:t>
            </a:r>
            <a:endParaRPr lang="en-US" sz="1200" dirty="0"/>
          </a:p>
        </p:txBody>
      </p:sp>
      <p:sp>
        <p:nvSpPr>
          <p:cNvPr id="11" name="Final"/>
          <p:cNvSpPr/>
          <p:nvPr/>
        </p:nvSpPr>
        <p:spPr>
          <a:xfrm>
            <a:off x="5924697" y="2377440"/>
            <a:ext cx="731960" cy="685800"/>
          </a:xfrm>
          <a:prstGeom prst="rect">
            <a:avLst/>
          </a:prstGeom>
          <a:solidFill>
            <a:srgbClr val="4F6D8F"/>
          </a:solidFill>
          <a:ln w="19050">
            <a:solidFill>
              <a:srgbClr val="FFFFFF"/>
            </a:solidFill>
            <a:prstDash val="solid"/>
          </a:ln>
        </p:spPr>
      </p:sp>
      <p:sp>
        <p:nvSpPr>
          <p:cNvPr id="12" name="label"/>
          <p:cNvSpPr txBox="1"/>
          <p:nvPr/>
        </p:nvSpPr>
        <p:spPr>
          <a:xfrm>
            <a:off x="5952129" y="2377440"/>
            <a:ext cx="677096"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Final</a:t>
            </a:r>
            <a:endParaRPr lang="en-US" sz="1050" dirty="0"/>
          </a:p>
        </p:txBody>
      </p:sp>
      <p:sp>
        <p:nvSpPr>
          <p:cNvPr id="13" name="Build and test"/>
          <p:cNvSpPr/>
          <p:nvPr/>
        </p:nvSpPr>
        <p:spPr>
          <a:xfrm>
            <a:off x="6656656" y="2377440"/>
            <a:ext cx="292784" cy="685800"/>
          </a:xfrm>
          <a:prstGeom prst="rect">
            <a:avLst/>
          </a:prstGeom>
          <a:solidFill>
            <a:srgbClr val="1F3A5F"/>
          </a:solidFill>
          <a:ln w="19050">
            <a:solidFill>
              <a:srgbClr val="FFFFFF"/>
            </a:solidFill>
            <a:prstDash val="solid"/>
          </a:ln>
        </p:spPr>
      </p:sp>
      <p:sp>
        <p:nvSpPr>
          <p:cNvPr id="14" name="label"/>
          <p:cNvSpPr txBox="1"/>
          <p:nvPr/>
        </p:nvSpPr>
        <p:spPr>
          <a:xfrm>
            <a:off x="5852160" y="3090672"/>
            <a:ext cx="1097280" cy="228600"/>
          </a:xfrm>
          <a:prstGeom prst="rect">
            <a:avLst/>
          </a:prstGeom>
          <a:noFill/>
          <a:ln/>
        </p:spPr>
        <p:txBody>
          <a:bodyPr wrap="square" lIns="0" tIns="0" rIns="0" bIns="0" rtlCol="0" anchor="ctr"/>
          <a:lstStyle/>
          <a:p>
            <a:pPr algn="r" indent="0" marL="0">
              <a:buNone/>
            </a:pPr>
            <a:r>
              <a:rPr lang="en-US" sz="1000" b="1" dirty="0">
                <a:solidFill>
                  <a:srgbClr val="1F3A5F"/>
                </a:solidFill>
                <a:latin typeface="Arial" pitchFamily="34" charset="0"/>
                <a:ea typeface="Arial" pitchFamily="34" charset="-122"/>
                <a:cs typeface="Arial" pitchFamily="34" charset="-120"/>
              </a:rPr>
              <a:t>Build and test</a:t>
            </a:r>
            <a:endParaRPr lang="en-US" sz="1000" dirty="0"/>
          </a:p>
        </p:txBody>
      </p:sp>
      <p:sp>
        <p:nvSpPr>
          <p:cNvPr id="15" name="label"/>
          <p:cNvSpPr txBox="1"/>
          <p:nvPr/>
        </p:nvSpPr>
        <p:spPr>
          <a:xfrm>
            <a:off x="548640" y="3474720"/>
            <a:ext cx="1234440" cy="685800"/>
          </a:xfrm>
          <a:prstGeom prst="rect">
            <a:avLst/>
          </a:prstGeom>
          <a:noFill/>
          <a:ln/>
        </p:spPr>
        <p:txBody>
          <a:bodyPr wrap="square" lIns="0" tIns="0" rIns="0" bIns="0" rtlCol="0" anchor="ctr"/>
          <a:lstStyle/>
          <a:p>
            <a:pPr algn="l" indent="0" marL="0">
              <a:buNone/>
            </a:pPr>
            <a:r>
              <a:rPr lang="en-US" sz="1300" b="1" dirty="0">
                <a:solidFill>
                  <a:srgbClr val="1F3A5F"/>
                </a:solidFill>
                <a:latin typeface="Arial" pitchFamily="34" charset="0"/>
                <a:ea typeface="Arial" pitchFamily="34" charset="-122"/>
                <a:cs typeface="Arial" pitchFamily="34" charset="-120"/>
              </a:rPr>
              <a:t>Half time</a:t>
            </a:r>
            <a:endParaRPr lang="en-US" sz="1300" dirty="0"/>
          </a:p>
          <a:p>
            <a:pPr algn="l" indent="0" marL="0">
              <a:buNone/>
            </a:pPr>
            <a:r>
              <a:rPr lang="en-US" sz="1300" b="1" dirty="0">
                <a:solidFill>
                  <a:srgbClr val="1F3A5F"/>
                </a:solidFill>
                <a:latin typeface="Arial" pitchFamily="34" charset="0"/>
                <a:ea typeface="Arial" pitchFamily="34" charset="-122"/>
                <a:cs typeface="Arial" pitchFamily="34" charset="-120"/>
              </a:rPr>
              <a:t>(7 weeks)</a:t>
            </a:r>
            <a:endParaRPr lang="en-US" sz="1300" dirty="0"/>
          </a:p>
        </p:txBody>
      </p:sp>
      <p:sp>
        <p:nvSpPr>
          <p:cNvPr id="16" name="Plan"/>
          <p:cNvSpPr/>
          <p:nvPr/>
        </p:nvSpPr>
        <p:spPr>
          <a:xfrm>
            <a:off x="1874520" y="3474720"/>
            <a:ext cx="341581" cy="685800"/>
          </a:xfrm>
          <a:prstGeom prst="rect">
            <a:avLst/>
          </a:prstGeom>
          <a:solidFill>
            <a:srgbClr val="D9DEE5"/>
          </a:solidFill>
          <a:ln w="19050">
            <a:solidFill>
              <a:srgbClr val="FFFFFF"/>
            </a:solidFill>
            <a:prstDash val="solid"/>
          </a:ln>
        </p:spPr>
      </p:sp>
      <p:sp>
        <p:nvSpPr>
          <p:cNvPr id="17" name="label"/>
          <p:cNvSpPr txBox="1"/>
          <p:nvPr/>
        </p:nvSpPr>
        <p:spPr>
          <a:xfrm>
            <a:off x="1901952"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Plan</a:t>
            </a:r>
            <a:endParaRPr lang="en-US" sz="900" dirty="0"/>
          </a:p>
        </p:txBody>
      </p:sp>
      <p:sp>
        <p:nvSpPr>
          <p:cNvPr id="18" name="One station"/>
          <p:cNvSpPr/>
          <p:nvPr/>
        </p:nvSpPr>
        <p:spPr>
          <a:xfrm>
            <a:off x="2216101" y="3474720"/>
            <a:ext cx="683162" cy="685800"/>
          </a:xfrm>
          <a:prstGeom prst="rect">
            <a:avLst/>
          </a:prstGeom>
          <a:solidFill>
            <a:srgbClr val="4F6D8F"/>
          </a:solidFill>
          <a:ln w="19050">
            <a:solidFill>
              <a:srgbClr val="FFFFFF"/>
            </a:solidFill>
            <a:prstDash val="solid"/>
          </a:ln>
        </p:spPr>
      </p:sp>
      <p:sp>
        <p:nvSpPr>
          <p:cNvPr id="19" name="label"/>
          <p:cNvSpPr txBox="1"/>
          <p:nvPr/>
        </p:nvSpPr>
        <p:spPr>
          <a:xfrm>
            <a:off x="2243533"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One station</a:t>
            </a:r>
            <a:endParaRPr lang="en-US" sz="1050" dirty="0"/>
          </a:p>
        </p:txBody>
      </p:sp>
      <p:sp>
        <p:nvSpPr>
          <p:cNvPr id="20" name="Copy"/>
          <p:cNvSpPr/>
          <p:nvPr/>
        </p:nvSpPr>
        <p:spPr>
          <a:xfrm>
            <a:off x="2899263" y="3474720"/>
            <a:ext cx="341581" cy="685800"/>
          </a:xfrm>
          <a:prstGeom prst="rect">
            <a:avLst/>
          </a:prstGeom>
          <a:solidFill>
            <a:srgbClr val="D9DEE5"/>
          </a:solidFill>
          <a:ln w="19050">
            <a:solidFill>
              <a:srgbClr val="FFFFFF"/>
            </a:solidFill>
            <a:prstDash val="solid"/>
          </a:ln>
        </p:spPr>
      </p:sp>
      <p:sp>
        <p:nvSpPr>
          <p:cNvPr id="21" name="label"/>
          <p:cNvSpPr txBox="1"/>
          <p:nvPr/>
        </p:nvSpPr>
        <p:spPr>
          <a:xfrm>
            <a:off x="2926695" y="3474720"/>
            <a:ext cx="286717" cy="685800"/>
          </a:xfrm>
          <a:prstGeom prst="rect">
            <a:avLst/>
          </a:prstGeom>
          <a:noFill/>
          <a:ln/>
        </p:spPr>
        <p:txBody>
          <a:bodyPr wrap="square" lIns="0" tIns="0" rIns="0" bIns="0" rtlCol="0" anchor="ctr"/>
          <a:lstStyle/>
          <a:p>
            <a:pPr algn="ctr" indent="0" marL="0">
              <a:buNone/>
            </a:pPr>
            <a:r>
              <a:rPr lang="en-US" sz="900" b="1" dirty="0">
                <a:solidFill>
                  <a:srgbClr val="1F3A5F"/>
                </a:solidFill>
                <a:latin typeface="Arial" pitchFamily="34" charset="0"/>
                <a:ea typeface="Arial" pitchFamily="34" charset="-122"/>
                <a:cs typeface="Arial" pitchFamily="34" charset="-120"/>
              </a:rPr>
              <a:t>Copy</a:t>
            </a:r>
            <a:endParaRPr lang="en-US" sz="900" dirty="0"/>
          </a:p>
        </p:txBody>
      </p:sp>
      <p:sp>
        <p:nvSpPr>
          <p:cNvPr id="22" name="Clamp"/>
          <p:cNvSpPr/>
          <p:nvPr/>
        </p:nvSpPr>
        <p:spPr>
          <a:xfrm>
            <a:off x="3240845" y="3474720"/>
            <a:ext cx="683162" cy="685800"/>
          </a:xfrm>
          <a:prstGeom prst="rect">
            <a:avLst/>
          </a:prstGeom>
          <a:solidFill>
            <a:srgbClr val="4F6D8F"/>
          </a:solidFill>
          <a:ln w="19050">
            <a:solidFill>
              <a:srgbClr val="FFFFFF"/>
            </a:solidFill>
            <a:prstDash val="solid"/>
          </a:ln>
        </p:spPr>
      </p:sp>
      <p:sp>
        <p:nvSpPr>
          <p:cNvPr id="23" name="label"/>
          <p:cNvSpPr txBox="1"/>
          <p:nvPr/>
        </p:nvSpPr>
        <p:spPr>
          <a:xfrm>
            <a:off x="3268277" y="3474720"/>
            <a:ext cx="628298" cy="685800"/>
          </a:xfrm>
          <a:prstGeom prst="rect">
            <a:avLst/>
          </a:prstGeom>
          <a:noFill/>
          <a:ln/>
        </p:spPr>
        <p:txBody>
          <a:bodyPr wrap="square" lIns="0" tIns="0" rIns="0" bIns="0" rtlCol="0" anchor="ctr"/>
          <a:lstStyle/>
          <a:p>
            <a:pPr algn="ctr" indent="0" marL="0">
              <a:buNone/>
            </a:pPr>
            <a:r>
              <a:rPr lang="en-US" sz="1050" b="1" dirty="0">
                <a:solidFill>
                  <a:srgbClr val="FFFFFF"/>
                </a:solidFill>
                <a:latin typeface="Arial" pitchFamily="34" charset="0"/>
                <a:ea typeface="Arial" pitchFamily="34" charset="-122"/>
                <a:cs typeface="Arial" pitchFamily="34" charset="-120"/>
              </a:rPr>
              <a:t>Clamp</a:t>
            </a:r>
            <a:endParaRPr lang="en-US" sz="1050" dirty="0"/>
          </a:p>
        </p:txBody>
      </p:sp>
      <p:sp>
        <p:nvSpPr>
          <p:cNvPr id="24" name="Test"/>
          <p:cNvSpPr/>
          <p:nvPr/>
        </p:nvSpPr>
        <p:spPr>
          <a:xfrm>
            <a:off x="3924007" y="3474720"/>
            <a:ext cx="341581" cy="685800"/>
          </a:xfrm>
          <a:prstGeom prst="rect">
            <a:avLst/>
          </a:prstGeom>
          <a:solidFill>
            <a:srgbClr val="1F3A5F"/>
          </a:solidFill>
          <a:ln w="19050">
            <a:solidFill>
              <a:srgbClr val="FFFFFF"/>
            </a:solidFill>
            <a:prstDash val="solid"/>
          </a:ln>
        </p:spPr>
      </p:sp>
      <p:sp>
        <p:nvSpPr>
          <p:cNvPr id="25" name="label"/>
          <p:cNvSpPr txBox="1"/>
          <p:nvPr/>
        </p:nvSpPr>
        <p:spPr>
          <a:xfrm>
            <a:off x="3951439" y="3474720"/>
            <a:ext cx="286717" cy="685800"/>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Test</a:t>
            </a:r>
            <a:endParaRPr lang="en-US" sz="900" dirty="0"/>
          </a:p>
        </p:txBody>
      </p:sp>
      <p:sp>
        <p:nvSpPr>
          <p:cNvPr id="26" name="caption"/>
          <p:cNvSpPr txBox="1"/>
          <p:nvPr/>
        </p:nvSpPr>
        <p:spPr>
          <a:xfrm>
            <a:off x="1874520" y="4297680"/>
            <a:ext cx="5074920" cy="274320"/>
          </a:xfrm>
          <a:prstGeom prst="rect">
            <a:avLst/>
          </a:prstGeom>
          <a:noFill/>
          <a:ln/>
        </p:spPr>
        <p:txBody>
          <a:bodyPr wrap="square" lIns="0" tIns="0" rIns="0" bIns="0" rtlCol="0" anchor="ctr"/>
          <a:lstStyle/>
          <a:p>
            <a:pPr indent="0" marL="0">
              <a:buNone/>
            </a:pPr>
            <a:r>
              <a:rPr lang="en-US" sz="1100" dirty="0">
                <a:solidFill>
                  <a:srgbClr val="7F7F7F"/>
                </a:solidFill>
                <a:latin typeface="Arial" pitchFamily="34" charset="0"/>
                <a:ea typeface="Arial" pitchFamily="34" charset="-122"/>
                <a:cs typeface="Arial" pitchFamily="34" charset="-120"/>
              </a:rPr>
              <a:t>Same time scale. Half time: plan (pull test, mass budget), one station, copy, clamp, test.</a:t>
            </a:r>
            <a:endParaRPr lang="en-US" sz="1100" dirty="0"/>
          </a:p>
        </p:txBody>
      </p:sp>
      <p:sp>
        <p:nvSpPr>
          <p:cNvPr id="27" name="bullets"/>
          <p:cNvSpPr txBox="1"/>
          <p:nvPr/>
        </p:nvSpPr>
        <p:spPr>
          <a:xfrm>
            <a:off x="7360920" y="1234440"/>
            <a:ext cx="4282135" cy="4937760"/>
          </a:xfrm>
          <a:prstGeom prst="rect">
            <a:avLst/>
          </a:prstGeom>
          <a:noFill/>
          <a:ln/>
        </p:spPr>
        <p:txBody>
          <a:bodyPr wrap="square" lIns="25400" tIns="0" rIns="50800" bIns="25400" rtlCol="0" anchor="t"/>
          <a:lstStyle/>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Takeaways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Pull-test one winch and weigh a mock claw in week 1; set the mass budget from that</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Kill ideas on paper first: bead homing and the central board failed calculations I could have run in week 1</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Prove one full station, calibration included, before copying it</a:t>
            </a:r>
            <a:endParaRPr lang="en-US" sz="1600" dirty="0"/>
          </a:p>
          <a:p>
            <a:pPr algn="l" marL="254000" indent="-254000">
              <a:spcAft>
                <a:spcPts val="600"/>
              </a:spcAft>
              <a:buSzPct val="100000"/>
              <a:buChar char="•"/>
            </a:pPr>
            <a:r>
              <a:rPr lang="en-US" sz="1600" dirty="0">
                <a:solidFill>
                  <a:srgbClr val="1A1A1A"/>
                </a:solidFill>
                <a:latin typeface="Arial" pitchFamily="34" charset="0"/>
                <a:ea typeface="Arial" pitchFamily="34" charset="-122"/>
                <a:cs typeface="Arial" pitchFamily="34" charset="-120"/>
              </a:rPr>
              <a:t>Next steps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Pull test, then enter the measured limit in the planner</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Hold test at 1.5 A, three-station test, grip pads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Spool set screw into metal; 6 mm motor tab with fillets on both roots</a:t>
            </a:r>
            <a:endParaRPr lang="en-US" sz="1600" dirty="0"/>
          </a:p>
          <a:p>
            <a:pPr algn="l" lvl="1" marL="457200" indent="-228600">
              <a:spcAft>
                <a:spcPts val="600"/>
              </a:spcAft>
              <a:buSzPct val="100000"/>
              <a:buChar char="•"/>
            </a:pPr>
            <a:r>
              <a:rPr lang="en-US" sz="1400" dirty="0">
                <a:solidFill>
                  <a:srgbClr val="404040"/>
                </a:solidFill>
                <a:latin typeface="Arial" pitchFamily="34" charset="0"/>
                <a:ea typeface="Arial" pitchFamily="34" charset="-122"/>
                <a:cs typeface="Arial" pitchFamily="34" charset="-120"/>
              </a:rPr>
              <a:t>A brake or non-backdrivable stage, so a power loss cannot drop the claw</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F7F7F"/>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RoomCleaner v7">
  <a:themeElements>
    <a:clrScheme name="RoomCleaner v7">
      <a:dk1>
        <a:srgbClr val="1A1A1A"/>
      </a:dk1>
      <a:lt1>
        <a:srgbClr val="FFFFFF"/>
      </a:lt1>
      <a:dk2>
        <a:srgbClr val="1F3A5F"/>
      </a:dk2>
      <a:lt2>
        <a:srgbClr val="F2F2F4"/>
      </a:lt2>
      <a:accent1>
        <a:srgbClr val="1F3A5F"/>
      </a:accent1>
      <a:accent2>
        <a:srgbClr val="8A8F98"/>
      </a:accent2>
      <a:accent3>
        <a:srgbClr val="B23A2E"/>
      </a:accent3>
      <a:accent4>
        <a:srgbClr val="4F6D8F"/>
      </a:accent4>
      <a:accent5>
        <a:srgbClr val="D9DEE5"/>
      </a:accent5>
      <a:accent6>
        <a:srgbClr val="5B6470"/>
      </a:accent6>
      <a:hlink>
        <a:srgbClr val="1F3A5F"/>
      </a:hlink>
      <a:folHlink>
        <a:srgbClr val="4F6D8F"/>
      </a:folHlink>
    </a:clrScheme>
    <a:fontScheme name="RoomCleaner v7">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RoomCleaner</dc:title>
  <dc:subject>PptxGenJS Presentation</dc:subject>
  <dc:creator>Jasper Buntinx</dc:creator>
  <cp:lastModifiedBy>Jasper Buntinx</cp:lastModifiedBy>
  <cp:revision>1</cp:revision>
  <dcterms:created xsi:type="dcterms:W3CDTF">2026-10-22T20:47:27Z</dcterms:created>
  <dcterms:modified xsi:type="dcterms:W3CDTF">2026-10-22T20:47:27Z</dcterms:modified>
</cp:coreProperties>
</file>