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d6d025c-e808-4c0e-29ae-54c3e6d8934b}">
          <p14:sldIdLst>
            <p14:sldId id="256"/>
            <p14:sldId id="257"/>
            <p14:sldId id="258"/>
            <p14:sldId id="259"/>
          </p14:sldIdLst>
        </p14:section>
        <p14:section name="Concept" id="{d78b4802-2ca8-51d5-080b-07a77dc49ea2}">
          <p14:sldIdLst>
            <p14:sldId id="260"/>
            <p14:sldId id="261"/>
            <p14:sldId id="262"/>
          </p14:sldIdLst>
        </p14:section>
        <p14:section name="Generation 1" id="{6d967c90-8008-e2a7-f81c-634392a50b92}">
          <p14:sldIdLst>
            <p14:sldId id="263"/>
          </p14:sldIdLst>
        </p14:section>
        <p14:section name="Redesign" id="{06d6a21b-7c27-af3a-19dd-b4696df69e8b}">
          <p14:sldIdLst>
            <p14:sldId id="264"/>
            <p14:sldId id="265"/>
            <p14:sldId id="266"/>
          </p14:sldIdLst>
        </p14:section>
        <p14:section name="Final Design" id="{6fc739a7-87ec-2dd0-f38f-ca7c7b15b548}">
          <p14:sldIdLst>
            <p14:sldId id="267"/>
            <p14:sldId id="268"/>
            <p14:sldId id="269"/>
            <p14:sldId id="270"/>
            <p14:sldId id="271"/>
          </p14:sldIdLst>
        </p14:section>
        <p14:section name="Build and Test" id="{7e34787d-3d6c-ea44-2b49-cd24c0991c19}">
          <p14:sldIdLst>
            <p14:sldId id="272"/>
            <p14:sldId id="273"/>
          </p14:sldIdLst>
        </p14:section>
        <p14:section name="Results and Takeaways" id="{dce50866-efc8-6289-2f02-a652f9722a9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 Then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why bead homing died; with home 1 m up, 5 % of the room is reachable, 2 m up, 29 %. Bottom: the floor board, per camera frame.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At 1.5 A the motor holds up to 48 N on the empty spool before it slips, so that is the most the cable can put on the station. The PETG tab has to carry it below 60 °C, which is where the thermal limit on the cooling slide comes from. If asked: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every part between the cable and the stud: does it outlast the motor? The motor is the fuse: above its holding torque it skips, the spool's encoder sees the spool fall behind the command, and the station stops. That only works if everything else is stronger. As drawn, two parts are not: the set screw that holds the spool on the shaft is threaded into printed plastic, so it can slip first, and the motor tab's sharp back corner is about level with the motor. Both fixes are cheap. If asked: wood-screw withdrawal from the NDS, W = 2850 G² D per inch of thread, G 0.42 for spruce-pine-fir; the average test failure is about 5.5 times that. The pull test settles the set screw: paint a line across the shaft and the spool; if it breaks, the spool slipped. If a 2:1 gear stage is added, the motor's pull doubles and this ranking has to be redone.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docs.google.com/spreadsheets/d/1UGFnkL1v305WnDYj5aj5zBtgxnxmGP7_TVRN0afZTGs/edit" TargetMode="External"/><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8" name="label"/>
          <p:cNvSpPr txBox="1"/>
          <p:nvPr/>
        </p:nvSpPr>
        <p:spPr>
          <a:xfrm>
            <a:off x="548640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9" name="label"/>
          <p:cNvSpPr txBox="1"/>
          <p:nvPr/>
        </p:nvSpPr>
        <p:spPr>
          <a:xfrm>
            <a:off x="864108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0"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2238341" y="1188720"/>
            <a:ext cx="3021398" cy="2080260"/>
          </a:xfrm>
          <a:prstGeom prst="rect">
            <a:avLst/>
          </a:prstGeom>
        </p:spPr>
      </p:pic>
      <p:sp>
        <p:nvSpPr>
          <p:cNvPr id="5" name="caption"/>
          <p:cNvSpPr txBox="1"/>
          <p:nvPr/>
        </p:nvSpPr>
        <p:spPr>
          <a:xfrm>
            <a:off x="2238341"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pic>
        <p:nvPicPr>
          <p:cNvPr id="6" name="Chart from the calculation sheet: Floor " descr="Chart from the calculation sheet: Floor board">    </p:cNvPr>
          <p:cNvPicPr>
            <a:picLocks noChangeAspect="1"/>
          </p:cNvPicPr>
          <p:nvPr/>
        </p:nvPicPr>
        <p:blipFill>
          <a:blip r:embed="rId2"/>
          <a:stretch>
            <a:fillRect/>
          </a:stretch>
        </p:blipFill>
        <p:spPr>
          <a:xfrm>
            <a:off x="2237792" y="3726180"/>
            <a:ext cx="3022495" cy="2080260"/>
          </a:xfrm>
          <a:prstGeom prst="rect">
            <a:avLst/>
          </a:prstGeom>
        </p:spPr>
      </p:pic>
      <p:sp>
        <p:nvSpPr>
          <p:cNvPr id="7" name="caption"/>
          <p:cNvSpPr txBox="1"/>
          <p:nvPr/>
        </p:nvSpPr>
        <p:spPr>
          <a:xfrm>
            <a:off x="223779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Load path: cable, spool, set screw, motor, 5 mm PETG tab, slide-in, wall mount, screws,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part must outlast the motor's 48 N slip force (two slides on); SolidWorks static study to run at that force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Aluminum fin exits through a slot in the shell top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Which Part Gives First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549677"/>
          </a:xfrm>
          <a:prstGeom prst="rect">
            <a:avLst/>
          </a:prstGeom>
        </p:spPr>
      </p:pic>
      <p:sp>
        <p:nvSpPr>
          <p:cNvPr id="5" name="caption"/>
          <p:cNvSpPr txBox="1"/>
          <p:nvPr/>
        </p:nvSpPr>
        <p:spPr>
          <a:xfrm>
            <a:off x="548640" y="5811549"/>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Goal: the motor slips before any part breaks. It slips at 34–59 N of cable pull; jeans need 16 N</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slip of 0.7 mm of cable trips the spool encoder; the station stops and reports an overload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As drawn, two parts give near or below the motor: the set screw in printed plastic and the tab's sharp corner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Fixes: a brass insert for the set screw, a 2 mm fillet on the tab; then every part is at least 1.5 × the motor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Studs only: one #6 screw holds 309 N (code design value); in drywall the mount lets go at 46 N</a:t>
            </a:r>
            <a:endParaRPr lang="en-US" sz="15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7"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and tab corner give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sheet link"/>
          <p:cNvSpPr txBox="1"/>
          <p:nvPr/>
        </p:nvSpPr>
        <p:spPr>
          <a:xfrm>
            <a:off x="548640" y="5943600"/>
            <a:ext cx="7315200" cy="292608"/>
          </a:xfrm>
          <a:prstGeom prst="rect">
            <a:avLst/>
          </a:prstGeom>
          <a:noFill/>
          <a:ln/>
        </p:spPr>
        <p:txBody>
          <a:bodyPr wrap="square" lIns="0" tIns="0" rIns="0" bIns="0" rtlCol="0" anchor="ctr"/>
          <a:lstStyle/>
          <a:p>
            <a:pPr indent="0" marL="0">
              <a:buNone/>
            </a:pPr>
            <a:r>
              <a:rPr lang="en-US" sz="1300" u="sng" dirty="0">
                <a:solidFill>
                  <a:srgbClr val="1F3A5F"/>
                </a:solidFill>
                <a:latin typeface="Arial" pitchFamily="34" charset="0"/>
                <a:ea typeface="Arial" pitchFamily="34" charset="-122"/>
                <a:cs typeface="Arial" pitchFamily="34" charset="-120"/>
                <a:hlinkClick r:id="rId1" invalidUrl="" action="" tgtFrame="" tooltip="Open the calculation sheet" history="1" highlightClick="0" endSnd="0">
                  <a:extLst>
                    <a:ext uri="{A12FA001-AC4F-418D-AE19-62706E023703}">
                      <ahyp:hlinkClr xmlns:ahyp="http://schemas.microsoft.com/office/drawing/2018/hyperlinkcolor" val="tx"/>
                    </a:ext>
                  </a:extLst>
                </a:hlinkClick>
              </a:rPr>
              <a:t>Calculations: RoomCleaner engineering calculations (Google Sheets)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1"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166360"/>
            <a:ext cx="11094415" cy="109728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the fin's single mill setup, the stall check on the teeth</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237744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5" name="Concept"/>
          <p:cNvSpPr/>
          <p:nvPr/>
        </p:nvSpPr>
        <p:spPr>
          <a:xfrm>
            <a:off x="1874520" y="2377440"/>
            <a:ext cx="1024743" cy="685800"/>
          </a:xfrm>
          <a:prstGeom prst="rect">
            <a:avLst/>
          </a:prstGeom>
          <a:solidFill>
            <a:srgbClr val="D9DEE5"/>
          </a:solidFill>
          <a:ln w="19050">
            <a:solidFill>
              <a:srgbClr val="FFFFFF"/>
            </a:solidFill>
            <a:prstDash val="solid"/>
          </a:ln>
        </p:spPr>
      </p:sp>
      <p:sp>
        <p:nvSpPr>
          <p:cNvPr id="6" name="label"/>
          <p:cNvSpPr txBox="1"/>
          <p:nvPr/>
        </p:nvSpPr>
        <p:spPr>
          <a:xfrm>
            <a:off x="1901952" y="2377440"/>
            <a:ext cx="969879"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7" name="Gen 1"/>
          <p:cNvSpPr/>
          <p:nvPr/>
        </p:nvSpPr>
        <p:spPr>
          <a:xfrm>
            <a:off x="2899263" y="2377440"/>
            <a:ext cx="1366325" cy="685800"/>
          </a:xfrm>
          <a:prstGeom prst="rect">
            <a:avLst/>
          </a:prstGeom>
          <a:solidFill>
            <a:srgbClr val="4F6D8F"/>
          </a:solidFill>
          <a:ln w="19050">
            <a:solidFill>
              <a:srgbClr val="FFFFFF"/>
            </a:solidFill>
            <a:prstDash val="solid"/>
          </a:ln>
        </p:spPr>
      </p:sp>
      <p:sp>
        <p:nvSpPr>
          <p:cNvPr id="8" name="label"/>
          <p:cNvSpPr txBox="1"/>
          <p:nvPr/>
        </p:nvSpPr>
        <p:spPr>
          <a:xfrm>
            <a:off x="2926695" y="2377440"/>
            <a:ext cx="1311461"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9" name="Redesign"/>
          <p:cNvSpPr/>
          <p:nvPr/>
        </p:nvSpPr>
        <p:spPr>
          <a:xfrm>
            <a:off x="4265588" y="2377440"/>
            <a:ext cx="1659108" cy="685800"/>
          </a:xfrm>
          <a:prstGeom prst="rect">
            <a:avLst/>
          </a:prstGeom>
          <a:solidFill>
            <a:srgbClr val="D9DEE5"/>
          </a:solidFill>
          <a:ln w="19050">
            <a:solidFill>
              <a:srgbClr val="FFFFFF"/>
            </a:solidFill>
            <a:prstDash val="solid"/>
          </a:ln>
        </p:spPr>
      </p:sp>
      <p:sp>
        <p:nvSpPr>
          <p:cNvPr id="10" name="label"/>
          <p:cNvSpPr txBox="1"/>
          <p:nvPr/>
        </p:nvSpPr>
        <p:spPr>
          <a:xfrm>
            <a:off x="4293020" y="2377440"/>
            <a:ext cx="1604244"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1" name="Final"/>
          <p:cNvSpPr/>
          <p:nvPr/>
        </p:nvSpPr>
        <p:spPr>
          <a:xfrm>
            <a:off x="5924697" y="2377440"/>
            <a:ext cx="731960" cy="685800"/>
          </a:xfrm>
          <a:prstGeom prst="rect">
            <a:avLst/>
          </a:prstGeom>
          <a:solidFill>
            <a:srgbClr val="4F6D8F"/>
          </a:solidFill>
          <a:ln w="19050">
            <a:solidFill>
              <a:srgbClr val="FFFFFF"/>
            </a:solidFill>
            <a:prstDash val="solid"/>
          </a:ln>
        </p:spPr>
      </p:sp>
      <p:sp>
        <p:nvSpPr>
          <p:cNvPr id="12" name="label"/>
          <p:cNvSpPr txBox="1"/>
          <p:nvPr/>
        </p:nvSpPr>
        <p:spPr>
          <a:xfrm>
            <a:off x="5952129" y="2377440"/>
            <a:ext cx="677096"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3" name="Build and test"/>
          <p:cNvSpPr/>
          <p:nvPr/>
        </p:nvSpPr>
        <p:spPr>
          <a:xfrm>
            <a:off x="6656656" y="2377440"/>
            <a:ext cx="292784" cy="685800"/>
          </a:xfrm>
          <a:prstGeom prst="rect">
            <a:avLst/>
          </a:prstGeom>
          <a:solidFill>
            <a:srgbClr val="1F3A5F"/>
          </a:solidFill>
          <a:ln w="19050">
            <a:solidFill>
              <a:srgbClr val="FFFFFF"/>
            </a:solidFill>
            <a:prstDash val="solid"/>
          </a:ln>
        </p:spPr>
      </p:sp>
      <p:sp>
        <p:nvSpPr>
          <p:cNvPr id="14" name="label"/>
          <p:cNvSpPr txBox="1"/>
          <p:nvPr/>
        </p:nvSpPr>
        <p:spPr>
          <a:xfrm>
            <a:off x="5852160" y="309067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5" name="label"/>
          <p:cNvSpPr txBox="1"/>
          <p:nvPr/>
        </p:nvSpPr>
        <p:spPr>
          <a:xfrm>
            <a:off x="548640" y="34747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6" name="Plan"/>
          <p:cNvSpPr/>
          <p:nvPr/>
        </p:nvSpPr>
        <p:spPr>
          <a:xfrm>
            <a:off x="1874520" y="3474720"/>
            <a:ext cx="341581" cy="685800"/>
          </a:xfrm>
          <a:prstGeom prst="rect">
            <a:avLst/>
          </a:prstGeom>
          <a:solidFill>
            <a:srgbClr val="D9DEE5"/>
          </a:solidFill>
          <a:ln w="19050">
            <a:solidFill>
              <a:srgbClr val="FFFFFF"/>
            </a:solidFill>
            <a:prstDash val="solid"/>
          </a:ln>
        </p:spPr>
      </p:sp>
      <p:sp>
        <p:nvSpPr>
          <p:cNvPr id="17" name="label"/>
          <p:cNvSpPr txBox="1"/>
          <p:nvPr/>
        </p:nvSpPr>
        <p:spPr>
          <a:xfrm>
            <a:off x="1901952"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8" name="One station"/>
          <p:cNvSpPr/>
          <p:nvPr/>
        </p:nvSpPr>
        <p:spPr>
          <a:xfrm>
            <a:off x="2216101" y="3474720"/>
            <a:ext cx="683162" cy="685800"/>
          </a:xfrm>
          <a:prstGeom prst="rect">
            <a:avLst/>
          </a:prstGeom>
          <a:solidFill>
            <a:srgbClr val="4F6D8F"/>
          </a:solidFill>
          <a:ln w="19050">
            <a:solidFill>
              <a:srgbClr val="FFFFFF"/>
            </a:solidFill>
            <a:prstDash val="solid"/>
          </a:ln>
        </p:spPr>
      </p:sp>
      <p:sp>
        <p:nvSpPr>
          <p:cNvPr id="19" name="label"/>
          <p:cNvSpPr txBox="1"/>
          <p:nvPr/>
        </p:nvSpPr>
        <p:spPr>
          <a:xfrm>
            <a:off x="2243533"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20" name="Copy"/>
          <p:cNvSpPr/>
          <p:nvPr/>
        </p:nvSpPr>
        <p:spPr>
          <a:xfrm>
            <a:off x="2899263" y="3474720"/>
            <a:ext cx="341581" cy="685800"/>
          </a:xfrm>
          <a:prstGeom prst="rect">
            <a:avLst/>
          </a:prstGeom>
          <a:solidFill>
            <a:srgbClr val="D9DEE5"/>
          </a:solidFill>
          <a:ln w="19050">
            <a:solidFill>
              <a:srgbClr val="FFFFFF"/>
            </a:solidFill>
            <a:prstDash val="solid"/>
          </a:ln>
        </p:spPr>
      </p:sp>
      <p:sp>
        <p:nvSpPr>
          <p:cNvPr id="21" name="label"/>
          <p:cNvSpPr txBox="1"/>
          <p:nvPr/>
        </p:nvSpPr>
        <p:spPr>
          <a:xfrm>
            <a:off x="2926695"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2" name="Clamp"/>
          <p:cNvSpPr/>
          <p:nvPr/>
        </p:nvSpPr>
        <p:spPr>
          <a:xfrm>
            <a:off x="3240845" y="3474720"/>
            <a:ext cx="683162" cy="685800"/>
          </a:xfrm>
          <a:prstGeom prst="rect">
            <a:avLst/>
          </a:prstGeom>
          <a:solidFill>
            <a:srgbClr val="4F6D8F"/>
          </a:solidFill>
          <a:ln w="19050">
            <a:solidFill>
              <a:srgbClr val="FFFFFF"/>
            </a:solidFill>
            <a:prstDash val="solid"/>
          </a:ln>
        </p:spPr>
      </p:sp>
      <p:sp>
        <p:nvSpPr>
          <p:cNvPr id="23" name="label"/>
          <p:cNvSpPr txBox="1"/>
          <p:nvPr/>
        </p:nvSpPr>
        <p:spPr>
          <a:xfrm>
            <a:off x="3268277"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Clamp</a:t>
            </a:r>
            <a:endParaRPr lang="en-US" sz="1050" dirty="0"/>
          </a:p>
        </p:txBody>
      </p:sp>
      <p:sp>
        <p:nvSpPr>
          <p:cNvPr id="24" name="Test"/>
          <p:cNvSpPr/>
          <p:nvPr/>
        </p:nvSpPr>
        <p:spPr>
          <a:xfrm>
            <a:off x="3924007" y="3474720"/>
            <a:ext cx="341581" cy="685800"/>
          </a:xfrm>
          <a:prstGeom prst="rect">
            <a:avLst/>
          </a:prstGeom>
          <a:solidFill>
            <a:srgbClr val="1F3A5F"/>
          </a:solidFill>
          <a:ln w="19050">
            <a:solidFill>
              <a:srgbClr val="FFFFFF"/>
            </a:solidFill>
            <a:prstDash val="solid"/>
          </a:ln>
        </p:spPr>
      </p:sp>
      <p:sp>
        <p:nvSpPr>
          <p:cNvPr id="25" name="label"/>
          <p:cNvSpPr txBox="1"/>
          <p:nvPr/>
        </p:nvSpPr>
        <p:spPr>
          <a:xfrm>
            <a:off x="3951439" y="3474720"/>
            <a:ext cx="286717"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6" name="caption"/>
          <p:cNvSpPr txBox="1"/>
          <p:nvPr/>
        </p:nvSpPr>
        <p:spPr>
          <a:xfrm>
            <a:off x="1874520" y="4297680"/>
            <a:ext cx="5074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 time: plan (pull test, mass budget), one station, copy, clamp, test.</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Takeaways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Pull-test one winch and weigh a mock claw in week 1; set the mass budget from that</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Prove one full station, calibration included, before copying it</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Next steps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 test, then enter the measured limit in the planner</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Hold test at 1.5 A, three-station test, grip pads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Brass insert for the spool set screw, 2 mm fillet on the motor tab</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A brake or non-backdrivable stage, so a power loss cannot drop the claw</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2026-10-22T20:24:34Z</dcterms:created>
  <dcterms:modified xsi:type="dcterms:W3CDTF">2026-10-22T20:24:34Z</dcterms:modified>
</cp:coreProperties>
</file>