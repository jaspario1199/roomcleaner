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17cf4b3-c201-f9f7-64a5-f20f5227059d}">
          <p14:sldIdLst>
            <p14:sldId id="256"/>
            <p14:sldId id="257"/>
            <p14:sldId id="258"/>
            <p14:sldId id="259"/>
            <p14:sldId id="260"/>
          </p14:sldIdLst>
        </p14:section>
        <p14:section name="Design" id="{300aa680-03b9-7235-3892-f4bbaf5b19fb}">
          <p14:sldIdLst>
            <p14:sldId id="261"/>
            <p14:sldId id="262"/>
            <p14:sldId id="263"/>
            <p14:sldId id="264"/>
            <p14:sldId id="265"/>
            <p14:sldId id="266"/>
            <p14:sldId id="267"/>
            <p14:sldId id="268"/>
            <p14:sldId id="269"/>
          </p14:sldIdLst>
        </p14:section>
        <p14:section name="Build" id="{b4f50377-3d2c-228b-4707-051e13aba037}">
          <p14:sldIdLst>
            <p14:sldId id="270"/>
            <p14:sldId id="271"/>
            <p14:sldId id="272"/>
          </p14:sldIdLst>
        </p14:section>
        <p14:section name="Test" id="{0bad3fe1-980d-a638-e3fe-18d72468446c}">
          <p14:sldIdLst>
            <p14:sldId id="273"/>
          </p14:sldIdLst>
        </p14:section>
        <p14:section name="Lessons" id="{2457aa1a-0d79-d4d4-a5f7-6962ad8e6acb}">
          <p14:sldIdLst>
            <p14:sldId id="274"/>
            <p14:sldId id="275"/>
            <p14:sldId id="276"/>
          </p14:sldIdLst>
        </p14:section>
        <p14:section name="Close" id="{7d47c9f1-0e3c-cf2a-ea8a-e1d751c35c6b}">
          <p14:sldIdLst>
            <p14:sldId id="277"/>
          </p14:sldIdLst>
        </p14:section>
        <p14:section name="Backup" id="{4cefe05e-bc26-1f9e-b4d3-2a57dee252b2}">
          <p14:sldIdLst>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what you learned), the sculptures (fiber laser and welding: real fabrication), one hobby.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cable robot: it covers the whole floor, nothing stands on the floor, and the moving mass is small. Safety rules: stations anchor into studs, the switched power strip is the one hard stop, nobody stands under the robot. 0.9 kg is a screening figure for jeans; the first physical test is 1 lb. The claw tube is 10.5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Gen 1 (August) worked on the bench: corner plates, one central controller board, a finger claw. September to early October was the rethink that drove gen 2: sensors at every winch, the wiring that caused, and the line outlets. Gen 2 in October went through three station and three spool versions to the final design on Oct 21. This week: build and the first test. Say plainly what is mine and what is bought. [Confirm the start date (git shows Jul 16) and what happened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out: only the bottom layer turns a motor. The phone asks the supervisor; the supervisor holds one robot state; the planner checks every point of a path before anything moves; the stations run the motion on their own clocks and hold if the laptop goes quiet. The claw is a camera plus a gripper that obeys. Details are in the backup slides (one run end to end, obstacles, the phone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things I optimize, each with a number. Two are not met today: lift capacity and claw mass, and they are the same problem seen from two sides. Motor temperature is tight since the 1.5 A change. Working area and wiring are met by the design. Accuracy, speed and cost wait on the hardware test and the receipts. Safety is a constraint, not an objective: I never trade it for any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lever helps one thing and hurts another, and each design slide after this is one of these trades. Current: pull goes with I but heat goes with I squared, so 41 % more pull costs twice the heat. Claw strength: the stall check pushed the gears from module 1 to 1.5, and every gram of claw comes out of the payload. Room size: wire resistance grows with length, R = ρL/A; that is why only power travels, and the longest 32 ft run drops 0.51 V at 2 A on 16 AWG. Reach: tension doubles each time the depth below the anchors halves. Spool: a smaller radius pulls harder but reels slower, and the radius grows as the line winds on. Margins: they buy safety with force and floor area. The chain at the bottom is why weight matters so much: a heavier claw needs more pull, more pull needs more current, and the heat grows with the square of the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Centred claw, equal shares. D_h = 2.17 m from the room centre to a corner. The tension doubles each time the depth halves near the ceiling, so the ceiling margin is set by tension, not by collision. At 1.06 A the design force was 11.9 N, so 0.4 m was only just enough standing still (12.2 N). At 1.5 A it is 16.8 N, so 0.4 m also covers the 2 m/s² acceleration case (14.7 N). 0.3 m would now hold standing still (16.2 N) but not while accelerating (19.5 N), so I keep 0.4 m. If asked about a corner pick: the far cables go near-horizontal and carry little; the planner checks every cable stays inside its tension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the first boards topped out at 0.85 V, which is 1.06 A. I got the drivers to 1.5 A, the motor's rated current, so every pull goes up 41 % (1.5 / 1.06). [Fill in: how, and the Vref you read.] The cost is heat: the motor makes twice the heat (next slides). Running torque is lower than holding torque; I assumed 0.7, and the pull test measures it. A smaller spool gives more pull per amp but more turns per metre. The 1.5 margin covers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 82 ft = 820 ft against 2 × 82 ft = 164 ft for one power pair. The cost: sync moved into software. Each station runs time-stamped segments on its own clock; any lost link means hold. Timing skew becomes cable mismatch: 50 mm/s × 50 ms = 2.5 mm, which is why segments are time-stamped.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the fin as a second path out. At 1.5 A, P = I²R = 4.1 W in the motor, double the 2.0 W at 1.06 A. Results at 1.5 A: vented 77 °C without the fin, 58 °C with it; sealed 99 °C without, 66 °C with, so the shell must stay vented. At 1.06 A the sealed shell with the fin was 46 °C. The driver chip also heats more (it holds current all the time, even standing still); if it overheats it shuts off and the winch loses torque, so the hold test watches the driver too. At 1.35 A the vented case is 51 °C. Length: a long thin fin gives 95 % of its heat by 136 mm for the 0.019 in sheet I built; I built 200 mm, sized earlier for 1/8 in plate (backup slide). A horn is a heat exchanger: warm blood into the core, heat out through the surface; the fin is one tall thin blade from the heat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a poor first plan, caught on paper before it was built. The trade-off is physical, so software cannot remove it. Replacement: take up slack one cable at a time, lift, look at the floor board from several poses, least-squares fit of anchors and zero lengths, check on held-out poses. Safety comes from margins (0.4 m below the anchors, 0.2 m inside the walls), not precision. Four tags in view: 0.7 mm vs 6.6 mm with one (backup slide). Simulated so far; tonight is the first hardware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generation fixed a problem found in the one before. Mass drove most changes: every gram of claw is a gram of laundry the winches cannot lift. Four-bar: ground 36.5, crank 53, rocker 50, coupler 34.7 mm; jaws parallel within about 1 degree; closing drops the tips about 38 mm, a scoop. Gear train: servo, 18T pinion, 36T/24T compound, 24T sync gear. Lewis check at servo stall: module 1 safety factor 0.35 to 0.41, so the module went up. The camera also moved from the ceiling into the claw: it sees the grasp and reads the floor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even at 1.5 A the current claw plus jeans is too heavy, by about 0.2 kg instead of 0.66 kg. Root cause: I set the mass budget late, after the claw grew. Capacity = design force / (worst tension per unit weight × g) = 16.8 / (1.101 × 9.81) = 1.56 kg; the worst point is the middle of a long wall at task height. Claw mass estimate: 0.55 infill fraction × 927 g solid + 198 g tube + 55 g servo ≈ 0.76 kg. The pull test turns the 0.7 running-torque assumption into a measurement, and that number picks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flat face on the bed, loads along the layers, no supports on mating faces. Bearing pocket Ø14.075 with a Ø14.000 lead-in lip. Heat-set M3 inserts where screws are reused. Spool v1 was longer than the motor shaft could engage; v2's Ø5.2 bore printed too tight on the 5 mm shaft, so the printer undersize is at least 0.2 mm; v3 opened it to Ø5.45 (about 0.25 mm clearance) with a D-flat. Ø15 core, 16 mm drum: 20 ft of line in 5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setup from the same two edges means hole-to-hole errors do not stack. Holes: a 7/8 in pilot for the motor boss and 4 × Ø3.4 on the 31 mm motor square. Paint everywhere except the motor contact square, which gets thermal paste. [Fill in: time per fin, how many made, any scrap.]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so the two cannot disagree. The 1.14 V story: measure the hardware before trusting the software's view of it. Checklist: logic supply, sleep, enable and the buck output on every new board.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the tensions are solved exactly and slack shows up directly. It is the simplest real test of the calibration and the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me software sync (2.5 mm per 50 ms of skew) but saved 5× the wire. The slide-in mount came from taking stations down to rework them. Calibration by camera replaced a plan that physically limited the motion. The stall check caught gears that would have sheared before I printed them. Poor: the mass budget came after the claw grew, which is the open problem today. Bead homing looked cheap until I computed what it cost. The spool bore needed a coupon. And building several stations before one was fully proven meant repeating each fix. [Confirm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so the drawing cannot lie.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tags because accuracy comes from seeing several tags, not from the board. Three stations now, because three cables already test calibration and coordinated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would do differently: weigh the claw and set its mass budget from the measured winch pull before designing it; coupons before every new fit; one complete station tested end to end before building more; a meter on every rail before debugging code. Half the time: most of the lost time was the rethink (September to early October) and the generations that a frozen requirement and an early test would have avoided. Order the slow parts on day one. Three stations are statically determinate and need fewer parts for the first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Backups follow: status by part, fin length, floor board, calibration, control logic, one run, phone app, obstacles, claw electrical, gear strength, safety, acronyms, calculations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calculated or simulated is called that; the next-test column is what turns it into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Efficiency at the built length: 37 % (sheet) vs 74 % (plate); fin resistance 22.1 vs 10.9 K/W. The 200 mm length was sized for the 1/8 in plate; the thin sheet would do the same job at about 140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tags: 4.85 mrad, 2.5 mm. Noise model: 0.3 px corner noise, 520 px focal length (camera not yet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margins, not precision: 0.4 m below the anchors and 0.2 m inside the walls unless the error bars allow more. If the fit is not good enough: more poses, then fit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 1 trusted its model; the final logic measures before it trusts and checks after it acts. Kept from gen 1: the cable maths,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Grips wait until the claw stops swinging. A refused release pauses over the hamper. Disarm needs a typed confirmation and a fresh floor check, because releasing torque drops a hanging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Tested against a full simulator of the stations and the claw, so lost messages and reboots were exercised before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draw keep-out shapes in the phone app (squares, rectangles, circles with a height), then let the robot build its own room model from the claw camera's scans.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Stall torque 1.08 N·m at 6 V (servo rating,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400800"/>
            <a:ext cx="11094415" cy="0"/>
          </a:xfrm>
          <a:prstGeom prst="line">
            <a:avLst/>
          </a:prstGeom>
          <a:noFill/>
          <a:ln w="9525">
            <a:solidFill>
              <a:srgbClr val="BFBFBF"/>
            </a:solidFill>
            <a:prstDash val="solid"/>
          </a:ln>
        </p:spPr>
      </p:sp>
      <p:sp>
        <p:nvSpPr>
          <p:cNvPr id="3" name="Text 1"/>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RoomCleaner  |  Jasper Buntinx  |  October 27, 2026</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jpg"/><Relationship Id="rId7" Type="http://schemas.openxmlformats.org/officeDocument/2006/relationships/image" Target="../media/image-19-7.png"/><Relationship Id="rId8" Type="http://schemas.openxmlformats.org/officeDocument/2006/relationships/image" Target="../media/image-19-8.jpg"/><Relationship Id="rId9" Type="http://schemas.openxmlformats.org/officeDocument/2006/relationships/slideLayout" Target="../slideLayouts/slideLayout2.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5-1.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 robot that picks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2 winch station, assembled" descr="Gen-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About Me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Education: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Mechanical Engineering, Texas A&amp;M University ·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[graduation: Month 20XX]</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EcoFil: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filament recycler: shredder, dehydrator and extruder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Sculpture: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pieces for the Austin Creek Show; fiber-laser cutting and welding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Outside of class: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[hobbies and interests]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Why this project: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[one line: why a laundry robot]</a:t>
            </a:r>
            <a:endParaRPr lang="en-US" sz="2000" dirty="0"/>
          </a:p>
        </p:txBody>
      </p:sp>
      <p:sp>
        <p:nvSpPr>
          <p:cNvPr id="6" name="placeholder"/>
          <p:cNvSpPr/>
          <p:nvPr/>
        </p:nvSpPr>
        <p:spPr>
          <a:xfrm>
            <a:off x="5880671" y="1463040"/>
            <a:ext cx="5762384" cy="4526280"/>
          </a:xfrm>
          <a:prstGeom prst="rect">
            <a:avLst/>
          </a:prstGeom>
          <a:solidFill>
            <a:srgbClr val="F2F2F2"/>
          </a:solidFill>
          <a:ln w="12700">
            <a:solidFill>
              <a:srgbClr val="B23A2E"/>
            </a:solidFill>
            <a:prstDash val="dash"/>
          </a:ln>
        </p:spPr>
      </p:sp>
      <p:sp>
        <p:nvSpPr>
          <p:cNvPr id="7" name="placeholder text"/>
          <p:cNvSpPr txBox="1"/>
          <p:nvPr/>
        </p:nvSpPr>
        <p:spPr>
          <a:xfrm>
            <a:off x="6063551" y="1463040"/>
            <a:ext cx="5396624" cy="4526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of you building: EcoFil, a sculpture, or the workshop]</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Goal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Task:</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laundry off the floor and into a hamper, anywhere in an 11 × 9 ft room</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How:</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four winches near the ceiling corners hold one claw on cables</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jeans (0.9 kg) at 2 m/s²; first test: 1 lb</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Limits:</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3D-printed PETG (polyethylene terephthalate glycol) plastic, hobby budget, safe in a home</a:t>
            </a:r>
            <a:endParaRPr lang="en-US" sz="1900" dirty="0"/>
          </a:p>
        </p:txBody>
      </p:sp>
      <p:sp>
        <p:nvSpPr>
          <p:cNvPr id="6" name="Shape 4"/>
          <p:cNvSpPr/>
          <p:nvPr/>
        </p:nvSpPr>
        <p:spPr>
          <a:xfrm>
            <a:off x="6324448" y="1463040"/>
            <a:ext cx="2590724" cy="4526280"/>
          </a:xfrm>
          <a:prstGeom prst="rect">
            <a:avLst/>
          </a:prstGeom>
          <a:solidFill>
            <a:srgbClr val="F2F2F2"/>
          </a:solidFill>
          <a:ln w="12700">
            <a:solidFill>
              <a:srgbClr val="F2F2F2"/>
            </a:solidFill>
            <a:prstDash val="solid"/>
          </a:ln>
        </p:spPr>
      </p:sp>
      <p:pic>
        <p:nvPicPr>
          <p:cNvPr id="7" name="Final wall station" descr="Final wall station">    </p:cNvPr>
          <p:cNvPicPr>
            <a:picLocks noChangeAspect="1"/>
          </p:cNvPicPr>
          <p:nvPr/>
        </p:nvPicPr>
        <p:blipFill>
          <a:blip r:embed="rId1"/>
          <a:stretch>
            <a:fillRect/>
          </a:stretch>
        </p:blipFill>
        <p:spPr>
          <a:xfrm>
            <a:off x="6379312" y="2217075"/>
            <a:ext cx="2480996" cy="3018211"/>
          </a:xfrm>
          <a:prstGeom prst="rect">
            <a:avLst/>
          </a:prstGeom>
        </p:spPr>
      </p:pic>
      <p:sp>
        <p:nvSpPr>
          <p:cNvPr id="8" name="Shape 5"/>
          <p:cNvSpPr/>
          <p:nvPr/>
        </p:nvSpPr>
        <p:spPr>
          <a:xfrm>
            <a:off x="9052331" y="1463040"/>
            <a:ext cx="2590724" cy="4526280"/>
          </a:xfrm>
          <a:prstGeom prst="rect">
            <a:avLst/>
          </a:prstGeom>
          <a:solidFill>
            <a:srgbClr val="F2F2F2"/>
          </a:solidFill>
          <a:ln w="12700">
            <a:solidFill>
              <a:srgbClr val="F2F2F2"/>
            </a:solidFill>
            <a:prstDash val="solid"/>
          </a:ln>
        </p:spPr>
      </p:sp>
      <p:pic>
        <p:nvPicPr>
          <p:cNvPr id="9" name="Final claw" descr="Final claw">    </p:cNvPr>
          <p:cNvPicPr>
            <a:picLocks noChangeAspect="1"/>
          </p:cNvPicPr>
          <p:nvPr/>
        </p:nvPicPr>
        <p:blipFill>
          <a:blip r:embed="rId2"/>
          <a:stretch>
            <a:fillRect/>
          </a:stretch>
        </p:blipFill>
        <p:spPr>
          <a:xfrm>
            <a:off x="9700973" y="1517904"/>
            <a:ext cx="1293441" cy="4416552"/>
          </a:xfrm>
          <a:prstGeom prst="rect">
            <a:avLst/>
          </a:prstGeom>
        </p:spPr>
      </p:pic>
      <p:sp>
        <p:nvSpPr>
          <p:cNvPr id="10" name="caption"/>
          <p:cNvSpPr txBox="1"/>
          <p:nvPr/>
        </p:nvSpPr>
        <p:spPr>
          <a:xfrm>
            <a:off x="6324448" y="606247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(CAD): a wall station and the claw</a:t>
            </a:r>
            <a:endParaRPr lang="en-US" sz="1100" dirty="0"/>
          </a:p>
        </p:txBody>
      </p:sp>
      <p:sp>
        <p:nvSpPr>
          <p:cNvPr id="12" name="label"/>
          <p:cNvSpPr txBox="1"/>
          <p:nvPr/>
        </p:nvSpPr>
        <p:spPr>
          <a:xfrm>
            <a:off x="548640" y="4709160"/>
            <a:ext cx="5364328" cy="274320"/>
          </a:xfrm>
          <a:prstGeom prst="rect">
            <a:avLst/>
          </a:prstGeom>
          <a:noFill/>
          <a:ln/>
        </p:spPr>
        <p:txBody>
          <a:bodyPr wrap="square" lIns="0" tIns="0" rIns="0" bIns="0" rtlCol="0" anchor="ctr"/>
          <a:lstStyle/>
          <a:p>
            <a:pPr algn="l" indent="0" marL="0">
              <a:buNone/>
            </a:pPr>
            <a:r>
              <a:rPr lang="en-US" sz="1400" b="1" dirty="0">
                <a:solidFill>
                  <a:srgbClr val="404040"/>
                </a:solidFill>
                <a:latin typeface="Arial" pitchFamily="34" charset="0"/>
                <a:ea typeface="Arial" pitchFamily="34" charset="-122"/>
                <a:cs typeface="Arial" pitchFamily="34" charset="-120"/>
              </a:rPr>
              <a:t>What “done” means</a:t>
            </a:r>
            <a:endParaRPr lang="en-US" sz="1400" dirty="0"/>
          </a:p>
        </p:txBody>
      </p:sp>
      <p:sp>
        <p:nvSpPr>
          <p:cNvPr id="13" name="gate 1"/>
          <p:cNvSpPr/>
          <p:nvPr/>
        </p:nvSpPr>
        <p:spPr>
          <a:xfrm>
            <a:off x="548640" y="5038344"/>
            <a:ext cx="1714957" cy="868680"/>
          </a:xfrm>
          <a:prstGeom prst="rect">
            <a:avLst/>
          </a:prstGeom>
          <a:solidFill>
            <a:srgbClr val="1F3A5F"/>
          </a:solidFill>
          <a:ln w="15875">
            <a:solidFill>
              <a:srgbClr val="1F3A5F"/>
            </a:solidFill>
            <a:prstDash val="solid"/>
          </a:ln>
        </p:spPr>
      </p:sp>
      <p:sp>
        <p:nvSpPr>
          <p:cNvPr id="14" name="Text 9"/>
          <p:cNvSpPr txBox="1"/>
          <p:nvPr/>
        </p:nvSpPr>
        <p:spPr>
          <a:xfrm>
            <a:off x="640080" y="5038344"/>
            <a:ext cx="1532077" cy="86868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Gate 1</a:t>
            </a:r>
            <a:endParaRPr lang="en-US" sz="1400" dirty="0"/>
          </a:p>
          <a:p>
            <a:pPr indent="0" marL="0">
              <a:buNone/>
            </a:pPr>
            <a:r>
              <a:rPr lang="en-US" sz="1250" dirty="0">
                <a:solidFill>
                  <a:srgbClr val="FFFFFF"/>
                </a:solidFill>
                <a:latin typeface="Arial" pitchFamily="34" charset="0"/>
                <a:ea typeface="Arial" pitchFamily="34" charset="-122"/>
                <a:cs typeface="Arial" pitchFamily="34" charset="-120"/>
              </a:rPr>
              <a:t>One station runs repeatably</a:t>
            </a:r>
            <a:endParaRPr lang="en-US" sz="1400" dirty="0"/>
          </a:p>
        </p:txBody>
      </p:sp>
      <p:sp>
        <p:nvSpPr>
          <p:cNvPr id="15" name="gate 2"/>
          <p:cNvSpPr/>
          <p:nvPr/>
        </p:nvSpPr>
        <p:spPr>
          <a:xfrm>
            <a:off x="2373325" y="5038344"/>
            <a:ext cx="1714957" cy="868680"/>
          </a:xfrm>
          <a:prstGeom prst="rect">
            <a:avLst/>
          </a:prstGeom>
          <a:solidFill>
            <a:srgbClr val="FFFFFF"/>
          </a:solidFill>
          <a:ln w="28575">
            <a:solidFill>
              <a:srgbClr val="1F3A5F"/>
            </a:solidFill>
            <a:prstDash val="solid"/>
          </a:ln>
        </p:spPr>
      </p:sp>
      <p:sp>
        <p:nvSpPr>
          <p:cNvPr id="16" name="Text 11"/>
          <p:cNvSpPr txBox="1"/>
          <p:nvPr/>
        </p:nvSpPr>
        <p:spPr>
          <a:xfrm>
            <a:off x="2464765"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2</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Stations hold and move 1 lb</a:t>
            </a:r>
            <a:endParaRPr lang="en-US" sz="1400" dirty="0"/>
          </a:p>
        </p:txBody>
      </p:sp>
      <p:sp>
        <p:nvSpPr>
          <p:cNvPr id="17" name="gate 3"/>
          <p:cNvSpPr/>
          <p:nvPr/>
        </p:nvSpPr>
        <p:spPr>
          <a:xfrm>
            <a:off x="4198010" y="5038344"/>
            <a:ext cx="1714957" cy="868680"/>
          </a:xfrm>
          <a:prstGeom prst="rect">
            <a:avLst/>
          </a:prstGeom>
          <a:solidFill>
            <a:srgbClr val="FFFFFF"/>
          </a:solidFill>
          <a:ln w="15875">
            <a:solidFill>
              <a:srgbClr val="BFBFBF"/>
            </a:solidFill>
            <a:prstDash val="solid"/>
          </a:ln>
        </p:spPr>
      </p:sp>
      <p:sp>
        <p:nvSpPr>
          <p:cNvPr id="18" name="Text 13"/>
          <p:cNvSpPr txBox="1"/>
          <p:nvPr/>
        </p:nvSpPr>
        <p:spPr>
          <a:xfrm>
            <a:off x="4289450"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3</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One garment into the hamper</a:t>
            </a:r>
            <a:endParaRPr lang="en-US" sz="1400" dirty="0"/>
          </a:p>
        </p:txBody>
      </p:sp>
      <p:sp>
        <p:nvSpPr>
          <p:cNvPr id="19" name="label"/>
          <p:cNvSpPr txBox="1"/>
          <p:nvPr/>
        </p:nvSpPr>
        <p:spPr>
          <a:xfrm>
            <a:off x="548640" y="5961888"/>
            <a:ext cx="5364328" cy="274320"/>
          </a:xfrm>
          <a:prstGeom prst="rect">
            <a:avLst/>
          </a:prstGeom>
          <a:noFill/>
          <a:ln/>
        </p:spPr>
        <p:txBody>
          <a:bodyPr wrap="square" lIns="0" tIns="0" rIns="0" bIns="0" rtlCol="0" anchor="ctr"/>
          <a:lstStyle/>
          <a:p>
            <a:pPr algn="l" indent="0" marL="0">
              <a:buNone/>
            </a:pPr>
            <a:r>
              <a:rPr lang="en-US" sz="1200" dirty="0">
                <a:solidFill>
                  <a:srgbClr val="4F6D8F"/>
                </a:solidFill>
                <a:latin typeface="Arial" pitchFamily="34" charset="0"/>
                <a:ea typeface="Arial" pitchFamily="34" charset="-122"/>
                <a:cs typeface="Arial" pitchFamily="34" charset="-120"/>
              </a:rPr>
              <a:t>Now: gate 1 passed on the bench, gate 2 is this week’s test</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Scope and Timeline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Shape 3"/>
          <p:cNvSpPr/>
          <p:nvPr/>
        </p:nvSpPr>
        <p:spPr>
          <a:xfrm>
            <a:off x="548640" y="1828800"/>
            <a:ext cx="11094415" cy="0"/>
          </a:xfrm>
          <a:prstGeom prst="line">
            <a:avLst/>
          </a:prstGeom>
          <a:noFill/>
          <a:ln w="19050">
            <a:solidFill>
              <a:srgbClr val="7F7F7F"/>
            </a:solidFill>
            <a:prstDash val="solid"/>
            <a:tailEnd type="triangle"/>
          </a:ln>
        </p:spPr>
      </p:sp>
      <p:sp>
        <p:nvSpPr>
          <p:cNvPr id="6" name="label"/>
          <p:cNvSpPr txBox="1"/>
          <p:nvPr/>
        </p:nvSpPr>
        <p:spPr>
          <a:xfrm>
            <a:off x="548640"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Jul 16</a:t>
            </a:r>
            <a:endParaRPr lang="en-US" sz="1500" dirty="0"/>
          </a:p>
        </p:txBody>
      </p:sp>
      <p:sp>
        <p:nvSpPr>
          <p:cNvPr id="7" name="Shape 5"/>
          <p:cNvSpPr/>
          <p:nvPr/>
        </p:nvSpPr>
        <p:spPr>
          <a:xfrm>
            <a:off x="566928" y="1755648"/>
            <a:ext cx="146304" cy="146304"/>
          </a:xfrm>
          <a:prstGeom prst="ellipse">
            <a:avLst/>
          </a:prstGeom>
          <a:solidFill>
            <a:srgbClr val="1F3A5F"/>
          </a:solidFill>
          <a:ln w="12700">
            <a:solidFill>
              <a:srgbClr val="1F3A5F"/>
            </a:solidFill>
            <a:prstDash val="solid"/>
          </a:ln>
        </p:spPr>
      </p:sp>
      <p:sp>
        <p:nvSpPr>
          <p:cNvPr id="8" name="stage 1"/>
          <p:cNvSpPr/>
          <p:nvPr/>
        </p:nvSpPr>
        <p:spPr>
          <a:xfrm>
            <a:off x="548640" y="2011680"/>
            <a:ext cx="2101840" cy="1600200"/>
          </a:xfrm>
          <a:prstGeom prst="rect">
            <a:avLst/>
          </a:prstGeom>
          <a:solidFill>
            <a:srgbClr val="FFFFFF"/>
          </a:solidFill>
          <a:ln w="12700">
            <a:solidFill>
              <a:srgbClr val="1F3A5F"/>
            </a:solidFill>
            <a:prstDash val="solid"/>
          </a:ln>
        </p:spPr>
      </p:sp>
      <p:sp>
        <p:nvSpPr>
          <p:cNvPr id="9" name="Text 7"/>
          <p:cNvSpPr txBox="1"/>
          <p:nvPr/>
        </p:nvSpPr>
        <p:spPr>
          <a:xfrm>
            <a:off x="640080"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Concept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Requirements, simulator, parts list</a:t>
            </a:r>
            <a:endParaRPr lang="en-US" sz="1500" dirty="0"/>
          </a:p>
        </p:txBody>
      </p:sp>
      <p:sp>
        <p:nvSpPr>
          <p:cNvPr id="10" name="Shape 8"/>
          <p:cNvSpPr/>
          <p:nvPr/>
        </p:nvSpPr>
        <p:spPr>
          <a:xfrm>
            <a:off x="640080" y="3282696"/>
            <a:ext cx="603504" cy="228600"/>
          </a:xfrm>
          <a:prstGeom prst="roundRect">
            <a:avLst>
              <a:gd name="adj" fmla="val 48000"/>
            </a:avLst>
          </a:prstGeom>
          <a:solidFill>
            <a:srgbClr val="1F3A5F"/>
          </a:solidFill>
          <a:ln w="12700">
            <a:solidFill>
              <a:srgbClr val="1F3A5F"/>
            </a:solidFill>
            <a:prstDash val="solid"/>
          </a:ln>
        </p:spPr>
      </p:sp>
      <p:sp>
        <p:nvSpPr>
          <p:cNvPr id="11" name="label"/>
          <p:cNvSpPr txBox="1"/>
          <p:nvPr/>
        </p:nvSpPr>
        <p:spPr>
          <a:xfrm>
            <a:off x="6400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2" name="label"/>
          <p:cNvSpPr txBox="1"/>
          <p:nvPr/>
        </p:nvSpPr>
        <p:spPr>
          <a:xfrm>
            <a:off x="2796784"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Aug 6 – Sep 2</a:t>
            </a:r>
            <a:endParaRPr lang="en-US" sz="1500" dirty="0"/>
          </a:p>
        </p:txBody>
      </p:sp>
      <p:sp>
        <p:nvSpPr>
          <p:cNvPr id="13" name="Shape 11"/>
          <p:cNvSpPr/>
          <p:nvPr/>
        </p:nvSpPr>
        <p:spPr>
          <a:xfrm>
            <a:off x="2815072" y="1755648"/>
            <a:ext cx="146304" cy="146304"/>
          </a:xfrm>
          <a:prstGeom prst="ellipse">
            <a:avLst/>
          </a:prstGeom>
          <a:solidFill>
            <a:srgbClr val="1F3A5F"/>
          </a:solidFill>
          <a:ln w="12700">
            <a:solidFill>
              <a:srgbClr val="1F3A5F"/>
            </a:solidFill>
            <a:prstDash val="solid"/>
          </a:ln>
        </p:spPr>
      </p:sp>
      <p:sp>
        <p:nvSpPr>
          <p:cNvPr id="14" name="stage 2"/>
          <p:cNvSpPr/>
          <p:nvPr/>
        </p:nvSpPr>
        <p:spPr>
          <a:xfrm>
            <a:off x="2796784" y="2011680"/>
            <a:ext cx="2101840" cy="1600200"/>
          </a:xfrm>
          <a:prstGeom prst="rect">
            <a:avLst/>
          </a:prstGeom>
          <a:solidFill>
            <a:srgbClr val="FFFFFF"/>
          </a:solidFill>
          <a:ln w="12700">
            <a:solidFill>
              <a:srgbClr val="1F3A5F"/>
            </a:solidFill>
            <a:prstDash val="solid"/>
          </a:ln>
        </p:spPr>
      </p:sp>
      <p:sp>
        <p:nvSpPr>
          <p:cNvPr id="15" name="Text 13"/>
          <p:cNvSpPr txBox="1"/>
          <p:nvPr/>
        </p:nvSpPr>
        <p:spPr>
          <a:xfrm>
            <a:off x="2888224"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1</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Corner plates, one central controller, finger claw</a:t>
            </a:r>
            <a:endParaRPr lang="en-US" sz="1500" dirty="0"/>
          </a:p>
        </p:txBody>
      </p:sp>
      <p:sp>
        <p:nvSpPr>
          <p:cNvPr id="16" name="Shape 14"/>
          <p:cNvSpPr/>
          <p:nvPr/>
        </p:nvSpPr>
        <p:spPr>
          <a:xfrm>
            <a:off x="2888224" y="3282696"/>
            <a:ext cx="603504" cy="228600"/>
          </a:xfrm>
          <a:prstGeom prst="roundRect">
            <a:avLst>
              <a:gd name="adj" fmla="val 48000"/>
            </a:avLst>
          </a:prstGeom>
          <a:solidFill>
            <a:srgbClr val="1F3A5F"/>
          </a:solidFill>
          <a:ln w="12700">
            <a:solidFill>
              <a:srgbClr val="1F3A5F"/>
            </a:solidFill>
            <a:prstDash val="solid"/>
          </a:ln>
        </p:spPr>
      </p:sp>
      <p:sp>
        <p:nvSpPr>
          <p:cNvPr id="17" name="label"/>
          <p:cNvSpPr txBox="1"/>
          <p:nvPr/>
        </p:nvSpPr>
        <p:spPr>
          <a:xfrm>
            <a:off x="2888224"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8" name="Shape 16"/>
          <p:cNvSpPr/>
          <p:nvPr/>
        </p:nvSpPr>
        <p:spPr>
          <a:xfrm>
            <a:off x="3546592" y="3282696"/>
            <a:ext cx="603504" cy="228600"/>
          </a:xfrm>
          <a:prstGeom prst="roundRect">
            <a:avLst>
              <a:gd name="adj" fmla="val 48000"/>
            </a:avLst>
          </a:prstGeom>
          <a:solidFill>
            <a:srgbClr val="4F6D8F"/>
          </a:solidFill>
          <a:ln w="12700">
            <a:solidFill>
              <a:srgbClr val="4F6D8F"/>
            </a:solidFill>
            <a:prstDash val="solid"/>
          </a:ln>
        </p:spPr>
      </p:sp>
      <p:sp>
        <p:nvSpPr>
          <p:cNvPr id="19" name="label"/>
          <p:cNvSpPr txBox="1"/>
          <p:nvPr/>
        </p:nvSpPr>
        <p:spPr>
          <a:xfrm>
            <a:off x="354659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20" name="Shape 18"/>
          <p:cNvSpPr/>
          <p:nvPr/>
        </p:nvSpPr>
        <p:spPr>
          <a:xfrm>
            <a:off x="4204960" y="3282696"/>
            <a:ext cx="603504" cy="228600"/>
          </a:xfrm>
          <a:prstGeom prst="roundRect">
            <a:avLst>
              <a:gd name="adj" fmla="val 48000"/>
            </a:avLst>
          </a:prstGeom>
          <a:solidFill>
            <a:srgbClr val="B23A2E"/>
          </a:solidFill>
          <a:ln w="12700">
            <a:solidFill>
              <a:srgbClr val="B23A2E"/>
            </a:solidFill>
            <a:prstDash val="solid"/>
          </a:ln>
        </p:spPr>
      </p:sp>
      <p:sp>
        <p:nvSpPr>
          <p:cNvPr id="21" name="label"/>
          <p:cNvSpPr txBox="1"/>
          <p:nvPr/>
        </p:nvSpPr>
        <p:spPr>
          <a:xfrm>
            <a:off x="420496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22" name="label"/>
          <p:cNvSpPr txBox="1"/>
          <p:nvPr/>
        </p:nvSpPr>
        <p:spPr>
          <a:xfrm>
            <a:off x="5044928"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Sep – Oct 6</a:t>
            </a:r>
            <a:endParaRPr lang="en-US" sz="1500" dirty="0"/>
          </a:p>
        </p:txBody>
      </p:sp>
      <p:sp>
        <p:nvSpPr>
          <p:cNvPr id="23" name="Shape 21"/>
          <p:cNvSpPr/>
          <p:nvPr/>
        </p:nvSpPr>
        <p:spPr>
          <a:xfrm>
            <a:off x="5063216" y="1755648"/>
            <a:ext cx="146304" cy="146304"/>
          </a:xfrm>
          <a:prstGeom prst="ellipse">
            <a:avLst/>
          </a:prstGeom>
          <a:solidFill>
            <a:srgbClr val="1F3A5F"/>
          </a:solidFill>
          <a:ln w="12700">
            <a:solidFill>
              <a:srgbClr val="1F3A5F"/>
            </a:solidFill>
            <a:prstDash val="solid"/>
          </a:ln>
        </p:spPr>
      </p:sp>
      <p:sp>
        <p:nvSpPr>
          <p:cNvPr id="24" name="stage 3"/>
          <p:cNvSpPr/>
          <p:nvPr/>
        </p:nvSpPr>
        <p:spPr>
          <a:xfrm>
            <a:off x="5044928" y="2011680"/>
            <a:ext cx="2101840" cy="1600200"/>
          </a:xfrm>
          <a:prstGeom prst="rect">
            <a:avLst/>
          </a:prstGeom>
          <a:solidFill>
            <a:srgbClr val="FFFFFF"/>
          </a:solidFill>
          <a:ln w="12700">
            <a:solidFill>
              <a:srgbClr val="1F3A5F"/>
            </a:solidFill>
            <a:prstDash val="solid"/>
          </a:ln>
        </p:spPr>
      </p:sp>
      <p:sp>
        <p:nvSpPr>
          <p:cNvPr id="25" name="Text 23"/>
          <p:cNvSpPr txBox="1"/>
          <p:nvPr/>
        </p:nvSpPr>
        <p:spPr>
          <a:xfrm>
            <a:off x="5136368"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Rethink</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Sensors per winch, wiring, line outlets</a:t>
            </a:r>
            <a:endParaRPr lang="en-US" sz="1500" dirty="0"/>
          </a:p>
        </p:txBody>
      </p:sp>
      <p:sp>
        <p:nvSpPr>
          <p:cNvPr id="26" name="Shape 24"/>
          <p:cNvSpPr/>
          <p:nvPr/>
        </p:nvSpPr>
        <p:spPr>
          <a:xfrm>
            <a:off x="5136368" y="3282696"/>
            <a:ext cx="603504" cy="228600"/>
          </a:xfrm>
          <a:prstGeom prst="roundRect">
            <a:avLst>
              <a:gd name="adj" fmla="val 48000"/>
            </a:avLst>
          </a:prstGeom>
          <a:solidFill>
            <a:srgbClr val="1F3A5F"/>
          </a:solidFill>
          <a:ln w="12700">
            <a:solidFill>
              <a:srgbClr val="1F3A5F"/>
            </a:solidFill>
            <a:prstDash val="solid"/>
          </a:ln>
        </p:spPr>
      </p:sp>
      <p:sp>
        <p:nvSpPr>
          <p:cNvPr id="27" name="label"/>
          <p:cNvSpPr txBox="1"/>
          <p:nvPr/>
        </p:nvSpPr>
        <p:spPr>
          <a:xfrm>
            <a:off x="513636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28" name="label"/>
          <p:cNvSpPr txBox="1"/>
          <p:nvPr/>
        </p:nvSpPr>
        <p:spPr>
          <a:xfrm>
            <a:off x="7293072"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7 – 21</a:t>
            </a:r>
            <a:endParaRPr lang="en-US" sz="1500" dirty="0"/>
          </a:p>
        </p:txBody>
      </p:sp>
      <p:sp>
        <p:nvSpPr>
          <p:cNvPr id="29" name="Shape 27"/>
          <p:cNvSpPr/>
          <p:nvPr/>
        </p:nvSpPr>
        <p:spPr>
          <a:xfrm>
            <a:off x="7311360" y="1755648"/>
            <a:ext cx="146304" cy="146304"/>
          </a:xfrm>
          <a:prstGeom prst="ellipse">
            <a:avLst/>
          </a:prstGeom>
          <a:solidFill>
            <a:srgbClr val="1F3A5F"/>
          </a:solidFill>
          <a:ln w="12700">
            <a:solidFill>
              <a:srgbClr val="1F3A5F"/>
            </a:solidFill>
            <a:prstDash val="solid"/>
          </a:ln>
        </p:spPr>
      </p:sp>
      <p:sp>
        <p:nvSpPr>
          <p:cNvPr id="30" name="stage 4"/>
          <p:cNvSpPr/>
          <p:nvPr/>
        </p:nvSpPr>
        <p:spPr>
          <a:xfrm>
            <a:off x="7293072" y="2011680"/>
            <a:ext cx="2101840" cy="1600200"/>
          </a:xfrm>
          <a:prstGeom prst="rect">
            <a:avLst/>
          </a:prstGeom>
          <a:solidFill>
            <a:srgbClr val="FFFFFF"/>
          </a:solidFill>
          <a:ln w="12700">
            <a:solidFill>
              <a:srgbClr val="1F3A5F"/>
            </a:solidFill>
            <a:prstDash val="solid"/>
          </a:ln>
        </p:spPr>
      </p:sp>
      <p:sp>
        <p:nvSpPr>
          <p:cNvPr id="31" name="Text 29"/>
          <p:cNvSpPr txBox="1"/>
          <p:nvPr/>
        </p:nvSpPr>
        <p:spPr>
          <a:xfrm>
            <a:off x="7384512"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2 → final</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SolidWorks: station v1→v3, spool v1→v3, claw → four-bar</a:t>
            </a:r>
            <a:endParaRPr lang="en-US" sz="1500" dirty="0"/>
          </a:p>
        </p:txBody>
      </p:sp>
      <p:sp>
        <p:nvSpPr>
          <p:cNvPr id="32" name="Shape 30"/>
          <p:cNvSpPr/>
          <p:nvPr/>
        </p:nvSpPr>
        <p:spPr>
          <a:xfrm>
            <a:off x="7384512" y="3282696"/>
            <a:ext cx="603504" cy="228600"/>
          </a:xfrm>
          <a:prstGeom prst="roundRect">
            <a:avLst>
              <a:gd name="adj" fmla="val 48000"/>
            </a:avLst>
          </a:prstGeom>
          <a:solidFill>
            <a:srgbClr val="1F3A5F"/>
          </a:solidFill>
          <a:ln w="12700">
            <a:solidFill>
              <a:srgbClr val="1F3A5F"/>
            </a:solidFill>
            <a:prstDash val="solid"/>
          </a:ln>
        </p:spPr>
      </p:sp>
      <p:sp>
        <p:nvSpPr>
          <p:cNvPr id="33" name="label"/>
          <p:cNvSpPr txBox="1"/>
          <p:nvPr/>
        </p:nvSpPr>
        <p:spPr>
          <a:xfrm>
            <a:off x="738451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34" name="Shape 32"/>
          <p:cNvSpPr/>
          <p:nvPr/>
        </p:nvSpPr>
        <p:spPr>
          <a:xfrm>
            <a:off x="8042880" y="3282696"/>
            <a:ext cx="603504" cy="228600"/>
          </a:xfrm>
          <a:prstGeom prst="roundRect">
            <a:avLst>
              <a:gd name="adj" fmla="val 48000"/>
            </a:avLst>
          </a:prstGeom>
          <a:solidFill>
            <a:srgbClr val="4F6D8F"/>
          </a:solidFill>
          <a:ln w="12700">
            <a:solidFill>
              <a:srgbClr val="4F6D8F"/>
            </a:solidFill>
            <a:prstDash val="solid"/>
          </a:ln>
        </p:spPr>
      </p:sp>
      <p:sp>
        <p:nvSpPr>
          <p:cNvPr id="35" name="label"/>
          <p:cNvSpPr txBox="1"/>
          <p:nvPr/>
        </p:nvSpPr>
        <p:spPr>
          <a:xfrm>
            <a:off x="80428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36" name="Shape 34"/>
          <p:cNvSpPr/>
          <p:nvPr/>
        </p:nvSpPr>
        <p:spPr>
          <a:xfrm>
            <a:off x="8701248" y="3282696"/>
            <a:ext cx="603504" cy="228600"/>
          </a:xfrm>
          <a:prstGeom prst="roundRect">
            <a:avLst>
              <a:gd name="adj" fmla="val 48000"/>
            </a:avLst>
          </a:prstGeom>
          <a:solidFill>
            <a:srgbClr val="B23A2E"/>
          </a:solidFill>
          <a:ln w="12700">
            <a:solidFill>
              <a:srgbClr val="B23A2E"/>
            </a:solidFill>
            <a:prstDash val="solid"/>
          </a:ln>
        </p:spPr>
      </p:sp>
      <p:sp>
        <p:nvSpPr>
          <p:cNvPr id="37" name="label"/>
          <p:cNvSpPr txBox="1"/>
          <p:nvPr/>
        </p:nvSpPr>
        <p:spPr>
          <a:xfrm>
            <a:off x="870124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38" name="label"/>
          <p:cNvSpPr txBox="1"/>
          <p:nvPr/>
        </p:nvSpPr>
        <p:spPr>
          <a:xfrm>
            <a:off x="9541215"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22 – 27</a:t>
            </a:r>
            <a:endParaRPr lang="en-US" sz="1500" dirty="0"/>
          </a:p>
        </p:txBody>
      </p:sp>
      <p:sp>
        <p:nvSpPr>
          <p:cNvPr id="39" name="Shape 37"/>
          <p:cNvSpPr/>
          <p:nvPr/>
        </p:nvSpPr>
        <p:spPr>
          <a:xfrm>
            <a:off x="9559503" y="1755648"/>
            <a:ext cx="146304" cy="146304"/>
          </a:xfrm>
          <a:prstGeom prst="ellipse">
            <a:avLst/>
          </a:prstGeom>
          <a:solidFill>
            <a:srgbClr val="1F3A5F"/>
          </a:solidFill>
          <a:ln w="12700">
            <a:solidFill>
              <a:srgbClr val="1F3A5F"/>
            </a:solidFill>
            <a:prstDash val="solid"/>
          </a:ln>
        </p:spPr>
      </p:sp>
      <p:sp>
        <p:nvSpPr>
          <p:cNvPr id="40" name="stage 5"/>
          <p:cNvSpPr/>
          <p:nvPr/>
        </p:nvSpPr>
        <p:spPr>
          <a:xfrm>
            <a:off x="9541215" y="2011680"/>
            <a:ext cx="2101840" cy="1600200"/>
          </a:xfrm>
          <a:prstGeom prst="rect">
            <a:avLst/>
          </a:prstGeom>
          <a:solidFill>
            <a:srgbClr val="FFFFFF"/>
          </a:solidFill>
          <a:ln w="12700">
            <a:solidFill>
              <a:srgbClr val="1F3A5F"/>
            </a:solidFill>
            <a:prstDash val="solid"/>
          </a:ln>
        </p:spPr>
      </p:sp>
      <p:sp>
        <p:nvSpPr>
          <p:cNvPr id="41" name="Text 39"/>
          <p:cNvSpPr txBox="1"/>
          <p:nvPr/>
        </p:nvSpPr>
        <p:spPr>
          <a:xfrm>
            <a:off x="9632655"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Build and test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Print, wire, three-station test</a:t>
            </a:r>
            <a:endParaRPr lang="en-US" sz="1500" dirty="0"/>
          </a:p>
        </p:txBody>
      </p:sp>
      <p:sp>
        <p:nvSpPr>
          <p:cNvPr id="42" name="Shape 40"/>
          <p:cNvSpPr/>
          <p:nvPr/>
        </p:nvSpPr>
        <p:spPr>
          <a:xfrm>
            <a:off x="9632655" y="3282696"/>
            <a:ext cx="603504" cy="228600"/>
          </a:xfrm>
          <a:prstGeom prst="roundRect">
            <a:avLst>
              <a:gd name="adj" fmla="val 48000"/>
            </a:avLst>
          </a:prstGeom>
          <a:solidFill>
            <a:srgbClr val="4F6D8F"/>
          </a:solidFill>
          <a:ln w="12700">
            <a:solidFill>
              <a:srgbClr val="4F6D8F"/>
            </a:solidFill>
            <a:prstDash val="solid"/>
          </a:ln>
        </p:spPr>
      </p:sp>
      <p:sp>
        <p:nvSpPr>
          <p:cNvPr id="43" name="label"/>
          <p:cNvSpPr txBox="1"/>
          <p:nvPr/>
        </p:nvSpPr>
        <p:spPr>
          <a:xfrm>
            <a:off x="9632655"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44" name="Shape 42"/>
          <p:cNvSpPr/>
          <p:nvPr/>
        </p:nvSpPr>
        <p:spPr>
          <a:xfrm>
            <a:off x="10291023" y="3282696"/>
            <a:ext cx="603504" cy="228600"/>
          </a:xfrm>
          <a:prstGeom prst="roundRect">
            <a:avLst>
              <a:gd name="adj" fmla="val 48000"/>
            </a:avLst>
          </a:prstGeom>
          <a:solidFill>
            <a:srgbClr val="B23A2E"/>
          </a:solidFill>
          <a:ln w="12700">
            <a:solidFill>
              <a:srgbClr val="B23A2E"/>
            </a:solidFill>
            <a:prstDash val="solid"/>
          </a:ln>
        </p:spPr>
      </p:sp>
      <p:sp>
        <p:nvSpPr>
          <p:cNvPr id="45" name="label"/>
          <p:cNvSpPr txBox="1"/>
          <p:nvPr/>
        </p:nvSpPr>
        <p:spPr>
          <a:xfrm>
            <a:off x="10291023"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46" name="Me: a solo project (team of one) header"/>
          <p:cNvSpPr/>
          <p:nvPr/>
        </p:nvSpPr>
        <p:spPr>
          <a:xfrm>
            <a:off x="548640" y="3840480"/>
            <a:ext cx="6400800" cy="411480"/>
          </a:xfrm>
          <a:prstGeom prst="rect">
            <a:avLst/>
          </a:prstGeom>
          <a:solidFill>
            <a:srgbClr val="1F3A5F"/>
          </a:solidFill>
          <a:ln w="12700">
            <a:solidFill>
              <a:srgbClr val="1F3A5F"/>
            </a:solidFill>
            <a:prstDash val="solid"/>
          </a:ln>
        </p:spPr>
      </p:sp>
      <p:sp>
        <p:nvSpPr>
          <p:cNvPr id="47" name="label"/>
          <p:cNvSpPr txBox="1"/>
          <p:nvPr/>
        </p:nvSpPr>
        <p:spPr>
          <a:xfrm>
            <a:off x="685800" y="3840480"/>
            <a:ext cx="6126480"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Me: a solo project (team of one)</a:t>
            </a:r>
            <a:endParaRPr lang="en-US" sz="1600" dirty="0"/>
          </a:p>
        </p:txBody>
      </p:sp>
      <p:sp>
        <p:nvSpPr>
          <p:cNvPr id="48" name="Shape 46"/>
          <p:cNvSpPr/>
          <p:nvPr/>
        </p:nvSpPr>
        <p:spPr>
          <a:xfrm>
            <a:off x="548640" y="4251960"/>
            <a:ext cx="6400800" cy="2011680"/>
          </a:xfrm>
          <a:prstGeom prst="rect">
            <a:avLst/>
          </a:prstGeom>
          <a:solidFill>
            <a:srgbClr val="FFFFFF"/>
          </a:solidFill>
          <a:ln w="12700">
            <a:solidFill>
              <a:srgbClr val="1F3A5F"/>
            </a:solidFill>
            <a:prstDash val="solid"/>
          </a:ln>
        </p:spPr>
      </p:sp>
      <p:sp>
        <p:nvSpPr>
          <p:cNvPr id="49" name="my work"/>
          <p:cNvSpPr txBox="1"/>
          <p:nvPr/>
        </p:nvSpPr>
        <p:spPr>
          <a:xfrm>
            <a:off x="685800" y="4343400"/>
            <a:ext cx="6126480"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Requirements, calculations and test plans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All CAD (computer-aided design) in SolidWorks: stations, spool, claw, fin</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3D printing and fits; the heat fin on the shear and manual mill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Wiring, soldering, electronics bring-up and debugging</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Control software: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[confirm the parts you wrote]</a:t>
            </a:r>
            <a:endParaRPr lang="en-US" sz="1500" dirty="0"/>
          </a:p>
        </p:txBody>
      </p:sp>
      <p:sp>
        <p:nvSpPr>
          <p:cNvPr id="50" name="Bought or outside header"/>
          <p:cNvSpPr/>
          <p:nvPr/>
        </p:nvSpPr>
        <p:spPr>
          <a:xfrm>
            <a:off x="7114032" y="3840480"/>
            <a:ext cx="4529023" cy="411480"/>
          </a:xfrm>
          <a:prstGeom prst="rect">
            <a:avLst/>
          </a:prstGeom>
          <a:solidFill>
            <a:srgbClr val="7F7F7F"/>
          </a:solidFill>
          <a:ln w="12700">
            <a:solidFill>
              <a:srgbClr val="7F7F7F"/>
            </a:solidFill>
            <a:prstDash val="solid"/>
          </a:ln>
        </p:spPr>
      </p:sp>
      <p:sp>
        <p:nvSpPr>
          <p:cNvPr id="51" name="label"/>
          <p:cNvSpPr txBox="1"/>
          <p:nvPr/>
        </p:nvSpPr>
        <p:spPr>
          <a:xfrm>
            <a:off x="7251192" y="3840480"/>
            <a:ext cx="4254703"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Bought or outside</a:t>
            </a:r>
            <a:endParaRPr lang="en-US" sz="1600" dirty="0"/>
          </a:p>
        </p:txBody>
      </p:sp>
      <p:sp>
        <p:nvSpPr>
          <p:cNvPr id="52" name="Shape 50"/>
          <p:cNvSpPr/>
          <p:nvPr/>
        </p:nvSpPr>
        <p:spPr>
          <a:xfrm>
            <a:off x="7114032" y="4251960"/>
            <a:ext cx="4529023" cy="2011680"/>
          </a:xfrm>
          <a:prstGeom prst="rect">
            <a:avLst/>
          </a:prstGeom>
          <a:solidFill>
            <a:srgbClr val="FFFFFF"/>
          </a:solidFill>
          <a:ln w="12700">
            <a:solidFill>
              <a:srgbClr val="7F7F7F"/>
            </a:solidFill>
            <a:prstDash val="solid"/>
          </a:ln>
        </p:spPr>
      </p:sp>
      <p:sp>
        <p:nvSpPr>
          <p:cNvPr id="53" name="bought"/>
          <p:cNvSpPr txBox="1"/>
          <p:nvPr/>
        </p:nvSpPr>
        <p:spPr>
          <a:xfrm>
            <a:off x="7251192" y="4343400"/>
            <a:ext cx="4254703"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Stepper motors, drivers, controller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Servo, camera, battery, encoder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Garment detector: YOLO-World, an open-source model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Help: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[shop access or mentors, if any]</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It Works</a:t>
            </a:r>
            <a:endParaRPr lang="en-US" sz="3000" dirty="0"/>
          </a:p>
        </p:txBody>
      </p:sp>
      <p:sp>
        <p:nvSpPr>
          <p:cNvPr id="4" name="status chip"/>
          <p:cNvSpPr/>
          <p:nvPr/>
        </p:nvSpPr>
        <p:spPr>
          <a:xfrm>
            <a:off x="9082735" y="621792"/>
            <a:ext cx="256032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9082735" y="621792"/>
            <a:ext cx="256032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 end to end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254886"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Four wall stations: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winch, spool, encoder, heat fin, their own controller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One 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 four lines: gripper, camera, battery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Laptop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plans every move and checks cable tension and obstacles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Phone: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start, PAUSE, and a “yes” before every move</a:t>
            </a:r>
            <a:endParaRPr lang="en-US" sz="2000" dirty="0"/>
          </a:p>
        </p:txBody>
      </p:sp>
      <p:sp>
        <p:nvSpPr>
          <p:cNvPr id="8" name="layer 1"/>
          <p:cNvSpPr/>
          <p:nvPr/>
        </p:nvSpPr>
        <p:spPr>
          <a:xfrm>
            <a:off x="5215006" y="1463040"/>
            <a:ext cx="4416369" cy="716890"/>
          </a:xfrm>
          <a:prstGeom prst="rect">
            <a:avLst/>
          </a:prstGeom>
          <a:solidFill>
            <a:srgbClr val="FFFFFF"/>
          </a:solidFill>
          <a:ln w="15875">
            <a:solidFill>
              <a:srgbClr val="1F3A5F"/>
            </a:solidFill>
            <a:prstDash val="solid"/>
          </a:ln>
        </p:spPr>
      </p:sp>
      <p:sp>
        <p:nvSpPr>
          <p:cNvPr id="9" name="Text 7"/>
          <p:cNvSpPr txBox="1"/>
          <p:nvPr/>
        </p:nvSpPr>
        <p:spPr>
          <a:xfrm>
            <a:off x="5352166" y="146304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Phone app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Start, PAUSE, and a “yes” before every move</a:t>
            </a:r>
            <a:endParaRPr lang="en-US" sz="1400" dirty="0"/>
          </a:p>
        </p:txBody>
      </p:sp>
      <p:sp>
        <p:nvSpPr>
          <p:cNvPr id="10" name="Shape 8"/>
          <p:cNvSpPr/>
          <p:nvPr/>
        </p:nvSpPr>
        <p:spPr>
          <a:xfrm>
            <a:off x="7423191" y="2198218"/>
            <a:ext cx="0" cy="164592"/>
          </a:xfrm>
          <a:prstGeom prst="line">
            <a:avLst/>
          </a:prstGeom>
          <a:noFill/>
          <a:ln w="19050">
            <a:solidFill>
              <a:srgbClr val="7F7F7F"/>
            </a:solidFill>
            <a:prstDash val="solid"/>
            <a:tailEnd type="triangle"/>
          </a:ln>
        </p:spPr>
      </p:sp>
      <p:sp>
        <p:nvSpPr>
          <p:cNvPr id="11" name="layer 2"/>
          <p:cNvSpPr/>
          <p:nvPr/>
        </p:nvSpPr>
        <p:spPr>
          <a:xfrm>
            <a:off x="5215006" y="2381098"/>
            <a:ext cx="4416369" cy="716890"/>
          </a:xfrm>
          <a:prstGeom prst="rect">
            <a:avLst/>
          </a:prstGeom>
          <a:solidFill>
            <a:srgbClr val="F2F2F4"/>
          </a:solidFill>
          <a:ln w="15875">
            <a:solidFill>
              <a:srgbClr val="1F3A5F"/>
            </a:solidFill>
            <a:prstDash val="solid"/>
          </a:ln>
        </p:spPr>
      </p:sp>
      <p:sp>
        <p:nvSpPr>
          <p:cNvPr id="12" name="Text 10"/>
          <p:cNvSpPr txBox="1"/>
          <p:nvPr/>
        </p:nvSpPr>
        <p:spPr>
          <a:xfrm>
            <a:off x="5352166" y="2381098"/>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Supervisor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One robot state; refuses commands that do not fit it</a:t>
            </a:r>
            <a:endParaRPr lang="en-US" sz="1400" dirty="0"/>
          </a:p>
        </p:txBody>
      </p:sp>
      <p:sp>
        <p:nvSpPr>
          <p:cNvPr id="13" name="Shape 11"/>
          <p:cNvSpPr/>
          <p:nvPr/>
        </p:nvSpPr>
        <p:spPr>
          <a:xfrm>
            <a:off x="7423191" y="3116275"/>
            <a:ext cx="0" cy="164592"/>
          </a:xfrm>
          <a:prstGeom prst="line">
            <a:avLst/>
          </a:prstGeom>
          <a:noFill/>
          <a:ln w="19050">
            <a:solidFill>
              <a:srgbClr val="7F7F7F"/>
            </a:solidFill>
            <a:prstDash val="solid"/>
            <a:tailEnd type="triangle"/>
          </a:ln>
        </p:spPr>
      </p:sp>
      <p:sp>
        <p:nvSpPr>
          <p:cNvPr id="14" name="layer 3"/>
          <p:cNvSpPr/>
          <p:nvPr/>
        </p:nvSpPr>
        <p:spPr>
          <a:xfrm>
            <a:off x="5215006" y="3299155"/>
            <a:ext cx="4416369" cy="716890"/>
          </a:xfrm>
          <a:prstGeom prst="rect">
            <a:avLst/>
          </a:prstGeom>
          <a:solidFill>
            <a:srgbClr val="F2F2F4"/>
          </a:solidFill>
          <a:ln w="15875">
            <a:solidFill>
              <a:srgbClr val="1F3A5F"/>
            </a:solidFill>
            <a:prstDash val="solid"/>
          </a:ln>
        </p:spPr>
      </p:sp>
      <p:sp>
        <p:nvSpPr>
          <p:cNvPr id="15" name="Text 13"/>
          <p:cNvSpPr txBox="1"/>
          <p:nvPr/>
        </p:nvSpPr>
        <p:spPr>
          <a:xfrm>
            <a:off x="5352166" y="3299155"/>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Startup and tasks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Calibrate; then scan, grip, check, deliver</a:t>
            </a:r>
            <a:endParaRPr lang="en-US" sz="1400" dirty="0"/>
          </a:p>
        </p:txBody>
      </p:sp>
      <p:sp>
        <p:nvSpPr>
          <p:cNvPr id="16" name="Shape 14"/>
          <p:cNvSpPr/>
          <p:nvPr/>
        </p:nvSpPr>
        <p:spPr>
          <a:xfrm>
            <a:off x="7423191" y="4034333"/>
            <a:ext cx="0" cy="164592"/>
          </a:xfrm>
          <a:prstGeom prst="line">
            <a:avLst/>
          </a:prstGeom>
          <a:noFill/>
          <a:ln w="19050">
            <a:solidFill>
              <a:srgbClr val="7F7F7F"/>
            </a:solidFill>
            <a:prstDash val="solid"/>
            <a:tailEnd type="triangle"/>
          </a:ln>
        </p:spPr>
      </p:sp>
      <p:sp>
        <p:nvSpPr>
          <p:cNvPr id="17" name="layer 4"/>
          <p:cNvSpPr/>
          <p:nvPr/>
        </p:nvSpPr>
        <p:spPr>
          <a:xfrm>
            <a:off x="5215006" y="4217213"/>
            <a:ext cx="4416369" cy="716890"/>
          </a:xfrm>
          <a:prstGeom prst="rect">
            <a:avLst/>
          </a:prstGeom>
          <a:solidFill>
            <a:srgbClr val="F2F2F4"/>
          </a:solidFill>
          <a:ln w="15875">
            <a:solidFill>
              <a:srgbClr val="1F3A5F"/>
            </a:solidFill>
            <a:prstDash val="solid"/>
          </a:ln>
        </p:spPr>
      </p:sp>
      <p:sp>
        <p:nvSpPr>
          <p:cNvPr id="18" name="Text 16"/>
          <p:cNvSpPr txBox="1"/>
          <p:nvPr/>
        </p:nvSpPr>
        <p:spPr>
          <a:xfrm>
            <a:off x="5352166" y="4217213"/>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Planner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Checks every path point, then streams time-stamped moves</a:t>
            </a:r>
            <a:endParaRPr lang="en-US" sz="1400" dirty="0"/>
          </a:p>
        </p:txBody>
      </p:sp>
      <p:sp>
        <p:nvSpPr>
          <p:cNvPr id="19" name="Shape 17"/>
          <p:cNvSpPr/>
          <p:nvPr/>
        </p:nvSpPr>
        <p:spPr>
          <a:xfrm>
            <a:off x="7423191" y="4952390"/>
            <a:ext cx="0" cy="164592"/>
          </a:xfrm>
          <a:prstGeom prst="line">
            <a:avLst/>
          </a:prstGeom>
          <a:noFill/>
          <a:ln w="19050">
            <a:solidFill>
              <a:srgbClr val="7F7F7F"/>
            </a:solidFill>
            <a:prstDash val="solid"/>
            <a:tailEnd type="triangle"/>
          </a:ln>
        </p:spPr>
      </p:sp>
      <p:sp>
        <p:nvSpPr>
          <p:cNvPr id="20" name="layer 5"/>
          <p:cNvSpPr/>
          <p:nvPr/>
        </p:nvSpPr>
        <p:spPr>
          <a:xfrm>
            <a:off x="5215006" y="5135270"/>
            <a:ext cx="4416369" cy="716890"/>
          </a:xfrm>
          <a:prstGeom prst="rect">
            <a:avLst/>
          </a:prstGeom>
          <a:solidFill>
            <a:srgbClr val="FFFFFF"/>
          </a:solidFill>
          <a:ln w="15875">
            <a:solidFill>
              <a:srgbClr val="1F3A5F"/>
            </a:solidFill>
            <a:prstDash val="solid"/>
          </a:ln>
        </p:spPr>
      </p:sp>
      <p:sp>
        <p:nvSpPr>
          <p:cNvPr id="21" name="Text 19"/>
          <p:cNvSpPr txBox="1"/>
          <p:nvPr/>
        </p:nvSpPr>
        <p:spPr>
          <a:xfrm>
            <a:off x="5352166" y="513527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Wall stations  ·  a controller in each</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Step the motor, watch the encoder, hold if the link drops</a:t>
            </a:r>
            <a:endParaRPr lang="en-US" sz="1400" dirty="0"/>
          </a:p>
        </p:txBody>
      </p:sp>
      <p:sp>
        <p:nvSpPr>
          <p:cNvPr id="22" name="claw"/>
          <p:cNvSpPr/>
          <p:nvPr/>
        </p:nvSpPr>
        <p:spPr>
          <a:xfrm>
            <a:off x="10042855" y="3207715"/>
            <a:ext cx="1600200" cy="899770"/>
          </a:xfrm>
          <a:prstGeom prst="rect">
            <a:avLst/>
          </a:prstGeom>
          <a:solidFill>
            <a:srgbClr val="FFFFFF"/>
          </a:solidFill>
          <a:ln w="15875">
            <a:solidFill>
              <a:srgbClr val="1F3A5F"/>
            </a:solidFill>
            <a:prstDash val="solid"/>
          </a:ln>
        </p:spPr>
      </p:sp>
      <p:sp>
        <p:nvSpPr>
          <p:cNvPr id="23" name="Text 21"/>
          <p:cNvSpPr txBox="1"/>
          <p:nvPr/>
        </p:nvSpPr>
        <p:spPr>
          <a:xfrm>
            <a:off x="10134295" y="3207715"/>
            <a:ext cx="1417320" cy="89977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Claw</a:t>
            </a:r>
            <a:endParaRPr lang="en-US" sz="1400" dirty="0"/>
          </a:p>
          <a:p>
            <a:pPr indent="0" marL="0">
              <a:buNone/>
            </a:pPr>
            <a:r>
              <a:rPr lang="en-US" sz="1150" dirty="0">
                <a:solidFill>
                  <a:srgbClr val="000000"/>
                </a:solidFill>
                <a:latin typeface="Arial" pitchFamily="34" charset="0"/>
                <a:ea typeface="Arial" pitchFamily="34" charset="-122"/>
                <a:cs typeface="Arial" pitchFamily="34" charset="-120"/>
              </a:rPr>
              <a:t>sends camera frames; grips only when approved</a:t>
            </a:r>
            <a:endParaRPr lang="en-US" sz="1400" dirty="0"/>
          </a:p>
        </p:txBody>
      </p:sp>
      <p:sp>
        <p:nvSpPr>
          <p:cNvPr id="24" name="Shape 22"/>
          <p:cNvSpPr/>
          <p:nvPr/>
        </p:nvSpPr>
        <p:spPr>
          <a:xfrm>
            <a:off x="9667951" y="3657600"/>
            <a:ext cx="338328" cy="0"/>
          </a:xfrm>
          <a:prstGeom prst="line">
            <a:avLst/>
          </a:prstGeom>
          <a:noFill/>
          <a:ln w="19050">
            <a:solidFill>
              <a:srgbClr val="7F7F7F"/>
            </a:solidFill>
            <a:prstDash val="solid"/>
            <a:headEnd type="triangle"/>
            <a:tailEnd type="triangle"/>
          </a:ln>
        </p:spPr>
      </p:sp>
      <p:sp>
        <p:nvSpPr>
          <p:cNvPr id="25" name="layer note"/>
          <p:cNvSpPr txBox="1"/>
          <p:nvPr/>
        </p:nvSpPr>
        <p:spPr>
          <a:xfrm>
            <a:off x="5215006" y="5943600"/>
            <a:ext cx="6428049"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Commands flow down; status and camera frames flow back up.</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I’m Optimizing</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Lift capacity tile"/>
          <p:cNvSpPr/>
          <p:nvPr/>
        </p:nvSpPr>
        <p:spPr>
          <a:xfrm>
            <a:off x="548640" y="1463040"/>
            <a:ext cx="2650160" cy="2029968"/>
          </a:xfrm>
          <a:prstGeom prst="rect">
            <a:avLst/>
          </a:prstGeom>
          <a:solidFill>
            <a:srgbClr val="FFFFFF"/>
          </a:solidFill>
          <a:ln w="12700">
            <a:solidFill>
              <a:srgbClr val="BFBFBF"/>
            </a:solidFill>
            <a:prstDash val="solid"/>
          </a:ln>
        </p:spPr>
      </p:sp>
      <p:sp>
        <p:nvSpPr>
          <p:cNvPr id="6" name="Lift capacity status bar"/>
          <p:cNvSpPr/>
          <p:nvPr/>
        </p:nvSpPr>
        <p:spPr>
          <a:xfrm>
            <a:off x="548640" y="1463040"/>
            <a:ext cx="2650160" cy="91440"/>
          </a:xfrm>
          <a:prstGeom prst="rect">
            <a:avLst/>
          </a:prstGeom>
          <a:solidFill>
            <a:srgbClr val="B23A2E"/>
          </a:solidFill>
          <a:ln w="12700">
            <a:solidFill>
              <a:srgbClr val="B23A2E"/>
            </a:solidFill>
            <a:prstDash val="solid"/>
          </a:ln>
        </p:spPr>
      </p:sp>
      <p:sp>
        <p:nvSpPr>
          <p:cNvPr id="7" name="label"/>
          <p:cNvSpPr txBox="1"/>
          <p:nvPr/>
        </p:nvSpPr>
        <p:spPr>
          <a:xfrm>
            <a:off x="685800" y="1618488"/>
            <a:ext cx="2375840" cy="219456"/>
          </a:xfrm>
          <a:prstGeom prst="rect">
            <a:avLst/>
          </a:prstGeom>
          <a:noFill/>
          <a:ln/>
        </p:spPr>
        <p:txBody>
          <a:bodyPr wrap="square" lIns="0" tIns="0" rIns="0" bIns="0" rtlCol="0" anchor="ctr"/>
          <a:lstStyle/>
          <a:p>
            <a:pPr algn="l"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p>
        </p:txBody>
      </p:sp>
      <p:sp>
        <p:nvSpPr>
          <p:cNvPr id="8" name="label"/>
          <p:cNvSpPr txBox="1"/>
          <p:nvPr/>
        </p:nvSpPr>
        <p:spPr>
          <a:xfrm>
            <a:off x="685800"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Lift capacity</a:t>
            </a:r>
            <a:endParaRPr lang="en-US" sz="1700" dirty="0"/>
          </a:p>
        </p:txBody>
      </p:sp>
      <p:sp>
        <p:nvSpPr>
          <p:cNvPr id="9" name="label"/>
          <p:cNvSpPr txBox="1"/>
          <p:nvPr/>
        </p:nvSpPr>
        <p:spPr>
          <a:xfrm>
            <a:off x="685800"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10" name="label"/>
          <p:cNvSpPr txBox="1"/>
          <p:nvPr/>
        </p:nvSpPr>
        <p:spPr>
          <a:xfrm>
            <a:off x="685800"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Claw + jeans anywhere: 1.76 kg</a:t>
            </a:r>
            <a:endParaRPr lang="en-US" sz="1300" dirty="0"/>
          </a:p>
        </p:txBody>
      </p:sp>
      <p:sp>
        <p:nvSpPr>
          <p:cNvPr id="11" name="label"/>
          <p:cNvSpPr txBox="1"/>
          <p:nvPr/>
        </p:nvSpPr>
        <p:spPr>
          <a:xfrm>
            <a:off x="685800" y="2889504"/>
            <a:ext cx="2375840" cy="530352"/>
          </a:xfrm>
          <a:prstGeom prst="rect">
            <a:avLst/>
          </a:prstGeom>
          <a:noFill/>
          <a:ln/>
        </p:spPr>
        <p:txBody>
          <a:bodyPr wrap="square" lIns="0" tIns="0" rIns="0" bIns="0" rtlCol="0" anchor="t"/>
          <a:lstStyle/>
          <a:p>
            <a:pPr algn="l" indent="0" marL="0">
              <a:buNone/>
            </a:pPr>
            <a:r>
              <a:rPr lang="en-US" sz="1300" b="1" dirty="0">
                <a:solidFill>
                  <a:srgbClr val="B23A2E"/>
                </a:solidFill>
                <a:latin typeface="Arial" pitchFamily="34" charset="0"/>
                <a:ea typeface="Arial" pitchFamily="34" charset="-122"/>
                <a:cs typeface="Arial" pitchFamily="34" charset="-120"/>
              </a:rPr>
              <a:t>Now:</a:t>
            </a:r>
            <a:pPr algn="l" indent="0" marL="0">
              <a:buNone/>
            </a:pPr>
            <a:r>
              <a:rPr lang="en-US" sz="1300" dirty="0">
                <a:solidFill>
                  <a:srgbClr val="B23A2E"/>
                </a:solidFill>
                <a:latin typeface="Arial" pitchFamily="34" charset="0"/>
                <a:ea typeface="Arial" pitchFamily="34" charset="-122"/>
                <a:cs typeface="Arial" pitchFamily="34" charset="-120"/>
              </a:rPr>
              <a:t> 1.56 kg at 1.5 A (calculated)</a:t>
            </a:r>
            <a:endParaRPr lang="en-US" sz="1300" dirty="0"/>
          </a:p>
        </p:txBody>
      </p:sp>
      <p:sp>
        <p:nvSpPr>
          <p:cNvPr id="12" name="Claw mass tile"/>
          <p:cNvSpPr/>
          <p:nvPr/>
        </p:nvSpPr>
        <p:spPr>
          <a:xfrm>
            <a:off x="3363392" y="1463040"/>
            <a:ext cx="2650160" cy="2029968"/>
          </a:xfrm>
          <a:prstGeom prst="rect">
            <a:avLst/>
          </a:prstGeom>
          <a:solidFill>
            <a:srgbClr val="FFFFFF"/>
          </a:solidFill>
          <a:ln w="12700">
            <a:solidFill>
              <a:srgbClr val="BFBFBF"/>
            </a:solidFill>
            <a:prstDash val="solid"/>
          </a:ln>
        </p:spPr>
      </p:sp>
      <p:sp>
        <p:nvSpPr>
          <p:cNvPr id="13" name="Claw mass status bar"/>
          <p:cNvSpPr/>
          <p:nvPr/>
        </p:nvSpPr>
        <p:spPr>
          <a:xfrm>
            <a:off x="3363392" y="1463040"/>
            <a:ext cx="2650160" cy="91440"/>
          </a:xfrm>
          <a:prstGeom prst="rect">
            <a:avLst/>
          </a:prstGeom>
          <a:solidFill>
            <a:srgbClr val="B23A2E"/>
          </a:solidFill>
          <a:ln w="12700">
            <a:solidFill>
              <a:srgbClr val="B23A2E"/>
            </a:solidFill>
            <a:prstDash val="solid"/>
          </a:ln>
        </p:spPr>
      </p:sp>
      <p:sp>
        <p:nvSpPr>
          <p:cNvPr id="14" name="label"/>
          <p:cNvSpPr txBox="1"/>
          <p:nvPr/>
        </p:nvSpPr>
        <p:spPr>
          <a:xfrm>
            <a:off x="3500552" y="1618488"/>
            <a:ext cx="2375840" cy="219456"/>
          </a:xfrm>
          <a:prstGeom prst="rect">
            <a:avLst/>
          </a:prstGeom>
          <a:noFill/>
          <a:ln/>
        </p:spPr>
        <p:txBody>
          <a:bodyPr wrap="square" lIns="0" tIns="0" rIns="0" bIns="0" rtlCol="0" anchor="ctr"/>
          <a:lstStyle/>
          <a:p>
            <a:pPr algn="l"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p>
        </p:txBody>
      </p:sp>
      <p:sp>
        <p:nvSpPr>
          <p:cNvPr id="15" name="label"/>
          <p:cNvSpPr txBox="1"/>
          <p:nvPr/>
        </p:nvSpPr>
        <p:spPr>
          <a:xfrm>
            <a:off x="3500552"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Claw mass</a:t>
            </a:r>
            <a:endParaRPr lang="en-US" sz="1700" dirty="0"/>
          </a:p>
        </p:txBody>
      </p:sp>
      <p:sp>
        <p:nvSpPr>
          <p:cNvPr id="16" name="label"/>
          <p:cNvSpPr txBox="1"/>
          <p:nvPr/>
        </p:nvSpPr>
        <p:spPr>
          <a:xfrm>
            <a:off x="3500552"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17" name="label"/>
          <p:cNvSpPr txBox="1"/>
          <p:nvPr/>
        </p:nvSpPr>
        <p:spPr>
          <a:xfrm>
            <a:off x="3500552"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0.45 kg budget</a:t>
            </a:r>
            <a:endParaRPr lang="en-US" sz="1300" dirty="0"/>
          </a:p>
        </p:txBody>
      </p:sp>
      <p:sp>
        <p:nvSpPr>
          <p:cNvPr id="18" name="label"/>
          <p:cNvSpPr txBox="1"/>
          <p:nvPr/>
        </p:nvSpPr>
        <p:spPr>
          <a:xfrm>
            <a:off x="3500552" y="2889504"/>
            <a:ext cx="2375840" cy="530352"/>
          </a:xfrm>
          <a:prstGeom prst="rect">
            <a:avLst/>
          </a:prstGeom>
          <a:noFill/>
          <a:ln/>
        </p:spPr>
        <p:txBody>
          <a:bodyPr wrap="square" lIns="0" tIns="0" rIns="0" bIns="0" rtlCol="0" anchor="t"/>
          <a:lstStyle/>
          <a:p>
            <a:pPr algn="l" indent="0" marL="0">
              <a:buNone/>
            </a:pPr>
            <a:r>
              <a:rPr lang="en-US" sz="1300" b="1" dirty="0">
                <a:solidFill>
                  <a:srgbClr val="B23A2E"/>
                </a:solidFill>
                <a:latin typeface="Arial" pitchFamily="34" charset="0"/>
                <a:ea typeface="Arial" pitchFamily="34" charset="-122"/>
                <a:cs typeface="Arial" pitchFamily="34" charset="-120"/>
              </a:rPr>
              <a:t>Now:</a:t>
            </a:r>
            <a:pPr algn="l" indent="0" marL="0">
              <a:buNone/>
            </a:pPr>
            <a:r>
              <a:rPr lang="en-US" sz="1300" dirty="0">
                <a:solidFill>
                  <a:srgbClr val="B23A2E"/>
                </a:solidFill>
                <a:latin typeface="Arial" pitchFamily="34" charset="0"/>
                <a:ea typeface="Arial" pitchFamily="34" charset="-122"/>
                <a:cs typeface="Arial" pitchFamily="34" charset="-120"/>
              </a:rPr>
              <a:t> ≈ 0.86 kg with battery (CAD); </a:t>
            </a:r>
            <a:pPr algn="l" indent="0" marL="0">
              <a:buNone/>
            </a:pPr>
            <a:r>
              <a:rPr lang="en-US" sz="1300" i="1" dirty="0">
                <a:solidFill>
                  <a:srgbClr val="B23A2E"/>
                </a:solidFill>
                <a:latin typeface="Arial" pitchFamily="34" charset="0"/>
                <a:ea typeface="Arial" pitchFamily="34" charset="-122"/>
                <a:cs typeface="Arial" pitchFamily="34" charset="-120"/>
              </a:rPr>
              <a:t>[weighed: ___ g]</a:t>
            </a:r>
            <a:endParaRPr lang="en-US" sz="1300" dirty="0"/>
          </a:p>
        </p:txBody>
      </p:sp>
      <p:sp>
        <p:nvSpPr>
          <p:cNvPr id="19" name="Motor temperature tile"/>
          <p:cNvSpPr/>
          <p:nvPr/>
        </p:nvSpPr>
        <p:spPr>
          <a:xfrm>
            <a:off x="6178144" y="1463040"/>
            <a:ext cx="2650160" cy="2029968"/>
          </a:xfrm>
          <a:prstGeom prst="rect">
            <a:avLst/>
          </a:prstGeom>
          <a:solidFill>
            <a:srgbClr val="FFFFFF"/>
          </a:solidFill>
          <a:ln w="12700">
            <a:solidFill>
              <a:srgbClr val="BFBFBF"/>
            </a:solidFill>
            <a:prstDash val="solid"/>
          </a:ln>
        </p:spPr>
      </p:sp>
      <p:sp>
        <p:nvSpPr>
          <p:cNvPr id="20" name="Motor temperature status bar"/>
          <p:cNvSpPr/>
          <p:nvPr/>
        </p:nvSpPr>
        <p:spPr>
          <a:xfrm>
            <a:off x="6178144" y="1463040"/>
            <a:ext cx="2650160" cy="91440"/>
          </a:xfrm>
          <a:prstGeom prst="rect">
            <a:avLst/>
          </a:prstGeom>
          <a:solidFill>
            <a:srgbClr val="4F6D8F"/>
          </a:solidFill>
          <a:ln w="12700">
            <a:solidFill>
              <a:srgbClr val="4F6D8F"/>
            </a:solidFill>
            <a:prstDash val="solid"/>
          </a:ln>
        </p:spPr>
      </p:sp>
      <p:sp>
        <p:nvSpPr>
          <p:cNvPr id="21" name="label"/>
          <p:cNvSpPr txBox="1"/>
          <p:nvPr/>
        </p:nvSpPr>
        <p:spPr>
          <a:xfrm>
            <a:off x="6315304" y="1618488"/>
            <a:ext cx="2375840" cy="219456"/>
          </a:xfrm>
          <a:prstGeom prst="rect">
            <a:avLst/>
          </a:prstGeom>
          <a:noFill/>
          <a:ln/>
        </p:spPr>
        <p:txBody>
          <a:bodyPr wrap="square" lIns="0" tIns="0" rIns="0" bIns="0" rtlCol="0" anchor="ctr"/>
          <a:lstStyle/>
          <a:p>
            <a:pPr algn="l" indent="0" marL="0">
              <a:buNone/>
            </a:pPr>
            <a:r>
              <a:rPr lang="en-US" sz="1050" b="1" dirty="0">
                <a:solidFill>
                  <a:srgbClr val="4F6D8F"/>
                </a:solidFill>
                <a:latin typeface="Arial" pitchFamily="34" charset="0"/>
                <a:ea typeface="Arial" pitchFamily="34" charset="-122"/>
                <a:cs typeface="Arial" pitchFamily="34" charset="-120"/>
              </a:rPr>
              <a:t>TIGHT</a:t>
            </a:r>
            <a:endParaRPr lang="en-US" sz="1050" dirty="0"/>
          </a:p>
        </p:txBody>
      </p:sp>
      <p:sp>
        <p:nvSpPr>
          <p:cNvPr id="22" name="label"/>
          <p:cNvSpPr txBox="1"/>
          <p:nvPr/>
        </p:nvSpPr>
        <p:spPr>
          <a:xfrm>
            <a:off x="6315304"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Motor temperature</a:t>
            </a:r>
            <a:endParaRPr lang="en-US" sz="1700" dirty="0"/>
          </a:p>
        </p:txBody>
      </p:sp>
      <p:sp>
        <p:nvSpPr>
          <p:cNvPr id="23" name="label"/>
          <p:cNvSpPr txBox="1"/>
          <p:nvPr/>
        </p:nvSpPr>
        <p:spPr>
          <a:xfrm>
            <a:off x="6315304"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Limit</a:t>
            </a:r>
            <a:endParaRPr lang="en-US" sz="1200" dirty="0"/>
          </a:p>
        </p:txBody>
      </p:sp>
      <p:sp>
        <p:nvSpPr>
          <p:cNvPr id="24" name="label"/>
          <p:cNvSpPr txBox="1"/>
          <p:nvPr/>
        </p:nvSpPr>
        <p:spPr>
          <a:xfrm>
            <a:off x="6315304"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Under 60 °C (PETG creep)</a:t>
            </a:r>
            <a:endParaRPr lang="en-US" sz="1300" dirty="0"/>
          </a:p>
        </p:txBody>
      </p:sp>
      <p:sp>
        <p:nvSpPr>
          <p:cNvPr id="25" name="label"/>
          <p:cNvSpPr txBox="1"/>
          <p:nvPr/>
        </p:nvSpPr>
        <p:spPr>
          <a:xfrm>
            <a:off x="6315304" y="288950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 58 °C, vented shell + fin (calculated)</a:t>
            </a:r>
            <a:endParaRPr lang="en-US" sz="1300" dirty="0"/>
          </a:p>
        </p:txBody>
      </p:sp>
      <p:sp>
        <p:nvSpPr>
          <p:cNvPr id="26" name="Working area tile"/>
          <p:cNvSpPr/>
          <p:nvPr/>
        </p:nvSpPr>
        <p:spPr>
          <a:xfrm>
            <a:off x="8992895" y="1463040"/>
            <a:ext cx="2650160" cy="2029968"/>
          </a:xfrm>
          <a:prstGeom prst="rect">
            <a:avLst/>
          </a:prstGeom>
          <a:solidFill>
            <a:srgbClr val="FFFFFF"/>
          </a:solidFill>
          <a:ln w="12700">
            <a:solidFill>
              <a:srgbClr val="BFBFBF"/>
            </a:solidFill>
            <a:prstDash val="solid"/>
          </a:ln>
        </p:spPr>
      </p:sp>
      <p:sp>
        <p:nvSpPr>
          <p:cNvPr id="27" name="Working area status bar"/>
          <p:cNvSpPr/>
          <p:nvPr/>
        </p:nvSpPr>
        <p:spPr>
          <a:xfrm>
            <a:off x="8992895" y="1463040"/>
            <a:ext cx="2650160" cy="91440"/>
          </a:xfrm>
          <a:prstGeom prst="rect">
            <a:avLst/>
          </a:prstGeom>
          <a:solidFill>
            <a:srgbClr val="1F3A5F"/>
          </a:solidFill>
          <a:ln w="12700">
            <a:solidFill>
              <a:srgbClr val="1F3A5F"/>
            </a:solidFill>
            <a:prstDash val="solid"/>
          </a:ln>
        </p:spPr>
      </p:sp>
      <p:sp>
        <p:nvSpPr>
          <p:cNvPr id="28" name="label"/>
          <p:cNvSpPr txBox="1"/>
          <p:nvPr/>
        </p:nvSpPr>
        <p:spPr>
          <a:xfrm>
            <a:off x="9130055" y="1618488"/>
            <a:ext cx="2375840" cy="219456"/>
          </a:xfrm>
          <a:prstGeom prst="rect">
            <a:avLst/>
          </a:prstGeom>
          <a:noFill/>
          <a:ln/>
        </p:spPr>
        <p:txBody>
          <a:bodyPr wrap="square" lIns="0" tIns="0" rIns="0" bIns="0" rtlCol="0" anchor="ctr"/>
          <a:lstStyle/>
          <a:p>
            <a:pPr algn="l" indent="0" marL="0">
              <a:buNone/>
            </a:pPr>
            <a:r>
              <a:rPr lang="en-US" sz="1050" b="1" dirty="0">
                <a:solidFill>
                  <a:srgbClr val="1F3A5F"/>
                </a:solidFill>
                <a:latin typeface="Arial" pitchFamily="34" charset="0"/>
                <a:ea typeface="Arial" pitchFamily="34" charset="-122"/>
                <a:cs typeface="Arial" pitchFamily="34" charset="-120"/>
              </a:rPr>
              <a:t>MET IN DESIGN</a:t>
            </a:r>
            <a:endParaRPr lang="en-US" sz="1050" dirty="0"/>
          </a:p>
        </p:txBody>
      </p:sp>
      <p:sp>
        <p:nvSpPr>
          <p:cNvPr id="29" name="label"/>
          <p:cNvSpPr txBox="1"/>
          <p:nvPr/>
        </p:nvSpPr>
        <p:spPr>
          <a:xfrm>
            <a:off x="9130055"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Working area</a:t>
            </a:r>
            <a:endParaRPr lang="en-US" sz="1700" dirty="0"/>
          </a:p>
        </p:txBody>
      </p:sp>
      <p:sp>
        <p:nvSpPr>
          <p:cNvPr id="30" name="label"/>
          <p:cNvSpPr txBox="1"/>
          <p:nvPr/>
        </p:nvSpPr>
        <p:spPr>
          <a:xfrm>
            <a:off x="9130055"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31" name="label"/>
          <p:cNvSpPr txBox="1"/>
          <p:nvPr/>
        </p:nvSpPr>
        <p:spPr>
          <a:xfrm>
            <a:off x="9130055"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The whole 11 × 9 ft floor</a:t>
            </a:r>
            <a:endParaRPr lang="en-US" sz="1300" dirty="0"/>
          </a:p>
        </p:txBody>
      </p:sp>
      <p:sp>
        <p:nvSpPr>
          <p:cNvPr id="32" name="label"/>
          <p:cNvSpPr txBox="1"/>
          <p:nvPr/>
        </p:nvSpPr>
        <p:spPr>
          <a:xfrm>
            <a:off x="9130055" y="288950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All but 0.2 m at the walls (simulated)</a:t>
            </a:r>
            <a:endParaRPr lang="en-US" sz="1300" dirty="0"/>
          </a:p>
        </p:txBody>
      </p:sp>
      <p:sp>
        <p:nvSpPr>
          <p:cNvPr id="33" name="Wiring tile"/>
          <p:cNvSpPr/>
          <p:nvPr/>
        </p:nvSpPr>
        <p:spPr>
          <a:xfrm>
            <a:off x="548640" y="3657600"/>
            <a:ext cx="2650160" cy="2029968"/>
          </a:xfrm>
          <a:prstGeom prst="rect">
            <a:avLst/>
          </a:prstGeom>
          <a:solidFill>
            <a:srgbClr val="FFFFFF"/>
          </a:solidFill>
          <a:ln w="12700">
            <a:solidFill>
              <a:srgbClr val="BFBFBF"/>
            </a:solidFill>
            <a:prstDash val="solid"/>
          </a:ln>
        </p:spPr>
      </p:sp>
      <p:sp>
        <p:nvSpPr>
          <p:cNvPr id="34" name="Wiring status bar"/>
          <p:cNvSpPr/>
          <p:nvPr/>
        </p:nvSpPr>
        <p:spPr>
          <a:xfrm>
            <a:off x="548640" y="3657600"/>
            <a:ext cx="2650160" cy="91440"/>
          </a:xfrm>
          <a:prstGeom prst="rect">
            <a:avLst/>
          </a:prstGeom>
          <a:solidFill>
            <a:srgbClr val="1F3A5F"/>
          </a:solidFill>
          <a:ln w="12700">
            <a:solidFill>
              <a:srgbClr val="1F3A5F"/>
            </a:solidFill>
            <a:prstDash val="solid"/>
          </a:ln>
        </p:spPr>
      </p:sp>
      <p:sp>
        <p:nvSpPr>
          <p:cNvPr id="35" name="label"/>
          <p:cNvSpPr txBox="1"/>
          <p:nvPr/>
        </p:nvSpPr>
        <p:spPr>
          <a:xfrm>
            <a:off x="685800" y="3813048"/>
            <a:ext cx="2375840" cy="219456"/>
          </a:xfrm>
          <a:prstGeom prst="rect">
            <a:avLst/>
          </a:prstGeom>
          <a:noFill/>
          <a:ln/>
        </p:spPr>
        <p:txBody>
          <a:bodyPr wrap="square" lIns="0" tIns="0" rIns="0" bIns="0" rtlCol="0" anchor="ctr"/>
          <a:lstStyle/>
          <a:p>
            <a:pPr algn="l" indent="0" marL="0">
              <a:buNone/>
            </a:pPr>
            <a:r>
              <a:rPr lang="en-US" sz="1050" b="1" dirty="0">
                <a:solidFill>
                  <a:srgbClr val="1F3A5F"/>
                </a:solidFill>
                <a:latin typeface="Arial" pitchFamily="34" charset="0"/>
                <a:ea typeface="Arial" pitchFamily="34" charset="-122"/>
                <a:cs typeface="Arial" pitchFamily="34" charset="-120"/>
              </a:rPr>
              <a:t>MET IN DESIGN</a:t>
            </a:r>
            <a:endParaRPr lang="en-US" sz="1050" dirty="0"/>
          </a:p>
        </p:txBody>
      </p:sp>
      <p:sp>
        <p:nvSpPr>
          <p:cNvPr id="36" name="label"/>
          <p:cNvSpPr txBox="1"/>
          <p:nvPr/>
        </p:nvSpPr>
        <p:spPr>
          <a:xfrm>
            <a:off x="685800"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Wiring</a:t>
            </a:r>
            <a:endParaRPr lang="en-US" sz="1700" dirty="0"/>
          </a:p>
        </p:txBody>
      </p:sp>
      <p:sp>
        <p:nvSpPr>
          <p:cNvPr id="37" name="label"/>
          <p:cNvSpPr txBox="1"/>
          <p:nvPr/>
        </p:nvSpPr>
        <p:spPr>
          <a:xfrm>
            <a:off x="685800"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38" name="label"/>
          <p:cNvSpPr txBox="1"/>
          <p:nvPr/>
        </p:nvSpPr>
        <p:spPr>
          <a:xfrm>
            <a:off x="685800"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One plug per station</a:t>
            </a:r>
            <a:endParaRPr lang="en-US" sz="1300" dirty="0"/>
          </a:p>
        </p:txBody>
      </p:sp>
      <p:sp>
        <p:nvSpPr>
          <p:cNvPr id="39" name="label"/>
          <p:cNvSpPr txBox="1"/>
          <p:nvPr/>
        </p:nvSpPr>
        <p:spPr>
          <a:xfrm>
            <a:off x="685800"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One 12 V pair; 0.51 V drop on the longest run</a:t>
            </a:r>
            <a:endParaRPr lang="en-US" sz="1300" dirty="0"/>
          </a:p>
        </p:txBody>
      </p:sp>
      <p:sp>
        <p:nvSpPr>
          <p:cNvPr id="40" name="Accuracy tile"/>
          <p:cNvSpPr/>
          <p:nvPr/>
        </p:nvSpPr>
        <p:spPr>
          <a:xfrm>
            <a:off x="3363392" y="3657600"/>
            <a:ext cx="2650160" cy="2029968"/>
          </a:xfrm>
          <a:prstGeom prst="rect">
            <a:avLst/>
          </a:prstGeom>
          <a:solidFill>
            <a:srgbClr val="FFFFFF"/>
          </a:solidFill>
          <a:ln w="12700">
            <a:solidFill>
              <a:srgbClr val="BFBFBF"/>
            </a:solidFill>
            <a:prstDash val="solid"/>
          </a:ln>
        </p:spPr>
      </p:sp>
      <p:sp>
        <p:nvSpPr>
          <p:cNvPr id="41" name="Accuracy status bar"/>
          <p:cNvSpPr/>
          <p:nvPr/>
        </p:nvSpPr>
        <p:spPr>
          <a:xfrm>
            <a:off x="3363392" y="3657600"/>
            <a:ext cx="2650160" cy="91440"/>
          </a:xfrm>
          <a:prstGeom prst="rect">
            <a:avLst/>
          </a:prstGeom>
          <a:solidFill>
            <a:srgbClr val="7F7F7F"/>
          </a:solidFill>
          <a:ln w="12700">
            <a:solidFill>
              <a:srgbClr val="7F7F7F"/>
            </a:solidFill>
            <a:prstDash val="solid"/>
          </a:ln>
        </p:spPr>
      </p:sp>
      <p:sp>
        <p:nvSpPr>
          <p:cNvPr id="42" name="label"/>
          <p:cNvSpPr txBox="1"/>
          <p:nvPr/>
        </p:nvSpPr>
        <p:spPr>
          <a:xfrm>
            <a:off x="3500552"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43" name="label"/>
          <p:cNvSpPr txBox="1"/>
          <p:nvPr/>
        </p:nvSpPr>
        <p:spPr>
          <a:xfrm>
            <a:off x="3500552"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Accuracy</a:t>
            </a:r>
            <a:endParaRPr lang="en-US" sz="1700" dirty="0"/>
          </a:p>
        </p:txBody>
      </p:sp>
      <p:sp>
        <p:nvSpPr>
          <p:cNvPr id="44" name="label"/>
          <p:cNvSpPr txBox="1"/>
          <p:nvPr/>
        </p:nvSpPr>
        <p:spPr>
          <a:xfrm>
            <a:off x="3500552"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45" name="label"/>
          <p:cNvSpPr txBox="1"/>
          <p:nvPr/>
        </p:nvSpPr>
        <p:spPr>
          <a:xfrm>
            <a:off x="3500552"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 2 mm per cable over 300 mm</a:t>
            </a:r>
            <a:endParaRPr lang="en-US" sz="1300" dirty="0"/>
          </a:p>
        </p:txBody>
      </p:sp>
      <p:sp>
        <p:nvSpPr>
          <p:cNvPr id="46" name="label"/>
          <p:cNvSpPr txBox="1"/>
          <p:nvPr/>
        </p:nvSpPr>
        <p:spPr>
          <a:xfrm>
            <a:off x="3500552"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Floor board 0.7 mm (calculated)</a:t>
            </a:r>
            <a:endParaRPr lang="en-US" sz="1300" dirty="0"/>
          </a:p>
        </p:txBody>
      </p:sp>
      <p:sp>
        <p:nvSpPr>
          <p:cNvPr id="47" name="Speed tile"/>
          <p:cNvSpPr/>
          <p:nvPr/>
        </p:nvSpPr>
        <p:spPr>
          <a:xfrm>
            <a:off x="6178144" y="3657600"/>
            <a:ext cx="2650160" cy="2029968"/>
          </a:xfrm>
          <a:prstGeom prst="rect">
            <a:avLst/>
          </a:prstGeom>
          <a:solidFill>
            <a:srgbClr val="FFFFFF"/>
          </a:solidFill>
          <a:ln w="12700">
            <a:solidFill>
              <a:srgbClr val="BFBFBF"/>
            </a:solidFill>
            <a:prstDash val="solid"/>
          </a:ln>
        </p:spPr>
      </p:sp>
      <p:sp>
        <p:nvSpPr>
          <p:cNvPr id="48" name="Speed status bar"/>
          <p:cNvSpPr/>
          <p:nvPr/>
        </p:nvSpPr>
        <p:spPr>
          <a:xfrm>
            <a:off x="6178144" y="3657600"/>
            <a:ext cx="2650160" cy="91440"/>
          </a:xfrm>
          <a:prstGeom prst="rect">
            <a:avLst/>
          </a:prstGeom>
          <a:solidFill>
            <a:srgbClr val="7F7F7F"/>
          </a:solidFill>
          <a:ln w="12700">
            <a:solidFill>
              <a:srgbClr val="7F7F7F"/>
            </a:solidFill>
            <a:prstDash val="solid"/>
          </a:ln>
        </p:spPr>
      </p:sp>
      <p:sp>
        <p:nvSpPr>
          <p:cNvPr id="49" name="label"/>
          <p:cNvSpPr txBox="1"/>
          <p:nvPr/>
        </p:nvSpPr>
        <p:spPr>
          <a:xfrm>
            <a:off x="6315304"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50" name="label"/>
          <p:cNvSpPr txBox="1"/>
          <p:nvPr/>
        </p:nvSpPr>
        <p:spPr>
          <a:xfrm>
            <a:off x="6315304"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Speed</a:t>
            </a:r>
            <a:endParaRPr lang="en-US" sz="1700" dirty="0"/>
          </a:p>
        </p:txBody>
      </p:sp>
      <p:sp>
        <p:nvSpPr>
          <p:cNvPr id="51" name="label"/>
          <p:cNvSpPr txBox="1"/>
          <p:nvPr/>
        </p:nvSpPr>
        <p:spPr>
          <a:xfrm>
            <a:off x="6315304"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52" name="label"/>
          <p:cNvSpPr txBox="1"/>
          <p:nvPr/>
        </p:nvSpPr>
        <p:spPr>
          <a:xfrm>
            <a:off x="6315304"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50 mm/s, 2 m/s²</a:t>
            </a:r>
            <a:endParaRPr lang="en-US" sz="1300" dirty="0"/>
          </a:p>
        </p:txBody>
      </p:sp>
      <p:sp>
        <p:nvSpPr>
          <p:cNvPr id="53" name="label"/>
          <p:cNvSpPr txBox="1"/>
          <p:nvPr/>
        </p:nvSpPr>
        <p:spPr>
          <a:xfrm>
            <a:off x="6315304"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In every tension check; not yet run</a:t>
            </a:r>
            <a:endParaRPr lang="en-US" sz="1300" dirty="0"/>
          </a:p>
        </p:txBody>
      </p:sp>
      <p:sp>
        <p:nvSpPr>
          <p:cNvPr id="54" name="Cost tile"/>
          <p:cNvSpPr/>
          <p:nvPr/>
        </p:nvSpPr>
        <p:spPr>
          <a:xfrm>
            <a:off x="8992895" y="3657600"/>
            <a:ext cx="2650160" cy="2029968"/>
          </a:xfrm>
          <a:prstGeom prst="rect">
            <a:avLst/>
          </a:prstGeom>
          <a:solidFill>
            <a:srgbClr val="FFFFFF"/>
          </a:solidFill>
          <a:ln w="12700">
            <a:solidFill>
              <a:srgbClr val="BFBFBF"/>
            </a:solidFill>
            <a:prstDash val="solid"/>
          </a:ln>
        </p:spPr>
      </p:sp>
      <p:sp>
        <p:nvSpPr>
          <p:cNvPr id="55" name="Cost status bar"/>
          <p:cNvSpPr/>
          <p:nvPr/>
        </p:nvSpPr>
        <p:spPr>
          <a:xfrm>
            <a:off x="8992895" y="3657600"/>
            <a:ext cx="2650160" cy="91440"/>
          </a:xfrm>
          <a:prstGeom prst="rect">
            <a:avLst/>
          </a:prstGeom>
          <a:solidFill>
            <a:srgbClr val="7F7F7F"/>
          </a:solidFill>
          <a:ln w="12700">
            <a:solidFill>
              <a:srgbClr val="7F7F7F"/>
            </a:solidFill>
            <a:prstDash val="solid"/>
          </a:ln>
        </p:spPr>
      </p:sp>
      <p:sp>
        <p:nvSpPr>
          <p:cNvPr id="56" name="label"/>
          <p:cNvSpPr txBox="1"/>
          <p:nvPr/>
        </p:nvSpPr>
        <p:spPr>
          <a:xfrm>
            <a:off x="9130055"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57" name="label"/>
          <p:cNvSpPr txBox="1"/>
          <p:nvPr/>
        </p:nvSpPr>
        <p:spPr>
          <a:xfrm>
            <a:off x="9130055"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Cost</a:t>
            </a:r>
            <a:endParaRPr lang="en-US" sz="1700" dirty="0"/>
          </a:p>
        </p:txBody>
      </p:sp>
      <p:sp>
        <p:nvSpPr>
          <p:cNvPr id="58" name="label"/>
          <p:cNvSpPr txBox="1"/>
          <p:nvPr/>
        </p:nvSpPr>
        <p:spPr>
          <a:xfrm>
            <a:off x="9130055"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59" name="label"/>
          <p:cNvSpPr txBox="1"/>
          <p:nvPr/>
        </p:nvSpPr>
        <p:spPr>
          <a:xfrm>
            <a:off x="9130055"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Hobby budget; parts I can buy and fix</a:t>
            </a:r>
            <a:endParaRPr lang="en-US" sz="1300" dirty="0"/>
          </a:p>
        </p:txBody>
      </p:sp>
      <p:sp>
        <p:nvSpPr>
          <p:cNvPr id="60" name="label"/>
          <p:cNvSpPr txBox="1"/>
          <p:nvPr/>
        </p:nvSpPr>
        <p:spPr>
          <a:xfrm>
            <a:off x="9130055"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a:t>
            </a:r>
            <a:pPr algn="l" indent="0" marL="0">
              <a:buNone/>
            </a:pPr>
            <a:r>
              <a:rPr lang="en-US" sz="1300" i="1" dirty="0">
                <a:solidFill>
                  <a:srgbClr val="B23A2E"/>
                </a:solidFill>
                <a:latin typeface="Arial" pitchFamily="34" charset="0"/>
                <a:ea typeface="Arial" pitchFamily="34" charset="-122"/>
                <a:cs typeface="Arial" pitchFamily="34" charset="-120"/>
              </a:rPr>
              <a:t>[total spent: $___]</a:t>
            </a:r>
            <a:endParaRPr lang="en-US" sz="1300" dirty="0"/>
          </a:p>
        </p:txBody>
      </p:sp>
      <p:sp>
        <p:nvSpPr>
          <p:cNvPr id="61" name="constraint box"/>
          <p:cNvSpPr/>
          <p:nvPr/>
        </p:nvSpPr>
        <p:spPr>
          <a:xfrm>
            <a:off x="548640" y="5806440"/>
            <a:ext cx="11094415" cy="457200"/>
          </a:xfrm>
          <a:prstGeom prst="rect">
            <a:avLst/>
          </a:prstGeom>
          <a:solidFill>
            <a:srgbClr val="F2F2F2"/>
          </a:solidFill>
          <a:ln w="12700">
            <a:solidFill>
              <a:srgbClr val="F2F2F2"/>
            </a:solidFill>
            <a:prstDash val="solid"/>
          </a:ln>
        </p:spPr>
      </p:sp>
      <p:sp>
        <p:nvSpPr>
          <p:cNvPr id="62" name="label"/>
          <p:cNvSpPr txBox="1"/>
          <p:nvPr/>
        </p:nvSpPr>
        <p:spPr>
          <a:xfrm>
            <a:off x="685800" y="5806440"/>
            <a:ext cx="10820095" cy="457200"/>
          </a:xfrm>
          <a:prstGeom prst="rect">
            <a:avLst/>
          </a:prstGeom>
          <a:noFill/>
          <a:ln/>
        </p:spPr>
        <p:txBody>
          <a:bodyPr wrap="square" lIns="0" tIns="0" rIns="0" bIns="0" rtlCol="0" anchor="ctr"/>
          <a:lstStyle/>
          <a:p>
            <a:pPr algn="l" indent="0" marL="0">
              <a:buNone/>
            </a:pPr>
            <a:r>
              <a:rPr lang="en-US" sz="1500" b="1" dirty="0">
                <a:solidFill>
                  <a:srgbClr val="000000"/>
                </a:solidFill>
                <a:latin typeface="Arial" pitchFamily="34" charset="0"/>
                <a:ea typeface="Arial" pitchFamily="34" charset="-122"/>
                <a:cs typeface="Arial" pitchFamily="34" charset="-120"/>
              </a:rPr>
              <a:t>Not traded:</a:t>
            </a:r>
            <a:pPr algn="l" indent="0" marL="0">
              <a:buNone/>
            </a:pPr>
            <a:r>
              <a:rPr lang="en-US" sz="1500" dirty="0">
                <a:solidFill>
                  <a:srgbClr val="000000"/>
                </a:solidFill>
                <a:latin typeface="Arial" pitchFamily="34" charset="0"/>
                <a:ea typeface="Arial" pitchFamily="34" charset="-122"/>
                <a:cs typeface="Arial" pitchFamily="34" charset="-120"/>
              </a:rPr>
              <a:t> safety. Anchors in studs, one hard stop, holds on any fault, nobody under the robot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Trade-offs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Motor current ↑ card"/>
          <p:cNvSpPr/>
          <p:nvPr/>
        </p:nvSpPr>
        <p:spPr>
          <a:xfrm>
            <a:off x="548640" y="1463040"/>
            <a:ext cx="3576218" cy="1965960"/>
          </a:xfrm>
          <a:prstGeom prst="rect">
            <a:avLst/>
          </a:prstGeom>
          <a:solidFill>
            <a:srgbClr val="FFFFFF"/>
          </a:solidFill>
          <a:ln w="12700">
            <a:solidFill>
              <a:srgbClr val="1F3A5F"/>
            </a:solidFill>
            <a:prstDash val="solid"/>
          </a:ln>
        </p:spPr>
      </p:sp>
      <p:sp>
        <p:nvSpPr>
          <p:cNvPr id="6" name="Motor current ↑ header"/>
          <p:cNvSpPr/>
          <p:nvPr/>
        </p:nvSpPr>
        <p:spPr>
          <a:xfrm>
            <a:off x="548640" y="1463040"/>
            <a:ext cx="3576218" cy="411480"/>
          </a:xfrm>
          <a:prstGeom prst="rect">
            <a:avLst/>
          </a:prstGeom>
          <a:solidFill>
            <a:srgbClr val="1F3A5F"/>
          </a:solidFill>
          <a:ln w="12700">
            <a:solidFill>
              <a:srgbClr val="1F3A5F"/>
            </a:solidFill>
            <a:prstDash val="solid"/>
          </a:ln>
        </p:spPr>
      </p:sp>
      <p:sp>
        <p:nvSpPr>
          <p:cNvPr id="7" name="label"/>
          <p:cNvSpPr txBox="1"/>
          <p:nvPr/>
        </p:nvSpPr>
        <p:spPr>
          <a:xfrm>
            <a:off x="685800"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Motor current ↑</a:t>
            </a:r>
            <a:endParaRPr lang="en-US" sz="1600" dirty="0"/>
          </a:p>
        </p:txBody>
      </p:sp>
      <p:sp>
        <p:nvSpPr>
          <p:cNvPr id="8" name="Motor current ↑ text"/>
          <p:cNvSpPr txBox="1"/>
          <p:nvPr/>
        </p:nvSpPr>
        <p:spPr>
          <a:xfrm>
            <a:off x="685800"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pull, T ∝ I (+41 % at 1.5 A)</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heat, P = I²R (2.0 → 4.1 W)</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1.5 A, vented shell + fin</a:t>
            </a:r>
            <a:endParaRPr lang="en-US" sz="1450" dirty="0"/>
          </a:p>
        </p:txBody>
      </p:sp>
      <p:sp>
        <p:nvSpPr>
          <p:cNvPr id="9" name="Claw strength ↑ card"/>
          <p:cNvSpPr/>
          <p:nvPr/>
        </p:nvSpPr>
        <p:spPr>
          <a:xfrm>
            <a:off x="4307738" y="1463040"/>
            <a:ext cx="3576218" cy="1965960"/>
          </a:xfrm>
          <a:prstGeom prst="rect">
            <a:avLst/>
          </a:prstGeom>
          <a:solidFill>
            <a:srgbClr val="FFFFFF"/>
          </a:solidFill>
          <a:ln w="12700">
            <a:solidFill>
              <a:srgbClr val="1F3A5F"/>
            </a:solidFill>
            <a:prstDash val="solid"/>
          </a:ln>
        </p:spPr>
      </p:sp>
      <p:sp>
        <p:nvSpPr>
          <p:cNvPr id="10" name="Claw strength ↑ header"/>
          <p:cNvSpPr/>
          <p:nvPr/>
        </p:nvSpPr>
        <p:spPr>
          <a:xfrm>
            <a:off x="4307738" y="1463040"/>
            <a:ext cx="3576218" cy="411480"/>
          </a:xfrm>
          <a:prstGeom prst="rect">
            <a:avLst/>
          </a:prstGeom>
          <a:solidFill>
            <a:srgbClr val="1F3A5F"/>
          </a:solidFill>
          <a:ln w="12700">
            <a:solidFill>
              <a:srgbClr val="1F3A5F"/>
            </a:solidFill>
            <a:prstDash val="solid"/>
          </a:ln>
        </p:spPr>
      </p:sp>
      <p:sp>
        <p:nvSpPr>
          <p:cNvPr id="11" name="label"/>
          <p:cNvSpPr txBox="1"/>
          <p:nvPr/>
        </p:nvSpPr>
        <p:spPr>
          <a:xfrm>
            <a:off x="4444898"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Claw strength ↑</a:t>
            </a:r>
            <a:endParaRPr lang="en-US" sz="1600" dirty="0"/>
          </a:p>
        </p:txBody>
      </p:sp>
      <p:sp>
        <p:nvSpPr>
          <p:cNvPr id="12" name="Claw strength ↑ text"/>
          <p:cNvSpPr txBox="1"/>
          <p:nvPr/>
        </p:nvSpPr>
        <p:spPr>
          <a:xfrm>
            <a:off x="4444898"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gear safety factor 0.4 → 2</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mass; payload = capacity − claw</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module 1.5 gears; mass budget open</a:t>
            </a:r>
            <a:endParaRPr lang="en-US" sz="1450" dirty="0"/>
          </a:p>
        </p:txBody>
      </p:sp>
      <p:sp>
        <p:nvSpPr>
          <p:cNvPr id="13" name="Room size ↑ card"/>
          <p:cNvSpPr/>
          <p:nvPr/>
        </p:nvSpPr>
        <p:spPr>
          <a:xfrm>
            <a:off x="8066837" y="1463040"/>
            <a:ext cx="3576218" cy="1965960"/>
          </a:xfrm>
          <a:prstGeom prst="rect">
            <a:avLst/>
          </a:prstGeom>
          <a:solidFill>
            <a:srgbClr val="FFFFFF"/>
          </a:solidFill>
          <a:ln w="12700">
            <a:solidFill>
              <a:srgbClr val="1F3A5F"/>
            </a:solidFill>
            <a:prstDash val="solid"/>
          </a:ln>
        </p:spPr>
      </p:sp>
      <p:sp>
        <p:nvSpPr>
          <p:cNvPr id="14" name="Room size ↑ header"/>
          <p:cNvSpPr/>
          <p:nvPr/>
        </p:nvSpPr>
        <p:spPr>
          <a:xfrm>
            <a:off x="8066837" y="1463040"/>
            <a:ext cx="3576218" cy="411480"/>
          </a:xfrm>
          <a:prstGeom prst="rect">
            <a:avLst/>
          </a:prstGeom>
          <a:solidFill>
            <a:srgbClr val="1F3A5F"/>
          </a:solidFill>
          <a:ln w="12700">
            <a:solidFill>
              <a:srgbClr val="1F3A5F"/>
            </a:solidFill>
            <a:prstDash val="solid"/>
          </a:ln>
        </p:spPr>
      </p:sp>
      <p:sp>
        <p:nvSpPr>
          <p:cNvPr id="15" name="label"/>
          <p:cNvSpPr txBox="1"/>
          <p:nvPr/>
        </p:nvSpPr>
        <p:spPr>
          <a:xfrm>
            <a:off x="8203997"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Room size ↑</a:t>
            </a:r>
            <a:endParaRPr lang="en-US" sz="1600" dirty="0"/>
          </a:p>
        </p:txBody>
      </p:sp>
      <p:sp>
        <p:nvSpPr>
          <p:cNvPr id="16" name="Room size ↑ text"/>
          <p:cNvSpPr txBox="1"/>
          <p:nvPr/>
        </p:nvSpPr>
        <p:spPr>
          <a:xfrm>
            <a:off x="8203997"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more floor covered</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longer wire, more resistance: R = ρL/A</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only 12 V travels, on 16-gauge wire</a:t>
            </a:r>
            <a:endParaRPr lang="en-US" sz="1450" dirty="0"/>
          </a:p>
        </p:txBody>
      </p:sp>
      <p:sp>
        <p:nvSpPr>
          <p:cNvPr id="17" name="Reach toward the ceiling ↑ card"/>
          <p:cNvSpPr/>
          <p:nvPr/>
        </p:nvSpPr>
        <p:spPr>
          <a:xfrm>
            <a:off x="548640" y="3611880"/>
            <a:ext cx="3576218" cy="1965960"/>
          </a:xfrm>
          <a:prstGeom prst="rect">
            <a:avLst/>
          </a:prstGeom>
          <a:solidFill>
            <a:srgbClr val="FFFFFF"/>
          </a:solidFill>
          <a:ln w="12700">
            <a:solidFill>
              <a:srgbClr val="1F3A5F"/>
            </a:solidFill>
            <a:prstDash val="solid"/>
          </a:ln>
        </p:spPr>
      </p:sp>
      <p:sp>
        <p:nvSpPr>
          <p:cNvPr id="18" name="Reach toward the ceiling ↑ header"/>
          <p:cNvSpPr/>
          <p:nvPr/>
        </p:nvSpPr>
        <p:spPr>
          <a:xfrm>
            <a:off x="548640" y="3611880"/>
            <a:ext cx="3576218" cy="411480"/>
          </a:xfrm>
          <a:prstGeom prst="rect">
            <a:avLst/>
          </a:prstGeom>
          <a:solidFill>
            <a:srgbClr val="1F3A5F"/>
          </a:solidFill>
          <a:ln w="12700">
            <a:solidFill>
              <a:srgbClr val="1F3A5F"/>
            </a:solidFill>
            <a:prstDash val="solid"/>
          </a:ln>
        </p:spPr>
      </p:sp>
      <p:sp>
        <p:nvSpPr>
          <p:cNvPr id="19" name="label"/>
          <p:cNvSpPr txBox="1"/>
          <p:nvPr/>
        </p:nvSpPr>
        <p:spPr>
          <a:xfrm>
            <a:off x="685800"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Reach toward the ceiling ↑</a:t>
            </a:r>
            <a:endParaRPr lang="en-US" sz="1600" dirty="0"/>
          </a:p>
        </p:txBody>
      </p:sp>
      <p:sp>
        <p:nvSpPr>
          <p:cNvPr id="20" name="Reach toward the ceiling ↑ text"/>
          <p:cNvSpPr txBox="1"/>
          <p:nvPr/>
        </p:nvSpPr>
        <p:spPr>
          <a:xfrm>
            <a:off x="685800"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more working volume</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tension, T = W / (4 sin φ): 12 → 32 N</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stop 0.4 m below the anchors</a:t>
            </a:r>
            <a:endParaRPr lang="en-US" sz="1450" dirty="0"/>
          </a:p>
        </p:txBody>
      </p:sp>
      <p:sp>
        <p:nvSpPr>
          <p:cNvPr id="21" name="Spool radius ↓ card"/>
          <p:cNvSpPr/>
          <p:nvPr/>
        </p:nvSpPr>
        <p:spPr>
          <a:xfrm>
            <a:off x="4307738" y="3611880"/>
            <a:ext cx="3576218" cy="1965960"/>
          </a:xfrm>
          <a:prstGeom prst="rect">
            <a:avLst/>
          </a:prstGeom>
          <a:solidFill>
            <a:srgbClr val="FFFFFF"/>
          </a:solidFill>
          <a:ln w="12700">
            <a:solidFill>
              <a:srgbClr val="1F3A5F"/>
            </a:solidFill>
            <a:prstDash val="solid"/>
          </a:ln>
        </p:spPr>
      </p:sp>
      <p:sp>
        <p:nvSpPr>
          <p:cNvPr id="22" name="Spool radius ↓ header"/>
          <p:cNvSpPr/>
          <p:nvPr/>
        </p:nvSpPr>
        <p:spPr>
          <a:xfrm>
            <a:off x="4307738" y="3611880"/>
            <a:ext cx="3576218" cy="411480"/>
          </a:xfrm>
          <a:prstGeom prst="rect">
            <a:avLst/>
          </a:prstGeom>
          <a:solidFill>
            <a:srgbClr val="1F3A5F"/>
          </a:solidFill>
          <a:ln w="12700">
            <a:solidFill>
              <a:srgbClr val="1F3A5F"/>
            </a:solidFill>
            <a:prstDash val="solid"/>
          </a:ln>
        </p:spPr>
      </p:sp>
      <p:sp>
        <p:nvSpPr>
          <p:cNvPr id="23" name="label"/>
          <p:cNvSpPr txBox="1"/>
          <p:nvPr/>
        </p:nvSpPr>
        <p:spPr>
          <a:xfrm>
            <a:off x="4444898"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Spool radius ↓</a:t>
            </a:r>
            <a:endParaRPr lang="en-US" sz="1600" dirty="0"/>
          </a:p>
        </p:txBody>
      </p:sp>
      <p:sp>
        <p:nvSpPr>
          <p:cNvPr id="24" name="Spool radius ↓ text"/>
          <p:cNvSpPr txBox="1"/>
          <p:nvPr/>
        </p:nvSpPr>
        <p:spPr>
          <a:xfrm>
            <a:off x="4444898"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pull, T = τ / r</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line speed, v = ω r; less line per layer</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Ø15 core: 34 N empty, 25 N full</a:t>
            </a:r>
            <a:endParaRPr lang="en-US" sz="1450" dirty="0"/>
          </a:p>
        </p:txBody>
      </p:sp>
      <p:sp>
        <p:nvSpPr>
          <p:cNvPr id="25" name="Safety margins ↑ card"/>
          <p:cNvSpPr/>
          <p:nvPr/>
        </p:nvSpPr>
        <p:spPr>
          <a:xfrm>
            <a:off x="8066837" y="3611880"/>
            <a:ext cx="3576218" cy="1965960"/>
          </a:xfrm>
          <a:prstGeom prst="rect">
            <a:avLst/>
          </a:prstGeom>
          <a:solidFill>
            <a:srgbClr val="FFFFFF"/>
          </a:solidFill>
          <a:ln w="12700">
            <a:solidFill>
              <a:srgbClr val="1F3A5F"/>
            </a:solidFill>
            <a:prstDash val="solid"/>
          </a:ln>
        </p:spPr>
      </p:sp>
      <p:sp>
        <p:nvSpPr>
          <p:cNvPr id="26" name="Safety margins ↑ header"/>
          <p:cNvSpPr/>
          <p:nvPr/>
        </p:nvSpPr>
        <p:spPr>
          <a:xfrm>
            <a:off x="8066837" y="3611880"/>
            <a:ext cx="3576218" cy="411480"/>
          </a:xfrm>
          <a:prstGeom prst="rect">
            <a:avLst/>
          </a:prstGeom>
          <a:solidFill>
            <a:srgbClr val="1F3A5F"/>
          </a:solidFill>
          <a:ln w="12700">
            <a:solidFill>
              <a:srgbClr val="1F3A5F"/>
            </a:solidFill>
            <a:prstDash val="solid"/>
          </a:ln>
        </p:spPr>
      </p:sp>
      <p:sp>
        <p:nvSpPr>
          <p:cNvPr id="27" name="label"/>
          <p:cNvSpPr txBox="1"/>
          <p:nvPr/>
        </p:nvSpPr>
        <p:spPr>
          <a:xfrm>
            <a:off x="8203997"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Safety margins ↑</a:t>
            </a:r>
            <a:endParaRPr lang="en-US" sz="1600" dirty="0"/>
          </a:p>
        </p:txBody>
      </p:sp>
      <p:sp>
        <p:nvSpPr>
          <p:cNvPr id="28" name="Safety margins ↑ text"/>
          <p:cNvSpPr txBox="1"/>
          <p:nvPr/>
        </p:nvSpPr>
        <p:spPr>
          <a:xfrm>
            <a:off x="8203997"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no skipped steps, no wall contact</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usable force (÷ 1.5) and floor area</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 1.5; 0.2 m walls, 0.4 m ceiling</a:t>
            </a:r>
            <a:endParaRPr lang="en-US" sz="1450" dirty="0"/>
          </a:p>
        </p:txBody>
      </p:sp>
      <p:sp>
        <p:nvSpPr>
          <p:cNvPr id="29" name="label"/>
          <p:cNvSpPr txBox="1"/>
          <p:nvPr/>
        </p:nvSpPr>
        <p:spPr>
          <a:xfrm>
            <a:off x="548640" y="5760720"/>
            <a:ext cx="1280160" cy="475488"/>
          </a:xfrm>
          <a:prstGeom prst="rect">
            <a:avLst/>
          </a:prstGeom>
          <a:noFill/>
          <a:ln/>
        </p:spPr>
        <p:txBody>
          <a:bodyPr wrap="square" lIns="0" tIns="0" rIns="0" bIns="0" rtlCol="0" anchor="ctr"/>
          <a:lstStyle/>
          <a:p>
            <a:pPr algn="l" indent="0" marL="0">
              <a:buNone/>
            </a:pPr>
            <a:r>
              <a:rPr lang="en-US" sz="1400" b="1" dirty="0">
                <a:solidFill>
                  <a:srgbClr val="1F3A5F"/>
                </a:solidFill>
                <a:latin typeface="Arial" pitchFamily="34" charset="0"/>
                <a:ea typeface="Arial" pitchFamily="34" charset="-122"/>
                <a:cs typeface="Arial" pitchFamily="34" charset="-120"/>
              </a:rPr>
              <a:t>How they chain:</a:t>
            </a:r>
            <a:endParaRPr lang="en-US" sz="1400" dirty="0"/>
          </a:p>
        </p:txBody>
      </p:sp>
      <p:sp>
        <p:nvSpPr>
          <p:cNvPr id="30" name="chain 1"/>
          <p:cNvSpPr/>
          <p:nvPr/>
        </p:nvSpPr>
        <p:spPr>
          <a:xfrm>
            <a:off x="1920240" y="5760720"/>
            <a:ext cx="1710477" cy="475488"/>
          </a:xfrm>
          <a:prstGeom prst="roundRect">
            <a:avLst>
              <a:gd name="adj" fmla="val 15385"/>
            </a:avLst>
          </a:prstGeom>
          <a:solidFill>
            <a:srgbClr val="F2F2F2"/>
          </a:solidFill>
          <a:ln w="12700">
            <a:solidFill>
              <a:srgbClr val="1F3A5F"/>
            </a:solidFill>
            <a:prstDash val="solid"/>
          </a:ln>
        </p:spPr>
      </p:sp>
      <p:sp>
        <p:nvSpPr>
          <p:cNvPr id="31" name="label"/>
          <p:cNvSpPr txBox="1"/>
          <p:nvPr/>
        </p:nvSpPr>
        <p:spPr>
          <a:xfrm>
            <a:off x="1920240"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Claw mass ↑</a:t>
            </a:r>
            <a:endParaRPr lang="en-US" sz="1400" dirty="0"/>
          </a:p>
        </p:txBody>
      </p:sp>
      <p:sp>
        <p:nvSpPr>
          <p:cNvPr id="32" name="Shape 30"/>
          <p:cNvSpPr/>
          <p:nvPr/>
        </p:nvSpPr>
        <p:spPr>
          <a:xfrm>
            <a:off x="3667293" y="5998464"/>
            <a:ext cx="219456" cy="0"/>
          </a:xfrm>
          <a:prstGeom prst="line">
            <a:avLst/>
          </a:prstGeom>
          <a:noFill/>
          <a:ln w="19050">
            <a:solidFill>
              <a:srgbClr val="7F7F7F"/>
            </a:solidFill>
            <a:prstDash val="solid"/>
            <a:tailEnd type="triangle"/>
          </a:ln>
        </p:spPr>
      </p:sp>
      <p:sp>
        <p:nvSpPr>
          <p:cNvPr id="33" name="chain 2"/>
          <p:cNvSpPr/>
          <p:nvPr/>
        </p:nvSpPr>
        <p:spPr>
          <a:xfrm>
            <a:off x="3923325" y="5760720"/>
            <a:ext cx="1710477" cy="475488"/>
          </a:xfrm>
          <a:prstGeom prst="roundRect">
            <a:avLst>
              <a:gd name="adj" fmla="val 15385"/>
            </a:avLst>
          </a:prstGeom>
          <a:solidFill>
            <a:srgbClr val="F2F2F2"/>
          </a:solidFill>
          <a:ln w="12700">
            <a:solidFill>
              <a:srgbClr val="1F3A5F"/>
            </a:solidFill>
            <a:prstDash val="solid"/>
          </a:ln>
        </p:spPr>
      </p:sp>
      <p:sp>
        <p:nvSpPr>
          <p:cNvPr id="34" name="label"/>
          <p:cNvSpPr txBox="1"/>
          <p:nvPr/>
        </p:nvSpPr>
        <p:spPr>
          <a:xfrm>
            <a:off x="3923325"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Pull needed ↑</a:t>
            </a:r>
            <a:endParaRPr lang="en-US" sz="1400" dirty="0"/>
          </a:p>
        </p:txBody>
      </p:sp>
      <p:sp>
        <p:nvSpPr>
          <p:cNvPr id="35" name="Shape 33"/>
          <p:cNvSpPr/>
          <p:nvPr/>
        </p:nvSpPr>
        <p:spPr>
          <a:xfrm>
            <a:off x="5670377" y="5998464"/>
            <a:ext cx="219456" cy="0"/>
          </a:xfrm>
          <a:prstGeom prst="line">
            <a:avLst/>
          </a:prstGeom>
          <a:noFill/>
          <a:ln w="19050">
            <a:solidFill>
              <a:srgbClr val="7F7F7F"/>
            </a:solidFill>
            <a:prstDash val="solid"/>
            <a:tailEnd type="triangle"/>
          </a:ln>
        </p:spPr>
      </p:sp>
      <p:sp>
        <p:nvSpPr>
          <p:cNvPr id="36" name="chain 3"/>
          <p:cNvSpPr/>
          <p:nvPr/>
        </p:nvSpPr>
        <p:spPr>
          <a:xfrm>
            <a:off x="5926409" y="5760720"/>
            <a:ext cx="1710477" cy="475488"/>
          </a:xfrm>
          <a:prstGeom prst="roundRect">
            <a:avLst>
              <a:gd name="adj" fmla="val 15385"/>
            </a:avLst>
          </a:prstGeom>
          <a:solidFill>
            <a:srgbClr val="F2F2F2"/>
          </a:solidFill>
          <a:ln w="12700">
            <a:solidFill>
              <a:srgbClr val="1F3A5F"/>
            </a:solidFill>
            <a:prstDash val="solid"/>
          </a:ln>
        </p:spPr>
      </p:sp>
      <p:sp>
        <p:nvSpPr>
          <p:cNvPr id="37" name="label"/>
          <p:cNvSpPr txBox="1"/>
          <p:nvPr/>
        </p:nvSpPr>
        <p:spPr>
          <a:xfrm>
            <a:off x="5926409"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Motor current ↑</a:t>
            </a:r>
            <a:endParaRPr lang="en-US" sz="1400" dirty="0"/>
          </a:p>
        </p:txBody>
      </p:sp>
      <p:sp>
        <p:nvSpPr>
          <p:cNvPr id="38" name="Shape 36"/>
          <p:cNvSpPr/>
          <p:nvPr/>
        </p:nvSpPr>
        <p:spPr>
          <a:xfrm>
            <a:off x="7673462" y="5998464"/>
            <a:ext cx="219456" cy="0"/>
          </a:xfrm>
          <a:prstGeom prst="line">
            <a:avLst/>
          </a:prstGeom>
          <a:noFill/>
          <a:ln w="19050">
            <a:solidFill>
              <a:srgbClr val="7F7F7F"/>
            </a:solidFill>
            <a:prstDash val="solid"/>
            <a:tailEnd type="triangle"/>
          </a:ln>
        </p:spPr>
      </p:sp>
      <p:sp>
        <p:nvSpPr>
          <p:cNvPr id="39" name="chain 4"/>
          <p:cNvSpPr/>
          <p:nvPr/>
        </p:nvSpPr>
        <p:spPr>
          <a:xfrm>
            <a:off x="7929494" y="5760720"/>
            <a:ext cx="1710477" cy="475488"/>
          </a:xfrm>
          <a:prstGeom prst="roundRect">
            <a:avLst>
              <a:gd name="adj" fmla="val 15385"/>
            </a:avLst>
          </a:prstGeom>
          <a:solidFill>
            <a:srgbClr val="F2F2F2"/>
          </a:solidFill>
          <a:ln w="12700">
            <a:solidFill>
              <a:srgbClr val="1F3A5F"/>
            </a:solidFill>
            <a:prstDash val="solid"/>
          </a:ln>
        </p:spPr>
      </p:sp>
      <p:sp>
        <p:nvSpPr>
          <p:cNvPr id="40" name="label"/>
          <p:cNvSpPr txBox="1"/>
          <p:nvPr/>
        </p:nvSpPr>
        <p:spPr>
          <a:xfrm>
            <a:off x="7929494"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Heat ↑ as I²</a:t>
            </a:r>
            <a:endParaRPr lang="en-US" sz="1400" dirty="0"/>
          </a:p>
        </p:txBody>
      </p:sp>
      <p:sp>
        <p:nvSpPr>
          <p:cNvPr id="41" name="Shape 39"/>
          <p:cNvSpPr/>
          <p:nvPr/>
        </p:nvSpPr>
        <p:spPr>
          <a:xfrm>
            <a:off x="9676547" y="5998464"/>
            <a:ext cx="219456" cy="0"/>
          </a:xfrm>
          <a:prstGeom prst="line">
            <a:avLst/>
          </a:prstGeom>
          <a:noFill/>
          <a:ln w="19050">
            <a:solidFill>
              <a:srgbClr val="7F7F7F"/>
            </a:solidFill>
            <a:prstDash val="solid"/>
            <a:tailEnd type="triangle"/>
          </a:ln>
        </p:spPr>
      </p:sp>
      <p:sp>
        <p:nvSpPr>
          <p:cNvPr id="42" name="chain 5"/>
          <p:cNvSpPr/>
          <p:nvPr/>
        </p:nvSpPr>
        <p:spPr>
          <a:xfrm>
            <a:off x="9932579" y="5760720"/>
            <a:ext cx="1710477" cy="475488"/>
          </a:xfrm>
          <a:prstGeom prst="roundRect">
            <a:avLst>
              <a:gd name="adj" fmla="val 15385"/>
            </a:avLst>
          </a:prstGeom>
          <a:solidFill>
            <a:srgbClr val="1F3A5F"/>
          </a:solidFill>
          <a:ln w="12700">
            <a:solidFill>
              <a:srgbClr val="1F3A5F"/>
            </a:solidFill>
            <a:prstDash val="solid"/>
          </a:ln>
        </p:spPr>
      </p:sp>
      <p:sp>
        <p:nvSpPr>
          <p:cNvPr id="43" name="label"/>
          <p:cNvSpPr txBox="1"/>
          <p:nvPr/>
        </p:nvSpPr>
        <p:spPr>
          <a:xfrm>
            <a:off x="9932579" y="5760720"/>
            <a:ext cx="1710477"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Fin and vents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Cable Tension</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Cables only pull: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every tension must stay above zero</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Near the ceiling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cables flatten and tension climbs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32 N per cable at 0.15 m below the anchors; 8.3 N at 0.6 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keep 0.4 m below the anchors; at 1.5 A that holds even while accelerating (14.7 N vs 16.8 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g</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&gt; 0</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W / (4 sin φ),   sin φ = d / √(d²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²)</a:t>
            </a:r>
            <a:endParaRPr lang="en-US" sz="1500" dirty="0"/>
          </a:p>
        </p:txBody>
      </p:sp>
      <p:pic>
        <p:nvPicPr>
          <p:cNvPr id="11" name="Chart from the calculation sheet: Cable " descr="Chart from the calculation sheet: Cable tension">    </p:cNvPr>
          <p:cNvPicPr>
            <a:picLocks noChangeAspect="1"/>
          </p:cNvPicPr>
          <p:nvPr/>
        </p:nvPicPr>
        <p:blipFill>
          <a:blip r:embed="rId1"/>
          <a:stretch>
            <a:fillRect/>
          </a:stretch>
        </p:blipFill>
        <p:spPr>
          <a:xfrm>
            <a:off x="5880671" y="1554480"/>
            <a:ext cx="5762384" cy="3966477"/>
          </a:xfrm>
          <a:prstGeom prst="rect">
            <a:avLst/>
          </a:prstGeom>
        </p:spPr>
      </p:pic>
      <p:sp>
        <p:nvSpPr>
          <p:cNvPr id="12" name="chart frame"/>
          <p:cNvSpPr/>
          <p:nvPr/>
        </p:nvSpPr>
        <p:spPr>
          <a:xfrm>
            <a:off x="5880671" y="1554480"/>
            <a:ext cx="5762384" cy="3966477"/>
          </a:xfrm>
          <a:prstGeom prst="rect">
            <a:avLst/>
          </a:prstGeom>
          <a:ln w="9525">
            <a:solidFill>
              <a:srgbClr val="BFBFBF"/>
            </a:solidFill>
            <a:prstDash val="solid"/>
          </a:ln>
        </p:spPr>
      </p:sp>
      <p:sp>
        <p:nvSpPr>
          <p:cNvPr id="13" name="caption"/>
          <p:cNvSpPr txBox="1"/>
          <p:nvPr/>
        </p:nvSpPr>
        <p:spPr>
          <a:xfrm>
            <a:off x="5880671" y="5594109"/>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Winch Pull</a:t>
            </a:r>
            <a:endParaRPr lang="en-US" sz="3000" dirty="0"/>
          </a:p>
        </p:txBody>
      </p:sp>
      <p:sp>
        <p:nvSpPr>
          <p:cNvPr id="4" name="status chip"/>
          <p:cNvSpPr/>
          <p:nvPr/>
        </p:nvSpPr>
        <p:spPr>
          <a:xfrm>
            <a:off x="8346643" y="621792"/>
            <a:ext cx="329641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346643" y="621792"/>
            <a:ext cx="329641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A set · pull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NEMA 17 stepper (standard 1.7 in frame), printed spool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Driver current raised to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motor's rating (was 1.06 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Pull: 34 N empty spool, 25 N full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Design force 16.8 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(was 11.9 N): full-spool pull ÷ 1.5 margin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luggage-scale pull test replaces my torque assumption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I = V</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ref</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(8 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1.2 V / (8 × 0.1 Ω) = 1.5 A</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τ</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run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r:   33.6 N at r = 7.5 mm,   25.2 N at r = 10 mm</a:t>
            </a:r>
            <a:endParaRPr lang="en-US" sz="1500" dirty="0"/>
          </a:p>
        </p:txBody>
      </p:sp>
      <p:pic>
        <p:nvPicPr>
          <p:cNvPr id="11" name="Chart from the calculation sheet: Winch " descr="Chart from the calculation sheet: Winch pull">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“Winch pull”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Controller per Winch</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one board stepped all four motors; sync was free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switch and encoder per winch → 10 wires per corner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820 ft of conductor; the sensor bus (I²C, Inter-Integrated Circuit) is meant for centimetres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controller in every station; only 12 V travels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5× less wire; each station is built and tested alone</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Conductor = n · ΣL:   10 × 82 ft = 820 ft   vs   2 × 82 ft = 164 ft</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v · Δt = 50 mm/s × 50 ms = 2.5 mm</a:t>
            </a:r>
            <a:endParaRPr lang="en-US" sz="1500" dirty="0"/>
          </a:p>
        </p:txBody>
      </p:sp>
      <p:pic>
        <p:nvPicPr>
          <p:cNvPr id="11" name="Chart from the calculation sheet: Wiring" descr="Chart from the calculation sheet: Wiring">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“Wiring”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Cooling the Motor</a:t>
            </a:r>
            <a:endParaRPr lang="en-US" sz="3000" dirty="0"/>
          </a:p>
        </p:txBody>
      </p:sp>
      <p:sp>
        <p:nvSpPr>
          <p:cNvPr id="4" name="status chip"/>
          <p:cNvSpPr/>
          <p:nvPr/>
        </p:nvSpPr>
        <p:spPr>
          <a:xfrm>
            <a:off x="7610551" y="621792"/>
            <a:ext cx="4032504"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7610551" y="621792"/>
            <a:ext cx="4032504"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Fin built · temperature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sealed printed shell traps motor heat; PETG creeps above 60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an aluminium fin up through the shell, shaped like an antelope horn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At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twice the heat (4.1 W); vented + fin ≈ 58 °C, without the fin 77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90-minute hold test at 1.5 A; back to 1.35 A if it runs hot</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m</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I² R = (1.5 A)² × 1.8 Ω = 4.1 W</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1/R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shell</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fin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ΔT = P · R</a:t>
            </a:r>
            <a:endParaRPr lang="en-US" sz="1500" dirty="0"/>
          </a:p>
        </p:txBody>
      </p:sp>
      <p:pic>
        <p:nvPicPr>
          <p:cNvPr id="11" name="Chart from the calculation sheet: Motor " descr="Chart from the calculation sheet: Motor temperature">    </p:cNvPr>
          <p:cNvPicPr>
            <a:picLocks noChangeAspect="1"/>
          </p:cNvPicPr>
          <p:nvPr/>
        </p:nvPicPr>
        <p:blipFill>
          <a:blip r:embed="rId1"/>
          <a:stretch>
            <a:fillRect/>
          </a:stretch>
        </p:blipFill>
        <p:spPr>
          <a:xfrm>
            <a:off x="5880671" y="1554480"/>
            <a:ext cx="5762384" cy="3959968"/>
          </a:xfrm>
          <a:prstGeom prst="rect">
            <a:avLst/>
          </a:prstGeom>
        </p:spPr>
      </p:pic>
      <p:sp>
        <p:nvSpPr>
          <p:cNvPr id="12" name="chart frame"/>
          <p:cNvSpPr/>
          <p:nvPr/>
        </p:nvSpPr>
        <p:spPr>
          <a:xfrm>
            <a:off x="5880671" y="1554480"/>
            <a:ext cx="5762384" cy="3959968"/>
          </a:xfrm>
          <a:prstGeom prst="rect">
            <a:avLst/>
          </a:prstGeom>
          <a:ln w="9525">
            <a:solidFill>
              <a:srgbClr val="BFBFBF"/>
            </a:solidFill>
            <a:prstDash val="solid"/>
          </a:ln>
        </p:spPr>
      </p:sp>
      <p:sp>
        <p:nvSpPr>
          <p:cNvPr id="13" name="caption"/>
          <p:cNvSpPr txBox="1"/>
          <p:nvPr/>
        </p:nvSpPr>
        <p:spPr>
          <a:xfrm>
            <a:off x="5880671" y="5587600"/>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“Motor temperature”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Homing</a:t>
            </a:r>
            <a:endParaRPr lang="en-US" sz="3000" dirty="0"/>
          </a:p>
        </p:txBody>
      </p:sp>
      <p:sp>
        <p:nvSpPr>
          <p:cNvPr id="4" name="status chip"/>
          <p:cNvSpPr/>
          <p:nvPr/>
        </p:nvSpPr>
        <p:spPr>
          <a:xfrm>
            <a:off x="8872423" y="621792"/>
            <a:ext cx="277063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872423" y="621792"/>
            <a:ext cx="277063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 · 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Plan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on each cable trips a switch → known length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Found: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cannot pass the outlet, so cables can never be shorter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homing 1 m up leaves 5 % of the room reachable; 2 m up, 29 %</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claw camera reads a printed floor board; fit the geometry from several poses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whole room reachable; the beads became end stops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for every cable i</a:t>
            </a:r>
            <a:endParaRPr lang="en-US" sz="1500" dirty="0"/>
          </a:p>
        </p:txBody>
      </p:sp>
      <p:pic>
        <p:nvPicPr>
          <p:cNvPr id="11" name="Chart from the calculation sheet: Bead h" descr="Chart from the calculation sheet: Bead homing">    </p:cNvPr>
          <p:cNvPicPr>
            <a:picLocks noChangeAspect="1"/>
          </p:cNvPicPr>
          <p:nvPr/>
        </p:nvPicPr>
        <p:blipFill>
          <a:blip r:embed="rId1"/>
          <a:stretch>
            <a:fillRect/>
          </a:stretch>
        </p:blipFill>
        <p:spPr>
          <a:xfrm>
            <a:off x="5880671" y="1554480"/>
            <a:ext cx="5762384" cy="3967454"/>
          </a:xfrm>
          <a:prstGeom prst="rect">
            <a:avLst/>
          </a:prstGeom>
        </p:spPr>
      </p:pic>
      <p:sp>
        <p:nvSpPr>
          <p:cNvPr id="12" name="chart frame"/>
          <p:cNvSpPr/>
          <p:nvPr/>
        </p:nvSpPr>
        <p:spPr>
          <a:xfrm>
            <a:off x="5880671" y="1554480"/>
            <a:ext cx="5762384" cy="3967454"/>
          </a:xfrm>
          <a:prstGeom prst="rect">
            <a:avLst/>
          </a:prstGeom>
          <a:ln w="9525">
            <a:solidFill>
              <a:srgbClr val="BFBFBF"/>
            </a:solidFill>
            <a:prstDash val="solid"/>
          </a:ln>
        </p:spPr>
      </p:sp>
      <p:sp>
        <p:nvSpPr>
          <p:cNvPr id="13" name="caption"/>
          <p:cNvSpPr txBox="1"/>
          <p:nvPr/>
        </p:nvSpPr>
        <p:spPr>
          <a:xfrm>
            <a:off x="5880671" y="5595086"/>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“Bead homing”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Claw</a:t>
            </a:r>
            <a:endParaRPr lang="en-US" sz="3000" dirty="0"/>
          </a:p>
        </p:txBody>
      </p:sp>
      <p:sp>
        <p:nvSpPr>
          <p:cNvPr id="4" name="status chip"/>
          <p:cNvSpPr/>
          <p:nvPr/>
        </p:nvSpPr>
        <p:spPr>
          <a:xfrm>
            <a:off x="8556955" y="621792"/>
            <a:ext cx="308610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556955" y="621792"/>
            <a:ext cx="308610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Body built · hands in CAD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tendon-driven fingers in TPU (flexible thermoplastic polyurethane)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could not pinch thin fabric; one clamp was 4.6× over its mass budget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Final: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geared four-bar, parallel jaws, 53 mm opening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Gears: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module 1 failed the stall check → module 1.5, safety factor ≈ 2</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Grip: 2 μ N ≥ m g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N ≥ 7.4 N per jaw   (1 lb, μ = 0.3)</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Lewis: 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a:t>
            </a:r>
            <a:endParaRPr lang="en-US" sz="1500" dirty="0"/>
          </a:p>
        </p:txBody>
      </p:sp>
      <p:sp>
        <p:nvSpPr>
          <p:cNvPr id="11" name="Shape 9"/>
          <p:cNvSpPr/>
          <p:nvPr/>
        </p:nvSpPr>
        <p:spPr>
          <a:xfrm>
            <a:off x="5658783" y="1463040"/>
            <a:ext cx="2937272" cy="2162556"/>
          </a:xfrm>
          <a:prstGeom prst="rect">
            <a:avLst/>
          </a:prstGeom>
          <a:solidFill>
            <a:srgbClr val="F2F2F2"/>
          </a:solidFill>
          <a:ln w="12700">
            <a:solidFill>
              <a:srgbClr val="F2F2F2"/>
            </a:solidFill>
            <a:prstDash val="solid"/>
          </a:ln>
        </p:spPr>
      </p:sp>
      <p:pic>
        <p:nvPicPr>
          <p:cNvPr id="12" name="Claw generations and the printed gear tr" descr="Claw generations and the printed gear train">    </p:cNvPr>
          <p:cNvPicPr>
            <a:picLocks noChangeAspect="1"/>
          </p:cNvPicPr>
          <p:nvPr/>
        </p:nvPicPr>
        <p:blipFill>
          <a:blip r:embed="rId1"/>
          <a:stretch>
            <a:fillRect/>
          </a:stretch>
        </p:blipFill>
        <p:spPr>
          <a:xfrm>
            <a:off x="6417461" y="1517904"/>
            <a:ext cx="1419915" cy="2052828"/>
          </a:xfrm>
          <a:prstGeom prst="rect">
            <a:avLst/>
          </a:prstGeom>
        </p:spPr>
      </p:pic>
      <p:sp>
        <p:nvSpPr>
          <p:cNvPr id="13" name="Shape 10"/>
          <p:cNvSpPr/>
          <p:nvPr/>
        </p:nvSpPr>
        <p:spPr>
          <a:xfrm>
            <a:off x="8705783" y="1463040"/>
            <a:ext cx="2937272" cy="2162556"/>
          </a:xfrm>
          <a:prstGeom prst="rect">
            <a:avLst/>
          </a:prstGeom>
          <a:solidFill>
            <a:srgbClr val="F2F2F2"/>
          </a:solidFill>
          <a:ln w="12700">
            <a:solidFill>
              <a:srgbClr val="F2F2F2"/>
            </a:solidFill>
            <a:prstDash val="solid"/>
          </a:ln>
        </p:spPr>
      </p:sp>
      <p:pic>
        <p:nvPicPr>
          <p:cNvPr id="14" name="Claw generations and the printed gear tr" descr="Claw generations and the printed gear train">    </p:cNvPr>
          <p:cNvPicPr>
            <a:picLocks noChangeAspect="1"/>
          </p:cNvPicPr>
          <p:nvPr/>
        </p:nvPicPr>
        <p:blipFill>
          <a:blip r:embed="rId2"/>
          <a:stretch>
            <a:fillRect/>
          </a:stretch>
        </p:blipFill>
        <p:spPr>
          <a:xfrm>
            <a:off x="9857400" y="1517904"/>
            <a:ext cx="634038" cy="2052828"/>
          </a:xfrm>
          <a:prstGeom prst="rect">
            <a:avLst/>
          </a:prstGeom>
        </p:spPr>
      </p:pic>
      <p:sp>
        <p:nvSpPr>
          <p:cNvPr id="15" name="Shape 11"/>
          <p:cNvSpPr/>
          <p:nvPr/>
        </p:nvSpPr>
        <p:spPr>
          <a:xfrm>
            <a:off x="5658783" y="3735324"/>
            <a:ext cx="2937272" cy="2162556"/>
          </a:xfrm>
          <a:prstGeom prst="rect">
            <a:avLst/>
          </a:prstGeom>
          <a:solidFill>
            <a:srgbClr val="F2F2F2"/>
          </a:solidFill>
          <a:ln w="12700">
            <a:solidFill>
              <a:srgbClr val="F2F2F2"/>
            </a:solidFill>
            <a:prstDash val="solid"/>
          </a:ln>
        </p:spPr>
      </p:sp>
      <p:pic>
        <p:nvPicPr>
          <p:cNvPr id="16" name="Claw generations and the printed gear tr" descr="Claw generations and the printed gear train">    </p:cNvPr>
          <p:cNvPicPr>
            <a:picLocks noChangeAspect="1"/>
          </p:cNvPicPr>
          <p:nvPr/>
        </p:nvPicPr>
        <p:blipFill>
          <a:blip r:embed="rId3"/>
          <a:stretch>
            <a:fillRect/>
          </a:stretch>
        </p:blipFill>
        <p:spPr>
          <a:xfrm>
            <a:off x="6530637" y="3790188"/>
            <a:ext cx="1193564" cy="2052828"/>
          </a:xfrm>
          <a:prstGeom prst="rect">
            <a:avLst/>
          </a:prstGeom>
        </p:spPr>
      </p:pic>
      <p:sp>
        <p:nvSpPr>
          <p:cNvPr id="17" name="Shape 12"/>
          <p:cNvSpPr/>
          <p:nvPr/>
        </p:nvSpPr>
        <p:spPr>
          <a:xfrm>
            <a:off x="8705783" y="3735324"/>
            <a:ext cx="2937272" cy="2162556"/>
          </a:xfrm>
          <a:prstGeom prst="rect">
            <a:avLst/>
          </a:prstGeom>
          <a:solidFill>
            <a:srgbClr val="F2F2F2"/>
          </a:solidFill>
          <a:ln w="12700">
            <a:solidFill>
              <a:srgbClr val="F2F2F2"/>
            </a:solidFill>
            <a:prstDash val="solid"/>
          </a:ln>
        </p:spPr>
      </p:sp>
      <p:pic>
        <p:nvPicPr>
          <p:cNvPr id="18" name="Claw generations and the printed gear tr" descr="Claw generations and the printed gear train">    </p:cNvPr>
          <p:cNvPicPr>
            <a:picLocks noChangeAspect="1"/>
          </p:cNvPicPr>
          <p:nvPr/>
        </p:nvPicPr>
        <p:blipFill>
          <a:blip r:embed="rId4"/>
          <a:stretch>
            <a:fillRect/>
          </a:stretch>
        </p:blipFill>
        <p:spPr>
          <a:xfrm>
            <a:off x="9404609" y="3790188"/>
            <a:ext cx="1539621" cy="2052828"/>
          </a:xfrm>
          <a:prstGeom prst="rect">
            <a:avLst/>
          </a:prstGeom>
        </p:spPr>
      </p:pic>
      <p:sp>
        <p:nvSpPr>
          <p:cNvPr id="19" name="caption"/>
          <p:cNvSpPr txBox="1"/>
          <p:nvPr/>
        </p:nvSpPr>
        <p:spPr>
          <a:xfrm>
            <a:off x="5658783" y="597103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Fingers → v6 clamp → final geared four-bar (CAD) → printed gear train with the servo</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Weight: the Open Problem</a:t>
            </a:r>
            <a:endParaRPr lang="en-US" sz="3000" dirty="0"/>
          </a:p>
        </p:txBody>
      </p:sp>
      <p:sp>
        <p:nvSpPr>
          <p:cNvPr id="4" name="status chip"/>
          <p:cNvSpPr/>
          <p:nvPr/>
        </p:nvSpPr>
        <p:spPr>
          <a:xfrm>
            <a:off x="9923983" y="621792"/>
            <a:ext cx="1719072"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923983" y="621792"/>
            <a:ext cx="1719072"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Open problem</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Capacity at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1.56 kg at the worst point (was 1.10)</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0.76 kg printed (CAD) + 0.1 kg battery;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[weighed: ___ 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 lb test now fits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(1.32 kg); jeans are still 0.2 kg over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Options: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lighter claw · 3:1 winch reduction · lighter demo load</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pull test decides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iz</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 (g + a),   0 &lt;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16.8 N</a:t>
            </a:r>
            <a:endParaRPr lang="en-US" sz="1500" dirty="0"/>
          </a:p>
        </p:txBody>
      </p:sp>
      <p:pic>
        <p:nvPicPr>
          <p:cNvPr id="11" name="Chart from the calculation sheet: Lift b" descr="Chart from the calculation sheet: Lift budget">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“Lift budget”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Printed Fits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PETG on a Creality K1, 0.2 mm layers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Printed holes come out undersize, so every fit gets an allowance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Spool: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v1 too long · v2 bore too tight · v3 Ø5.45 with a flat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Torque goes through a set screw on the shaft flat, not the press fit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Lesson: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print a fit coupon before the part</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Clearance c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hole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u)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shaft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printer undersize</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Ø5.2 too tight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0.2 mm, so Ø5.45 gives c ≈ 0.25 mm</a:t>
            </a:r>
            <a:endParaRPr lang="en-US" sz="1500" dirty="0"/>
          </a:p>
        </p:txBody>
      </p:sp>
      <p:sp>
        <p:nvSpPr>
          <p:cNvPr id="11" name="Shape 9"/>
          <p:cNvSpPr/>
          <p:nvPr/>
        </p:nvSpPr>
        <p:spPr>
          <a:xfrm>
            <a:off x="5658783" y="1463040"/>
            <a:ext cx="1903318" cy="4526280"/>
          </a:xfrm>
          <a:prstGeom prst="rect">
            <a:avLst/>
          </a:prstGeom>
          <a:solidFill>
            <a:srgbClr val="F2F2F2"/>
          </a:solidFill>
          <a:ln w="12700">
            <a:solidFill>
              <a:srgbClr val="F2F2F2"/>
            </a:solidFill>
            <a:prstDash val="solid"/>
          </a:ln>
        </p:spPr>
      </p:sp>
      <p:pic>
        <p:nvPicPr>
          <p:cNvPr id="12" name="Spool v1, v2, v3" descr="Spool v1, v2, v3">    </p:cNvPr>
          <p:cNvPicPr>
            <a:picLocks noChangeAspect="1"/>
          </p:cNvPicPr>
          <p:nvPr/>
        </p:nvPicPr>
        <p:blipFill>
          <a:blip r:embed="rId1"/>
          <a:stretch>
            <a:fillRect/>
          </a:stretch>
        </p:blipFill>
        <p:spPr>
          <a:xfrm>
            <a:off x="5713647" y="2821123"/>
            <a:ext cx="1793590" cy="1810114"/>
          </a:xfrm>
          <a:prstGeom prst="rect">
            <a:avLst/>
          </a:prstGeom>
        </p:spPr>
      </p:pic>
      <p:sp>
        <p:nvSpPr>
          <p:cNvPr id="13" name="Shape 10"/>
          <p:cNvSpPr/>
          <p:nvPr/>
        </p:nvSpPr>
        <p:spPr>
          <a:xfrm>
            <a:off x="7699260" y="1463040"/>
            <a:ext cx="1903318" cy="4526280"/>
          </a:xfrm>
          <a:prstGeom prst="rect">
            <a:avLst/>
          </a:prstGeom>
          <a:solidFill>
            <a:srgbClr val="F2F2F2"/>
          </a:solidFill>
          <a:ln w="12700">
            <a:solidFill>
              <a:srgbClr val="F2F2F2"/>
            </a:solidFill>
            <a:prstDash val="solid"/>
          </a:ln>
        </p:spPr>
      </p:sp>
      <p:pic>
        <p:nvPicPr>
          <p:cNvPr id="14" name="Spool v1, v2, v3" descr="Spool v1, v2, v3">    </p:cNvPr>
          <p:cNvPicPr>
            <a:picLocks noChangeAspect="1"/>
          </p:cNvPicPr>
          <p:nvPr/>
        </p:nvPicPr>
        <p:blipFill>
          <a:blip r:embed="rId2"/>
          <a:stretch>
            <a:fillRect/>
          </a:stretch>
        </p:blipFill>
        <p:spPr>
          <a:xfrm>
            <a:off x="7754124" y="2885472"/>
            <a:ext cx="1793590" cy="1681416"/>
          </a:xfrm>
          <a:prstGeom prst="rect">
            <a:avLst/>
          </a:prstGeom>
        </p:spPr>
      </p:pic>
      <p:sp>
        <p:nvSpPr>
          <p:cNvPr id="15" name="Shape 11"/>
          <p:cNvSpPr/>
          <p:nvPr/>
        </p:nvSpPr>
        <p:spPr>
          <a:xfrm>
            <a:off x="9739738" y="1463040"/>
            <a:ext cx="1903318" cy="4526280"/>
          </a:xfrm>
          <a:prstGeom prst="rect">
            <a:avLst/>
          </a:prstGeom>
          <a:solidFill>
            <a:srgbClr val="F2F2F2"/>
          </a:solidFill>
          <a:ln w="12700">
            <a:solidFill>
              <a:srgbClr val="F2F2F2"/>
            </a:solidFill>
            <a:prstDash val="solid"/>
          </a:ln>
        </p:spPr>
      </p:sp>
      <p:pic>
        <p:nvPicPr>
          <p:cNvPr id="16" name="Spool v1, v2, v3" descr="Spool v1, v2, v3">    </p:cNvPr>
          <p:cNvPicPr>
            <a:picLocks noChangeAspect="1"/>
          </p:cNvPicPr>
          <p:nvPr/>
        </p:nvPicPr>
        <p:blipFill>
          <a:blip r:embed="rId3"/>
          <a:stretch>
            <a:fillRect/>
          </a:stretch>
        </p:blipFill>
        <p:spPr>
          <a:xfrm>
            <a:off x="9794602" y="2821758"/>
            <a:ext cx="1793590" cy="1808843"/>
          </a:xfrm>
          <a:prstGeom prst="rect">
            <a:avLst/>
          </a:prstGeom>
        </p:spPr>
      </p:pic>
      <p:sp>
        <p:nvSpPr>
          <p:cNvPr id="17"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v1, v2, v3 (CAD)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Machining the Fin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Shop drawing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1:1 print with a hole template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Sheared 0.019 in aluminium sheet to 44 × 250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Manual mill, one setup: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holes from the same two edges, ±0.1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Matte black paint; thermal paste on the motor face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bolted onto the motor with no reaming</a:t>
            </a:r>
            <a:endParaRPr lang="en-US" sz="2000" dirty="0"/>
          </a:p>
        </p:txBody>
      </p:sp>
      <p:sp>
        <p:nvSpPr>
          <p:cNvPr id="8" name="Shape 6"/>
          <p:cNvSpPr/>
          <p:nvPr/>
        </p:nvSpPr>
        <p:spPr>
          <a:xfrm>
            <a:off x="5880671" y="1463040"/>
            <a:ext cx="2826328" cy="2162556"/>
          </a:xfrm>
          <a:prstGeom prst="rect">
            <a:avLst/>
          </a:prstGeom>
          <a:solidFill>
            <a:srgbClr val="F2F2F2"/>
          </a:solidFill>
          <a:ln w="12700">
            <a:solidFill>
              <a:srgbClr val="F2F2F2"/>
            </a:solidFill>
            <a:prstDash val="solid"/>
          </a:ln>
        </p:spPr>
      </p:sp>
      <p:pic>
        <p:nvPicPr>
          <p:cNvPr id="9" name="Fin manufacturing photos" descr="Fin manufacturing photos">    </p:cNvPr>
          <p:cNvPicPr>
            <a:picLocks noChangeAspect="1"/>
          </p:cNvPicPr>
          <p:nvPr/>
        </p:nvPicPr>
        <p:blipFill>
          <a:blip r:embed="rId1"/>
          <a:stretch>
            <a:fillRect/>
          </a:stretch>
        </p:blipFill>
        <p:spPr>
          <a:xfrm>
            <a:off x="5935535" y="1525593"/>
            <a:ext cx="2716600" cy="2037450"/>
          </a:xfrm>
          <a:prstGeom prst="rect">
            <a:avLst/>
          </a:prstGeom>
        </p:spPr>
      </p:pic>
      <p:sp>
        <p:nvSpPr>
          <p:cNvPr id="10" name="Shape 7"/>
          <p:cNvSpPr/>
          <p:nvPr/>
        </p:nvSpPr>
        <p:spPr>
          <a:xfrm>
            <a:off x="8816727" y="1463040"/>
            <a:ext cx="2826328" cy="2162556"/>
          </a:xfrm>
          <a:prstGeom prst="rect">
            <a:avLst/>
          </a:prstGeom>
          <a:solidFill>
            <a:srgbClr val="F2F2F2"/>
          </a:solidFill>
          <a:ln w="12700">
            <a:solidFill>
              <a:srgbClr val="F2F2F2"/>
            </a:solidFill>
            <a:prstDash val="solid"/>
          </a:ln>
        </p:spPr>
      </p:sp>
      <p:pic>
        <p:nvPicPr>
          <p:cNvPr id="11" name="Fin manufacturing photos" descr="Fin manufacturing photos">    </p:cNvPr>
          <p:cNvPicPr>
            <a:picLocks noChangeAspect="1"/>
          </p:cNvPicPr>
          <p:nvPr/>
        </p:nvPicPr>
        <p:blipFill>
          <a:blip r:embed="rId2"/>
          <a:stretch>
            <a:fillRect/>
          </a:stretch>
        </p:blipFill>
        <p:spPr>
          <a:xfrm>
            <a:off x="9460081" y="1517904"/>
            <a:ext cx="1539621" cy="2052828"/>
          </a:xfrm>
          <a:prstGeom prst="rect">
            <a:avLst/>
          </a:prstGeom>
        </p:spPr>
      </p:pic>
      <p:sp>
        <p:nvSpPr>
          <p:cNvPr id="12" name="Shape 8"/>
          <p:cNvSpPr/>
          <p:nvPr/>
        </p:nvSpPr>
        <p:spPr>
          <a:xfrm>
            <a:off x="5880671" y="3735324"/>
            <a:ext cx="2826328" cy="2162556"/>
          </a:xfrm>
          <a:prstGeom prst="rect">
            <a:avLst/>
          </a:prstGeom>
          <a:solidFill>
            <a:srgbClr val="F2F2F2"/>
          </a:solidFill>
          <a:ln w="12700">
            <a:solidFill>
              <a:srgbClr val="F2F2F2"/>
            </a:solidFill>
            <a:prstDash val="solid"/>
          </a:ln>
        </p:spPr>
      </p:sp>
      <p:pic>
        <p:nvPicPr>
          <p:cNvPr id="13" name="Fin manufacturing photos" descr="Fin manufacturing photos">    </p:cNvPr>
          <p:cNvPicPr>
            <a:picLocks noChangeAspect="1"/>
          </p:cNvPicPr>
          <p:nvPr/>
        </p:nvPicPr>
        <p:blipFill>
          <a:blip r:embed="rId3"/>
          <a:stretch>
            <a:fillRect/>
          </a:stretch>
        </p:blipFill>
        <p:spPr>
          <a:xfrm>
            <a:off x="6524025" y="3790188"/>
            <a:ext cx="1539621" cy="2052828"/>
          </a:xfrm>
          <a:prstGeom prst="rect">
            <a:avLst/>
          </a:prstGeom>
        </p:spPr>
      </p:pic>
      <p:sp>
        <p:nvSpPr>
          <p:cNvPr id="14" name="Shape 9"/>
          <p:cNvSpPr/>
          <p:nvPr/>
        </p:nvSpPr>
        <p:spPr>
          <a:xfrm>
            <a:off x="8816727" y="3735324"/>
            <a:ext cx="2826328" cy="2162556"/>
          </a:xfrm>
          <a:prstGeom prst="rect">
            <a:avLst/>
          </a:prstGeom>
          <a:solidFill>
            <a:srgbClr val="F2F2F2"/>
          </a:solidFill>
          <a:ln w="12700">
            <a:solidFill>
              <a:srgbClr val="F2F2F2"/>
            </a:solidFill>
            <a:prstDash val="solid"/>
          </a:ln>
        </p:spPr>
      </p:sp>
      <p:pic>
        <p:nvPicPr>
          <p:cNvPr id="15" name="Fin manufacturing photos" descr="Fin manufacturing photos">    </p:cNvPr>
          <p:cNvPicPr>
            <a:picLocks noChangeAspect="1"/>
          </p:cNvPicPr>
          <p:nvPr/>
        </p:nvPicPr>
        <p:blipFill>
          <a:blip r:embed="rId4"/>
          <a:stretch>
            <a:fillRect/>
          </a:stretch>
        </p:blipFill>
        <p:spPr>
          <a:xfrm>
            <a:off x="9460081" y="3790188"/>
            <a:ext cx="1539621" cy="2052828"/>
          </a:xfrm>
          <a:prstGeom prst="rect">
            <a:avLst/>
          </a:prstGeom>
        </p:spPr>
      </p:pic>
      <p:sp>
        <p:nvSpPr>
          <p:cNvPr id="16" name="caption"/>
          <p:cNvSpPr txBox="1"/>
          <p:nvPr/>
        </p:nvSpPr>
        <p:spPr>
          <a:xfrm>
            <a:off x="5880671" y="5971032"/>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Shear and blanks · mill setup with the drawing · drilling · the finished fin</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Electronics Bring-Up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Measured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Station board: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driver boots off, so a reset never moves the motor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Schematic built from the soldered board: 16 nets, 55 pins match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Failure: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log said stepping; the shaft did not turn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Cause: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logic rail at 1.14 V, not 3.3 V: a bad connection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Now: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meter checklist before any code</a:t>
            </a:r>
            <a:endParaRPr lang="en-US" sz="2000" dirty="0"/>
          </a:p>
        </p:txBody>
      </p:sp>
      <p:sp>
        <p:nvSpPr>
          <p:cNvPr id="8" name="Shape 6"/>
          <p:cNvSpPr/>
          <p:nvPr/>
        </p:nvSpPr>
        <p:spPr>
          <a:xfrm>
            <a:off x="5658783" y="1463040"/>
            <a:ext cx="2923556" cy="4526280"/>
          </a:xfrm>
          <a:prstGeom prst="rect">
            <a:avLst/>
          </a:prstGeom>
          <a:solidFill>
            <a:srgbClr val="F2F2F2"/>
          </a:solidFill>
          <a:ln w="12700">
            <a:solidFill>
              <a:srgbClr val="F2F2F2"/>
            </a:solidFill>
            <a:prstDash val="solid"/>
          </a:ln>
        </p:spPr>
      </p:sp>
      <p:pic>
        <p:nvPicPr>
          <p:cNvPr id="9" name="Soldered station board and bench bring-u" descr="Soldered station board and bench bring-up">    </p:cNvPr>
          <p:cNvPicPr>
            <a:picLocks noChangeAspect="1"/>
          </p:cNvPicPr>
          <p:nvPr/>
        </p:nvPicPr>
        <p:blipFill>
          <a:blip r:embed="rId1"/>
          <a:stretch>
            <a:fillRect/>
          </a:stretch>
        </p:blipFill>
        <p:spPr>
          <a:xfrm>
            <a:off x="5713647" y="1850294"/>
            <a:ext cx="2813828" cy="3751771"/>
          </a:xfrm>
          <a:prstGeom prst="rect">
            <a:avLst/>
          </a:prstGeom>
        </p:spPr>
      </p:pic>
      <p:sp>
        <p:nvSpPr>
          <p:cNvPr id="10" name="Shape 7"/>
          <p:cNvSpPr/>
          <p:nvPr/>
        </p:nvSpPr>
        <p:spPr>
          <a:xfrm>
            <a:off x="8719499" y="1463040"/>
            <a:ext cx="2923556" cy="4526280"/>
          </a:xfrm>
          <a:prstGeom prst="rect">
            <a:avLst/>
          </a:prstGeom>
          <a:solidFill>
            <a:srgbClr val="F2F2F2"/>
          </a:solidFill>
          <a:ln w="12700">
            <a:solidFill>
              <a:srgbClr val="F2F2F2"/>
            </a:solidFill>
            <a:prstDash val="solid"/>
          </a:ln>
        </p:spPr>
      </p:sp>
      <p:pic>
        <p:nvPicPr>
          <p:cNvPr id="11" name="Soldered station board and bench bring-u" descr="Soldered station board and bench bring-up">    </p:cNvPr>
          <p:cNvPicPr>
            <a:picLocks noChangeAspect="1"/>
          </p:cNvPicPr>
          <p:nvPr/>
        </p:nvPicPr>
        <p:blipFill>
          <a:blip r:embed="rId2"/>
          <a:stretch>
            <a:fillRect/>
          </a:stretch>
        </p:blipFill>
        <p:spPr>
          <a:xfrm>
            <a:off x="8774363" y="1850294"/>
            <a:ext cx="2813828" cy="3751771"/>
          </a:xfrm>
          <a:prstGeom prst="rect">
            <a:avLst/>
          </a:prstGeom>
        </p:spPr>
      </p:pic>
      <p:sp>
        <p:nvSpPr>
          <p:cNvPr id="12"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(left); bench bring-up (right)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First Test</a:t>
            </a:r>
            <a:endParaRPr lang="en-US" sz="3000" dirty="0"/>
          </a:p>
        </p:txBody>
      </p:sp>
      <p:sp>
        <p:nvSpPr>
          <p:cNvPr id="4" name="status chip"/>
          <p:cNvSpPr/>
          <p:nvPr/>
        </p:nvSpPr>
        <p:spPr>
          <a:xfrm>
            <a:off x="9187891" y="621792"/>
            <a:ext cx="2455164"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187891" y="621792"/>
            <a:ext cx="2455164"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Planned · this week</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Three stations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fewest cables that hold a point, so every tension is solved exactly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Sequence: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self-check → slack take-up → lift → calibrate → short move → pickup</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 lb test weight, then one garment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Pass limits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written before the run</a:t>
            </a:r>
            <a:endParaRPr lang="en-US" sz="2000" dirty="0"/>
          </a:p>
        </p:txBody>
      </p:sp>
      <p:sp>
        <p:nvSpPr>
          <p:cNvPr id="8" name="placeholder"/>
          <p:cNvSpPr/>
          <p:nvPr/>
        </p:nvSpPr>
        <p:spPr>
          <a:xfrm>
            <a:off x="5436894" y="1463040"/>
            <a:ext cx="6206161" cy="2240280"/>
          </a:xfrm>
          <a:prstGeom prst="rect">
            <a:avLst/>
          </a:prstGeom>
          <a:solidFill>
            <a:srgbClr val="F2F2F2"/>
          </a:solidFill>
          <a:ln w="12700">
            <a:solidFill>
              <a:srgbClr val="B23A2E"/>
            </a:solidFill>
            <a:prstDash val="dash"/>
          </a:ln>
        </p:spPr>
      </p:sp>
      <p:sp>
        <p:nvSpPr>
          <p:cNvPr id="9" name="placeholder text"/>
          <p:cNvSpPr txBox="1"/>
          <p:nvPr/>
        </p:nvSpPr>
        <p:spPr>
          <a:xfrm>
            <a:off x="5619774" y="1463040"/>
            <a:ext cx="5840401" cy="2240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19" name="pass limits"/>
          <p:cNvGraphicFramePr>
            <a:graphicFrameLocks noGrp="1"/>
          </p:cNvGraphicFramePr>
          <p:nvPr>
            <p:extLst>
              <p:ext uri="{D42A27DB-BD31-4B8C-83A1-F6EECF244321}">
                <p14:modId xmlns:p14="http://schemas.microsoft.com/office/powerpoint/2010/main" val="1579011935"/>
              </p:ext>
            </p:extLst>
          </p:nvPr>
        </p:nvGraphicFramePr>
        <p:xfrm>
          <a:off x="5436894" y="3886200"/>
          <a:ext cx="6206161" cy="914400"/>
        </p:xfrm>
        <a:graphic>
          <a:graphicData uri="http://schemas.openxmlformats.org/drawingml/2006/table">
            <a:tbl>
              <a:tblPr/>
              <a:tblGrid>
                <a:gridCol w="1861848"/>
                <a:gridCol w="3103080"/>
                <a:gridCol w="1241232"/>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Startup 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fit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Held-out poses inside the safety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Good and Poor Decisions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Good decisions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Good decisions</a:t>
            </a:r>
            <a:endParaRPr lang="en-US" sz="1600" dirty="0"/>
          </a:p>
        </p:txBody>
      </p:sp>
      <p:sp>
        <p:nvSpPr>
          <p:cNvPr id="7" name="Shape 5"/>
          <p:cNvSpPr/>
          <p:nvPr/>
        </p:nvSpPr>
        <p:spPr>
          <a:xfrm>
            <a:off x="548640" y="2011680"/>
            <a:ext cx="1417320" cy="960120"/>
          </a:xfrm>
          <a:prstGeom prst="rect">
            <a:avLst/>
          </a:prstGeom>
          <a:solidFill>
            <a:srgbClr val="F2F2F2"/>
          </a:solidFill>
          <a:ln w="12700">
            <a:solidFill>
              <a:srgbClr val="F2F2F2"/>
            </a:solidFill>
            <a:prstDash val="solid"/>
          </a:ln>
        </p:spPr>
      </p:sp>
      <p:pic>
        <p:nvPicPr>
          <p:cNvPr id="8" name="One controller per winch" descr="One controller per winch">    </p:cNvPr>
          <p:cNvPicPr>
            <a:picLocks noChangeAspect="1"/>
          </p:cNvPicPr>
          <p:nvPr/>
        </p:nvPicPr>
        <p:blipFill>
          <a:blip r:embed="rId1"/>
          <a:stretch>
            <a:fillRect/>
          </a:stretch>
        </p:blipFill>
        <p:spPr>
          <a:xfrm>
            <a:off x="938403" y="2066544"/>
            <a:ext cx="637794" cy="850392"/>
          </a:xfrm>
          <a:prstGeom prst="rect">
            <a:avLst/>
          </a:prstGeom>
        </p:spPr>
      </p:pic>
      <p:sp>
        <p:nvSpPr>
          <p:cNvPr id="9" name="One controller per winch"/>
          <p:cNvSpPr txBox="1"/>
          <p:nvPr/>
        </p:nvSpPr>
        <p:spPr>
          <a:xfrm>
            <a:off x="2103120"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One controller per winch</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5× less wire; each station tested alone</a:t>
            </a:r>
            <a:endParaRPr lang="en-US" sz="1600" dirty="0"/>
          </a:p>
        </p:txBody>
      </p:sp>
      <p:sp>
        <p:nvSpPr>
          <p:cNvPr id="10" name="Shape 7"/>
          <p:cNvSpPr/>
          <p:nvPr/>
        </p:nvSpPr>
        <p:spPr>
          <a:xfrm>
            <a:off x="548640" y="3108960"/>
            <a:ext cx="1417320" cy="960120"/>
          </a:xfrm>
          <a:prstGeom prst="rect">
            <a:avLst/>
          </a:prstGeom>
          <a:solidFill>
            <a:srgbClr val="F2F2F2"/>
          </a:solidFill>
          <a:ln w="12700">
            <a:solidFill>
              <a:srgbClr val="F2F2F2"/>
            </a:solidFill>
            <a:prstDash val="solid"/>
          </a:ln>
        </p:spPr>
      </p:sp>
      <p:pic>
        <p:nvPicPr>
          <p:cNvPr id="11" name="Slide-in wall mount" descr="Slide-in wall mount">    </p:cNvPr>
          <p:cNvPicPr>
            <a:picLocks noChangeAspect="1"/>
          </p:cNvPicPr>
          <p:nvPr/>
        </p:nvPicPr>
        <p:blipFill>
          <a:blip r:embed="rId2"/>
          <a:stretch>
            <a:fillRect/>
          </a:stretch>
        </p:blipFill>
        <p:spPr>
          <a:xfrm>
            <a:off x="937026" y="3163824"/>
            <a:ext cx="640547" cy="850392"/>
          </a:xfrm>
          <a:prstGeom prst="rect">
            <a:avLst/>
          </a:prstGeom>
        </p:spPr>
      </p:pic>
      <p:sp>
        <p:nvSpPr>
          <p:cNvPr id="12" name="Slide-in wall mount"/>
          <p:cNvSpPr txBox="1"/>
          <p:nvPr/>
        </p:nvSpPr>
        <p:spPr>
          <a:xfrm>
            <a:off x="2103120"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Slide-in wall mount</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A station comes off; the anchor stays put</a:t>
            </a:r>
            <a:endParaRPr lang="en-US" sz="1600" dirty="0"/>
          </a:p>
        </p:txBody>
      </p:sp>
      <p:sp>
        <p:nvSpPr>
          <p:cNvPr id="13" name="Shape 9"/>
          <p:cNvSpPr/>
          <p:nvPr/>
        </p:nvSpPr>
        <p:spPr>
          <a:xfrm>
            <a:off x="548640" y="4206240"/>
            <a:ext cx="1417320" cy="960120"/>
          </a:xfrm>
          <a:prstGeom prst="rect">
            <a:avLst/>
          </a:prstGeom>
          <a:solidFill>
            <a:srgbClr val="F2F2F2"/>
          </a:solidFill>
          <a:ln w="12700">
            <a:solidFill>
              <a:srgbClr val="F2F2F2"/>
            </a:solidFill>
            <a:prstDash val="solid"/>
          </a:ln>
        </p:spPr>
      </p:sp>
      <p:pic>
        <p:nvPicPr>
          <p:cNvPr id="14" name="Camera calibration over bead homing" descr="Camera calibration over bead homing">    </p:cNvPr>
          <p:cNvPicPr>
            <a:picLocks noChangeAspect="1"/>
          </p:cNvPicPr>
          <p:nvPr/>
        </p:nvPicPr>
        <p:blipFill>
          <a:blip r:embed="rId3"/>
          <a:stretch>
            <a:fillRect/>
          </a:stretch>
        </p:blipFill>
        <p:spPr>
          <a:xfrm>
            <a:off x="1140219" y="4261104"/>
            <a:ext cx="234162" cy="850392"/>
          </a:xfrm>
          <a:prstGeom prst="rect">
            <a:avLst/>
          </a:prstGeom>
        </p:spPr>
      </p:pic>
      <p:sp>
        <p:nvSpPr>
          <p:cNvPr id="15" name="Camera calibration over bead homing"/>
          <p:cNvSpPr txBox="1"/>
          <p:nvPr/>
        </p:nvSpPr>
        <p:spPr>
          <a:xfrm>
            <a:off x="2103120"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Camera calibration over bead homing</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Whole room reachable; no tape measure</a:t>
            </a:r>
            <a:endParaRPr lang="en-US" sz="1600" dirty="0"/>
          </a:p>
        </p:txBody>
      </p:sp>
      <p:sp>
        <p:nvSpPr>
          <p:cNvPr id="16" name="Shape 11"/>
          <p:cNvSpPr/>
          <p:nvPr/>
        </p:nvSpPr>
        <p:spPr>
          <a:xfrm>
            <a:off x="548640" y="5303520"/>
            <a:ext cx="1417320" cy="960120"/>
          </a:xfrm>
          <a:prstGeom prst="rect">
            <a:avLst/>
          </a:prstGeom>
          <a:solidFill>
            <a:srgbClr val="F2F2F2"/>
          </a:solidFill>
          <a:ln w="12700">
            <a:solidFill>
              <a:srgbClr val="F2F2F2"/>
            </a:solidFill>
            <a:prstDash val="solid"/>
          </a:ln>
        </p:spPr>
      </p:sp>
      <p:pic>
        <p:nvPicPr>
          <p:cNvPr id="17" name="Gear strength checked at stall" descr="Gear strength checked at stall">    </p:cNvPr>
          <p:cNvPicPr>
            <a:picLocks noChangeAspect="1"/>
          </p:cNvPicPr>
          <p:nvPr/>
        </p:nvPicPr>
        <p:blipFill>
          <a:blip r:embed="rId4"/>
          <a:stretch>
            <a:fillRect/>
          </a:stretch>
        </p:blipFill>
        <p:spPr>
          <a:xfrm>
            <a:off x="867323" y="5358384"/>
            <a:ext cx="779954" cy="850392"/>
          </a:xfrm>
          <a:prstGeom prst="rect">
            <a:avLst/>
          </a:prstGeom>
        </p:spPr>
      </p:pic>
      <p:sp>
        <p:nvSpPr>
          <p:cNvPr id="18" name="Gear strength checked at stall"/>
          <p:cNvSpPr txBox="1"/>
          <p:nvPr/>
        </p:nvSpPr>
        <p:spPr>
          <a:xfrm>
            <a:off x="2103120"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Gear strength checked at stall</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Module 1 would have failed; fixed in CAD</a:t>
            </a:r>
            <a:endParaRPr lang="en-US" sz="1600" dirty="0"/>
          </a:p>
        </p:txBody>
      </p:sp>
      <p:sp>
        <p:nvSpPr>
          <p:cNvPr id="19" name="Poor decisions header"/>
          <p:cNvSpPr/>
          <p:nvPr/>
        </p:nvSpPr>
        <p:spPr>
          <a:xfrm>
            <a:off x="6233008" y="1463040"/>
            <a:ext cx="5410048" cy="411480"/>
          </a:xfrm>
          <a:prstGeom prst="rect">
            <a:avLst/>
          </a:prstGeom>
          <a:solidFill>
            <a:srgbClr val="B23A2E"/>
          </a:solidFill>
          <a:ln w="12700">
            <a:solidFill>
              <a:srgbClr val="B23A2E"/>
            </a:solidFill>
            <a:prstDash val="solid"/>
          </a:ln>
        </p:spPr>
      </p:sp>
      <p:sp>
        <p:nvSpPr>
          <p:cNvPr id="20"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Poor decisions</a:t>
            </a:r>
            <a:endParaRPr lang="en-US" sz="1600" dirty="0"/>
          </a:p>
        </p:txBody>
      </p:sp>
      <p:sp>
        <p:nvSpPr>
          <p:cNvPr id="21" name="Shape 15"/>
          <p:cNvSpPr/>
          <p:nvPr/>
        </p:nvSpPr>
        <p:spPr>
          <a:xfrm>
            <a:off x="6233008" y="2011680"/>
            <a:ext cx="1417320" cy="960120"/>
          </a:xfrm>
          <a:prstGeom prst="rect">
            <a:avLst/>
          </a:prstGeom>
          <a:solidFill>
            <a:srgbClr val="F2F2F2"/>
          </a:solidFill>
          <a:ln w="12700">
            <a:solidFill>
              <a:srgbClr val="F2F2F2"/>
            </a:solidFill>
            <a:prstDash val="solid"/>
          </a:ln>
        </p:spPr>
      </p:sp>
      <p:pic>
        <p:nvPicPr>
          <p:cNvPr id="22" name="Mass budget set late" descr="Mass budget set late">    </p:cNvPr>
          <p:cNvPicPr>
            <a:picLocks noChangeAspect="1"/>
          </p:cNvPicPr>
          <p:nvPr/>
        </p:nvPicPr>
        <p:blipFill>
          <a:blip r:embed="rId5"/>
          <a:stretch>
            <a:fillRect/>
          </a:stretch>
        </p:blipFill>
        <p:spPr>
          <a:xfrm>
            <a:off x="6810341" y="2066544"/>
            <a:ext cx="262653" cy="850392"/>
          </a:xfrm>
          <a:prstGeom prst="rect">
            <a:avLst/>
          </a:prstGeom>
        </p:spPr>
      </p:pic>
      <p:sp>
        <p:nvSpPr>
          <p:cNvPr id="23" name="Mass budget set late"/>
          <p:cNvSpPr txBox="1"/>
          <p:nvPr/>
        </p:nvSpPr>
        <p:spPr>
          <a:xfrm>
            <a:off x="7787488"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Mass budget set late</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Claw + jeans is 0.2 kg over, even at 1.5 A</a:t>
            </a:r>
            <a:endParaRPr lang="en-US" sz="1600" dirty="0"/>
          </a:p>
        </p:txBody>
      </p:sp>
      <p:sp>
        <p:nvSpPr>
          <p:cNvPr id="24" name="Shape 17"/>
          <p:cNvSpPr/>
          <p:nvPr/>
        </p:nvSpPr>
        <p:spPr>
          <a:xfrm>
            <a:off x="6233008" y="3108960"/>
            <a:ext cx="1417320" cy="960120"/>
          </a:xfrm>
          <a:prstGeom prst="rect">
            <a:avLst/>
          </a:prstGeom>
          <a:solidFill>
            <a:srgbClr val="F2F2F2"/>
          </a:solidFill>
          <a:ln w="12700">
            <a:solidFill>
              <a:srgbClr val="F2F2F2"/>
            </a:solidFill>
            <a:prstDash val="solid"/>
          </a:ln>
        </p:spPr>
      </p:sp>
      <p:pic>
        <p:nvPicPr>
          <p:cNvPr id="25" name="Bead homing as plan A" descr="Bead homing as plan A">    </p:cNvPr>
          <p:cNvPicPr>
            <a:picLocks noChangeAspect="1"/>
          </p:cNvPicPr>
          <p:nvPr/>
        </p:nvPicPr>
        <p:blipFill>
          <a:blip r:embed="rId6"/>
          <a:stretch>
            <a:fillRect/>
          </a:stretch>
        </p:blipFill>
        <p:spPr>
          <a:xfrm>
            <a:off x="6622771" y="3163824"/>
            <a:ext cx="637794" cy="850392"/>
          </a:xfrm>
          <a:prstGeom prst="rect">
            <a:avLst/>
          </a:prstGeom>
        </p:spPr>
      </p:pic>
      <p:sp>
        <p:nvSpPr>
          <p:cNvPr id="26" name="Bead homing as plan A"/>
          <p:cNvSpPr txBox="1"/>
          <p:nvPr/>
        </p:nvSpPr>
        <p:spPr>
          <a:xfrm>
            <a:off x="7787488"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Bead homing as plan A</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Under a third of the room; a redesign</a:t>
            </a:r>
            <a:endParaRPr lang="en-US" sz="1600" dirty="0"/>
          </a:p>
        </p:txBody>
      </p:sp>
      <p:sp>
        <p:nvSpPr>
          <p:cNvPr id="27" name="Shape 19"/>
          <p:cNvSpPr/>
          <p:nvPr/>
        </p:nvSpPr>
        <p:spPr>
          <a:xfrm>
            <a:off x="6233008" y="4206240"/>
            <a:ext cx="1417320" cy="960120"/>
          </a:xfrm>
          <a:prstGeom prst="rect">
            <a:avLst/>
          </a:prstGeom>
          <a:solidFill>
            <a:srgbClr val="F2F2F2"/>
          </a:solidFill>
          <a:ln w="12700">
            <a:solidFill>
              <a:srgbClr val="F2F2F2"/>
            </a:solidFill>
            <a:prstDash val="solid"/>
          </a:ln>
        </p:spPr>
      </p:sp>
      <p:pic>
        <p:nvPicPr>
          <p:cNvPr id="28" name="Spool printed before a fit coupon" descr="Spool printed before a fit coupon">    </p:cNvPr>
          <p:cNvPicPr>
            <a:picLocks noChangeAspect="1"/>
          </p:cNvPicPr>
          <p:nvPr/>
        </p:nvPicPr>
        <p:blipFill>
          <a:blip r:embed="rId7"/>
          <a:stretch>
            <a:fillRect/>
          </a:stretch>
        </p:blipFill>
        <p:spPr>
          <a:xfrm>
            <a:off x="6488105" y="4261104"/>
            <a:ext cx="907125" cy="850392"/>
          </a:xfrm>
          <a:prstGeom prst="rect">
            <a:avLst/>
          </a:prstGeom>
        </p:spPr>
      </p:pic>
      <p:sp>
        <p:nvSpPr>
          <p:cNvPr id="29" name="Spool printed before a fit coupon"/>
          <p:cNvSpPr txBox="1"/>
          <p:nvPr/>
        </p:nvSpPr>
        <p:spPr>
          <a:xfrm>
            <a:off x="7787488"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Spool printed before a fit coupon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Three prints to fit the shaft</a:t>
            </a:r>
            <a:endParaRPr lang="en-US" sz="1600" dirty="0"/>
          </a:p>
        </p:txBody>
      </p:sp>
      <p:sp>
        <p:nvSpPr>
          <p:cNvPr id="30" name="Shape 21"/>
          <p:cNvSpPr/>
          <p:nvPr/>
        </p:nvSpPr>
        <p:spPr>
          <a:xfrm>
            <a:off x="6233008" y="5303520"/>
            <a:ext cx="1417320" cy="960120"/>
          </a:xfrm>
          <a:prstGeom prst="rect">
            <a:avLst/>
          </a:prstGeom>
          <a:solidFill>
            <a:srgbClr val="F2F2F2"/>
          </a:solidFill>
          <a:ln w="12700">
            <a:solidFill>
              <a:srgbClr val="F2F2F2"/>
            </a:solidFill>
            <a:prstDash val="solid"/>
          </a:ln>
        </p:spPr>
      </p:sp>
      <p:pic>
        <p:nvPicPr>
          <p:cNvPr id="31" name="Several stations before one was proven" descr="Several stations before one was proven">    </p:cNvPr>
          <p:cNvPicPr>
            <a:picLocks noChangeAspect="1"/>
          </p:cNvPicPr>
          <p:nvPr/>
        </p:nvPicPr>
        <p:blipFill>
          <a:blip r:embed="rId8"/>
          <a:stretch>
            <a:fillRect/>
          </a:stretch>
        </p:blipFill>
        <p:spPr>
          <a:xfrm>
            <a:off x="6622771" y="5358384"/>
            <a:ext cx="637794" cy="850392"/>
          </a:xfrm>
          <a:prstGeom prst="rect">
            <a:avLst/>
          </a:prstGeom>
        </p:spPr>
      </p:pic>
      <p:sp>
        <p:nvSpPr>
          <p:cNvPr id="32" name="Several stations before one was proven"/>
          <p:cNvSpPr txBox="1"/>
          <p:nvPr/>
        </p:nvSpPr>
        <p:spPr>
          <a:xfrm>
            <a:off x="7787488"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Several stations before one was proven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Every fix repeated on each station</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Thorough vs Scrappy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Thorough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Thorough</a:t>
            </a:r>
            <a:endParaRPr lang="en-US" sz="1600" dirty="0"/>
          </a:p>
        </p:txBody>
      </p:sp>
      <p:sp>
        <p:nvSpPr>
          <p:cNvPr id="7" name="Shape 5"/>
          <p:cNvSpPr/>
          <p:nvPr/>
        </p:nvSpPr>
        <p:spPr>
          <a:xfrm>
            <a:off x="548640" y="1965960"/>
            <a:ext cx="5410048" cy="2148840"/>
          </a:xfrm>
          <a:prstGeom prst="rect">
            <a:avLst/>
          </a:prstGeom>
          <a:solidFill>
            <a:srgbClr val="F2F2F2"/>
          </a:solidFill>
          <a:ln w="12700">
            <a:solidFill>
              <a:srgbClr val="F2F2F2"/>
            </a:solidFill>
            <a:prstDash val="solid"/>
          </a:ln>
        </p:spPr>
      </p:sp>
      <p:pic>
        <p:nvPicPr>
          <p:cNvPr id="8" name="Heat fin: mill setup with the shop drawi" descr="Heat fin: mill setup with the shop drawing">    </p:cNvPr>
          <p:cNvPicPr>
            <a:picLocks noChangeAspect="1"/>
          </p:cNvPicPr>
          <p:nvPr/>
        </p:nvPicPr>
        <p:blipFill>
          <a:blip r:embed="rId1"/>
          <a:stretch>
            <a:fillRect/>
          </a:stretch>
        </p:blipFill>
        <p:spPr>
          <a:xfrm>
            <a:off x="2488997" y="2020824"/>
            <a:ext cx="1529334" cy="2039112"/>
          </a:xfrm>
          <a:prstGeom prst="rect">
            <a:avLst/>
          </a:prstGeom>
        </p:spPr>
      </p:pic>
      <p:sp>
        <p:nvSpPr>
          <p:cNvPr id="9" name="Thorough bullets"/>
          <p:cNvSpPr txBox="1"/>
          <p:nvPr/>
        </p:nvSpPr>
        <p:spPr>
          <a:xfrm>
            <a:off x="548640"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Heat fin:</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equations → shop drawing → one mill setup, ±0.1 mm</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Station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schematic checked net by net against the solder</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Gears: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strength checked at servo stall before printing</a:t>
            </a:r>
            <a:endParaRPr lang="en-US" sz="1600" dirty="0"/>
          </a:p>
        </p:txBody>
      </p:sp>
      <p:sp>
        <p:nvSpPr>
          <p:cNvPr id="10" name="Scrappy header"/>
          <p:cNvSpPr/>
          <p:nvPr/>
        </p:nvSpPr>
        <p:spPr>
          <a:xfrm>
            <a:off x="6233008" y="1463040"/>
            <a:ext cx="5410048" cy="411480"/>
          </a:xfrm>
          <a:prstGeom prst="rect">
            <a:avLst/>
          </a:prstGeom>
          <a:solidFill>
            <a:srgbClr val="4F6D8F"/>
          </a:solidFill>
          <a:ln w="12700">
            <a:solidFill>
              <a:srgbClr val="4F6D8F"/>
            </a:solidFill>
            <a:prstDash val="solid"/>
          </a:ln>
        </p:spPr>
      </p:sp>
      <p:sp>
        <p:nvSpPr>
          <p:cNvPr id="11"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Scrappy</a:t>
            </a:r>
            <a:endParaRPr lang="en-US" sz="1600" dirty="0"/>
          </a:p>
        </p:txBody>
      </p:sp>
      <p:sp>
        <p:nvSpPr>
          <p:cNvPr id="12" name="Shape 9"/>
          <p:cNvSpPr/>
          <p:nvPr/>
        </p:nvSpPr>
        <p:spPr>
          <a:xfrm>
            <a:off x="6233008" y="1965960"/>
            <a:ext cx="5410048" cy="2148840"/>
          </a:xfrm>
          <a:prstGeom prst="rect">
            <a:avLst/>
          </a:prstGeom>
          <a:solidFill>
            <a:srgbClr val="F2F2F2"/>
          </a:solidFill>
          <a:ln w="12700">
            <a:solidFill>
              <a:srgbClr val="F2F2F2"/>
            </a:solidFill>
            <a:prstDash val="solid"/>
          </a:ln>
        </p:spPr>
      </p:sp>
      <p:pic>
        <p:nvPicPr>
          <p:cNvPr id="13" name="ESP32 DevKit jumpered onto the station b" descr="ESP32 DevKit jumpered onto the station breadboard">    </p:cNvPr>
          <p:cNvPicPr>
            <a:picLocks noChangeAspect="1"/>
          </p:cNvPicPr>
          <p:nvPr/>
        </p:nvPicPr>
        <p:blipFill>
          <a:blip r:embed="rId2"/>
          <a:stretch>
            <a:fillRect/>
          </a:stretch>
        </p:blipFill>
        <p:spPr>
          <a:xfrm>
            <a:off x="7578430" y="2020824"/>
            <a:ext cx="2719204" cy="2039112"/>
          </a:xfrm>
          <a:prstGeom prst="rect">
            <a:avLst/>
          </a:prstGeom>
        </p:spPr>
      </p:pic>
      <p:sp>
        <p:nvSpPr>
          <p:cNvPr id="14" name="Scrappy bullets"/>
          <p:cNvSpPr txBox="1"/>
          <p:nvPr/>
        </p:nvSpPr>
        <p:spPr>
          <a:xfrm>
            <a:off x="6233008"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Fried a controller:</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ESP32 dev board on nine jumpers, same breadboard, same firmware</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Floor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printed tags on paper, 250 mm grid</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Three stations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tested while the fourth is built</a:t>
            </a:r>
            <a:endParaRPr lang="en-US" sz="1600" dirty="0"/>
          </a:p>
        </p:txBody>
      </p:sp>
      <p:sp>
        <p:nvSpPr>
          <p:cNvPr id="15" name="rule box"/>
          <p:cNvSpPr/>
          <p:nvPr/>
        </p:nvSpPr>
        <p:spPr>
          <a:xfrm>
            <a:off x="548640" y="5852160"/>
            <a:ext cx="11094415" cy="438912"/>
          </a:xfrm>
          <a:prstGeom prst="rect">
            <a:avLst/>
          </a:prstGeom>
          <a:solidFill>
            <a:srgbClr val="F2F2F2"/>
          </a:solidFill>
          <a:ln w="12700">
            <a:solidFill>
              <a:srgbClr val="F2F2F2"/>
            </a:solidFill>
            <a:prstDash val="solid"/>
          </a:ln>
        </p:spPr>
      </p:sp>
      <p:sp>
        <p:nvSpPr>
          <p:cNvPr id="16" name="label"/>
          <p:cNvSpPr txBox="1"/>
          <p:nvPr/>
        </p:nvSpPr>
        <p:spPr>
          <a:xfrm>
            <a:off x="685800" y="5852160"/>
            <a:ext cx="10820095" cy="438912"/>
          </a:xfrm>
          <a:prstGeom prst="rect">
            <a:avLst/>
          </a:prstGeom>
          <a:noFill/>
          <a:ln/>
        </p:spPr>
        <p:txBody>
          <a:bodyPr wrap="square" lIns="0" tIns="0" rIns="0" bIns="0" rtlCol="0" anchor="ctr"/>
          <a:lstStyle/>
          <a:p>
            <a:pPr algn="l" indent="0" marL="0">
              <a:buNone/>
            </a:pPr>
            <a:r>
              <a:rPr lang="en-US" sz="1500" b="1" dirty="0">
                <a:solidFill>
                  <a:srgbClr val="000000"/>
                </a:solidFill>
                <a:latin typeface="Arial" pitchFamily="34" charset="0"/>
                <a:ea typeface="Arial" pitchFamily="34" charset="-122"/>
                <a:cs typeface="Arial" pitchFamily="34" charset="-120"/>
              </a:rPr>
              <a:t>My rule:</a:t>
            </a:r>
            <a:pPr algn="l" indent="0" marL="0">
              <a:buNone/>
            </a:pPr>
            <a:r>
              <a:rPr lang="en-US" sz="1500" dirty="0">
                <a:solidFill>
                  <a:srgbClr val="000000"/>
                </a:solidFill>
                <a:latin typeface="Arial" pitchFamily="34" charset="0"/>
                <a:ea typeface="Arial" pitchFamily="34" charset="-122"/>
                <a:cs typeface="Arial" pitchFamily="34" charset="-120"/>
              </a:rPr>
              <a:t> thorough where a mistake is expensive or unsafe; scrappy where it is cheap to undo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Lessons Learned</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label"/>
          <p:cNvSpPr txBox="1"/>
          <p:nvPr/>
        </p:nvSpPr>
        <p:spPr>
          <a:xfrm>
            <a:off x="548640"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Do differently</a:t>
            </a:r>
            <a:endParaRPr lang="en-US" sz="1800" dirty="0"/>
          </a:p>
        </p:txBody>
      </p:sp>
      <p:sp>
        <p:nvSpPr>
          <p:cNvPr id="6" name="do differently"/>
          <p:cNvSpPr txBox="1"/>
          <p:nvPr/>
        </p:nvSpPr>
        <p:spPr>
          <a:xfrm>
            <a:off x="548640"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Weigh early:</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set the claw mass budget from the winch pull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Coupons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print the fit before the part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station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prove it fully, then copy it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Meter before code: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check every supply rail first</a:t>
            </a:r>
            <a:endParaRPr lang="en-US" sz="1700" dirty="0"/>
          </a:p>
        </p:txBody>
      </p:sp>
      <p:sp>
        <p:nvSpPr>
          <p:cNvPr id="7" name="label"/>
          <p:cNvSpPr txBox="1"/>
          <p:nvPr/>
        </p:nvSpPr>
        <p:spPr>
          <a:xfrm>
            <a:off x="6278728"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In half the time</a:t>
            </a:r>
            <a:endParaRPr lang="en-US" sz="1800" dirty="0"/>
          </a:p>
        </p:txBody>
      </p:sp>
      <p:sp>
        <p:nvSpPr>
          <p:cNvPr id="8" name="half the time"/>
          <p:cNvSpPr txBox="1"/>
          <p:nvPr/>
        </p:nvSpPr>
        <p:spPr>
          <a:xfrm>
            <a:off x="6278728"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Freeze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requirements, mass budget and pass limits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Order long-lead parts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at once: pulleys, couplers, spare boards</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Start with three stations: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fewest cables that hold a point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generation per part,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each closed by a test</a:t>
            </a:r>
            <a:endParaRPr lang="en-US" sz="1700" dirty="0"/>
          </a:p>
        </p:txBody>
      </p:sp>
      <p:sp>
        <p:nvSpPr>
          <p:cNvPr id="9" name="label"/>
          <p:cNvSpPr txBox="1"/>
          <p:nvPr/>
        </p:nvSpPr>
        <p:spPr>
          <a:xfrm>
            <a:off x="548640" y="4434840"/>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10" name="Concept"/>
          <p:cNvSpPr/>
          <p:nvPr/>
        </p:nvSpPr>
        <p:spPr>
          <a:xfrm>
            <a:off x="1874520" y="4434840"/>
            <a:ext cx="1972493" cy="566928"/>
          </a:xfrm>
          <a:prstGeom prst="rect">
            <a:avLst/>
          </a:prstGeom>
          <a:solidFill>
            <a:srgbClr val="D9DEE5"/>
          </a:solidFill>
          <a:ln w="19050">
            <a:solidFill>
              <a:srgbClr val="FFFFFF"/>
            </a:solidFill>
            <a:prstDash val="solid"/>
          </a:ln>
        </p:spPr>
      </p:sp>
      <p:sp>
        <p:nvSpPr>
          <p:cNvPr id="11" name="label"/>
          <p:cNvSpPr txBox="1"/>
          <p:nvPr/>
        </p:nvSpPr>
        <p:spPr>
          <a:xfrm>
            <a:off x="1911096" y="4434840"/>
            <a:ext cx="1899341"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12" name="Gen 1"/>
          <p:cNvSpPr/>
          <p:nvPr/>
        </p:nvSpPr>
        <p:spPr>
          <a:xfrm>
            <a:off x="3847013" y="4434840"/>
            <a:ext cx="2629990" cy="566928"/>
          </a:xfrm>
          <a:prstGeom prst="rect">
            <a:avLst/>
          </a:prstGeom>
          <a:solidFill>
            <a:srgbClr val="4F6D8F"/>
          </a:solidFill>
          <a:ln w="19050">
            <a:solidFill>
              <a:srgbClr val="FFFFFF"/>
            </a:solidFill>
            <a:prstDash val="solid"/>
          </a:ln>
        </p:spPr>
      </p:sp>
      <p:sp>
        <p:nvSpPr>
          <p:cNvPr id="13" name="label"/>
          <p:cNvSpPr txBox="1"/>
          <p:nvPr/>
        </p:nvSpPr>
        <p:spPr>
          <a:xfrm>
            <a:off x="3883589" y="4434840"/>
            <a:ext cx="2556838"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14" name="Rethink"/>
          <p:cNvSpPr/>
          <p:nvPr/>
        </p:nvSpPr>
        <p:spPr>
          <a:xfrm>
            <a:off x="6477003" y="4434840"/>
            <a:ext cx="3193560" cy="566928"/>
          </a:xfrm>
          <a:prstGeom prst="rect">
            <a:avLst/>
          </a:prstGeom>
          <a:solidFill>
            <a:srgbClr val="D9DEE5"/>
          </a:solidFill>
          <a:ln w="19050">
            <a:solidFill>
              <a:srgbClr val="FFFFFF"/>
            </a:solidFill>
            <a:prstDash val="solid"/>
          </a:ln>
        </p:spPr>
      </p:sp>
      <p:sp>
        <p:nvSpPr>
          <p:cNvPr id="15" name="label"/>
          <p:cNvSpPr txBox="1"/>
          <p:nvPr/>
        </p:nvSpPr>
        <p:spPr>
          <a:xfrm>
            <a:off x="6513579" y="4434840"/>
            <a:ext cx="3120408"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Rethink</a:t>
            </a:r>
            <a:endParaRPr lang="en-US" sz="1200" dirty="0"/>
          </a:p>
        </p:txBody>
      </p:sp>
      <p:sp>
        <p:nvSpPr>
          <p:cNvPr id="16" name="Gen 2 → final"/>
          <p:cNvSpPr/>
          <p:nvPr/>
        </p:nvSpPr>
        <p:spPr>
          <a:xfrm>
            <a:off x="9670563" y="4434840"/>
            <a:ext cx="1408923" cy="566928"/>
          </a:xfrm>
          <a:prstGeom prst="rect">
            <a:avLst/>
          </a:prstGeom>
          <a:solidFill>
            <a:srgbClr val="4F6D8F"/>
          </a:solidFill>
          <a:ln w="19050">
            <a:solidFill>
              <a:srgbClr val="FFFFFF"/>
            </a:solidFill>
            <a:prstDash val="solid"/>
          </a:ln>
        </p:spPr>
      </p:sp>
      <p:sp>
        <p:nvSpPr>
          <p:cNvPr id="17" name="label"/>
          <p:cNvSpPr txBox="1"/>
          <p:nvPr/>
        </p:nvSpPr>
        <p:spPr>
          <a:xfrm>
            <a:off x="9707139" y="4434840"/>
            <a:ext cx="1335771"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2 → final</a:t>
            </a:r>
            <a:endParaRPr lang="en-US" sz="1200" dirty="0"/>
          </a:p>
        </p:txBody>
      </p:sp>
      <p:sp>
        <p:nvSpPr>
          <p:cNvPr id="18" name="Build, test"/>
          <p:cNvSpPr/>
          <p:nvPr/>
        </p:nvSpPr>
        <p:spPr>
          <a:xfrm>
            <a:off x="11079486" y="4434840"/>
            <a:ext cx="563569" cy="566928"/>
          </a:xfrm>
          <a:prstGeom prst="rect">
            <a:avLst/>
          </a:prstGeom>
          <a:solidFill>
            <a:srgbClr val="1F3A5F"/>
          </a:solidFill>
          <a:ln w="19050">
            <a:solidFill>
              <a:srgbClr val="FFFFFF"/>
            </a:solidFill>
            <a:prstDash val="solid"/>
          </a:ln>
        </p:spPr>
      </p:sp>
      <p:sp>
        <p:nvSpPr>
          <p:cNvPr id="19" name="label"/>
          <p:cNvSpPr txBox="1"/>
          <p:nvPr/>
        </p:nvSpPr>
        <p:spPr>
          <a:xfrm>
            <a:off x="11116062" y="4434840"/>
            <a:ext cx="490417"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Build, test</a:t>
            </a:r>
            <a:endParaRPr lang="en-US" sz="1000" dirty="0"/>
          </a:p>
        </p:txBody>
      </p:sp>
      <p:sp>
        <p:nvSpPr>
          <p:cNvPr id="20" name="label"/>
          <p:cNvSpPr txBox="1"/>
          <p:nvPr/>
        </p:nvSpPr>
        <p:spPr>
          <a:xfrm>
            <a:off x="548640" y="5321808"/>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21" name="Plan"/>
          <p:cNvSpPr/>
          <p:nvPr/>
        </p:nvSpPr>
        <p:spPr>
          <a:xfrm>
            <a:off x="1874520" y="5321808"/>
            <a:ext cx="657498" cy="566928"/>
          </a:xfrm>
          <a:prstGeom prst="rect">
            <a:avLst/>
          </a:prstGeom>
          <a:solidFill>
            <a:srgbClr val="D9DEE5"/>
          </a:solidFill>
          <a:ln w="19050">
            <a:solidFill>
              <a:srgbClr val="FFFFFF"/>
            </a:solidFill>
            <a:prstDash val="solid"/>
          </a:ln>
        </p:spPr>
      </p:sp>
      <p:sp>
        <p:nvSpPr>
          <p:cNvPr id="22" name="label"/>
          <p:cNvSpPr txBox="1"/>
          <p:nvPr/>
        </p:nvSpPr>
        <p:spPr>
          <a:xfrm>
            <a:off x="1911096"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Plan</a:t>
            </a:r>
            <a:endParaRPr lang="en-US" sz="1000" dirty="0"/>
          </a:p>
        </p:txBody>
      </p:sp>
      <p:sp>
        <p:nvSpPr>
          <p:cNvPr id="23" name="One full station + tests"/>
          <p:cNvSpPr/>
          <p:nvPr/>
        </p:nvSpPr>
        <p:spPr>
          <a:xfrm>
            <a:off x="2532018" y="5321808"/>
            <a:ext cx="1314995" cy="566928"/>
          </a:xfrm>
          <a:prstGeom prst="rect">
            <a:avLst/>
          </a:prstGeom>
          <a:solidFill>
            <a:srgbClr val="4F6D8F"/>
          </a:solidFill>
          <a:ln w="19050">
            <a:solidFill>
              <a:srgbClr val="FFFFFF"/>
            </a:solidFill>
            <a:prstDash val="solid"/>
          </a:ln>
        </p:spPr>
      </p:sp>
      <p:sp>
        <p:nvSpPr>
          <p:cNvPr id="24" name="label"/>
          <p:cNvSpPr txBox="1"/>
          <p:nvPr/>
        </p:nvSpPr>
        <p:spPr>
          <a:xfrm>
            <a:off x="2568594"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One full station + tests</a:t>
            </a:r>
            <a:endParaRPr lang="en-US" sz="1200" dirty="0"/>
          </a:p>
        </p:txBody>
      </p:sp>
      <p:sp>
        <p:nvSpPr>
          <p:cNvPr id="25" name="Copy"/>
          <p:cNvSpPr/>
          <p:nvPr/>
        </p:nvSpPr>
        <p:spPr>
          <a:xfrm>
            <a:off x="3847013" y="5321808"/>
            <a:ext cx="657498" cy="566928"/>
          </a:xfrm>
          <a:prstGeom prst="rect">
            <a:avLst/>
          </a:prstGeom>
          <a:solidFill>
            <a:srgbClr val="D9DEE5"/>
          </a:solidFill>
          <a:ln w="19050">
            <a:solidFill>
              <a:srgbClr val="FFFFFF"/>
            </a:solidFill>
            <a:prstDash val="solid"/>
          </a:ln>
        </p:spPr>
      </p:sp>
      <p:sp>
        <p:nvSpPr>
          <p:cNvPr id="26" name="label"/>
          <p:cNvSpPr txBox="1"/>
          <p:nvPr/>
        </p:nvSpPr>
        <p:spPr>
          <a:xfrm>
            <a:off x="3883589"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Copy</a:t>
            </a:r>
            <a:endParaRPr lang="en-US" sz="1000" dirty="0"/>
          </a:p>
        </p:txBody>
      </p:sp>
      <p:sp>
        <p:nvSpPr>
          <p:cNvPr id="27" name="Claw, coupons first"/>
          <p:cNvSpPr/>
          <p:nvPr/>
        </p:nvSpPr>
        <p:spPr>
          <a:xfrm>
            <a:off x="4504510" y="5321808"/>
            <a:ext cx="1314995" cy="566928"/>
          </a:xfrm>
          <a:prstGeom prst="rect">
            <a:avLst/>
          </a:prstGeom>
          <a:solidFill>
            <a:srgbClr val="4F6D8F"/>
          </a:solidFill>
          <a:ln w="19050">
            <a:solidFill>
              <a:srgbClr val="FFFFFF"/>
            </a:solidFill>
            <a:prstDash val="solid"/>
          </a:ln>
        </p:spPr>
      </p:sp>
      <p:sp>
        <p:nvSpPr>
          <p:cNvPr id="28" name="label"/>
          <p:cNvSpPr txBox="1"/>
          <p:nvPr/>
        </p:nvSpPr>
        <p:spPr>
          <a:xfrm>
            <a:off x="4541086"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Claw, coupons first</a:t>
            </a:r>
            <a:endParaRPr lang="en-US" sz="1200" dirty="0"/>
          </a:p>
        </p:txBody>
      </p:sp>
      <p:sp>
        <p:nvSpPr>
          <p:cNvPr id="29" name="Test"/>
          <p:cNvSpPr/>
          <p:nvPr/>
        </p:nvSpPr>
        <p:spPr>
          <a:xfrm>
            <a:off x="5819505" y="5321808"/>
            <a:ext cx="657498" cy="566928"/>
          </a:xfrm>
          <a:prstGeom prst="rect">
            <a:avLst/>
          </a:prstGeom>
          <a:solidFill>
            <a:srgbClr val="1F3A5F"/>
          </a:solidFill>
          <a:ln w="19050">
            <a:solidFill>
              <a:srgbClr val="FFFFFF"/>
            </a:solidFill>
            <a:prstDash val="solid"/>
          </a:ln>
        </p:spPr>
      </p:sp>
      <p:sp>
        <p:nvSpPr>
          <p:cNvPr id="30" name="label"/>
          <p:cNvSpPr txBox="1"/>
          <p:nvPr/>
        </p:nvSpPr>
        <p:spPr>
          <a:xfrm>
            <a:off x="5856081" y="5321808"/>
            <a:ext cx="584346"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Test</a:t>
            </a:r>
            <a:endParaRPr lang="en-US" sz="1000" dirty="0"/>
          </a:p>
        </p:txBody>
      </p:sp>
      <p:sp>
        <p:nvSpPr>
          <p:cNvPr id="31" name="caption"/>
          <p:cNvSpPr txBox="1"/>
          <p:nvPr/>
        </p:nvSpPr>
        <p:spPr>
          <a:xfrm>
            <a:off x="1874520" y="5952744"/>
            <a:ext cx="9768535"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scale. Actual: Jul 16 to Oct 27. The half-time plan proves one station before copying it.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Where It Stands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550213"/>
                <a:gridCol w="3993989"/>
                <a:gridCol w="3550213"/>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Part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Next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Wall stations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 bench-commissioned </a:t>
                      </a:r>
                      <a:pPr indent="0" marL="0">
                        <a:buNone/>
                      </a:pPr>
                      <a:r>
                        <a:rPr lang="en-US" sz="1400" i="1" dirty="0">
                          <a:solidFill>
                            <a:srgbClr val="B23A2E"/>
                          </a:solidFill>
                          <a:latin typeface="Arial" pitchFamily="34" charset="0"/>
                          <a:ea typeface="Arial" pitchFamily="34" charset="-122"/>
                          <a:cs typeface="Arial" pitchFamily="34" charset="-120"/>
                        </a:rPr>
                        <a:t>[how many]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Three-station test, then the fourth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Station electronics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 drivers at 1.5 A </a:t>
                      </a:r>
                      <a:pPr indent="0" marL="0">
                        <a:buNone/>
                      </a:pPr>
                      <a:r>
                        <a:rPr lang="en-US" sz="1400" i="1" dirty="0">
                          <a:solidFill>
                            <a:srgbClr val="B23A2E"/>
                          </a:solidFill>
                          <a:latin typeface="Arial" pitchFamily="34" charset="0"/>
                          <a:ea typeface="Arial" pitchFamily="34" charset="-122"/>
                          <a:cs typeface="Arial" pitchFamily="34" charset="-120"/>
                        </a:rPr>
                        <a:t>[how: Vref reading]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90-minute hold test at 1.5 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Heat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 (sheared and milled)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Hold test with and without the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Claw body: tube, mount, servo, gears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Weigh 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Claw hands, camera housing, encoder casing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Checked in CAD; printing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Fit checks on the first print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Calibration and control software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Simulated end to end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First hardware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Winch pull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Calculated at 1.5 A: 25–34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Luggage-scale pull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Fin Length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35584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far end runs cooler, so each extra millimetre does less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0.019 in sheet (built):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of the heat by 136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1/8 in plate (first drawing):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by 349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Built 200 mm: past 136 mm the sheet adds under 5 %</a:t>
            </a:r>
            <a:endParaRPr lang="en-US" sz="2000" dirty="0"/>
          </a:p>
        </p:txBody>
      </p:sp>
      <p:sp>
        <p:nvSpPr>
          <p:cNvPr id="8" name="equation box"/>
          <p:cNvSpPr/>
          <p:nvPr/>
        </p:nvSpPr>
        <p:spPr>
          <a:xfrm>
            <a:off x="548640" y="5001768"/>
            <a:ext cx="4920551" cy="1261872"/>
          </a:xfrm>
          <a:prstGeom prst="rect">
            <a:avLst/>
          </a:prstGeom>
          <a:solidFill>
            <a:srgbClr val="F2F2F2"/>
          </a:solidFill>
          <a:ln w="6350">
            <a:solidFill>
              <a:srgbClr val="F2F2F2"/>
            </a:solidFill>
            <a:prstDash val="solid"/>
          </a:ln>
        </p:spPr>
      </p:sp>
      <p:sp>
        <p:nvSpPr>
          <p:cNvPr id="9" name="equation label"/>
          <p:cNvSpPr txBox="1"/>
          <p:nvPr/>
        </p:nvSpPr>
        <p:spPr>
          <a:xfrm>
            <a:off x="713232" y="508406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330952"/>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 = √(2h / (k t)),   η = tanh(mL) / (mL)</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k = 160 W/m·K, h = 7 W/m²·K, t = 0.48 mm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136 mm</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Incropera et al., Fundamentals of Heat and Mass Transfer, ch. 3</a:t>
            </a:r>
            <a:endParaRPr lang="en-US" sz="1050" dirty="0"/>
          </a:p>
        </p:txBody>
      </p:sp>
      <p:pic>
        <p:nvPicPr>
          <p:cNvPr id="12" name="Chart from the calculation sheet: Heat f" descr="Chart from the calculation sheet: Heat fin">    </p:cNvPr>
          <p:cNvPicPr>
            <a:picLocks noChangeAspect="1"/>
          </p:cNvPicPr>
          <p:nvPr/>
        </p:nvPicPr>
        <p:blipFill>
          <a:blip r:embed="rId1"/>
          <a:stretch>
            <a:fillRect/>
          </a:stretch>
        </p:blipFill>
        <p:spPr>
          <a:xfrm>
            <a:off x="5880671" y="1554480"/>
            <a:ext cx="5762384" cy="3959875"/>
          </a:xfrm>
          <a:prstGeom prst="rect">
            <a:avLst/>
          </a:prstGeom>
        </p:spPr>
      </p:pic>
      <p:sp>
        <p:nvSpPr>
          <p:cNvPr id="13" name="chart frame"/>
          <p:cNvSpPr/>
          <p:nvPr/>
        </p:nvSpPr>
        <p:spPr>
          <a:xfrm>
            <a:off x="5880671" y="1554480"/>
            <a:ext cx="5762384" cy="3959875"/>
          </a:xfrm>
          <a:prstGeom prst="rect">
            <a:avLst/>
          </a:prstGeom>
          <a:ln w="9525">
            <a:solidFill>
              <a:srgbClr val="BFBFBF"/>
            </a:solidFill>
            <a:prstDash val="solid"/>
          </a:ln>
        </p:spPr>
      </p:sp>
      <p:sp>
        <p:nvSpPr>
          <p:cNvPr id="14" name="caption"/>
          <p:cNvSpPr txBox="1"/>
          <p:nvPr/>
        </p:nvSpPr>
        <p:spPr>
          <a:xfrm>
            <a:off x="5880671" y="5587507"/>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“Heat fin”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Floor Board Accuracy</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Angle error becomes position error through the lever arm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tag: 12.9 mrad × 0.51 m ≈ 6.6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Four tags in view: about 0.7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Averaging frames removes noise, not a fixed bias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σ_θ · L = 12.9 mrad × 0.51 m = 6.6 mm</a:t>
            </a:r>
            <a:endParaRPr lang="en-US" sz="1500" dirty="0"/>
          </a:p>
        </p:txBody>
      </p:sp>
      <p:pic>
        <p:nvPicPr>
          <p:cNvPr id="11" name="Chart from the calculation sheet: Floor " descr="Chart from the calculation sheet: Floor board">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“Floor board”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Startup Calibration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tape measure; nothing typed in</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Least-squares fit of anchor positions and cable zero lengths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Held-out poses check the fit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Full room only if the error bars fit inside the margin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min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)²</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Full room only if k · σ ≤ margin</a:t>
            </a:r>
            <a:endParaRPr lang="en-US" sz="1500" dirty="0"/>
          </a:p>
        </p:txBody>
      </p:sp>
      <p:sp>
        <p:nvSpPr>
          <p:cNvPr id="11" name="calibration step 1"/>
          <p:cNvSpPr/>
          <p:nvPr/>
        </p:nvSpPr>
        <p:spPr>
          <a:xfrm>
            <a:off x="5880671" y="1737360"/>
            <a:ext cx="1713531" cy="1399032"/>
          </a:xfrm>
          <a:prstGeom prst="roundRect">
            <a:avLst>
              <a:gd name="adj" fmla="val 5229"/>
            </a:avLst>
          </a:prstGeom>
          <a:solidFill>
            <a:srgbClr val="FFFFFF"/>
          </a:solidFill>
          <a:ln w="15875">
            <a:solidFill>
              <a:srgbClr val="1F3A5F"/>
            </a:solidFill>
            <a:prstDash val="solid"/>
          </a:ln>
        </p:spPr>
      </p:sp>
      <p:sp>
        <p:nvSpPr>
          <p:cNvPr id="12" name="Text 10"/>
          <p:cNvSpPr txBox="1"/>
          <p:nvPr/>
        </p:nvSpPr>
        <p:spPr>
          <a:xfrm>
            <a:off x="5953823"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1  </a:t>
            </a:r>
            <a:pPr algn="ctr" indent="0" marL="0">
              <a:buNone/>
            </a:pPr>
            <a:r>
              <a:rPr lang="en-US" sz="1400" dirty="0">
                <a:solidFill>
                  <a:srgbClr val="000000"/>
                </a:solidFill>
                <a:latin typeface="Arial" pitchFamily="34" charset="0"/>
                <a:ea typeface="Arial" pitchFamily="34" charset="-122"/>
                <a:cs typeface="Arial" pitchFamily="34" charset="-120"/>
              </a:rPr>
              <a:t>Take up slack, one cable at a time</a:t>
            </a:r>
            <a:endParaRPr lang="en-US" sz="1400" dirty="0"/>
          </a:p>
        </p:txBody>
      </p:sp>
      <p:sp>
        <p:nvSpPr>
          <p:cNvPr id="13" name="calibration step 2"/>
          <p:cNvSpPr/>
          <p:nvPr/>
        </p:nvSpPr>
        <p:spPr>
          <a:xfrm>
            <a:off x="7905098" y="1737360"/>
            <a:ext cx="1713531" cy="1399032"/>
          </a:xfrm>
          <a:prstGeom prst="roundRect">
            <a:avLst>
              <a:gd name="adj" fmla="val 5229"/>
            </a:avLst>
          </a:prstGeom>
          <a:solidFill>
            <a:srgbClr val="FFFFFF"/>
          </a:solidFill>
          <a:ln w="15875">
            <a:solidFill>
              <a:srgbClr val="1F3A5F"/>
            </a:solidFill>
            <a:prstDash val="solid"/>
          </a:ln>
        </p:spPr>
      </p:sp>
      <p:sp>
        <p:nvSpPr>
          <p:cNvPr id="14" name="Text 12"/>
          <p:cNvSpPr txBox="1"/>
          <p:nvPr/>
        </p:nvSpPr>
        <p:spPr>
          <a:xfrm>
            <a:off x="7978250"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2  </a:t>
            </a:r>
            <a:pPr algn="ctr" indent="0" marL="0">
              <a:buNone/>
            </a:pPr>
            <a:r>
              <a:rPr lang="en-US" sz="1400" dirty="0">
                <a:solidFill>
                  <a:srgbClr val="000000"/>
                </a:solidFill>
                <a:latin typeface="Arial" pitchFamily="34" charset="0"/>
                <a:ea typeface="Arial" pitchFamily="34" charset="-122"/>
                <a:cs typeface="Arial" pitchFamily="34" charset="-120"/>
              </a:rPr>
              <a:t>Lift the claw off the floor</a:t>
            </a:r>
            <a:endParaRPr lang="en-US" sz="1400" dirty="0"/>
          </a:p>
        </p:txBody>
      </p:sp>
      <p:sp>
        <p:nvSpPr>
          <p:cNvPr id="15" name="calibration step 3"/>
          <p:cNvSpPr/>
          <p:nvPr/>
        </p:nvSpPr>
        <p:spPr>
          <a:xfrm>
            <a:off x="9929524" y="1737360"/>
            <a:ext cx="1713531" cy="1399032"/>
          </a:xfrm>
          <a:prstGeom prst="roundRect">
            <a:avLst>
              <a:gd name="adj" fmla="val 5229"/>
            </a:avLst>
          </a:prstGeom>
          <a:solidFill>
            <a:srgbClr val="FFFFFF"/>
          </a:solidFill>
          <a:ln w="15875">
            <a:solidFill>
              <a:srgbClr val="1F3A5F"/>
            </a:solidFill>
            <a:prstDash val="solid"/>
          </a:ln>
        </p:spPr>
      </p:sp>
      <p:sp>
        <p:nvSpPr>
          <p:cNvPr id="16" name="Text 14"/>
          <p:cNvSpPr txBox="1"/>
          <p:nvPr/>
        </p:nvSpPr>
        <p:spPr>
          <a:xfrm>
            <a:off x="10002676"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3  </a:t>
            </a:r>
            <a:pPr algn="ctr" indent="0" marL="0">
              <a:buNone/>
            </a:pPr>
            <a:r>
              <a:rPr lang="en-US" sz="1400" dirty="0">
                <a:solidFill>
                  <a:srgbClr val="000000"/>
                </a:solidFill>
                <a:latin typeface="Arial" pitchFamily="34" charset="0"/>
                <a:ea typeface="Arial" pitchFamily="34" charset="-122"/>
                <a:cs typeface="Arial" pitchFamily="34" charset="-120"/>
              </a:rPr>
              <a:t>Camera reads the floor board</a:t>
            </a:r>
            <a:endParaRPr lang="en-US" sz="1400" dirty="0"/>
          </a:p>
        </p:txBody>
      </p:sp>
      <p:sp>
        <p:nvSpPr>
          <p:cNvPr id="17" name="calibration step 4"/>
          <p:cNvSpPr/>
          <p:nvPr/>
        </p:nvSpPr>
        <p:spPr>
          <a:xfrm>
            <a:off x="9929524" y="3447288"/>
            <a:ext cx="1713531" cy="1399032"/>
          </a:xfrm>
          <a:prstGeom prst="roundRect">
            <a:avLst>
              <a:gd name="adj" fmla="val 5229"/>
            </a:avLst>
          </a:prstGeom>
          <a:solidFill>
            <a:srgbClr val="FFFFFF"/>
          </a:solidFill>
          <a:ln w="15875">
            <a:solidFill>
              <a:srgbClr val="1F3A5F"/>
            </a:solidFill>
            <a:prstDash val="solid"/>
          </a:ln>
        </p:spPr>
      </p:sp>
      <p:sp>
        <p:nvSpPr>
          <p:cNvPr id="18" name="Text 16"/>
          <p:cNvSpPr txBox="1"/>
          <p:nvPr/>
        </p:nvSpPr>
        <p:spPr>
          <a:xfrm>
            <a:off x="10002676"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4  </a:t>
            </a:r>
            <a:pPr algn="ctr" indent="0" marL="0">
              <a:buNone/>
            </a:pPr>
            <a:r>
              <a:rPr lang="en-US" sz="1400" dirty="0">
                <a:solidFill>
                  <a:srgbClr val="000000"/>
                </a:solidFill>
                <a:latin typeface="Arial" pitchFamily="34" charset="0"/>
                <a:ea typeface="Arial" pitchFamily="34" charset="-122"/>
                <a:cs typeface="Arial" pitchFamily="34" charset="-120"/>
              </a:rPr>
              <a:t>Fit anchors and cable lengths</a:t>
            </a:r>
            <a:endParaRPr lang="en-US" sz="1400" dirty="0"/>
          </a:p>
        </p:txBody>
      </p:sp>
      <p:sp>
        <p:nvSpPr>
          <p:cNvPr id="19" name="calibration step 5"/>
          <p:cNvSpPr/>
          <p:nvPr/>
        </p:nvSpPr>
        <p:spPr>
          <a:xfrm>
            <a:off x="7905098" y="3447288"/>
            <a:ext cx="1713531" cy="1399032"/>
          </a:xfrm>
          <a:prstGeom prst="roundRect">
            <a:avLst>
              <a:gd name="adj" fmla="val 5229"/>
            </a:avLst>
          </a:prstGeom>
          <a:solidFill>
            <a:srgbClr val="FFFFFF"/>
          </a:solidFill>
          <a:ln w="15875">
            <a:solidFill>
              <a:srgbClr val="1F3A5F"/>
            </a:solidFill>
            <a:prstDash val="solid"/>
          </a:ln>
        </p:spPr>
      </p:sp>
      <p:sp>
        <p:nvSpPr>
          <p:cNvPr id="20" name="Text 18"/>
          <p:cNvSpPr txBox="1"/>
          <p:nvPr/>
        </p:nvSpPr>
        <p:spPr>
          <a:xfrm>
            <a:off x="7978250"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5  </a:t>
            </a:r>
            <a:pPr algn="ctr" indent="0" marL="0">
              <a:buNone/>
            </a:pPr>
            <a:r>
              <a:rPr lang="en-US" sz="1400" dirty="0">
                <a:solidFill>
                  <a:srgbClr val="000000"/>
                </a:solidFill>
                <a:latin typeface="Arial" pitchFamily="34" charset="0"/>
                <a:ea typeface="Arial" pitchFamily="34" charset="-122"/>
                <a:cs typeface="Arial" pitchFamily="34" charset="-120"/>
              </a:rPr>
              <a:t>Check on held-out poses</a:t>
            </a:r>
            <a:endParaRPr lang="en-US" sz="1400" dirty="0"/>
          </a:p>
        </p:txBody>
      </p:sp>
      <p:sp>
        <p:nvSpPr>
          <p:cNvPr id="21" name="calibration step 6"/>
          <p:cNvSpPr/>
          <p:nvPr/>
        </p:nvSpPr>
        <p:spPr>
          <a:xfrm>
            <a:off x="5880671" y="3447288"/>
            <a:ext cx="1713531" cy="1399032"/>
          </a:xfrm>
          <a:prstGeom prst="roundRect">
            <a:avLst>
              <a:gd name="adj" fmla="val 5229"/>
            </a:avLst>
          </a:prstGeom>
          <a:solidFill>
            <a:srgbClr val="1F3A5F"/>
          </a:solidFill>
          <a:ln w="15875">
            <a:solidFill>
              <a:srgbClr val="1F3A5F"/>
            </a:solidFill>
            <a:prstDash val="solid"/>
          </a:ln>
        </p:spPr>
      </p:sp>
      <p:sp>
        <p:nvSpPr>
          <p:cNvPr id="22" name="Text 20"/>
          <p:cNvSpPr txBox="1"/>
          <p:nvPr/>
        </p:nvSpPr>
        <p:spPr>
          <a:xfrm>
            <a:off x="5953823" y="3447288"/>
            <a:ext cx="1567227" cy="139903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  </a:t>
            </a:r>
            <a:pPr algn="ctr" indent="0" marL="0">
              <a:buNone/>
            </a:pPr>
            <a:r>
              <a:rPr lang="en-US" sz="1400" dirty="0">
                <a:solidFill>
                  <a:srgbClr val="FFFFFF"/>
                </a:solidFill>
                <a:latin typeface="Arial" pitchFamily="34" charset="0"/>
                <a:ea typeface="Arial" pitchFamily="34" charset="-122"/>
                <a:cs typeface="Arial" pitchFamily="34" charset="-120"/>
              </a:rPr>
              <a:t>Ready, inside the safe margins</a:t>
            </a:r>
            <a:endParaRPr lang="en-US" sz="1400" dirty="0"/>
          </a:p>
        </p:txBody>
      </p:sp>
      <p:sp>
        <p:nvSpPr>
          <p:cNvPr id="23" name="Shape 21"/>
          <p:cNvSpPr/>
          <p:nvPr/>
        </p:nvSpPr>
        <p:spPr>
          <a:xfrm>
            <a:off x="7639922" y="2436876"/>
            <a:ext cx="219456" cy="0"/>
          </a:xfrm>
          <a:prstGeom prst="line">
            <a:avLst/>
          </a:prstGeom>
          <a:noFill/>
          <a:ln w="19050">
            <a:solidFill>
              <a:srgbClr val="7F7F7F"/>
            </a:solidFill>
            <a:prstDash val="solid"/>
            <a:tailEnd type="triangle"/>
          </a:ln>
        </p:spPr>
      </p:sp>
      <p:sp>
        <p:nvSpPr>
          <p:cNvPr id="24" name="Shape 22"/>
          <p:cNvSpPr/>
          <p:nvPr/>
        </p:nvSpPr>
        <p:spPr>
          <a:xfrm>
            <a:off x="9664348" y="2436876"/>
            <a:ext cx="219456" cy="0"/>
          </a:xfrm>
          <a:prstGeom prst="line">
            <a:avLst/>
          </a:prstGeom>
          <a:noFill/>
          <a:ln w="19050">
            <a:solidFill>
              <a:srgbClr val="7F7F7F"/>
            </a:solidFill>
            <a:prstDash val="solid"/>
            <a:tailEnd type="triangle"/>
          </a:ln>
        </p:spPr>
      </p:sp>
      <p:sp>
        <p:nvSpPr>
          <p:cNvPr id="25" name="Shape 23"/>
          <p:cNvSpPr/>
          <p:nvPr/>
        </p:nvSpPr>
        <p:spPr>
          <a:xfrm>
            <a:off x="10786290" y="3182112"/>
            <a:ext cx="0" cy="219456"/>
          </a:xfrm>
          <a:prstGeom prst="line">
            <a:avLst/>
          </a:prstGeom>
          <a:noFill/>
          <a:ln w="19050">
            <a:solidFill>
              <a:srgbClr val="7F7F7F"/>
            </a:solidFill>
            <a:prstDash val="solid"/>
            <a:tailEnd type="triangle"/>
          </a:ln>
        </p:spPr>
      </p:sp>
      <p:sp>
        <p:nvSpPr>
          <p:cNvPr id="26" name="Shape 24"/>
          <p:cNvSpPr/>
          <p:nvPr/>
        </p:nvSpPr>
        <p:spPr>
          <a:xfrm flipH="1">
            <a:off x="9664348" y="4146804"/>
            <a:ext cx="219456" cy="0"/>
          </a:xfrm>
          <a:prstGeom prst="line">
            <a:avLst/>
          </a:prstGeom>
          <a:noFill/>
          <a:ln w="19050">
            <a:solidFill>
              <a:srgbClr val="7F7F7F"/>
            </a:solidFill>
            <a:prstDash val="solid"/>
            <a:tailEnd type="triangle"/>
          </a:ln>
        </p:spPr>
      </p:sp>
      <p:sp>
        <p:nvSpPr>
          <p:cNvPr id="27" name="Shape 25"/>
          <p:cNvSpPr/>
          <p:nvPr/>
        </p:nvSpPr>
        <p:spPr>
          <a:xfrm flipH="1">
            <a:off x="7639922" y="4146804"/>
            <a:ext cx="219456" cy="0"/>
          </a:xfrm>
          <a:prstGeom prst="line">
            <a:avLst/>
          </a:prstGeom>
          <a:noFill/>
          <a:ln w="19050">
            <a:solidFill>
              <a:srgbClr val="7F7F7F"/>
            </a:solidFill>
            <a:prstDash val="solid"/>
            <a:tailEnd type="triangle"/>
          </a:ln>
        </p:spPr>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Logic: Gen 1 vs Final</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218883"/>
                <a:gridCol w="3993989"/>
                <a:gridCol w="4881543"/>
              </a:tblGrid>
              <a:tr h="640080">
                <a:tc>
                  <a:txBody>
                    <a:bodyPr/>
                    <a:lstStyle/>
                    <a:p>
                      <a:pPr indent="0" marL="0">
                        <a:buNone/>
                      </a:pP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Gen 1</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Where is the claw?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where the cables were told to put 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Measured: claw camera on the floor board, refit at every startup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Room geometry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Point mass; anchors from a tape measure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Rigid claw; anchors and cable lengths fitted, with error bars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Who runs the motors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central board steps all four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Each station runs time-stamped moves; the laptop coordinates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Finding laundry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Ceiling camera, pixel to floor map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Claw camera, ray from the claw's pose to the floor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Did the grab work?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once the claw closed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Camera checks pickup and delivery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Faults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Emergency stop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Supervisor: a stop keeps torque; nothing restarts by itself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Run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stage 1"/>
          <p:cNvSpPr/>
          <p:nvPr/>
        </p:nvSpPr>
        <p:spPr>
          <a:xfrm>
            <a:off x="548640" y="1508760"/>
            <a:ext cx="2554148" cy="457200"/>
          </a:xfrm>
          <a:prstGeom prst="rect">
            <a:avLst/>
          </a:prstGeom>
          <a:solidFill>
            <a:srgbClr val="1F3A5F"/>
          </a:solidFill>
          <a:ln w="12700">
            <a:solidFill>
              <a:srgbClr val="1F3A5F"/>
            </a:solidFill>
            <a:prstDash val="solid"/>
          </a:ln>
        </p:spPr>
      </p:sp>
      <p:sp>
        <p:nvSpPr>
          <p:cNvPr id="8" name="label"/>
          <p:cNvSpPr txBox="1"/>
          <p:nvPr/>
        </p:nvSpPr>
        <p:spPr>
          <a:xfrm>
            <a:off x="658368"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1  Start up</a:t>
            </a:r>
            <a:endParaRPr lang="en-US" sz="1500" dirty="0"/>
          </a:p>
        </p:txBody>
      </p:sp>
      <p:sp>
        <p:nvSpPr>
          <p:cNvPr id="9" name="Shape 7"/>
          <p:cNvSpPr/>
          <p:nvPr/>
        </p:nvSpPr>
        <p:spPr>
          <a:xfrm>
            <a:off x="548640" y="1965960"/>
            <a:ext cx="2554148" cy="2651760"/>
          </a:xfrm>
          <a:prstGeom prst="rect">
            <a:avLst/>
          </a:prstGeom>
          <a:solidFill>
            <a:srgbClr val="FFFFFF"/>
          </a:solidFill>
          <a:ln w="12700">
            <a:solidFill>
              <a:srgbClr val="1F3A5F"/>
            </a:solidFill>
            <a:prstDash val="solid"/>
          </a:ln>
        </p:spPr>
      </p:sp>
      <p:sp>
        <p:nvSpPr>
          <p:cNvPr id="10" name="stage 1 steps"/>
          <p:cNvSpPr txBox="1"/>
          <p:nvPr/>
        </p:nvSpPr>
        <p:spPr>
          <a:xfrm>
            <a:off x="621792"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Self-check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Take up slack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Lift a few centimetres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Calibrate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Set the trust level</a:t>
            </a:r>
            <a:endParaRPr lang="en-US" sz="1500" dirty="0"/>
          </a:p>
        </p:txBody>
      </p:sp>
      <p:sp>
        <p:nvSpPr>
          <p:cNvPr id="11" name="Shape 9"/>
          <p:cNvSpPr/>
          <p:nvPr/>
        </p:nvSpPr>
        <p:spPr>
          <a:xfrm>
            <a:off x="3139364" y="1737360"/>
            <a:ext cx="219456" cy="0"/>
          </a:xfrm>
          <a:prstGeom prst="line">
            <a:avLst/>
          </a:prstGeom>
          <a:noFill/>
          <a:ln w="19050">
            <a:solidFill>
              <a:srgbClr val="7F7F7F"/>
            </a:solidFill>
            <a:prstDash val="solid"/>
            <a:tailEnd type="triangle"/>
          </a:ln>
        </p:spPr>
      </p:sp>
      <p:sp>
        <p:nvSpPr>
          <p:cNvPr id="12" name="stage 2"/>
          <p:cNvSpPr/>
          <p:nvPr/>
        </p:nvSpPr>
        <p:spPr>
          <a:xfrm>
            <a:off x="3395396" y="1508760"/>
            <a:ext cx="2554148" cy="457200"/>
          </a:xfrm>
          <a:prstGeom prst="rect">
            <a:avLst/>
          </a:prstGeom>
          <a:solidFill>
            <a:srgbClr val="1F3A5F"/>
          </a:solidFill>
          <a:ln w="12700">
            <a:solidFill>
              <a:srgbClr val="1F3A5F"/>
            </a:solidFill>
            <a:prstDash val="solid"/>
          </a:ln>
        </p:spPr>
      </p:sp>
      <p:sp>
        <p:nvSpPr>
          <p:cNvPr id="13" name="label"/>
          <p:cNvSpPr txBox="1"/>
          <p:nvPr/>
        </p:nvSpPr>
        <p:spPr>
          <a:xfrm>
            <a:off x="3505124"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2  Find</a:t>
            </a:r>
            <a:endParaRPr lang="en-US" sz="1500" dirty="0"/>
          </a:p>
        </p:txBody>
      </p:sp>
      <p:sp>
        <p:nvSpPr>
          <p:cNvPr id="14" name="Shape 12"/>
          <p:cNvSpPr/>
          <p:nvPr/>
        </p:nvSpPr>
        <p:spPr>
          <a:xfrm>
            <a:off x="3395396" y="1965960"/>
            <a:ext cx="2554148" cy="2651760"/>
          </a:xfrm>
          <a:prstGeom prst="rect">
            <a:avLst/>
          </a:prstGeom>
          <a:solidFill>
            <a:srgbClr val="FFFFFF"/>
          </a:solidFill>
          <a:ln w="12700">
            <a:solidFill>
              <a:srgbClr val="1F3A5F"/>
            </a:solidFill>
            <a:prstDash val="solid"/>
          </a:ln>
        </p:spPr>
      </p:sp>
      <p:sp>
        <p:nvSpPr>
          <p:cNvPr id="15" name="stage 2 steps"/>
          <p:cNvSpPr txBox="1"/>
          <p:nvPr/>
        </p:nvSpPr>
        <p:spPr>
          <a:xfrm>
            <a:off x="3468548"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Rise to scan height</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Detector lists the items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Map each to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Choose the nearest</a:t>
            </a:r>
            <a:endParaRPr lang="en-US" sz="1500" dirty="0"/>
          </a:p>
        </p:txBody>
      </p:sp>
      <p:sp>
        <p:nvSpPr>
          <p:cNvPr id="16" name="Shape 14"/>
          <p:cNvSpPr/>
          <p:nvPr/>
        </p:nvSpPr>
        <p:spPr>
          <a:xfrm>
            <a:off x="5986120" y="1737360"/>
            <a:ext cx="219456" cy="0"/>
          </a:xfrm>
          <a:prstGeom prst="line">
            <a:avLst/>
          </a:prstGeom>
          <a:noFill/>
          <a:ln w="19050">
            <a:solidFill>
              <a:srgbClr val="7F7F7F"/>
            </a:solidFill>
            <a:prstDash val="solid"/>
            <a:tailEnd type="triangle"/>
          </a:ln>
        </p:spPr>
      </p:sp>
      <p:sp>
        <p:nvSpPr>
          <p:cNvPr id="17" name="stage 3"/>
          <p:cNvSpPr/>
          <p:nvPr/>
        </p:nvSpPr>
        <p:spPr>
          <a:xfrm>
            <a:off x="6242152" y="1508760"/>
            <a:ext cx="2554148" cy="457200"/>
          </a:xfrm>
          <a:prstGeom prst="rect">
            <a:avLst/>
          </a:prstGeom>
          <a:solidFill>
            <a:srgbClr val="1F3A5F"/>
          </a:solidFill>
          <a:ln w="12700">
            <a:solidFill>
              <a:srgbClr val="1F3A5F"/>
            </a:solidFill>
            <a:prstDash val="solid"/>
          </a:ln>
        </p:spPr>
      </p:sp>
      <p:sp>
        <p:nvSpPr>
          <p:cNvPr id="18" name="label"/>
          <p:cNvSpPr txBox="1"/>
          <p:nvPr/>
        </p:nvSpPr>
        <p:spPr>
          <a:xfrm>
            <a:off x="6351880"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3  Pick and deliver</a:t>
            </a:r>
            <a:endParaRPr lang="en-US" sz="1500" dirty="0"/>
          </a:p>
        </p:txBody>
      </p:sp>
      <p:sp>
        <p:nvSpPr>
          <p:cNvPr id="19" name="Shape 17"/>
          <p:cNvSpPr/>
          <p:nvPr/>
        </p:nvSpPr>
        <p:spPr>
          <a:xfrm>
            <a:off x="6242152" y="1965960"/>
            <a:ext cx="2554148" cy="2651760"/>
          </a:xfrm>
          <a:prstGeom prst="rect">
            <a:avLst/>
          </a:prstGeom>
          <a:solidFill>
            <a:srgbClr val="FFFFFF"/>
          </a:solidFill>
          <a:ln w="12700">
            <a:solidFill>
              <a:srgbClr val="1F3A5F"/>
            </a:solidFill>
            <a:prstDash val="solid"/>
          </a:ln>
        </p:spPr>
      </p:sp>
      <p:sp>
        <p:nvSpPr>
          <p:cNvPr id="20" name="stage 3 steps"/>
          <p:cNvSpPr txBox="1"/>
          <p:nvPr/>
        </p:nvSpPr>
        <p:spPr>
          <a:xfrm>
            <a:off x="6315304"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Hover until still</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Descend, close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held?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Fly to the hamper, release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in?</a:t>
            </a:r>
            <a:endParaRPr lang="en-US" sz="1500" dirty="0"/>
          </a:p>
        </p:txBody>
      </p:sp>
      <p:sp>
        <p:nvSpPr>
          <p:cNvPr id="21" name="Shape 19"/>
          <p:cNvSpPr/>
          <p:nvPr/>
        </p:nvSpPr>
        <p:spPr>
          <a:xfrm>
            <a:off x="8832875" y="1737360"/>
            <a:ext cx="219456" cy="0"/>
          </a:xfrm>
          <a:prstGeom prst="line">
            <a:avLst/>
          </a:prstGeom>
          <a:noFill/>
          <a:ln w="19050">
            <a:solidFill>
              <a:srgbClr val="7F7F7F"/>
            </a:solidFill>
            <a:prstDash val="solid"/>
            <a:tailEnd type="triangle"/>
          </a:ln>
        </p:spPr>
      </p:sp>
      <p:sp>
        <p:nvSpPr>
          <p:cNvPr id="22" name="stage 4"/>
          <p:cNvSpPr/>
          <p:nvPr/>
        </p:nvSpPr>
        <p:spPr>
          <a:xfrm>
            <a:off x="9088907" y="1508760"/>
            <a:ext cx="2554148" cy="457200"/>
          </a:xfrm>
          <a:prstGeom prst="rect">
            <a:avLst/>
          </a:prstGeom>
          <a:solidFill>
            <a:srgbClr val="1F3A5F"/>
          </a:solidFill>
          <a:ln w="12700">
            <a:solidFill>
              <a:srgbClr val="1F3A5F"/>
            </a:solidFill>
            <a:prstDash val="solid"/>
          </a:ln>
        </p:spPr>
      </p:sp>
      <p:sp>
        <p:nvSpPr>
          <p:cNvPr id="23" name="label"/>
          <p:cNvSpPr txBox="1"/>
          <p:nvPr/>
        </p:nvSpPr>
        <p:spPr>
          <a:xfrm>
            <a:off x="9198635"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4  Put away</a:t>
            </a:r>
            <a:endParaRPr lang="en-US" sz="1500" dirty="0"/>
          </a:p>
        </p:txBody>
      </p:sp>
      <p:sp>
        <p:nvSpPr>
          <p:cNvPr id="24" name="Shape 22"/>
          <p:cNvSpPr/>
          <p:nvPr/>
        </p:nvSpPr>
        <p:spPr>
          <a:xfrm>
            <a:off x="9088907" y="1965960"/>
            <a:ext cx="2554148" cy="2651760"/>
          </a:xfrm>
          <a:prstGeom prst="rect">
            <a:avLst/>
          </a:prstGeom>
          <a:solidFill>
            <a:srgbClr val="FFFFFF"/>
          </a:solidFill>
          <a:ln w="12700">
            <a:solidFill>
              <a:srgbClr val="1F3A5F"/>
            </a:solidFill>
            <a:prstDash val="solid"/>
          </a:ln>
        </p:spPr>
      </p:sp>
      <p:sp>
        <p:nvSpPr>
          <p:cNvPr id="25" name="stage 4 steps"/>
          <p:cNvSpPr txBox="1"/>
          <p:nvPr/>
        </p:nvSpPr>
        <p:spPr>
          <a:xfrm>
            <a:off x="9162059"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Lower over the floor board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confirms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Disarm after a typed confirm</a:t>
            </a:r>
            <a:endParaRPr lang="en-US" sz="1500" dirty="0"/>
          </a:p>
        </p:txBody>
      </p:sp>
      <p:sp>
        <p:nvSpPr>
          <p:cNvPr id="26" name="Shape 24"/>
          <p:cNvSpPr/>
          <p:nvPr/>
        </p:nvSpPr>
        <p:spPr>
          <a:xfrm>
            <a:off x="7519226" y="4617720"/>
            <a:ext cx="0" cy="256032"/>
          </a:xfrm>
          <a:prstGeom prst="line">
            <a:avLst/>
          </a:prstGeom>
          <a:noFill/>
          <a:ln w="19050">
            <a:solidFill>
              <a:srgbClr val="4F6D8F"/>
            </a:solidFill>
            <a:prstDash val="solid"/>
          </a:ln>
        </p:spPr>
      </p:sp>
      <p:sp>
        <p:nvSpPr>
          <p:cNvPr id="27" name="Shape 25"/>
          <p:cNvSpPr/>
          <p:nvPr/>
        </p:nvSpPr>
        <p:spPr>
          <a:xfrm flipH="1">
            <a:off x="4672470" y="4873752"/>
            <a:ext cx="2846756" cy="0"/>
          </a:xfrm>
          <a:prstGeom prst="line">
            <a:avLst/>
          </a:prstGeom>
          <a:noFill/>
          <a:ln w="19050">
            <a:solidFill>
              <a:srgbClr val="4F6D8F"/>
            </a:solidFill>
            <a:prstDash val="solid"/>
          </a:ln>
        </p:spPr>
      </p:sp>
      <p:sp>
        <p:nvSpPr>
          <p:cNvPr id="28" name="Shape 26"/>
          <p:cNvSpPr/>
          <p:nvPr/>
        </p:nvSpPr>
        <p:spPr>
          <a:xfrm flipV="1">
            <a:off x="4672470" y="4636008"/>
            <a:ext cx="0" cy="237744"/>
          </a:xfrm>
          <a:prstGeom prst="line">
            <a:avLst/>
          </a:prstGeom>
          <a:noFill/>
          <a:ln w="19050">
            <a:solidFill>
              <a:srgbClr val="4F6D8F"/>
            </a:solidFill>
            <a:prstDash val="solid"/>
            <a:tailEnd type="triangle"/>
          </a:ln>
        </p:spPr>
      </p:sp>
      <p:sp>
        <p:nvSpPr>
          <p:cNvPr id="29" name="label"/>
          <p:cNvSpPr txBox="1"/>
          <p:nvPr/>
        </p:nvSpPr>
        <p:spPr>
          <a:xfrm>
            <a:off x="3395396" y="4892040"/>
            <a:ext cx="5400904" cy="274320"/>
          </a:xfrm>
          <a:prstGeom prst="rect">
            <a:avLst/>
          </a:prstGeom>
          <a:noFill/>
          <a:ln/>
        </p:spPr>
        <p:txBody>
          <a:bodyPr wrap="square" lIns="0" tIns="0" rIns="0" bIns="0" rtlCol="0" anchor="ctr"/>
          <a:lstStyle/>
          <a:p>
            <a:pPr algn="ctr" indent="0" marL="0">
              <a:buNone/>
            </a:pPr>
            <a:r>
              <a:rPr lang="en-US" sz="1200" dirty="0">
                <a:solidFill>
                  <a:srgbClr val="4F6D8F"/>
                </a:solidFill>
                <a:latin typeface="Arial" pitchFamily="34" charset="0"/>
                <a:ea typeface="Arial" pitchFamily="34" charset="-122"/>
                <a:cs typeface="Arial" pitchFamily="34" charset="-120"/>
              </a:rPr>
              <a:t>next item; 3 failures in a row → pause for the operator</a:t>
            </a:r>
            <a:endParaRPr lang="en-US" sz="1200" dirty="0"/>
          </a:p>
        </p:txBody>
      </p:sp>
      <p:sp>
        <p:nvSpPr>
          <p:cNvPr id="30" name="stop rule"/>
          <p:cNvSpPr/>
          <p:nvPr/>
        </p:nvSpPr>
        <p:spPr>
          <a:xfrm>
            <a:off x="548640" y="5669280"/>
            <a:ext cx="11094415" cy="548640"/>
          </a:xfrm>
          <a:prstGeom prst="rect">
            <a:avLst/>
          </a:prstGeom>
          <a:solidFill>
            <a:srgbClr val="FFFFFF"/>
          </a:solidFill>
          <a:ln w="19050">
            <a:solidFill>
              <a:srgbClr val="B23A2E"/>
            </a:solidFill>
            <a:prstDash val="solid"/>
          </a:ln>
        </p:spPr>
      </p:sp>
      <p:sp>
        <p:nvSpPr>
          <p:cNvPr id="31" name="label"/>
          <p:cNvSpPr txBox="1"/>
          <p:nvPr/>
        </p:nvSpPr>
        <p:spPr>
          <a:xfrm>
            <a:off x="685800" y="5669280"/>
            <a:ext cx="10820095"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Arial" pitchFamily="34" charset="0"/>
                <a:ea typeface="Arial" pitchFamily="34" charset="-122"/>
                <a:cs typeface="Arial" pitchFamily="34" charset="-120"/>
              </a:rPr>
              <a:t>At any point:</a:t>
            </a:r>
            <a:pPr algn="l" indent="0" marL="0">
              <a:buNone/>
            </a:pPr>
            <a:r>
              <a:rPr lang="en-US" sz="1400" dirty="0">
                <a:solidFill>
                  <a:srgbClr val="000000"/>
                </a:solidFill>
                <a:latin typeface="Arial" pitchFamily="34" charset="0"/>
                <a:ea typeface="Arial" pitchFamily="34" charset="-122"/>
                <a:cs typeface="Arial" pitchFamily="34" charset="-120"/>
              </a:rPr>
              <a:t> PAUSE or a fault stops every station on the same point of the path, still holding. Nothing restarts by itself.</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Phone App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03299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Status, live claw camera, guided setup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Anything that moves asks “yes” first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PAUSE holds position at once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switched power strip is the hard stop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 reboot never resumes a task</a:t>
            </a:r>
            <a:endParaRPr lang="en-US" sz="2000" dirty="0"/>
          </a:p>
        </p:txBody>
      </p:sp>
      <p:sp>
        <p:nvSpPr>
          <p:cNvPr id="8" name="Shape 6"/>
          <p:cNvSpPr/>
          <p:nvPr/>
        </p:nvSpPr>
        <p:spPr>
          <a:xfrm>
            <a:off x="4993118" y="1463040"/>
            <a:ext cx="2125206" cy="4526280"/>
          </a:xfrm>
          <a:prstGeom prst="rect">
            <a:avLst/>
          </a:prstGeom>
          <a:solidFill>
            <a:srgbClr val="F2F2F2"/>
          </a:solidFill>
          <a:ln w="12700">
            <a:solidFill>
              <a:srgbClr val="F2F2F2"/>
            </a:solidFill>
            <a:prstDash val="solid"/>
          </a:ln>
        </p:spPr>
      </p:sp>
      <p:pic>
        <p:nvPicPr>
          <p:cNvPr id="9" name="Phone app screens" descr="Phone app screens">    </p:cNvPr>
          <p:cNvPicPr>
            <a:picLocks noChangeAspect="1"/>
          </p:cNvPicPr>
          <p:nvPr/>
        </p:nvPicPr>
        <p:blipFill>
          <a:blip r:embed="rId1"/>
          <a:stretch>
            <a:fillRect/>
          </a:stretch>
        </p:blipFill>
        <p:spPr>
          <a:xfrm>
            <a:off x="5047982" y="1545330"/>
            <a:ext cx="2015478" cy="4361701"/>
          </a:xfrm>
          <a:prstGeom prst="rect">
            <a:avLst/>
          </a:prstGeom>
        </p:spPr>
      </p:pic>
      <p:sp>
        <p:nvSpPr>
          <p:cNvPr id="10" name="Shape 7"/>
          <p:cNvSpPr/>
          <p:nvPr/>
        </p:nvSpPr>
        <p:spPr>
          <a:xfrm>
            <a:off x="7255484" y="1463040"/>
            <a:ext cx="2125206" cy="4526280"/>
          </a:xfrm>
          <a:prstGeom prst="rect">
            <a:avLst/>
          </a:prstGeom>
          <a:solidFill>
            <a:srgbClr val="F2F2F2"/>
          </a:solidFill>
          <a:ln w="12700">
            <a:solidFill>
              <a:srgbClr val="F2F2F2"/>
            </a:solidFill>
            <a:prstDash val="solid"/>
          </a:ln>
        </p:spPr>
      </p:sp>
      <p:pic>
        <p:nvPicPr>
          <p:cNvPr id="11" name="Phone app screens" descr="Phone app screens">    </p:cNvPr>
          <p:cNvPicPr>
            <a:picLocks noChangeAspect="1"/>
          </p:cNvPicPr>
          <p:nvPr/>
        </p:nvPicPr>
        <p:blipFill>
          <a:blip r:embed="rId2"/>
          <a:stretch>
            <a:fillRect/>
          </a:stretch>
        </p:blipFill>
        <p:spPr>
          <a:xfrm>
            <a:off x="7310348" y="1545330"/>
            <a:ext cx="2015478" cy="4361701"/>
          </a:xfrm>
          <a:prstGeom prst="rect">
            <a:avLst/>
          </a:prstGeom>
        </p:spPr>
      </p:pic>
      <p:sp>
        <p:nvSpPr>
          <p:cNvPr id="12" name="Shape 8"/>
          <p:cNvSpPr/>
          <p:nvPr/>
        </p:nvSpPr>
        <p:spPr>
          <a:xfrm>
            <a:off x="9517849" y="1463040"/>
            <a:ext cx="2125206" cy="4526280"/>
          </a:xfrm>
          <a:prstGeom prst="rect">
            <a:avLst/>
          </a:prstGeom>
          <a:solidFill>
            <a:srgbClr val="F2F2F2"/>
          </a:solidFill>
          <a:ln w="12700">
            <a:solidFill>
              <a:srgbClr val="F2F2F2"/>
            </a:solidFill>
            <a:prstDash val="solid"/>
          </a:ln>
        </p:spPr>
      </p:sp>
      <p:pic>
        <p:nvPicPr>
          <p:cNvPr id="13" name="Phone app screens" descr="Phone app screens">    </p:cNvPr>
          <p:cNvPicPr>
            <a:picLocks noChangeAspect="1"/>
          </p:cNvPicPr>
          <p:nvPr/>
        </p:nvPicPr>
        <p:blipFill>
          <a:blip r:embed="rId3"/>
          <a:stretch>
            <a:fillRect/>
          </a:stretch>
        </p:blipFill>
        <p:spPr>
          <a:xfrm>
            <a:off x="9572713" y="1545330"/>
            <a:ext cx="2015478" cy="4361701"/>
          </a:xfrm>
          <a:prstGeom prst="rect">
            <a:avLst/>
          </a:prstGeom>
        </p:spPr>
      </p:pic>
      <p:sp>
        <p:nvSpPr>
          <p:cNvPr id="14" name="caption"/>
          <p:cNvSpPr txBox="1"/>
          <p:nvPr/>
        </p:nvSpPr>
        <p:spPr>
          <a:xfrm>
            <a:off x="4993118" y="6062472"/>
            <a:ext cx="6649937"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camera, chat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Obstacles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5142439"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Known obstacles are keep-out cylinders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Every path point is checked: each cable against each cylinder</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A path that fails is refused before anything moves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While moving: a stalled cable (encoder) or a failed grip (camera)</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Cannot yet see a person or a pet: nobody under the robot</a:t>
            </a:r>
            <a:endParaRPr lang="en-US" sz="1800" dirty="0"/>
          </a:p>
        </p:txBody>
      </p:sp>
      <p:sp>
        <p:nvSpPr>
          <p:cNvPr id="8" name="Shape 6"/>
          <p:cNvSpPr/>
          <p:nvPr/>
        </p:nvSpPr>
        <p:spPr>
          <a:xfrm>
            <a:off x="6193999" y="5103748"/>
            <a:ext cx="5357616" cy="0"/>
          </a:xfrm>
          <a:prstGeom prst="line">
            <a:avLst/>
          </a:prstGeom>
          <a:noFill/>
          <a:ln w="15875">
            <a:solidFill>
              <a:srgbClr val="000000"/>
            </a:solidFill>
            <a:prstDash val="solid"/>
          </a:ln>
        </p:spPr>
      </p:sp>
      <p:sp>
        <p:nvSpPr>
          <p:cNvPr id="9" name="Shape 7"/>
          <p:cNvSpPr/>
          <p:nvPr/>
        </p:nvSpPr>
        <p:spPr>
          <a:xfrm>
            <a:off x="6193999" y="1600200"/>
            <a:ext cx="5357616" cy="0"/>
          </a:xfrm>
          <a:prstGeom prst="line">
            <a:avLst/>
          </a:prstGeom>
          <a:noFill/>
          <a:ln w="12700">
            <a:solidFill>
              <a:srgbClr val="BFBFBF"/>
            </a:solidFill>
            <a:prstDash val="solid"/>
          </a:ln>
        </p:spPr>
      </p:sp>
      <p:sp>
        <p:nvSpPr>
          <p:cNvPr id="10" name="shelf"/>
          <p:cNvSpPr/>
          <p:nvPr/>
        </p:nvSpPr>
        <p:spPr>
          <a:xfrm>
            <a:off x="7216933" y="2674281"/>
            <a:ext cx="511467" cy="2429468"/>
          </a:xfrm>
          <a:prstGeom prst="rect">
            <a:avLst/>
          </a:prstGeom>
          <a:solidFill>
            <a:srgbClr val="D9DEE5"/>
          </a:solidFill>
          <a:ln w="12700">
            <a:solidFill>
              <a:srgbClr val="7F7F7F"/>
            </a:solidFill>
            <a:prstDash val="solid"/>
          </a:ln>
        </p:spPr>
      </p:sp>
      <p:sp>
        <p:nvSpPr>
          <p:cNvPr id="11" name="label"/>
          <p:cNvSpPr txBox="1"/>
          <p:nvPr/>
        </p:nvSpPr>
        <p:spPr>
          <a:xfrm>
            <a:off x="6302533" y="3569348"/>
            <a:ext cx="859536" cy="45720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shelf,</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0–1.9 m</a:t>
            </a:r>
            <a:endParaRPr lang="en-US" sz="1100" dirty="0"/>
          </a:p>
        </p:txBody>
      </p:sp>
      <p:sp>
        <p:nvSpPr>
          <p:cNvPr id="12" name="Shape 10"/>
          <p:cNvSpPr/>
          <p:nvPr/>
        </p:nvSpPr>
        <p:spPr>
          <a:xfrm>
            <a:off x="6193999" y="1792000"/>
            <a:ext cx="2685201" cy="1393747"/>
          </a:xfrm>
          <a:prstGeom prst="line">
            <a:avLst/>
          </a:prstGeom>
          <a:noFill/>
          <a:ln w="25400">
            <a:solidFill>
              <a:srgbClr val="1F3A5F"/>
            </a:solidFill>
            <a:prstDash val="solid"/>
          </a:ln>
        </p:spPr>
      </p:sp>
      <p:sp>
        <p:nvSpPr>
          <p:cNvPr id="13" name="Shape 11"/>
          <p:cNvSpPr/>
          <p:nvPr/>
        </p:nvSpPr>
        <p:spPr>
          <a:xfrm flipH="1">
            <a:off x="8879201" y="1792000"/>
            <a:ext cx="2672415" cy="1393747"/>
          </a:xfrm>
          <a:prstGeom prst="line">
            <a:avLst/>
          </a:prstGeom>
          <a:noFill/>
          <a:ln w="25400">
            <a:solidFill>
              <a:srgbClr val="1F3A5F"/>
            </a:solidFill>
            <a:prstDash val="solid"/>
          </a:ln>
        </p:spPr>
      </p:sp>
      <p:sp>
        <p:nvSpPr>
          <p:cNvPr id="14" name="Shape 12"/>
          <p:cNvSpPr/>
          <p:nvPr/>
        </p:nvSpPr>
        <p:spPr>
          <a:xfrm>
            <a:off x="8796905" y="3103451"/>
            <a:ext cx="164592" cy="164592"/>
          </a:xfrm>
          <a:prstGeom prst="rect">
            <a:avLst/>
          </a:prstGeom>
          <a:solidFill>
            <a:srgbClr val="1F3A5F"/>
          </a:solidFill>
          <a:ln w="12700">
            <a:solidFill>
              <a:srgbClr val="1F3A5F"/>
            </a:solidFill>
            <a:prstDash val="solid"/>
          </a:ln>
        </p:spPr>
      </p:sp>
      <p:sp>
        <p:nvSpPr>
          <p:cNvPr id="15" name="Shape 13"/>
          <p:cNvSpPr/>
          <p:nvPr/>
        </p:nvSpPr>
        <p:spPr>
          <a:xfrm>
            <a:off x="6193999" y="1792000"/>
            <a:ext cx="2685201" cy="2288814"/>
          </a:xfrm>
          <a:prstGeom prst="line">
            <a:avLst/>
          </a:prstGeom>
          <a:noFill/>
          <a:ln w="25400">
            <a:solidFill>
              <a:srgbClr val="B23A2E"/>
            </a:solidFill>
            <a:prstDash val="dash"/>
          </a:ln>
        </p:spPr>
      </p:sp>
      <p:sp>
        <p:nvSpPr>
          <p:cNvPr id="16" name="Shape 14"/>
          <p:cNvSpPr/>
          <p:nvPr/>
        </p:nvSpPr>
        <p:spPr>
          <a:xfrm flipH="1">
            <a:off x="8879201" y="1792000"/>
            <a:ext cx="2672415" cy="2288814"/>
          </a:xfrm>
          <a:prstGeom prst="line">
            <a:avLst/>
          </a:prstGeom>
          <a:noFill/>
          <a:ln w="25400">
            <a:solidFill>
              <a:srgbClr val="B23A2E"/>
            </a:solidFill>
            <a:prstDash val="dash"/>
          </a:ln>
        </p:spPr>
      </p:sp>
      <p:sp>
        <p:nvSpPr>
          <p:cNvPr id="17" name="Shape 15"/>
          <p:cNvSpPr/>
          <p:nvPr/>
        </p:nvSpPr>
        <p:spPr>
          <a:xfrm>
            <a:off x="8796905" y="3998519"/>
            <a:ext cx="164592" cy="164592"/>
          </a:xfrm>
          <a:prstGeom prst="rect">
            <a:avLst/>
          </a:prstGeom>
          <a:solidFill>
            <a:srgbClr val="B23A2E"/>
          </a:solidFill>
          <a:ln w="12700">
            <a:solidFill>
              <a:srgbClr val="B23A2E"/>
            </a:solidFill>
            <a:prstDash val="solid"/>
          </a:ln>
        </p:spPr>
      </p:sp>
      <p:sp>
        <p:nvSpPr>
          <p:cNvPr id="18" name="label"/>
          <p:cNvSpPr txBox="1"/>
          <p:nvPr/>
        </p:nvSpPr>
        <p:spPr>
          <a:xfrm>
            <a:off x="8193401" y="3304619"/>
            <a:ext cx="1371600" cy="2286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m: clear</a:t>
            </a:r>
            <a:endParaRPr lang="en-US" sz="1200" dirty="0"/>
          </a:p>
        </p:txBody>
      </p:sp>
      <p:sp>
        <p:nvSpPr>
          <p:cNvPr id="19" name="label"/>
          <p:cNvSpPr txBox="1"/>
          <p:nvPr/>
        </p:nvSpPr>
        <p:spPr>
          <a:xfrm>
            <a:off x="8056241" y="4199687"/>
            <a:ext cx="1645920" cy="22860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0.8 m: refused</a:t>
            </a:r>
            <a:endParaRPr lang="en-US" sz="1200" dirty="0"/>
          </a:p>
        </p:txBody>
      </p:sp>
      <p:sp>
        <p:nvSpPr>
          <p:cNvPr id="20" name="caption"/>
          <p:cNvSpPr txBox="1"/>
          <p:nvPr/>
        </p:nvSpPr>
        <p:spPr>
          <a:xfrm>
            <a:off x="6102559" y="5760720"/>
            <a:ext cx="5540496"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Side view along a room diagonal: same floor spot, two heights; an example shelf</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Claw Electrical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protected 2-cell lithium-polymer pack (7.4 V, 2200 mAh), 5 A fuse, main switch</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6 V regulator for the servo only; separate 5 V for the controller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Peak ≈ 2.8–3.1 A against a ≈ 3 A pack rating: stalls stay short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Charged with the switch off, attended, 8.4 V at ≤ 1 A</a:t>
            </a:r>
            <a:endParaRPr lang="en-US" sz="2000" dirty="0"/>
          </a:p>
        </p:txBody>
      </p:sp>
      <p:sp>
        <p:nvSpPr>
          <p:cNvPr id="6" name="Shape 4"/>
          <p:cNvSpPr/>
          <p:nvPr/>
        </p:nvSpPr>
        <p:spPr>
          <a:xfrm>
            <a:off x="5436894" y="1463040"/>
            <a:ext cx="6206161" cy="4526280"/>
          </a:xfrm>
          <a:prstGeom prst="rect">
            <a:avLst/>
          </a:prstGeom>
          <a:solidFill>
            <a:srgbClr val="F2F2F2"/>
          </a:solidFill>
          <a:ln w="12700">
            <a:solidFill>
              <a:srgbClr val="F2F2F2"/>
            </a:solidFill>
            <a:prstDash val="solid"/>
          </a:ln>
        </p:spPr>
      </p:sp>
      <p:pic>
        <p:nvPicPr>
          <p:cNvPr id="7" name="Claw schematic" descr="Claw schematic">    </p:cNvPr>
          <p:cNvPicPr>
            <a:picLocks noChangeAspect="1"/>
          </p:cNvPicPr>
          <p:nvPr/>
        </p:nvPicPr>
        <p:blipFill>
          <a:blip r:embed="rId1"/>
          <a:stretch>
            <a:fillRect/>
          </a:stretch>
        </p:blipFill>
        <p:spPr>
          <a:xfrm>
            <a:off x="5491758" y="1570308"/>
            <a:ext cx="6096433" cy="4311743"/>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Gear Strength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666744"/>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1.5, PETG allowable 22.5 MPa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At servo stall: pinion safety factor 2.05, 36-tooth gear 2.50, sync gear 2.00</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 screened first: 0.35–0.41, so the module went up</a:t>
            </a:r>
            <a:endParaRPr lang="en-US" sz="2000" dirty="0"/>
          </a:p>
        </p:txBody>
      </p:sp>
      <p:sp>
        <p:nvSpPr>
          <p:cNvPr id="8" name="equation box"/>
          <p:cNvSpPr/>
          <p:nvPr/>
        </p:nvSpPr>
        <p:spPr>
          <a:xfrm>
            <a:off x="548640" y="5312664"/>
            <a:ext cx="4920551" cy="950976"/>
          </a:xfrm>
          <a:prstGeom prst="rect">
            <a:avLst/>
          </a:prstGeom>
          <a:solidFill>
            <a:srgbClr val="F2F2F2"/>
          </a:solidFill>
          <a:ln w="6350">
            <a:solidFill>
              <a:srgbClr val="F2F2F2"/>
            </a:solidFill>
            <a:prstDash val="solid"/>
          </a:ln>
        </p:spPr>
      </p:sp>
      <p:sp>
        <p:nvSpPr>
          <p:cNvPr id="9" name="equation label"/>
          <p:cNvSpPr txBox="1"/>
          <p:nvPr/>
        </p:nvSpPr>
        <p:spPr>
          <a:xfrm>
            <a:off x="713232" y="5394960"/>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641848"/>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   SF =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allow</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σ</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SF: safety factor; Y: Lewis form factor</a:t>
            </a:r>
            <a:endParaRPr lang="en-US" sz="1050" dirty="0"/>
          </a:p>
        </p:txBody>
      </p:sp>
      <p:sp>
        <p:nvSpPr>
          <p:cNvPr id="12" name="Shape 10"/>
          <p:cNvSpPr/>
          <p:nvPr/>
        </p:nvSpPr>
        <p:spPr>
          <a:xfrm>
            <a:off x="5880671" y="1463040"/>
            <a:ext cx="2812612" cy="4526280"/>
          </a:xfrm>
          <a:prstGeom prst="rect">
            <a:avLst/>
          </a:prstGeom>
          <a:solidFill>
            <a:srgbClr val="F2F2F2"/>
          </a:solidFill>
          <a:ln w="12700">
            <a:solidFill>
              <a:srgbClr val="F2F2F2"/>
            </a:solidFill>
            <a:prstDash val="solid"/>
          </a:ln>
        </p:spPr>
      </p:sp>
      <p:pic>
        <p:nvPicPr>
          <p:cNvPr id="13" name="Compound and follower gears" descr="Compound and follower gears">    </p:cNvPr>
          <p:cNvPicPr>
            <a:picLocks noChangeAspect="1"/>
          </p:cNvPicPr>
          <p:nvPr/>
        </p:nvPicPr>
        <p:blipFill>
          <a:blip r:embed="rId1"/>
          <a:stretch>
            <a:fillRect/>
          </a:stretch>
        </p:blipFill>
        <p:spPr>
          <a:xfrm>
            <a:off x="5935535" y="2252689"/>
            <a:ext cx="2702884" cy="2946983"/>
          </a:xfrm>
          <a:prstGeom prst="rect">
            <a:avLst/>
          </a:prstGeom>
        </p:spPr>
      </p:pic>
      <p:sp>
        <p:nvSpPr>
          <p:cNvPr id="14" name="Shape 11"/>
          <p:cNvSpPr/>
          <p:nvPr/>
        </p:nvSpPr>
        <p:spPr>
          <a:xfrm>
            <a:off x="8830443" y="1463040"/>
            <a:ext cx="2812612" cy="4526280"/>
          </a:xfrm>
          <a:prstGeom prst="rect">
            <a:avLst/>
          </a:prstGeom>
          <a:solidFill>
            <a:srgbClr val="F2F2F2"/>
          </a:solidFill>
          <a:ln w="12700">
            <a:solidFill>
              <a:srgbClr val="F2F2F2"/>
            </a:solidFill>
            <a:prstDash val="solid"/>
          </a:ln>
        </p:spPr>
      </p:sp>
      <p:pic>
        <p:nvPicPr>
          <p:cNvPr id="15" name="Compound and follower gears" descr="Compound and follower gears">    </p:cNvPr>
          <p:cNvPicPr>
            <a:picLocks noChangeAspect="1"/>
          </p:cNvPicPr>
          <p:nvPr/>
        </p:nvPicPr>
        <p:blipFill>
          <a:blip r:embed="rId2"/>
          <a:stretch>
            <a:fillRect/>
          </a:stretch>
        </p:blipFill>
        <p:spPr>
          <a:xfrm>
            <a:off x="8885307" y="2570366"/>
            <a:ext cx="2702884" cy="2311627"/>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Safety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91904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hard stop: the switched power strip; faults and PAUSE hold torque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Stations anchor into studs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Nobody stands under the robot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Never plug or unplug a motor under power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safety-rated function is claimed</a:t>
            </a:r>
            <a:endParaRPr lang="en-US" sz="2000" dirty="0"/>
          </a:p>
        </p:txBody>
      </p:sp>
      <p:sp>
        <p:nvSpPr>
          <p:cNvPr id="6" name="Shape 4"/>
          <p:cNvSpPr/>
          <p:nvPr/>
        </p:nvSpPr>
        <p:spPr>
          <a:xfrm>
            <a:off x="6879168" y="1463040"/>
            <a:ext cx="4763887" cy="4526280"/>
          </a:xfrm>
          <a:prstGeom prst="rect">
            <a:avLst/>
          </a:prstGeom>
          <a:solidFill>
            <a:srgbClr val="F2F2F2"/>
          </a:solidFill>
          <a:ln w="12700">
            <a:solidFill>
              <a:srgbClr val="F2F2F2"/>
            </a:solidFill>
            <a:prstDash val="solid"/>
          </a:ln>
        </p:spPr>
      </p:sp>
      <p:pic>
        <p:nvPicPr>
          <p:cNvPr id="7" name="Wall station" descr="Wall station">    </p:cNvPr>
          <p:cNvPicPr>
            <a:picLocks noChangeAspect="1"/>
          </p:cNvPicPr>
          <p:nvPr/>
        </p:nvPicPr>
        <p:blipFill>
          <a:blip r:embed="rId1"/>
          <a:stretch>
            <a:fillRect/>
          </a:stretch>
        </p:blipFill>
        <p:spPr>
          <a:xfrm>
            <a:off x="7445889" y="1517904"/>
            <a:ext cx="3630445" cy="4416552"/>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Acronyms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440771"/>
                <a:gridCol w="8653644"/>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Term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Meaning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Computer-aided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PETG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Polyethylene terephthalate glycol (the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TPU</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Thermoplastic polyurethane (flexible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NEMA 17</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National Electrical Manufacturers Association motor frame, 1.7 in square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I²C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Inter-Integrated Circuit: a short-range two-wire sensor bus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ESP32</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 Wi-Fi microcontroller family (Espressif)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A4988 · AS5600</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Stepper-motor driver chip (Allegro) · magnetic angle sensor (ams)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YOLO</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“You Only Look Once”: an object-detection model family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SF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Safety factor: allowable stress ÷ actual stress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Calculations and Sources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chart comes from my calculation sheet, one tab per topic</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result is a formula on marked inputs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Sources:</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Incropera et al., Fundamentals of Heat and Mass Transfer, ch. 3</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Allegro MicroSystems, A4988 datasheet</a:t>
            </a:r>
            <a:endParaRPr lang="en-US" sz="2000" dirty="0"/>
          </a:p>
        </p:txBody>
      </p:sp>
      <p:pic>
        <p:nvPicPr>
          <p:cNvPr id="6" name="Chart from the calculation sheet: Cable " descr="Chart from the calculation sheet: Cable tension">    </p:cNvPr>
          <p:cNvPicPr>
            <a:picLocks noChangeAspect="1"/>
          </p:cNvPicPr>
          <p:nvPr/>
        </p:nvPicPr>
        <p:blipFill>
          <a:blip r:embed="rId1"/>
          <a:stretch>
            <a:fillRect/>
          </a:stretch>
        </p:blipFill>
        <p:spPr>
          <a:xfrm>
            <a:off x="6324448" y="1554480"/>
            <a:ext cx="5318608" cy="3661008"/>
          </a:xfrm>
          <a:prstGeom prst="rect">
            <a:avLst/>
          </a:prstGeom>
        </p:spPr>
      </p:pic>
      <p:sp>
        <p:nvSpPr>
          <p:cNvPr id="7" name="chart frame"/>
          <p:cNvSpPr/>
          <p:nvPr/>
        </p:nvSpPr>
        <p:spPr>
          <a:xfrm>
            <a:off x="6324448" y="1554480"/>
            <a:ext cx="5318608" cy="3661008"/>
          </a:xfrm>
          <a:prstGeom prst="rect">
            <a:avLst/>
          </a:prstGeom>
          <a:ln w="9525">
            <a:solidFill>
              <a:srgbClr val="BFBFBF"/>
            </a:solidFill>
            <a:prstDash val="solid"/>
          </a:ln>
        </p:spPr>
      </p:sp>
      <p:sp>
        <p:nvSpPr>
          <p:cNvPr id="8" name="caption"/>
          <p:cNvSpPr txBox="1"/>
          <p:nvPr/>
        </p:nvSpPr>
        <p:spPr>
          <a:xfrm>
            <a:off x="6324448" y="5288640"/>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10" name="sheet link"/>
          <p:cNvSpPr txBox="1"/>
          <p:nvPr/>
        </p:nvSpPr>
        <p:spPr>
          <a:xfrm>
            <a:off x="548640" y="5760720"/>
            <a:ext cx="502920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RoomCleaner v5">
  <a:themeElements>
    <a:clrScheme name="RoomCleaner v5">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5">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2026-10-22T13:09:50Z</dcterms:created>
  <dcterms:modified xsi:type="dcterms:W3CDTF">2026-10-22T13:09:50Z</dcterms:modified>
</cp:coreProperties>
</file>