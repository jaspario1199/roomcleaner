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e5c95ee-78f2-2aea-0665-d73dec496cb3}">
          <p14:sldIdLst>
            <p14:sldId id="256"/>
            <p14:sldId id="257"/>
            <p14:sldId id="258"/>
            <p14:sldId id="259"/>
            <p14:sldId id="260"/>
          </p14:sldIdLst>
        </p14:section>
        <p14:section name="Design" id="{5d342b3b-8f09-5aea-b3a3-55d056528886}">
          <p14:sldIdLst>
            <p14:sldId id="261"/>
            <p14:sldId id="262"/>
            <p14:sldId id="263"/>
            <p14:sldId id="264"/>
            <p14:sldId id="265"/>
            <p14:sldId id="266"/>
            <p14:sldId id="267"/>
            <p14:sldId id="268"/>
            <p14:sldId id="269"/>
          </p14:sldIdLst>
        </p14:section>
        <p14:section name="Build" id="{06a1f48c-2762-0f89-7315-1d19865752df}">
          <p14:sldIdLst>
            <p14:sldId id="270"/>
            <p14:sldId id="271"/>
            <p14:sldId id="272"/>
          </p14:sldIdLst>
        </p14:section>
        <p14:section name="Test" id="{095a2523-1d9a-9e0d-3ff6-20b7df91d925}">
          <p14:sldIdLst>
            <p14:sldId id="273"/>
            <p14:sldId id="274"/>
          </p14:sldIdLst>
        </p14:section>
        <p14:section name="Lessons" id="{5eb5a7e4-df68-0829-a504-badc84b0c106}">
          <p14:sldIdLst>
            <p14:sldId id="275"/>
            <p14:sldId id="276"/>
            <p14:sldId id="277"/>
          </p14:sldIdLst>
        </p14:section>
        <p14:section name="Close" id="{2504db74-37bf-a929-ce82-24ec4370e969}">
          <p14:sldIdLst>
            <p14:sldId id="278"/>
          </p14:sldIdLst>
        </p14:section>
        <p14:section name="Backup" id="{bc411356-c8c3-fed8-cf86-ab81660a5c68}">
          <p14:sldIdLst>
            <p14:sldId id="279"/>
            <p14:sldId id="280"/>
            <p14:sldId id="281"/>
            <p14:sldId id="282"/>
            <p14:sldId id="283"/>
            <p14:sldId id="284"/>
            <p14:sldId id="285"/>
            <p14:sldId id="286"/>
            <p14:sldId id="287"/>
            <p14:sldId id="288"/>
            <p14:sldId id="289"/>
            <p14:sldId id="290"/>
            <p14:sldId id="29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picks clothes off the floor and drops them in a hamper. Then straight to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Degree and graduation date, EcoFil (what each stage does, what you learned), the sculptures (fiber laser and welding: real fabrication), one hobby. Close with why a laundry robot: a problem you have, and a machine you could build end to end yourself.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cable robot: it covers the whole floor, nothing stands on the floor, and the moving mass is small. Safety rules: stations anchor into studs, the switched power strip is the one hard stop, nobody stands under the robot. 0.9 kg is a screening figure for jeans; the first physical test is 1 lb. The claw tube is 10.5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Gen 1 (August) worked on the bench: corner plates, one central controller board, a finger claw. September to early October was the rethink that drove gen 2: sensors at every winch, the wiring that caused, and the line outlets. Gen 2 in October went through three station and three spool versions to the final design on Oct 21. This week: build and the first test. Say plainly what is mine and what is bought. [Confirm the start date (git shows Jul 16) and what happened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Zoomed out: only the bottom layer turns a motor. The phone asks the supervisor; the supervisor holds one robot state; the planner checks every point of a path before anything moves; the stations run the motion on their own clocks and hold if the laptop goes quiet. The claw is a camera plus a gripper that obeys. Details are in the backup slides (one run end to end, obstacles, the phone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things I optimize, each with a number. Two are not met today: lift capacity and claw mass, and they are the same problem seen from two sides. Motor temperature is tight since the 1.5 A change. Working area and wiring are met by the design. Accuracy, speed and cost wait on the hardware test and the receipts. Safety is a constraint, not an objective: I never trade it for any of the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lever helps one thing and hurts another, and each design slide after this is one of these trades. Current: pull goes with I but heat goes with I squared, so 41 % more pull costs twice the heat. Claw strength: the stall check pushed the gears from module 1 to 1.5, and every gram of claw comes out of the payload. Room size: wire resistance grows with length, R = ρL/A; that is why only power travels, and the longest 32 ft run drops 0.51 V at 2 A on 16 AWG. Reach: tension doubles each time the depth below the anchors halves. Spool: a smaller radius pulls harder but reels slower, and the radius grows as the line winds on. Margins: they buy safety with force and floor area. The chain at the bottom is why weight matters so much: a heavier claw needs more pull, more pull needs more current, and the heat grows with the square of the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Force balance on the claw: the cable pulls and the weight sum to zero. Centred claw, equal shares. D_h = 2.17 m from the room centre to a corner. The tension doubles each time the depth halves near the ceiling, so the ceiling margin is set by tension, not by collision. At 1.06 A the design force was 11.9 N, so 0.4 m was only just enough standing still (12.2 N). At 1.5 A it is 16.8 N, so 0.4 m also covers the 2 m/s² acceleration case (14.7 N). 0.3 m would now hold standing still (16.2 N) but not while accelerating (19.5 N), so I keep 0.4 m. If asked about a corner pick: the far cables go near-horizontal and carry little; the planner checks every cable stays inside its tension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Current limit from the driver's reference voltage (A4988 datasheet): the first boards topped out at 0.85 V, which is 1.06 A. I got the drivers to 1.5 A, the motor's rated current, so every pull goes up 41 % (1.5 / 1.06). [Fill in: how, and the Vref you read.] The cost is heat: the motor makes twice the heat (next slides). Running torque is lower than holding torque; I assumed 0.7, and the pull test measures it. A smaller spool gives more pull per amp but more turns per metre. The 1.5 margin covers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cable routes are 6, 21, 23 and 32 ft (82 ft). 10 conductors × 82 ft = 820 ft against 2 × 82 ft = 164 ft for one power pair. The cost: sync moved into software. Each station runs time-stamped segments on its own clock; any lost link means hold. Timing skew becomes cable mismatch: 50 mm/s × 50 ms = 2.5 mm, which is why segments are time-stamped.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motor to shell air to room, with the fin as a second path out. At 1.5 A, P = I²R = 4.1 W in the motor, double the 2.0 W at 1.06 A. Results at 1.5 A: vented 77 °C without the fin, 58 °C with it; sealed 99 °C without, 66 °C with, so the shell must stay vented. At 1.06 A the sealed shell with the fin was 46 °C. The driver chip also heats more (it holds current all the time, even standing still); if it overheats it shuts off and the winch loses torque, so the hold test watches the driver too. At 1.35 A the vented case is 51 °C. Length: a long thin fin gives 95 % of its heat by 136 mm for the 0.019 in sheet I built; I built 200 mm, sized earlier for 1/8 in plate (backup slide). A horn is a heat exchanger: warm blood into the core, heat out through the surface; the fin is one tall thin blade from the heat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was a poor first plan, caught on paper before it was built. The trade-off is physical, so software cannot remove it. Replacement: take up slack one cable at a time, lift, look at the floor board from several poses, least-squares fit of anchors and zero lengths, check on held-out poses. Safety comes from margins (0.4 m below the anchors, 0.2 m inside the walls), not precision. Four tags in view: 0.7 mm vs 6.6 mm with one (backup slide). Simulated so far; tonight is the first hardware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generation fixed a problem found in the one before. Mass drove most changes: every gram of claw is a gram of laundry the winches cannot lift. Four-bar: ground 36.5, crank 53, rocker 50, coupler 34.7 mm; jaws parallel within about 1 degree; closing drops the tips about 38 mm, a scoop. Gear train: servo, 18T pinion, 36T/24T compound, 24T sync gear. Lewis check at servo stall: module 1 safety factor 0.35 to 0.41, so the module went up. The camera also moved from the ceiling into the claw: it sees the grasp and reads the floor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even at 1.5 A the current claw plus jeans is too heavy, by about 0.2 kg instead of 0.66 kg. Root cause: I set the mass budget late, after the claw grew. Capacity = design force / (worst tension per unit weight × g) = 16.8 / (1.101 × 9.81) = 1.56 kg; the worst point is the middle of a long wall at task height. Claw mass estimate: 0.55 infill fraction × 927 g solid + 198 g tube + 55 g servo ≈ 0.76 kg. The pull test turns the 0.7 running-torque assumption into a measurement, and that number picks the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flat face on the bed, loads along the layers, no supports on mating faces. Bearing pocket Ø14.075 with a Ø14.000 lead-in lip. Heat-set M3 inserts where screws are reused. Spool v1 was longer than the motor shaft could engage; v2's Ø5.2 bore printed too tight on the 5 mm shaft, so the printer undersize is at least 0.2 mm; v3 opened it to Ø5.45 (about 0.25 mm clearance) with a D-flat. Ø15 core, 16 mm drum: 20 ft of line in 5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setup from the same two edges means hole-to-hole errors do not stack. Holes: a 7/8 in pilot for the motor boss and 4 × Ø3.4 on the 31 mm motor square. Paint everywhere except the motor contact square, which gets thermal paste. [Fill in: time per fin, how many made, any scrap.]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Boot-safe: a 10k pull-up holds the driver's enable pin off until the firmware arms it. USB and the 5 V buck cannot back-feed each other (link jumper plus a Schottky diode). The schematic is generated from the soldered board's net list, so the two cannot disagree. The 1.14 V story: measure the hardware before trusting the software's view of it. Checklist: logic supply, sleep, enable and the buck output on every new board. [Fill in: exact readings, date, what you tried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cables, three unknown tensions, three force equations: statically determinate, so the tensions are solved exactly and slack shows up directly. It is the simplest real test of the calibration and the coordinated motion. Logged: cable lengths, encoder counts, motor temperatures, the fit's error bars. Fill in the results after the test, including any that fail.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°C limit is for the loaded PETG, and that is the one temperature the hand calculation cannot give: it only knows the motor node. The SolidWorks study puts my own 10/21 assembly in: motor block with 4.05 W (1.5 A squared times 1.8 ohm), the fin with an equivalent conductivity because my CAD fin is 2 mm and the real one is 0.483 mm (k times t is what conducts), the PETG slip-in mount, convection inside the shell at 27 °C and outside at 23 °C. The answer sheet says the motor should land at 56 to 59 °C, with the fin carrying about 40 % of the heat. Then the hold test measures it. If they disagree, I fit h and the coil resistance, not the physics. Walkthrough: docs/simulation/SW_THERMAL_MOTOR_ASSEMBLY.md.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Distributed control cost me software sync (2.5 mm per 50 ms of skew) but saved 5× the wire. The slide-in mount came from taking stations down to rework them. Calibration by camera replaced a plan that physically limited the motion. The stall check caught gears that would have sheared before I printed them. Poor: the mass budget came after the claw grew, which is the open problem today. Bead homing looked cheap until I computed what it cost. The spool bore needed a coupon. And building several stations before one was fully proven meant repeating each fix. [Confirm the last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Thorough: the fin is machined once, so the hole pattern had to be right before the first cut. The board schematic is generated from the soldered net list so the drawing cannot lie. The gear check happened in CAD because a sheared gear costs a print and a jammed claw. Scrappy: when a controller board died two days before the test, I moved the same circuit to an ESP32 dev board with nine jumpers and a compile-time pin map instead of redesigning the board. The floor board is paper tags because accuracy comes from seeing several tags, not from the board. Three stations now, because three cables already test calibration and coordinated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 would do differently: weigh the claw and set its mass budget from the measured winch pull before designing it; coupons before every new fit; one complete station tested end to end before building more; a meter on every rail before debugging code. Half the time: most of the lost time was the rethink (September to early October) and the generations that a frozen requirement and an early test would have avoided. Order the slow parts on day one. Three stations are statically determinate and need fewer parts for the first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Backups follow: status by part, fin length, floor board, calibration, control logic, one run, phone app, obstacles, claw electrical, gear strength, safety, acronyms, calculations and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calculated or simulated is called that; the next-test column is what turns it into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Efficiency at the built length: 37 % (sheet) vs 74 % (plate); fin resistance 22.1 vs 10.9 K/W. The 200 mm length was sized for the 1/8 in plate; the thin sheet would do the same job at about 140 mm.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tags: 4.85 mrad, 2.5 mm. Noise model: 0.3 px corner noise, 520 px focal length (camera not yet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comes from margins, not precision: 0.4 m below the anchors and 0.2 m inside the walls unless the error bars allow more. If the fit is not good enough: more poses, then fit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 1 trusted its model; the final logic measures before it trusts and checks after it acts. Kept from gen 1: the cable maths, the state-machine idea and the YOLO-World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Grips wait until the claw stops swinging. A refused release pauses over the hamper. Disarm needs a typed confirmation and a fresh floor check, because releasing torque drops a hanging claw.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Tested against a full simulator of the stations and the claw, so lost messages and reboots were exercised before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draw keep-out shapes in the phone app (squares, rectangles, circles with a height), then let the robot build its own room model from the claw camera's scans.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check 0 errors; 9 nets match the specification.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Stall torque 1.08 N·m at 6 V (servo rating,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BFBFBF"/>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RoomCleaner  |  Jasper Buntinx  |  October 27, 2026</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jp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jpg"/><Relationship Id="rId5" Type="http://schemas.openxmlformats.org/officeDocument/2006/relationships/slideLayout" Target="../slideLayouts/slideLayout2.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jpg"/><Relationship Id="rId7" Type="http://schemas.openxmlformats.org/officeDocument/2006/relationships/image" Target="../media/image-20-7.png"/><Relationship Id="rId8" Type="http://schemas.openxmlformats.org/officeDocument/2006/relationships/image" Target="../media/image-20-8.jpg"/><Relationship Id="rId9" Type="http://schemas.openxmlformats.org/officeDocument/2006/relationships/slideLayout" Target="../slideLayouts/slideLayout2.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2" Type="http://schemas.openxmlformats.org/officeDocument/2006/relationships/hyperlink" Target="https://docs.google.com/spreadsheets/d/1UGFnkL1v305WnDYj5aj5zBtgxnxmGP7_TVRN0afZTGs/edit" TargetMode="External"/><Relationship Id="rId1" Type="http://schemas.openxmlformats.org/officeDocument/2006/relationships/image" Target="../media/image-36-1.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cable robot that picks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Gen-2 winch station, assembled" descr="Gen-2 winch station, assembled">    </p:cNvPr>
          <p:cNvPicPr>
            <a:picLocks noChangeAspect="1"/>
          </p:cNvPicPr>
          <p:nvPr/>
        </p:nvPicPr>
        <p:blipFill>
          <a:blip r:embed="rId1"/>
          <a:stretch>
            <a:fillRect/>
          </a:stretch>
        </p:blipFill>
        <p:spPr>
          <a:xfrm>
            <a:off x="5486400" y="141732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417320"/>
            <a:ext cx="3017520" cy="40233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About Me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Education: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Mechanical Engineering, Texas A&amp;M University ·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[graduation: Month 20XX]</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EcoFil: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filament recycler: shredder, dehydrator and extruder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Sculpture: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pieces for the Austin Creek Show; fiber-laser cutting and welding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Outside of class: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[hobbies and interests]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Why this project: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[one line: why a laundry robot]</a:t>
            </a:r>
            <a:endParaRPr lang="en-US" sz="2000" dirty="0"/>
          </a:p>
        </p:txBody>
      </p:sp>
      <p:sp>
        <p:nvSpPr>
          <p:cNvPr id="6" name="placeholder"/>
          <p:cNvSpPr/>
          <p:nvPr/>
        </p:nvSpPr>
        <p:spPr>
          <a:xfrm>
            <a:off x="5880671" y="1463040"/>
            <a:ext cx="5762384" cy="4526280"/>
          </a:xfrm>
          <a:prstGeom prst="rect">
            <a:avLst/>
          </a:prstGeom>
          <a:solidFill>
            <a:srgbClr val="F2F2F2"/>
          </a:solidFill>
          <a:ln w="12700">
            <a:solidFill>
              <a:srgbClr val="B23A2E"/>
            </a:solidFill>
            <a:prstDash val="dash"/>
          </a:ln>
        </p:spPr>
      </p:sp>
      <p:sp>
        <p:nvSpPr>
          <p:cNvPr id="7" name="placeholder text"/>
          <p:cNvSpPr txBox="1"/>
          <p:nvPr/>
        </p:nvSpPr>
        <p:spPr>
          <a:xfrm>
            <a:off x="6063551" y="1463040"/>
            <a:ext cx="5396624" cy="4526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of you building: EcoFil, a sculpture, or the workshop]</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Goal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Task:</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laundry off the floor and into a hamper, anywhere in an 11 × 9 ft room</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How:</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four winches near the ceiling corners hold one claw on cables</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jeans (0.9 kg) at 2 m/s²; first test: 1 lb</a:t>
            </a:r>
            <a:endParaRPr lang="en-US" sz="1900" dirty="0"/>
          </a:p>
          <a:p>
            <a:pPr algn="l" marL="254000" indent="-254000">
              <a:spcAft>
                <a:spcPts val="1400"/>
              </a:spcAft>
              <a:buSzPct val="100000"/>
              <a:buChar char="•"/>
            </a:pPr>
            <a:r>
              <a:rPr lang="en-US" sz="1900" b="1" dirty="0">
                <a:solidFill>
                  <a:srgbClr val="000000"/>
                </a:solidFill>
                <a:latin typeface="Arial" pitchFamily="34" charset="0"/>
                <a:ea typeface="Arial" pitchFamily="34" charset="-122"/>
                <a:cs typeface="Arial" pitchFamily="34" charset="-120"/>
              </a:rPr>
              <a:t>Limits:</a:t>
            </a:r>
            <a:pPr algn="l" marL="254000" indent="-254000">
              <a:spcAft>
                <a:spcPts val="1400"/>
              </a:spcAft>
              <a:buSzPct val="100000"/>
              <a:buChar char="•"/>
            </a:pPr>
            <a:r>
              <a:rPr lang="en-US" sz="1900" dirty="0">
                <a:solidFill>
                  <a:srgbClr val="000000"/>
                </a:solidFill>
                <a:latin typeface="Arial" pitchFamily="34" charset="0"/>
                <a:ea typeface="Arial" pitchFamily="34" charset="-122"/>
                <a:cs typeface="Arial" pitchFamily="34" charset="-120"/>
              </a:rPr>
              <a:t> 3D-printed PETG (polyethylene terephthalate glycol) plastic, hobby budget, safe in a home</a:t>
            </a:r>
            <a:endParaRPr lang="en-US" sz="1900" dirty="0"/>
          </a:p>
        </p:txBody>
      </p:sp>
      <p:sp>
        <p:nvSpPr>
          <p:cNvPr id="6" name="Shape 4"/>
          <p:cNvSpPr/>
          <p:nvPr/>
        </p:nvSpPr>
        <p:spPr>
          <a:xfrm>
            <a:off x="6324448" y="1463040"/>
            <a:ext cx="2590724" cy="4526280"/>
          </a:xfrm>
          <a:prstGeom prst="rect">
            <a:avLst/>
          </a:prstGeom>
          <a:solidFill>
            <a:srgbClr val="F2F2F2"/>
          </a:solidFill>
          <a:ln w="12700">
            <a:solidFill>
              <a:srgbClr val="F2F2F2"/>
            </a:solidFill>
            <a:prstDash val="solid"/>
          </a:ln>
        </p:spPr>
      </p:sp>
      <p:pic>
        <p:nvPicPr>
          <p:cNvPr id="7" name="Final wall station" descr="Final wall station">    </p:cNvPr>
          <p:cNvPicPr>
            <a:picLocks noChangeAspect="1"/>
          </p:cNvPicPr>
          <p:nvPr/>
        </p:nvPicPr>
        <p:blipFill>
          <a:blip r:embed="rId1"/>
          <a:stretch>
            <a:fillRect/>
          </a:stretch>
        </p:blipFill>
        <p:spPr>
          <a:xfrm>
            <a:off x="6379312" y="2217075"/>
            <a:ext cx="2480996" cy="3018211"/>
          </a:xfrm>
          <a:prstGeom prst="rect">
            <a:avLst/>
          </a:prstGeom>
        </p:spPr>
      </p:pic>
      <p:sp>
        <p:nvSpPr>
          <p:cNvPr id="8" name="Shape 5"/>
          <p:cNvSpPr/>
          <p:nvPr/>
        </p:nvSpPr>
        <p:spPr>
          <a:xfrm>
            <a:off x="9052331" y="1463040"/>
            <a:ext cx="2590724" cy="4526280"/>
          </a:xfrm>
          <a:prstGeom prst="rect">
            <a:avLst/>
          </a:prstGeom>
          <a:solidFill>
            <a:srgbClr val="F2F2F2"/>
          </a:solidFill>
          <a:ln w="12700">
            <a:solidFill>
              <a:srgbClr val="F2F2F2"/>
            </a:solidFill>
            <a:prstDash val="solid"/>
          </a:ln>
        </p:spPr>
      </p:sp>
      <p:pic>
        <p:nvPicPr>
          <p:cNvPr id="9" name="Final claw" descr="Final claw">    </p:cNvPr>
          <p:cNvPicPr>
            <a:picLocks noChangeAspect="1"/>
          </p:cNvPicPr>
          <p:nvPr/>
        </p:nvPicPr>
        <p:blipFill>
          <a:blip r:embed="rId2"/>
          <a:stretch>
            <a:fillRect/>
          </a:stretch>
        </p:blipFill>
        <p:spPr>
          <a:xfrm>
            <a:off x="9700973" y="1517904"/>
            <a:ext cx="1293441" cy="4416552"/>
          </a:xfrm>
          <a:prstGeom prst="rect">
            <a:avLst/>
          </a:prstGeom>
        </p:spPr>
      </p:pic>
      <p:sp>
        <p:nvSpPr>
          <p:cNvPr id="10" name="caption"/>
          <p:cNvSpPr txBox="1"/>
          <p:nvPr/>
        </p:nvSpPr>
        <p:spPr>
          <a:xfrm>
            <a:off x="6324448" y="6062472"/>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design (CAD): a wall station and the claw</a:t>
            </a:r>
            <a:endParaRPr lang="en-US" sz="1100" dirty="0"/>
          </a:p>
        </p:txBody>
      </p:sp>
      <p:sp>
        <p:nvSpPr>
          <p:cNvPr id="12" name="label"/>
          <p:cNvSpPr txBox="1"/>
          <p:nvPr/>
        </p:nvSpPr>
        <p:spPr>
          <a:xfrm>
            <a:off x="548640" y="4709160"/>
            <a:ext cx="5364328" cy="274320"/>
          </a:xfrm>
          <a:prstGeom prst="rect">
            <a:avLst/>
          </a:prstGeom>
          <a:noFill/>
          <a:ln/>
        </p:spPr>
        <p:txBody>
          <a:bodyPr wrap="square" lIns="0" tIns="0" rIns="0" bIns="0" rtlCol="0" anchor="ctr"/>
          <a:lstStyle/>
          <a:p>
            <a:pPr algn="l" indent="0" marL="0">
              <a:buNone/>
            </a:pPr>
            <a:r>
              <a:rPr lang="en-US" sz="1400" b="1" dirty="0">
                <a:solidFill>
                  <a:srgbClr val="404040"/>
                </a:solidFill>
                <a:latin typeface="Arial" pitchFamily="34" charset="0"/>
                <a:ea typeface="Arial" pitchFamily="34" charset="-122"/>
                <a:cs typeface="Arial" pitchFamily="34" charset="-120"/>
              </a:rPr>
              <a:t>What “done” means</a:t>
            </a:r>
            <a:endParaRPr lang="en-US" sz="1400" dirty="0"/>
          </a:p>
        </p:txBody>
      </p:sp>
      <p:sp>
        <p:nvSpPr>
          <p:cNvPr id="13" name="gate 1"/>
          <p:cNvSpPr/>
          <p:nvPr/>
        </p:nvSpPr>
        <p:spPr>
          <a:xfrm>
            <a:off x="548640" y="5038344"/>
            <a:ext cx="1714957" cy="868680"/>
          </a:xfrm>
          <a:prstGeom prst="rect">
            <a:avLst/>
          </a:prstGeom>
          <a:solidFill>
            <a:srgbClr val="1F3A5F"/>
          </a:solidFill>
          <a:ln w="15875">
            <a:solidFill>
              <a:srgbClr val="1F3A5F"/>
            </a:solidFill>
            <a:prstDash val="solid"/>
          </a:ln>
        </p:spPr>
      </p:sp>
      <p:sp>
        <p:nvSpPr>
          <p:cNvPr id="14" name="Text 9"/>
          <p:cNvSpPr txBox="1"/>
          <p:nvPr/>
        </p:nvSpPr>
        <p:spPr>
          <a:xfrm>
            <a:off x="640080" y="5038344"/>
            <a:ext cx="1532077" cy="86868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Gate 1</a:t>
            </a:r>
            <a:endParaRPr lang="en-US" sz="1400" dirty="0"/>
          </a:p>
          <a:p>
            <a:pPr indent="0" marL="0">
              <a:buNone/>
            </a:pPr>
            <a:r>
              <a:rPr lang="en-US" sz="1250" dirty="0">
                <a:solidFill>
                  <a:srgbClr val="FFFFFF"/>
                </a:solidFill>
                <a:latin typeface="Arial" pitchFamily="34" charset="0"/>
                <a:ea typeface="Arial" pitchFamily="34" charset="-122"/>
                <a:cs typeface="Arial" pitchFamily="34" charset="-120"/>
              </a:rPr>
              <a:t>One station runs repeatably</a:t>
            </a:r>
            <a:endParaRPr lang="en-US" sz="1400" dirty="0"/>
          </a:p>
        </p:txBody>
      </p:sp>
      <p:sp>
        <p:nvSpPr>
          <p:cNvPr id="15" name="gate 2"/>
          <p:cNvSpPr/>
          <p:nvPr/>
        </p:nvSpPr>
        <p:spPr>
          <a:xfrm>
            <a:off x="2373325" y="5038344"/>
            <a:ext cx="1714957" cy="868680"/>
          </a:xfrm>
          <a:prstGeom prst="rect">
            <a:avLst/>
          </a:prstGeom>
          <a:solidFill>
            <a:srgbClr val="FFFFFF"/>
          </a:solidFill>
          <a:ln w="28575">
            <a:solidFill>
              <a:srgbClr val="1F3A5F"/>
            </a:solidFill>
            <a:prstDash val="solid"/>
          </a:ln>
        </p:spPr>
      </p:sp>
      <p:sp>
        <p:nvSpPr>
          <p:cNvPr id="16" name="Text 11"/>
          <p:cNvSpPr txBox="1"/>
          <p:nvPr/>
        </p:nvSpPr>
        <p:spPr>
          <a:xfrm>
            <a:off x="2464765"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2</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Stations hold and move 1 lb</a:t>
            </a:r>
            <a:endParaRPr lang="en-US" sz="1400" dirty="0"/>
          </a:p>
        </p:txBody>
      </p:sp>
      <p:sp>
        <p:nvSpPr>
          <p:cNvPr id="17" name="gate 3"/>
          <p:cNvSpPr/>
          <p:nvPr/>
        </p:nvSpPr>
        <p:spPr>
          <a:xfrm>
            <a:off x="4198010" y="5038344"/>
            <a:ext cx="1714957" cy="868680"/>
          </a:xfrm>
          <a:prstGeom prst="rect">
            <a:avLst/>
          </a:prstGeom>
          <a:solidFill>
            <a:srgbClr val="FFFFFF"/>
          </a:solidFill>
          <a:ln w="15875">
            <a:solidFill>
              <a:srgbClr val="BFBFBF"/>
            </a:solidFill>
            <a:prstDash val="solid"/>
          </a:ln>
        </p:spPr>
      </p:sp>
      <p:sp>
        <p:nvSpPr>
          <p:cNvPr id="18" name="Text 13"/>
          <p:cNvSpPr txBox="1"/>
          <p:nvPr/>
        </p:nvSpPr>
        <p:spPr>
          <a:xfrm>
            <a:off x="4289450" y="5038344"/>
            <a:ext cx="1532077" cy="86868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Gate 3</a:t>
            </a:r>
            <a:endParaRPr lang="en-US" sz="1400" dirty="0"/>
          </a:p>
          <a:p>
            <a:pPr indent="0" marL="0">
              <a:buNone/>
            </a:pPr>
            <a:r>
              <a:rPr lang="en-US" sz="1250" dirty="0">
                <a:solidFill>
                  <a:srgbClr val="000000"/>
                </a:solidFill>
                <a:latin typeface="Arial" pitchFamily="34" charset="0"/>
                <a:ea typeface="Arial" pitchFamily="34" charset="-122"/>
                <a:cs typeface="Arial" pitchFamily="34" charset="-120"/>
              </a:rPr>
              <a:t>One garment into the hamper</a:t>
            </a:r>
            <a:endParaRPr lang="en-US" sz="1400" dirty="0"/>
          </a:p>
        </p:txBody>
      </p:sp>
      <p:sp>
        <p:nvSpPr>
          <p:cNvPr id="19" name="label"/>
          <p:cNvSpPr txBox="1"/>
          <p:nvPr/>
        </p:nvSpPr>
        <p:spPr>
          <a:xfrm>
            <a:off x="548640" y="5961888"/>
            <a:ext cx="5364328" cy="274320"/>
          </a:xfrm>
          <a:prstGeom prst="rect">
            <a:avLst/>
          </a:prstGeom>
          <a:noFill/>
          <a:ln/>
        </p:spPr>
        <p:txBody>
          <a:bodyPr wrap="square" lIns="0" tIns="0" rIns="0" bIns="0" rtlCol="0" anchor="ctr"/>
          <a:lstStyle/>
          <a:p>
            <a:pPr algn="l" indent="0" marL="0">
              <a:buNone/>
            </a:pPr>
            <a:r>
              <a:rPr lang="en-US" sz="1200" dirty="0">
                <a:solidFill>
                  <a:srgbClr val="4F6D8F"/>
                </a:solidFill>
                <a:latin typeface="Arial" pitchFamily="34" charset="0"/>
                <a:ea typeface="Arial" pitchFamily="34" charset="-122"/>
                <a:cs typeface="Arial" pitchFamily="34" charset="-120"/>
              </a:rPr>
              <a:t>Now: gate 1 passed on the bench, gate 2 is this week’s test</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Scope and Timeline</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Shape 3"/>
          <p:cNvSpPr/>
          <p:nvPr/>
        </p:nvSpPr>
        <p:spPr>
          <a:xfrm>
            <a:off x="548640" y="1828800"/>
            <a:ext cx="11094415" cy="0"/>
          </a:xfrm>
          <a:prstGeom prst="line">
            <a:avLst/>
          </a:prstGeom>
          <a:noFill/>
          <a:ln w="19050">
            <a:solidFill>
              <a:srgbClr val="7F7F7F"/>
            </a:solidFill>
            <a:prstDash val="solid"/>
            <a:tailEnd type="triangle"/>
          </a:ln>
        </p:spPr>
      </p:sp>
      <p:sp>
        <p:nvSpPr>
          <p:cNvPr id="6" name="label"/>
          <p:cNvSpPr txBox="1"/>
          <p:nvPr/>
        </p:nvSpPr>
        <p:spPr>
          <a:xfrm>
            <a:off x="548640"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Jul 16</a:t>
            </a:r>
            <a:endParaRPr lang="en-US" sz="1500" dirty="0"/>
          </a:p>
        </p:txBody>
      </p:sp>
      <p:sp>
        <p:nvSpPr>
          <p:cNvPr id="7" name="Shape 5"/>
          <p:cNvSpPr/>
          <p:nvPr/>
        </p:nvSpPr>
        <p:spPr>
          <a:xfrm>
            <a:off x="566928" y="1755648"/>
            <a:ext cx="146304" cy="146304"/>
          </a:xfrm>
          <a:prstGeom prst="ellipse">
            <a:avLst/>
          </a:prstGeom>
          <a:solidFill>
            <a:srgbClr val="1F3A5F"/>
          </a:solidFill>
          <a:ln w="12700">
            <a:solidFill>
              <a:srgbClr val="1F3A5F"/>
            </a:solidFill>
            <a:prstDash val="solid"/>
          </a:ln>
        </p:spPr>
      </p:sp>
      <p:sp>
        <p:nvSpPr>
          <p:cNvPr id="8" name="stage 1"/>
          <p:cNvSpPr/>
          <p:nvPr/>
        </p:nvSpPr>
        <p:spPr>
          <a:xfrm>
            <a:off x="548640" y="2011680"/>
            <a:ext cx="2101840" cy="1600200"/>
          </a:xfrm>
          <a:prstGeom prst="rect">
            <a:avLst/>
          </a:prstGeom>
          <a:solidFill>
            <a:srgbClr val="FFFFFF"/>
          </a:solidFill>
          <a:ln w="12700">
            <a:solidFill>
              <a:srgbClr val="1F3A5F"/>
            </a:solidFill>
            <a:prstDash val="solid"/>
          </a:ln>
        </p:spPr>
      </p:sp>
      <p:sp>
        <p:nvSpPr>
          <p:cNvPr id="9" name="Text 7"/>
          <p:cNvSpPr txBox="1"/>
          <p:nvPr/>
        </p:nvSpPr>
        <p:spPr>
          <a:xfrm>
            <a:off x="640080"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Concept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Requirements, simulator, parts list</a:t>
            </a:r>
            <a:endParaRPr lang="en-US" sz="1500" dirty="0"/>
          </a:p>
        </p:txBody>
      </p:sp>
      <p:sp>
        <p:nvSpPr>
          <p:cNvPr id="10" name="Shape 8"/>
          <p:cNvSpPr/>
          <p:nvPr/>
        </p:nvSpPr>
        <p:spPr>
          <a:xfrm>
            <a:off x="640080" y="3282696"/>
            <a:ext cx="603504" cy="228600"/>
          </a:xfrm>
          <a:prstGeom prst="roundRect">
            <a:avLst>
              <a:gd name="adj" fmla="val 48000"/>
            </a:avLst>
          </a:prstGeom>
          <a:solidFill>
            <a:srgbClr val="1F3A5F"/>
          </a:solidFill>
          <a:ln w="12700">
            <a:solidFill>
              <a:srgbClr val="1F3A5F"/>
            </a:solidFill>
            <a:prstDash val="solid"/>
          </a:ln>
        </p:spPr>
      </p:sp>
      <p:sp>
        <p:nvSpPr>
          <p:cNvPr id="11" name="label"/>
          <p:cNvSpPr txBox="1"/>
          <p:nvPr/>
        </p:nvSpPr>
        <p:spPr>
          <a:xfrm>
            <a:off x="6400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2" name="label"/>
          <p:cNvSpPr txBox="1"/>
          <p:nvPr/>
        </p:nvSpPr>
        <p:spPr>
          <a:xfrm>
            <a:off x="2796784"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Aug 6 – Sep 2</a:t>
            </a:r>
            <a:endParaRPr lang="en-US" sz="1500" dirty="0"/>
          </a:p>
        </p:txBody>
      </p:sp>
      <p:sp>
        <p:nvSpPr>
          <p:cNvPr id="13" name="Shape 11"/>
          <p:cNvSpPr/>
          <p:nvPr/>
        </p:nvSpPr>
        <p:spPr>
          <a:xfrm>
            <a:off x="2815072" y="1755648"/>
            <a:ext cx="146304" cy="146304"/>
          </a:xfrm>
          <a:prstGeom prst="ellipse">
            <a:avLst/>
          </a:prstGeom>
          <a:solidFill>
            <a:srgbClr val="1F3A5F"/>
          </a:solidFill>
          <a:ln w="12700">
            <a:solidFill>
              <a:srgbClr val="1F3A5F"/>
            </a:solidFill>
            <a:prstDash val="solid"/>
          </a:ln>
        </p:spPr>
      </p:sp>
      <p:sp>
        <p:nvSpPr>
          <p:cNvPr id="14" name="stage 2"/>
          <p:cNvSpPr/>
          <p:nvPr/>
        </p:nvSpPr>
        <p:spPr>
          <a:xfrm>
            <a:off x="2796784" y="2011680"/>
            <a:ext cx="2101840" cy="1600200"/>
          </a:xfrm>
          <a:prstGeom prst="rect">
            <a:avLst/>
          </a:prstGeom>
          <a:solidFill>
            <a:srgbClr val="FFFFFF"/>
          </a:solidFill>
          <a:ln w="12700">
            <a:solidFill>
              <a:srgbClr val="1F3A5F"/>
            </a:solidFill>
            <a:prstDash val="solid"/>
          </a:ln>
        </p:spPr>
      </p:sp>
      <p:sp>
        <p:nvSpPr>
          <p:cNvPr id="15" name="Text 13"/>
          <p:cNvSpPr txBox="1"/>
          <p:nvPr/>
        </p:nvSpPr>
        <p:spPr>
          <a:xfrm>
            <a:off x="2888224"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1</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Corner plates, one central controller, finger claw</a:t>
            </a:r>
            <a:endParaRPr lang="en-US" sz="1500" dirty="0"/>
          </a:p>
        </p:txBody>
      </p:sp>
      <p:sp>
        <p:nvSpPr>
          <p:cNvPr id="16" name="Shape 14"/>
          <p:cNvSpPr/>
          <p:nvPr/>
        </p:nvSpPr>
        <p:spPr>
          <a:xfrm>
            <a:off x="2888224" y="3282696"/>
            <a:ext cx="603504" cy="228600"/>
          </a:xfrm>
          <a:prstGeom prst="roundRect">
            <a:avLst>
              <a:gd name="adj" fmla="val 48000"/>
            </a:avLst>
          </a:prstGeom>
          <a:solidFill>
            <a:srgbClr val="1F3A5F"/>
          </a:solidFill>
          <a:ln w="12700">
            <a:solidFill>
              <a:srgbClr val="1F3A5F"/>
            </a:solidFill>
            <a:prstDash val="solid"/>
          </a:ln>
        </p:spPr>
      </p:sp>
      <p:sp>
        <p:nvSpPr>
          <p:cNvPr id="17" name="label"/>
          <p:cNvSpPr txBox="1"/>
          <p:nvPr/>
        </p:nvSpPr>
        <p:spPr>
          <a:xfrm>
            <a:off x="2888224"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18" name="Shape 16"/>
          <p:cNvSpPr/>
          <p:nvPr/>
        </p:nvSpPr>
        <p:spPr>
          <a:xfrm>
            <a:off x="3546592" y="3282696"/>
            <a:ext cx="603504" cy="228600"/>
          </a:xfrm>
          <a:prstGeom prst="roundRect">
            <a:avLst>
              <a:gd name="adj" fmla="val 48000"/>
            </a:avLst>
          </a:prstGeom>
          <a:solidFill>
            <a:srgbClr val="4F6D8F"/>
          </a:solidFill>
          <a:ln w="12700">
            <a:solidFill>
              <a:srgbClr val="4F6D8F"/>
            </a:solidFill>
            <a:prstDash val="solid"/>
          </a:ln>
        </p:spPr>
      </p:sp>
      <p:sp>
        <p:nvSpPr>
          <p:cNvPr id="19" name="label"/>
          <p:cNvSpPr txBox="1"/>
          <p:nvPr/>
        </p:nvSpPr>
        <p:spPr>
          <a:xfrm>
            <a:off x="354659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20" name="Shape 18"/>
          <p:cNvSpPr/>
          <p:nvPr/>
        </p:nvSpPr>
        <p:spPr>
          <a:xfrm>
            <a:off x="4204960" y="3282696"/>
            <a:ext cx="603504" cy="228600"/>
          </a:xfrm>
          <a:prstGeom prst="roundRect">
            <a:avLst>
              <a:gd name="adj" fmla="val 48000"/>
            </a:avLst>
          </a:prstGeom>
          <a:solidFill>
            <a:srgbClr val="B23A2E"/>
          </a:solidFill>
          <a:ln w="12700">
            <a:solidFill>
              <a:srgbClr val="B23A2E"/>
            </a:solidFill>
            <a:prstDash val="solid"/>
          </a:ln>
        </p:spPr>
      </p:sp>
      <p:sp>
        <p:nvSpPr>
          <p:cNvPr id="21" name="label"/>
          <p:cNvSpPr txBox="1"/>
          <p:nvPr/>
        </p:nvSpPr>
        <p:spPr>
          <a:xfrm>
            <a:off x="420496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22" name="label"/>
          <p:cNvSpPr txBox="1"/>
          <p:nvPr/>
        </p:nvSpPr>
        <p:spPr>
          <a:xfrm>
            <a:off x="5044928"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Sep – Oct 6</a:t>
            </a:r>
            <a:endParaRPr lang="en-US" sz="1500" dirty="0"/>
          </a:p>
        </p:txBody>
      </p:sp>
      <p:sp>
        <p:nvSpPr>
          <p:cNvPr id="23" name="Shape 21"/>
          <p:cNvSpPr/>
          <p:nvPr/>
        </p:nvSpPr>
        <p:spPr>
          <a:xfrm>
            <a:off x="5063216" y="1755648"/>
            <a:ext cx="146304" cy="146304"/>
          </a:xfrm>
          <a:prstGeom prst="ellipse">
            <a:avLst/>
          </a:prstGeom>
          <a:solidFill>
            <a:srgbClr val="1F3A5F"/>
          </a:solidFill>
          <a:ln w="12700">
            <a:solidFill>
              <a:srgbClr val="1F3A5F"/>
            </a:solidFill>
            <a:prstDash val="solid"/>
          </a:ln>
        </p:spPr>
      </p:sp>
      <p:sp>
        <p:nvSpPr>
          <p:cNvPr id="24" name="stage 3"/>
          <p:cNvSpPr/>
          <p:nvPr/>
        </p:nvSpPr>
        <p:spPr>
          <a:xfrm>
            <a:off x="5044928" y="2011680"/>
            <a:ext cx="2101840" cy="1600200"/>
          </a:xfrm>
          <a:prstGeom prst="rect">
            <a:avLst/>
          </a:prstGeom>
          <a:solidFill>
            <a:srgbClr val="FFFFFF"/>
          </a:solidFill>
          <a:ln w="12700">
            <a:solidFill>
              <a:srgbClr val="1F3A5F"/>
            </a:solidFill>
            <a:prstDash val="solid"/>
          </a:ln>
        </p:spPr>
      </p:sp>
      <p:sp>
        <p:nvSpPr>
          <p:cNvPr id="25" name="Text 23"/>
          <p:cNvSpPr txBox="1"/>
          <p:nvPr/>
        </p:nvSpPr>
        <p:spPr>
          <a:xfrm>
            <a:off x="5136368"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Rethink</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Sensors per winch, wiring, line outlets</a:t>
            </a:r>
            <a:endParaRPr lang="en-US" sz="1500" dirty="0"/>
          </a:p>
        </p:txBody>
      </p:sp>
      <p:sp>
        <p:nvSpPr>
          <p:cNvPr id="26" name="Shape 24"/>
          <p:cNvSpPr/>
          <p:nvPr/>
        </p:nvSpPr>
        <p:spPr>
          <a:xfrm>
            <a:off x="5136368" y="3282696"/>
            <a:ext cx="603504" cy="228600"/>
          </a:xfrm>
          <a:prstGeom prst="roundRect">
            <a:avLst>
              <a:gd name="adj" fmla="val 48000"/>
            </a:avLst>
          </a:prstGeom>
          <a:solidFill>
            <a:srgbClr val="1F3A5F"/>
          </a:solidFill>
          <a:ln w="12700">
            <a:solidFill>
              <a:srgbClr val="1F3A5F"/>
            </a:solidFill>
            <a:prstDash val="solid"/>
          </a:ln>
        </p:spPr>
      </p:sp>
      <p:sp>
        <p:nvSpPr>
          <p:cNvPr id="27" name="label"/>
          <p:cNvSpPr txBox="1"/>
          <p:nvPr/>
        </p:nvSpPr>
        <p:spPr>
          <a:xfrm>
            <a:off x="513636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28" name="label"/>
          <p:cNvSpPr txBox="1"/>
          <p:nvPr/>
        </p:nvSpPr>
        <p:spPr>
          <a:xfrm>
            <a:off x="7293072"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7 – 21</a:t>
            </a:r>
            <a:endParaRPr lang="en-US" sz="1500" dirty="0"/>
          </a:p>
        </p:txBody>
      </p:sp>
      <p:sp>
        <p:nvSpPr>
          <p:cNvPr id="29" name="Shape 27"/>
          <p:cNvSpPr/>
          <p:nvPr/>
        </p:nvSpPr>
        <p:spPr>
          <a:xfrm>
            <a:off x="7311360" y="1755648"/>
            <a:ext cx="146304" cy="146304"/>
          </a:xfrm>
          <a:prstGeom prst="ellipse">
            <a:avLst/>
          </a:prstGeom>
          <a:solidFill>
            <a:srgbClr val="1F3A5F"/>
          </a:solidFill>
          <a:ln w="12700">
            <a:solidFill>
              <a:srgbClr val="1F3A5F"/>
            </a:solidFill>
            <a:prstDash val="solid"/>
          </a:ln>
        </p:spPr>
      </p:sp>
      <p:sp>
        <p:nvSpPr>
          <p:cNvPr id="30" name="stage 4"/>
          <p:cNvSpPr/>
          <p:nvPr/>
        </p:nvSpPr>
        <p:spPr>
          <a:xfrm>
            <a:off x="7293072" y="2011680"/>
            <a:ext cx="2101840" cy="1600200"/>
          </a:xfrm>
          <a:prstGeom prst="rect">
            <a:avLst/>
          </a:prstGeom>
          <a:solidFill>
            <a:srgbClr val="FFFFFF"/>
          </a:solidFill>
          <a:ln w="12700">
            <a:solidFill>
              <a:srgbClr val="1F3A5F"/>
            </a:solidFill>
            <a:prstDash val="solid"/>
          </a:ln>
        </p:spPr>
      </p:sp>
      <p:sp>
        <p:nvSpPr>
          <p:cNvPr id="31" name="Text 29"/>
          <p:cNvSpPr txBox="1"/>
          <p:nvPr/>
        </p:nvSpPr>
        <p:spPr>
          <a:xfrm>
            <a:off x="7384512"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Gen 2 → final</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SolidWorks: station v1→v3, spool v1→v3, claw → four-bar</a:t>
            </a:r>
            <a:endParaRPr lang="en-US" sz="1500" dirty="0"/>
          </a:p>
        </p:txBody>
      </p:sp>
      <p:sp>
        <p:nvSpPr>
          <p:cNvPr id="32" name="Shape 30"/>
          <p:cNvSpPr/>
          <p:nvPr/>
        </p:nvSpPr>
        <p:spPr>
          <a:xfrm>
            <a:off x="7384512" y="3282696"/>
            <a:ext cx="603504" cy="228600"/>
          </a:xfrm>
          <a:prstGeom prst="roundRect">
            <a:avLst>
              <a:gd name="adj" fmla="val 48000"/>
            </a:avLst>
          </a:prstGeom>
          <a:solidFill>
            <a:srgbClr val="1F3A5F"/>
          </a:solidFill>
          <a:ln w="12700">
            <a:solidFill>
              <a:srgbClr val="1F3A5F"/>
            </a:solidFill>
            <a:prstDash val="solid"/>
          </a:ln>
        </p:spPr>
      </p:sp>
      <p:sp>
        <p:nvSpPr>
          <p:cNvPr id="33" name="label"/>
          <p:cNvSpPr txBox="1"/>
          <p:nvPr/>
        </p:nvSpPr>
        <p:spPr>
          <a:xfrm>
            <a:off x="7384512"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Design</a:t>
            </a:r>
            <a:endParaRPr lang="en-US" sz="950" dirty="0"/>
          </a:p>
        </p:txBody>
      </p:sp>
      <p:sp>
        <p:nvSpPr>
          <p:cNvPr id="34" name="Shape 32"/>
          <p:cNvSpPr/>
          <p:nvPr/>
        </p:nvSpPr>
        <p:spPr>
          <a:xfrm>
            <a:off x="8042880" y="3282696"/>
            <a:ext cx="603504" cy="228600"/>
          </a:xfrm>
          <a:prstGeom prst="roundRect">
            <a:avLst>
              <a:gd name="adj" fmla="val 48000"/>
            </a:avLst>
          </a:prstGeom>
          <a:solidFill>
            <a:srgbClr val="4F6D8F"/>
          </a:solidFill>
          <a:ln w="12700">
            <a:solidFill>
              <a:srgbClr val="4F6D8F"/>
            </a:solidFill>
            <a:prstDash val="solid"/>
          </a:ln>
        </p:spPr>
      </p:sp>
      <p:sp>
        <p:nvSpPr>
          <p:cNvPr id="35" name="label"/>
          <p:cNvSpPr txBox="1"/>
          <p:nvPr/>
        </p:nvSpPr>
        <p:spPr>
          <a:xfrm>
            <a:off x="8042880"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36" name="Shape 34"/>
          <p:cNvSpPr/>
          <p:nvPr/>
        </p:nvSpPr>
        <p:spPr>
          <a:xfrm>
            <a:off x="8701248" y="3282696"/>
            <a:ext cx="603504" cy="228600"/>
          </a:xfrm>
          <a:prstGeom prst="roundRect">
            <a:avLst>
              <a:gd name="adj" fmla="val 48000"/>
            </a:avLst>
          </a:prstGeom>
          <a:solidFill>
            <a:srgbClr val="B23A2E"/>
          </a:solidFill>
          <a:ln w="12700">
            <a:solidFill>
              <a:srgbClr val="B23A2E"/>
            </a:solidFill>
            <a:prstDash val="solid"/>
          </a:ln>
        </p:spPr>
      </p:sp>
      <p:sp>
        <p:nvSpPr>
          <p:cNvPr id="37" name="label"/>
          <p:cNvSpPr txBox="1"/>
          <p:nvPr/>
        </p:nvSpPr>
        <p:spPr>
          <a:xfrm>
            <a:off x="8701248"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38" name="label"/>
          <p:cNvSpPr txBox="1"/>
          <p:nvPr/>
        </p:nvSpPr>
        <p:spPr>
          <a:xfrm>
            <a:off x="9541215" y="1417320"/>
            <a:ext cx="2101840" cy="329184"/>
          </a:xfrm>
          <a:prstGeom prst="rect">
            <a:avLst/>
          </a:prstGeom>
          <a:noFill/>
          <a:ln/>
        </p:spPr>
        <p:txBody>
          <a:bodyPr wrap="square" lIns="0" tIns="0" rIns="0" bIns="0" rtlCol="0" anchor="ctr"/>
          <a:lstStyle/>
          <a:p>
            <a:pPr algn="l" indent="0" marL="0">
              <a:buNone/>
            </a:pPr>
            <a:r>
              <a:rPr lang="en-US" sz="1500" b="1" dirty="0">
                <a:solidFill>
                  <a:srgbClr val="1F3A5F"/>
                </a:solidFill>
                <a:latin typeface="Arial" pitchFamily="34" charset="0"/>
                <a:ea typeface="Arial" pitchFamily="34" charset="-122"/>
                <a:cs typeface="Arial" pitchFamily="34" charset="-120"/>
              </a:rPr>
              <a:t>Oct 22 – 27</a:t>
            </a:r>
            <a:endParaRPr lang="en-US" sz="1500" dirty="0"/>
          </a:p>
        </p:txBody>
      </p:sp>
      <p:sp>
        <p:nvSpPr>
          <p:cNvPr id="39" name="Shape 37"/>
          <p:cNvSpPr/>
          <p:nvPr/>
        </p:nvSpPr>
        <p:spPr>
          <a:xfrm>
            <a:off x="9559503" y="1755648"/>
            <a:ext cx="146304" cy="146304"/>
          </a:xfrm>
          <a:prstGeom prst="ellipse">
            <a:avLst/>
          </a:prstGeom>
          <a:solidFill>
            <a:srgbClr val="1F3A5F"/>
          </a:solidFill>
          <a:ln w="12700">
            <a:solidFill>
              <a:srgbClr val="1F3A5F"/>
            </a:solidFill>
            <a:prstDash val="solid"/>
          </a:ln>
        </p:spPr>
      </p:sp>
      <p:sp>
        <p:nvSpPr>
          <p:cNvPr id="40" name="stage 5"/>
          <p:cNvSpPr/>
          <p:nvPr/>
        </p:nvSpPr>
        <p:spPr>
          <a:xfrm>
            <a:off x="9541215" y="2011680"/>
            <a:ext cx="2101840" cy="1600200"/>
          </a:xfrm>
          <a:prstGeom prst="rect">
            <a:avLst/>
          </a:prstGeom>
          <a:solidFill>
            <a:srgbClr val="FFFFFF"/>
          </a:solidFill>
          <a:ln w="12700">
            <a:solidFill>
              <a:srgbClr val="1F3A5F"/>
            </a:solidFill>
            <a:prstDash val="solid"/>
          </a:ln>
        </p:spPr>
      </p:sp>
      <p:sp>
        <p:nvSpPr>
          <p:cNvPr id="41" name="Text 39"/>
          <p:cNvSpPr txBox="1"/>
          <p:nvPr/>
        </p:nvSpPr>
        <p:spPr>
          <a:xfrm>
            <a:off x="9632655" y="2084832"/>
            <a:ext cx="1918960" cy="1143000"/>
          </a:xfrm>
          <a:prstGeom prst="rect">
            <a:avLst/>
          </a:prstGeom>
          <a:noFill/>
          <a:ln/>
        </p:spPr>
        <p:txBody>
          <a:bodyPr wrap="square" lIns="0" tIns="0" rIns="0" bIns="0" rtlCol="0" anchor="t"/>
          <a:lstStyle/>
          <a:p>
            <a:pPr indent="0" marL="0">
              <a:buNone/>
            </a:pPr>
            <a:r>
              <a:rPr lang="en-US" sz="1500" b="1" dirty="0">
                <a:solidFill>
                  <a:srgbClr val="000000"/>
                </a:solidFill>
                <a:latin typeface="Arial" pitchFamily="34" charset="0"/>
                <a:ea typeface="Arial" pitchFamily="34" charset="-122"/>
                <a:cs typeface="Arial" pitchFamily="34" charset="-120"/>
              </a:rPr>
              <a:t>Build and test</a:t>
            </a:r>
            <a:endParaRPr lang="en-US" sz="1500" dirty="0"/>
          </a:p>
          <a:p>
            <a:pPr indent="0" marL="0">
              <a:buNone/>
            </a:pPr>
            <a:r>
              <a:rPr lang="en-US" sz="1250" dirty="0">
                <a:solidFill>
                  <a:srgbClr val="404040"/>
                </a:solidFill>
                <a:latin typeface="Arial" pitchFamily="34" charset="0"/>
                <a:ea typeface="Arial" pitchFamily="34" charset="-122"/>
                <a:cs typeface="Arial" pitchFamily="34" charset="-120"/>
              </a:rPr>
              <a:t>Print, wire, three-station test</a:t>
            </a:r>
            <a:endParaRPr lang="en-US" sz="1500" dirty="0"/>
          </a:p>
        </p:txBody>
      </p:sp>
      <p:sp>
        <p:nvSpPr>
          <p:cNvPr id="42" name="Shape 40"/>
          <p:cNvSpPr/>
          <p:nvPr/>
        </p:nvSpPr>
        <p:spPr>
          <a:xfrm>
            <a:off x="9632655" y="3282696"/>
            <a:ext cx="603504" cy="228600"/>
          </a:xfrm>
          <a:prstGeom prst="roundRect">
            <a:avLst>
              <a:gd name="adj" fmla="val 48000"/>
            </a:avLst>
          </a:prstGeom>
          <a:solidFill>
            <a:srgbClr val="4F6D8F"/>
          </a:solidFill>
          <a:ln w="12700">
            <a:solidFill>
              <a:srgbClr val="4F6D8F"/>
            </a:solidFill>
            <a:prstDash val="solid"/>
          </a:ln>
        </p:spPr>
      </p:sp>
      <p:sp>
        <p:nvSpPr>
          <p:cNvPr id="43" name="label"/>
          <p:cNvSpPr txBox="1"/>
          <p:nvPr/>
        </p:nvSpPr>
        <p:spPr>
          <a:xfrm>
            <a:off x="9632655"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Build</a:t>
            </a:r>
            <a:endParaRPr lang="en-US" sz="950" dirty="0"/>
          </a:p>
        </p:txBody>
      </p:sp>
      <p:sp>
        <p:nvSpPr>
          <p:cNvPr id="44" name="Shape 42"/>
          <p:cNvSpPr/>
          <p:nvPr/>
        </p:nvSpPr>
        <p:spPr>
          <a:xfrm>
            <a:off x="10291023" y="3282696"/>
            <a:ext cx="603504" cy="228600"/>
          </a:xfrm>
          <a:prstGeom prst="roundRect">
            <a:avLst>
              <a:gd name="adj" fmla="val 48000"/>
            </a:avLst>
          </a:prstGeom>
          <a:solidFill>
            <a:srgbClr val="B23A2E"/>
          </a:solidFill>
          <a:ln w="12700">
            <a:solidFill>
              <a:srgbClr val="B23A2E"/>
            </a:solidFill>
            <a:prstDash val="solid"/>
          </a:ln>
        </p:spPr>
      </p:sp>
      <p:sp>
        <p:nvSpPr>
          <p:cNvPr id="45" name="label"/>
          <p:cNvSpPr txBox="1"/>
          <p:nvPr/>
        </p:nvSpPr>
        <p:spPr>
          <a:xfrm>
            <a:off x="10291023" y="3282696"/>
            <a:ext cx="603504" cy="228600"/>
          </a:xfrm>
          <a:prstGeom prst="rect">
            <a:avLst/>
          </a:prstGeom>
          <a:noFill/>
          <a:ln/>
        </p:spPr>
        <p:txBody>
          <a:bodyPr wrap="square" lIns="0" tIns="0" rIns="0" bIns="0" rtlCol="0" anchor="ctr"/>
          <a:lstStyle/>
          <a:p>
            <a:pPr algn="ctr" indent="0" marL="0">
              <a:buNone/>
            </a:pPr>
            <a:r>
              <a:rPr lang="en-US" sz="950" b="1" dirty="0">
                <a:solidFill>
                  <a:srgbClr val="FFFFFF"/>
                </a:solidFill>
                <a:latin typeface="Arial" pitchFamily="34" charset="0"/>
                <a:ea typeface="Arial" pitchFamily="34" charset="-122"/>
                <a:cs typeface="Arial" pitchFamily="34" charset="-120"/>
              </a:rPr>
              <a:t>Test</a:t>
            </a:r>
            <a:endParaRPr lang="en-US" sz="950" dirty="0"/>
          </a:p>
        </p:txBody>
      </p:sp>
      <p:sp>
        <p:nvSpPr>
          <p:cNvPr id="46" name="Me: a solo project (team of one) header"/>
          <p:cNvSpPr/>
          <p:nvPr/>
        </p:nvSpPr>
        <p:spPr>
          <a:xfrm>
            <a:off x="548640" y="3840480"/>
            <a:ext cx="6400800" cy="411480"/>
          </a:xfrm>
          <a:prstGeom prst="rect">
            <a:avLst/>
          </a:prstGeom>
          <a:solidFill>
            <a:srgbClr val="1F3A5F"/>
          </a:solidFill>
          <a:ln w="12700">
            <a:solidFill>
              <a:srgbClr val="1F3A5F"/>
            </a:solidFill>
            <a:prstDash val="solid"/>
          </a:ln>
        </p:spPr>
      </p:sp>
      <p:sp>
        <p:nvSpPr>
          <p:cNvPr id="47" name="label"/>
          <p:cNvSpPr txBox="1"/>
          <p:nvPr/>
        </p:nvSpPr>
        <p:spPr>
          <a:xfrm>
            <a:off x="685800" y="3840480"/>
            <a:ext cx="6126480"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Me: a solo project (team of one)</a:t>
            </a:r>
            <a:endParaRPr lang="en-US" sz="1600" dirty="0"/>
          </a:p>
        </p:txBody>
      </p:sp>
      <p:sp>
        <p:nvSpPr>
          <p:cNvPr id="48" name="Shape 46"/>
          <p:cNvSpPr/>
          <p:nvPr/>
        </p:nvSpPr>
        <p:spPr>
          <a:xfrm>
            <a:off x="548640" y="4251960"/>
            <a:ext cx="6400800" cy="2011680"/>
          </a:xfrm>
          <a:prstGeom prst="rect">
            <a:avLst/>
          </a:prstGeom>
          <a:solidFill>
            <a:srgbClr val="FFFFFF"/>
          </a:solidFill>
          <a:ln w="12700">
            <a:solidFill>
              <a:srgbClr val="1F3A5F"/>
            </a:solidFill>
            <a:prstDash val="solid"/>
          </a:ln>
        </p:spPr>
      </p:sp>
      <p:sp>
        <p:nvSpPr>
          <p:cNvPr id="49" name="my work"/>
          <p:cNvSpPr txBox="1"/>
          <p:nvPr/>
        </p:nvSpPr>
        <p:spPr>
          <a:xfrm>
            <a:off x="685800" y="4343400"/>
            <a:ext cx="6126480"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Requirements, calculations and test plans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All CAD (computer-aided design) in SolidWorks: stations, spool, claw, fin</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3D printing and fits; the heat fin on the shear and manual mill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Wiring, soldering, electronics bring-up and debugging</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Control software: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[confirm the parts you wrote]</a:t>
            </a:r>
            <a:endParaRPr lang="en-US" sz="1500" dirty="0"/>
          </a:p>
        </p:txBody>
      </p:sp>
      <p:sp>
        <p:nvSpPr>
          <p:cNvPr id="50" name="Bought or outside header"/>
          <p:cNvSpPr/>
          <p:nvPr/>
        </p:nvSpPr>
        <p:spPr>
          <a:xfrm>
            <a:off x="7114032" y="3840480"/>
            <a:ext cx="4529023" cy="411480"/>
          </a:xfrm>
          <a:prstGeom prst="rect">
            <a:avLst/>
          </a:prstGeom>
          <a:solidFill>
            <a:srgbClr val="7F7F7F"/>
          </a:solidFill>
          <a:ln w="12700">
            <a:solidFill>
              <a:srgbClr val="7F7F7F"/>
            </a:solidFill>
            <a:prstDash val="solid"/>
          </a:ln>
        </p:spPr>
      </p:sp>
      <p:sp>
        <p:nvSpPr>
          <p:cNvPr id="51" name="label"/>
          <p:cNvSpPr txBox="1"/>
          <p:nvPr/>
        </p:nvSpPr>
        <p:spPr>
          <a:xfrm>
            <a:off x="7251192" y="3840480"/>
            <a:ext cx="4254703"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Bought or outside</a:t>
            </a:r>
            <a:endParaRPr lang="en-US" sz="1600" dirty="0"/>
          </a:p>
        </p:txBody>
      </p:sp>
      <p:sp>
        <p:nvSpPr>
          <p:cNvPr id="52" name="Shape 50"/>
          <p:cNvSpPr/>
          <p:nvPr/>
        </p:nvSpPr>
        <p:spPr>
          <a:xfrm>
            <a:off x="7114032" y="4251960"/>
            <a:ext cx="4529023" cy="2011680"/>
          </a:xfrm>
          <a:prstGeom prst="rect">
            <a:avLst/>
          </a:prstGeom>
          <a:solidFill>
            <a:srgbClr val="FFFFFF"/>
          </a:solidFill>
          <a:ln w="12700">
            <a:solidFill>
              <a:srgbClr val="7F7F7F"/>
            </a:solidFill>
            <a:prstDash val="solid"/>
          </a:ln>
        </p:spPr>
      </p:sp>
      <p:sp>
        <p:nvSpPr>
          <p:cNvPr id="53" name="bought"/>
          <p:cNvSpPr txBox="1"/>
          <p:nvPr/>
        </p:nvSpPr>
        <p:spPr>
          <a:xfrm>
            <a:off x="7251192" y="4343400"/>
            <a:ext cx="4254703" cy="18745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Stepper motors, drivers, controller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Servo, camera, battery, encoder boards</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Garment detector: YOLO-World, an open-source model</a:t>
            </a:r>
            <a:endParaRPr lang="en-US" sz="1500" dirty="0"/>
          </a:p>
          <a:p>
            <a:pPr algn="l" marL="254000" indent="-2540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Help: </a:t>
            </a:r>
            <a:pPr algn="l" marL="254000" indent="-254000">
              <a:spcAft>
                <a:spcPts val="600"/>
              </a:spcAft>
              <a:buSzPct val="100000"/>
              <a:buChar char="•"/>
            </a:pPr>
            <a:r>
              <a:rPr lang="en-US" sz="1500" i="1" dirty="0">
                <a:solidFill>
                  <a:srgbClr val="B23A2E"/>
                </a:solidFill>
                <a:latin typeface="Arial" pitchFamily="34" charset="0"/>
                <a:ea typeface="Arial" pitchFamily="34" charset="-122"/>
                <a:cs typeface="Arial" pitchFamily="34" charset="-120"/>
              </a:rPr>
              <a:t>[shop access or mentors, if any]</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How It Works</a:t>
            </a:r>
            <a:endParaRPr lang="en-US" sz="3000" dirty="0"/>
          </a:p>
        </p:txBody>
      </p:sp>
      <p:sp>
        <p:nvSpPr>
          <p:cNvPr id="4" name="status chip"/>
          <p:cNvSpPr/>
          <p:nvPr/>
        </p:nvSpPr>
        <p:spPr>
          <a:xfrm>
            <a:off x="9082735" y="621792"/>
            <a:ext cx="256032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9082735" y="621792"/>
            <a:ext cx="256032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 end to end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254886"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Four wall stations: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winch, spool, encoder, heat fin, their own controller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One 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 four lines: gripper, camera, battery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Laptop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plans every move and checks cable tension and obstacles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Phone: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start, PAUSE, and a “yes” before every move</a:t>
            </a:r>
            <a:endParaRPr lang="en-US" sz="2000" dirty="0"/>
          </a:p>
        </p:txBody>
      </p:sp>
      <p:sp>
        <p:nvSpPr>
          <p:cNvPr id="8" name="layer 1"/>
          <p:cNvSpPr/>
          <p:nvPr/>
        </p:nvSpPr>
        <p:spPr>
          <a:xfrm>
            <a:off x="5215006" y="1463040"/>
            <a:ext cx="4416369" cy="716890"/>
          </a:xfrm>
          <a:prstGeom prst="rect">
            <a:avLst/>
          </a:prstGeom>
          <a:solidFill>
            <a:srgbClr val="FFFFFF"/>
          </a:solidFill>
          <a:ln w="15875">
            <a:solidFill>
              <a:srgbClr val="1F3A5F"/>
            </a:solidFill>
            <a:prstDash val="solid"/>
          </a:ln>
        </p:spPr>
      </p:sp>
      <p:sp>
        <p:nvSpPr>
          <p:cNvPr id="9" name="Text 7"/>
          <p:cNvSpPr txBox="1"/>
          <p:nvPr/>
        </p:nvSpPr>
        <p:spPr>
          <a:xfrm>
            <a:off x="5352166" y="146304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Phone app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Start, PAUSE, and a “yes” before every move</a:t>
            </a:r>
            <a:endParaRPr lang="en-US" sz="1400" dirty="0"/>
          </a:p>
        </p:txBody>
      </p:sp>
      <p:sp>
        <p:nvSpPr>
          <p:cNvPr id="10" name="Shape 8"/>
          <p:cNvSpPr/>
          <p:nvPr/>
        </p:nvSpPr>
        <p:spPr>
          <a:xfrm>
            <a:off x="7423191" y="2198218"/>
            <a:ext cx="0" cy="164592"/>
          </a:xfrm>
          <a:prstGeom prst="line">
            <a:avLst/>
          </a:prstGeom>
          <a:noFill/>
          <a:ln w="19050">
            <a:solidFill>
              <a:srgbClr val="7F7F7F"/>
            </a:solidFill>
            <a:prstDash val="solid"/>
            <a:tailEnd type="triangle"/>
          </a:ln>
        </p:spPr>
      </p:sp>
      <p:sp>
        <p:nvSpPr>
          <p:cNvPr id="11" name="layer 2"/>
          <p:cNvSpPr/>
          <p:nvPr/>
        </p:nvSpPr>
        <p:spPr>
          <a:xfrm>
            <a:off x="5215006" y="2381098"/>
            <a:ext cx="4416369" cy="716890"/>
          </a:xfrm>
          <a:prstGeom prst="rect">
            <a:avLst/>
          </a:prstGeom>
          <a:solidFill>
            <a:srgbClr val="F2F2F4"/>
          </a:solidFill>
          <a:ln w="15875">
            <a:solidFill>
              <a:srgbClr val="1F3A5F"/>
            </a:solidFill>
            <a:prstDash val="solid"/>
          </a:ln>
        </p:spPr>
      </p:sp>
      <p:sp>
        <p:nvSpPr>
          <p:cNvPr id="12" name="Text 10"/>
          <p:cNvSpPr txBox="1"/>
          <p:nvPr/>
        </p:nvSpPr>
        <p:spPr>
          <a:xfrm>
            <a:off x="5352166" y="2381098"/>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Supervisor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One robot state; refuses commands that do not fit it</a:t>
            </a:r>
            <a:endParaRPr lang="en-US" sz="1400" dirty="0"/>
          </a:p>
        </p:txBody>
      </p:sp>
      <p:sp>
        <p:nvSpPr>
          <p:cNvPr id="13" name="Shape 11"/>
          <p:cNvSpPr/>
          <p:nvPr/>
        </p:nvSpPr>
        <p:spPr>
          <a:xfrm>
            <a:off x="7423191" y="3116275"/>
            <a:ext cx="0" cy="164592"/>
          </a:xfrm>
          <a:prstGeom prst="line">
            <a:avLst/>
          </a:prstGeom>
          <a:noFill/>
          <a:ln w="19050">
            <a:solidFill>
              <a:srgbClr val="7F7F7F"/>
            </a:solidFill>
            <a:prstDash val="solid"/>
            <a:tailEnd type="triangle"/>
          </a:ln>
        </p:spPr>
      </p:sp>
      <p:sp>
        <p:nvSpPr>
          <p:cNvPr id="14" name="layer 3"/>
          <p:cNvSpPr/>
          <p:nvPr/>
        </p:nvSpPr>
        <p:spPr>
          <a:xfrm>
            <a:off x="5215006" y="3299155"/>
            <a:ext cx="4416369" cy="716890"/>
          </a:xfrm>
          <a:prstGeom prst="rect">
            <a:avLst/>
          </a:prstGeom>
          <a:solidFill>
            <a:srgbClr val="F2F2F4"/>
          </a:solidFill>
          <a:ln w="15875">
            <a:solidFill>
              <a:srgbClr val="1F3A5F"/>
            </a:solidFill>
            <a:prstDash val="solid"/>
          </a:ln>
        </p:spPr>
      </p:sp>
      <p:sp>
        <p:nvSpPr>
          <p:cNvPr id="15" name="Text 13"/>
          <p:cNvSpPr txBox="1"/>
          <p:nvPr/>
        </p:nvSpPr>
        <p:spPr>
          <a:xfrm>
            <a:off x="5352166" y="3299155"/>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Startup and tasks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Calibrate; then scan, grip, check, deliver</a:t>
            </a:r>
            <a:endParaRPr lang="en-US" sz="1400" dirty="0"/>
          </a:p>
        </p:txBody>
      </p:sp>
      <p:sp>
        <p:nvSpPr>
          <p:cNvPr id="16" name="Shape 14"/>
          <p:cNvSpPr/>
          <p:nvPr/>
        </p:nvSpPr>
        <p:spPr>
          <a:xfrm>
            <a:off x="7423191" y="4034333"/>
            <a:ext cx="0" cy="164592"/>
          </a:xfrm>
          <a:prstGeom prst="line">
            <a:avLst/>
          </a:prstGeom>
          <a:noFill/>
          <a:ln w="19050">
            <a:solidFill>
              <a:srgbClr val="7F7F7F"/>
            </a:solidFill>
            <a:prstDash val="solid"/>
            <a:tailEnd type="triangle"/>
          </a:ln>
        </p:spPr>
      </p:sp>
      <p:sp>
        <p:nvSpPr>
          <p:cNvPr id="17" name="layer 4"/>
          <p:cNvSpPr/>
          <p:nvPr/>
        </p:nvSpPr>
        <p:spPr>
          <a:xfrm>
            <a:off x="5215006" y="4217213"/>
            <a:ext cx="4416369" cy="716890"/>
          </a:xfrm>
          <a:prstGeom prst="rect">
            <a:avLst/>
          </a:prstGeom>
          <a:solidFill>
            <a:srgbClr val="F2F2F4"/>
          </a:solidFill>
          <a:ln w="15875">
            <a:solidFill>
              <a:srgbClr val="1F3A5F"/>
            </a:solidFill>
            <a:prstDash val="solid"/>
          </a:ln>
        </p:spPr>
      </p:sp>
      <p:sp>
        <p:nvSpPr>
          <p:cNvPr id="18" name="Text 16"/>
          <p:cNvSpPr txBox="1"/>
          <p:nvPr/>
        </p:nvSpPr>
        <p:spPr>
          <a:xfrm>
            <a:off x="5352166" y="4217213"/>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Planner  ·  laptop</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Checks every path point, then streams time-stamped moves</a:t>
            </a:r>
            <a:endParaRPr lang="en-US" sz="1400" dirty="0"/>
          </a:p>
        </p:txBody>
      </p:sp>
      <p:sp>
        <p:nvSpPr>
          <p:cNvPr id="19" name="Shape 17"/>
          <p:cNvSpPr/>
          <p:nvPr/>
        </p:nvSpPr>
        <p:spPr>
          <a:xfrm>
            <a:off x="7423191" y="4952390"/>
            <a:ext cx="0" cy="164592"/>
          </a:xfrm>
          <a:prstGeom prst="line">
            <a:avLst/>
          </a:prstGeom>
          <a:noFill/>
          <a:ln w="19050">
            <a:solidFill>
              <a:srgbClr val="7F7F7F"/>
            </a:solidFill>
            <a:prstDash val="solid"/>
            <a:tailEnd type="triangle"/>
          </a:ln>
        </p:spPr>
      </p:sp>
      <p:sp>
        <p:nvSpPr>
          <p:cNvPr id="20" name="layer 5"/>
          <p:cNvSpPr/>
          <p:nvPr/>
        </p:nvSpPr>
        <p:spPr>
          <a:xfrm>
            <a:off x="5215006" y="5135270"/>
            <a:ext cx="4416369" cy="716890"/>
          </a:xfrm>
          <a:prstGeom prst="rect">
            <a:avLst/>
          </a:prstGeom>
          <a:solidFill>
            <a:srgbClr val="FFFFFF"/>
          </a:solidFill>
          <a:ln w="15875">
            <a:solidFill>
              <a:srgbClr val="1F3A5F"/>
            </a:solidFill>
            <a:prstDash val="solid"/>
          </a:ln>
        </p:spPr>
      </p:sp>
      <p:sp>
        <p:nvSpPr>
          <p:cNvPr id="21" name="Text 19"/>
          <p:cNvSpPr txBox="1"/>
          <p:nvPr/>
        </p:nvSpPr>
        <p:spPr>
          <a:xfrm>
            <a:off x="5352166" y="5135270"/>
            <a:ext cx="4142049" cy="71689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Wall stations  ·  a controller in each</a:t>
            </a:r>
            <a:endParaRPr lang="en-US" sz="1400" dirty="0"/>
          </a:p>
          <a:p>
            <a:pPr indent="0" marL="0">
              <a:buNone/>
            </a:pPr>
            <a:r>
              <a:rPr lang="en-US" sz="1200" dirty="0">
                <a:solidFill>
                  <a:srgbClr val="000000"/>
                </a:solidFill>
                <a:latin typeface="Arial" pitchFamily="34" charset="0"/>
                <a:ea typeface="Arial" pitchFamily="34" charset="-122"/>
                <a:cs typeface="Arial" pitchFamily="34" charset="-120"/>
              </a:rPr>
              <a:t>Step the motor, watch the encoder, hold if the link drops</a:t>
            </a:r>
            <a:endParaRPr lang="en-US" sz="1400" dirty="0"/>
          </a:p>
        </p:txBody>
      </p:sp>
      <p:sp>
        <p:nvSpPr>
          <p:cNvPr id="22" name="claw"/>
          <p:cNvSpPr/>
          <p:nvPr/>
        </p:nvSpPr>
        <p:spPr>
          <a:xfrm>
            <a:off x="10042855" y="3207715"/>
            <a:ext cx="1600200" cy="899770"/>
          </a:xfrm>
          <a:prstGeom prst="rect">
            <a:avLst/>
          </a:prstGeom>
          <a:solidFill>
            <a:srgbClr val="FFFFFF"/>
          </a:solidFill>
          <a:ln w="15875">
            <a:solidFill>
              <a:srgbClr val="1F3A5F"/>
            </a:solidFill>
            <a:prstDash val="solid"/>
          </a:ln>
        </p:spPr>
      </p:sp>
      <p:sp>
        <p:nvSpPr>
          <p:cNvPr id="23" name="Text 21"/>
          <p:cNvSpPr txBox="1"/>
          <p:nvPr/>
        </p:nvSpPr>
        <p:spPr>
          <a:xfrm>
            <a:off x="10134295" y="3207715"/>
            <a:ext cx="1417320" cy="899770"/>
          </a:xfrm>
          <a:prstGeom prst="rect">
            <a:avLst/>
          </a:prstGeom>
          <a:noFill/>
          <a:ln/>
        </p:spPr>
        <p:txBody>
          <a:bodyPr wrap="square" lIns="0" tIns="0" rIns="0" bIns="0" rtlCol="0" anchor="ctr"/>
          <a:lstStyle/>
          <a:p>
            <a:pPr indent="0" marL="0">
              <a:buNone/>
            </a:pPr>
            <a:r>
              <a:rPr lang="en-US" sz="1400" b="1" dirty="0">
                <a:solidFill>
                  <a:srgbClr val="1F3A5F"/>
                </a:solidFill>
                <a:latin typeface="Arial" pitchFamily="34" charset="0"/>
                <a:ea typeface="Arial" pitchFamily="34" charset="-122"/>
                <a:cs typeface="Arial" pitchFamily="34" charset="-120"/>
              </a:rPr>
              <a:t>Claw</a:t>
            </a:r>
            <a:endParaRPr lang="en-US" sz="1400" dirty="0"/>
          </a:p>
          <a:p>
            <a:pPr indent="0" marL="0">
              <a:buNone/>
            </a:pPr>
            <a:r>
              <a:rPr lang="en-US" sz="1150" dirty="0">
                <a:solidFill>
                  <a:srgbClr val="000000"/>
                </a:solidFill>
                <a:latin typeface="Arial" pitchFamily="34" charset="0"/>
                <a:ea typeface="Arial" pitchFamily="34" charset="-122"/>
                <a:cs typeface="Arial" pitchFamily="34" charset="-120"/>
              </a:rPr>
              <a:t>sends camera frames; grips only when approved</a:t>
            </a:r>
            <a:endParaRPr lang="en-US" sz="1400" dirty="0"/>
          </a:p>
        </p:txBody>
      </p:sp>
      <p:sp>
        <p:nvSpPr>
          <p:cNvPr id="24" name="Shape 22"/>
          <p:cNvSpPr/>
          <p:nvPr/>
        </p:nvSpPr>
        <p:spPr>
          <a:xfrm>
            <a:off x="9667951" y="3657600"/>
            <a:ext cx="338328" cy="0"/>
          </a:xfrm>
          <a:prstGeom prst="line">
            <a:avLst/>
          </a:prstGeom>
          <a:noFill/>
          <a:ln w="19050">
            <a:solidFill>
              <a:srgbClr val="7F7F7F"/>
            </a:solidFill>
            <a:prstDash val="solid"/>
            <a:headEnd type="triangle"/>
            <a:tailEnd type="triangle"/>
          </a:ln>
        </p:spPr>
      </p:sp>
      <p:sp>
        <p:nvSpPr>
          <p:cNvPr id="25" name="layer note"/>
          <p:cNvSpPr txBox="1"/>
          <p:nvPr/>
        </p:nvSpPr>
        <p:spPr>
          <a:xfrm>
            <a:off x="5215006" y="5943600"/>
            <a:ext cx="6428049"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Commands flow down; status and camera frames flow back up.</a:t>
            </a:r>
            <a:endParaRPr lang="en-US" sz="12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What I’m Optimizing</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ift capacity tile"/>
          <p:cNvSpPr/>
          <p:nvPr/>
        </p:nvSpPr>
        <p:spPr>
          <a:xfrm>
            <a:off x="548640" y="1463040"/>
            <a:ext cx="2650160" cy="2029968"/>
          </a:xfrm>
          <a:prstGeom prst="rect">
            <a:avLst/>
          </a:prstGeom>
          <a:solidFill>
            <a:srgbClr val="FFFFFF"/>
          </a:solidFill>
          <a:ln w="12700">
            <a:solidFill>
              <a:srgbClr val="BFBFBF"/>
            </a:solidFill>
            <a:prstDash val="solid"/>
          </a:ln>
        </p:spPr>
      </p:sp>
      <p:sp>
        <p:nvSpPr>
          <p:cNvPr id="6" name="Lift capacity status bar"/>
          <p:cNvSpPr/>
          <p:nvPr/>
        </p:nvSpPr>
        <p:spPr>
          <a:xfrm>
            <a:off x="548640" y="1463040"/>
            <a:ext cx="2650160" cy="91440"/>
          </a:xfrm>
          <a:prstGeom prst="rect">
            <a:avLst/>
          </a:prstGeom>
          <a:solidFill>
            <a:srgbClr val="B23A2E"/>
          </a:solidFill>
          <a:ln w="12700">
            <a:solidFill>
              <a:srgbClr val="B23A2E"/>
            </a:solidFill>
            <a:prstDash val="solid"/>
          </a:ln>
        </p:spPr>
      </p:sp>
      <p:sp>
        <p:nvSpPr>
          <p:cNvPr id="7" name="label"/>
          <p:cNvSpPr txBox="1"/>
          <p:nvPr/>
        </p:nvSpPr>
        <p:spPr>
          <a:xfrm>
            <a:off x="685800"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8" name="label"/>
          <p:cNvSpPr txBox="1"/>
          <p:nvPr/>
        </p:nvSpPr>
        <p:spPr>
          <a:xfrm>
            <a:off x="685800"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Lift capacity</a:t>
            </a:r>
            <a:endParaRPr lang="en-US" sz="1700" dirty="0"/>
          </a:p>
        </p:txBody>
      </p:sp>
      <p:sp>
        <p:nvSpPr>
          <p:cNvPr id="9" name="label"/>
          <p:cNvSpPr txBox="1"/>
          <p:nvPr/>
        </p:nvSpPr>
        <p:spPr>
          <a:xfrm>
            <a:off x="685800"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10" name="label"/>
          <p:cNvSpPr txBox="1"/>
          <p:nvPr/>
        </p:nvSpPr>
        <p:spPr>
          <a:xfrm>
            <a:off x="685800"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Claw + jeans anywhere: 1.76 kg</a:t>
            </a:r>
            <a:endParaRPr lang="en-US" sz="1300" dirty="0"/>
          </a:p>
        </p:txBody>
      </p:sp>
      <p:sp>
        <p:nvSpPr>
          <p:cNvPr id="11" name="label"/>
          <p:cNvSpPr txBox="1"/>
          <p:nvPr/>
        </p:nvSpPr>
        <p:spPr>
          <a:xfrm>
            <a:off x="685800"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1.56 kg at 1.5 A (calculated)</a:t>
            </a:r>
            <a:endParaRPr lang="en-US" sz="1300" dirty="0"/>
          </a:p>
        </p:txBody>
      </p:sp>
      <p:sp>
        <p:nvSpPr>
          <p:cNvPr id="12" name="Claw mass tile"/>
          <p:cNvSpPr/>
          <p:nvPr/>
        </p:nvSpPr>
        <p:spPr>
          <a:xfrm>
            <a:off x="3363392" y="1463040"/>
            <a:ext cx="2650160" cy="2029968"/>
          </a:xfrm>
          <a:prstGeom prst="rect">
            <a:avLst/>
          </a:prstGeom>
          <a:solidFill>
            <a:srgbClr val="FFFFFF"/>
          </a:solidFill>
          <a:ln w="12700">
            <a:solidFill>
              <a:srgbClr val="BFBFBF"/>
            </a:solidFill>
            <a:prstDash val="solid"/>
          </a:ln>
        </p:spPr>
      </p:sp>
      <p:sp>
        <p:nvSpPr>
          <p:cNvPr id="13" name="Claw mass status bar"/>
          <p:cNvSpPr/>
          <p:nvPr/>
        </p:nvSpPr>
        <p:spPr>
          <a:xfrm>
            <a:off x="3363392" y="1463040"/>
            <a:ext cx="2650160" cy="91440"/>
          </a:xfrm>
          <a:prstGeom prst="rect">
            <a:avLst/>
          </a:prstGeom>
          <a:solidFill>
            <a:srgbClr val="B23A2E"/>
          </a:solidFill>
          <a:ln w="12700">
            <a:solidFill>
              <a:srgbClr val="B23A2E"/>
            </a:solidFill>
            <a:prstDash val="solid"/>
          </a:ln>
        </p:spPr>
      </p:sp>
      <p:sp>
        <p:nvSpPr>
          <p:cNvPr id="14" name="label"/>
          <p:cNvSpPr txBox="1"/>
          <p:nvPr/>
        </p:nvSpPr>
        <p:spPr>
          <a:xfrm>
            <a:off x="3500552" y="1618488"/>
            <a:ext cx="2375840" cy="219456"/>
          </a:xfrm>
          <a:prstGeom prst="rect">
            <a:avLst/>
          </a:prstGeom>
          <a:noFill/>
          <a:ln/>
        </p:spPr>
        <p:txBody>
          <a:bodyPr wrap="square" lIns="0" tIns="0" rIns="0" bIns="0" rtlCol="0" anchor="ctr"/>
          <a:lstStyle/>
          <a:p>
            <a:pPr algn="l" indent="0" marL="0">
              <a:buNone/>
            </a:pPr>
            <a:r>
              <a:rPr lang="en-US" sz="1050" b="1" dirty="0">
                <a:solidFill>
                  <a:srgbClr val="B23A2E"/>
                </a:solidFill>
                <a:latin typeface="Arial" pitchFamily="34" charset="0"/>
                <a:ea typeface="Arial" pitchFamily="34" charset="-122"/>
                <a:cs typeface="Arial" pitchFamily="34" charset="-120"/>
              </a:rPr>
              <a:t>NOT MET</a:t>
            </a:r>
            <a:endParaRPr lang="en-US" sz="1050" dirty="0"/>
          </a:p>
        </p:txBody>
      </p:sp>
      <p:sp>
        <p:nvSpPr>
          <p:cNvPr id="15" name="label"/>
          <p:cNvSpPr txBox="1"/>
          <p:nvPr/>
        </p:nvSpPr>
        <p:spPr>
          <a:xfrm>
            <a:off x="3500552"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Claw mass</a:t>
            </a:r>
            <a:endParaRPr lang="en-US" sz="1700" dirty="0"/>
          </a:p>
        </p:txBody>
      </p:sp>
      <p:sp>
        <p:nvSpPr>
          <p:cNvPr id="16" name="label"/>
          <p:cNvSpPr txBox="1"/>
          <p:nvPr/>
        </p:nvSpPr>
        <p:spPr>
          <a:xfrm>
            <a:off x="3500552"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17" name="label"/>
          <p:cNvSpPr txBox="1"/>
          <p:nvPr/>
        </p:nvSpPr>
        <p:spPr>
          <a:xfrm>
            <a:off x="3500552"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0.45 kg budget</a:t>
            </a:r>
            <a:endParaRPr lang="en-US" sz="1300" dirty="0"/>
          </a:p>
        </p:txBody>
      </p:sp>
      <p:sp>
        <p:nvSpPr>
          <p:cNvPr id="18" name="label"/>
          <p:cNvSpPr txBox="1"/>
          <p:nvPr/>
        </p:nvSpPr>
        <p:spPr>
          <a:xfrm>
            <a:off x="3500552" y="2889504"/>
            <a:ext cx="2375840" cy="530352"/>
          </a:xfrm>
          <a:prstGeom prst="rect">
            <a:avLst/>
          </a:prstGeom>
          <a:noFill/>
          <a:ln/>
        </p:spPr>
        <p:txBody>
          <a:bodyPr wrap="square" lIns="0" tIns="0" rIns="0" bIns="0" rtlCol="0" anchor="t"/>
          <a:lstStyle/>
          <a:p>
            <a:pPr algn="l" indent="0" marL="0">
              <a:buNone/>
            </a:pPr>
            <a:r>
              <a:rPr lang="en-US" sz="1300" b="1" dirty="0">
                <a:solidFill>
                  <a:srgbClr val="B23A2E"/>
                </a:solidFill>
                <a:latin typeface="Arial" pitchFamily="34" charset="0"/>
                <a:ea typeface="Arial" pitchFamily="34" charset="-122"/>
                <a:cs typeface="Arial" pitchFamily="34" charset="-120"/>
              </a:rPr>
              <a:t>Now:</a:t>
            </a:r>
            <a:pPr algn="l" indent="0" marL="0">
              <a:buNone/>
            </a:pPr>
            <a:r>
              <a:rPr lang="en-US" sz="1300" dirty="0">
                <a:solidFill>
                  <a:srgbClr val="B23A2E"/>
                </a:solidFill>
                <a:latin typeface="Arial" pitchFamily="34" charset="0"/>
                <a:ea typeface="Arial" pitchFamily="34" charset="-122"/>
                <a:cs typeface="Arial" pitchFamily="34" charset="-120"/>
              </a:rPr>
              <a:t> ≈ 0.86 kg with battery (CAD); </a:t>
            </a:r>
            <a:pPr algn="l" indent="0" marL="0">
              <a:buNone/>
            </a:pPr>
            <a:r>
              <a:rPr lang="en-US" sz="1300" i="1" dirty="0">
                <a:solidFill>
                  <a:srgbClr val="B23A2E"/>
                </a:solidFill>
                <a:latin typeface="Arial" pitchFamily="34" charset="0"/>
                <a:ea typeface="Arial" pitchFamily="34" charset="-122"/>
                <a:cs typeface="Arial" pitchFamily="34" charset="-120"/>
              </a:rPr>
              <a:t>[weighed: ___ g]</a:t>
            </a:r>
            <a:endParaRPr lang="en-US" sz="1300" dirty="0"/>
          </a:p>
        </p:txBody>
      </p:sp>
      <p:sp>
        <p:nvSpPr>
          <p:cNvPr id="19" name="Motor temperature tile"/>
          <p:cNvSpPr/>
          <p:nvPr/>
        </p:nvSpPr>
        <p:spPr>
          <a:xfrm>
            <a:off x="6178144" y="1463040"/>
            <a:ext cx="2650160" cy="2029968"/>
          </a:xfrm>
          <a:prstGeom prst="rect">
            <a:avLst/>
          </a:prstGeom>
          <a:solidFill>
            <a:srgbClr val="FFFFFF"/>
          </a:solidFill>
          <a:ln w="12700">
            <a:solidFill>
              <a:srgbClr val="BFBFBF"/>
            </a:solidFill>
            <a:prstDash val="solid"/>
          </a:ln>
        </p:spPr>
      </p:sp>
      <p:sp>
        <p:nvSpPr>
          <p:cNvPr id="20" name="Motor temperature status bar"/>
          <p:cNvSpPr/>
          <p:nvPr/>
        </p:nvSpPr>
        <p:spPr>
          <a:xfrm>
            <a:off x="6178144" y="1463040"/>
            <a:ext cx="2650160" cy="91440"/>
          </a:xfrm>
          <a:prstGeom prst="rect">
            <a:avLst/>
          </a:prstGeom>
          <a:solidFill>
            <a:srgbClr val="4F6D8F"/>
          </a:solidFill>
          <a:ln w="12700">
            <a:solidFill>
              <a:srgbClr val="4F6D8F"/>
            </a:solidFill>
            <a:prstDash val="solid"/>
          </a:ln>
        </p:spPr>
      </p:sp>
      <p:sp>
        <p:nvSpPr>
          <p:cNvPr id="21" name="label"/>
          <p:cNvSpPr txBox="1"/>
          <p:nvPr/>
        </p:nvSpPr>
        <p:spPr>
          <a:xfrm>
            <a:off x="6315304" y="1618488"/>
            <a:ext cx="2375840" cy="219456"/>
          </a:xfrm>
          <a:prstGeom prst="rect">
            <a:avLst/>
          </a:prstGeom>
          <a:noFill/>
          <a:ln/>
        </p:spPr>
        <p:txBody>
          <a:bodyPr wrap="square" lIns="0" tIns="0" rIns="0" bIns="0" rtlCol="0" anchor="ctr"/>
          <a:lstStyle/>
          <a:p>
            <a:pPr algn="l" indent="0" marL="0">
              <a:buNone/>
            </a:pPr>
            <a:r>
              <a:rPr lang="en-US" sz="1050" b="1" dirty="0">
                <a:solidFill>
                  <a:srgbClr val="4F6D8F"/>
                </a:solidFill>
                <a:latin typeface="Arial" pitchFamily="34" charset="0"/>
                <a:ea typeface="Arial" pitchFamily="34" charset="-122"/>
                <a:cs typeface="Arial" pitchFamily="34" charset="-120"/>
              </a:rPr>
              <a:t>TIGHT</a:t>
            </a:r>
            <a:endParaRPr lang="en-US" sz="1050" dirty="0"/>
          </a:p>
        </p:txBody>
      </p:sp>
      <p:sp>
        <p:nvSpPr>
          <p:cNvPr id="22" name="label"/>
          <p:cNvSpPr txBox="1"/>
          <p:nvPr/>
        </p:nvSpPr>
        <p:spPr>
          <a:xfrm>
            <a:off x="6315304"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Motor temperature</a:t>
            </a:r>
            <a:endParaRPr lang="en-US" sz="1700" dirty="0"/>
          </a:p>
        </p:txBody>
      </p:sp>
      <p:sp>
        <p:nvSpPr>
          <p:cNvPr id="23" name="label"/>
          <p:cNvSpPr txBox="1"/>
          <p:nvPr/>
        </p:nvSpPr>
        <p:spPr>
          <a:xfrm>
            <a:off x="6315304"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Limit</a:t>
            </a:r>
            <a:endParaRPr lang="en-US" sz="1200" dirty="0"/>
          </a:p>
        </p:txBody>
      </p:sp>
      <p:sp>
        <p:nvSpPr>
          <p:cNvPr id="24" name="label"/>
          <p:cNvSpPr txBox="1"/>
          <p:nvPr/>
        </p:nvSpPr>
        <p:spPr>
          <a:xfrm>
            <a:off x="6315304"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Under 60 °C (PETG creep)</a:t>
            </a:r>
            <a:endParaRPr lang="en-US" sz="1300" dirty="0"/>
          </a:p>
        </p:txBody>
      </p:sp>
      <p:sp>
        <p:nvSpPr>
          <p:cNvPr id="25" name="label"/>
          <p:cNvSpPr txBox="1"/>
          <p:nvPr/>
        </p:nvSpPr>
        <p:spPr>
          <a:xfrm>
            <a:off x="6315304"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 58 °C, vented shell + fin (calculated)</a:t>
            </a:r>
            <a:endParaRPr lang="en-US" sz="1300" dirty="0"/>
          </a:p>
        </p:txBody>
      </p:sp>
      <p:sp>
        <p:nvSpPr>
          <p:cNvPr id="26" name="Working area tile"/>
          <p:cNvSpPr/>
          <p:nvPr/>
        </p:nvSpPr>
        <p:spPr>
          <a:xfrm>
            <a:off x="8992895" y="1463040"/>
            <a:ext cx="2650160" cy="2029968"/>
          </a:xfrm>
          <a:prstGeom prst="rect">
            <a:avLst/>
          </a:prstGeom>
          <a:solidFill>
            <a:srgbClr val="FFFFFF"/>
          </a:solidFill>
          <a:ln w="12700">
            <a:solidFill>
              <a:srgbClr val="BFBFBF"/>
            </a:solidFill>
            <a:prstDash val="solid"/>
          </a:ln>
        </p:spPr>
      </p:sp>
      <p:sp>
        <p:nvSpPr>
          <p:cNvPr id="27" name="Working area status bar"/>
          <p:cNvSpPr/>
          <p:nvPr/>
        </p:nvSpPr>
        <p:spPr>
          <a:xfrm>
            <a:off x="8992895" y="1463040"/>
            <a:ext cx="2650160" cy="91440"/>
          </a:xfrm>
          <a:prstGeom prst="rect">
            <a:avLst/>
          </a:prstGeom>
          <a:solidFill>
            <a:srgbClr val="1F3A5F"/>
          </a:solidFill>
          <a:ln w="12700">
            <a:solidFill>
              <a:srgbClr val="1F3A5F"/>
            </a:solidFill>
            <a:prstDash val="solid"/>
          </a:ln>
        </p:spPr>
      </p:sp>
      <p:sp>
        <p:nvSpPr>
          <p:cNvPr id="28" name="label"/>
          <p:cNvSpPr txBox="1"/>
          <p:nvPr/>
        </p:nvSpPr>
        <p:spPr>
          <a:xfrm>
            <a:off x="9130055" y="161848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29" name="label"/>
          <p:cNvSpPr txBox="1"/>
          <p:nvPr/>
        </p:nvSpPr>
        <p:spPr>
          <a:xfrm>
            <a:off x="9130055" y="184708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Working area</a:t>
            </a:r>
            <a:endParaRPr lang="en-US" sz="1700" dirty="0"/>
          </a:p>
        </p:txBody>
      </p:sp>
      <p:sp>
        <p:nvSpPr>
          <p:cNvPr id="30" name="label"/>
          <p:cNvSpPr txBox="1"/>
          <p:nvPr/>
        </p:nvSpPr>
        <p:spPr>
          <a:xfrm>
            <a:off x="9130055" y="217627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31" name="label"/>
          <p:cNvSpPr txBox="1"/>
          <p:nvPr/>
        </p:nvSpPr>
        <p:spPr>
          <a:xfrm>
            <a:off x="9130055" y="243230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The whole 11 × 9 ft floor</a:t>
            </a:r>
            <a:endParaRPr lang="en-US" sz="1300" dirty="0"/>
          </a:p>
        </p:txBody>
      </p:sp>
      <p:sp>
        <p:nvSpPr>
          <p:cNvPr id="32" name="label"/>
          <p:cNvSpPr txBox="1"/>
          <p:nvPr/>
        </p:nvSpPr>
        <p:spPr>
          <a:xfrm>
            <a:off x="9130055" y="288950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All but 0.2 m at the walls (simulated)</a:t>
            </a:r>
            <a:endParaRPr lang="en-US" sz="1300" dirty="0"/>
          </a:p>
        </p:txBody>
      </p:sp>
      <p:sp>
        <p:nvSpPr>
          <p:cNvPr id="33" name="Wiring tile"/>
          <p:cNvSpPr/>
          <p:nvPr/>
        </p:nvSpPr>
        <p:spPr>
          <a:xfrm>
            <a:off x="548640" y="3657600"/>
            <a:ext cx="2650160" cy="2029968"/>
          </a:xfrm>
          <a:prstGeom prst="rect">
            <a:avLst/>
          </a:prstGeom>
          <a:solidFill>
            <a:srgbClr val="FFFFFF"/>
          </a:solidFill>
          <a:ln w="12700">
            <a:solidFill>
              <a:srgbClr val="BFBFBF"/>
            </a:solidFill>
            <a:prstDash val="solid"/>
          </a:ln>
        </p:spPr>
      </p:sp>
      <p:sp>
        <p:nvSpPr>
          <p:cNvPr id="34" name="Wiring status bar"/>
          <p:cNvSpPr/>
          <p:nvPr/>
        </p:nvSpPr>
        <p:spPr>
          <a:xfrm>
            <a:off x="548640" y="3657600"/>
            <a:ext cx="2650160" cy="91440"/>
          </a:xfrm>
          <a:prstGeom prst="rect">
            <a:avLst/>
          </a:prstGeom>
          <a:solidFill>
            <a:srgbClr val="1F3A5F"/>
          </a:solidFill>
          <a:ln w="12700">
            <a:solidFill>
              <a:srgbClr val="1F3A5F"/>
            </a:solidFill>
            <a:prstDash val="solid"/>
          </a:ln>
        </p:spPr>
      </p:sp>
      <p:sp>
        <p:nvSpPr>
          <p:cNvPr id="35" name="label"/>
          <p:cNvSpPr txBox="1"/>
          <p:nvPr/>
        </p:nvSpPr>
        <p:spPr>
          <a:xfrm>
            <a:off x="685800" y="3813048"/>
            <a:ext cx="2375840" cy="219456"/>
          </a:xfrm>
          <a:prstGeom prst="rect">
            <a:avLst/>
          </a:prstGeom>
          <a:noFill/>
          <a:ln/>
        </p:spPr>
        <p:txBody>
          <a:bodyPr wrap="square" lIns="0" tIns="0" rIns="0" bIns="0" rtlCol="0" anchor="ctr"/>
          <a:lstStyle/>
          <a:p>
            <a:pPr algn="l" indent="0" marL="0">
              <a:buNone/>
            </a:pPr>
            <a:r>
              <a:rPr lang="en-US" sz="1050" b="1" dirty="0">
                <a:solidFill>
                  <a:srgbClr val="1F3A5F"/>
                </a:solidFill>
                <a:latin typeface="Arial" pitchFamily="34" charset="0"/>
                <a:ea typeface="Arial" pitchFamily="34" charset="-122"/>
                <a:cs typeface="Arial" pitchFamily="34" charset="-120"/>
              </a:rPr>
              <a:t>MET IN DESIGN</a:t>
            </a:r>
            <a:endParaRPr lang="en-US" sz="1050" dirty="0"/>
          </a:p>
        </p:txBody>
      </p:sp>
      <p:sp>
        <p:nvSpPr>
          <p:cNvPr id="36" name="label"/>
          <p:cNvSpPr txBox="1"/>
          <p:nvPr/>
        </p:nvSpPr>
        <p:spPr>
          <a:xfrm>
            <a:off x="685800"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Wiring</a:t>
            </a:r>
            <a:endParaRPr lang="en-US" sz="1700" dirty="0"/>
          </a:p>
        </p:txBody>
      </p:sp>
      <p:sp>
        <p:nvSpPr>
          <p:cNvPr id="37" name="label"/>
          <p:cNvSpPr txBox="1"/>
          <p:nvPr/>
        </p:nvSpPr>
        <p:spPr>
          <a:xfrm>
            <a:off x="685800"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38" name="label"/>
          <p:cNvSpPr txBox="1"/>
          <p:nvPr/>
        </p:nvSpPr>
        <p:spPr>
          <a:xfrm>
            <a:off x="685800"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One plug per station</a:t>
            </a:r>
            <a:endParaRPr lang="en-US" sz="1300" dirty="0"/>
          </a:p>
        </p:txBody>
      </p:sp>
      <p:sp>
        <p:nvSpPr>
          <p:cNvPr id="39" name="label"/>
          <p:cNvSpPr txBox="1"/>
          <p:nvPr/>
        </p:nvSpPr>
        <p:spPr>
          <a:xfrm>
            <a:off x="685800"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One 12 V pair; 0.51 V drop on the longest run</a:t>
            </a:r>
            <a:endParaRPr lang="en-US" sz="1300" dirty="0"/>
          </a:p>
        </p:txBody>
      </p:sp>
      <p:sp>
        <p:nvSpPr>
          <p:cNvPr id="40" name="Accuracy tile"/>
          <p:cNvSpPr/>
          <p:nvPr/>
        </p:nvSpPr>
        <p:spPr>
          <a:xfrm>
            <a:off x="3363392" y="3657600"/>
            <a:ext cx="2650160" cy="2029968"/>
          </a:xfrm>
          <a:prstGeom prst="rect">
            <a:avLst/>
          </a:prstGeom>
          <a:solidFill>
            <a:srgbClr val="FFFFFF"/>
          </a:solidFill>
          <a:ln w="12700">
            <a:solidFill>
              <a:srgbClr val="BFBFBF"/>
            </a:solidFill>
            <a:prstDash val="solid"/>
          </a:ln>
        </p:spPr>
      </p:sp>
      <p:sp>
        <p:nvSpPr>
          <p:cNvPr id="41" name="Accuracy status bar"/>
          <p:cNvSpPr/>
          <p:nvPr/>
        </p:nvSpPr>
        <p:spPr>
          <a:xfrm>
            <a:off x="3363392" y="3657600"/>
            <a:ext cx="2650160" cy="91440"/>
          </a:xfrm>
          <a:prstGeom prst="rect">
            <a:avLst/>
          </a:prstGeom>
          <a:solidFill>
            <a:srgbClr val="7F7F7F"/>
          </a:solidFill>
          <a:ln w="12700">
            <a:solidFill>
              <a:srgbClr val="7F7F7F"/>
            </a:solidFill>
            <a:prstDash val="solid"/>
          </a:ln>
        </p:spPr>
      </p:sp>
      <p:sp>
        <p:nvSpPr>
          <p:cNvPr id="42" name="label"/>
          <p:cNvSpPr txBox="1"/>
          <p:nvPr/>
        </p:nvSpPr>
        <p:spPr>
          <a:xfrm>
            <a:off x="3500552"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43" name="label"/>
          <p:cNvSpPr txBox="1"/>
          <p:nvPr/>
        </p:nvSpPr>
        <p:spPr>
          <a:xfrm>
            <a:off x="3500552"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Accuracy</a:t>
            </a:r>
            <a:endParaRPr lang="en-US" sz="1700" dirty="0"/>
          </a:p>
        </p:txBody>
      </p:sp>
      <p:sp>
        <p:nvSpPr>
          <p:cNvPr id="44" name="label"/>
          <p:cNvSpPr txBox="1"/>
          <p:nvPr/>
        </p:nvSpPr>
        <p:spPr>
          <a:xfrm>
            <a:off x="3500552"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45" name="label"/>
          <p:cNvSpPr txBox="1"/>
          <p:nvPr/>
        </p:nvSpPr>
        <p:spPr>
          <a:xfrm>
            <a:off x="3500552"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 2 mm per cable over 300 mm</a:t>
            </a:r>
            <a:endParaRPr lang="en-US" sz="1300" dirty="0"/>
          </a:p>
        </p:txBody>
      </p:sp>
      <p:sp>
        <p:nvSpPr>
          <p:cNvPr id="46" name="label"/>
          <p:cNvSpPr txBox="1"/>
          <p:nvPr/>
        </p:nvSpPr>
        <p:spPr>
          <a:xfrm>
            <a:off x="3500552"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Floor board 0.7 mm (calculated)</a:t>
            </a:r>
            <a:endParaRPr lang="en-US" sz="1300" dirty="0"/>
          </a:p>
        </p:txBody>
      </p:sp>
      <p:sp>
        <p:nvSpPr>
          <p:cNvPr id="47" name="Speed tile"/>
          <p:cNvSpPr/>
          <p:nvPr/>
        </p:nvSpPr>
        <p:spPr>
          <a:xfrm>
            <a:off x="6178144" y="3657600"/>
            <a:ext cx="2650160" cy="2029968"/>
          </a:xfrm>
          <a:prstGeom prst="rect">
            <a:avLst/>
          </a:prstGeom>
          <a:solidFill>
            <a:srgbClr val="FFFFFF"/>
          </a:solidFill>
          <a:ln w="12700">
            <a:solidFill>
              <a:srgbClr val="BFBFBF"/>
            </a:solidFill>
            <a:prstDash val="solid"/>
          </a:ln>
        </p:spPr>
      </p:sp>
      <p:sp>
        <p:nvSpPr>
          <p:cNvPr id="48" name="Speed status bar"/>
          <p:cNvSpPr/>
          <p:nvPr/>
        </p:nvSpPr>
        <p:spPr>
          <a:xfrm>
            <a:off x="6178144" y="3657600"/>
            <a:ext cx="2650160" cy="91440"/>
          </a:xfrm>
          <a:prstGeom prst="rect">
            <a:avLst/>
          </a:prstGeom>
          <a:solidFill>
            <a:srgbClr val="7F7F7F"/>
          </a:solidFill>
          <a:ln w="12700">
            <a:solidFill>
              <a:srgbClr val="7F7F7F"/>
            </a:solidFill>
            <a:prstDash val="solid"/>
          </a:ln>
        </p:spPr>
      </p:sp>
      <p:sp>
        <p:nvSpPr>
          <p:cNvPr id="49" name="label"/>
          <p:cNvSpPr txBox="1"/>
          <p:nvPr/>
        </p:nvSpPr>
        <p:spPr>
          <a:xfrm>
            <a:off x="6315304"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0" name="label"/>
          <p:cNvSpPr txBox="1"/>
          <p:nvPr/>
        </p:nvSpPr>
        <p:spPr>
          <a:xfrm>
            <a:off x="6315304"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Speed</a:t>
            </a:r>
            <a:endParaRPr lang="en-US" sz="1700" dirty="0"/>
          </a:p>
        </p:txBody>
      </p:sp>
      <p:sp>
        <p:nvSpPr>
          <p:cNvPr id="51" name="label"/>
          <p:cNvSpPr txBox="1"/>
          <p:nvPr/>
        </p:nvSpPr>
        <p:spPr>
          <a:xfrm>
            <a:off x="6315304"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Maximize</a:t>
            </a:r>
            <a:endParaRPr lang="en-US" sz="1200" dirty="0"/>
          </a:p>
        </p:txBody>
      </p:sp>
      <p:sp>
        <p:nvSpPr>
          <p:cNvPr id="52" name="label"/>
          <p:cNvSpPr txBox="1"/>
          <p:nvPr/>
        </p:nvSpPr>
        <p:spPr>
          <a:xfrm>
            <a:off x="6315304"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50 mm/s, 2 m/s²</a:t>
            </a:r>
            <a:endParaRPr lang="en-US" sz="1300" dirty="0"/>
          </a:p>
        </p:txBody>
      </p:sp>
      <p:sp>
        <p:nvSpPr>
          <p:cNvPr id="53" name="label"/>
          <p:cNvSpPr txBox="1"/>
          <p:nvPr/>
        </p:nvSpPr>
        <p:spPr>
          <a:xfrm>
            <a:off x="6315304"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In every tension check; not yet run</a:t>
            </a:r>
            <a:endParaRPr lang="en-US" sz="1300" dirty="0"/>
          </a:p>
        </p:txBody>
      </p:sp>
      <p:sp>
        <p:nvSpPr>
          <p:cNvPr id="54" name="Cost tile"/>
          <p:cNvSpPr/>
          <p:nvPr/>
        </p:nvSpPr>
        <p:spPr>
          <a:xfrm>
            <a:off x="8992895" y="3657600"/>
            <a:ext cx="2650160" cy="2029968"/>
          </a:xfrm>
          <a:prstGeom prst="rect">
            <a:avLst/>
          </a:prstGeom>
          <a:solidFill>
            <a:srgbClr val="FFFFFF"/>
          </a:solidFill>
          <a:ln w="12700">
            <a:solidFill>
              <a:srgbClr val="BFBFBF"/>
            </a:solidFill>
            <a:prstDash val="solid"/>
          </a:ln>
        </p:spPr>
      </p:sp>
      <p:sp>
        <p:nvSpPr>
          <p:cNvPr id="55" name="Cost status bar"/>
          <p:cNvSpPr/>
          <p:nvPr/>
        </p:nvSpPr>
        <p:spPr>
          <a:xfrm>
            <a:off x="8992895" y="3657600"/>
            <a:ext cx="2650160" cy="91440"/>
          </a:xfrm>
          <a:prstGeom prst="rect">
            <a:avLst/>
          </a:prstGeom>
          <a:solidFill>
            <a:srgbClr val="7F7F7F"/>
          </a:solidFill>
          <a:ln w="12700">
            <a:solidFill>
              <a:srgbClr val="7F7F7F"/>
            </a:solidFill>
            <a:prstDash val="solid"/>
          </a:ln>
        </p:spPr>
      </p:sp>
      <p:sp>
        <p:nvSpPr>
          <p:cNvPr id="56" name="label"/>
          <p:cNvSpPr txBox="1"/>
          <p:nvPr/>
        </p:nvSpPr>
        <p:spPr>
          <a:xfrm>
            <a:off x="9130055" y="3813048"/>
            <a:ext cx="2375840" cy="219456"/>
          </a:xfrm>
          <a:prstGeom prst="rect">
            <a:avLst/>
          </a:prstGeom>
          <a:noFill/>
          <a:ln/>
        </p:spPr>
        <p:txBody>
          <a:bodyPr wrap="square" lIns="0" tIns="0" rIns="0" bIns="0" rtlCol="0" anchor="ctr"/>
          <a:lstStyle/>
          <a:p>
            <a:pPr algn="l" indent="0" marL="0">
              <a:buNone/>
            </a:pPr>
            <a:r>
              <a:rPr lang="en-US" sz="1050" b="1" dirty="0">
                <a:solidFill>
                  <a:srgbClr val="7F7F7F"/>
                </a:solidFill>
                <a:latin typeface="Arial" pitchFamily="34" charset="0"/>
                <a:ea typeface="Arial" pitchFamily="34" charset="-122"/>
                <a:cs typeface="Arial" pitchFamily="34" charset="-120"/>
              </a:rPr>
              <a:t>TEST PENDING</a:t>
            </a:r>
            <a:endParaRPr lang="en-US" sz="1050" dirty="0"/>
          </a:p>
        </p:txBody>
      </p:sp>
      <p:sp>
        <p:nvSpPr>
          <p:cNvPr id="57" name="label"/>
          <p:cNvSpPr txBox="1"/>
          <p:nvPr/>
        </p:nvSpPr>
        <p:spPr>
          <a:xfrm>
            <a:off x="9130055" y="4041648"/>
            <a:ext cx="2375840" cy="329184"/>
          </a:xfrm>
          <a:prstGeom prst="rect">
            <a:avLst/>
          </a:prstGeom>
          <a:noFill/>
          <a:ln/>
        </p:spPr>
        <p:txBody>
          <a:bodyPr wrap="square" lIns="0" tIns="0" rIns="0" bIns="0" rtlCol="0" anchor="ctr"/>
          <a:lstStyle/>
          <a:p>
            <a:pPr algn="l" indent="0" marL="0">
              <a:buNone/>
            </a:pPr>
            <a:r>
              <a:rPr lang="en-US" sz="1700" b="1" dirty="0">
                <a:solidFill>
                  <a:srgbClr val="000000"/>
                </a:solidFill>
                <a:latin typeface="Arial" pitchFamily="34" charset="0"/>
                <a:ea typeface="Arial" pitchFamily="34" charset="-122"/>
                <a:cs typeface="Arial" pitchFamily="34" charset="-120"/>
              </a:rPr>
              <a:t>Cost</a:t>
            </a:r>
            <a:endParaRPr lang="en-US" sz="1700" dirty="0"/>
          </a:p>
        </p:txBody>
      </p:sp>
      <p:sp>
        <p:nvSpPr>
          <p:cNvPr id="58" name="label"/>
          <p:cNvSpPr txBox="1"/>
          <p:nvPr/>
        </p:nvSpPr>
        <p:spPr>
          <a:xfrm>
            <a:off x="9130055" y="4370832"/>
            <a:ext cx="2375840" cy="237744"/>
          </a:xfrm>
          <a:prstGeom prst="rect">
            <a:avLst/>
          </a:prstGeom>
          <a:noFill/>
          <a:ln/>
        </p:spPr>
        <p:txBody>
          <a:bodyPr wrap="square" lIns="0" tIns="0" rIns="0" bIns="0" rtlCol="0" anchor="ctr"/>
          <a:lstStyle/>
          <a:p>
            <a:pPr algn="l" indent="0" marL="0">
              <a:buNone/>
            </a:pPr>
            <a:r>
              <a:rPr lang="en-US" sz="1200" dirty="0">
                <a:solidFill>
                  <a:srgbClr val="7F7F7F"/>
                </a:solidFill>
                <a:latin typeface="Arial" pitchFamily="34" charset="0"/>
                <a:ea typeface="Arial" pitchFamily="34" charset="-122"/>
                <a:cs typeface="Arial" pitchFamily="34" charset="-120"/>
              </a:rPr>
              <a:t>Minimize</a:t>
            </a:r>
            <a:endParaRPr lang="en-US" sz="1200" dirty="0"/>
          </a:p>
        </p:txBody>
      </p:sp>
      <p:sp>
        <p:nvSpPr>
          <p:cNvPr id="59" name="label"/>
          <p:cNvSpPr txBox="1"/>
          <p:nvPr/>
        </p:nvSpPr>
        <p:spPr>
          <a:xfrm>
            <a:off x="9130055" y="4626864"/>
            <a:ext cx="2375840" cy="457200"/>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Target:</a:t>
            </a:r>
            <a:pPr algn="l" indent="0" marL="0">
              <a:buNone/>
            </a:pPr>
            <a:r>
              <a:rPr lang="en-US" sz="1300" dirty="0">
                <a:solidFill>
                  <a:srgbClr val="000000"/>
                </a:solidFill>
                <a:latin typeface="Arial" pitchFamily="34" charset="0"/>
                <a:ea typeface="Arial" pitchFamily="34" charset="-122"/>
                <a:cs typeface="Arial" pitchFamily="34" charset="-120"/>
              </a:rPr>
              <a:t> Hobby budget; parts I can buy and fix</a:t>
            </a:r>
            <a:endParaRPr lang="en-US" sz="1300" dirty="0"/>
          </a:p>
        </p:txBody>
      </p:sp>
      <p:sp>
        <p:nvSpPr>
          <p:cNvPr id="60" name="label"/>
          <p:cNvSpPr txBox="1"/>
          <p:nvPr/>
        </p:nvSpPr>
        <p:spPr>
          <a:xfrm>
            <a:off x="9130055" y="5084064"/>
            <a:ext cx="2375840" cy="530352"/>
          </a:xfrm>
          <a:prstGeom prst="rect">
            <a:avLst/>
          </a:prstGeom>
          <a:noFill/>
          <a:ln/>
        </p:spPr>
        <p:txBody>
          <a:bodyPr wrap="square" lIns="0" tIns="0" rIns="0" bIns="0" rtlCol="0" anchor="t"/>
          <a:lstStyle/>
          <a:p>
            <a:pPr algn="l" indent="0" marL="0">
              <a:buNone/>
            </a:pPr>
            <a:r>
              <a:rPr lang="en-US" sz="1300" b="1" dirty="0">
                <a:solidFill>
                  <a:srgbClr val="000000"/>
                </a:solidFill>
                <a:latin typeface="Arial" pitchFamily="34" charset="0"/>
                <a:ea typeface="Arial" pitchFamily="34" charset="-122"/>
                <a:cs typeface="Arial" pitchFamily="34" charset="-120"/>
              </a:rPr>
              <a:t>Now:</a:t>
            </a:r>
            <a:pPr algn="l" indent="0" marL="0">
              <a:buNone/>
            </a:pPr>
            <a:r>
              <a:rPr lang="en-US" sz="1300" dirty="0">
                <a:solidFill>
                  <a:srgbClr val="000000"/>
                </a:solidFill>
                <a:latin typeface="Arial" pitchFamily="34" charset="0"/>
                <a:ea typeface="Arial" pitchFamily="34" charset="-122"/>
                <a:cs typeface="Arial" pitchFamily="34" charset="-120"/>
              </a:rPr>
              <a:t> </a:t>
            </a:r>
            <a:pPr algn="l" indent="0" marL="0">
              <a:buNone/>
            </a:pPr>
            <a:r>
              <a:rPr lang="en-US" sz="1300" i="1" dirty="0">
                <a:solidFill>
                  <a:srgbClr val="B23A2E"/>
                </a:solidFill>
                <a:latin typeface="Arial" pitchFamily="34" charset="0"/>
                <a:ea typeface="Arial" pitchFamily="34" charset="-122"/>
                <a:cs typeface="Arial" pitchFamily="34" charset="-120"/>
              </a:rPr>
              <a:t>[total spent: $___]</a:t>
            </a:r>
            <a:endParaRPr lang="en-US" sz="1300" dirty="0"/>
          </a:p>
        </p:txBody>
      </p:sp>
      <p:sp>
        <p:nvSpPr>
          <p:cNvPr id="61" name="constraint box"/>
          <p:cNvSpPr/>
          <p:nvPr/>
        </p:nvSpPr>
        <p:spPr>
          <a:xfrm>
            <a:off x="548640" y="5806440"/>
            <a:ext cx="11094415" cy="457200"/>
          </a:xfrm>
          <a:prstGeom prst="rect">
            <a:avLst/>
          </a:prstGeom>
          <a:solidFill>
            <a:srgbClr val="F2F2F2"/>
          </a:solidFill>
          <a:ln w="12700">
            <a:solidFill>
              <a:srgbClr val="F2F2F2"/>
            </a:solidFill>
            <a:prstDash val="solid"/>
          </a:ln>
        </p:spPr>
      </p:sp>
      <p:sp>
        <p:nvSpPr>
          <p:cNvPr id="62" name="label"/>
          <p:cNvSpPr txBox="1"/>
          <p:nvPr/>
        </p:nvSpPr>
        <p:spPr>
          <a:xfrm>
            <a:off x="685800" y="5806440"/>
            <a:ext cx="10820095" cy="457200"/>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Not traded:</a:t>
            </a:r>
            <a:pPr algn="l" indent="0" marL="0">
              <a:buNone/>
            </a:pPr>
            <a:r>
              <a:rPr lang="en-US" sz="1500" dirty="0">
                <a:solidFill>
                  <a:srgbClr val="000000"/>
                </a:solidFill>
                <a:latin typeface="Arial" pitchFamily="34" charset="0"/>
                <a:ea typeface="Arial" pitchFamily="34" charset="-122"/>
                <a:cs typeface="Arial" pitchFamily="34" charset="-120"/>
              </a:rPr>
              <a:t> safety. Anchors in studs, one hard stop, holds on any fault, nobody under the robot</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Trade-offs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Motor current ↑ card"/>
          <p:cNvSpPr/>
          <p:nvPr/>
        </p:nvSpPr>
        <p:spPr>
          <a:xfrm>
            <a:off x="548640" y="1463040"/>
            <a:ext cx="3576218" cy="1965960"/>
          </a:xfrm>
          <a:prstGeom prst="rect">
            <a:avLst/>
          </a:prstGeom>
          <a:solidFill>
            <a:srgbClr val="FFFFFF"/>
          </a:solidFill>
          <a:ln w="12700">
            <a:solidFill>
              <a:srgbClr val="1F3A5F"/>
            </a:solidFill>
            <a:prstDash val="solid"/>
          </a:ln>
        </p:spPr>
      </p:sp>
      <p:sp>
        <p:nvSpPr>
          <p:cNvPr id="6" name="Motor current ↑ header"/>
          <p:cNvSpPr/>
          <p:nvPr/>
        </p:nvSpPr>
        <p:spPr>
          <a:xfrm>
            <a:off x="548640" y="1463040"/>
            <a:ext cx="3576218" cy="411480"/>
          </a:xfrm>
          <a:prstGeom prst="rect">
            <a:avLst/>
          </a:prstGeom>
          <a:solidFill>
            <a:srgbClr val="1F3A5F"/>
          </a:solidFill>
          <a:ln w="12700">
            <a:solidFill>
              <a:srgbClr val="1F3A5F"/>
            </a:solidFill>
            <a:prstDash val="solid"/>
          </a:ln>
        </p:spPr>
      </p:sp>
      <p:sp>
        <p:nvSpPr>
          <p:cNvPr id="7" name="label"/>
          <p:cNvSpPr txBox="1"/>
          <p:nvPr/>
        </p:nvSpPr>
        <p:spPr>
          <a:xfrm>
            <a:off x="685800"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Motor current ↑</a:t>
            </a:r>
            <a:endParaRPr lang="en-US" sz="1600" dirty="0"/>
          </a:p>
        </p:txBody>
      </p:sp>
      <p:sp>
        <p:nvSpPr>
          <p:cNvPr id="8" name="Motor current ↑ text"/>
          <p:cNvSpPr txBox="1"/>
          <p:nvPr/>
        </p:nvSpPr>
        <p:spPr>
          <a:xfrm>
            <a:off x="685800"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I (+41 % at 1.5 A)</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heat, P = I²R (2.0 → 4.1 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1.5 A, vented shell + fin</a:t>
            </a:r>
            <a:endParaRPr lang="en-US" sz="1450" dirty="0"/>
          </a:p>
        </p:txBody>
      </p:sp>
      <p:sp>
        <p:nvSpPr>
          <p:cNvPr id="9" name="Claw strength ↑ card"/>
          <p:cNvSpPr/>
          <p:nvPr/>
        </p:nvSpPr>
        <p:spPr>
          <a:xfrm>
            <a:off x="4307738" y="1463040"/>
            <a:ext cx="3576218" cy="1965960"/>
          </a:xfrm>
          <a:prstGeom prst="rect">
            <a:avLst/>
          </a:prstGeom>
          <a:solidFill>
            <a:srgbClr val="FFFFFF"/>
          </a:solidFill>
          <a:ln w="12700">
            <a:solidFill>
              <a:srgbClr val="1F3A5F"/>
            </a:solidFill>
            <a:prstDash val="solid"/>
          </a:ln>
        </p:spPr>
      </p:sp>
      <p:sp>
        <p:nvSpPr>
          <p:cNvPr id="10" name="Claw strength ↑ header"/>
          <p:cNvSpPr/>
          <p:nvPr/>
        </p:nvSpPr>
        <p:spPr>
          <a:xfrm>
            <a:off x="4307738" y="1463040"/>
            <a:ext cx="3576218" cy="411480"/>
          </a:xfrm>
          <a:prstGeom prst="rect">
            <a:avLst/>
          </a:prstGeom>
          <a:solidFill>
            <a:srgbClr val="1F3A5F"/>
          </a:solidFill>
          <a:ln w="12700">
            <a:solidFill>
              <a:srgbClr val="1F3A5F"/>
            </a:solidFill>
            <a:prstDash val="solid"/>
          </a:ln>
        </p:spPr>
      </p:sp>
      <p:sp>
        <p:nvSpPr>
          <p:cNvPr id="11" name="label"/>
          <p:cNvSpPr txBox="1"/>
          <p:nvPr/>
        </p:nvSpPr>
        <p:spPr>
          <a:xfrm>
            <a:off x="4444898"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Claw strength ↑</a:t>
            </a:r>
            <a:endParaRPr lang="en-US" sz="1600" dirty="0"/>
          </a:p>
        </p:txBody>
      </p:sp>
      <p:sp>
        <p:nvSpPr>
          <p:cNvPr id="12" name="Claw strength ↑ text"/>
          <p:cNvSpPr txBox="1"/>
          <p:nvPr/>
        </p:nvSpPr>
        <p:spPr>
          <a:xfrm>
            <a:off x="4444898"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gear safety factor 0.4 → 2</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mass; payload = capacity − claw</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module 1.5 gears; mass budget open</a:t>
            </a:r>
            <a:endParaRPr lang="en-US" sz="1450" dirty="0"/>
          </a:p>
        </p:txBody>
      </p:sp>
      <p:sp>
        <p:nvSpPr>
          <p:cNvPr id="13" name="Room size ↑ card"/>
          <p:cNvSpPr/>
          <p:nvPr/>
        </p:nvSpPr>
        <p:spPr>
          <a:xfrm>
            <a:off x="8066837" y="1463040"/>
            <a:ext cx="3576218" cy="1965960"/>
          </a:xfrm>
          <a:prstGeom prst="rect">
            <a:avLst/>
          </a:prstGeom>
          <a:solidFill>
            <a:srgbClr val="FFFFFF"/>
          </a:solidFill>
          <a:ln w="12700">
            <a:solidFill>
              <a:srgbClr val="1F3A5F"/>
            </a:solidFill>
            <a:prstDash val="solid"/>
          </a:ln>
        </p:spPr>
      </p:sp>
      <p:sp>
        <p:nvSpPr>
          <p:cNvPr id="14" name="Room size ↑ header"/>
          <p:cNvSpPr/>
          <p:nvPr/>
        </p:nvSpPr>
        <p:spPr>
          <a:xfrm>
            <a:off x="8066837" y="1463040"/>
            <a:ext cx="3576218" cy="411480"/>
          </a:xfrm>
          <a:prstGeom prst="rect">
            <a:avLst/>
          </a:prstGeom>
          <a:solidFill>
            <a:srgbClr val="1F3A5F"/>
          </a:solidFill>
          <a:ln w="12700">
            <a:solidFill>
              <a:srgbClr val="1F3A5F"/>
            </a:solidFill>
            <a:prstDash val="solid"/>
          </a:ln>
        </p:spPr>
      </p:sp>
      <p:sp>
        <p:nvSpPr>
          <p:cNvPr id="15" name="label"/>
          <p:cNvSpPr txBox="1"/>
          <p:nvPr/>
        </p:nvSpPr>
        <p:spPr>
          <a:xfrm>
            <a:off x="8203997" y="146304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Room size ↑</a:t>
            </a:r>
            <a:endParaRPr lang="en-US" sz="1600" dirty="0"/>
          </a:p>
        </p:txBody>
      </p:sp>
      <p:sp>
        <p:nvSpPr>
          <p:cNvPr id="16" name="Room size ↑ text"/>
          <p:cNvSpPr txBox="1"/>
          <p:nvPr/>
        </p:nvSpPr>
        <p:spPr>
          <a:xfrm>
            <a:off x="8203997" y="193852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floor covered</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longer wire, more resistance: R = ρL/A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only 12 V travels, on 16-gauge wire</a:t>
            </a:r>
            <a:endParaRPr lang="en-US" sz="1450" dirty="0"/>
          </a:p>
        </p:txBody>
      </p:sp>
      <p:sp>
        <p:nvSpPr>
          <p:cNvPr id="17" name="Reach toward the ceiling ↑ card"/>
          <p:cNvSpPr/>
          <p:nvPr/>
        </p:nvSpPr>
        <p:spPr>
          <a:xfrm>
            <a:off x="548640" y="3611880"/>
            <a:ext cx="3576218" cy="1965960"/>
          </a:xfrm>
          <a:prstGeom prst="rect">
            <a:avLst/>
          </a:prstGeom>
          <a:solidFill>
            <a:srgbClr val="FFFFFF"/>
          </a:solidFill>
          <a:ln w="12700">
            <a:solidFill>
              <a:srgbClr val="1F3A5F"/>
            </a:solidFill>
            <a:prstDash val="solid"/>
          </a:ln>
        </p:spPr>
      </p:sp>
      <p:sp>
        <p:nvSpPr>
          <p:cNvPr id="18" name="Reach toward the ceiling ↑ header"/>
          <p:cNvSpPr/>
          <p:nvPr/>
        </p:nvSpPr>
        <p:spPr>
          <a:xfrm>
            <a:off x="548640" y="3611880"/>
            <a:ext cx="3576218" cy="411480"/>
          </a:xfrm>
          <a:prstGeom prst="rect">
            <a:avLst/>
          </a:prstGeom>
          <a:solidFill>
            <a:srgbClr val="1F3A5F"/>
          </a:solidFill>
          <a:ln w="12700">
            <a:solidFill>
              <a:srgbClr val="1F3A5F"/>
            </a:solidFill>
            <a:prstDash val="solid"/>
          </a:ln>
        </p:spPr>
      </p:sp>
      <p:sp>
        <p:nvSpPr>
          <p:cNvPr id="19" name="label"/>
          <p:cNvSpPr txBox="1"/>
          <p:nvPr/>
        </p:nvSpPr>
        <p:spPr>
          <a:xfrm>
            <a:off x="685800"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Reach toward the ceiling ↑</a:t>
            </a:r>
            <a:endParaRPr lang="en-US" sz="1600" dirty="0"/>
          </a:p>
        </p:txBody>
      </p:sp>
      <p:sp>
        <p:nvSpPr>
          <p:cNvPr id="20" name="Reach toward the ceiling ↑ text"/>
          <p:cNvSpPr txBox="1"/>
          <p:nvPr/>
        </p:nvSpPr>
        <p:spPr>
          <a:xfrm>
            <a:off x="685800"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more working volume</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tension, T = W / (4 sin φ): 12 → 32 N</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stop 0.4 m below the anchors</a:t>
            </a:r>
            <a:endParaRPr lang="en-US" sz="1450" dirty="0"/>
          </a:p>
        </p:txBody>
      </p:sp>
      <p:sp>
        <p:nvSpPr>
          <p:cNvPr id="21" name="Spool radius ↓ card"/>
          <p:cNvSpPr/>
          <p:nvPr/>
        </p:nvSpPr>
        <p:spPr>
          <a:xfrm>
            <a:off x="4307738" y="3611880"/>
            <a:ext cx="3576218" cy="1965960"/>
          </a:xfrm>
          <a:prstGeom prst="rect">
            <a:avLst/>
          </a:prstGeom>
          <a:solidFill>
            <a:srgbClr val="FFFFFF"/>
          </a:solidFill>
          <a:ln w="12700">
            <a:solidFill>
              <a:srgbClr val="1F3A5F"/>
            </a:solidFill>
            <a:prstDash val="solid"/>
          </a:ln>
        </p:spPr>
      </p:sp>
      <p:sp>
        <p:nvSpPr>
          <p:cNvPr id="22" name="Spool radius ↓ header"/>
          <p:cNvSpPr/>
          <p:nvPr/>
        </p:nvSpPr>
        <p:spPr>
          <a:xfrm>
            <a:off x="4307738" y="3611880"/>
            <a:ext cx="3576218" cy="411480"/>
          </a:xfrm>
          <a:prstGeom prst="rect">
            <a:avLst/>
          </a:prstGeom>
          <a:solidFill>
            <a:srgbClr val="1F3A5F"/>
          </a:solidFill>
          <a:ln w="12700">
            <a:solidFill>
              <a:srgbClr val="1F3A5F"/>
            </a:solidFill>
            <a:prstDash val="solid"/>
          </a:ln>
        </p:spPr>
      </p:sp>
      <p:sp>
        <p:nvSpPr>
          <p:cNvPr id="23" name="label"/>
          <p:cNvSpPr txBox="1"/>
          <p:nvPr/>
        </p:nvSpPr>
        <p:spPr>
          <a:xfrm>
            <a:off x="4444898"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Spool radius ↓</a:t>
            </a:r>
            <a:endParaRPr lang="en-US" sz="1600" dirty="0"/>
          </a:p>
        </p:txBody>
      </p:sp>
      <p:sp>
        <p:nvSpPr>
          <p:cNvPr id="24" name="Spool radius ↓ text"/>
          <p:cNvSpPr txBox="1"/>
          <p:nvPr/>
        </p:nvSpPr>
        <p:spPr>
          <a:xfrm>
            <a:off x="4444898"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pull, T = τ / r</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line speed, v = ω r; less line per layer</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Ø15 core: 34 N empty, 25 N full</a:t>
            </a:r>
            <a:endParaRPr lang="en-US" sz="1450" dirty="0"/>
          </a:p>
        </p:txBody>
      </p:sp>
      <p:sp>
        <p:nvSpPr>
          <p:cNvPr id="25" name="Safety margins ↑ card"/>
          <p:cNvSpPr/>
          <p:nvPr/>
        </p:nvSpPr>
        <p:spPr>
          <a:xfrm>
            <a:off x="8066837" y="3611880"/>
            <a:ext cx="3576218" cy="1965960"/>
          </a:xfrm>
          <a:prstGeom prst="rect">
            <a:avLst/>
          </a:prstGeom>
          <a:solidFill>
            <a:srgbClr val="FFFFFF"/>
          </a:solidFill>
          <a:ln w="12700">
            <a:solidFill>
              <a:srgbClr val="1F3A5F"/>
            </a:solidFill>
            <a:prstDash val="solid"/>
          </a:ln>
        </p:spPr>
      </p:sp>
      <p:sp>
        <p:nvSpPr>
          <p:cNvPr id="26" name="Safety margins ↑ header"/>
          <p:cNvSpPr/>
          <p:nvPr/>
        </p:nvSpPr>
        <p:spPr>
          <a:xfrm>
            <a:off x="8066837" y="3611880"/>
            <a:ext cx="3576218" cy="411480"/>
          </a:xfrm>
          <a:prstGeom prst="rect">
            <a:avLst/>
          </a:prstGeom>
          <a:solidFill>
            <a:srgbClr val="1F3A5F"/>
          </a:solidFill>
          <a:ln w="12700">
            <a:solidFill>
              <a:srgbClr val="1F3A5F"/>
            </a:solidFill>
            <a:prstDash val="solid"/>
          </a:ln>
        </p:spPr>
      </p:sp>
      <p:sp>
        <p:nvSpPr>
          <p:cNvPr id="27" name="label"/>
          <p:cNvSpPr txBox="1"/>
          <p:nvPr/>
        </p:nvSpPr>
        <p:spPr>
          <a:xfrm>
            <a:off x="8203997" y="3611880"/>
            <a:ext cx="330189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Safety margins ↑</a:t>
            </a:r>
            <a:endParaRPr lang="en-US" sz="1600" dirty="0"/>
          </a:p>
        </p:txBody>
      </p:sp>
      <p:sp>
        <p:nvSpPr>
          <p:cNvPr id="28" name="Safety margins ↑ text"/>
          <p:cNvSpPr txBox="1"/>
          <p:nvPr/>
        </p:nvSpPr>
        <p:spPr>
          <a:xfrm>
            <a:off x="8203997" y="4087368"/>
            <a:ext cx="3301898" cy="1417320"/>
          </a:xfrm>
          <a:prstGeom prst="rect">
            <a:avLst/>
          </a:prstGeom>
          <a:noFill/>
          <a:ln/>
        </p:spPr>
        <p:txBody>
          <a:bodyPr wrap="square" lIns="0" tIns="0" rIns="0" bIns="0" rtlCol="0" anchor="t"/>
          <a:lstStyle/>
          <a:p>
            <a:pPr indent="0" marL="0">
              <a:spcAft>
                <a:spcPts val="700"/>
              </a:spcAft>
              <a:buNone/>
            </a:pPr>
            <a:r>
              <a:rPr lang="en-US" sz="1450" b="1" dirty="0">
                <a:solidFill>
                  <a:srgbClr val="1F3A5F"/>
                </a:solidFill>
                <a:latin typeface="Arial" pitchFamily="34" charset="0"/>
                <a:ea typeface="Arial" pitchFamily="34" charset="-122"/>
                <a:cs typeface="Arial" pitchFamily="34" charset="-120"/>
              </a:rPr>
              <a:t>Gain:  </a:t>
            </a:r>
            <a:pPr indent="0" marL="0">
              <a:spcAft>
                <a:spcPts val="700"/>
              </a:spcAft>
              <a:buNone/>
            </a:pPr>
            <a:r>
              <a:rPr lang="en-US" sz="1450" dirty="0">
                <a:solidFill>
                  <a:srgbClr val="1F3A5F"/>
                </a:solidFill>
                <a:latin typeface="Arial" pitchFamily="34" charset="0"/>
                <a:ea typeface="Arial" pitchFamily="34" charset="-122"/>
                <a:cs typeface="Arial" pitchFamily="34" charset="-120"/>
              </a:rPr>
              <a:t>no skipped steps, no wall contact</a:t>
            </a:r>
            <a:endParaRPr lang="en-US" sz="1450" dirty="0"/>
          </a:p>
          <a:p>
            <a:pPr indent="0" marL="0">
              <a:spcAft>
                <a:spcPts val="700"/>
              </a:spcAft>
              <a:buNone/>
            </a:pPr>
            <a:r>
              <a:rPr lang="en-US" sz="1450" b="1" dirty="0">
                <a:solidFill>
                  <a:srgbClr val="B23A2E"/>
                </a:solidFill>
                <a:latin typeface="Arial" pitchFamily="34" charset="0"/>
                <a:ea typeface="Arial" pitchFamily="34" charset="-122"/>
                <a:cs typeface="Arial" pitchFamily="34" charset="-120"/>
              </a:rPr>
              <a:t>Cost:  </a:t>
            </a:r>
            <a:pPr indent="0" marL="0">
              <a:spcAft>
                <a:spcPts val="700"/>
              </a:spcAft>
              <a:buNone/>
            </a:pPr>
            <a:r>
              <a:rPr lang="en-US" sz="1450" dirty="0">
                <a:solidFill>
                  <a:srgbClr val="B23A2E"/>
                </a:solidFill>
                <a:latin typeface="Arial" pitchFamily="34" charset="0"/>
                <a:ea typeface="Arial" pitchFamily="34" charset="-122"/>
                <a:cs typeface="Arial" pitchFamily="34" charset="-120"/>
              </a:rPr>
              <a:t>usable force (÷ 1.5) and floor area</a:t>
            </a:r>
            <a:endParaRPr lang="en-US" sz="1450" dirty="0"/>
          </a:p>
          <a:p>
            <a:pPr indent="0" marL="0">
              <a:spcAft>
                <a:spcPts val="700"/>
              </a:spcAft>
              <a:buNone/>
            </a:pPr>
            <a:r>
              <a:rPr lang="en-US" sz="1450" b="1" dirty="0">
                <a:solidFill>
                  <a:srgbClr val="404040"/>
                </a:solidFill>
                <a:latin typeface="Arial" pitchFamily="34" charset="0"/>
                <a:ea typeface="Arial" pitchFamily="34" charset="-122"/>
                <a:cs typeface="Arial" pitchFamily="34" charset="-120"/>
              </a:rPr>
              <a:t>Set:  </a:t>
            </a:r>
            <a:pPr indent="0" marL="0">
              <a:spcAft>
                <a:spcPts val="700"/>
              </a:spcAft>
              <a:buNone/>
            </a:pPr>
            <a:r>
              <a:rPr lang="en-US" sz="1450" dirty="0">
                <a:solidFill>
                  <a:srgbClr val="404040"/>
                </a:solidFill>
                <a:latin typeface="Arial" pitchFamily="34" charset="0"/>
                <a:ea typeface="Arial" pitchFamily="34" charset="-122"/>
                <a:cs typeface="Arial" pitchFamily="34" charset="-120"/>
              </a:rPr>
              <a:t>÷ 1.5; 0.2 m walls, 0.4 m ceiling</a:t>
            </a:r>
            <a:endParaRPr lang="en-US" sz="1450" dirty="0"/>
          </a:p>
        </p:txBody>
      </p:sp>
      <p:sp>
        <p:nvSpPr>
          <p:cNvPr id="29" name="label"/>
          <p:cNvSpPr txBox="1"/>
          <p:nvPr/>
        </p:nvSpPr>
        <p:spPr>
          <a:xfrm>
            <a:off x="548640" y="5760720"/>
            <a:ext cx="1280160" cy="475488"/>
          </a:xfrm>
          <a:prstGeom prst="rect">
            <a:avLst/>
          </a:prstGeom>
          <a:noFill/>
          <a:ln/>
        </p:spPr>
        <p:txBody>
          <a:bodyPr wrap="square" lIns="0" tIns="0" rIns="0" bIns="0" rtlCol="0" anchor="ctr"/>
          <a:lstStyle/>
          <a:p>
            <a:pPr algn="l" indent="0" marL="0">
              <a:buNone/>
            </a:pPr>
            <a:r>
              <a:rPr lang="en-US" sz="1400" b="1" dirty="0">
                <a:solidFill>
                  <a:srgbClr val="1F3A5F"/>
                </a:solidFill>
                <a:latin typeface="Arial" pitchFamily="34" charset="0"/>
                <a:ea typeface="Arial" pitchFamily="34" charset="-122"/>
                <a:cs typeface="Arial" pitchFamily="34" charset="-120"/>
              </a:rPr>
              <a:t>How they chain:</a:t>
            </a:r>
            <a:endParaRPr lang="en-US" sz="1400" dirty="0"/>
          </a:p>
        </p:txBody>
      </p:sp>
      <p:sp>
        <p:nvSpPr>
          <p:cNvPr id="30" name="chain 1"/>
          <p:cNvSpPr/>
          <p:nvPr/>
        </p:nvSpPr>
        <p:spPr>
          <a:xfrm>
            <a:off x="1920240" y="5760720"/>
            <a:ext cx="1710477" cy="475488"/>
          </a:xfrm>
          <a:prstGeom prst="roundRect">
            <a:avLst>
              <a:gd name="adj" fmla="val 15385"/>
            </a:avLst>
          </a:prstGeom>
          <a:solidFill>
            <a:srgbClr val="F2F2F2"/>
          </a:solidFill>
          <a:ln w="12700">
            <a:solidFill>
              <a:srgbClr val="1F3A5F"/>
            </a:solidFill>
            <a:prstDash val="solid"/>
          </a:ln>
        </p:spPr>
      </p:sp>
      <p:sp>
        <p:nvSpPr>
          <p:cNvPr id="31" name="label"/>
          <p:cNvSpPr txBox="1"/>
          <p:nvPr/>
        </p:nvSpPr>
        <p:spPr>
          <a:xfrm>
            <a:off x="1920240"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Claw mass ↑</a:t>
            </a:r>
            <a:endParaRPr lang="en-US" sz="1400" dirty="0"/>
          </a:p>
        </p:txBody>
      </p:sp>
      <p:sp>
        <p:nvSpPr>
          <p:cNvPr id="32" name="Shape 30"/>
          <p:cNvSpPr/>
          <p:nvPr/>
        </p:nvSpPr>
        <p:spPr>
          <a:xfrm>
            <a:off x="3667293" y="5998464"/>
            <a:ext cx="219456" cy="0"/>
          </a:xfrm>
          <a:prstGeom prst="line">
            <a:avLst/>
          </a:prstGeom>
          <a:noFill/>
          <a:ln w="19050">
            <a:solidFill>
              <a:srgbClr val="7F7F7F"/>
            </a:solidFill>
            <a:prstDash val="solid"/>
            <a:tailEnd type="triangle"/>
          </a:ln>
        </p:spPr>
      </p:sp>
      <p:sp>
        <p:nvSpPr>
          <p:cNvPr id="33" name="chain 2"/>
          <p:cNvSpPr/>
          <p:nvPr/>
        </p:nvSpPr>
        <p:spPr>
          <a:xfrm>
            <a:off x="3923325" y="5760720"/>
            <a:ext cx="1710477" cy="475488"/>
          </a:xfrm>
          <a:prstGeom prst="roundRect">
            <a:avLst>
              <a:gd name="adj" fmla="val 15385"/>
            </a:avLst>
          </a:prstGeom>
          <a:solidFill>
            <a:srgbClr val="F2F2F2"/>
          </a:solidFill>
          <a:ln w="12700">
            <a:solidFill>
              <a:srgbClr val="1F3A5F"/>
            </a:solidFill>
            <a:prstDash val="solid"/>
          </a:ln>
        </p:spPr>
      </p:sp>
      <p:sp>
        <p:nvSpPr>
          <p:cNvPr id="34" name="label"/>
          <p:cNvSpPr txBox="1"/>
          <p:nvPr/>
        </p:nvSpPr>
        <p:spPr>
          <a:xfrm>
            <a:off x="3923325"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Pull needed ↑</a:t>
            </a:r>
            <a:endParaRPr lang="en-US" sz="1400" dirty="0"/>
          </a:p>
        </p:txBody>
      </p:sp>
      <p:sp>
        <p:nvSpPr>
          <p:cNvPr id="35" name="Shape 33"/>
          <p:cNvSpPr/>
          <p:nvPr/>
        </p:nvSpPr>
        <p:spPr>
          <a:xfrm>
            <a:off x="5670377" y="5998464"/>
            <a:ext cx="219456" cy="0"/>
          </a:xfrm>
          <a:prstGeom prst="line">
            <a:avLst/>
          </a:prstGeom>
          <a:noFill/>
          <a:ln w="19050">
            <a:solidFill>
              <a:srgbClr val="7F7F7F"/>
            </a:solidFill>
            <a:prstDash val="solid"/>
            <a:tailEnd type="triangle"/>
          </a:ln>
        </p:spPr>
      </p:sp>
      <p:sp>
        <p:nvSpPr>
          <p:cNvPr id="36" name="chain 3"/>
          <p:cNvSpPr/>
          <p:nvPr/>
        </p:nvSpPr>
        <p:spPr>
          <a:xfrm>
            <a:off x="5926409" y="5760720"/>
            <a:ext cx="1710477" cy="475488"/>
          </a:xfrm>
          <a:prstGeom prst="roundRect">
            <a:avLst>
              <a:gd name="adj" fmla="val 15385"/>
            </a:avLst>
          </a:prstGeom>
          <a:solidFill>
            <a:srgbClr val="F2F2F2"/>
          </a:solidFill>
          <a:ln w="12700">
            <a:solidFill>
              <a:srgbClr val="1F3A5F"/>
            </a:solidFill>
            <a:prstDash val="solid"/>
          </a:ln>
        </p:spPr>
      </p:sp>
      <p:sp>
        <p:nvSpPr>
          <p:cNvPr id="37" name="label"/>
          <p:cNvSpPr txBox="1"/>
          <p:nvPr/>
        </p:nvSpPr>
        <p:spPr>
          <a:xfrm>
            <a:off x="5926409"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Motor current ↑</a:t>
            </a:r>
            <a:endParaRPr lang="en-US" sz="1400" dirty="0"/>
          </a:p>
        </p:txBody>
      </p:sp>
      <p:sp>
        <p:nvSpPr>
          <p:cNvPr id="38" name="Shape 36"/>
          <p:cNvSpPr/>
          <p:nvPr/>
        </p:nvSpPr>
        <p:spPr>
          <a:xfrm>
            <a:off x="7673462" y="5998464"/>
            <a:ext cx="219456" cy="0"/>
          </a:xfrm>
          <a:prstGeom prst="line">
            <a:avLst/>
          </a:prstGeom>
          <a:noFill/>
          <a:ln w="19050">
            <a:solidFill>
              <a:srgbClr val="7F7F7F"/>
            </a:solidFill>
            <a:prstDash val="solid"/>
            <a:tailEnd type="triangle"/>
          </a:ln>
        </p:spPr>
      </p:sp>
      <p:sp>
        <p:nvSpPr>
          <p:cNvPr id="39" name="chain 4"/>
          <p:cNvSpPr/>
          <p:nvPr/>
        </p:nvSpPr>
        <p:spPr>
          <a:xfrm>
            <a:off x="7929494" y="5760720"/>
            <a:ext cx="1710477" cy="475488"/>
          </a:xfrm>
          <a:prstGeom prst="roundRect">
            <a:avLst>
              <a:gd name="adj" fmla="val 15385"/>
            </a:avLst>
          </a:prstGeom>
          <a:solidFill>
            <a:srgbClr val="F2F2F2"/>
          </a:solidFill>
          <a:ln w="12700">
            <a:solidFill>
              <a:srgbClr val="1F3A5F"/>
            </a:solidFill>
            <a:prstDash val="solid"/>
          </a:ln>
        </p:spPr>
      </p:sp>
      <p:sp>
        <p:nvSpPr>
          <p:cNvPr id="40" name="label"/>
          <p:cNvSpPr txBox="1"/>
          <p:nvPr/>
        </p:nvSpPr>
        <p:spPr>
          <a:xfrm>
            <a:off x="7929494" y="5760720"/>
            <a:ext cx="1710477" cy="475488"/>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Heat ↑ as I²</a:t>
            </a:r>
            <a:endParaRPr lang="en-US" sz="1400" dirty="0"/>
          </a:p>
        </p:txBody>
      </p:sp>
      <p:sp>
        <p:nvSpPr>
          <p:cNvPr id="41" name="Shape 39"/>
          <p:cNvSpPr/>
          <p:nvPr/>
        </p:nvSpPr>
        <p:spPr>
          <a:xfrm>
            <a:off x="9676547" y="5998464"/>
            <a:ext cx="219456" cy="0"/>
          </a:xfrm>
          <a:prstGeom prst="line">
            <a:avLst/>
          </a:prstGeom>
          <a:noFill/>
          <a:ln w="19050">
            <a:solidFill>
              <a:srgbClr val="7F7F7F"/>
            </a:solidFill>
            <a:prstDash val="solid"/>
            <a:tailEnd type="triangle"/>
          </a:ln>
        </p:spPr>
      </p:sp>
      <p:sp>
        <p:nvSpPr>
          <p:cNvPr id="42" name="chain 5"/>
          <p:cNvSpPr/>
          <p:nvPr/>
        </p:nvSpPr>
        <p:spPr>
          <a:xfrm>
            <a:off x="9932579" y="5760720"/>
            <a:ext cx="1710477" cy="475488"/>
          </a:xfrm>
          <a:prstGeom prst="roundRect">
            <a:avLst>
              <a:gd name="adj" fmla="val 15385"/>
            </a:avLst>
          </a:prstGeom>
          <a:solidFill>
            <a:srgbClr val="1F3A5F"/>
          </a:solidFill>
          <a:ln w="12700">
            <a:solidFill>
              <a:srgbClr val="1F3A5F"/>
            </a:solidFill>
            <a:prstDash val="solid"/>
          </a:ln>
        </p:spPr>
      </p:sp>
      <p:sp>
        <p:nvSpPr>
          <p:cNvPr id="43" name="label"/>
          <p:cNvSpPr txBox="1"/>
          <p:nvPr/>
        </p:nvSpPr>
        <p:spPr>
          <a:xfrm>
            <a:off x="9932579" y="5760720"/>
            <a:ext cx="1710477" cy="47548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Fin and vents</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Cable Tension</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Cables only pull: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every tension must stay above zero</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Near the ceiling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cables flatten and tension climbs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32 N per cable at 0.15 m below the anchors; 8.3 N at 0.6 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keep 0.4 m below the anchors; at 1.5 A that holds even while accelerating (14.7 N vs 16.8 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g</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&gt; 0</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W / (4 sin φ),   sin φ = d / √(d²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²)</a:t>
            </a:r>
            <a:endParaRPr lang="en-US" sz="1500" dirty="0"/>
          </a:p>
        </p:txBody>
      </p:sp>
      <p:pic>
        <p:nvPicPr>
          <p:cNvPr id="11" name="Chart from the calculation sheet: Cable " descr="Chart from the calculation sheet: Cable tension">    </p:cNvPr>
          <p:cNvPicPr>
            <a:picLocks noChangeAspect="1"/>
          </p:cNvPicPr>
          <p:nvPr/>
        </p:nvPicPr>
        <p:blipFill>
          <a:blip r:embed="rId1"/>
          <a:stretch>
            <a:fillRect/>
          </a:stretch>
        </p:blipFill>
        <p:spPr>
          <a:xfrm>
            <a:off x="5880671" y="1554480"/>
            <a:ext cx="5762384" cy="3966477"/>
          </a:xfrm>
          <a:prstGeom prst="rect">
            <a:avLst/>
          </a:prstGeom>
        </p:spPr>
      </p:pic>
      <p:sp>
        <p:nvSpPr>
          <p:cNvPr id="12" name="chart frame"/>
          <p:cNvSpPr/>
          <p:nvPr/>
        </p:nvSpPr>
        <p:spPr>
          <a:xfrm>
            <a:off x="5880671" y="1554480"/>
            <a:ext cx="5762384" cy="3966477"/>
          </a:xfrm>
          <a:prstGeom prst="rect">
            <a:avLst/>
          </a:prstGeom>
          <a:ln w="9525">
            <a:solidFill>
              <a:srgbClr val="BFBFBF"/>
            </a:solidFill>
            <a:prstDash val="solid"/>
          </a:ln>
        </p:spPr>
      </p:sp>
      <p:sp>
        <p:nvSpPr>
          <p:cNvPr id="13" name="caption"/>
          <p:cNvSpPr txBox="1"/>
          <p:nvPr/>
        </p:nvSpPr>
        <p:spPr>
          <a:xfrm>
            <a:off x="5880671" y="5594109"/>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Winch Pull</a:t>
            </a:r>
            <a:endParaRPr lang="en-US" sz="3000" dirty="0"/>
          </a:p>
        </p:txBody>
      </p:sp>
      <p:sp>
        <p:nvSpPr>
          <p:cNvPr id="4" name="status chip"/>
          <p:cNvSpPr/>
          <p:nvPr/>
        </p:nvSpPr>
        <p:spPr>
          <a:xfrm>
            <a:off x="8346643" y="621792"/>
            <a:ext cx="329641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346643" y="621792"/>
            <a:ext cx="329641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A set · pull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NEMA 17 stepper (standard 1.7 in frame), printed spool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Driver current raised to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motor's rating (was 1.06 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Pull: 34 N empty spool, 25 N full</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Design force 16.8 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(was 11.9 N): full-spool pull ÷ 1.5 margin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luggage-scale pull test replaces my torque assumption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I = V</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ref</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(8 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1.2 V / (8 × 0.1 Ω) = 1.5 A</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T = τ</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run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r:   33.6 N at r = 7.5 mm,   25.2 N at r = 10 mm</a:t>
            </a:r>
            <a:endParaRPr lang="en-US" sz="1500" dirty="0"/>
          </a:p>
        </p:txBody>
      </p:sp>
      <p:pic>
        <p:nvPicPr>
          <p:cNvPr id="11" name="Chart from the calculation sheet: Winch " descr="Chart from the calculation sheet: Winch pull">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“Winch pull”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Controller per Winch</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one board stepped all four motors; sync was free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switch and encoder per winch → 10 wires per corner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820 ft of conductor; the sensor bus (I²C, Inter-Integrated Circuit) is meant for centimetres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controller in every station; only 12 V travels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5× less wire; each station is built and tested alone</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Conductor = n · ΣL:   10 × 82 ft = 820 ft   vs   2 × 82 ft = 164 ft</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v · Δt = 50 mm/s × 50 ms = 2.5 mm</a:t>
            </a:r>
            <a:endParaRPr lang="en-US" sz="1500" dirty="0"/>
          </a:p>
        </p:txBody>
      </p:sp>
      <p:pic>
        <p:nvPicPr>
          <p:cNvPr id="11" name="Chart from the calculation sheet: Wiring" descr="Chart from the calculation sheet: Wiring">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“Wiring”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Cooling the Motor</a:t>
            </a:r>
            <a:endParaRPr lang="en-US" sz="3000" dirty="0"/>
          </a:p>
        </p:txBody>
      </p:sp>
      <p:sp>
        <p:nvSpPr>
          <p:cNvPr id="4" name="status chip"/>
          <p:cNvSpPr/>
          <p:nvPr/>
        </p:nvSpPr>
        <p:spPr>
          <a:xfrm>
            <a:off x="7610551" y="621792"/>
            <a:ext cx="4032504"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7610551" y="621792"/>
            <a:ext cx="4032504"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Fin built · temperature 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sealed printed shell traps motor heat; PETG creeps above 60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an aluminium fin up through the shell, shaped like an antelope horn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twice the heat (4.1 W); vented + fin ≈ 58 °C, without the fin 77 °C</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90-minute hold test at 1.5 A; back to 1.35 A if it runs hot</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m</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I² R = (1.5 A)² × 1.8 Ω = 4.1 W</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1/R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shell</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+ 1/R</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fin</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ΔT = P · R</a:t>
            </a:r>
            <a:endParaRPr lang="en-US" sz="1500" dirty="0"/>
          </a:p>
        </p:txBody>
      </p:sp>
      <p:pic>
        <p:nvPicPr>
          <p:cNvPr id="11" name="Chart from the calculation sheet: Motor " descr="Chart from the calculation sheet: Motor temperature">    </p:cNvPr>
          <p:cNvPicPr>
            <a:picLocks noChangeAspect="1"/>
          </p:cNvPicPr>
          <p:nvPr/>
        </p:nvPicPr>
        <p:blipFill>
          <a:blip r:embed="rId1"/>
          <a:stretch>
            <a:fillRect/>
          </a:stretch>
        </p:blipFill>
        <p:spPr>
          <a:xfrm>
            <a:off x="5880671" y="1554480"/>
            <a:ext cx="5762384" cy="3959968"/>
          </a:xfrm>
          <a:prstGeom prst="rect">
            <a:avLst/>
          </a:prstGeom>
        </p:spPr>
      </p:pic>
      <p:sp>
        <p:nvSpPr>
          <p:cNvPr id="12" name="chart frame"/>
          <p:cNvSpPr/>
          <p:nvPr/>
        </p:nvSpPr>
        <p:spPr>
          <a:xfrm>
            <a:off x="5880671" y="1554480"/>
            <a:ext cx="5762384" cy="3959968"/>
          </a:xfrm>
          <a:prstGeom prst="rect">
            <a:avLst/>
          </a:prstGeom>
          <a:ln w="9525">
            <a:solidFill>
              <a:srgbClr val="BFBFBF"/>
            </a:solidFill>
            <a:prstDash val="solid"/>
          </a:ln>
        </p:spPr>
      </p:sp>
      <p:sp>
        <p:nvSpPr>
          <p:cNvPr id="13" name="caption"/>
          <p:cNvSpPr txBox="1"/>
          <p:nvPr/>
        </p:nvSpPr>
        <p:spPr>
          <a:xfrm>
            <a:off x="5880671" y="5587600"/>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“Motor temperature”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Homing</a:t>
            </a:r>
            <a:endParaRPr lang="en-US" sz="3000" dirty="0"/>
          </a:p>
        </p:txBody>
      </p:sp>
      <p:sp>
        <p:nvSpPr>
          <p:cNvPr id="4" name="status chip"/>
          <p:cNvSpPr/>
          <p:nvPr/>
        </p:nvSpPr>
        <p:spPr>
          <a:xfrm>
            <a:off x="8872423" y="621792"/>
            <a:ext cx="2770632"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872423" y="621792"/>
            <a:ext cx="2770632"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Plan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on each cable trips a switch → known length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Found: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bead cannot pass the outlet, so cables can never be shorter</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homing 1 m up leaves 5 % of the room reachable; 2 m up, 29 %</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Decision: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claw camera reads a printed floor board; fit the geometry from several poses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whole room reachable; the beads became end stops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home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for every cable i</a:t>
            </a:r>
            <a:endParaRPr lang="en-US" sz="1500" dirty="0"/>
          </a:p>
        </p:txBody>
      </p:sp>
      <p:pic>
        <p:nvPicPr>
          <p:cNvPr id="11" name="Chart from the calculation sheet: Bead h" descr="Chart from the calculation sheet: Bead homing">    </p:cNvPr>
          <p:cNvPicPr>
            <a:picLocks noChangeAspect="1"/>
          </p:cNvPicPr>
          <p:nvPr/>
        </p:nvPicPr>
        <p:blipFill>
          <a:blip r:embed="rId1"/>
          <a:stretch>
            <a:fillRect/>
          </a:stretch>
        </p:blipFill>
        <p:spPr>
          <a:xfrm>
            <a:off x="5880671" y="1554480"/>
            <a:ext cx="5762384" cy="3967454"/>
          </a:xfrm>
          <a:prstGeom prst="rect">
            <a:avLst/>
          </a:prstGeom>
        </p:spPr>
      </p:pic>
      <p:sp>
        <p:nvSpPr>
          <p:cNvPr id="12" name="chart frame"/>
          <p:cNvSpPr/>
          <p:nvPr/>
        </p:nvSpPr>
        <p:spPr>
          <a:xfrm>
            <a:off x="5880671" y="1554480"/>
            <a:ext cx="5762384" cy="3967454"/>
          </a:xfrm>
          <a:prstGeom prst="rect">
            <a:avLst/>
          </a:prstGeom>
          <a:ln w="9525">
            <a:solidFill>
              <a:srgbClr val="BFBFBF"/>
            </a:solidFill>
            <a:prstDash val="solid"/>
          </a:ln>
        </p:spPr>
      </p:sp>
      <p:sp>
        <p:nvSpPr>
          <p:cNvPr id="13" name="caption"/>
          <p:cNvSpPr txBox="1"/>
          <p:nvPr/>
        </p:nvSpPr>
        <p:spPr>
          <a:xfrm>
            <a:off x="5880671" y="5595086"/>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“Bead homing”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 Claw</a:t>
            </a:r>
            <a:endParaRPr lang="en-US" sz="3000" dirty="0"/>
          </a:p>
        </p:txBody>
      </p:sp>
      <p:sp>
        <p:nvSpPr>
          <p:cNvPr id="4" name="status chip"/>
          <p:cNvSpPr/>
          <p:nvPr/>
        </p:nvSpPr>
        <p:spPr>
          <a:xfrm>
            <a:off x="8556955" y="621792"/>
            <a:ext cx="308610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556955" y="621792"/>
            <a:ext cx="308610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Body built · hands in CAD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Gen 1:</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tendon-driven fingers in TPU (flexible thermoplastic polyurethane)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Problems: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could not pinch thin fabric; one clamp was 4.6× over its mass budget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Final: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geared four-bar, parallel jaws, 53 mm opening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Gears: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module 1 failed the stall check → module 1.5, safety factor ≈ 2</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Grip: 2 μ N ≥ m g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N ≥ 7.4 N per jaw   (1 lb, μ = 0.3)</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Lewis: 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a:t>
            </a:r>
            <a:endParaRPr lang="en-US" sz="1500" dirty="0"/>
          </a:p>
        </p:txBody>
      </p:sp>
      <p:sp>
        <p:nvSpPr>
          <p:cNvPr id="11" name="Shape 9"/>
          <p:cNvSpPr/>
          <p:nvPr/>
        </p:nvSpPr>
        <p:spPr>
          <a:xfrm>
            <a:off x="5658783" y="1463040"/>
            <a:ext cx="2937272" cy="2162556"/>
          </a:xfrm>
          <a:prstGeom prst="rect">
            <a:avLst/>
          </a:prstGeom>
          <a:solidFill>
            <a:srgbClr val="F2F2F2"/>
          </a:solidFill>
          <a:ln w="12700">
            <a:solidFill>
              <a:srgbClr val="F2F2F2"/>
            </a:solidFill>
            <a:prstDash val="solid"/>
          </a:ln>
        </p:spPr>
      </p:sp>
      <p:pic>
        <p:nvPicPr>
          <p:cNvPr id="12" name="Claw generations and the printed gear tr" descr="Claw generations and the printed gear train">    </p:cNvPr>
          <p:cNvPicPr>
            <a:picLocks noChangeAspect="1"/>
          </p:cNvPicPr>
          <p:nvPr/>
        </p:nvPicPr>
        <p:blipFill>
          <a:blip r:embed="rId1"/>
          <a:stretch>
            <a:fillRect/>
          </a:stretch>
        </p:blipFill>
        <p:spPr>
          <a:xfrm>
            <a:off x="6417461" y="1517904"/>
            <a:ext cx="1419915" cy="2052828"/>
          </a:xfrm>
          <a:prstGeom prst="rect">
            <a:avLst/>
          </a:prstGeom>
        </p:spPr>
      </p:pic>
      <p:sp>
        <p:nvSpPr>
          <p:cNvPr id="13" name="Shape 10"/>
          <p:cNvSpPr/>
          <p:nvPr/>
        </p:nvSpPr>
        <p:spPr>
          <a:xfrm>
            <a:off x="8705783" y="1463040"/>
            <a:ext cx="2937272" cy="2162556"/>
          </a:xfrm>
          <a:prstGeom prst="rect">
            <a:avLst/>
          </a:prstGeom>
          <a:solidFill>
            <a:srgbClr val="F2F2F2"/>
          </a:solidFill>
          <a:ln w="12700">
            <a:solidFill>
              <a:srgbClr val="F2F2F2"/>
            </a:solidFill>
            <a:prstDash val="solid"/>
          </a:ln>
        </p:spPr>
      </p:sp>
      <p:pic>
        <p:nvPicPr>
          <p:cNvPr id="14" name="Claw generations and the printed gear tr" descr="Claw generations and the printed gear train">    </p:cNvPr>
          <p:cNvPicPr>
            <a:picLocks noChangeAspect="1"/>
          </p:cNvPicPr>
          <p:nvPr/>
        </p:nvPicPr>
        <p:blipFill>
          <a:blip r:embed="rId2"/>
          <a:stretch>
            <a:fillRect/>
          </a:stretch>
        </p:blipFill>
        <p:spPr>
          <a:xfrm>
            <a:off x="9857400" y="1517904"/>
            <a:ext cx="634038" cy="2052828"/>
          </a:xfrm>
          <a:prstGeom prst="rect">
            <a:avLst/>
          </a:prstGeom>
        </p:spPr>
      </p:pic>
      <p:sp>
        <p:nvSpPr>
          <p:cNvPr id="15" name="Shape 11"/>
          <p:cNvSpPr/>
          <p:nvPr/>
        </p:nvSpPr>
        <p:spPr>
          <a:xfrm>
            <a:off x="5658783" y="3735324"/>
            <a:ext cx="2937272" cy="2162556"/>
          </a:xfrm>
          <a:prstGeom prst="rect">
            <a:avLst/>
          </a:prstGeom>
          <a:solidFill>
            <a:srgbClr val="F2F2F2"/>
          </a:solidFill>
          <a:ln w="12700">
            <a:solidFill>
              <a:srgbClr val="F2F2F2"/>
            </a:solidFill>
            <a:prstDash val="solid"/>
          </a:ln>
        </p:spPr>
      </p:sp>
      <p:pic>
        <p:nvPicPr>
          <p:cNvPr id="16" name="Claw generations and the printed gear tr" descr="Claw generations and the printed gear train">    </p:cNvPr>
          <p:cNvPicPr>
            <a:picLocks noChangeAspect="1"/>
          </p:cNvPicPr>
          <p:nvPr/>
        </p:nvPicPr>
        <p:blipFill>
          <a:blip r:embed="rId3"/>
          <a:stretch>
            <a:fillRect/>
          </a:stretch>
        </p:blipFill>
        <p:spPr>
          <a:xfrm>
            <a:off x="6530637" y="3790188"/>
            <a:ext cx="1193564" cy="2052828"/>
          </a:xfrm>
          <a:prstGeom prst="rect">
            <a:avLst/>
          </a:prstGeom>
        </p:spPr>
      </p:pic>
      <p:sp>
        <p:nvSpPr>
          <p:cNvPr id="17" name="Shape 12"/>
          <p:cNvSpPr/>
          <p:nvPr/>
        </p:nvSpPr>
        <p:spPr>
          <a:xfrm>
            <a:off x="8705783" y="3735324"/>
            <a:ext cx="2937272" cy="2162556"/>
          </a:xfrm>
          <a:prstGeom prst="rect">
            <a:avLst/>
          </a:prstGeom>
          <a:solidFill>
            <a:srgbClr val="F2F2F2"/>
          </a:solidFill>
          <a:ln w="12700">
            <a:solidFill>
              <a:srgbClr val="F2F2F2"/>
            </a:solidFill>
            <a:prstDash val="solid"/>
          </a:ln>
        </p:spPr>
      </p:sp>
      <p:pic>
        <p:nvPicPr>
          <p:cNvPr id="18" name="Claw generations and the printed gear tr" descr="Claw generations and the printed gear train">    </p:cNvPr>
          <p:cNvPicPr>
            <a:picLocks noChangeAspect="1"/>
          </p:cNvPicPr>
          <p:nvPr/>
        </p:nvPicPr>
        <p:blipFill>
          <a:blip r:embed="rId4"/>
          <a:stretch>
            <a:fillRect/>
          </a:stretch>
        </p:blipFill>
        <p:spPr>
          <a:xfrm>
            <a:off x="9404609" y="3790188"/>
            <a:ext cx="1539621" cy="2052828"/>
          </a:xfrm>
          <a:prstGeom prst="rect">
            <a:avLst/>
          </a:prstGeom>
        </p:spPr>
      </p:pic>
      <p:sp>
        <p:nvSpPr>
          <p:cNvPr id="19" name="caption"/>
          <p:cNvSpPr txBox="1"/>
          <p:nvPr/>
        </p:nvSpPr>
        <p:spPr>
          <a:xfrm>
            <a:off x="5658783" y="597103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Fingers → v6 clamp → final geared four-bar (CAD) → printed gear train with the servo</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Weight: the Open Problem</a:t>
            </a:r>
            <a:endParaRPr lang="en-US" sz="3000" dirty="0"/>
          </a:p>
        </p:txBody>
      </p:sp>
      <p:sp>
        <p:nvSpPr>
          <p:cNvPr id="4" name="status chip"/>
          <p:cNvSpPr/>
          <p:nvPr/>
        </p:nvSpPr>
        <p:spPr>
          <a:xfrm>
            <a:off x="9923983" y="621792"/>
            <a:ext cx="1719072"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923983" y="621792"/>
            <a:ext cx="1719072"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Open problem</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Capacity at 1.5 A:</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1.56 kg at the worst point (was 1.10)</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Claw: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about 0.76 kg printed (CAD) + 0.1 kg battery; </a:t>
            </a:r>
            <a:pPr algn="l" marL="254000" indent="-254000">
              <a:spcAft>
                <a:spcPts val="1400"/>
              </a:spcAft>
              <a:buSzPct val="100000"/>
              <a:buChar char="•"/>
            </a:pPr>
            <a:r>
              <a:rPr lang="en-US" sz="2000" i="1" dirty="0">
                <a:solidFill>
                  <a:srgbClr val="B23A2E"/>
                </a:solidFill>
                <a:latin typeface="Arial" pitchFamily="34" charset="0"/>
                <a:ea typeface="Arial" pitchFamily="34" charset="-122"/>
                <a:cs typeface="Arial" pitchFamily="34" charset="-120"/>
              </a:rPr>
              <a:t>[weighed: ___ g]</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 lb test now fits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(1.32 kg); jeans are still 0.2 kg over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Options: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lighter claw · 3:1 winch reduction · lighter demo load</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Next: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pull test decides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iz</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m (g + a),   0 &lt; T</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16.8 N</a:t>
            </a:r>
            <a:endParaRPr lang="en-US" sz="1500" dirty="0"/>
          </a:p>
        </p:txBody>
      </p:sp>
      <p:pic>
        <p:nvPicPr>
          <p:cNvPr id="11" name="Chart from the calculation sheet: Lift b" descr="Chart from the calculation sheet: Lift budget">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“Lift budget”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Printed Fits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PETG on a Creality K1, 0.2 mm layers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Printed holes come out undersize, so every fit gets an allowance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Spool:</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v1 too long · v2 bore too tight · v3 Ø5.45 with a flat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Torque goes through a set screw on the shaft flat, not the press fit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Lesson: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print a fit coupon before the part</a:t>
            </a:r>
            <a:endParaRPr lang="en-US" sz="2000" dirty="0"/>
          </a:p>
        </p:txBody>
      </p:sp>
      <p:sp>
        <p:nvSpPr>
          <p:cNvPr id="8" name="equation box"/>
          <p:cNvSpPr/>
          <p:nvPr/>
        </p:nvSpPr>
        <p:spPr>
          <a:xfrm>
            <a:off x="548640" y="5239512"/>
            <a:ext cx="4698663"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369479"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369479"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Clearance c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hole</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u)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shaft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printer undersize</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Ø5.2 too tight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u ≥ 0.2 mm, so Ø5.45 gives c ≈ 0.25 mm</a:t>
            </a:r>
            <a:endParaRPr lang="en-US" sz="1500" dirty="0"/>
          </a:p>
        </p:txBody>
      </p:sp>
      <p:sp>
        <p:nvSpPr>
          <p:cNvPr id="11" name="Shape 9"/>
          <p:cNvSpPr/>
          <p:nvPr/>
        </p:nvSpPr>
        <p:spPr>
          <a:xfrm>
            <a:off x="5658783" y="1463040"/>
            <a:ext cx="1903318" cy="4526280"/>
          </a:xfrm>
          <a:prstGeom prst="rect">
            <a:avLst/>
          </a:prstGeom>
          <a:solidFill>
            <a:srgbClr val="F2F2F2"/>
          </a:solidFill>
          <a:ln w="12700">
            <a:solidFill>
              <a:srgbClr val="F2F2F2"/>
            </a:solidFill>
            <a:prstDash val="solid"/>
          </a:ln>
        </p:spPr>
      </p:sp>
      <p:pic>
        <p:nvPicPr>
          <p:cNvPr id="12" name="Spool v1, v2, v3" descr="Spool v1, v2, v3">    </p:cNvPr>
          <p:cNvPicPr>
            <a:picLocks noChangeAspect="1"/>
          </p:cNvPicPr>
          <p:nvPr/>
        </p:nvPicPr>
        <p:blipFill>
          <a:blip r:embed="rId1"/>
          <a:stretch>
            <a:fillRect/>
          </a:stretch>
        </p:blipFill>
        <p:spPr>
          <a:xfrm>
            <a:off x="5713647" y="2821123"/>
            <a:ext cx="1793590" cy="1810114"/>
          </a:xfrm>
          <a:prstGeom prst="rect">
            <a:avLst/>
          </a:prstGeom>
        </p:spPr>
      </p:pic>
      <p:sp>
        <p:nvSpPr>
          <p:cNvPr id="13" name="Shape 10"/>
          <p:cNvSpPr/>
          <p:nvPr/>
        </p:nvSpPr>
        <p:spPr>
          <a:xfrm>
            <a:off x="7699260" y="1463040"/>
            <a:ext cx="1903318" cy="4526280"/>
          </a:xfrm>
          <a:prstGeom prst="rect">
            <a:avLst/>
          </a:prstGeom>
          <a:solidFill>
            <a:srgbClr val="F2F2F2"/>
          </a:solidFill>
          <a:ln w="12700">
            <a:solidFill>
              <a:srgbClr val="F2F2F2"/>
            </a:solidFill>
            <a:prstDash val="solid"/>
          </a:ln>
        </p:spPr>
      </p:sp>
      <p:pic>
        <p:nvPicPr>
          <p:cNvPr id="14" name="Spool v1, v2, v3" descr="Spool v1, v2, v3">    </p:cNvPr>
          <p:cNvPicPr>
            <a:picLocks noChangeAspect="1"/>
          </p:cNvPicPr>
          <p:nvPr/>
        </p:nvPicPr>
        <p:blipFill>
          <a:blip r:embed="rId2"/>
          <a:stretch>
            <a:fillRect/>
          </a:stretch>
        </p:blipFill>
        <p:spPr>
          <a:xfrm>
            <a:off x="7754124" y="2885472"/>
            <a:ext cx="1793590" cy="1681416"/>
          </a:xfrm>
          <a:prstGeom prst="rect">
            <a:avLst/>
          </a:prstGeom>
        </p:spPr>
      </p:pic>
      <p:sp>
        <p:nvSpPr>
          <p:cNvPr id="15" name="Shape 11"/>
          <p:cNvSpPr/>
          <p:nvPr/>
        </p:nvSpPr>
        <p:spPr>
          <a:xfrm>
            <a:off x="9739738" y="1463040"/>
            <a:ext cx="1903318" cy="4526280"/>
          </a:xfrm>
          <a:prstGeom prst="rect">
            <a:avLst/>
          </a:prstGeom>
          <a:solidFill>
            <a:srgbClr val="F2F2F2"/>
          </a:solidFill>
          <a:ln w="12700">
            <a:solidFill>
              <a:srgbClr val="F2F2F2"/>
            </a:solidFill>
            <a:prstDash val="solid"/>
          </a:ln>
        </p:spPr>
      </p:sp>
      <p:pic>
        <p:nvPicPr>
          <p:cNvPr id="16" name="Spool v1, v2, v3" descr="Spool v1, v2, v3">    </p:cNvPr>
          <p:cNvPicPr>
            <a:picLocks noChangeAspect="1"/>
          </p:cNvPicPr>
          <p:nvPr/>
        </p:nvPicPr>
        <p:blipFill>
          <a:blip r:embed="rId3"/>
          <a:stretch>
            <a:fillRect/>
          </a:stretch>
        </p:blipFill>
        <p:spPr>
          <a:xfrm>
            <a:off x="9794602" y="2821758"/>
            <a:ext cx="1793590" cy="1808843"/>
          </a:xfrm>
          <a:prstGeom prst="rect">
            <a:avLst/>
          </a:prstGeom>
        </p:spPr>
      </p:pic>
      <p:sp>
        <p:nvSpPr>
          <p:cNvPr id="17"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Spool v1, v2, v3 (CAD)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Machining the Fin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Built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Shop drawing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1:1 print with a hole template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Sheared 0.019 in aluminium sheet to 44 × 250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Manual mill, one setup:</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five holes from the same two edges, ±0.1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Matte black paint; thermal paste on the motor face</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Result: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bolted onto the motor with no reaming</a:t>
            </a:r>
            <a:endParaRPr lang="en-US" sz="2000" dirty="0"/>
          </a:p>
        </p:txBody>
      </p:sp>
      <p:sp>
        <p:nvSpPr>
          <p:cNvPr id="8" name="Shape 6"/>
          <p:cNvSpPr/>
          <p:nvPr/>
        </p:nvSpPr>
        <p:spPr>
          <a:xfrm>
            <a:off x="5880671" y="1463040"/>
            <a:ext cx="2826328" cy="2162556"/>
          </a:xfrm>
          <a:prstGeom prst="rect">
            <a:avLst/>
          </a:prstGeom>
          <a:solidFill>
            <a:srgbClr val="F2F2F2"/>
          </a:solidFill>
          <a:ln w="12700">
            <a:solidFill>
              <a:srgbClr val="F2F2F2"/>
            </a:solidFill>
            <a:prstDash val="solid"/>
          </a:ln>
        </p:spPr>
      </p:sp>
      <p:pic>
        <p:nvPicPr>
          <p:cNvPr id="9" name="Fin manufacturing photos" descr="Fin manufacturing photos">    </p:cNvPr>
          <p:cNvPicPr>
            <a:picLocks noChangeAspect="1"/>
          </p:cNvPicPr>
          <p:nvPr/>
        </p:nvPicPr>
        <p:blipFill>
          <a:blip r:embed="rId1"/>
          <a:stretch>
            <a:fillRect/>
          </a:stretch>
        </p:blipFill>
        <p:spPr>
          <a:xfrm>
            <a:off x="5935535" y="1525593"/>
            <a:ext cx="2716600" cy="2037450"/>
          </a:xfrm>
          <a:prstGeom prst="rect">
            <a:avLst/>
          </a:prstGeom>
        </p:spPr>
      </p:pic>
      <p:sp>
        <p:nvSpPr>
          <p:cNvPr id="10" name="Shape 7"/>
          <p:cNvSpPr/>
          <p:nvPr/>
        </p:nvSpPr>
        <p:spPr>
          <a:xfrm>
            <a:off x="8816727" y="1463040"/>
            <a:ext cx="2826328" cy="2162556"/>
          </a:xfrm>
          <a:prstGeom prst="rect">
            <a:avLst/>
          </a:prstGeom>
          <a:solidFill>
            <a:srgbClr val="F2F2F2"/>
          </a:solidFill>
          <a:ln w="12700">
            <a:solidFill>
              <a:srgbClr val="F2F2F2"/>
            </a:solidFill>
            <a:prstDash val="solid"/>
          </a:ln>
        </p:spPr>
      </p:sp>
      <p:pic>
        <p:nvPicPr>
          <p:cNvPr id="11" name="Fin manufacturing photos" descr="Fin manufacturing photos">    </p:cNvPr>
          <p:cNvPicPr>
            <a:picLocks noChangeAspect="1"/>
          </p:cNvPicPr>
          <p:nvPr/>
        </p:nvPicPr>
        <p:blipFill>
          <a:blip r:embed="rId2"/>
          <a:stretch>
            <a:fillRect/>
          </a:stretch>
        </p:blipFill>
        <p:spPr>
          <a:xfrm>
            <a:off x="9460081" y="1517904"/>
            <a:ext cx="1539621" cy="2052828"/>
          </a:xfrm>
          <a:prstGeom prst="rect">
            <a:avLst/>
          </a:prstGeom>
        </p:spPr>
      </p:pic>
      <p:sp>
        <p:nvSpPr>
          <p:cNvPr id="12" name="Shape 8"/>
          <p:cNvSpPr/>
          <p:nvPr/>
        </p:nvSpPr>
        <p:spPr>
          <a:xfrm>
            <a:off x="5880671" y="3735324"/>
            <a:ext cx="2826328" cy="2162556"/>
          </a:xfrm>
          <a:prstGeom prst="rect">
            <a:avLst/>
          </a:prstGeom>
          <a:solidFill>
            <a:srgbClr val="F2F2F2"/>
          </a:solidFill>
          <a:ln w="12700">
            <a:solidFill>
              <a:srgbClr val="F2F2F2"/>
            </a:solidFill>
            <a:prstDash val="solid"/>
          </a:ln>
        </p:spPr>
      </p:sp>
      <p:pic>
        <p:nvPicPr>
          <p:cNvPr id="13" name="Fin manufacturing photos" descr="Fin manufacturing photos">    </p:cNvPr>
          <p:cNvPicPr>
            <a:picLocks noChangeAspect="1"/>
          </p:cNvPicPr>
          <p:nvPr/>
        </p:nvPicPr>
        <p:blipFill>
          <a:blip r:embed="rId3"/>
          <a:stretch>
            <a:fillRect/>
          </a:stretch>
        </p:blipFill>
        <p:spPr>
          <a:xfrm>
            <a:off x="6524025" y="3790188"/>
            <a:ext cx="1539621" cy="2052828"/>
          </a:xfrm>
          <a:prstGeom prst="rect">
            <a:avLst/>
          </a:prstGeom>
        </p:spPr>
      </p:pic>
      <p:sp>
        <p:nvSpPr>
          <p:cNvPr id="14" name="Shape 9"/>
          <p:cNvSpPr/>
          <p:nvPr/>
        </p:nvSpPr>
        <p:spPr>
          <a:xfrm>
            <a:off x="8816727" y="3735324"/>
            <a:ext cx="2826328" cy="2162556"/>
          </a:xfrm>
          <a:prstGeom prst="rect">
            <a:avLst/>
          </a:prstGeom>
          <a:solidFill>
            <a:srgbClr val="F2F2F2"/>
          </a:solidFill>
          <a:ln w="12700">
            <a:solidFill>
              <a:srgbClr val="F2F2F2"/>
            </a:solidFill>
            <a:prstDash val="solid"/>
          </a:ln>
        </p:spPr>
      </p:sp>
      <p:pic>
        <p:nvPicPr>
          <p:cNvPr id="15" name="Fin manufacturing photos" descr="Fin manufacturing photos">    </p:cNvPr>
          <p:cNvPicPr>
            <a:picLocks noChangeAspect="1"/>
          </p:cNvPicPr>
          <p:nvPr/>
        </p:nvPicPr>
        <p:blipFill>
          <a:blip r:embed="rId4"/>
          <a:stretch>
            <a:fillRect/>
          </a:stretch>
        </p:blipFill>
        <p:spPr>
          <a:xfrm>
            <a:off x="9460081" y="3790188"/>
            <a:ext cx="1539621" cy="2052828"/>
          </a:xfrm>
          <a:prstGeom prst="rect">
            <a:avLst/>
          </a:prstGeom>
        </p:spPr>
      </p:pic>
      <p:sp>
        <p:nvSpPr>
          <p:cNvPr id="16" name="caption"/>
          <p:cNvSpPr txBox="1"/>
          <p:nvPr/>
        </p:nvSpPr>
        <p:spPr>
          <a:xfrm>
            <a:off x="5880671" y="5971032"/>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Shear and blanks · mill setup with the drawing · drilling · the finished fin</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Electronics Bring-Up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1F3A5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Measured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698663"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Station board: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driver boots off, so a reset never moves the motor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Schematic built from the soldered board: 16 nets, 55 pins match</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Failure: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log said stepping; the shaft did not turn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Cause: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logic rail at 1.14 V, not 3.3 V: a bad connection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Now:</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a meter checklist before any code</a:t>
            </a:r>
            <a:endParaRPr lang="en-US" sz="2000" dirty="0"/>
          </a:p>
        </p:txBody>
      </p:sp>
      <p:sp>
        <p:nvSpPr>
          <p:cNvPr id="8" name="Shape 6"/>
          <p:cNvSpPr/>
          <p:nvPr/>
        </p:nvSpPr>
        <p:spPr>
          <a:xfrm>
            <a:off x="5658783" y="1463040"/>
            <a:ext cx="2923556" cy="4526280"/>
          </a:xfrm>
          <a:prstGeom prst="rect">
            <a:avLst/>
          </a:prstGeom>
          <a:solidFill>
            <a:srgbClr val="F2F2F2"/>
          </a:solidFill>
          <a:ln w="12700">
            <a:solidFill>
              <a:srgbClr val="F2F2F2"/>
            </a:solidFill>
            <a:prstDash val="solid"/>
          </a:ln>
        </p:spPr>
      </p:sp>
      <p:pic>
        <p:nvPicPr>
          <p:cNvPr id="9" name="Soldered station board and bench bring-u" descr="Soldered station board and bench bring-up">    </p:cNvPr>
          <p:cNvPicPr>
            <a:picLocks noChangeAspect="1"/>
          </p:cNvPicPr>
          <p:nvPr/>
        </p:nvPicPr>
        <p:blipFill>
          <a:blip r:embed="rId1"/>
          <a:stretch>
            <a:fillRect/>
          </a:stretch>
        </p:blipFill>
        <p:spPr>
          <a:xfrm>
            <a:off x="5713647" y="1850294"/>
            <a:ext cx="2813828" cy="3751771"/>
          </a:xfrm>
          <a:prstGeom prst="rect">
            <a:avLst/>
          </a:prstGeom>
        </p:spPr>
      </p:pic>
      <p:sp>
        <p:nvSpPr>
          <p:cNvPr id="10" name="Shape 7"/>
          <p:cNvSpPr/>
          <p:nvPr/>
        </p:nvSpPr>
        <p:spPr>
          <a:xfrm>
            <a:off x="8719499" y="1463040"/>
            <a:ext cx="2923556" cy="4526280"/>
          </a:xfrm>
          <a:prstGeom prst="rect">
            <a:avLst/>
          </a:prstGeom>
          <a:solidFill>
            <a:srgbClr val="F2F2F2"/>
          </a:solidFill>
          <a:ln w="12700">
            <a:solidFill>
              <a:srgbClr val="F2F2F2"/>
            </a:solidFill>
            <a:prstDash val="solid"/>
          </a:ln>
        </p:spPr>
      </p:sp>
      <p:pic>
        <p:nvPicPr>
          <p:cNvPr id="11" name="Soldered station board and bench bring-u" descr="Soldered station board and bench bring-up">    </p:cNvPr>
          <p:cNvPicPr>
            <a:picLocks noChangeAspect="1"/>
          </p:cNvPicPr>
          <p:nvPr/>
        </p:nvPicPr>
        <p:blipFill>
          <a:blip r:embed="rId2"/>
          <a:stretch>
            <a:fillRect/>
          </a:stretch>
        </p:blipFill>
        <p:spPr>
          <a:xfrm>
            <a:off x="8774363" y="1850294"/>
            <a:ext cx="2813828" cy="3751771"/>
          </a:xfrm>
          <a:prstGeom prst="rect">
            <a:avLst/>
          </a:prstGeom>
        </p:spPr>
      </p:pic>
      <p:sp>
        <p:nvSpPr>
          <p:cNvPr id="12" name="caption"/>
          <p:cNvSpPr txBox="1"/>
          <p:nvPr/>
        </p:nvSpPr>
        <p:spPr>
          <a:xfrm>
            <a:off x="5658783" y="6062472"/>
            <a:ext cx="5984273"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Soldered station board (left); bench bring-up (right)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First Test</a:t>
            </a:r>
            <a:endParaRPr lang="en-US" sz="3000" dirty="0"/>
          </a:p>
        </p:txBody>
      </p:sp>
      <p:sp>
        <p:nvSpPr>
          <p:cNvPr id="4" name="status chip"/>
          <p:cNvSpPr/>
          <p:nvPr/>
        </p:nvSpPr>
        <p:spPr>
          <a:xfrm>
            <a:off x="9187891" y="621792"/>
            <a:ext cx="2455164" cy="365760"/>
          </a:xfrm>
          <a:prstGeom prst="roundRect">
            <a:avLst>
              <a:gd name="adj" fmla="val 50000"/>
            </a:avLst>
          </a:prstGeom>
          <a:solidFill>
            <a:srgbClr val="FFFFFF"/>
          </a:solidFill>
          <a:ln w="15875">
            <a:solidFill>
              <a:srgbClr val="B23A2E"/>
            </a:solidFill>
            <a:prstDash val="solid"/>
          </a:ln>
        </p:spPr>
      </p:sp>
      <p:sp>
        <p:nvSpPr>
          <p:cNvPr id="5" name="status"/>
          <p:cNvSpPr txBox="1"/>
          <p:nvPr/>
        </p:nvSpPr>
        <p:spPr>
          <a:xfrm>
            <a:off x="9187891" y="621792"/>
            <a:ext cx="2455164" cy="36576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Planned · this week</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Three stations first: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the fewest cables that hold a point, so every tension is solved exactly</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Sequence:</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self-check → slack take-up → lift → calibrate → short move → pickup</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Load:</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1 lb test weight, then one garment</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Pass limits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written before the run</a:t>
            </a:r>
            <a:endParaRPr lang="en-US" sz="2000" dirty="0"/>
          </a:p>
        </p:txBody>
      </p:sp>
      <p:sp>
        <p:nvSpPr>
          <p:cNvPr id="8" name="placeholder"/>
          <p:cNvSpPr/>
          <p:nvPr/>
        </p:nvSpPr>
        <p:spPr>
          <a:xfrm>
            <a:off x="5436894" y="1463040"/>
            <a:ext cx="6206161" cy="224028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24028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[Photo or video from the three-station test]</a:t>
            </a:r>
            <a:endParaRPr lang="en-US" sz="1600" dirty="0"/>
          </a:p>
        </p:txBody>
      </p:sp>
      <p:graphicFrame>
        <p:nvGraphicFramePr>
          <p:cNvPr id="19" name="pass limits"/>
          <p:cNvGraphicFramePr>
            <a:graphicFrameLocks noGrp="1"/>
          </p:cNvGraphicFramePr>
          <p:nvPr>
            <p:extLst>
              <p:ext uri="{D42A27DB-BD31-4B8C-83A1-F6EECF244321}">
                <p14:modId xmlns:p14="http://schemas.microsoft.com/office/powerpoint/2010/main" val="1579011935"/>
              </p:ext>
            </p:extLst>
          </p:nvPr>
        </p:nvGraphicFramePr>
        <p:xfrm>
          <a:off x="5436894" y="3886200"/>
          <a:ext cx="6206161" cy="914400"/>
        </p:xfrm>
        <a:graphic>
          <a:graphicData uri="http://schemas.openxmlformats.org/drawingml/2006/table">
            <a:tbl>
              <a:tblPr/>
              <a:tblGrid>
                <a:gridCol w="1861848"/>
                <a:gridCol w="3103080"/>
                <a:gridCol w="1241232"/>
              </a:tblGrid>
              <a:tr h="438912">
                <a:tc>
                  <a:txBody>
                    <a:bodyPr/>
                    <a:lstStyle/>
                    <a:p>
                      <a:pPr indent="0" marL="0">
                        <a:buNone/>
                      </a:pPr>
                      <a:r>
                        <a:rPr lang="en-US" sz="1300" b="1" dirty="0">
                          <a:solidFill>
                            <a:srgbClr val="FFFFFF"/>
                          </a:solidFill>
                          <a:latin typeface="Arial" pitchFamily="34" charset="0"/>
                          <a:ea typeface="Arial" pitchFamily="34" charset="-122"/>
                          <a:cs typeface="Arial" pitchFamily="34" charset="-120"/>
                        </a:rPr>
                        <a:t>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Pass limit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Startup self-check</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All stations answer; slack taken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fit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Held-out poses inside the safety margin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Short move, 1 lb</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300 mm at 50 mm/s, ≤ 2 mm per cable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rgbClr val="000000"/>
                          </a:solidFill>
                          <a:latin typeface="Arial" pitchFamily="34" charset="0"/>
                          <a:ea typeface="Arial" pitchFamily="34" charset="-122"/>
                          <a:cs typeface="Arial" pitchFamily="34" charset="-120"/>
                        </a:rPr>
                        <a:t>Pickup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One garment into the hamper</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i="1" dirty="0">
                          <a:solidFill>
                            <a:srgbClr val="B23A2E"/>
                          </a:solidFill>
                          <a:latin typeface="Arial" pitchFamily="34" charset="0"/>
                          <a:ea typeface="Arial" pitchFamily="34" charset="-122"/>
                          <a:cs typeface="Arial" pitchFamily="34" charset="-120"/>
                        </a:rPr>
                        <a:t>[fill 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Thermal Check</a:t>
            </a:r>
            <a:endParaRPr lang="en-US" sz="3000" dirty="0"/>
          </a:p>
        </p:txBody>
      </p:sp>
      <p:sp>
        <p:nvSpPr>
          <p:cNvPr id="4" name="status chip"/>
          <p:cNvSpPr/>
          <p:nvPr/>
        </p:nvSpPr>
        <p:spPr>
          <a:xfrm>
            <a:off x="8241487" y="621792"/>
            <a:ext cx="3401568"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8241487" y="621792"/>
            <a:ext cx="3401568"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 · simulation next</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Question:</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does the PETG mount stay under 60 °C at 1.5 A?</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Hand calc:</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motor 56–59 °C (vented shell, painted fin)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SolidWorks:</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motor, fin and PETG mount in my assembly; 4.05 W in the motor</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Hold test: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90 minutes at 1.5 A; thermocouples on the motor and the fin</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If too hot: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drop to 1.35 A (≈ 51 °C) and keep the fin painted</a:t>
            </a:r>
            <a:endParaRPr lang="en-US" sz="2000" dirty="0"/>
          </a:p>
        </p:txBody>
      </p:sp>
      <p:sp>
        <p:nvSpPr>
          <p:cNvPr id="8" name="placeholder"/>
          <p:cNvSpPr/>
          <p:nvPr/>
        </p:nvSpPr>
        <p:spPr>
          <a:xfrm>
            <a:off x="5436894" y="1463040"/>
            <a:ext cx="6206161" cy="2194560"/>
          </a:xfrm>
          <a:prstGeom prst="rect">
            <a:avLst/>
          </a:prstGeom>
          <a:solidFill>
            <a:srgbClr val="F2F2F2"/>
          </a:solidFill>
          <a:ln w="12700">
            <a:solidFill>
              <a:srgbClr val="B23A2E"/>
            </a:solidFill>
            <a:prstDash val="dash"/>
          </a:ln>
        </p:spPr>
      </p:sp>
      <p:sp>
        <p:nvSpPr>
          <p:cNvPr id="9" name="placeholder text"/>
          <p:cNvSpPr txBox="1"/>
          <p:nvPr/>
        </p:nvSpPr>
        <p:spPr>
          <a:xfrm>
            <a:off x="5619774" y="1463040"/>
            <a:ext cx="5840401" cy="2194560"/>
          </a:xfrm>
          <a:prstGeom prst="rect">
            <a:avLst/>
          </a:prstGeom>
          <a:noFill/>
          <a:ln/>
        </p:spPr>
        <p:txBody>
          <a:bodyPr wrap="square" lIns="0" tIns="0" rIns="0" bIns="0" rtlCol="0" anchor="ctr"/>
          <a:lstStyle/>
          <a:p>
            <a:pPr algn="ctr" indent="0" marL="0">
              <a:buNone/>
            </a:pPr>
            <a:r>
              <a:rPr lang="en-US" sz="1600" i="1" dirty="0">
                <a:solidFill>
                  <a:srgbClr val="B23A2E"/>
                </a:solidFill>
                <a:latin typeface="Arial" pitchFamily="34" charset="0"/>
                <a:ea typeface="Arial" pitchFamily="34" charset="-122"/>
                <a:cs typeface="Arial" pitchFamily="34" charset="-120"/>
              </a:rPr>
              <a:t>[SolidWorks temperature plot: motor, fin and slip-in mount]</a:t>
            </a:r>
            <a:endParaRPr lang="en-US" sz="1600" dirty="0"/>
          </a:p>
        </p:txBody>
      </p:sp>
      <p:graphicFrame>
        <p:nvGraphicFramePr>
          <p:cNvPr id="20" name="thermal methods"/>
          <p:cNvGraphicFramePr>
            <a:graphicFrameLocks noGrp="1"/>
          </p:cNvGraphicFramePr>
          <p:nvPr>
            <p:extLst>
              <p:ext uri="{D42A27DB-BD31-4B8C-83A1-F6EECF244321}">
                <p14:modId xmlns:p14="http://schemas.microsoft.com/office/powerpoint/2010/main" val="1579011935"/>
              </p:ext>
            </p:extLst>
          </p:nvPr>
        </p:nvGraphicFramePr>
        <p:xfrm>
          <a:off x="5436894" y="3794760"/>
          <a:ext cx="6206161" cy="914400"/>
        </p:xfrm>
        <a:graphic>
          <a:graphicData uri="http://schemas.openxmlformats.org/drawingml/2006/table">
            <a:tbl>
              <a:tblPr/>
              <a:tblGrid>
                <a:gridCol w="1737725"/>
                <a:gridCol w="1489479"/>
                <a:gridCol w="1613602"/>
                <a:gridCol w="1365355"/>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Method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Motor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PETG mount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 carries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Hand calc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56–59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 53–58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1.4–1.6 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SolidWorks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i="1" dirty="0">
                          <a:solidFill>
                            <a:srgbClr val="B23A2E"/>
                          </a:solidFill>
                          <a:latin typeface="Arial" pitchFamily="34" charset="0"/>
                          <a:ea typeface="Arial" pitchFamily="34" charset="-122"/>
                          <a:cs typeface="Arial" pitchFamily="34" charset="-120"/>
                        </a:rPr>
                        <a:t>[fill 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caption"/>
          <p:cNvSpPr txBox="1"/>
          <p:nvPr/>
        </p:nvSpPr>
        <p:spPr>
          <a:xfrm>
            <a:off x="5436894" y="5733288"/>
            <a:ext cx="6206161"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Three ways to know one temperature: calculate it, simulate it, measure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Good and Poor Decisions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Good decisions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Good decisions</a:t>
            </a:r>
            <a:endParaRPr lang="en-US" sz="1600" dirty="0"/>
          </a:p>
        </p:txBody>
      </p:sp>
      <p:sp>
        <p:nvSpPr>
          <p:cNvPr id="7" name="Shape 5"/>
          <p:cNvSpPr/>
          <p:nvPr/>
        </p:nvSpPr>
        <p:spPr>
          <a:xfrm>
            <a:off x="548640" y="2011680"/>
            <a:ext cx="1417320" cy="960120"/>
          </a:xfrm>
          <a:prstGeom prst="rect">
            <a:avLst/>
          </a:prstGeom>
          <a:solidFill>
            <a:srgbClr val="F2F2F2"/>
          </a:solidFill>
          <a:ln w="12700">
            <a:solidFill>
              <a:srgbClr val="F2F2F2"/>
            </a:solidFill>
            <a:prstDash val="solid"/>
          </a:ln>
        </p:spPr>
      </p:sp>
      <p:pic>
        <p:nvPicPr>
          <p:cNvPr id="8" name="One controller per winch" descr="One controller per winch">    </p:cNvPr>
          <p:cNvPicPr>
            <a:picLocks noChangeAspect="1"/>
          </p:cNvPicPr>
          <p:nvPr/>
        </p:nvPicPr>
        <p:blipFill>
          <a:blip r:embed="rId1"/>
          <a:stretch>
            <a:fillRect/>
          </a:stretch>
        </p:blipFill>
        <p:spPr>
          <a:xfrm>
            <a:off x="938403" y="2066544"/>
            <a:ext cx="637794" cy="850392"/>
          </a:xfrm>
          <a:prstGeom prst="rect">
            <a:avLst/>
          </a:prstGeom>
        </p:spPr>
      </p:pic>
      <p:sp>
        <p:nvSpPr>
          <p:cNvPr id="9" name="One controller per winch"/>
          <p:cNvSpPr txBox="1"/>
          <p:nvPr/>
        </p:nvSpPr>
        <p:spPr>
          <a:xfrm>
            <a:off x="2103120"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One controller per winch</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5× less wire; each station tested alone</a:t>
            </a:r>
            <a:endParaRPr lang="en-US" sz="1600" dirty="0"/>
          </a:p>
        </p:txBody>
      </p:sp>
      <p:sp>
        <p:nvSpPr>
          <p:cNvPr id="10" name="Shape 7"/>
          <p:cNvSpPr/>
          <p:nvPr/>
        </p:nvSpPr>
        <p:spPr>
          <a:xfrm>
            <a:off x="548640" y="3108960"/>
            <a:ext cx="1417320" cy="960120"/>
          </a:xfrm>
          <a:prstGeom prst="rect">
            <a:avLst/>
          </a:prstGeom>
          <a:solidFill>
            <a:srgbClr val="F2F2F2"/>
          </a:solidFill>
          <a:ln w="12700">
            <a:solidFill>
              <a:srgbClr val="F2F2F2"/>
            </a:solidFill>
            <a:prstDash val="solid"/>
          </a:ln>
        </p:spPr>
      </p:sp>
      <p:pic>
        <p:nvPicPr>
          <p:cNvPr id="11" name="Slide-in wall mount" descr="Slide-in wall mount">    </p:cNvPr>
          <p:cNvPicPr>
            <a:picLocks noChangeAspect="1"/>
          </p:cNvPicPr>
          <p:nvPr/>
        </p:nvPicPr>
        <p:blipFill>
          <a:blip r:embed="rId2"/>
          <a:stretch>
            <a:fillRect/>
          </a:stretch>
        </p:blipFill>
        <p:spPr>
          <a:xfrm>
            <a:off x="937026" y="3163824"/>
            <a:ext cx="640547" cy="850392"/>
          </a:xfrm>
          <a:prstGeom prst="rect">
            <a:avLst/>
          </a:prstGeom>
        </p:spPr>
      </p:pic>
      <p:sp>
        <p:nvSpPr>
          <p:cNvPr id="12" name="Slide-in wall mount"/>
          <p:cNvSpPr txBox="1"/>
          <p:nvPr/>
        </p:nvSpPr>
        <p:spPr>
          <a:xfrm>
            <a:off x="2103120"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Slide-in wall mount</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A station comes off; the anchor stays put</a:t>
            </a:r>
            <a:endParaRPr lang="en-US" sz="1600" dirty="0"/>
          </a:p>
        </p:txBody>
      </p:sp>
      <p:sp>
        <p:nvSpPr>
          <p:cNvPr id="13" name="Shape 9"/>
          <p:cNvSpPr/>
          <p:nvPr/>
        </p:nvSpPr>
        <p:spPr>
          <a:xfrm>
            <a:off x="548640" y="4206240"/>
            <a:ext cx="1417320" cy="960120"/>
          </a:xfrm>
          <a:prstGeom prst="rect">
            <a:avLst/>
          </a:prstGeom>
          <a:solidFill>
            <a:srgbClr val="F2F2F2"/>
          </a:solidFill>
          <a:ln w="12700">
            <a:solidFill>
              <a:srgbClr val="F2F2F2"/>
            </a:solidFill>
            <a:prstDash val="solid"/>
          </a:ln>
        </p:spPr>
      </p:sp>
      <p:pic>
        <p:nvPicPr>
          <p:cNvPr id="14" name="Camera calibration over bead homing" descr="Camera calibration over bead homing">    </p:cNvPr>
          <p:cNvPicPr>
            <a:picLocks noChangeAspect="1"/>
          </p:cNvPicPr>
          <p:nvPr/>
        </p:nvPicPr>
        <p:blipFill>
          <a:blip r:embed="rId3"/>
          <a:stretch>
            <a:fillRect/>
          </a:stretch>
        </p:blipFill>
        <p:spPr>
          <a:xfrm>
            <a:off x="1140219" y="4261104"/>
            <a:ext cx="234162" cy="850392"/>
          </a:xfrm>
          <a:prstGeom prst="rect">
            <a:avLst/>
          </a:prstGeom>
        </p:spPr>
      </p:pic>
      <p:sp>
        <p:nvSpPr>
          <p:cNvPr id="15" name="Camera calibration over bead homing"/>
          <p:cNvSpPr txBox="1"/>
          <p:nvPr/>
        </p:nvSpPr>
        <p:spPr>
          <a:xfrm>
            <a:off x="2103120"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Camera calibration over bead homing</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Whole room reachable; no tape measure</a:t>
            </a:r>
            <a:endParaRPr lang="en-US" sz="1600" dirty="0"/>
          </a:p>
        </p:txBody>
      </p:sp>
      <p:sp>
        <p:nvSpPr>
          <p:cNvPr id="16" name="Shape 11"/>
          <p:cNvSpPr/>
          <p:nvPr/>
        </p:nvSpPr>
        <p:spPr>
          <a:xfrm>
            <a:off x="548640" y="5303520"/>
            <a:ext cx="1417320" cy="960120"/>
          </a:xfrm>
          <a:prstGeom prst="rect">
            <a:avLst/>
          </a:prstGeom>
          <a:solidFill>
            <a:srgbClr val="F2F2F2"/>
          </a:solidFill>
          <a:ln w="12700">
            <a:solidFill>
              <a:srgbClr val="F2F2F2"/>
            </a:solidFill>
            <a:prstDash val="solid"/>
          </a:ln>
        </p:spPr>
      </p:sp>
      <p:pic>
        <p:nvPicPr>
          <p:cNvPr id="17" name="Gear strength checked at stall" descr="Gear strength checked at stall">    </p:cNvPr>
          <p:cNvPicPr>
            <a:picLocks noChangeAspect="1"/>
          </p:cNvPicPr>
          <p:nvPr/>
        </p:nvPicPr>
        <p:blipFill>
          <a:blip r:embed="rId4"/>
          <a:stretch>
            <a:fillRect/>
          </a:stretch>
        </p:blipFill>
        <p:spPr>
          <a:xfrm>
            <a:off x="867323" y="5358384"/>
            <a:ext cx="779954" cy="850392"/>
          </a:xfrm>
          <a:prstGeom prst="rect">
            <a:avLst/>
          </a:prstGeom>
        </p:spPr>
      </p:pic>
      <p:sp>
        <p:nvSpPr>
          <p:cNvPr id="18" name="Gear strength checked at stall"/>
          <p:cNvSpPr txBox="1"/>
          <p:nvPr/>
        </p:nvSpPr>
        <p:spPr>
          <a:xfrm>
            <a:off x="2103120"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Gear strength checked at stall</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Module 1 would have failed; fixed in CAD</a:t>
            </a:r>
            <a:endParaRPr lang="en-US" sz="1600" dirty="0"/>
          </a:p>
        </p:txBody>
      </p:sp>
      <p:sp>
        <p:nvSpPr>
          <p:cNvPr id="19" name="Poor decisions header"/>
          <p:cNvSpPr/>
          <p:nvPr/>
        </p:nvSpPr>
        <p:spPr>
          <a:xfrm>
            <a:off x="6233008" y="1463040"/>
            <a:ext cx="5410048" cy="411480"/>
          </a:xfrm>
          <a:prstGeom prst="rect">
            <a:avLst/>
          </a:prstGeom>
          <a:solidFill>
            <a:srgbClr val="B23A2E"/>
          </a:solidFill>
          <a:ln w="12700">
            <a:solidFill>
              <a:srgbClr val="B23A2E"/>
            </a:solidFill>
            <a:prstDash val="solid"/>
          </a:ln>
        </p:spPr>
      </p:sp>
      <p:sp>
        <p:nvSpPr>
          <p:cNvPr id="20"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Poor decisions</a:t>
            </a:r>
            <a:endParaRPr lang="en-US" sz="1600" dirty="0"/>
          </a:p>
        </p:txBody>
      </p:sp>
      <p:sp>
        <p:nvSpPr>
          <p:cNvPr id="21" name="Shape 15"/>
          <p:cNvSpPr/>
          <p:nvPr/>
        </p:nvSpPr>
        <p:spPr>
          <a:xfrm>
            <a:off x="6233008" y="2011680"/>
            <a:ext cx="1417320" cy="960120"/>
          </a:xfrm>
          <a:prstGeom prst="rect">
            <a:avLst/>
          </a:prstGeom>
          <a:solidFill>
            <a:srgbClr val="F2F2F2"/>
          </a:solidFill>
          <a:ln w="12700">
            <a:solidFill>
              <a:srgbClr val="F2F2F2"/>
            </a:solidFill>
            <a:prstDash val="solid"/>
          </a:ln>
        </p:spPr>
      </p:sp>
      <p:pic>
        <p:nvPicPr>
          <p:cNvPr id="22" name="Mass budget set late" descr="Mass budget set late">    </p:cNvPr>
          <p:cNvPicPr>
            <a:picLocks noChangeAspect="1"/>
          </p:cNvPicPr>
          <p:nvPr/>
        </p:nvPicPr>
        <p:blipFill>
          <a:blip r:embed="rId5"/>
          <a:stretch>
            <a:fillRect/>
          </a:stretch>
        </p:blipFill>
        <p:spPr>
          <a:xfrm>
            <a:off x="6810341" y="2066544"/>
            <a:ext cx="262653" cy="850392"/>
          </a:xfrm>
          <a:prstGeom prst="rect">
            <a:avLst/>
          </a:prstGeom>
        </p:spPr>
      </p:pic>
      <p:sp>
        <p:nvSpPr>
          <p:cNvPr id="23" name="Mass budget set late"/>
          <p:cNvSpPr txBox="1"/>
          <p:nvPr/>
        </p:nvSpPr>
        <p:spPr>
          <a:xfrm>
            <a:off x="7787488" y="201168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Mass budget set late</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Claw + jeans is 0.2 kg over, even at 1.5 A</a:t>
            </a:r>
            <a:endParaRPr lang="en-US" sz="1600" dirty="0"/>
          </a:p>
        </p:txBody>
      </p:sp>
      <p:sp>
        <p:nvSpPr>
          <p:cNvPr id="24" name="Shape 17"/>
          <p:cNvSpPr/>
          <p:nvPr/>
        </p:nvSpPr>
        <p:spPr>
          <a:xfrm>
            <a:off x="6233008" y="3108960"/>
            <a:ext cx="1417320" cy="960120"/>
          </a:xfrm>
          <a:prstGeom prst="rect">
            <a:avLst/>
          </a:prstGeom>
          <a:solidFill>
            <a:srgbClr val="F2F2F2"/>
          </a:solidFill>
          <a:ln w="12700">
            <a:solidFill>
              <a:srgbClr val="F2F2F2"/>
            </a:solidFill>
            <a:prstDash val="solid"/>
          </a:ln>
        </p:spPr>
      </p:sp>
      <p:pic>
        <p:nvPicPr>
          <p:cNvPr id="25" name="Bead homing as plan A" descr="Bead homing as plan A">    </p:cNvPr>
          <p:cNvPicPr>
            <a:picLocks noChangeAspect="1"/>
          </p:cNvPicPr>
          <p:nvPr/>
        </p:nvPicPr>
        <p:blipFill>
          <a:blip r:embed="rId6"/>
          <a:stretch>
            <a:fillRect/>
          </a:stretch>
        </p:blipFill>
        <p:spPr>
          <a:xfrm>
            <a:off x="6622771" y="3163824"/>
            <a:ext cx="637794" cy="850392"/>
          </a:xfrm>
          <a:prstGeom prst="rect">
            <a:avLst/>
          </a:prstGeom>
        </p:spPr>
      </p:pic>
      <p:sp>
        <p:nvSpPr>
          <p:cNvPr id="26" name="Bead homing as plan A"/>
          <p:cNvSpPr txBox="1"/>
          <p:nvPr/>
        </p:nvSpPr>
        <p:spPr>
          <a:xfrm>
            <a:off x="7787488" y="310896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Bead homing as plan A</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Under a third of the room; a redesign</a:t>
            </a:r>
            <a:endParaRPr lang="en-US" sz="1600" dirty="0"/>
          </a:p>
        </p:txBody>
      </p:sp>
      <p:sp>
        <p:nvSpPr>
          <p:cNvPr id="27" name="Shape 19"/>
          <p:cNvSpPr/>
          <p:nvPr/>
        </p:nvSpPr>
        <p:spPr>
          <a:xfrm>
            <a:off x="6233008" y="4206240"/>
            <a:ext cx="1417320" cy="960120"/>
          </a:xfrm>
          <a:prstGeom prst="rect">
            <a:avLst/>
          </a:prstGeom>
          <a:solidFill>
            <a:srgbClr val="F2F2F2"/>
          </a:solidFill>
          <a:ln w="12700">
            <a:solidFill>
              <a:srgbClr val="F2F2F2"/>
            </a:solidFill>
            <a:prstDash val="solid"/>
          </a:ln>
        </p:spPr>
      </p:sp>
      <p:pic>
        <p:nvPicPr>
          <p:cNvPr id="28" name="Spool printed before a fit coupon" descr="Spool printed before a fit coupon">    </p:cNvPr>
          <p:cNvPicPr>
            <a:picLocks noChangeAspect="1"/>
          </p:cNvPicPr>
          <p:nvPr/>
        </p:nvPicPr>
        <p:blipFill>
          <a:blip r:embed="rId7"/>
          <a:stretch>
            <a:fillRect/>
          </a:stretch>
        </p:blipFill>
        <p:spPr>
          <a:xfrm>
            <a:off x="6488105" y="4261104"/>
            <a:ext cx="907125" cy="850392"/>
          </a:xfrm>
          <a:prstGeom prst="rect">
            <a:avLst/>
          </a:prstGeom>
        </p:spPr>
      </p:pic>
      <p:sp>
        <p:nvSpPr>
          <p:cNvPr id="29" name="Spool printed before a fit coupon"/>
          <p:cNvSpPr txBox="1"/>
          <p:nvPr/>
        </p:nvSpPr>
        <p:spPr>
          <a:xfrm>
            <a:off x="7787488" y="420624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Spool printed before a fit coupon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Three prints to fit the shaft</a:t>
            </a:r>
            <a:endParaRPr lang="en-US" sz="1600" dirty="0"/>
          </a:p>
        </p:txBody>
      </p:sp>
      <p:sp>
        <p:nvSpPr>
          <p:cNvPr id="30" name="Shape 21"/>
          <p:cNvSpPr/>
          <p:nvPr/>
        </p:nvSpPr>
        <p:spPr>
          <a:xfrm>
            <a:off x="6233008" y="5303520"/>
            <a:ext cx="1417320" cy="960120"/>
          </a:xfrm>
          <a:prstGeom prst="rect">
            <a:avLst/>
          </a:prstGeom>
          <a:solidFill>
            <a:srgbClr val="F2F2F2"/>
          </a:solidFill>
          <a:ln w="12700">
            <a:solidFill>
              <a:srgbClr val="F2F2F2"/>
            </a:solidFill>
            <a:prstDash val="solid"/>
          </a:ln>
        </p:spPr>
      </p:sp>
      <p:pic>
        <p:nvPicPr>
          <p:cNvPr id="31" name="Several stations before one was proven" descr="Several stations before one was proven">    </p:cNvPr>
          <p:cNvPicPr>
            <a:picLocks noChangeAspect="1"/>
          </p:cNvPicPr>
          <p:nvPr/>
        </p:nvPicPr>
        <p:blipFill>
          <a:blip r:embed="rId8"/>
          <a:stretch>
            <a:fillRect/>
          </a:stretch>
        </p:blipFill>
        <p:spPr>
          <a:xfrm>
            <a:off x="6622771" y="5358384"/>
            <a:ext cx="637794" cy="850392"/>
          </a:xfrm>
          <a:prstGeom prst="rect">
            <a:avLst/>
          </a:prstGeom>
        </p:spPr>
      </p:pic>
      <p:sp>
        <p:nvSpPr>
          <p:cNvPr id="32" name="Several stations before one was proven"/>
          <p:cNvSpPr txBox="1"/>
          <p:nvPr/>
        </p:nvSpPr>
        <p:spPr>
          <a:xfrm>
            <a:off x="7787488" y="5303520"/>
            <a:ext cx="3809848" cy="960120"/>
          </a:xfrm>
          <a:prstGeom prst="rect">
            <a:avLst/>
          </a:prstGeom>
          <a:noFill/>
          <a:ln/>
        </p:spPr>
        <p:txBody>
          <a:bodyPr wrap="square" lIns="0" tIns="0" rIns="0" bIns="0" rtlCol="0" anchor="ctr"/>
          <a:lstStyle/>
          <a:p>
            <a:pPr indent="0" marL="0">
              <a:buNone/>
            </a:pPr>
            <a:r>
              <a:rPr lang="en-US" sz="1600" b="1" dirty="0">
                <a:solidFill>
                  <a:srgbClr val="000000"/>
                </a:solidFill>
                <a:latin typeface="Arial" pitchFamily="34" charset="0"/>
                <a:ea typeface="Arial" pitchFamily="34" charset="-122"/>
                <a:cs typeface="Arial" pitchFamily="34" charset="-120"/>
              </a:rPr>
              <a:t>Several stations before one was proven</a:t>
            </a:r>
            <a:endParaRPr lang="en-US" sz="1600" dirty="0"/>
          </a:p>
          <a:p>
            <a:pPr indent="0" marL="0">
              <a:buNone/>
            </a:pPr>
            <a:r>
              <a:rPr lang="en-US" sz="1400" dirty="0">
                <a:solidFill>
                  <a:srgbClr val="404040"/>
                </a:solidFill>
                <a:latin typeface="Arial" pitchFamily="34" charset="0"/>
                <a:ea typeface="Arial" pitchFamily="34" charset="-122"/>
                <a:cs typeface="Arial" pitchFamily="34" charset="-120"/>
              </a:rPr>
              <a:t>Every fix repeated on each station</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Thorough vs Scrappy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Thorough header"/>
          <p:cNvSpPr/>
          <p:nvPr/>
        </p:nvSpPr>
        <p:spPr>
          <a:xfrm>
            <a:off x="548640" y="1463040"/>
            <a:ext cx="5410048" cy="411480"/>
          </a:xfrm>
          <a:prstGeom prst="rect">
            <a:avLst/>
          </a:prstGeom>
          <a:solidFill>
            <a:srgbClr val="1F3A5F"/>
          </a:solidFill>
          <a:ln w="12700">
            <a:solidFill>
              <a:srgbClr val="1F3A5F"/>
            </a:solidFill>
            <a:prstDash val="solid"/>
          </a:ln>
        </p:spPr>
      </p:sp>
      <p:sp>
        <p:nvSpPr>
          <p:cNvPr id="6" name="label"/>
          <p:cNvSpPr txBox="1"/>
          <p:nvPr/>
        </p:nvSpPr>
        <p:spPr>
          <a:xfrm>
            <a:off x="685800"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Thorough</a:t>
            </a:r>
            <a:endParaRPr lang="en-US" sz="1600" dirty="0"/>
          </a:p>
        </p:txBody>
      </p:sp>
      <p:sp>
        <p:nvSpPr>
          <p:cNvPr id="7" name="Shape 5"/>
          <p:cNvSpPr/>
          <p:nvPr/>
        </p:nvSpPr>
        <p:spPr>
          <a:xfrm>
            <a:off x="548640" y="1965960"/>
            <a:ext cx="5410048" cy="2148840"/>
          </a:xfrm>
          <a:prstGeom prst="rect">
            <a:avLst/>
          </a:prstGeom>
          <a:solidFill>
            <a:srgbClr val="F2F2F2"/>
          </a:solidFill>
          <a:ln w="12700">
            <a:solidFill>
              <a:srgbClr val="F2F2F2"/>
            </a:solidFill>
            <a:prstDash val="solid"/>
          </a:ln>
        </p:spPr>
      </p:sp>
      <p:pic>
        <p:nvPicPr>
          <p:cNvPr id="8" name="Heat fin: mill setup with the shop drawi" descr="Heat fin: mill setup with the shop drawing">    </p:cNvPr>
          <p:cNvPicPr>
            <a:picLocks noChangeAspect="1"/>
          </p:cNvPicPr>
          <p:nvPr/>
        </p:nvPicPr>
        <p:blipFill>
          <a:blip r:embed="rId1"/>
          <a:stretch>
            <a:fillRect/>
          </a:stretch>
        </p:blipFill>
        <p:spPr>
          <a:xfrm>
            <a:off x="2488997" y="2020824"/>
            <a:ext cx="1529334" cy="2039112"/>
          </a:xfrm>
          <a:prstGeom prst="rect">
            <a:avLst/>
          </a:prstGeom>
        </p:spPr>
      </p:pic>
      <p:sp>
        <p:nvSpPr>
          <p:cNvPr id="9" name="Thorough bullets"/>
          <p:cNvSpPr txBox="1"/>
          <p:nvPr/>
        </p:nvSpPr>
        <p:spPr>
          <a:xfrm>
            <a:off x="548640"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Heat fin:</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equations → shop drawing → one mill setup, ±0.1 mm</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Station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schematic checked net by net against the solder</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Gears: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strength checked at servo stall before printing</a:t>
            </a:r>
            <a:endParaRPr lang="en-US" sz="1600" dirty="0"/>
          </a:p>
        </p:txBody>
      </p:sp>
      <p:sp>
        <p:nvSpPr>
          <p:cNvPr id="10" name="Scrappy header"/>
          <p:cNvSpPr/>
          <p:nvPr/>
        </p:nvSpPr>
        <p:spPr>
          <a:xfrm>
            <a:off x="6233008" y="1463040"/>
            <a:ext cx="5410048" cy="411480"/>
          </a:xfrm>
          <a:prstGeom prst="rect">
            <a:avLst/>
          </a:prstGeom>
          <a:solidFill>
            <a:srgbClr val="4F6D8F"/>
          </a:solidFill>
          <a:ln w="12700">
            <a:solidFill>
              <a:srgbClr val="4F6D8F"/>
            </a:solidFill>
            <a:prstDash val="solid"/>
          </a:ln>
        </p:spPr>
      </p:sp>
      <p:sp>
        <p:nvSpPr>
          <p:cNvPr id="11" name="label"/>
          <p:cNvSpPr txBox="1"/>
          <p:nvPr/>
        </p:nvSpPr>
        <p:spPr>
          <a:xfrm>
            <a:off x="6370168" y="1463040"/>
            <a:ext cx="5135728" cy="411480"/>
          </a:xfrm>
          <a:prstGeom prst="rect">
            <a:avLst/>
          </a:prstGeom>
          <a:noFill/>
          <a:ln/>
        </p:spPr>
        <p:txBody>
          <a:bodyPr wrap="square" lIns="0" tIns="0" rIns="0" bIns="0" rtlCol="0" anchor="ctr"/>
          <a:lstStyle/>
          <a:p>
            <a:pPr algn="l" indent="0" marL="0">
              <a:buNone/>
            </a:pPr>
            <a:r>
              <a:rPr lang="en-US" sz="1600" b="1" dirty="0">
                <a:solidFill>
                  <a:srgbClr val="FFFFFF"/>
                </a:solidFill>
                <a:latin typeface="Arial" pitchFamily="34" charset="0"/>
                <a:ea typeface="Arial" pitchFamily="34" charset="-122"/>
                <a:cs typeface="Arial" pitchFamily="34" charset="-120"/>
              </a:rPr>
              <a:t>Scrappy</a:t>
            </a:r>
            <a:endParaRPr lang="en-US" sz="1600" dirty="0"/>
          </a:p>
        </p:txBody>
      </p:sp>
      <p:sp>
        <p:nvSpPr>
          <p:cNvPr id="12" name="Shape 9"/>
          <p:cNvSpPr/>
          <p:nvPr/>
        </p:nvSpPr>
        <p:spPr>
          <a:xfrm>
            <a:off x="6233008" y="1965960"/>
            <a:ext cx="5410048" cy="2148840"/>
          </a:xfrm>
          <a:prstGeom prst="rect">
            <a:avLst/>
          </a:prstGeom>
          <a:solidFill>
            <a:srgbClr val="F2F2F2"/>
          </a:solidFill>
          <a:ln w="12700">
            <a:solidFill>
              <a:srgbClr val="F2F2F2"/>
            </a:solidFill>
            <a:prstDash val="solid"/>
          </a:ln>
        </p:spPr>
      </p:sp>
      <p:pic>
        <p:nvPicPr>
          <p:cNvPr id="13" name="ESP32 DevKit jumpered onto the station b" descr="ESP32 DevKit jumpered onto the station breadboard">    </p:cNvPr>
          <p:cNvPicPr>
            <a:picLocks noChangeAspect="1"/>
          </p:cNvPicPr>
          <p:nvPr/>
        </p:nvPicPr>
        <p:blipFill>
          <a:blip r:embed="rId2"/>
          <a:stretch>
            <a:fillRect/>
          </a:stretch>
        </p:blipFill>
        <p:spPr>
          <a:xfrm>
            <a:off x="7578430" y="2020824"/>
            <a:ext cx="2719204" cy="2039112"/>
          </a:xfrm>
          <a:prstGeom prst="rect">
            <a:avLst/>
          </a:prstGeom>
        </p:spPr>
      </p:pic>
      <p:sp>
        <p:nvSpPr>
          <p:cNvPr id="14" name="Scrappy bullets"/>
          <p:cNvSpPr txBox="1"/>
          <p:nvPr/>
        </p:nvSpPr>
        <p:spPr>
          <a:xfrm>
            <a:off x="6233008" y="4251960"/>
            <a:ext cx="5410048" cy="160020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Fried a controller:</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ESP32 dev board on nine jumpers, same breadboard, same firmware</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Floor board:</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printed tags on paper, 250 mm grid</a:t>
            </a:r>
            <a:endParaRPr lang="en-US" sz="1600" dirty="0"/>
          </a:p>
          <a:p>
            <a:pPr algn="l" marL="254000" indent="-254000">
              <a:spcAft>
                <a:spcPts val="800"/>
              </a:spcAft>
              <a:buSzPct val="100000"/>
              <a:buChar char="•"/>
            </a:pPr>
            <a:r>
              <a:rPr lang="en-US" sz="1600" b="1" dirty="0">
                <a:solidFill>
                  <a:srgbClr val="000000"/>
                </a:solidFill>
                <a:latin typeface="Arial" pitchFamily="34" charset="0"/>
                <a:ea typeface="Arial" pitchFamily="34" charset="-122"/>
                <a:cs typeface="Arial" pitchFamily="34" charset="-120"/>
              </a:rPr>
              <a:t>Three stations</a:t>
            </a:r>
            <a:pPr algn="l" marL="254000" indent="-254000">
              <a:spcAft>
                <a:spcPts val="800"/>
              </a:spcAft>
              <a:buSzPct val="100000"/>
              <a:buChar char="•"/>
            </a:pPr>
            <a:r>
              <a:rPr lang="en-US" sz="1600" dirty="0">
                <a:solidFill>
                  <a:srgbClr val="000000"/>
                </a:solidFill>
                <a:latin typeface="Arial" pitchFamily="34" charset="0"/>
                <a:ea typeface="Arial" pitchFamily="34" charset="-122"/>
                <a:cs typeface="Arial" pitchFamily="34" charset="-120"/>
              </a:rPr>
              <a:t> tested while the fourth is built</a:t>
            </a:r>
            <a:endParaRPr lang="en-US" sz="1600" dirty="0"/>
          </a:p>
        </p:txBody>
      </p:sp>
      <p:sp>
        <p:nvSpPr>
          <p:cNvPr id="15" name="rule box"/>
          <p:cNvSpPr/>
          <p:nvPr/>
        </p:nvSpPr>
        <p:spPr>
          <a:xfrm>
            <a:off x="548640" y="5852160"/>
            <a:ext cx="11094415" cy="438912"/>
          </a:xfrm>
          <a:prstGeom prst="rect">
            <a:avLst/>
          </a:prstGeom>
          <a:solidFill>
            <a:srgbClr val="F2F2F2"/>
          </a:solidFill>
          <a:ln w="12700">
            <a:solidFill>
              <a:srgbClr val="F2F2F2"/>
            </a:solidFill>
            <a:prstDash val="solid"/>
          </a:ln>
        </p:spPr>
      </p:sp>
      <p:sp>
        <p:nvSpPr>
          <p:cNvPr id="16" name="label"/>
          <p:cNvSpPr txBox="1"/>
          <p:nvPr/>
        </p:nvSpPr>
        <p:spPr>
          <a:xfrm>
            <a:off x="685800" y="5852160"/>
            <a:ext cx="10820095" cy="438912"/>
          </a:xfrm>
          <a:prstGeom prst="rect">
            <a:avLst/>
          </a:prstGeom>
          <a:noFill/>
          <a:ln/>
        </p:spPr>
        <p:txBody>
          <a:bodyPr wrap="square" lIns="0" tIns="0" rIns="0" bIns="0" rtlCol="0" anchor="ctr"/>
          <a:lstStyle/>
          <a:p>
            <a:pPr algn="l" indent="0" marL="0">
              <a:buNone/>
            </a:pPr>
            <a:r>
              <a:rPr lang="en-US" sz="1500" b="1" dirty="0">
                <a:solidFill>
                  <a:srgbClr val="000000"/>
                </a:solidFill>
                <a:latin typeface="Arial" pitchFamily="34" charset="0"/>
                <a:ea typeface="Arial" pitchFamily="34" charset="-122"/>
                <a:cs typeface="Arial" pitchFamily="34" charset="-120"/>
              </a:rPr>
              <a:t>My rule:</a:t>
            </a:r>
            <a:pPr algn="l" indent="0" marL="0">
              <a:buNone/>
            </a:pPr>
            <a:r>
              <a:rPr lang="en-US" sz="1500" dirty="0">
                <a:solidFill>
                  <a:srgbClr val="000000"/>
                </a:solidFill>
                <a:latin typeface="Arial" pitchFamily="34" charset="0"/>
                <a:ea typeface="Arial" pitchFamily="34" charset="-122"/>
                <a:cs typeface="Arial" pitchFamily="34" charset="-120"/>
              </a:rPr>
              <a:t> thorough where a mistake is expensive or unsafe; scrappy where it is cheap to undo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spc="100" kern="0" dirty="0">
                <a:solidFill>
                  <a:srgbClr val="A6A6A6"/>
                </a:solidFill>
                <a:latin typeface="Arial" pitchFamily="34" charset="0"/>
                <a:ea typeface="Arial" pitchFamily="34" charset="-122"/>
                <a:cs typeface="Arial" pitchFamily="34" charset="-120"/>
              </a:rPr>
              <a:t>INTRO</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DESIGN</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BUILD</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spc="100" kern="0" dirty="0">
                <a:solidFill>
                  <a:srgbClr val="A6A6A6"/>
                </a:solidFill>
                <a:latin typeface="Arial" pitchFamily="34" charset="0"/>
                <a:ea typeface="Arial" pitchFamily="34" charset="-122"/>
                <a:cs typeface="Arial" pitchFamily="34" charset="-120"/>
              </a:rPr>
              <a:t>TEST</a:t>
            </a:r>
            <a:pPr indent="0" marL="0">
              <a:buNone/>
            </a:pPr>
            <a:r>
              <a:rPr lang="en-US" sz="1100" spc="100" kern="0" dirty="0">
                <a:solidFill>
                  <a:srgbClr val="A6A6A6"/>
                </a:solidFill>
                <a:latin typeface="Arial" pitchFamily="34" charset="0"/>
                <a:ea typeface="Arial" pitchFamily="34" charset="-122"/>
                <a:cs typeface="Arial" pitchFamily="34" charset="-120"/>
              </a:rPr>
              <a:t>   ›   </a:t>
            </a:r>
            <a:pPr indent="0" marL="0">
              <a:buNone/>
            </a:pPr>
            <a:r>
              <a:rPr lang="en-US" sz="1100" b="1" spc="100" kern="0" dirty="0">
                <a:solidFill>
                  <a:srgbClr val="1F3A5F"/>
                </a:solidFill>
                <a:latin typeface="Arial" pitchFamily="34" charset="0"/>
                <a:ea typeface="Arial" pitchFamily="34" charset="-122"/>
                <a:cs typeface="Arial" pitchFamily="34" charset="-120"/>
              </a:rPr>
              <a:t>LESSONS</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Lessons Learned</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label"/>
          <p:cNvSpPr txBox="1"/>
          <p:nvPr/>
        </p:nvSpPr>
        <p:spPr>
          <a:xfrm>
            <a:off x="548640"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Do differently</a:t>
            </a:r>
            <a:endParaRPr lang="en-US" sz="1800" dirty="0"/>
          </a:p>
        </p:txBody>
      </p:sp>
      <p:sp>
        <p:nvSpPr>
          <p:cNvPr id="6" name="do differently"/>
          <p:cNvSpPr txBox="1"/>
          <p:nvPr/>
        </p:nvSpPr>
        <p:spPr>
          <a:xfrm>
            <a:off x="548640"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Weigh early:</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set the claw mass budget from the winch pull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Coupons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print the fit before the part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station first: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prove it fully, then copy it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Meter before code: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check every supply rail first</a:t>
            </a:r>
            <a:endParaRPr lang="en-US" sz="1700" dirty="0"/>
          </a:p>
        </p:txBody>
      </p:sp>
      <p:sp>
        <p:nvSpPr>
          <p:cNvPr id="7" name="label"/>
          <p:cNvSpPr txBox="1"/>
          <p:nvPr/>
        </p:nvSpPr>
        <p:spPr>
          <a:xfrm>
            <a:off x="6278728" y="1417320"/>
            <a:ext cx="5364328" cy="365760"/>
          </a:xfrm>
          <a:prstGeom prst="rect">
            <a:avLst/>
          </a:prstGeom>
          <a:noFill/>
          <a:ln/>
        </p:spPr>
        <p:txBody>
          <a:bodyPr wrap="square" lIns="0" tIns="0" rIns="0" bIns="0" rtlCol="0" anchor="ctr"/>
          <a:lstStyle/>
          <a:p>
            <a:pPr algn="l" indent="0" marL="0">
              <a:buNone/>
            </a:pPr>
            <a:r>
              <a:rPr lang="en-US" sz="1800" b="1" dirty="0">
                <a:solidFill>
                  <a:srgbClr val="1F3A5F"/>
                </a:solidFill>
                <a:latin typeface="Arial" pitchFamily="34" charset="0"/>
                <a:ea typeface="Arial" pitchFamily="34" charset="-122"/>
                <a:cs typeface="Arial" pitchFamily="34" charset="-120"/>
              </a:rPr>
              <a:t>In half the time</a:t>
            </a:r>
            <a:endParaRPr lang="en-US" sz="1800" dirty="0"/>
          </a:p>
        </p:txBody>
      </p:sp>
      <p:sp>
        <p:nvSpPr>
          <p:cNvPr id="8" name="half the time"/>
          <p:cNvSpPr txBox="1"/>
          <p:nvPr/>
        </p:nvSpPr>
        <p:spPr>
          <a:xfrm>
            <a:off x="6278728" y="1828800"/>
            <a:ext cx="5364328" cy="24688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Freeze</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requirements, mass budget and pass limits in week 1</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Order long-lead parts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at once: pulleys, couplers, spare boards</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Start with three stations:</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fewest cables that hold a point</a:t>
            </a:r>
            <a:endParaRPr lang="en-US" sz="1700" dirty="0"/>
          </a:p>
          <a:p>
            <a:pPr algn="l" marL="254000" indent="-254000">
              <a:spcAft>
                <a:spcPts val="800"/>
              </a:spcAft>
              <a:buSzPct val="100000"/>
              <a:buChar char="•"/>
            </a:pPr>
            <a:r>
              <a:rPr lang="en-US" sz="1700" b="1" dirty="0">
                <a:solidFill>
                  <a:srgbClr val="000000"/>
                </a:solidFill>
                <a:latin typeface="Arial" pitchFamily="34" charset="0"/>
                <a:ea typeface="Arial" pitchFamily="34" charset="-122"/>
                <a:cs typeface="Arial" pitchFamily="34" charset="-120"/>
              </a:rPr>
              <a:t>One generation per part,</a:t>
            </a:r>
            <a:pPr algn="l" marL="254000" indent="-254000">
              <a:spcAft>
                <a:spcPts val="800"/>
              </a:spcAft>
              <a:buSzPct val="100000"/>
              <a:buChar char="•"/>
            </a:pPr>
            <a:r>
              <a:rPr lang="en-US" sz="1700" dirty="0">
                <a:solidFill>
                  <a:srgbClr val="000000"/>
                </a:solidFill>
                <a:latin typeface="Arial" pitchFamily="34" charset="0"/>
                <a:ea typeface="Arial" pitchFamily="34" charset="-122"/>
                <a:cs typeface="Arial" pitchFamily="34" charset="-120"/>
              </a:rPr>
              <a:t> each closed by a test</a:t>
            </a:r>
            <a:endParaRPr lang="en-US" sz="1700" dirty="0"/>
          </a:p>
        </p:txBody>
      </p:sp>
      <p:sp>
        <p:nvSpPr>
          <p:cNvPr id="9" name="label"/>
          <p:cNvSpPr txBox="1"/>
          <p:nvPr/>
        </p:nvSpPr>
        <p:spPr>
          <a:xfrm>
            <a:off x="548640" y="4434840"/>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10" name="Concept"/>
          <p:cNvSpPr/>
          <p:nvPr/>
        </p:nvSpPr>
        <p:spPr>
          <a:xfrm>
            <a:off x="1874520" y="4434840"/>
            <a:ext cx="1972493" cy="566928"/>
          </a:xfrm>
          <a:prstGeom prst="rect">
            <a:avLst/>
          </a:prstGeom>
          <a:solidFill>
            <a:srgbClr val="D9DEE5"/>
          </a:solidFill>
          <a:ln w="19050">
            <a:solidFill>
              <a:srgbClr val="FFFFFF"/>
            </a:solidFill>
            <a:prstDash val="solid"/>
          </a:ln>
        </p:spPr>
      </p:sp>
      <p:sp>
        <p:nvSpPr>
          <p:cNvPr id="11" name="label"/>
          <p:cNvSpPr txBox="1"/>
          <p:nvPr/>
        </p:nvSpPr>
        <p:spPr>
          <a:xfrm>
            <a:off x="1911096" y="4434840"/>
            <a:ext cx="1899341"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12" name="Gen 1"/>
          <p:cNvSpPr/>
          <p:nvPr/>
        </p:nvSpPr>
        <p:spPr>
          <a:xfrm>
            <a:off x="3847013" y="4434840"/>
            <a:ext cx="2629990" cy="566928"/>
          </a:xfrm>
          <a:prstGeom prst="rect">
            <a:avLst/>
          </a:prstGeom>
          <a:solidFill>
            <a:srgbClr val="4F6D8F"/>
          </a:solidFill>
          <a:ln w="19050">
            <a:solidFill>
              <a:srgbClr val="FFFFFF"/>
            </a:solidFill>
            <a:prstDash val="solid"/>
          </a:ln>
        </p:spPr>
      </p:sp>
      <p:sp>
        <p:nvSpPr>
          <p:cNvPr id="13" name="label"/>
          <p:cNvSpPr txBox="1"/>
          <p:nvPr/>
        </p:nvSpPr>
        <p:spPr>
          <a:xfrm>
            <a:off x="3883589" y="4434840"/>
            <a:ext cx="2556838"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14" name="Rethink"/>
          <p:cNvSpPr/>
          <p:nvPr/>
        </p:nvSpPr>
        <p:spPr>
          <a:xfrm>
            <a:off x="6477003" y="4434840"/>
            <a:ext cx="3193560" cy="566928"/>
          </a:xfrm>
          <a:prstGeom prst="rect">
            <a:avLst/>
          </a:prstGeom>
          <a:solidFill>
            <a:srgbClr val="D9DEE5"/>
          </a:solidFill>
          <a:ln w="19050">
            <a:solidFill>
              <a:srgbClr val="FFFFFF"/>
            </a:solidFill>
            <a:prstDash val="solid"/>
          </a:ln>
        </p:spPr>
      </p:sp>
      <p:sp>
        <p:nvSpPr>
          <p:cNvPr id="15" name="label"/>
          <p:cNvSpPr txBox="1"/>
          <p:nvPr/>
        </p:nvSpPr>
        <p:spPr>
          <a:xfrm>
            <a:off x="6513579" y="4434840"/>
            <a:ext cx="3120408" cy="566928"/>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Rethink</a:t>
            </a:r>
            <a:endParaRPr lang="en-US" sz="1200" dirty="0"/>
          </a:p>
        </p:txBody>
      </p:sp>
      <p:sp>
        <p:nvSpPr>
          <p:cNvPr id="16" name="Gen 2 → final"/>
          <p:cNvSpPr/>
          <p:nvPr/>
        </p:nvSpPr>
        <p:spPr>
          <a:xfrm>
            <a:off x="9670563" y="4434840"/>
            <a:ext cx="1408923" cy="566928"/>
          </a:xfrm>
          <a:prstGeom prst="rect">
            <a:avLst/>
          </a:prstGeom>
          <a:solidFill>
            <a:srgbClr val="4F6D8F"/>
          </a:solidFill>
          <a:ln w="19050">
            <a:solidFill>
              <a:srgbClr val="FFFFFF"/>
            </a:solidFill>
            <a:prstDash val="solid"/>
          </a:ln>
        </p:spPr>
      </p:sp>
      <p:sp>
        <p:nvSpPr>
          <p:cNvPr id="17" name="label"/>
          <p:cNvSpPr txBox="1"/>
          <p:nvPr/>
        </p:nvSpPr>
        <p:spPr>
          <a:xfrm>
            <a:off x="9707139" y="4434840"/>
            <a:ext cx="1335771"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2 → final</a:t>
            </a:r>
            <a:endParaRPr lang="en-US" sz="1200" dirty="0"/>
          </a:p>
        </p:txBody>
      </p:sp>
      <p:sp>
        <p:nvSpPr>
          <p:cNvPr id="18" name="Build, test"/>
          <p:cNvSpPr/>
          <p:nvPr/>
        </p:nvSpPr>
        <p:spPr>
          <a:xfrm>
            <a:off x="11079486" y="4434840"/>
            <a:ext cx="563569" cy="566928"/>
          </a:xfrm>
          <a:prstGeom prst="rect">
            <a:avLst/>
          </a:prstGeom>
          <a:solidFill>
            <a:srgbClr val="1F3A5F"/>
          </a:solidFill>
          <a:ln w="19050">
            <a:solidFill>
              <a:srgbClr val="FFFFFF"/>
            </a:solidFill>
            <a:prstDash val="solid"/>
          </a:ln>
        </p:spPr>
      </p:sp>
      <p:sp>
        <p:nvSpPr>
          <p:cNvPr id="19" name="label"/>
          <p:cNvSpPr txBox="1"/>
          <p:nvPr/>
        </p:nvSpPr>
        <p:spPr>
          <a:xfrm>
            <a:off x="11116062" y="4434840"/>
            <a:ext cx="490417"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Build, test</a:t>
            </a:r>
            <a:endParaRPr lang="en-US" sz="1000" dirty="0"/>
          </a:p>
        </p:txBody>
      </p:sp>
      <p:sp>
        <p:nvSpPr>
          <p:cNvPr id="20" name="label"/>
          <p:cNvSpPr txBox="1"/>
          <p:nvPr/>
        </p:nvSpPr>
        <p:spPr>
          <a:xfrm>
            <a:off x="548640" y="5321808"/>
            <a:ext cx="1234440" cy="566928"/>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21" name="Plan"/>
          <p:cNvSpPr/>
          <p:nvPr/>
        </p:nvSpPr>
        <p:spPr>
          <a:xfrm>
            <a:off x="1874520" y="5321808"/>
            <a:ext cx="657498" cy="566928"/>
          </a:xfrm>
          <a:prstGeom prst="rect">
            <a:avLst/>
          </a:prstGeom>
          <a:solidFill>
            <a:srgbClr val="D9DEE5"/>
          </a:solidFill>
          <a:ln w="19050">
            <a:solidFill>
              <a:srgbClr val="FFFFFF"/>
            </a:solidFill>
            <a:prstDash val="solid"/>
          </a:ln>
        </p:spPr>
      </p:sp>
      <p:sp>
        <p:nvSpPr>
          <p:cNvPr id="22" name="label"/>
          <p:cNvSpPr txBox="1"/>
          <p:nvPr/>
        </p:nvSpPr>
        <p:spPr>
          <a:xfrm>
            <a:off x="1911096"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Plan</a:t>
            </a:r>
            <a:endParaRPr lang="en-US" sz="1000" dirty="0"/>
          </a:p>
        </p:txBody>
      </p:sp>
      <p:sp>
        <p:nvSpPr>
          <p:cNvPr id="23" name="One full station + tests"/>
          <p:cNvSpPr/>
          <p:nvPr/>
        </p:nvSpPr>
        <p:spPr>
          <a:xfrm>
            <a:off x="2532018" y="5321808"/>
            <a:ext cx="1314995" cy="566928"/>
          </a:xfrm>
          <a:prstGeom prst="rect">
            <a:avLst/>
          </a:prstGeom>
          <a:solidFill>
            <a:srgbClr val="4F6D8F"/>
          </a:solidFill>
          <a:ln w="19050">
            <a:solidFill>
              <a:srgbClr val="FFFFFF"/>
            </a:solidFill>
            <a:prstDash val="solid"/>
          </a:ln>
        </p:spPr>
      </p:sp>
      <p:sp>
        <p:nvSpPr>
          <p:cNvPr id="24" name="label"/>
          <p:cNvSpPr txBox="1"/>
          <p:nvPr/>
        </p:nvSpPr>
        <p:spPr>
          <a:xfrm>
            <a:off x="2568594"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One full station + tests</a:t>
            </a:r>
            <a:endParaRPr lang="en-US" sz="1200" dirty="0"/>
          </a:p>
        </p:txBody>
      </p:sp>
      <p:sp>
        <p:nvSpPr>
          <p:cNvPr id="25" name="Copy"/>
          <p:cNvSpPr/>
          <p:nvPr/>
        </p:nvSpPr>
        <p:spPr>
          <a:xfrm>
            <a:off x="3847013" y="5321808"/>
            <a:ext cx="657498" cy="566928"/>
          </a:xfrm>
          <a:prstGeom prst="rect">
            <a:avLst/>
          </a:prstGeom>
          <a:solidFill>
            <a:srgbClr val="D9DEE5"/>
          </a:solidFill>
          <a:ln w="19050">
            <a:solidFill>
              <a:srgbClr val="FFFFFF"/>
            </a:solidFill>
            <a:prstDash val="solid"/>
          </a:ln>
        </p:spPr>
      </p:sp>
      <p:sp>
        <p:nvSpPr>
          <p:cNvPr id="26" name="label"/>
          <p:cNvSpPr txBox="1"/>
          <p:nvPr/>
        </p:nvSpPr>
        <p:spPr>
          <a:xfrm>
            <a:off x="3883589" y="5321808"/>
            <a:ext cx="584346" cy="566928"/>
          </a:xfrm>
          <a:prstGeom prst="rect">
            <a:avLst/>
          </a:prstGeom>
          <a:noFill/>
          <a:ln/>
        </p:spPr>
        <p:txBody>
          <a:bodyPr wrap="square" lIns="0" tIns="0" rIns="0" bIns="0" rtlCol="0" anchor="ctr"/>
          <a:lstStyle/>
          <a:p>
            <a:pPr algn="ctr" indent="0" marL="0">
              <a:buNone/>
            </a:pPr>
            <a:r>
              <a:rPr lang="en-US" sz="1000" b="1" dirty="0">
                <a:solidFill>
                  <a:srgbClr val="1F3A5F"/>
                </a:solidFill>
                <a:latin typeface="Arial" pitchFamily="34" charset="0"/>
                <a:ea typeface="Arial" pitchFamily="34" charset="-122"/>
                <a:cs typeface="Arial" pitchFamily="34" charset="-120"/>
              </a:rPr>
              <a:t>Copy</a:t>
            </a:r>
            <a:endParaRPr lang="en-US" sz="1000" dirty="0"/>
          </a:p>
        </p:txBody>
      </p:sp>
      <p:sp>
        <p:nvSpPr>
          <p:cNvPr id="27" name="Claw, coupons first"/>
          <p:cNvSpPr/>
          <p:nvPr/>
        </p:nvSpPr>
        <p:spPr>
          <a:xfrm>
            <a:off x="4504510" y="5321808"/>
            <a:ext cx="1314995" cy="566928"/>
          </a:xfrm>
          <a:prstGeom prst="rect">
            <a:avLst/>
          </a:prstGeom>
          <a:solidFill>
            <a:srgbClr val="4F6D8F"/>
          </a:solidFill>
          <a:ln w="19050">
            <a:solidFill>
              <a:srgbClr val="FFFFFF"/>
            </a:solidFill>
            <a:prstDash val="solid"/>
          </a:ln>
        </p:spPr>
      </p:sp>
      <p:sp>
        <p:nvSpPr>
          <p:cNvPr id="28" name="label"/>
          <p:cNvSpPr txBox="1"/>
          <p:nvPr/>
        </p:nvSpPr>
        <p:spPr>
          <a:xfrm>
            <a:off x="4541086" y="5321808"/>
            <a:ext cx="1241843" cy="56692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Claw, coupons first</a:t>
            </a:r>
            <a:endParaRPr lang="en-US" sz="1200" dirty="0"/>
          </a:p>
        </p:txBody>
      </p:sp>
      <p:sp>
        <p:nvSpPr>
          <p:cNvPr id="29" name="Test"/>
          <p:cNvSpPr/>
          <p:nvPr/>
        </p:nvSpPr>
        <p:spPr>
          <a:xfrm>
            <a:off x="5819505" y="5321808"/>
            <a:ext cx="657498" cy="566928"/>
          </a:xfrm>
          <a:prstGeom prst="rect">
            <a:avLst/>
          </a:prstGeom>
          <a:solidFill>
            <a:srgbClr val="1F3A5F"/>
          </a:solidFill>
          <a:ln w="19050">
            <a:solidFill>
              <a:srgbClr val="FFFFFF"/>
            </a:solidFill>
            <a:prstDash val="solid"/>
          </a:ln>
        </p:spPr>
      </p:sp>
      <p:sp>
        <p:nvSpPr>
          <p:cNvPr id="30" name="label"/>
          <p:cNvSpPr txBox="1"/>
          <p:nvPr/>
        </p:nvSpPr>
        <p:spPr>
          <a:xfrm>
            <a:off x="5856081" y="5321808"/>
            <a:ext cx="584346" cy="56692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Test</a:t>
            </a:r>
            <a:endParaRPr lang="en-US" sz="1000" dirty="0"/>
          </a:p>
        </p:txBody>
      </p:sp>
      <p:sp>
        <p:nvSpPr>
          <p:cNvPr id="31" name="caption"/>
          <p:cNvSpPr txBox="1"/>
          <p:nvPr/>
        </p:nvSpPr>
        <p:spPr>
          <a:xfrm>
            <a:off x="1874520" y="5952744"/>
            <a:ext cx="9768535"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scale. Actual: Jul 16 to Oct 27. The half-time plan proves one station before copying it.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256032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Questions</a:t>
            </a:r>
            <a:endParaRPr lang="en-US" sz="4800" dirty="0"/>
          </a:p>
        </p:txBody>
      </p:sp>
      <p:sp>
        <p:nvSpPr>
          <p:cNvPr id="3" name="Text 1"/>
          <p:cNvSpPr txBox="1"/>
          <p:nvPr/>
        </p:nvSpPr>
        <p:spPr>
          <a:xfrm>
            <a:off x="548640" y="3566160"/>
            <a:ext cx="10058400" cy="548640"/>
          </a:xfrm>
          <a:prstGeom prst="rect">
            <a:avLst/>
          </a:prstGeom>
          <a:noFill/>
          <a:ln/>
        </p:spPr>
        <p:txBody>
          <a:bodyPr wrap="square" lIns="0" tIns="0" rIns="0" bIns="0" rtlCol="0" anchor="ctr"/>
          <a:lstStyle/>
          <a:p>
            <a:pPr indent="0" marL="0">
              <a:buNone/>
            </a:pPr>
            <a:r>
              <a:rPr lang="en-US" sz="2000" dirty="0">
                <a:solidFill>
                  <a:srgbClr val="D9DEE5"/>
                </a:solidFill>
                <a:latin typeface="Arial" pitchFamily="34" charset="0"/>
                <a:ea typeface="Arial" pitchFamily="34" charset="-122"/>
                <a:cs typeface="Arial" pitchFamily="34" charset="-120"/>
              </a:rPr>
              <a:t>Jasper Buntinx  ·  jasper_buntinx@tamu.edu</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Where It Stands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25" name="table"/>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3550213"/>
                <a:gridCol w="3993989"/>
                <a:gridCol w="3550213"/>
              </a:tblGrid>
              <a:tr h="512064">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Part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Status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Next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Wall stations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bench-commissioned </a:t>
                      </a:r>
                      <a:pPr indent="0" marL="0">
                        <a:buNone/>
                      </a:pPr>
                      <a:r>
                        <a:rPr lang="en-US" sz="1300" i="1" dirty="0">
                          <a:solidFill>
                            <a:srgbClr val="B23A2E"/>
                          </a:solidFill>
                          <a:latin typeface="Arial" pitchFamily="34" charset="0"/>
                          <a:ea typeface="Arial" pitchFamily="34" charset="-122"/>
                          <a:cs typeface="Arial" pitchFamily="34" charset="-120"/>
                        </a:rPr>
                        <a:t>[how many]</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Three-station test, then the fourth</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Station electronics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drivers at 1.5 A </a:t>
                      </a:r>
                      <a:pPr indent="0" marL="0">
                        <a:buNone/>
                      </a:pPr>
                      <a:r>
                        <a:rPr lang="en-US" sz="1300" i="1" dirty="0">
                          <a:solidFill>
                            <a:srgbClr val="B23A2E"/>
                          </a:solidFill>
                          <a:latin typeface="Arial" pitchFamily="34" charset="0"/>
                          <a:ea typeface="Arial" pitchFamily="34" charset="-122"/>
                          <a:cs typeface="Arial" pitchFamily="34" charset="-120"/>
                        </a:rPr>
                        <a:t>[how: Vref reading]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90-minute hold test at 1.5 A</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Heat fin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 (sheared and milled)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Hold test with and without the fin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Thermal model of the station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Hand calc at 1.5 A; SolidWorks study set up</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Run it; then the hold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body: tube, mount, servo, gears</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Built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Weigh it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Claw hands, camera housing, encoder casing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Checked in CAD; printing</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Fit checks on the first print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Calibration and control software</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Simulated end to end</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First hardware run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12064">
                <a:tc>
                  <a:txBody>
                    <a:bodyPr/>
                    <a:lstStyle/>
                    <a:p>
                      <a:pPr indent="0" marL="0">
                        <a:buNone/>
                      </a:pPr>
                      <a:r>
                        <a:rPr lang="en-US" sz="1300" b="1" dirty="0">
                          <a:solidFill>
                            <a:srgbClr val="000000"/>
                          </a:solidFill>
                          <a:latin typeface="Arial" pitchFamily="34" charset="0"/>
                          <a:ea typeface="Arial" pitchFamily="34" charset="-122"/>
                          <a:cs typeface="Arial" pitchFamily="34" charset="-120"/>
                        </a:rPr>
                        <a:t>Winch pull</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Calculated at 1.5 A: 25–34 N</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000000"/>
                          </a:solidFill>
                          <a:latin typeface="Arial" pitchFamily="34" charset="0"/>
                          <a:ea typeface="Arial" pitchFamily="34" charset="-122"/>
                          <a:cs typeface="Arial" pitchFamily="34" charset="-120"/>
                        </a:rPr>
                        <a:t>Luggage-scale pull test</a:t>
                      </a:r>
                      <a:endParaRPr lang="en-US" sz="13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Fin Length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35584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far end runs cooler, so each extra millimetre does less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0.019 in sheet (built):</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of the heat by 136 mm</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1/8 in plate (first drawing):</a:t>
            </a:r>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 95 % by 349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Built 200 mm: past 136 mm the sheet adds under 5 %</a:t>
            </a:r>
            <a:endParaRPr lang="en-US" sz="2000" dirty="0"/>
          </a:p>
        </p:txBody>
      </p:sp>
      <p:sp>
        <p:nvSpPr>
          <p:cNvPr id="8" name="equation box"/>
          <p:cNvSpPr/>
          <p:nvPr/>
        </p:nvSpPr>
        <p:spPr>
          <a:xfrm>
            <a:off x="548640" y="5001768"/>
            <a:ext cx="4920551" cy="1261872"/>
          </a:xfrm>
          <a:prstGeom prst="rect">
            <a:avLst/>
          </a:prstGeom>
          <a:solidFill>
            <a:srgbClr val="F2F2F2"/>
          </a:solidFill>
          <a:ln w="6350">
            <a:solidFill>
              <a:srgbClr val="F2F2F2"/>
            </a:solidFill>
            <a:prstDash val="solid"/>
          </a:ln>
        </p:spPr>
      </p:sp>
      <p:sp>
        <p:nvSpPr>
          <p:cNvPr id="9" name="equation label"/>
          <p:cNvSpPr txBox="1"/>
          <p:nvPr/>
        </p:nvSpPr>
        <p:spPr>
          <a:xfrm>
            <a:off x="713232" y="508406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330952"/>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 = √(2h / (k t)),   η = tanh(mL) / (mL)</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k = 160 W/m·K, h = 7 W/m²·K, t = 0.48 mm </a:t>
            </a:r>
            <a:pPr algn="l" indent="0" marL="0">
              <a:spcAft>
                <a:spcPts val="400"/>
              </a:spcAft>
              <a:buNone/>
            </a:pPr>
            <a:r>
              <a:rPr lang="en-US" sz="1500" dirty="0">
                <a:solidFill>
                  <a:srgbClr val="000000"/>
                </a:solidFill>
                <a:latin typeface="Arial" pitchFamily="34" charset="0"/>
                <a:ea typeface="Arial" pitchFamily="34" charset="-122"/>
                <a:cs typeface="Arial" pitchFamily="34" charset="-120"/>
              </a:rPr>
              <a: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95</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136 mm</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Incropera et al., Fundamentals of Heat and Mass Transfer, ch. 3</a:t>
            </a:r>
            <a:endParaRPr lang="en-US" sz="1050" dirty="0"/>
          </a:p>
        </p:txBody>
      </p:sp>
      <p:pic>
        <p:nvPicPr>
          <p:cNvPr id="12" name="Chart from the calculation sheet: Heat f" descr="Chart from the calculation sheet: Heat fin">    </p:cNvPr>
          <p:cNvPicPr>
            <a:picLocks noChangeAspect="1"/>
          </p:cNvPicPr>
          <p:nvPr/>
        </p:nvPicPr>
        <p:blipFill>
          <a:blip r:embed="rId1"/>
          <a:stretch>
            <a:fillRect/>
          </a:stretch>
        </p:blipFill>
        <p:spPr>
          <a:xfrm>
            <a:off x="5880671" y="1554480"/>
            <a:ext cx="5762384" cy="3959875"/>
          </a:xfrm>
          <a:prstGeom prst="rect">
            <a:avLst/>
          </a:prstGeom>
        </p:spPr>
      </p:pic>
      <p:sp>
        <p:nvSpPr>
          <p:cNvPr id="13" name="chart frame"/>
          <p:cNvSpPr/>
          <p:nvPr/>
        </p:nvSpPr>
        <p:spPr>
          <a:xfrm>
            <a:off x="5880671" y="1554480"/>
            <a:ext cx="5762384" cy="3959875"/>
          </a:xfrm>
          <a:prstGeom prst="rect">
            <a:avLst/>
          </a:prstGeom>
          <a:ln w="9525">
            <a:solidFill>
              <a:srgbClr val="BFBFBF"/>
            </a:solidFill>
            <a:prstDash val="solid"/>
          </a:ln>
        </p:spPr>
      </p:sp>
      <p:sp>
        <p:nvSpPr>
          <p:cNvPr id="14" name="caption"/>
          <p:cNvSpPr txBox="1"/>
          <p:nvPr/>
        </p:nvSpPr>
        <p:spPr>
          <a:xfrm>
            <a:off x="5880671" y="5587507"/>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“Heat fin”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Floor Board Accuracy</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904488"/>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Angle error becomes position error through the lever arm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tag: 12.9 mrad × 0.51 m ≈ 6.6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Four tags in view: about 0.7 mm</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Averaging frames removes noise, not a fixed bias</a:t>
            </a:r>
            <a:endParaRPr lang="en-US" sz="2000" dirty="0"/>
          </a:p>
        </p:txBody>
      </p:sp>
      <p:sp>
        <p:nvSpPr>
          <p:cNvPr id="8" name="equation box"/>
          <p:cNvSpPr/>
          <p:nvPr/>
        </p:nvSpPr>
        <p:spPr>
          <a:xfrm>
            <a:off x="548640" y="5550408"/>
            <a:ext cx="4920551" cy="713232"/>
          </a:xfrm>
          <a:prstGeom prst="rect">
            <a:avLst/>
          </a:prstGeom>
          <a:solidFill>
            <a:srgbClr val="F2F2F2"/>
          </a:solidFill>
          <a:ln w="6350">
            <a:solidFill>
              <a:srgbClr val="F2F2F2"/>
            </a:solidFill>
            <a:prstDash val="solid"/>
          </a:ln>
        </p:spPr>
      </p:sp>
      <p:sp>
        <p:nvSpPr>
          <p:cNvPr id="9" name="equation label"/>
          <p:cNvSpPr txBox="1"/>
          <p:nvPr/>
        </p:nvSpPr>
        <p:spPr>
          <a:xfrm>
            <a:off x="713232" y="5632704"/>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879592"/>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δx = σ_θ · L = 12.9 mrad × 0.51 m = 6.6 mm</a:t>
            </a:r>
            <a:endParaRPr lang="en-US" sz="1500" dirty="0"/>
          </a:p>
        </p:txBody>
      </p:sp>
      <p:pic>
        <p:nvPicPr>
          <p:cNvPr id="11" name="Chart from the calculation sheet: Floor " descr="Chart from the calculation sheet: Floor board">    </p:cNvPr>
          <p:cNvPicPr>
            <a:picLocks noChangeAspect="1"/>
          </p:cNvPicPr>
          <p:nvPr/>
        </p:nvPicPr>
        <p:blipFill>
          <a:blip r:embed="rId1"/>
          <a:stretch>
            <a:fillRect/>
          </a:stretch>
        </p:blipFill>
        <p:spPr>
          <a:xfrm>
            <a:off x="5880671" y="1554480"/>
            <a:ext cx="5762384" cy="3966013"/>
          </a:xfrm>
          <a:prstGeom prst="rect">
            <a:avLst/>
          </a:prstGeom>
        </p:spPr>
      </p:pic>
      <p:sp>
        <p:nvSpPr>
          <p:cNvPr id="12" name="chart frame"/>
          <p:cNvSpPr/>
          <p:nvPr/>
        </p:nvSpPr>
        <p:spPr>
          <a:xfrm>
            <a:off x="5880671" y="1554480"/>
            <a:ext cx="5762384" cy="3966013"/>
          </a:xfrm>
          <a:prstGeom prst="rect">
            <a:avLst/>
          </a:prstGeom>
          <a:ln w="9525">
            <a:solidFill>
              <a:srgbClr val="BFBFBF"/>
            </a:solidFill>
            <a:prstDash val="solid"/>
          </a:ln>
        </p:spPr>
      </p:sp>
      <p:sp>
        <p:nvSpPr>
          <p:cNvPr id="13" name="caption"/>
          <p:cNvSpPr txBox="1"/>
          <p:nvPr/>
        </p:nvSpPr>
        <p:spPr>
          <a:xfrm>
            <a:off x="5880671" y="5593645"/>
            <a:ext cx="5762384"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“Floor board” tab. Calculated, not measured.</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Startup Calibration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593592"/>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tape measure; nothing typed in</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Least-squares fit of anchor positions and cable zero lengths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Held-out poses check the fit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Full room only if the error bars fit inside the margin</a:t>
            </a:r>
            <a:endParaRPr lang="en-US" sz="2000" dirty="0"/>
          </a:p>
        </p:txBody>
      </p:sp>
      <p:sp>
        <p:nvSpPr>
          <p:cNvPr id="8" name="equation box"/>
          <p:cNvSpPr/>
          <p:nvPr/>
        </p:nvSpPr>
        <p:spPr>
          <a:xfrm>
            <a:off x="548640" y="5239512"/>
            <a:ext cx="4920551" cy="1024128"/>
          </a:xfrm>
          <a:prstGeom prst="rect">
            <a:avLst/>
          </a:prstGeom>
          <a:solidFill>
            <a:srgbClr val="F2F2F2"/>
          </a:solidFill>
          <a:ln w="6350">
            <a:solidFill>
              <a:srgbClr val="F2F2F2"/>
            </a:solidFill>
            <a:prstDash val="solid"/>
          </a:ln>
        </p:spPr>
      </p:sp>
      <p:sp>
        <p:nvSpPr>
          <p:cNvPr id="9" name="equation label"/>
          <p:cNvSpPr txBox="1"/>
          <p:nvPr/>
        </p:nvSpPr>
        <p:spPr>
          <a:xfrm>
            <a:off x="713232" y="5321808"/>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568696"/>
            <a:ext cx="4591367" cy="640080"/>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min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L</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i0</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d</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a</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i</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a:t>
            </a:r>
            <a:pPr algn="l" indent="0" marL="0">
              <a:spcAft>
                <a:spcPts val="400"/>
              </a:spcAft>
              <a:buNone/>
            </a:pPr>
            <a:r>
              <a:rPr lang="en-US" sz="1500" b="1" dirty="0">
                <a:solidFill>
                  <a:srgbClr val="000000"/>
                </a:solidFill>
                <a:latin typeface="Cambria" pitchFamily="34" charset="0"/>
                <a:ea typeface="Cambria" pitchFamily="34" charset="-122"/>
                <a:cs typeface="Cambria" pitchFamily="34" charset="-120"/>
              </a:rPr>
              <a:t>p</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k</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)²</a:t>
            </a:r>
            <a:endParaRPr lang="en-US" sz="1500" dirty="0"/>
          </a:p>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Full room only if k · σ ≤ margin</a:t>
            </a:r>
            <a:endParaRPr lang="en-US" sz="1500" dirty="0"/>
          </a:p>
        </p:txBody>
      </p:sp>
      <p:sp>
        <p:nvSpPr>
          <p:cNvPr id="11" name="calibration step 1"/>
          <p:cNvSpPr/>
          <p:nvPr/>
        </p:nvSpPr>
        <p:spPr>
          <a:xfrm>
            <a:off x="5880671" y="1737360"/>
            <a:ext cx="1713531" cy="1399032"/>
          </a:xfrm>
          <a:prstGeom prst="roundRect">
            <a:avLst>
              <a:gd name="adj" fmla="val 5229"/>
            </a:avLst>
          </a:prstGeom>
          <a:solidFill>
            <a:srgbClr val="FFFFFF"/>
          </a:solidFill>
          <a:ln w="15875">
            <a:solidFill>
              <a:srgbClr val="1F3A5F"/>
            </a:solidFill>
            <a:prstDash val="solid"/>
          </a:ln>
        </p:spPr>
      </p:sp>
      <p:sp>
        <p:nvSpPr>
          <p:cNvPr id="12" name="Text 10"/>
          <p:cNvSpPr txBox="1"/>
          <p:nvPr/>
        </p:nvSpPr>
        <p:spPr>
          <a:xfrm>
            <a:off x="5953823"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1  </a:t>
            </a:r>
            <a:pPr algn="ctr" indent="0" marL="0">
              <a:buNone/>
            </a:pPr>
            <a:r>
              <a:rPr lang="en-US" sz="1400" dirty="0">
                <a:solidFill>
                  <a:srgbClr val="000000"/>
                </a:solidFill>
                <a:latin typeface="Arial" pitchFamily="34" charset="0"/>
                <a:ea typeface="Arial" pitchFamily="34" charset="-122"/>
                <a:cs typeface="Arial" pitchFamily="34" charset="-120"/>
              </a:rPr>
              <a:t>Take up slack, one cable at a time</a:t>
            </a:r>
            <a:endParaRPr lang="en-US" sz="1400" dirty="0"/>
          </a:p>
        </p:txBody>
      </p:sp>
      <p:sp>
        <p:nvSpPr>
          <p:cNvPr id="13" name="calibration step 2"/>
          <p:cNvSpPr/>
          <p:nvPr/>
        </p:nvSpPr>
        <p:spPr>
          <a:xfrm>
            <a:off x="7905098" y="1737360"/>
            <a:ext cx="1713531" cy="1399032"/>
          </a:xfrm>
          <a:prstGeom prst="roundRect">
            <a:avLst>
              <a:gd name="adj" fmla="val 5229"/>
            </a:avLst>
          </a:prstGeom>
          <a:solidFill>
            <a:srgbClr val="FFFFFF"/>
          </a:solidFill>
          <a:ln w="15875">
            <a:solidFill>
              <a:srgbClr val="1F3A5F"/>
            </a:solidFill>
            <a:prstDash val="solid"/>
          </a:ln>
        </p:spPr>
      </p:sp>
      <p:sp>
        <p:nvSpPr>
          <p:cNvPr id="14" name="Text 12"/>
          <p:cNvSpPr txBox="1"/>
          <p:nvPr/>
        </p:nvSpPr>
        <p:spPr>
          <a:xfrm>
            <a:off x="7978250"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2  </a:t>
            </a:r>
            <a:pPr algn="ctr" indent="0" marL="0">
              <a:buNone/>
            </a:pPr>
            <a:r>
              <a:rPr lang="en-US" sz="1400" dirty="0">
                <a:solidFill>
                  <a:srgbClr val="000000"/>
                </a:solidFill>
                <a:latin typeface="Arial" pitchFamily="34" charset="0"/>
                <a:ea typeface="Arial" pitchFamily="34" charset="-122"/>
                <a:cs typeface="Arial" pitchFamily="34" charset="-120"/>
              </a:rPr>
              <a:t>Lift the claw off the floor</a:t>
            </a:r>
            <a:endParaRPr lang="en-US" sz="1400" dirty="0"/>
          </a:p>
        </p:txBody>
      </p:sp>
      <p:sp>
        <p:nvSpPr>
          <p:cNvPr id="15" name="calibration step 3"/>
          <p:cNvSpPr/>
          <p:nvPr/>
        </p:nvSpPr>
        <p:spPr>
          <a:xfrm>
            <a:off x="9929524" y="1737360"/>
            <a:ext cx="1713531" cy="1399032"/>
          </a:xfrm>
          <a:prstGeom prst="roundRect">
            <a:avLst>
              <a:gd name="adj" fmla="val 5229"/>
            </a:avLst>
          </a:prstGeom>
          <a:solidFill>
            <a:srgbClr val="FFFFFF"/>
          </a:solidFill>
          <a:ln w="15875">
            <a:solidFill>
              <a:srgbClr val="1F3A5F"/>
            </a:solidFill>
            <a:prstDash val="solid"/>
          </a:ln>
        </p:spPr>
      </p:sp>
      <p:sp>
        <p:nvSpPr>
          <p:cNvPr id="16" name="Text 14"/>
          <p:cNvSpPr txBox="1"/>
          <p:nvPr/>
        </p:nvSpPr>
        <p:spPr>
          <a:xfrm>
            <a:off x="10002676" y="1737360"/>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3  </a:t>
            </a:r>
            <a:pPr algn="ctr" indent="0" marL="0">
              <a:buNone/>
            </a:pPr>
            <a:r>
              <a:rPr lang="en-US" sz="1400" dirty="0">
                <a:solidFill>
                  <a:srgbClr val="000000"/>
                </a:solidFill>
                <a:latin typeface="Arial" pitchFamily="34" charset="0"/>
                <a:ea typeface="Arial" pitchFamily="34" charset="-122"/>
                <a:cs typeface="Arial" pitchFamily="34" charset="-120"/>
              </a:rPr>
              <a:t>Camera reads the floor board</a:t>
            </a:r>
            <a:endParaRPr lang="en-US" sz="1400" dirty="0"/>
          </a:p>
        </p:txBody>
      </p:sp>
      <p:sp>
        <p:nvSpPr>
          <p:cNvPr id="17" name="calibration step 4"/>
          <p:cNvSpPr/>
          <p:nvPr/>
        </p:nvSpPr>
        <p:spPr>
          <a:xfrm>
            <a:off x="9929524" y="3447288"/>
            <a:ext cx="1713531" cy="1399032"/>
          </a:xfrm>
          <a:prstGeom prst="roundRect">
            <a:avLst>
              <a:gd name="adj" fmla="val 5229"/>
            </a:avLst>
          </a:prstGeom>
          <a:solidFill>
            <a:srgbClr val="FFFFFF"/>
          </a:solidFill>
          <a:ln w="15875">
            <a:solidFill>
              <a:srgbClr val="1F3A5F"/>
            </a:solidFill>
            <a:prstDash val="solid"/>
          </a:ln>
        </p:spPr>
      </p:sp>
      <p:sp>
        <p:nvSpPr>
          <p:cNvPr id="18" name="Text 16"/>
          <p:cNvSpPr txBox="1"/>
          <p:nvPr/>
        </p:nvSpPr>
        <p:spPr>
          <a:xfrm>
            <a:off x="10002676"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4  </a:t>
            </a:r>
            <a:pPr algn="ctr" indent="0" marL="0">
              <a:buNone/>
            </a:pPr>
            <a:r>
              <a:rPr lang="en-US" sz="1400" dirty="0">
                <a:solidFill>
                  <a:srgbClr val="000000"/>
                </a:solidFill>
                <a:latin typeface="Arial" pitchFamily="34" charset="0"/>
                <a:ea typeface="Arial" pitchFamily="34" charset="-122"/>
                <a:cs typeface="Arial" pitchFamily="34" charset="-120"/>
              </a:rPr>
              <a:t>Fit anchors and cable lengths</a:t>
            </a:r>
            <a:endParaRPr lang="en-US" sz="1400" dirty="0"/>
          </a:p>
        </p:txBody>
      </p:sp>
      <p:sp>
        <p:nvSpPr>
          <p:cNvPr id="19" name="calibration step 5"/>
          <p:cNvSpPr/>
          <p:nvPr/>
        </p:nvSpPr>
        <p:spPr>
          <a:xfrm>
            <a:off x="7905098" y="3447288"/>
            <a:ext cx="1713531" cy="1399032"/>
          </a:xfrm>
          <a:prstGeom prst="roundRect">
            <a:avLst>
              <a:gd name="adj" fmla="val 5229"/>
            </a:avLst>
          </a:prstGeom>
          <a:solidFill>
            <a:srgbClr val="FFFFFF"/>
          </a:solidFill>
          <a:ln w="15875">
            <a:solidFill>
              <a:srgbClr val="1F3A5F"/>
            </a:solidFill>
            <a:prstDash val="solid"/>
          </a:ln>
        </p:spPr>
      </p:sp>
      <p:sp>
        <p:nvSpPr>
          <p:cNvPr id="20" name="Text 18"/>
          <p:cNvSpPr txBox="1"/>
          <p:nvPr/>
        </p:nvSpPr>
        <p:spPr>
          <a:xfrm>
            <a:off x="7978250" y="3447288"/>
            <a:ext cx="1567227" cy="1399032"/>
          </a:xfrm>
          <a:prstGeom prst="rect">
            <a:avLst/>
          </a:prstGeom>
          <a:noFill/>
          <a:ln/>
        </p:spPr>
        <p:txBody>
          <a:bodyPr wrap="square" lIns="0" tIns="0" rIns="0" bIns="0" rtlCol="0" anchor="ctr"/>
          <a:lstStyle/>
          <a:p>
            <a:pPr algn="ctr" indent="0" marL="0">
              <a:buNone/>
            </a:pPr>
            <a:r>
              <a:rPr lang="en-US" sz="1400" b="1" dirty="0">
                <a:solidFill>
                  <a:srgbClr val="1F3A5F"/>
                </a:solidFill>
                <a:latin typeface="Arial" pitchFamily="34" charset="0"/>
                <a:ea typeface="Arial" pitchFamily="34" charset="-122"/>
                <a:cs typeface="Arial" pitchFamily="34" charset="-120"/>
              </a:rPr>
              <a:t>5  </a:t>
            </a:r>
            <a:pPr algn="ctr" indent="0" marL="0">
              <a:buNone/>
            </a:pPr>
            <a:r>
              <a:rPr lang="en-US" sz="1400" dirty="0">
                <a:solidFill>
                  <a:srgbClr val="000000"/>
                </a:solidFill>
                <a:latin typeface="Arial" pitchFamily="34" charset="0"/>
                <a:ea typeface="Arial" pitchFamily="34" charset="-122"/>
                <a:cs typeface="Arial" pitchFamily="34" charset="-120"/>
              </a:rPr>
              <a:t>Check on held-out poses</a:t>
            </a:r>
            <a:endParaRPr lang="en-US" sz="1400" dirty="0"/>
          </a:p>
        </p:txBody>
      </p:sp>
      <p:sp>
        <p:nvSpPr>
          <p:cNvPr id="21" name="calibration step 6"/>
          <p:cNvSpPr/>
          <p:nvPr/>
        </p:nvSpPr>
        <p:spPr>
          <a:xfrm>
            <a:off x="5880671" y="3447288"/>
            <a:ext cx="1713531" cy="1399032"/>
          </a:xfrm>
          <a:prstGeom prst="roundRect">
            <a:avLst>
              <a:gd name="adj" fmla="val 5229"/>
            </a:avLst>
          </a:prstGeom>
          <a:solidFill>
            <a:srgbClr val="1F3A5F"/>
          </a:solidFill>
          <a:ln w="15875">
            <a:solidFill>
              <a:srgbClr val="1F3A5F"/>
            </a:solidFill>
            <a:prstDash val="solid"/>
          </a:ln>
        </p:spPr>
      </p:sp>
      <p:sp>
        <p:nvSpPr>
          <p:cNvPr id="22" name="Text 20"/>
          <p:cNvSpPr txBox="1"/>
          <p:nvPr/>
        </p:nvSpPr>
        <p:spPr>
          <a:xfrm>
            <a:off x="5953823" y="3447288"/>
            <a:ext cx="1567227" cy="139903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6  </a:t>
            </a:r>
            <a:pPr algn="ctr" indent="0" marL="0">
              <a:buNone/>
            </a:pPr>
            <a:r>
              <a:rPr lang="en-US" sz="1400" dirty="0">
                <a:solidFill>
                  <a:srgbClr val="FFFFFF"/>
                </a:solidFill>
                <a:latin typeface="Arial" pitchFamily="34" charset="0"/>
                <a:ea typeface="Arial" pitchFamily="34" charset="-122"/>
                <a:cs typeface="Arial" pitchFamily="34" charset="-120"/>
              </a:rPr>
              <a:t>Ready, inside the safe margins</a:t>
            </a:r>
            <a:endParaRPr lang="en-US" sz="1400" dirty="0"/>
          </a:p>
        </p:txBody>
      </p:sp>
      <p:sp>
        <p:nvSpPr>
          <p:cNvPr id="23" name="Shape 21"/>
          <p:cNvSpPr/>
          <p:nvPr/>
        </p:nvSpPr>
        <p:spPr>
          <a:xfrm>
            <a:off x="7639922" y="2436876"/>
            <a:ext cx="219456" cy="0"/>
          </a:xfrm>
          <a:prstGeom prst="line">
            <a:avLst/>
          </a:prstGeom>
          <a:noFill/>
          <a:ln w="19050">
            <a:solidFill>
              <a:srgbClr val="7F7F7F"/>
            </a:solidFill>
            <a:prstDash val="solid"/>
            <a:tailEnd type="triangle"/>
          </a:ln>
        </p:spPr>
      </p:sp>
      <p:sp>
        <p:nvSpPr>
          <p:cNvPr id="24" name="Shape 22"/>
          <p:cNvSpPr/>
          <p:nvPr/>
        </p:nvSpPr>
        <p:spPr>
          <a:xfrm>
            <a:off x="9664348" y="2436876"/>
            <a:ext cx="219456" cy="0"/>
          </a:xfrm>
          <a:prstGeom prst="line">
            <a:avLst/>
          </a:prstGeom>
          <a:noFill/>
          <a:ln w="19050">
            <a:solidFill>
              <a:srgbClr val="7F7F7F"/>
            </a:solidFill>
            <a:prstDash val="solid"/>
            <a:tailEnd type="triangle"/>
          </a:ln>
        </p:spPr>
      </p:sp>
      <p:sp>
        <p:nvSpPr>
          <p:cNvPr id="25" name="Shape 23"/>
          <p:cNvSpPr/>
          <p:nvPr/>
        </p:nvSpPr>
        <p:spPr>
          <a:xfrm>
            <a:off x="10786290" y="3182112"/>
            <a:ext cx="0" cy="219456"/>
          </a:xfrm>
          <a:prstGeom prst="line">
            <a:avLst/>
          </a:prstGeom>
          <a:noFill/>
          <a:ln w="19050">
            <a:solidFill>
              <a:srgbClr val="7F7F7F"/>
            </a:solidFill>
            <a:prstDash val="solid"/>
            <a:tailEnd type="triangle"/>
          </a:ln>
        </p:spPr>
      </p:sp>
      <p:sp>
        <p:nvSpPr>
          <p:cNvPr id="26" name="Shape 24"/>
          <p:cNvSpPr/>
          <p:nvPr/>
        </p:nvSpPr>
        <p:spPr>
          <a:xfrm flipH="1">
            <a:off x="9664348" y="4146804"/>
            <a:ext cx="219456" cy="0"/>
          </a:xfrm>
          <a:prstGeom prst="line">
            <a:avLst/>
          </a:prstGeom>
          <a:noFill/>
          <a:ln w="19050">
            <a:solidFill>
              <a:srgbClr val="7F7F7F"/>
            </a:solidFill>
            <a:prstDash val="solid"/>
            <a:tailEnd type="triangle"/>
          </a:ln>
        </p:spPr>
      </p:sp>
      <p:sp>
        <p:nvSpPr>
          <p:cNvPr id="27" name="Shape 25"/>
          <p:cNvSpPr/>
          <p:nvPr/>
        </p:nvSpPr>
        <p:spPr>
          <a:xfrm flipH="1">
            <a:off x="7639922" y="4146804"/>
            <a:ext cx="219456" cy="0"/>
          </a:xfrm>
          <a:prstGeom prst="line">
            <a:avLst/>
          </a:prstGeom>
          <a:noFill/>
          <a:ln w="19050">
            <a:solidFill>
              <a:srgbClr val="7F7F7F"/>
            </a:solidFill>
            <a:prstDash val="solid"/>
            <a:tailEnd type="triangle"/>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Logic: Gen 1 vs Final</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218883"/>
                <a:gridCol w="3993989"/>
                <a:gridCol w="4881543"/>
              </a:tblGrid>
              <a:tr h="640080">
                <a:tc>
                  <a:txBody>
                    <a:bodyPr/>
                    <a:lstStyle/>
                    <a:p>
                      <a:pPr indent="0" marL="0">
                        <a:buNone/>
                      </a:pP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Gen 1</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Final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Where is the claw?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where the cables were told to put it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Measured: claw camera on the floor board, refit at every startup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Room geometry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Point mass; anchors from a tape measure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Rigid claw; anchors and cable lengths fitted, with error bars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Who runs the motors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One central board steps all four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Each station runs time-stamped moves; the laptop coordinates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Finding laundry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Ceiling camera, pixel to floor map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Claw camera, ray from the claw's pose to the floor</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Did the grab work?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Assumed once the claw closed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Camera checks pickup and delivery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640080">
                <a:tc>
                  <a:txBody>
                    <a:bodyPr/>
                    <a:lstStyle/>
                    <a:p>
                      <a:pPr indent="0" marL="0">
                        <a:buNone/>
                      </a:pPr>
                      <a:r>
                        <a:rPr lang="en-US" sz="1400" b="1" dirty="0">
                          <a:solidFill>
                            <a:srgbClr val="000000"/>
                          </a:solidFill>
                          <a:latin typeface="Arial" pitchFamily="34" charset="0"/>
                          <a:ea typeface="Arial" pitchFamily="34" charset="-122"/>
                          <a:cs typeface="Arial" pitchFamily="34" charset="-120"/>
                        </a:rPr>
                        <a:t>Faults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Emergency stop only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Supervisor: a stop keeps torque; nothing restarts by itself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One Run</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stage 1"/>
          <p:cNvSpPr/>
          <p:nvPr/>
        </p:nvSpPr>
        <p:spPr>
          <a:xfrm>
            <a:off x="548640" y="1508760"/>
            <a:ext cx="2554148" cy="457200"/>
          </a:xfrm>
          <a:prstGeom prst="rect">
            <a:avLst/>
          </a:prstGeom>
          <a:solidFill>
            <a:srgbClr val="1F3A5F"/>
          </a:solidFill>
          <a:ln w="12700">
            <a:solidFill>
              <a:srgbClr val="1F3A5F"/>
            </a:solidFill>
            <a:prstDash val="solid"/>
          </a:ln>
        </p:spPr>
      </p:sp>
      <p:sp>
        <p:nvSpPr>
          <p:cNvPr id="8" name="label"/>
          <p:cNvSpPr txBox="1"/>
          <p:nvPr/>
        </p:nvSpPr>
        <p:spPr>
          <a:xfrm>
            <a:off x="658368"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1  Start up</a:t>
            </a:r>
            <a:endParaRPr lang="en-US" sz="1500" dirty="0"/>
          </a:p>
        </p:txBody>
      </p:sp>
      <p:sp>
        <p:nvSpPr>
          <p:cNvPr id="9" name="Shape 7"/>
          <p:cNvSpPr/>
          <p:nvPr/>
        </p:nvSpPr>
        <p:spPr>
          <a:xfrm>
            <a:off x="548640" y="1965960"/>
            <a:ext cx="2554148" cy="2651760"/>
          </a:xfrm>
          <a:prstGeom prst="rect">
            <a:avLst/>
          </a:prstGeom>
          <a:solidFill>
            <a:srgbClr val="FFFFFF"/>
          </a:solidFill>
          <a:ln w="12700">
            <a:solidFill>
              <a:srgbClr val="1F3A5F"/>
            </a:solidFill>
            <a:prstDash val="solid"/>
          </a:ln>
        </p:spPr>
      </p:sp>
      <p:sp>
        <p:nvSpPr>
          <p:cNvPr id="10" name="stage 1 steps"/>
          <p:cNvSpPr txBox="1"/>
          <p:nvPr/>
        </p:nvSpPr>
        <p:spPr>
          <a:xfrm>
            <a:off x="621792"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Self-check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Take up slack</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Lift a few centimetres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Calibrate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Set the trust level</a:t>
            </a:r>
            <a:endParaRPr lang="en-US" sz="1500" dirty="0"/>
          </a:p>
        </p:txBody>
      </p:sp>
      <p:sp>
        <p:nvSpPr>
          <p:cNvPr id="11" name="Shape 9"/>
          <p:cNvSpPr/>
          <p:nvPr/>
        </p:nvSpPr>
        <p:spPr>
          <a:xfrm>
            <a:off x="3139364" y="1737360"/>
            <a:ext cx="219456" cy="0"/>
          </a:xfrm>
          <a:prstGeom prst="line">
            <a:avLst/>
          </a:prstGeom>
          <a:noFill/>
          <a:ln w="19050">
            <a:solidFill>
              <a:srgbClr val="7F7F7F"/>
            </a:solidFill>
            <a:prstDash val="solid"/>
            <a:tailEnd type="triangle"/>
          </a:ln>
        </p:spPr>
      </p:sp>
      <p:sp>
        <p:nvSpPr>
          <p:cNvPr id="12" name="stage 2"/>
          <p:cNvSpPr/>
          <p:nvPr/>
        </p:nvSpPr>
        <p:spPr>
          <a:xfrm>
            <a:off x="3395396" y="1508760"/>
            <a:ext cx="2554148" cy="457200"/>
          </a:xfrm>
          <a:prstGeom prst="rect">
            <a:avLst/>
          </a:prstGeom>
          <a:solidFill>
            <a:srgbClr val="1F3A5F"/>
          </a:solidFill>
          <a:ln w="12700">
            <a:solidFill>
              <a:srgbClr val="1F3A5F"/>
            </a:solidFill>
            <a:prstDash val="solid"/>
          </a:ln>
        </p:spPr>
      </p:sp>
      <p:sp>
        <p:nvSpPr>
          <p:cNvPr id="13" name="label"/>
          <p:cNvSpPr txBox="1"/>
          <p:nvPr/>
        </p:nvSpPr>
        <p:spPr>
          <a:xfrm>
            <a:off x="3505124"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2  Find</a:t>
            </a:r>
            <a:endParaRPr lang="en-US" sz="1500" dirty="0"/>
          </a:p>
        </p:txBody>
      </p:sp>
      <p:sp>
        <p:nvSpPr>
          <p:cNvPr id="14" name="Shape 12"/>
          <p:cNvSpPr/>
          <p:nvPr/>
        </p:nvSpPr>
        <p:spPr>
          <a:xfrm>
            <a:off x="3395396" y="1965960"/>
            <a:ext cx="2554148" cy="2651760"/>
          </a:xfrm>
          <a:prstGeom prst="rect">
            <a:avLst/>
          </a:prstGeom>
          <a:solidFill>
            <a:srgbClr val="FFFFFF"/>
          </a:solidFill>
          <a:ln w="12700">
            <a:solidFill>
              <a:srgbClr val="1F3A5F"/>
            </a:solidFill>
            <a:prstDash val="solid"/>
          </a:ln>
        </p:spPr>
      </p:sp>
      <p:sp>
        <p:nvSpPr>
          <p:cNvPr id="15" name="stage 2 steps"/>
          <p:cNvSpPr txBox="1"/>
          <p:nvPr/>
        </p:nvSpPr>
        <p:spPr>
          <a:xfrm>
            <a:off x="3468548"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Rise to scan height</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Detector lists the items</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Map each to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Choose the nearest</a:t>
            </a:r>
            <a:endParaRPr lang="en-US" sz="1500" dirty="0"/>
          </a:p>
        </p:txBody>
      </p:sp>
      <p:sp>
        <p:nvSpPr>
          <p:cNvPr id="16" name="Shape 14"/>
          <p:cNvSpPr/>
          <p:nvPr/>
        </p:nvSpPr>
        <p:spPr>
          <a:xfrm>
            <a:off x="5986120" y="1737360"/>
            <a:ext cx="219456" cy="0"/>
          </a:xfrm>
          <a:prstGeom prst="line">
            <a:avLst/>
          </a:prstGeom>
          <a:noFill/>
          <a:ln w="19050">
            <a:solidFill>
              <a:srgbClr val="7F7F7F"/>
            </a:solidFill>
            <a:prstDash val="solid"/>
            <a:tailEnd type="triangle"/>
          </a:ln>
        </p:spPr>
      </p:sp>
      <p:sp>
        <p:nvSpPr>
          <p:cNvPr id="17" name="stage 3"/>
          <p:cNvSpPr/>
          <p:nvPr/>
        </p:nvSpPr>
        <p:spPr>
          <a:xfrm>
            <a:off x="6242152" y="1508760"/>
            <a:ext cx="2554148" cy="457200"/>
          </a:xfrm>
          <a:prstGeom prst="rect">
            <a:avLst/>
          </a:prstGeom>
          <a:solidFill>
            <a:srgbClr val="1F3A5F"/>
          </a:solidFill>
          <a:ln w="12700">
            <a:solidFill>
              <a:srgbClr val="1F3A5F"/>
            </a:solidFill>
            <a:prstDash val="solid"/>
          </a:ln>
        </p:spPr>
      </p:sp>
      <p:sp>
        <p:nvSpPr>
          <p:cNvPr id="18" name="label"/>
          <p:cNvSpPr txBox="1"/>
          <p:nvPr/>
        </p:nvSpPr>
        <p:spPr>
          <a:xfrm>
            <a:off x="6351880"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3  Pick and deliver</a:t>
            </a:r>
            <a:endParaRPr lang="en-US" sz="1500" dirty="0"/>
          </a:p>
        </p:txBody>
      </p:sp>
      <p:sp>
        <p:nvSpPr>
          <p:cNvPr id="19" name="Shape 17"/>
          <p:cNvSpPr/>
          <p:nvPr/>
        </p:nvSpPr>
        <p:spPr>
          <a:xfrm>
            <a:off x="6242152" y="1965960"/>
            <a:ext cx="2554148" cy="2651760"/>
          </a:xfrm>
          <a:prstGeom prst="rect">
            <a:avLst/>
          </a:prstGeom>
          <a:solidFill>
            <a:srgbClr val="FFFFFF"/>
          </a:solidFill>
          <a:ln w="12700">
            <a:solidFill>
              <a:srgbClr val="1F3A5F"/>
            </a:solidFill>
            <a:prstDash val="solid"/>
          </a:ln>
        </p:spPr>
      </p:sp>
      <p:sp>
        <p:nvSpPr>
          <p:cNvPr id="20" name="stage 3 steps"/>
          <p:cNvSpPr txBox="1"/>
          <p:nvPr/>
        </p:nvSpPr>
        <p:spPr>
          <a:xfrm>
            <a:off x="6315304"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Hover until still</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Descend, close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held?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Fly to the hamper, release</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is it in?</a:t>
            </a:r>
            <a:endParaRPr lang="en-US" sz="1500" dirty="0"/>
          </a:p>
        </p:txBody>
      </p:sp>
      <p:sp>
        <p:nvSpPr>
          <p:cNvPr id="21" name="Shape 19"/>
          <p:cNvSpPr/>
          <p:nvPr/>
        </p:nvSpPr>
        <p:spPr>
          <a:xfrm>
            <a:off x="8832875" y="1737360"/>
            <a:ext cx="219456" cy="0"/>
          </a:xfrm>
          <a:prstGeom prst="line">
            <a:avLst/>
          </a:prstGeom>
          <a:noFill/>
          <a:ln w="19050">
            <a:solidFill>
              <a:srgbClr val="7F7F7F"/>
            </a:solidFill>
            <a:prstDash val="solid"/>
            <a:tailEnd type="triangle"/>
          </a:ln>
        </p:spPr>
      </p:sp>
      <p:sp>
        <p:nvSpPr>
          <p:cNvPr id="22" name="stage 4"/>
          <p:cNvSpPr/>
          <p:nvPr/>
        </p:nvSpPr>
        <p:spPr>
          <a:xfrm>
            <a:off x="9088907" y="1508760"/>
            <a:ext cx="2554148" cy="457200"/>
          </a:xfrm>
          <a:prstGeom prst="rect">
            <a:avLst/>
          </a:prstGeom>
          <a:solidFill>
            <a:srgbClr val="1F3A5F"/>
          </a:solidFill>
          <a:ln w="12700">
            <a:solidFill>
              <a:srgbClr val="1F3A5F"/>
            </a:solidFill>
            <a:prstDash val="solid"/>
          </a:ln>
        </p:spPr>
      </p:sp>
      <p:sp>
        <p:nvSpPr>
          <p:cNvPr id="23" name="label"/>
          <p:cNvSpPr txBox="1"/>
          <p:nvPr/>
        </p:nvSpPr>
        <p:spPr>
          <a:xfrm>
            <a:off x="9198635" y="1508760"/>
            <a:ext cx="2334692" cy="457200"/>
          </a:xfrm>
          <a:prstGeom prst="rect">
            <a:avLst/>
          </a:prstGeom>
          <a:noFill/>
          <a:ln/>
        </p:spPr>
        <p:txBody>
          <a:bodyPr wrap="square" lIns="0" tIns="0" rIns="0" bIns="0" rtlCol="0" anchor="ctr"/>
          <a:lstStyle/>
          <a:p>
            <a:pPr algn="l" indent="0" marL="0">
              <a:buNone/>
            </a:pPr>
            <a:r>
              <a:rPr lang="en-US" sz="1500" b="1" dirty="0">
                <a:solidFill>
                  <a:srgbClr val="FFFFFF"/>
                </a:solidFill>
                <a:latin typeface="Arial" pitchFamily="34" charset="0"/>
                <a:ea typeface="Arial" pitchFamily="34" charset="-122"/>
                <a:cs typeface="Arial" pitchFamily="34" charset="-120"/>
              </a:rPr>
              <a:t>4  Put away</a:t>
            </a:r>
            <a:endParaRPr lang="en-US" sz="1500" dirty="0"/>
          </a:p>
        </p:txBody>
      </p:sp>
      <p:sp>
        <p:nvSpPr>
          <p:cNvPr id="24" name="Shape 22"/>
          <p:cNvSpPr/>
          <p:nvPr/>
        </p:nvSpPr>
        <p:spPr>
          <a:xfrm>
            <a:off x="9088907" y="1965960"/>
            <a:ext cx="2554148" cy="2651760"/>
          </a:xfrm>
          <a:prstGeom prst="rect">
            <a:avLst/>
          </a:prstGeom>
          <a:solidFill>
            <a:srgbClr val="FFFFFF"/>
          </a:solidFill>
          <a:ln w="12700">
            <a:solidFill>
              <a:srgbClr val="1F3A5F"/>
            </a:solidFill>
            <a:prstDash val="solid"/>
          </a:ln>
        </p:spPr>
      </p:sp>
      <p:sp>
        <p:nvSpPr>
          <p:cNvPr id="25" name="stage 4 steps"/>
          <p:cNvSpPr txBox="1"/>
          <p:nvPr/>
        </p:nvSpPr>
        <p:spPr>
          <a:xfrm>
            <a:off x="9162059" y="2057400"/>
            <a:ext cx="2407844" cy="2468880"/>
          </a:xfrm>
          <a:prstGeom prst="rect">
            <a:avLst/>
          </a:prstGeom>
          <a:noFill/>
          <a:ln/>
        </p:spPr>
        <p:txBody>
          <a:bodyPr wrap="square" lIns="0" tIns="0" rIns="0" bIns="0" rtlCol="0" anchor="t"/>
          <a:lstStyle/>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Lower over the floor board</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Camera confirms the floor</a:t>
            </a:r>
            <a:endParaRPr lang="en-US" sz="1500" dirty="0"/>
          </a:p>
          <a:p>
            <a:pPr marL="152400" indent="-152400">
              <a:spcAft>
                <a:spcPts val="600"/>
              </a:spcAft>
              <a:buSzPct val="100000"/>
              <a:buChar char="•"/>
            </a:pPr>
            <a:r>
              <a:rPr lang="en-US" sz="1500" dirty="0">
                <a:solidFill>
                  <a:srgbClr val="000000"/>
                </a:solidFill>
                <a:latin typeface="Arial" pitchFamily="34" charset="0"/>
                <a:ea typeface="Arial" pitchFamily="34" charset="-122"/>
                <a:cs typeface="Arial" pitchFamily="34" charset="-120"/>
              </a:rPr>
              <a:t>Disarm after a typed confirm</a:t>
            </a:r>
            <a:endParaRPr lang="en-US" sz="1500" dirty="0"/>
          </a:p>
        </p:txBody>
      </p:sp>
      <p:sp>
        <p:nvSpPr>
          <p:cNvPr id="26" name="Shape 24"/>
          <p:cNvSpPr/>
          <p:nvPr/>
        </p:nvSpPr>
        <p:spPr>
          <a:xfrm>
            <a:off x="7519226" y="4617720"/>
            <a:ext cx="0" cy="256032"/>
          </a:xfrm>
          <a:prstGeom prst="line">
            <a:avLst/>
          </a:prstGeom>
          <a:noFill/>
          <a:ln w="19050">
            <a:solidFill>
              <a:srgbClr val="4F6D8F"/>
            </a:solidFill>
            <a:prstDash val="solid"/>
          </a:ln>
        </p:spPr>
      </p:sp>
      <p:sp>
        <p:nvSpPr>
          <p:cNvPr id="27" name="Shape 25"/>
          <p:cNvSpPr/>
          <p:nvPr/>
        </p:nvSpPr>
        <p:spPr>
          <a:xfrm flipH="1">
            <a:off x="4672470" y="4873752"/>
            <a:ext cx="2846756" cy="0"/>
          </a:xfrm>
          <a:prstGeom prst="line">
            <a:avLst/>
          </a:prstGeom>
          <a:noFill/>
          <a:ln w="19050">
            <a:solidFill>
              <a:srgbClr val="4F6D8F"/>
            </a:solidFill>
            <a:prstDash val="solid"/>
          </a:ln>
        </p:spPr>
      </p:sp>
      <p:sp>
        <p:nvSpPr>
          <p:cNvPr id="28" name="Shape 26"/>
          <p:cNvSpPr/>
          <p:nvPr/>
        </p:nvSpPr>
        <p:spPr>
          <a:xfrm flipV="1">
            <a:off x="4672470" y="4636008"/>
            <a:ext cx="0" cy="237744"/>
          </a:xfrm>
          <a:prstGeom prst="line">
            <a:avLst/>
          </a:prstGeom>
          <a:noFill/>
          <a:ln w="19050">
            <a:solidFill>
              <a:srgbClr val="4F6D8F"/>
            </a:solidFill>
            <a:prstDash val="solid"/>
            <a:tailEnd type="triangle"/>
          </a:ln>
        </p:spPr>
      </p:sp>
      <p:sp>
        <p:nvSpPr>
          <p:cNvPr id="29" name="label"/>
          <p:cNvSpPr txBox="1"/>
          <p:nvPr/>
        </p:nvSpPr>
        <p:spPr>
          <a:xfrm>
            <a:off x="3395396" y="4892040"/>
            <a:ext cx="5400904" cy="274320"/>
          </a:xfrm>
          <a:prstGeom prst="rect">
            <a:avLst/>
          </a:prstGeom>
          <a:noFill/>
          <a:ln/>
        </p:spPr>
        <p:txBody>
          <a:bodyPr wrap="square" lIns="0" tIns="0" rIns="0" bIns="0" rtlCol="0" anchor="ctr"/>
          <a:lstStyle/>
          <a:p>
            <a:pPr algn="ctr" indent="0" marL="0">
              <a:buNone/>
            </a:pPr>
            <a:r>
              <a:rPr lang="en-US" sz="1200" dirty="0">
                <a:solidFill>
                  <a:srgbClr val="4F6D8F"/>
                </a:solidFill>
                <a:latin typeface="Arial" pitchFamily="34" charset="0"/>
                <a:ea typeface="Arial" pitchFamily="34" charset="-122"/>
                <a:cs typeface="Arial" pitchFamily="34" charset="-120"/>
              </a:rPr>
              <a:t>next item; 3 failures in a row → pause for the operator</a:t>
            </a:r>
            <a:endParaRPr lang="en-US" sz="1200" dirty="0"/>
          </a:p>
        </p:txBody>
      </p:sp>
      <p:sp>
        <p:nvSpPr>
          <p:cNvPr id="30" name="stop rule"/>
          <p:cNvSpPr/>
          <p:nvPr/>
        </p:nvSpPr>
        <p:spPr>
          <a:xfrm>
            <a:off x="548640" y="5669280"/>
            <a:ext cx="11094415" cy="548640"/>
          </a:xfrm>
          <a:prstGeom prst="rect">
            <a:avLst/>
          </a:prstGeom>
          <a:solidFill>
            <a:srgbClr val="FFFFFF"/>
          </a:solidFill>
          <a:ln w="19050">
            <a:solidFill>
              <a:srgbClr val="B23A2E"/>
            </a:solidFill>
            <a:prstDash val="solid"/>
          </a:ln>
        </p:spPr>
      </p:sp>
      <p:sp>
        <p:nvSpPr>
          <p:cNvPr id="31" name="label"/>
          <p:cNvSpPr txBox="1"/>
          <p:nvPr/>
        </p:nvSpPr>
        <p:spPr>
          <a:xfrm>
            <a:off x="685800" y="5669280"/>
            <a:ext cx="10820095"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Arial" pitchFamily="34" charset="0"/>
                <a:ea typeface="Arial" pitchFamily="34" charset="-122"/>
                <a:cs typeface="Arial" pitchFamily="34" charset="-120"/>
              </a:rPr>
              <a:t>At any point:</a:t>
            </a:r>
            <a:pPr algn="l" indent="0" marL="0">
              <a:buNone/>
            </a:pPr>
            <a:r>
              <a:rPr lang="en-US" sz="1400" dirty="0">
                <a:solidFill>
                  <a:srgbClr val="000000"/>
                </a:solidFill>
                <a:latin typeface="Arial" pitchFamily="34" charset="0"/>
                <a:ea typeface="Arial" pitchFamily="34" charset="-122"/>
                <a:cs typeface="Arial" pitchFamily="34" charset="-120"/>
              </a:rPr>
              <a:t> PAUSE or a fault stops every station on the same point of the path, still holding. Nothing restarts by itself.</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Phone App</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03299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Status, live claw camera, guided setup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Anything that moves asks “yes” first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PAUSE holds position at once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The switched power strip is the hard stop</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 reboot never resumes a task</a:t>
            </a:r>
            <a:endParaRPr lang="en-US" sz="2000" dirty="0"/>
          </a:p>
        </p:txBody>
      </p:sp>
      <p:sp>
        <p:nvSpPr>
          <p:cNvPr id="8" name="Shape 6"/>
          <p:cNvSpPr/>
          <p:nvPr/>
        </p:nvSpPr>
        <p:spPr>
          <a:xfrm>
            <a:off x="4993118" y="1463040"/>
            <a:ext cx="2125206" cy="4526280"/>
          </a:xfrm>
          <a:prstGeom prst="rect">
            <a:avLst/>
          </a:prstGeom>
          <a:solidFill>
            <a:srgbClr val="F2F2F2"/>
          </a:solidFill>
          <a:ln w="12700">
            <a:solidFill>
              <a:srgbClr val="F2F2F2"/>
            </a:solidFill>
            <a:prstDash val="solid"/>
          </a:ln>
        </p:spPr>
      </p:sp>
      <p:pic>
        <p:nvPicPr>
          <p:cNvPr id="9" name="Phone app screens" descr="Phone app screens">    </p:cNvPr>
          <p:cNvPicPr>
            <a:picLocks noChangeAspect="1"/>
          </p:cNvPicPr>
          <p:nvPr/>
        </p:nvPicPr>
        <p:blipFill>
          <a:blip r:embed="rId1"/>
          <a:stretch>
            <a:fillRect/>
          </a:stretch>
        </p:blipFill>
        <p:spPr>
          <a:xfrm>
            <a:off x="5047982" y="1545330"/>
            <a:ext cx="2015478" cy="4361701"/>
          </a:xfrm>
          <a:prstGeom prst="rect">
            <a:avLst/>
          </a:prstGeom>
        </p:spPr>
      </p:pic>
      <p:sp>
        <p:nvSpPr>
          <p:cNvPr id="10" name="Shape 7"/>
          <p:cNvSpPr/>
          <p:nvPr/>
        </p:nvSpPr>
        <p:spPr>
          <a:xfrm>
            <a:off x="7255484" y="1463040"/>
            <a:ext cx="2125206" cy="4526280"/>
          </a:xfrm>
          <a:prstGeom prst="rect">
            <a:avLst/>
          </a:prstGeom>
          <a:solidFill>
            <a:srgbClr val="F2F2F2"/>
          </a:solidFill>
          <a:ln w="12700">
            <a:solidFill>
              <a:srgbClr val="F2F2F2"/>
            </a:solidFill>
            <a:prstDash val="solid"/>
          </a:ln>
        </p:spPr>
      </p:sp>
      <p:pic>
        <p:nvPicPr>
          <p:cNvPr id="11" name="Phone app screens" descr="Phone app screens">    </p:cNvPr>
          <p:cNvPicPr>
            <a:picLocks noChangeAspect="1"/>
          </p:cNvPicPr>
          <p:nvPr/>
        </p:nvPicPr>
        <p:blipFill>
          <a:blip r:embed="rId2"/>
          <a:stretch>
            <a:fillRect/>
          </a:stretch>
        </p:blipFill>
        <p:spPr>
          <a:xfrm>
            <a:off x="7310348" y="1545330"/>
            <a:ext cx="2015478" cy="4361701"/>
          </a:xfrm>
          <a:prstGeom prst="rect">
            <a:avLst/>
          </a:prstGeom>
        </p:spPr>
      </p:pic>
      <p:sp>
        <p:nvSpPr>
          <p:cNvPr id="12" name="Shape 8"/>
          <p:cNvSpPr/>
          <p:nvPr/>
        </p:nvSpPr>
        <p:spPr>
          <a:xfrm>
            <a:off x="9517849" y="1463040"/>
            <a:ext cx="2125206" cy="4526280"/>
          </a:xfrm>
          <a:prstGeom prst="rect">
            <a:avLst/>
          </a:prstGeom>
          <a:solidFill>
            <a:srgbClr val="F2F2F2"/>
          </a:solidFill>
          <a:ln w="12700">
            <a:solidFill>
              <a:srgbClr val="F2F2F2"/>
            </a:solidFill>
            <a:prstDash val="solid"/>
          </a:ln>
        </p:spPr>
      </p:sp>
      <p:pic>
        <p:nvPicPr>
          <p:cNvPr id="13" name="Phone app screens" descr="Phone app screens">    </p:cNvPr>
          <p:cNvPicPr>
            <a:picLocks noChangeAspect="1"/>
          </p:cNvPicPr>
          <p:nvPr/>
        </p:nvPicPr>
        <p:blipFill>
          <a:blip r:embed="rId3"/>
          <a:stretch>
            <a:fillRect/>
          </a:stretch>
        </p:blipFill>
        <p:spPr>
          <a:xfrm>
            <a:off x="9572713" y="1545330"/>
            <a:ext cx="2015478" cy="4361701"/>
          </a:xfrm>
          <a:prstGeom prst="rect">
            <a:avLst/>
          </a:prstGeom>
        </p:spPr>
      </p:pic>
      <p:sp>
        <p:nvSpPr>
          <p:cNvPr id="14" name="caption"/>
          <p:cNvSpPr txBox="1"/>
          <p:nvPr/>
        </p:nvSpPr>
        <p:spPr>
          <a:xfrm>
            <a:off x="4993118" y="6062472"/>
            <a:ext cx="6649937"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camera, chat</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Obstacles</a:t>
            </a:r>
            <a:endParaRPr lang="en-US" sz="3000" dirty="0"/>
          </a:p>
        </p:txBody>
      </p:sp>
      <p:sp>
        <p:nvSpPr>
          <p:cNvPr id="4" name="status chip"/>
          <p:cNvSpPr/>
          <p:nvPr/>
        </p:nvSpPr>
        <p:spPr>
          <a:xfrm>
            <a:off x="10180015" y="621792"/>
            <a:ext cx="146304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80015" y="621792"/>
            <a:ext cx="146304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Simulated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5142439"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Known obstacles are keep-out cylinders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Every path point is checked: each cable against each cylinder</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A path that fails is refused before anything moves</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While moving: a stalled cable (encoder) or a failed grip (camera)</a:t>
            </a:r>
            <a:endParaRPr lang="en-US" sz="1800" dirty="0"/>
          </a:p>
          <a:p>
            <a:pPr algn="l" marL="254000" indent="-254000">
              <a:spcAft>
                <a:spcPts val="1400"/>
              </a:spcAft>
              <a:buSzPct val="100000"/>
              <a:buChar char="•"/>
            </a:pPr>
            <a:r>
              <a:rPr lang="en-US" sz="1800" dirty="0">
                <a:solidFill>
                  <a:srgbClr val="000000"/>
                </a:solidFill>
                <a:latin typeface="Arial" pitchFamily="34" charset="0"/>
                <a:ea typeface="Arial" pitchFamily="34" charset="-122"/>
                <a:cs typeface="Arial" pitchFamily="34" charset="-120"/>
              </a:rPr>
              <a:t>Cannot yet see a person or a pet: nobody under the robot</a:t>
            </a:r>
            <a:endParaRPr lang="en-US" sz="1800" dirty="0"/>
          </a:p>
        </p:txBody>
      </p:sp>
      <p:sp>
        <p:nvSpPr>
          <p:cNvPr id="8" name="Shape 6"/>
          <p:cNvSpPr/>
          <p:nvPr/>
        </p:nvSpPr>
        <p:spPr>
          <a:xfrm>
            <a:off x="6193999" y="5103748"/>
            <a:ext cx="5357616" cy="0"/>
          </a:xfrm>
          <a:prstGeom prst="line">
            <a:avLst/>
          </a:prstGeom>
          <a:noFill/>
          <a:ln w="15875">
            <a:solidFill>
              <a:srgbClr val="000000"/>
            </a:solidFill>
            <a:prstDash val="solid"/>
          </a:ln>
        </p:spPr>
      </p:sp>
      <p:sp>
        <p:nvSpPr>
          <p:cNvPr id="9" name="Shape 7"/>
          <p:cNvSpPr/>
          <p:nvPr/>
        </p:nvSpPr>
        <p:spPr>
          <a:xfrm>
            <a:off x="6193999" y="1600200"/>
            <a:ext cx="5357616" cy="0"/>
          </a:xfrm>
          <a:prstGeom prst="line">
            <a:avLst/>
          </a:prstGeom>
          <a:noFill/>
          <a:ln w="12700">
            <a:solidFill>
              <a:srgbClr val="BFBFBF"/>
            </a:solidFill>
            <a:prstDash val="solid"/>
          </a:ln>
        </p:spPr>
      </p:sp>
      <p:sp>
        <p:nvSpPr>
          <p:cNvPr id="10" name="shelf"/>
          <p:cNvSpPr/>
          <p:nvPr/>
        </p:nvSpPr>
        <p:spPr>
          <a:xfrm>
            <a:off x="7216933" y="2674281"/>
            <a:ext cx="511467" cy="2429468"/>
          </a:xfrm>
          <a:prstGeom prst="rect">
            <a:avLst/>
          </a:prstGeom>
          <a:solidFill>
            <a:srgbClr val="D9DEE5"/>
          </a:solidFill>
          <a:ln w="12700">
            <a:solidFill>
              <a:srgbClr val="7F7F7F"/>
            </a:solidFill>
            <a:prstDash val="solid"/>
          </a:ln>
        </p:spPr>
      </p:sp>
      <p:sp>
        <p:nvSpPr>
          <p:cNvPr id="11" name="label"/>
          <p:cNvSpPr txBox="1"/>
          <p:nvPr/>
        </p:nvSpPr>
        <p:spPr>
          <a:xfrm>
            <a:off x="6302533" y="3569348"/>
            <a:ext cx="859536" cy="457200"/>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shelf,</a:t>
            </a:r>
            <a:endParaRPr lang="en-US" sz="1100" dirty="0"/>
          </a:p>
          <a:p>
            <a:pPr algn="r" indent="0" marL="0">
              <a:buNone/>
            </a:pPr>
            <a:r>
              <a:rPr lang="en-US" sz="1100" dirty="0">
                <a:solidFill>
                  <a:srgbClr val="404040"/>
                </a:solidFill>
                <a:latin typeface="Arial" pitchFamily="34" charset="0"/>
                <a:ea typeface="Arial" pitchFamily="34" charset="-122"/>
                <a:cs typeface="Arial" pitchFamily="34" charset="-120"/>
              </a:rPr>
              <a:t>0–1.9 m</a:t>
            </a:r>
            <a:endParaRPr lang="en-US" sz="1100" dirty="0"/>
          </a:p>
        </p:txBody>
      </p:sp>
      <p:sp>
        <p:nvSpPr>
          <p:cNvPr id="12" name="Shape 10"/>
          <p:cNvSpPr/>
          <p:nvPr/>
        </p:nvSpPr>
        <p:spPr>
          <a:xfrm>
            <a:off x="6193999" y="1792000"/>
            <a:ext cx="2685201" cy="1393747"/>
          </a:xfrm>
          <a:prstGeom prst="line">
            <a:avLst/>
          </a:prstGeom>
          <a:noFill/>
          <a:ln w="25400">
            <a:solidFill>
              <a:srgbClr val="1F3A5F"/>
            </a:solidFill>
            <a:prstDash val="solid"/>
          </a:ln>
        </p:spPr>
      </p:sp>
      <p:sp>
        <p:nvSpPr>
          <p:cNvPr id="13" name="Shape 11"/>
          <p:cNvSpPr/>
          <p:nvPr/>
        </p:nvSpPr>
        <p:spPr>
          <a:xfrm flipH="1">
            <a:off x="8879201" y="1792000"/>
            <a:ext cx="2672415" cy="1393747"/>
          </a:xfrm>
          <a:prstGeom prst="line">
            <a:avLst/>
          </a:prstGeom>
          <a:noFill/>
          <a:ln w="25400">
            <a:solidFill>
              <a:srgbClr val="1F3A5F"/>
            </a:solidFill>
            <a:prstDash val="solid"/>
          </a:ln>
        </p:spPr>
      </p:sp>
      <p:sp>
        <p:nvSpPr>
          <p:cNvPr id="14" name="Shape 12"/>
          <p:cNvSpPr/>
          <p:nvPr/>
        </p:nvSpPr>
        <p:spPr>
          <a:xfrm>
            <a:off x="8796905" y="3103451"/>
            <a:ext cx="164592" cy="164592"/>
          </a:xfrm>
          <a:prstGeom prst="rect">
            <a:avLst/>
          </a:prstGeom>
          <a:solidFill>
            <a:srgbClr val="1F3A5F"/>
          </a:solidFill>
          <a:ln w="12700">
            <a:solidFill>
              <a:srgbClr val="1F3A5F"/>
            </a:solidFill>
            <a:prstDash val="solid"/>
          </a:ln>
        </p:spPr>
      </p:sp>
      <p:sp>
        <p:nvSpPr>
          <p:cNvPr id="15" name="Shape 13"/>
          <p:cNvSpPr/>
          <p:nvPr/>
        </p:nvSpPr>
        <p:spPr>
          <a:xfrm>
            <a:off x="6193999" y="1792000"/>
            <a:ext cx="2685201" cy="2288814"/>
          </a:xfrm>
          <a:prstGeom prst="line">
            <a:avLst/>
          </a:prstGeom>
          <a:noFill/>
          <a:ln w="25400">
            <a:solidFill>
              <a:srgbClr val="B23A2E"/>
            </a:solidFill>
            <a:prstDash val="dash"/>
          </a:ln>
        </p:spPr>
      </p:sp>
      <p:sp>
        <p:nvSpPr>
          <p:cNvPr id="16" name="Shape 14"/>
          <p:cNvSpPr/>
          <p:nvPr/>
        </p:nvSpPr>
        <p:spPr>
          <a:xfrm flipH="1">
            <a:off x="8879201" y="1792000"/>
            <a:ext cx="2672415" cy="2288814"/>
          </a:xfrm>
          <a:prstGeom prst="line">
            <a:avLst/>
          </a:prstGeom>
          <a:noFill/>
          <a:ln w="25400">
            <a:solidFill>
              <a:srgbClr val="B23A2E"/>
            </a:solidFill>
            <a:prstDash val="dash"/>
          </a:ln>
        </p:spPr>
      </p:sp>
      <p:sp>
        <p:nvSpPr>
          <p:cNvPr id="17" name="Shape 15"/>
          <p:cNvSpPr/>
          <p:nvPr/>
        </p:nvSpPr>
        <p:spPr>
          <a:xfrm>
            <a:off x="8796905" y="3998519"/>
            <a:ext cx="164592" cy="164592"/>
          </a:xfrm>
          <a:prstGeom prst="rect">
            <a:avLst/>
          </a:prstGeom>
          <a:solidFill>
            <a:srgbClr val="B23A2E"/>
          </a:solidFill>
          <a:ln w="12700">
            <a:solidFill>
              <a:srgbClr val="B23A2E"/>
            </a:solidFill>
            <a:prstDash val="solid"/>
          </a:ln>
        </p:spPr>
      </p:sp>
      <p:sp>
        <p:nvSpPr>
          <p:cNvPr id="18" name="label"/>
          <p:cNvSpPr txBox="1"/>
          <p:nvPr/>
        </p:nvSpPr>
        <p:spPr>
          <a:xfrm>
            <a:off x="8193401" y="3304619"/>
            <a:ext cx="1371600" cy="2286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1.5 m: clear</a:t>
            </a:r>
            <a:endParaRPr lang="en-US" sz="1200" dirty="0"/>
          </a:p>
        </p:txBody>
      </p:sp>
      <p:sp>
        <p:nvSpPr>
          <p:cNvPr id="19" name="label"/>
          <p:cNvSpPr txBox="1"/>
          <p:nvPr/>
        </p:nvSpPr>
        <p:spPr>
          <a:xfrm>
            <a:off x="8056241" y="4199687"/>
            <a:ext cx="1645920" cy="228600"/>
          </a:xfrm>
          <a:prstGeom prst="rect">
            <a:avLst/>
          </a:prstGeom>
          <a:noFill/>
          <a:ln/>
        </p:spPr>
        <p:txBody>
          <a:bodyPr wrap="square" lIns="0" tIns="0" rIns="0" bIns="0" rtlCol="0" anchor="ctr"/>
          <a:lstStyle/>
          <a:p>
            <a:pPr algn="ctr" indent="0" marL="0">
              <a:buNone/>
            </a:pPr>
            <a:r>
              <a:rPr lang="en-US" sz="1200" b="1" dirty="0">
                <a:solidFill>
                  <a:srgbClr val="B23A2E"/>
                </a:solidFill>
                <a:latin typeface="Arial" pitchFamily="34" charset="0"/>
                <a:ea typeface="Arial" pitchFamily="34" charset="-122"/>
                <a:cs typeface="Arial" pitchFamily="34" charset="-120"/>
              </a:rPr>
              <a:t>0.8 m: refused</a:t>
            </a:r>
            <a:endParaRPr lang="en-US" sz="1200" dirty="0"/>
          </a:p>
        </p:txBody>
      </p:sp>
      <p:sp>
        <p:nvSpPr>
          <p:cNvPr id="20" name="caption"/>
          <p:cNvSpPr txBox="1"/>
          <p:nvPr/>
        </p:nvSpPr>
        <p:spPr>
          <a:xfrm>
            <a:off x="6102559" y="5760720"/>
            <a:ext cx="5540496"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Side view along a room diagonal: same floor spot, two heights; an example shelf</a:t>
            </a:r>
            <a:endParaRPr lang="en-US" sz="11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Claw Electrical</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4476774"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protected 2-cell lithium-polymer pack (7.4 V, 2200 mAh), 5 A fuse, main switch</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6 V regulator for the servo only; separate 5 V for the controller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Peak ≈ 2.8–3.1 A against a ≈ 3 A pack rating: stalls stay short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Charged with the switch off, attended, 8.4 V at ≤ 1 A</a:t>
            </a:r>
            <a:endParaRPr lang="en-US" sz="2000" dirty="0"/>
          </a:p>
        </p:txBody>
      </p:sp>
      <p:sp>
        <p:nvSpPr>
          <p:cNvPr id="6" name="Shape 4"/>
          <p:cNvSpPr/>
          <p:nvPr/>
        </p:nvSpPr>
        <p:spPr>
          <a:xfrm>
            <a:off x="5436894" y="1463040"/>
            <a:ext cx="6206161" cy="4526280"/>
          </a:xfrm>
          <a:prstGeom prst="rect">
            <a:avLst/>
          </a:prstGeom>
          <a:solidFill>
            <a:srgbClr val="F2F2F2"/>
          </a:solidFill>
          <a:ln w="12700">
            <a:solidFill>
              <a:srgbClr val="F2F2F2"/>
            </a:solidFill>
            <a:prstDash val="solid"/>
          </a:ln>
        </p:spPr>
      </p:sp>
      <p:pic>
        <p:nvPicPr>
          <p:cNvPr id="7" name="Claw schematic" descr="Claw schematic">    </p:cNvPr>
          <p:cNvPicPr>
            <a:picLocks noChangeAspect="1"/>
          </p:cNvPicPr>
          <p:nvPr/>
        </p:nvPicPr>
        <p:blipFill>
          <a:blip r:embed="rId1"/>
          <a:stretch>
            <a:fillRect/>
          </a:stretch>
        </p:blipFill>
        <p:spPr>
          <a:xfrm>
            <a:off x="5491758" y="1570308"/>
            <a:ext cx="6096433" cy="4311743"/>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Gear Strength</a:t>
            </a:r>
            <a:endParaRPr lang="en-US" sz="3000" dirty="0"/>
          </a:p>
        </p:txBody>
      </p:sp>
      <p:sp>
        <p:nvSpPr>
          <p:cNvPr id="4" name="status chip"/>
          <p:cNvSpPr/>
          <p:nvPr/>
        </p:nvSpPr>
        <p:spPr>
          <a:xfrm>
            <a:off x="10134295" y="621792"/>
            <a:ext cx="1508760" cy="365760"/>
          </a:xfrm>
          <a:prstGeom prst="roundRect">
            <a:avLst>
              <a:gd name="adj" fmla="val 50000"/>
            </a:avLst>
          </a:prstGeom>
          <a:solidFill>
            <a:srgbClr val="FFFFFF"/>
          </a:solidFill>
          <a:ln w="15875">
            <a:solidFill>
              <a:srgbClr val="1F3A5F"/>
            </a:solidFill>
            <a:prstDash val="solid"/>
          </a:ln>
        </p:spPr>
      </p:sp>
      <p:sp>
        <p:nvSpPr>
          <p:cNvPr id="5" name="status"/>
          <p:cNvSpPr txBox="1"/>
          <p:nvPr/>
        </p:nvSpPr>
        <p:spPr>
          <a:xfrm>
            <a:off x="10134295" y="621792"/>
            <a:ext cx="1508760" cy="36576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Calculated</a:t>
            </a:r>
            <a:endParaRPr lang="en-US" sz="1200" dirty="0"/>
          </a:p>
        </p:txBody>
      </p:sp>
      <p:sp>
        <p:nvSpPr>
          <p:cNvPr id="6" name="title rule"/>
          <p:cNvSpPr/>
          <p:nvPr/>
        </p:nvSpPr>
        <p:spPr>
          <a:xfrm>
            <a:off x="548640" y="1234440"/>
            <a:ext cx="11094415" cy="0"/>
          </a:xfrm>
          <a:prstGeom prst="line">
            <a:avLst/>
          </a:prstGeom>
          <a:noFill/>
          <a:ln w="9525">
            <a:solidFill>
              <a:srgbClr val="BFBFBF"/>
            </a:solidFill>
            <a:prstDash val="solid"/>
          </a:ln>
        </p:spPr>
      </p:sp>
      <p:sp>
        <p:nvSpPr>
          <p:cNvPr id="7" name="bullets"/>
          <p:cNvSpPr txBox="1"/>
          <p:nvPr/>
        </p:nvSpPr>
        <p:spPr>
          <a:xfrm>
            <a:off x="548640" y="1463040"/>
            <a:ext cx="4920551" cy="3666744"/>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1.5, PETG allowable 22.5 MPa</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At servo stall: pinion safety factor 2.05, 36-tooth gear 2.50, sync gear 2.00</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Module 1 screened first: 0.35–0.41, so the module went up</a:t>
            </a:r>
            <a:endParaRPr lang="en-US" sz="2000" dirty="0"/>
          </a:p>
        </p:txBody>
      </p:sp>
      <p:sp>
        <p:nvSpPr>
          <p:cNvPr id="8" name="equation box"/>
          <p:cNvSpPr/>
          <p:nvPr/>
        </p:nvSpPr>
        <p:spPr>
          <a:xfrm>
            <a:off x="548640" y="5312664"/>
            <a:ext cx="4920551" cy="950976"/>
          </a:xfrm>
          <a:prstGeom prst="rect">
            <a:avLst/>
          </a:prstGeom>
          <a:solidFill>
            <a:srgbClr val="F2F2F2"/>
          </a:solidFill>
          <a:ln w="6350">
            <a:solidFill>
              <a:srgbClr val="F2F2F2"/>
            </a:solidFill>
            <a:prstDash val="solid"/>
          </a:ln>
        </p:spPr>
      </p:sp>
      <p:sp>
        <p:nvSpPr>
          <p:cNvPr id="9" name="equation label"/>
          <p:cNvSpPr txBox="1"/>
          <p:nvPr/>
        </p:nvSpPr>
        <p:spPr>
          <a:xfrm>
            <a:off x="713232" y="5394960"/>
            <a:ext cx="4591367" cy="219456"/>
          </a:xfrm>
          <a:prstGeom prst="rect">
            <a:avLst/>
          </a:prstGeom>
          <a:noFill/>
          <a:ln/>
        </p:spPr>
        <p:txBody>
          <a:bodyPr wrap="square" lIns="0" tIns="0" rIns="0" bIns="0" rtlCol="0" anchor="ctr"/>
          <a:lstStyle/>
          <a:p>
            <a:pPr indent="0" marL="0">
              <a:buNone/>
            </a:pPr>
            <a:r>
              <a:rPr lang="en-US" sz="1100" b="1" dirty="0">
                <a:solidFill>
                  <a:srgbClr val="404040"/>
                </a:solidFill>
                <a:latin typeface="Arial" pitchFamily="34" charset="0"/>
                <a:ea typeface="Arial" pitchFamily="34" charset="-122"/>
                <a:cs typeface="Arial" pitchFamily="34" charset="-120"/>
              </a:rPr>
              <a:t>Key equations</a:t>
            </a:r>
            <a:endParaRPr lang="en-US" sz="1100" dirty="0"/>
          </a:p>
        </p:txBody>
      </p:sp>
      <p:sp>
        <p:nvSpPr>
          <p:cNvPr id="10" name="equations"/>
          <p:cNvSpPr txBox="1"/>
          <p:nvPr/>
        </p:nvSpPr>
        <p:spPr>
          <a:xfrm>
            <a:off x="713232" y="5641848"/>
            <a:ext cx="4591367" cy="329184"/>
          </a:xfrm>
          <a:prstGeom prst="rect">
            <a:avLst/>
          </a:prstGeom>
          <a:noFill/>
          <a:ln/>
        </p:spPr>
        <p:txBody>
          <a:bodyPr wrap="square" lIns="0" tIns="0" rIns="0" bIns="0" rtlCol="0" anchor="t"/>
          <a:lstStyle/>
          <a:p>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σ =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(b m Y),   F</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t</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2τ / d,   SF = σ</a:t>
            </a:r>
            <a:pPr algn="l" indent="0" marL="0">
              <a:spcAft>
                <a:spcPts val="400"/>
              </a:spcAft>
              <a:buNone/>
            </a:pPr>
            <a:r>
              <a:rPr lang="en-US" sz="1500" baseline="-40000" dirty="0">
                <a:solidFill>
                  <a:srgbClr val="000000"/>
                </a:solidFill>
                <a:latin typeface="Cambria" pitchFamily="34" charset="0"/>
                <a:ea typeface="Cambria" pitchFamily="34" charset="-122"/>
                <a:cs typeface="Cambria" pitchFamily="34" charset="-120"/>
              </a:rPr>
              <a:t>allow</a:t>
            </a:r>
            <a:pPr algn="l" indent="0" marL="0">
              <a:spcAft>
                <a:spcPts val="400"/>
              </a:spcAft>
              <a:buNone/>
            </a:pPr>
            <a:r>
              <a:rPr lang="en-US" sz="1500" dirty="0">
                <a:solidFill>
                  <a:srgbClr val="000000"/>
                </a:solidFill>
                <a:latin typeface="Cambria" pitchFamily="34" charset="0"/>
                <a:ea typeface="Cambria" pitchFamily="34" charset="-122"/>
                <a:cs typeface="Cambria" pitchFamily="34" charset="-120"/>
              </a:rPr>
              <a:t> / σ</a:t>
            </a:r>
            <a:endParaRPr lang="en-US" sz="1500" dirty="0"/>
          </a:p>
        </p:txBody>
      </p:sp>
      <p:sp>
        <p:nvSpPr>
          <p:cNvPr id="11" name="equation source"/>
          <p:cNvSpPr txBox="1"/>
          <p:nvPr/>
        </p:nvSpPr>
        <p:spPr>
          <a:xfrm>
            <a:off x="713232" y="5961888"/>
            <a:ext cx="4591367" cy="219456"/>
          </a:xfrm>
          <a:prstGeom prst="rect">
            <a:avLst/>
          </a:prstGeom>
          <a:noFill/>
          <a:ln/>
        </p:spPr>
        <p:txBody>
          <a:bodyPr wrap="square" lIns="0" tIns="0" rIns="0" bIns="0" rtlCol="0" anchor="ctr"/>
          <a:lstStyle/>
          <a:p>
            <a:pPr indent="0" marL="0">
              <a:buNone/>
            </a:pPr>
            <a:r>
              <a:rPr lang="en-US" sz="1050" dirty="0">
                <a:solidFill>
                  <a:srgbClr val="7F7F7F"/>
                </a:solidFill>
                <a:latin typeface="Arial" pitchFamily="34" charset="0"/>
                <a:ea typeface="Arial" pitchFamily="34" charset="-122"/>
                <a:cs typeface="Arial" pitchFamily="34" charset="-120"/>
              </a:rPr>
              <a:t>SF: safety factor; Y: Lewis form factor</a:t>
            </a:r>
            <a:endParaRPr lang="en-US" sz="1050" dirty="0"/>
          </a:p>
        </p:txBody>
      </p:sp>
      <p:sp>
        <p:nvSpPr>
          <p:cNvPr id="12" name="Shape 10"/>
          <p:cNvSpPr/>
          <p:nvPr/>
        </p:nvSpPr>
        <p:spPr>
          <a:xfrm>
            <a:off x="5880671" y="1463040"/>
            <a:ext cx="2812612" cy="4526280"/>
          </a:xfrm>
          <a:prstGeom prst="rect">
            <a:avLst/>
          </a:prstGeom>
          <a:solidFill>
            <a:srgbClr val="F2F2F2"/>
          </a:solidFill>
          <a:ln w="12700">
            <a:solidFill>
              <a:srgbClr val="F2F2F2"/>
            </a:solidFill>
            <a:prstDash val="solid"/>
          </a:ln>
        </p:spPr>
      </p:sp>
      <p:pic>
        <p:nvPicPr>
          <p:cNvPr id="13" name="Compound and follower gears" descr="Compound and follower gears">    </p:cNvPr>
          <p:cNvPicPr>
            <a:picLocks noChangeAspect="1"/>
          </p:cNvPicPr>
          <p:nvPr/>
        </p:nvPicPr>
        <p:blipFill>
          <a:blip r:embed="rId1"/>
          <a:stretch>
            <a:fillRect/>
          </a:stretch>
        </p:blipFill>
        <p:spPr>
          <a:xfrm>
            <a:off x="5935535" y="2252689"/>
            <a:ext cx="2702884" cy="2946983"/>
          </a:xfrm>
          <a:prstGeom prst="rect">
            <a:avLst/>
          </a:prstGeom>
        </p:spPr>
      </p:pic>
      <p:sp>
        <p:nvSpPr>
          <p:cNvPr id="14" name="Shape 11"/>
          <p:cNvSpPr/>
          <p:nvPr/>
        </p:nvSpPr>
        <p:spPr>
          <a:xfrm>
            <a:off x="8830443" y="1463040"/>
            <a:ext cx="2812612" cy="4526280"/>
          </a:xfrm>
          <a:prstGeom prst="rect">
            <a:avLst/>
          </a:prstGeom>
          <a:solidFill>
            <a:srgbClr val="F2F2F2"/>
          </a:solidFill>
          <a:ln w="12700">
            <a:solidFill>
              <a:srgbClr val="F2F2F2"/>
            </a:solidFill>
            <a:prstDash val="solid"/>
          </a:ln>
        </p:spPr>
      </p:sp>
      <p:pic>
        <p:nvPicPr>
          <p:cNvPr id="15" name="Compound and follower gears" descr="Compound and follower gears">    </p:cNvPr>
          <p:cNvPicPr>
            <a:picLocks noChangeAspect="1"/>
          </p:cNvPicPr>
          <p:nvPr/>
        </p:nvPicPr>
        <p:blipFill>
          <a:blip r:embed="rId2"/>
          <a:stretch>
            <a:fillRect/>
          </a:stretch>
        </p:blipFill>
        <p:spPr>
          <a:xfrm>
            <a:off x="8885307" y="2570366"/>
            <a:ext cx="2702884" cy="2311627"/>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Safety</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91904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One hard stop: the switched power strip; faults and PAUSE hold torque</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Stations anchor into studs</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Nobody stands under the robot</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Never plug or unplug a motor under power</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No safety-rated function is claimed</a:t>
            </a:r>
            <a:endParaRPr lang="en-US" sz="2000" dirty="0"/>
          </a:p>
        </p:txBody>
      </p:sp>
      <p:sp>
        <p:nvSpPr>
          <p:cNvPr id="6" name="Shape 4"/>
          <p:cNvSpPr/>
          <p:nvPr/>
        </p:nvSpPr>
        <p:spPr>
          <a:xfrm>
            <a:off x="6879168" y="1463040"/>
            <a:ext cx="4763887" cy="4526280"/>
          </a:xfrm>
          <a:prstGeom prst="rect">
            <a:avLst/>
          </a:prstGeom>
          <a:solidFill>
            <a:srgbClr val="F2F2F2"/>
          </a:solidFill>
          <a:ln w="12700">
            <a:solidFill>
              <a:srgbClr val="F2F2F2"/>
            </a:solidFill>
            <a:prstDash val="solid"/>
          </a:ln>
        </p:spPr>
      </p:sp>
      <p:pic>
        <p:nvPicPr>
          <p:cNvPr id="7" name="Wall station" descr="Wall station">    </p:cNvPr>
          <p:cNvPicPr>
            <a:picLocks noChangeAspect="1"/>
          </p:cNvPicPr>
          <p:nvPr/>
        </p:nvPicPr>
        <p:blipFill>
          <a:blip r:embed="rId1"/>
          <a:stretch>
            <a:fillRect/>
          </a:stretch>
        </p:blipFill>
        <p:spPr>
          <a:xfrm>
            <a:off x="7445889" y="1517904"/>
            <a:ext cx="3630445" cy="4416552"/>
          </a:xfrm>
          <a:prstGeom prst="rect">
            <a:avLst/>
          </a:prstGeom>
        </p:spPr>
      </p:pic>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Acronyms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2440771"/>
                <a:gridCol w="8653644"/>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Term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Meaning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CAD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Computer-aided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PETG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Polyethylene terephthalate glycol (the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TPU</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Thermoplastic polyurethane (flexible printed plastic)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NEMA 17</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National Electrical Manufacturers Association motor frame, 1.7 in square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I²C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Inter-Integrated Circuit: a short-range two-wire sensor bus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ESP32</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A Wi-Fi microcontroller family (Espressif)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A4988 · AS5600</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Stepper-motor driver chip (Allegro) · magnetic angle sensor (ams)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YOLO</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“You Only Look Once”: an object-detection model family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400" b="1" dirty="0">
                          <a:solidFill>
                            <a:srgbClr val="000000"/>
                          </a:solidFill>
                          <a:latin typeface="Arial" pitchFamily="34" charset="0"/>
                          <a:ea typeface="Arial" pitchFamily="34" charset="-122"/>
                          <a:cs typeface="Arial" pitchFamily="34" charset="-120"/>
                        </a:rPr>
                        <a:t>SF</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000000"/>
                          </a:solidFill>
                          <a:latin typeface="Arial" pitchFamily="34" charset="0"/>
                          <a:ea typeface="Arial" pitchFamily="34" charset="-122"/>
                          <a:cs typeface="Arial" pitchFamily="34" charset="-120"/>
                        </a:rPr>
                        <a:t>Safety factor: allowable stress ÷ actual stress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tory tracker"/>
          <p:cNvSpPr txBox="1"/>
          <p:nvPr/>
        </p:nvSpPr>
        <p:spPr>
          <a:xfrm>
            <a:off x="548640" y="237744"/>
            <a:ext cx="7315200" cy="237744"/>
          </a:xfrm>
          <a:prstGeom prst="rect">
            <a:avLst/>
          </a:prstGeom>
          <a:noFill/>
          <a:ln/>
        </p:spPr>
        <p:txBody>
          <a:bodyPr wrap="square" lIns="0" tIns="0" rIns="0" bIns="0" rtlCol="0" anchor="ctr"/>
          <a:lstStyle/>
          <a:p>
            <a:pPr indent="0" marL="0">
              <a:buNone/>
            </a:pPr>
            <a:r>
              <a:rPr lang="en-US" sz="1100" b="1" spc="100" kern="0" dirty="0">
                <a:solidFill>
                  <a:srgbClr val="1F3A5F"/>
                </a:solidFill>
                <a:latin typeface="Arial" pitchFamily="34" charset="0"/>
                <a:ea typeface="Arial" pitchFamily="34" charset="-122"/>
                <a:cs typeface="Arial" pitchFamily="34" charset="-120"/>
              </a:rPr>
              <a:t>BACKUP</a:t>
            </a:r>
            <a:endParaRPr lang="en-US" sz="1100" dirty="0"/>
          </a:p>
        </p:txBody>
      </p:sp>
      <p:sp>
        <p:nvSpPr>
          <p:cNvPr id="3" name="title"/>
          <p:cNvSpPr txBox="1"/>
          <p:nvPr/>
        </p:nvSpPr>
        <p:spPr>
          <a:xfrm>
            <a:off x="548640" y="502920"/>
            <a:ext cx="7985455" cy="640080"/>
          </a:xfrm>
          <a:prstGeom prst="rect">
            <a:avLst/>
          </a:prstGeom>
          <a:noFill/>
          <a:ln/>
        </p:spPr>
        <p:txBody>
          <a:bodyPr wrap="square" lIns="0" tIns="0" rIns="0" bIns="0" rtlCol="0" anchor="ctr"/>
          <a:lstStyle/>
          <a:p>
            <a:pPr indent="0" marL="0">
              <a:buNone/>
            </a:pPr>
            <a:r>
              <a:rPr lang="en-US" sz="3000" b="1" dirty="0">
                <a:solidFill>
                  <a:srgbClr val="000000"/>
                </a:solidFill>
                <a:latin typeface="Arial" pitchFamily="34" charset="0"/>
                <a:ea typeface="Arial" pitchFamily="34" charset="-122"/>
                <a:cs typeface="Arial" pitchFamily="34" charset="-120"/>
              </a:rPr>
              <a:t>Calculations and Sources</a:t>
            </a:r>
            <a:endParaRPr lang="en-US" sz="3000" dirty="0"/>
          </a:p>
        </p:txBody>
      </p:sp>
      <p:sp>
        <p:nvSpPr>
          <p:cNvPr id="4" name="title rule"/>
          <p:cNvSpPr/>
          <p:nvPr/>
        </p:nvSpPr>
        <p:spPr>
          <a:xfrm>
            <a:off x="548640" y="1234440"/>
            <a:ext cx="11094415" cy="0"/>
          </a:xfrm>
          <a:prstGeom prst="line">
            <a:avLst/>
          </a:prstGeom>
          <a:noFill/>
          <a:ln w="9525">
            <a:solidFill>
              <a:srgbClr val="BFBFBF"/>
            </a:solidFill>
            <a:prstDash val="solid"/>
          </a:ln>
        </p:spPr>
      </p:sp>
      <p:sp>
        <p:nvSpPr>
          <p:cNvPr id="5" name="bullets"/>
          <p:cNvSpPr txBox="1"/>
          <p:nvPr/>
        </p:nvSpPr>
        <p:spPr>
          <a:xfrm>
            <a:off x="548640" y="1463040"/>
            <a:ext cx="5364328" cy="4754880"/>
          </a:xfrm>
          <a:prstGeom prst="rect">
            <a:avLst/>
          </a:prstGeom>
          <a:noFill/>
          <a:ln/>
        </p:spPr>
        <p:txBody>
          <a:bodyPr wrap="square" lIns="25400" tIns="0" rIns="50800" bIns="25400" rtlCol="0" anchor="t"/>
          <a:lstStyle/>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chart comes from my calculation sheet, one tab per topic</a:t>
            </a:r>
            <a:endParaRPr lang="en-US" sz="2000" dirty="0"/>
          </a:p>
          <a:p>
            <a:pPr algn="l" marL="254000" indent="-254000">
              <a:spcAft>
                <a:spcPts val="1400"/>
              </a:spcAft>
              <a:buSzPct val="100000"/>
              <a:buChar char="•"/>
            </a:pPr>
            <a:r>
              <a:rPr lang="en-US" sz="2000" dirty="0">
                <a:solidFill>
                  <a:srgbClr val="000000"/>
                </a:solidFill>
                <a:latin typeface="Arial" pitchFamily="34" charset="0"/>
                <a:ea typeface="Arial" pitchFamily="34" charset="-122"/>
                <a:cs typeface="Arial" pitchFamily="34" charset="-120"/>
              </a:rPr>
              <a:t>Every result is a formula on marked inputs</a:t>
            </a:r>
            <a:endParaRPr lang="en-US" sz="2000" dirty="0"/>
          </a:p>
          <a:p>
            <a:pPr algn="l" marL="254000" indent="-254000">
              <a:spcAft>
                <a:spcPts val="1400"/>
              </a:spcAft>
              <a:buSzPct val="100000"/>
              <a:buChar char="•"/>
            </a:pPr>
            <a:r>
              <a:rPr lang="en-US" sz="2000" b="1" dirty="0">
                <a:solidFill>
                  <a:srgbClr val="000000"/>
                </a:solidFill>
                <a:latin typeface="Arial" pitchFamily="34" charset="0"/>
                <a:ea typeface="Arial" pitchFamily="34" charset="-122"/>
                <a:cs typeface="Arial" pitchFamily="34" charset="-120"/>
              </a:rPr>
              <a:t>Sources:</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Incropera et al., Fundamentals of Heat and Mass Transfer, ch. 3</a:t>
            </a:r>
            <a:endParaRPr lang="en-US" sz="2000" dirty="0"/>
          </a:p>
          <a:p>
            <a:pPr algn="l" lvl="1" marL="457200" indent="-228600">
              <a:spcAft>
                <a:spcPts val="1000"/>
              </a:spcAft>
              <a:buSzPct val="100000"/>
              <a:buChar char="•"/>
            </a:pPr>
            <a:r>
              <a:rPr lang="en-US" sz="1700" dirty="0">
                <a:solidFill>
                  <a:srgbClr val="404040"/>
                </a:solidFill>
                <a:latin typeface="Arial" pitchFamily="34" charset="0"/>
                <a:ea typeface="Arial" pitchFamily="34" charset="-122"/>
                <a:cs typeface="Arial" pitchFamily="34" charset="-120"/>
              </a:rPr>
              <a:t>Allegro MicroSystems, A4988 datasheet</a:t>
            </a:r>
            <a:endParaRPr lang="en-US" sz="2000" dirty="0"/>
          </a:p>
        </p:txBody>
      </p:sp>
      <p:pic>
        <p:nvPicPr>
          <p:cNvPr id="6" name="Chart from the calculation sheet: Cable " descr="Chart from the calculation sheet: Cable tension">    </p:cNvPr>
          <p:cNvPicPr>
            <a:picLocks noChangeAspect="1"/>
          </p:cNvPicPr>
          <p:nvPr/>
        </p:nvPicPr>
        <p:blipFill>
          <a:blip r:embed="rId1"/>
          <a:stretch>
            <a:fillRect/>
          </a:stretch>
        </p:blipFill>
        <p:spPr>
          <a:xfrm>
            <a:off x="6324448" y="1554480"/>
            <a:ext cx="5318608" cy="3661008"/>
          </a:xfrm>
          <a:prstGeom prst="rect">
            <a:avLst/>
          </a:prstGeom>
        </p:spPr>
      </p:pic>
      <p:sp>
        <p:nvSpPr>
          <p:cNvPr id="7" name="chart frame"/>
          <p:cNvSpPr/>
          <p:nvPr/>
        </p:nvSpPr>
        <p:spPr>
          <a:xfrm>
            <a:off x="6324448" y="1554480"/>
            <a:ext cx="5318608" cy="3661008"/>
          </a:xfrm>
          <a:prstGeom prst="rect">
            <a:avLst/>
          </a:prstGeom>
          <a:ln w="9525">
            <a:solidFill>
              <a:srgbClr val="BFBFBF"/>
            </a:solidFill>
            <a:prstDash val="solid"/>
          </a:ln>
        </p:spPr>
      </p:sp>
      <p:sp>
        <p:nvSpPr>
          <p:cNvPr id="8" name="caption"/>
          <p:cNvSpPr txBox="1"/>
          <p:nvPr/>
        </p:nvSpPr>
        <p:spPr>
          <a:xfrm>
            <a:off x="6324448" y="5288640"/>
            <a:ext cx="5318608" cy="292608"/>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My calculation sheet (Google Sheets), “Cable tension” tab. Calculated, not measured.</a:t>
            </a:r>
            <a:endParaRPr lang="en-US" sz="1100" dirty="0"/>
          </a:p>
        </p:txBody>
      </p:sp>
      <p:sp>
        <p:nvSpPr>
          <p:cNvPr id="10" name="sheet link"/>
          <p:cNvSpPr txBox="1"/>
          <p:nvPr/>
        </p:nvSpPr>
        <p:spPr>
          <a:xfrm>
            <a:off x="548640" y="5760720"/>
            <a:ext cx="5029200" cy="365760"/>
          </a:xfrm>
          <a:prstGeom prst="rect">
            <a:avLst/>
          </a:prstGeom>
          <a:noFill/>
          <a:ln/>
        </p:spPr>
        <p:txBody>
          <a:bodyPr wrap="square" lIns="0" tIns="0" rIns="0" bIns="0" rtlCol="0" anchor="ctr"/>
          <a:lstStyle/>
          <a:p>
            <a:pPr indent="0" marL="0">
              <a:buNone/>
            </a:pPr>
            <a:r>
              <a:rPr lang="en-US" sz="1500" u="sng" dirty="0">
                <a:solidFill>
                  <a:srgbClr val="1F3A5F"/>
                </a:solidFill>
                <a:latin typeface="Arial" pitchFamily="34" charset="0"/>
                <a:ea typeface="Arial" pitchFamily="34" charset="-122"/>
                <a:cs typeface="Arial" pitchFamily="34" charset="-120"/>
                <a:hlinkClick r:id="rId2" invalidUrl="" action="" tgtFrame="" tooltip="Open the calculation sheet" history="1" highlightClick="0" endSnd="0">
                  <a:extLst>
                    <a:ext uri="{A12FA001-AC4F-418D-AE19-62706E023703}">
                      <ahyp:hlinkClr xmlns:ahyp="http://schemas.microsoft.com/office/drawing/2018/hyperlinkcolor" val="tx"/>
                    </a:ext>
                  </a:extLst>
                </a:hlinkClick>
              </a:rPr>
              <a:t>RoomCleaner engineering calculations (Google Sheets)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theme/theme1.xml><?xml version="1.0" encoding="utf-8"?>
<a:theme xmlns:a="http://schemas.openxmlformats.org/drawingml/2006/main" name="RoomCleaner v5">
  <a:themeElements>
    <a:clrScheme name="RoomCleaner v5">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5">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2026-10-22T14:26:18Z</dcterms:created>
  <dcterms:modified xsi:type="dcterms:W3CDTF">2026-10-22T14:26:18Z</dcterms:modified>
</cp:coreProperties>
</file>