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97f34c8-2e8b-0994-a03c-9f6b0a76b331}">
          <p14:sldIdLst>
            <p14:sldId id="256"/>
            <p14:sldId id="257"/>
            <p14:sldId id="258"/>
            <p14:sldId id="259"/>
            <p14:sldId id="260"/>
          </p14:sldIdLst>
        </p14:section>
        <p14:section name="Design" id="{6c8c096e-a421-ad4d-785f-9be67e0bc7cb}">
          <p14:sldIdLst>
            <p14:sldId id="261"/>
            <p14:sldId id="262"/>
            <p14:sldId id="263"/>
            <p14:sldId id="264"/>
            <p14:sldId id="265"/>
            <p14:sldId id="266"/>
            <p14:sldId id="267"/>
            <p14:sldId id="268"/>
            <p14:sldId id="269"/>
            <p14:sldId id="270"/>
          </p14:sldIdLst>
        </p14:section>
        <p14:section name="Build" id="{81a3e243-af96-e2da-0302-e1ed29abbdc2}">
          <p14:sldIdLst>
            <p14:sldId id="271"/>
            <p14:sldId id="272"/>
            <p14:sldId id="273"/>
          </p14:sldIdLst>
        </p14:section>
        <p14:section name="Test" id="{844e9479-b659-4ba7-e497-1b526c4854cb}">
          <p14:sldIdLst>
            <p14:sldId id="274"/>
            <p14:sldId id="275"/>
          </p14:sldIdLst>
        </p14:section>
        <p14:section name="Lessons" id="{deb19a1f-8d5e-82ff-a5b6-9a43e3025ca6}">
          <p14:sldIdLst>
            <p14:sldId id="276"/>
            <p14:sldId id="277"/>
            <p14:sldId id="278"/>
          </p14:sldIdLst>
        </p14:section>
        <p14:section name="Close" id="{0c7710d3-fbd9-e088-8893-80f3247e57de}">
          <p14:sldIdLst>
            <p14:sldId id="279"/>
          </p14:sldIdLst>
        </p14:section>
        <p14:section name="Backup" id="{ebc7ebc6-59d9-b9a3-b655-dc0fcd6236ee}">
          <p14:sldIdLst>
            <p14:sldId id="280"/>
            <p14:sldId id="281"/>
            <p14:sldId id="282"/>
            <p14:sldId id="283"/>
            <p14:sldId id="284"/>
            <p14:sldId id="285"/>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four winches near the ceiling corners hold one claw on cables; it picks clothes off the floor and drops them in a hamper. Then straight to who I 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minute. Degree and graduation date, EcoFil (what each stage does, what you learned), the sculptures (fiber laser and welding: real fabrication), one hobby. Close with why a laundry robot: a problem you have, and a machine you could build end to end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 cable robot: it covers the whole floor, nothing stands on the floor, and the moving mass is small. Safety rules: stations anchor into studs, the switched power strip is the one hard stop, nobody stands under the robot. 0.9 kg is a screening figure for jeans; the first physical test is 1 lb. The claw tube is 10.5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weeks, alone. Gen 1 (August) worked on the bench: corner plates, one central controller board, a finger claw. September to early October was the rethink that drove gen 2: sensors at every winch, the wiring that caused, and the line outlets. Gen 2 in October went through three station and three spool versions to the final design on Oct 21. This week: build and the first test. Say plainly what is mine and what is bought. [Confirm the start date (git shows Jul 16) and what happened in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Zoomed out: only the bottom layer turns a motor. The phone asks the supervisor; the supervisor holds one robot state; the planner checks every point of a path before anything moves; the stations run the motion on their own clocks and hold if the laptop goes quiet. The claw is a camera plus a gripper that obeys. Details are in the backup slides (one run end to end, obstacles, the phone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things I optimize, each with a number. Two are not met today: lift capacity and claw mass, and they are the same problem seen from two sides. Motor temperature is tight since the 1.5 A change. Working area and wiring are met by the design. Accuracy, speed and cost wait on the hardware test and the receipts. Safety is a constraint, not an objective: I never trade it for any of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lever helps one thing and hurts another, and each design slide after this is one of these trades. Current: pull goes with I but heat goes with I squared, so 41 % more pull costs twice the heat. Claw strength: the stall check pushed the gears from module 1 to 1.5, and every gram of claw comes out of the payload. Room size: wire resistance grows with length, R = ρL/A; that is why only power travels, and the longest 32 ft run drops 0.51 V at 2 A on 16 AWG. Reach: tension doubles each time the depth below the anchors halves. Spool: a smaller radius pulls harder but reels slower, and the radius grows as the line winds on. Margins: they buy safety with force and floor area. The chain at the bottom is why weight matters so much: a heavier claw needs more pull, more pull needs more current, and the heat grows with the square of the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Force balance on the claw: the cable pulls and the weight sum to zero. Centred claw, equal shares. D_h = 2.17 m from the room centre to a corner. The tension doubles each time the depth halves near the ceiling, so the ceiling margin is set by tension, not by collision. At 1.06 A the design force was 11.9 N, so 0.4 m was only just enough standing still (12.2 N). At 1.5 A it is 16.8 N, so 0.4 m also covers the 2 m/s² acceleration case (14.7 N). 0.3 m would now hold standing still (16.2 N) but not while accelerating (19.5 N), so I keep 0.4 m. If asked about a corner pick: the far cables go near-horizontal and carry little; the planner checks every cable stays inside its tension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limit from the driver's reference voltage (A4988 datasheet): the first boards topped out at 0.85 V, which is 1.06 A. I got the drivers to 1.5 A, the motor's rated current, so every pull goes up 41 % (1.5 / 1.06). [Fill in: how, and the Vref you read.] The cost is heat: the motor makes twice the heat (next slides). Running torque is lower than holding torque; I assumed 0.7, and the pull test measures it. A smaller spool gives more pull per amp but more turns per metre. The 1.5 margin covers skipped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cable routes are 6, 21, 23 and 32 ft (82 ft). 10 conductors × 82 ft = 820 ft against 2 × 82 ft = 164 ft for one power pair. The cost: sync moved into software. Each station runs time-stamped segments on its own clock; any lost link means hold. Timing skew becomes cable mismatch: 50 mm/s × 50 ms = 2.5 mm, which is why segments are time-stamped.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motor to shell air to room, with the fin as a second path out. At 1.5 A the motor makes 4.05 W, double the 2.0 W at 1.06 A. Sheet results, vented shell: no fin 77 °C, 0.019 in fin 57.6 °C, 1/8 in fin 48.9 °C; sealed: 99, 66 and 54 °C, so the shell stays vented. With radiation from the black paint included (refined model) the 1/8 in fin gives about 45 °C. The driver chip also heats more; if it overheats it shuts off and the winch loses torque, so the hold test watches it too. Fallback: 1.35 A. Shape: one tall blade from the heat source, like an antelope horn.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length: L95, where a fin gets 95 % of the heat an infinitely long one would. The thin sheet reaches it at 136 mm, so most of its 200 mm does little; the 1/8 in plate keeps gaining to 349 mm, so 200 mm is a compromise with the ceiling (the fin top is 229 mm above the shaft). At 200 mm: sheet 37 % efficient and 22.1 K/W; 1/8 in plate 74 % and 10.9 K/W. Fin equations: Incropera, Fundamentals of Heat and Mass Transfer, ch.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a poor first plan, caught on paper before it was built. The trade-off is physical, so software cannot remove it. Replacement: take up slack one cable at a time, lift, look at the floor board from several poses, least-squares fit of anchors and zero lengths, check on held-out poses. Safety comes from margins (0.4 m below the anchors, 0.2 m inside the walls), not precision. Four tags in view: 0.7 mm vs 6.6 mm with one (backup slide). Simulated so far; tonight is the first hardware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generation fixed a problem found in the one before. Mass drove most changes: every gram of claw is a gram of laundry the winches cannot lift. Four-bar: ground 36.5, crank 53, rocker 50, coupler 34.7 mm; jaws parallel within about 1 degree; closing drops the tips about 38 mm, a scoop. Gear train: servo, 18T pinion, 36T/24T compound, 24T sync gear. Lewis check at servo stall: module 1 safety factor 0.35 to 0.41, so the module went up. The camera also moved from the ceiling into the claw: it sees the grasp and reads the floor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even at 1.5 A the current claw plus jeans is too heavy, by about 0.2 kg instead of 0.66 kg. Root cause: I set the mass budget late, after the claw grew. Capacity = design force / (worst tension per unit weight × g) = 16.8 / (1.101 × 9.81) = 1.56 kg; the worst point is the middle of a long wall at task height. Claw mass estimate: 0.55 infill fraction × 927 g solid + 198 g tube + 55 g servo ≈ 0.76 kg. The pull test turns the 0.7 running-torque assumption into a measurement, and that number picks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Orientation: flat face on the bed, loads along the layers, no supports on mating faces. Bearing pocket Ø14.075 with a Ø14.000 lead-in lip. Heat-set M3 inserts where screws are reused. Spool v1 was longer than the motor shaft could engage; v2's Ø5.2 bore printed too tight on the 5 mm shaft, so the printer undersize is at least 0.2 mm; v3 opened it to Ø5.45 (about 0.25 mm clearance) with a D-flat. Ø15 core, 16 mm drum: 20 ft of line in 5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setup from the same two edges means hole-to-hole errors do not stack. Holes: a 7/8 in pilot for the motor boss and 4 × Ø3.4 on the 31 mm motor square. Paint everywhere except the motor contact square, which gets thermal paste. [Fill in: time per fin, how many made, any scrap.]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Boot-safe: a 10k pull-up holds the driver's enable pin off until the firmware arms it. USB and the 5 V buck cannot back-feed each other (link jumper plus a Schottky diode). The schematic is generated from the soldered board's net list, so the two cannot disagree. The 1.14 V story: measure the hardware before trusting the software's view of it. Checklist: logic supply, sleep, enable and the buck output on every new board. [Fill in: exact readings, date, what you tried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cables, three unknown tensions, three force equations: statically determinate, so the tensions are solved exactly and slack shows up directly. It is the simplest real test of the calibration and the coordinated motion. Logged: cable lengths, encoder counts, motor temperatures, the fit's error bars. Fill in the results after the test, including any that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 °C limit is for the loaded PETG, and that is the one temperature the hand calculation cannot give: it only knows the motor node. The SolidWorks thermal study uses my 10/21 assembly with a detailed NEMA 17 (aluminium end caps, black steel stator, copper windings as the 4.05 W source, plastic connector), the fin, the four M3 screws into the motor, and the PETG slip-in mount; inside the shell 26 to 27 °C, outside 23 °C. Hand calc: 56 to 59 °C with the prototype fin, 45 to 49 °C with the 1/8 in fin (the range is the simple and the refined model). Then the hold test measures it. If they disagree, I fit h and the coil resistance, not the physics.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each was a trade I priced first. Distributed control cost me software sync (2.5 mm per 50 ms of skew) but saved 5× the wire. The slide-in mount came from taking stations down to rework them. Calibration by camera replaced a plan that physically limited the motion. The stall check caught gears that would have sheared before I printed them. Poor: the mass budget came after the claw grew, which is the open problem today. Bead homing looked cheap until I computed what it cost. The spool bore needed a coupon. And building several stations before one was fully proven meant repeating each fix. [Confirm the last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Thorough: the fin is machined once, so the hole pattern had to be right before the first cut. The board schematic is generated from the soldered net list so the drawing cannot lie. The gear check happened in CAD because a sheared gear costs a print and a jammed claw. Scrappy: when a controller board died two days before the test, I moved the same circuit to an ESP32 dev board with nine jumpers and a compile-time pin map instead of redesigning the board. The floor board is paper tags because accuracy comes from seeing several tags, not from the board. Three stations now, because three cables already test calibration and coordinated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would do differently: weigh the claw and set its mass budget from the measured winch pull before designing it; coupons before every new fit; one complete station tested end to end before building more; a meter on every rail before debugging code. Half the time: most of the lost time was the rethink (September to early October) and the generations that a frozen requirement and an early test would have avoided. Order the slow parts on day one. Three stations are statically determinate and need fewer parts for the first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Backups follow: status by part, fin sizing for 4 W, floor board, calibration, control logic, one run, phone app, obstacles, claw electrical, gear strength, safety, acronyms, calculations 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calculated or simulated is called that; the next-test column is what turns it into measurements.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built sheet works today only because the motor also sheds about 2.5 W into the vented shell. A thin sheet has a large m = √(2h/kt), so its far end does almost nothing: the most heat any length can carry is w √(2hkt) θ_b, about 2 W for 0.019 in at a 60 °C base. The 1/8 in plate of my first drawing, painted, would carry all of it at the same 200 mm, and with the vented shell the motor would run at about 45 °C. Mass is no problem on a wall station. 1/8 in may be beyond a hand shear: bandsaw and square it on the mill. Details: calculations/fin_sizing_4w.md.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tags: 4.85 mrad, 2.5 mm. Noise model: 0.3 px corner noise, 520 px focal length (camera not yet 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comes from margins, not precision: 0.4 m below the anchors and 0.2 m inside the walls unless the error bars allow more. If the fit is not good enough: more poses, then fit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 1 trusted its model; the final logic measures before it trusts and checks after it acts. Kept from gen 1: the cable maths, the state-machine idea and the YOLO-World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Grips wait until the claw stops swinging. A refused release pauses over the hamper. Disarm needs a typed confirmation and a fresh floor check, because releasing torque drops a hanging claw.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Tested against a full simulator of the stations and the claw, so lost messages and reboots were exercised before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draw keep-out shapes in the phone app (squares, rectangles, circles with a height), then let the robot build its own room model from the claw camera's scans.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check 0 errors; 9 nets match the specification. Charger: 8.4 V constant current, constant voltage.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Safety factors at the 6 V servo stall: pinion 2.05, 36-tooth gear 2.50, sync gear 2.00 with one jaw taking all the load. Stall torque 1.078 N·m is the servo rating, not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safety-rated function is 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400800"/>
            <a:ext cx="11094415" cy="0"/>
          </a:xfrm>
          <a:prstGeom prst="line">
            <a:avLst/>
          </a:prstGeom>
          <a:noFill/>
          <a:ln w="9525">
            <a:solidFill>
              <a:srgbClr val="BFBFBF"/>
            </a:solidFill>
            <a:prstDash val="solid"/>
          </a:ln>
        </p:spPr>
      </p:sp>
      <p:sp>
        <p:nvSpPr>
          <p:cNvPr id="3" name="Text 1"/>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7F7F7F"/>
                </a:solidFill>
                <a:latin typeface="Arial" pitchFamily="34" charset="0"/>
                <a:ea typeface="Arial" pitchFamily="34" charset="-122"/>
                <a:cs typeface="Arial" pitchFamily="34" charset="-120"/>
              </a:rPr>
              <a:t>RoomCleaner  |  Jasper Buntinx  |  October 27, 2026</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3A5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jp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slideLayout" Target="../slideLayouts/slideLayout2.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jpg"/><Relationship Id="rId7" Type="http://schemas.openxmlformats.org/officeDocument/2006/relationships/image" Target="../media/image-21-7.png"/><Relationship Id="rId8" Type="http://schemas.openxmlformats.org/officeDocument/2006/relationships/image" Target="../media/image-21-8.jpg"/><Relationship Id="rId9" Type="http://schemas.openxmlformats.org/officeDocument/2006/relationships/slideLayout" Target="../slideLayouts/slideLayout2.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2.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hyperlink" Target="https://docs.google.com/spreadsheets/d/1UGFnkL1v305WnDYj5aj5zBtgxnxmGP7_TVRN0afZTGs/edit" TargetMode="External"/><Relationship Id="rId1" Type="http://schemas.openxmlformats.org/officeDocument/2006/relationships/image" Target="../media/image-37-1.png"/><Relationship Id="rId3" Type="http://schemas.openxmlformats.org/officeDocument/2006/relationships/slideLayout" Target="../slideLayouts/slideLayout2.xml"/><Relationship Id="rId4"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20640" cy="6858000"/>
          </a:xfrm>
          <a:prstGeom prst="rect">
            <a:avLst/>
          </a:prstGeom>
          <a:solidFill>
            <a:srgbClr val="1F3A5F"/>
          </a:solidFill>
          <a:ln w="12700">
            <a:solidFill>
              <a:srgbClr val="1F3A5F"/>
            </a:solidFill>
            <a:prstDash val="solid"/>
          </a:ln>
        </p:spPr>
      </p:sp>
      <p:sp>
        <p:nvSpPr>
          <p:cNvPr id="3" name="Text 1"/>
          <p:cNvSpPr txBox="1"/>
          <p:nvPr/>
        </p:nvSpPr>
        <p:spPr>
          <a:xfrm>
            <a:off x="548640" y="2103120"/>
            <a:ext cx="4389120"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RoomCleaner</a:t>
            </a:r>
            <a:endParaRPr lang="en-US" sz="4400" dirty="0"/>
          </a:p>
        </p:txBody>
      </p:sp>
      <p:sp>
        <p:nvSpPr>
          <p:cNvPr id="4" name="Text 2"/>
          <p:cNvSpPr txBox="1"/>
          <p:nvPr/>
        </p:nvSpPr>
        <p:spPr>
          <a:xfrm>
            <a:off x="548640" y="3063240"/>
            <a:ext cx="4206240" cy="1097280"/>
          </a:xfrm>
          <a:prstGeom prst="rect">
            <a:avLst/>
          </a:prstGeom>
          <a:noFill/>
          <a:ln/>
        </p:spPr>
        <p:txBody>
          <a:bodyPr wrap="square" lIns="0" tIns="0" rIns="0" bIns="0" rtlCol="0" anchor="ctr"/>
          <a:lstStyle/>
          <a:p>
            <a:pPr indent="0" marL="0">
              <a:buNone/>
            </a:pPr>
            <a:r>
              <a:rPr lang="en-US" sz="2200" dirty="0">
                <a:solidFill>
                  <a:srgbClr val="D9DEE5"/>
                </a:solidFill>
                <a:latin typeface="Arial" pitchFamily="34" charset="0"/>
                <a:ea typeface="Arial" pitchFamily="34" charset="-122"/>
                <a:cs typeface="Arial" pitchFamily="34" charset="-120"/>
              </a:rPr>
              <a:t>A cable robot that picks laundry off the floor</a:t>
            </a:r>
            <a:endParaRPr lang="en-US" sz="2200" dirty="0"/>
          </a:p>
        </p:txBody>
      </p:sp>
      <p:sp>
        <p:nvSpPr>
          <p:cNvPr id="5" name="Text 3"/>
          <p:cNvSpPr txBox="1"/>
          <p:nvPr/>
        </p:nvSpPr>
        <p:spPr>
          <a:xfrm>
            <a:off x="548640" y="5212080"/>
            <a:ext cx="4389120" cy="1005840"/>
          </a:xfrm>
          <a:prstGeom prst="rect">
            <a:avLst/>
          </a:prstGeom>
          <a:noFill/>
          <a:ln/>
        </p:spPr>
        <p:txBody>
          <a:bodyPr wrap="square" lIns="0" tIns="0" rIns="0" bIns="0" rtlCol="0" anchor="ctr"/>
          <a:lstStyle/>
          <a:p>
            <a:pPr indent="0" marL="0">
              <a:buNone/>
            </a:pPr>
            <a:r>
              <a:rPr lang="en-US" sz="1400" dirty="0">
                <a:solidFill>
                  <a:srgbClr val="D9DEE5"/>
                </a:solidFill>
                <a:latin typeface="Arial" pitchFamily="34" charset="0"/>
                <a:ea typeface="Arial" pitchFamily="34" charset="-122"/>
                <a:cs typeface="Arial" pitchFamily="34" charset="-120"/>
              </a:rPr>
              <a:t>Jasper Buntinx</a:t>
            </a:r>
            <a:endParaRPr lang="en-US" sz="1400" dirty="0"/>
          </a:p>
          <a:p>
            <a:pPr indent="0" marL="0">
              <a:buNone/>
            </a:pPr>
            <a:r>
              <a:rPr lang="en-US" sz="1400" dirty="0">
                <a:solidFill>
                  <a:srgbClr val="D9DEE5"/>
                </a:solidFill>
                <a:latin typeface="Arial" pitchFamily="34" charset="0"/>
                <a:ea typeface="Arial" pitchFamily="34" charset="-122"/>
                <a:cs typeface="Arial" pitchFamily="34" charset="-120"/>
              </a:rPr>
              <a:t>Mechanical Engineering, Texas A&amp;M University</a:t>
            </a:r>
            <a:endParaRPr lang="en-US" sz="1400" dirty="0"/>
          </a:p>
          <a:p>
            <a:pPr indent="0" marL="0">
              <a:buNone/>
            </a:pPr>
            <a:r>
              <a:rPr lang="en-US" sz="1400" dirty="0">
                <a:solidFill>
                  <a:srgbClr val="D9DEE5"/>
                </a:solidFill>
                <a:latin typeface="Arial" pitchFamily="34" charset="0"/>
                <a:ea typeface="Arial" pitchFamily="34" charset="-122"/>
                <a:cs typeface="Arial" pitchFamily="34" charset="-120"/>
              </a:rPr>
              <a:t>October 27, 2026</a:t>
            </a:r>
            <a:endParaRPr lang="en-US" sz="1400" dirty="0"/>
          </a:p>
        </p:txBody>
      </p:sp>
      <p:pic>
        <p:nvPicPr>
          <p:cNvPr id="6" name="Gen-2 winch station, assembled" descr="Gen-2 winch station, assembled">    </p:cNvPr>
          <p:cNvPicPr>
            <a:picLocks noChangeAspect="1"/>
          </p:cNvPicPr>
          <p:nvPr/>
        </p:nvPicPr>
        <p:blipFill>
          <a:blip r:embed="rId1"/>
          <a:stretch>
            <a:fillRect/>
          </a:stretch>
        </p:blipFill>
        <p:spPr>
          <a:xfrm>
            <a:off x="5486400" y="1417320"/>
            <a:ext cx="3017520" cy="4023360"/>
          </a:xfrm>
          <a:prstGeom prst="rect">
            <a:avLst/>
          </a:prstGeom>
        </p:spPr>
      </p:pic>
      <p:pic>
        <p:nvPicPr>
          <p:cNvPr id="7" name="Printed claw body with its servo" descr="Printed claw body with its servo">    </p:cNvPr>
          <p:cNvPicPr>
            <a:picLocks noChangeAspect="1"/>
          </p:cNvPicPr>
          <p:nvPr/>
        </p:nvPicPr>
        <p:blipFill>
          <a:blip r:embed="rId2"/>
          <a:stretch>
            <a:fillRect/>
          </a:stretch>
        </p:blipFill>
        <p:spPr>
          <a:xfrm>
            <a:off x="8641080" y="1417320"/>
            <a:ext cx="3017520" cy="4023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About Me</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bullets"/>
          <p:cNvSpPr txBox="1"/>
          <p:nvPr/>
        </p:nvSpPr>
        <p:spPr>
          <a:xfrm>
            <a:off x="548640" y="1463040"/>
            <a:ext cx="4920551"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Education:</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Mechanical Engineering, Texas A&amp;M · </a:t>
            </a:r>
            <a:pPr algn="l" marL="254000" indent="-254000">
              <a:spcAft>
                <a:spcPts val="1400"/>
              </a:spcAft>
              <a:buSzPct val="100000"/>
              <a:buChar char="•"/>
            </a:pPr>
            <a:r>
              <a:rPr lang="en-US" sz="2000" i="1" dirty="0">
                <a:solidFill>
                  <a:srgbClr val="B23A2E"/>
                </a:solidFill>
                <a:latin typeface="Arial" pitchFamily="34" charset="0"/>
                <a:ea typeface="Arial" pitchFamily="34" charset="-122"/>
                <a:cs typeface="Arial" pitchFamily="34" charset="-120"/>
              </a:rPr>
              <a:t>[graduation: Month 20XX]</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EcoFil:</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filament recycler (shredder, dryer, extruder)</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Sculpture:</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Austin Creek Show · fiber laser, welding</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Outside class:</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a:t>
            </a:r>
            <a:pPr algn="l" marL="254000" indent="-254000">
              <a:spcAft>
                <a:spcPts val="1400"/>
              </a:spcAft>
              <a:buSzPct val="100000"/>
              <a:buChar char="•"/>
            </a:pPr>
            <a:r>
              <a:rPr lang="en-US" sz="2000" i="1" dirty="0">
                <a:solidFill>
                  <a:srgbClr val="B23A2E"/>
                </a:solidFill>
                <a:latin typeface="Arial" pitchFamily="34" charset="0"/>
                <a:ea typeface="Arial" pitchFamily="34" charset="-122"/>
                <a:cs typeface="Arial" pitchFamily="34" charset="-120"/>
              </a:rPr>
              <a:t>[hobbies, interests]</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Why this project:</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a:t>
            </a:r>
            <a:pPr algn="l" marL="254000" indent="-254000">
              <a:spcAft>
                <a:spcPts val="1400"/>
              </a:spcAft>
              <a:buSzPct val="100000"/>
              <a:buChar char="•"/>
            </a:pPr>
            <a:r>
              <a:rPr lang="en-US" sz="2000" i="1" dirty="0">
                <a:solidFill>
                  <a:srgbClr val="B23A2E"/>
                </a:solidFill>
                <a:latin typeface="Arial" pitchFamily="34" charset="0"/>
                <a:ea typeface="Arial" pitchFamily="34" charset="-122"/>
                <a:cs typeface="Arial" pitchFamily="34" charset="-120"/>
              </a:rPr>
              <a:t>[one line]</a:t>
            </a:r>
            <a:endParaRPr lang="en-US" sz="2000" dirty="0"/>
          </a:p>
        </p:txBody>
      </p:sp>
      <p:sp>
        <p:nvSpPr>
          <p:cNvPr id="6" name="placeholder"/>
          <p:cNvSpPr/>
          <p:nvPr/>
        </p:nvSpPr>
        <p:spPr>
          <a:xfrm>
            <a:off x="5880671" y="1463040"/>
            <a:ext cx="5762384" cy="4526280"/>
          </a:xfrm>
          <a:prstGeom prst="rect">
            <a:avLst/>
          </a:prstGeom>
          <a:solidFill>
            <a:srgbClr val="F2F2F2"/>
          </a:solidFill>
          <a:ln w="12700">
            <a:solidFill>
              <a:srgbClr val="B23A2E"/>
            </a:solidFill>
            <a:prstDash val="dash"/>
          </a:ln>
        </p:spPr>
      </p:sp>
      <p:sp>
        <p:nvSpPr>
          <p:cNvPr id="7" name="placeholder text"/>
          <p:cNvSpPr txBox="1"/>
          <p:nvPr/>
        </p:nvSpPr>
        <p:spPr>
          <a:xfrm>
            <a:off x="6063551" y="1463040"/>
            <a:ext cx="5396624" cy="4526280"/>
          </a:xfrm>
          <a:prstGeom prst="rect">
            <a:avLst/>
          </a:prstGeom>
          <a:noFill/>
          <a:ln/>
        </p:spPr>
        <p:txBody>
          <a:bodyPr wrap="square" lIns="0" tIns="0" rIns="0" bIns="0" rtlCol="0" anchor="ctr"/>
          <a:lstStyle/>
          <a:p>
            <a:pPr algn="ctr" indent="0" marL="0">
              <a:buNone/>
            </a:pPr>
            <a:r>
              <a:rPr lang="en-US" sz="1600" i="1" dirty="0">
                <a:solidFill>
                  <a:srgbClr val="B23A2E"/>
                </a:solidFill>
                <a:latin typeface="Arial" pitchFamily="34" charset="0"/>
                <a:ea typeface="Arial" pitchFamily="34" charset="-122"/>
                <a:cs typeface="Arial" pitchFamily="34" charset="-120"/>
              </a:rPr>
              <a:t>[Photo of you building: EcoFil, a sculpture, or the workshop]</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The Goal</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bullets"/>
          <p:cNvSpPr txBox="1"/>
          <p:nvPr/>
        </p:nvSpPr>
        <p:spPr>
          <a:xfrm>
            <a:off x="548640" y="1463040"/>
            <a:ext cx="5364328"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Task:</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floor → hamper, 11 × 9 ft room</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How:</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4 ceiling winches, 1 claw on cables</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Load:</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jeans 0.9 kg at 2 m/s² · test 1 lb</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Build:</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printed PETG (polyethylene terephthalate glycol), hobby budget</a:t>
            </a:r>
            <a:endParaRPr lang="en-US" sz="2000" dirty="0"/>
          </a:p>
        </p:txBody>
      </p:sp>
      <p:sp>
        <p:nvSpPr>
          <p:cNvPr id="6" name="Shape 4"/>
          <p:cNvSpPr/>
          <p:nvPr/>
        </p:nvSpPr>
        <p:spPr>
          <a:xfrm>
            <a:off x="6324448" y="1463040"/>
            <a:ext cx="2590724" cy="4526280"/>
          </a:xfrm>
          <a:prstGeom prst="rect">
            <a:avLst/>
          </a:prstGeom>
          <a:solidFill>
            <a:srgbClr val="F2F2F2"/>
          </a:solidFill>
          <a:ln w="12700">
            <a:solidFill>
              <a:srgbClr val="F2F2F2"/>
            </a:solidFill>
            <a:prstDash val="solid"/>
          </a:ln>
        </p:spPr>
      </p:sp>
      <p:pic>
        <p:nvPicPr>
          <p:cNvPr id="7" name="Final wall station" descr="Final wall station">    </p:cNvPr>
          <p:cNvPicPr>
            <a:picLocks noChangeAspect="1"/>
          </p:cNvPicPr>
          <p:nvPr/>
        </p:nvPicPr>
        <p:blipFill>
          <a:blip r:embed="rId1"/>
          <a:stretch>
            <a:fillRect/>
          </a:stretch>
        </p:blipFill>
        <p:spPr>
          <a:xfrm>
            <a:off x="6379312" y="2217075"/>
            <a:ext cx="2480996" cy="3018211"/>
          </a:xfrm>
          <a:prstGeom prst="rect">
            <a:avLst/>
          </a:prstGeom>
        </p:spPr>
      </p:pic>
      <p:sp>
        <p:nvSpPr>
          <p:cNvPr id="8" name="Shape 5"/>
          <p:cNvSpPr/>
          <p:nvPr/>
        </p:nvSpPr>
        <p:spPr>
          <a:xfrm>
            <a:off x="9052331" y="1463040"/>
            <a:ext cx="2590724" cy="4526280"/>
          </a:xfrm>
          <a:prstGeom prst="rect">
            <a:avLst/>
          </a:prstGeom>
          <a:solidFill>
            <a:srgbClr val="F2F2F2"/>
          </a:solidFill>
          <a:ln w="12700">
            <a:solidFill>
              <a:srgbClr val="F2F2F2"/>
            </a:solidFill>
            <a:prstDash val="solid"/>
          </a:ln>
        </p:spPr>
      </p:sp>
      <p:pic>
        <p:nvPicPr>
          <p:cNvPr id="9" name="Final claw" descr="Final claw">    </p:cNvPr>
          <p:cNvPicPr>
            <a:picLocks noChangeAspect="1"/>
          </p:cNvPicPr>
          <p:nvPr/>
        </p:nvPicPr>
        <p:blipFill>
          <a:blip r:embed="rId2"/>
          <a:stretch>
            <a:fillRect/>
          </a:stretch>
        </p:blipFill>
        <p:spPr>
          <a:xfrm>
            <a:off x="9700973" y="1517904"/>
            <a:ext cx="1293441" cy="4416552"/>
          </a:xfrm>
          <a:prstGeom prst="rect">
            <a:avLst/>
          </a:prstGeom>
        </p:spPr>
      </p:pic>
      <p:sp>
        <p:nvSpPr>
          <p:cNvPr id="10" name="caption"/>
          <p:cNvSpPr txBox="1"/>
          <p:nvPr/>
        </p:nvSpPr>
        <p:spPr>
          <a:xfrm>
            <a:off x="6324448" y="6062472"/>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Final design (CAD): a wall station and the claw</a:t>
            </a:r>
            <a:endParaRPr lang="en-US" sz="1100" dirty="0"/>
          </a:p>
        </p:txBody>
      </p:sp>
      <p:sp>
        <p:nvSpPr>
          <p:cNvPr id="12" name="label"/>
          <p:cNvSpPr txBox="1"/>
          <p:nvPr/>
        </p:nvSpPr>
        <p:spPr>
          <a:xfrm>
            <a:off x="548640" y="4709160"/>
            <a:ext cx="5364328" cy="274320"/>
          </a:xfrm>
          <a:prstGeom prst="rect">
            <a:avLst/>
          </a:prstGeom>
          <a:noFill/>
          <a:ln/>
        </p:spPr>
        <p:txBody>
          <a:bodyPr wrap="square" lIns="0" tIns="0" rIns="0" bIns="0" rtlCol="0" anchor="ctr"/>
          <a:lstStyle/>
          <a:p>
            <a:pPr algn="l" indent="0" marL="0">
              <a:buNone/>
            </a:pPr>
            <a:r>
              <a:rPr lang="en-US" sz="1400" b="1" dirty="0">
                <a:solidFill>
                  <a:srgbClr val="404040"/>
                </a:solidFill>
                <a:latin typeface="Arial" pitchFamily="34" charset="0"/>
                <a:ea typeface="Arial" pitchFamily="34" charset="-122"/>
                <a:cs typeface="Arial" pitchFamily="34" charset="-120"/>
              </a:rPr>
              <a:t>What “done” means</a:t>
            </a:r>
            <a:endParaRPr lang="en-US" sz="1400" dirty="0"/>
          </a:p>
        </p:txBody>
      </p:sp>
      <p:sp>
        <p:nvSpPr>
          <p:cNvPr id="13" name="gate 1"/>
          <p:cNvSpPr/>
          <p:nvPr/>
        </p:nvSpPr>
        <p:spPr>
          <a:xfrm>
            <a:off x="548640" y="5038344"/>
            <a:ext cx="1714957" cy="868680"/>
          </a:xfrm>
          <a:prstGeom prst="rect">
            <a:avLst/>
          </a:prstGeom>
          <a:solidFill>
            <a:srgbClr val="1F3A5F"/>
          </a:solidFill>
          <a:ln w="15875">
            <a:solidFill>
              <a:srgbClr val="1F3A5F"/>
            </a:solidFill>
            <a:prstDash val="solid"/>
          </a:ln>
        </p:spPr>
      </p:sp>
      <p:sp>
        <p:nvSpPr>
          <p:cNvPr id="14" name="Text 9"/>
          <p:cNvSpPr txBox="1"/>
          <p:nvPr/>
        </p:nvSpPr>
        <p:spPr>
          <a:xfrm>
            <a:off x="640080" y="5038344"/>
            <a:ext cx="1532077" cy="8686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Gate 1</a:t>
            </a:r>
            <a:endParaRPr lang="en-US" sz="1400" dirty="0"/>
          </a:p>
          <a:p>
            <a:pPr indent="0" marL="0">
              <a:buNone/>
            </a:pPr>
            <a:r>
              <a:rPr lang="en-US" sz="1250" dirty="0">
                <a:solidFill>
                  <a:srgbClr val="FFFFFF"/>
                </a:solidFill>
                <a:latin typeface="Arial" pitchFamily="34" charset="0"/>
                <a:ea typeface="Arial" pitchFamily="34" charset="-122"/>
                <a:cs typeface="Arial" pitchFamily="34" charset="-120"/>
              </a:rPr>
              <a:t>One station runs repeatably</a:t>
            </a:r>
            <a:endParaRPr lang="en-US" sz="1400" dirty="0"/>
          </a:p>
        </p:txBody>
      </p:sp>
      <p:sp>
        <p:nvSpPr>
          <p:cNvPr id="15" name="gate 2"/>
          <p:cNvSpPr/>
          <p:nvPr/>
        </p:nvSpPr>
        <p:spPr>
          <a:xfrm>
            <a:off x="2373325" y="5038344"/>
            <a:ext cx="1714957" cy="868680"/>
          </a:xfrm>
          <a:prstGeom prst="rect">
            <a:avLst/>
          </a:prstGeom>
          <a:solidFill>
            <a:srgbClr val="FFFFFF"/>
          </a:solidFill>
          <a:ln w="28575">
            <a:solidFill>
              <a:srgbClr val="1F3A5F"/>
            </a:solidFill>
            <a:prstDash val="solid"/>
          </a:ln>
        </p:spPr>
      </p:sp>
      <p:sp>
        <p:nvSpPr>
          <p:cNvPr id="16" name="Text 11"/>
          <p:cNvSpPr txBox="1"/>
          <p:nvPr/>
        </p:nvSpPr>
        <p:spPr>
          <a:xfrm>
            <a:off x="2464765" y="5038344"/>
            <a:ext cx="1532077" cy="86868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Gate 2</a:t>
            </a:r>
            <a:endParaRPr lang="en-US" sz="1400" dirty="0"/>
          </a:p>
          <a:p>
            <a:pPr indent="0" marL="0">
              <a:buNone/>
            </a:pPr>
            <a:r>
              <a:rPr lang="en-US" sz="1250" dirty="0">
                <a:solidFill>
                  <a:srgbClr val="000000"/>
                </a:solidFill>
                <a:latin typeface="Arial" pitchFamily="34" charset="0"/>
                <a:ea typeface="Arial" pitchFamily="34" charset="-122"/>
                <a:cs typeface="Arial" pitchFamily="34" charset="-120"/>
              </a:rPr>
              <a:t>Stations hold and move 1 lb</a:t>
            </a:r>
            <a:endParaRPr lang="en-US" sz="1400" dirty="0"/>
          </a:p>
        </p:txBody>
      </p:sp>
      <p:sp>
        <p:nvSpPr>
          <p:cNvPr id="17" name="gate 3"/>
          <p:cNvSpPr/>
          <p:nvPr/>
        </p:nvSpPr>
        <p:spPr>
          <a:xfrm>
            <a:off x="4198010" y="5038344"/>
            <a:ext cx="1714957" cy="868680"/>
          </a:xfrm>
          <a:prstGeom prst="rect">
            <a:avLst/>
          </a:prstGeom>
          <a:solidFill>
            <a:srgbClr val="FFFFFF"/>
          </a:solidFill>
          <a:ln w="15875">
            <a:solidFill>
              <a:srgbClr val="BFBFBF"/>
            </a:solidFill>
            <a:prstDash val="solid"/>
          </a:ln>
        </p:spPr>
      </p:sp>
      <p:sp>
        <p:nvSpPr>
          <p:cNvPr id="18" name="Text 13"/>
          <p:cNvSpPr txBox="1"/>
          <p:nvPr/>
        </p:nvSpPr>
        <p:spPr>
          <a:xfrm>
            <a:off x="4289450" y="5038344"/>
            <a:ext cx="1532077" cy="86868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Gate 3</a:t>
            </a:r>
            <a:endParaRPr lang="en-US" sz="1400" dirty="0"/>
          </a:p>
          <a:p>
            <a:pPr indent="0" marL="0">
              <a:buNone/>
            </a:pPr>
            <a:r>
              <a:rPr lang="en-US" sz="1250" dirty="0">
                <a:solidFill>
                  <a:srgbClr val="000000"/>
                </a:solidFill>
                <a:latin typeface="Arial" pitchFamily="34" charset="0"/>
                <a:ea typeface="Arial" pitchFamily="34" charset="-122"/>
                <a:cs typeface="Arial" pitchFamily="34" charset="-120"/>
              </a:rPr>
              <a:t>One garment into the hamper</a:t>
            </a:r>
            <a:endParaRPr lang="en-US" sz="1400" dirty="0"/>
          </a:p>
        </p:txBody>
      </p:sp>
      <p:sp>
        <p:nvSpPr>
          <p:cNvPr id="19" name="label"/>
          <p:cNvSpPr txBox="1"/>
          <p:nvPr/>
        </p:nvSpPr>
        <p:spPr>
          <a:xfrm>
            <a:off x="548640" y="5961888"/>
            <a:ext cx="5364328" cy="274320"/>
          </a:xfrm>
          <a:prstGeom prst="rect">
            <a:avLst/>
          </a:prstGeom>
          <a:noFill/>
          <a:ln/>
        </p:spPr>
        <p:txBody>
          <a:bodyPr wrap="square" lIns="0" tIns="0" rIns="0" bIns="0" rtlCol="0" anchor="ctr"/>
          <a:lstStyle/>
          <a:p>
            <a:pPr algn="l" indent="0" marL="0">
              <a:buNone/>
            </a:pPr>
            <a:r>
              <a:rPr lang="en-US" sz="1200" dirty="0">
                <a:solidFill>
                  <a:srgbClr val="4F6D8F"/>
                </a:solidFill>
                <a:latin typeface="Arial" pitchFamily="34" charset="0"/>
                <a:ea typeface="Arial" pitchFamily="34" charset="-122"/>
                <a:cs typeface="Arial" pitchFamily="34" charset="-120"/>
              </a:rPr>
              <a:t>Now: gate 1 passed on the bench, gate 2 is this week’s test</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Scope and Timeline</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Shape 3"/>
          <p:cNvSpPr/>
          <p:nvPr/>
        </p:nvSpPr>
        <p:spPr>
          <a:xfrm>
            <a:off x="548640" y="1828800"/>
            <a:ext cx="11094415" cy="0"/>
          </a:xfrm>
          <a:prstGeom prst="line">
            <a:avLst/>
          </a:prstGeom>
          <a:noFill/>
          <a:ln w="19050">
            <a:solidFill>
              <a:srgbClr val="7F7F7F"/>
            </a:solidFill>
            <a:prstDash val="solid"/>
            <a:tailEnd type="triangle"/>
          </a:ln>
        </p:spPr>
      </p:sp>
      <p:sp>
        <p:nvSpPr>
          <p:cNvPr id="6" name="label"/>
          <p:cNvSpPr txBox="1"/>
          <p:nvPr/>
        </p:nvSpPr>
        <p:spPr>
          <a:xfrm>
            <a:off x="548640" y="1417320"/>
            <a:ext cx="2101840" cy="329184"/>
          </a:xfrm>
          <a:prstGeom prst="rect">
            <a:avLst/>
          </a:prstGeom>
          <a:noFill/>
          <a:ln/>
        </p:spPr>
        <p:txBody>
          <a:bodyPr wrap="square" lIns="0" tIns="0" rIns="0" bIns="0" rtlCol="0" anchor="ctr"/>
          <a:lstStyle/>
          <a:p>
            <a:pPr algn="l" indent="0" marL="0">
              <a:buNone/>
            </a:pPr>
            <a:r>
              <a:rPr lang="en-US" sz="1500" b="1" dirty="0">
                <a:solidFill>
                  <a:srgbClr val="1F3A5F"/>
                </a:solidFill>
                <a:latin typeface="Arial" pitchFamily="34" charset="0"/>
                <a:ea typeface="Arial" pitchFamily="34" charset="-122"/>
                <a:cs typeface="Arial" pitchFamily="34" charset="-120"/>
              </a:rPr>
              <a:t>Jul 16</a:t>
            </a:r>
            <a:endParaRPr lang="en-US" sz="1500" dirty="0"/>
          </a:p>
        </p:txBody>
      </p:sp>
      <p:sp>
        <p:nvSpPr>
          <p:cNvPr id="7" name="Shape 5"/>
          <p:cNvSpPr/>
          <p:nvPr/>
        </p:nvSpPr>
        <p:spPr>
          <a:xfrm>
            <a:off x="566928" y="1755648"/>
            <a:ext cx="146304" cy="146304"/>
          </a:xfrm>
          <a:prstGeom prst="ellipse">
            <a:avLst/>
          </a:prstGeom>
          <a:solidFill>
            <a:srgbClr val="1F3A5F"/>
          </a:solidFill>
          <a:ln w="12700">
            <a:solidFill>
              <a:srgbClr val="1F3A5F"/>
            </a:solidFill>
            <a:prstDash val="solid"/>
          </a:ln>
        </p:spPr>
      </p:sp>
      <p:sp>
        <p:nvSpPr>
          <p:cNvPr id="8" name="stage 1"/>
          <p:cNvSpPr/>
          <p:nvPr/>
        </p:nvSpPr>
        <p:spPr>
          <a:xfrm>
            <a:off x="548640" y="2011680"/>
            <a:ext cx="2101840" cy="1600200"/>
          </a:xfrm>
          <a:prstGeom prst="rect">
            <a:avLst/>
          </a:prstGeom>
          <a:solidFill>
            <a:srgbClr val="FFFFFF"/>
          </a:solidFill>
          <a:ln w="12700">
            <a:solidFill>
              <a:srgbClr val="1F3A5F"/>
            </a:solidFill>
            <a:prstDash val="solid"/>
          </a:ln>
        </p:spPr>
      </p:sp>
      <p:sp>
        <p:nvSpPr>
          <p:cNvPr id="9" name="Text 7"/>
          <p:cNvSpPr txBox="1"/>
          <p:nvPr/>
        </p:nvSpPr>
        <p:spPr>
          <a:xfrm>
            <a:off x="640080" y="2084832"/>
            <a:ext cx="1918960" cy="11430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Concept</a:t>
            </a:r>
            <a:endParaRPr lang="en-US" sz="1500" dirty="0"/>
          </a:p>
          <a:p>
            <a:pPr indent="0" marL="0">
              <a:buNone/>
            </a:pPr>
            <a:r>
              <a:rPr lang="en-US" sz="1250" dirty="0">
                <a:solidFill>
                  <a:srgbClr val="404040"/>
                </a:solidFill>
                <a:latin typeface="Arial" pitchFamily="34" charset="0"/>
                <a:ea typeface="Arial" pitchFamily="34" charset="-122"/>
                <a:cs typeface="Arial" pitchFamily="34" charset="-120"/>
              </a:rPr>
              <a:t>Requirements, simulator, parts list</a:t>
            </a:r>
            <a:endParaRPr lang="en-US" sz="1500" dirty="0"/>
          </a:p>
        </p:txBody>
      </p:sp>
      <p:sp>
        <p:nvSpPr>
          <p:cNvPr id="10" name="Shape 8"/>
          <p:cNvSpPr/>
          <p:nvPr/>
        </p:nvSpPr>
        <p:spPr>
          <a:xfrm>
            <a:off x="640080" y="3282696"/>
            <a:ext cx="603504" cy="228600"/>
          </a:xfrm>
          <a:prstGeom prst="roundRect">
            <a:avLst>
              <a:gd name="adj" fmla="val 48000"/>
            </a:avLst>
          </a:prstGeom>
          <a:solidFill>
            <a:srgbClr val="1F3A5F"/>
          </a:solidFill>
          <a:ln w="12700">
            <a:solidFill>
              <a:srgbClr val="1F3A5F"/>
            </a:solidFill>
            <a:prstDash val="solid"/>
          </a:ln>
        </p:spPr>
      </p:sp>
      <p:sp>
        <p:nvSpPr>
          <p:cNvPr id="11" name="label"/>
          <p:cNvSpPr txBox="1"/>
          <p:nvPr/>
        </p:nvSpPr>
        <p:spPr>
          <a:xfrm>
            <a:off x="640080" y="3282696"/>
            <a:ext cx="603504"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Design</a:t>
            </a:r>
            <a:endParaRPr lang="en-US" sz="950" dirty="0"/>
          </a:p>
        </p:txBody>
      </p:sp>
      <p:sp>
        <p:nvSpPr>
          <p:cNvPr id="12" name="label"/>
          <p:cNvSpPr txBox="1"/>
          <p:nvPr/>
        </p:nvSpPr>
        <p:spPr>
          <a:xfrm>
            <a:off x="2796784" y="1417320"/>
            <a:ext cx="2101840" cy="329184"/>
          </a:xfrm>
          <a:prstGeom prst="rect">
            <a:avLst/>
          </a:prstGeom>
          <a:noFill/>
          <a:ln/>
        </p:spPr>
        <p:txBody>
          <a:bodyPr wrap="square" lIns="0" tIns="0" rIns="0" bIns="0" rtlCol="0" anchor="ctr"/>
          <a:lstStyle/>
          <a:p>
            <a:pPr algn="l" indent="0" marL="0">
              <a:buNone/>
            </a:pPr>
            <a:r>
              <a:rPr lang="en-US" sz="1500" b="1" dirty="0">
                <a:solidFill>
                  <a:srgbClr val="1F3A5F"/>
                </a:solidFill>
                <a:latin typeface="Arial" pitchFamily="34" charset="0"/>
                <a:ea typeface="Arial" pitchFamily="34" charset="-122"/>
                <a:cs typeface="Arial" pitchFamily="34" charset="-120"/>
              </a:rPr>
              <a:t>Aug 6 – Sep 2</a:t>
            </a:r>
            <a:endParaRPr lang="en-US" sz="1500" dirty="0"/>
          </a:p>
        </p:txBody>
      </p:sp>
      <p:sp>
        <p:nvSpPr>
          <p:cNvPr id="13" name="Shape 11"/>
          <p:cNvSpPr/>
          <p:nvPr/>
        </p:nvSpPr>
        <p:spPr>
          <a:xfrm>
            <a:off x="2815072" y="1755648"/>
            <a:ext cx="146304" cy="146304"/>
          </a:xfrm>
          <a:prstGeom prst="ellipse">
            <a:avLst/>
          </a:prstGeom>
          <a:solidFill>
            <a:srgbClr val="1F3A5F"/>
          </a:solidFill>
          <a:ln w="12700">
            <a:solidFill>
              <a:srgbClr val="1F3A5F"/>
            </a:solidFill>
            <a:prstDash val="solid"/>
          </a:ln>
        </p:spPr>
      </p:sp>
      <p:sp>
        <p:nvSpPr>
          <p:cNvPr id="14" name="stage 2"/>
          <p:cNvSpPr/>
          <p:nvPr/>
        </p:nvSpPr>
        <p:spPr>
          <a:xfrm>
            <a:off x="2796784" y="2011680"/>
            <a:ext cx="2101840" cy="1600200"/>
          </a:xfrm>
          <a:prstGeom prst="rect">
            <a:avLst/>
          </a:prstGeom>
          <a:solidFill>
            <a:srgbClr val="FFFFFF"/>
          </a:solidFill>
          <a:ln w="12700">
            <a:solidFill>
              <a:srgbClr val="1F3A5F"/>
            </a:solidFill>
            <a:prstDash val="solid"/>
          </a:ln>
        </p:spPr>
      </p:sp>
      <p:sp>
        <p:nvSpPr>
          <p:cNvPr id="15" name="Text 13"/>
          <p:cNvSpPr txBox="1"/>
          <p:nvPr/>
        </p:nvSpPr>
        <p:spPr>
          <a:xfrm>
            <a:off x="2888224" y="2084832"/>
            <a:ext cx="1918960" cy="11430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Gen 1</a:t>
            </a:r>
            <a:endParaRPr lang="en-US" sz="1500" dirty="0"/>
          </a:p>
          <a:p>
            <a:pPr indent="0" marL="0">
              <a:buNone/>
            </a:pPr>
            <a:r>
              <a:rPr lang="en-US" sz="1250" dirty="0">
                <a:solidFill>
                  <a:srgbClr val="404040"/>
                </a:solidFill>
                <a:latin typeface="Arial" pitchFamily="34" charset="0"/>
                <a:ea typeface="Arial" pitchFamily="34" charset="-122"/>
                <a:cs typeface="Arial" pitchFamily="34" charset="-120"/>
              </a:rPr>
              <a:t>Corner plates, one central controller, finger claw</a:t>
            </a:r>
            <a:endParaRPr lang="en-US" sz="1500" dirty="0"/>
          </a:p>
        </p:txBody>
      </p:sp>
      <p:sp>
        <p:nvSpPr>
          <p:cNvPr id="16" name="Shape 14"/>
          <p:cNvSpPr/>
          <p:nvPr/>
        </p:nvSpPr>
        <p:spPr>
          <a:xfrm>
            <a:off x="2888224" y="3282696"/>
            <a:ext cx="603504" cy="228600"/>
          </a:xfrm>
          <a:prstGeom prst="roundRect">
            <a:avLst>
              <a:gd name="adj" fmla="val 48000"/>
            </a:avLst>
          </a:prstGeom>
          <a:solidFill>
            <a:srgbClr val="1F3A5F"/>
          </a:solidFill>
          <a:ln w="12700">
            <a:solidFill>
              <a:srgbClr val="1F3A5F"/>
            </a:solidFill>
            <a:prstDash val="solid"/>
          </a:ln>
        </p:spPr>
      </p:sp>
      <p:sp>
        <p:nvSpPr>
          <p:cNvPr id="17" name="label"/>
          <p:cNvSpPr txBox="1"/>
          <p:nvPr/>
        </p:nvSpPr>
        <p:spPr>
          <a:xfrm>
            <a:off x="2888224" y="3282696"/>
            <a:ext cx="603504"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Design</a:t>
            </a:r>
            <a:endParaRPr lang="en-US" sz="950" dirty="0"/>
          </a:p>
        </p:txBody>
      </p:sp>
      <p:sp>
        <p:nvSpPr>
          <p:cNvPr id="18" name="Shape 16"/>
          <p:cNvSpPr/>
          <p:nvPr/>
        </p:nvSpPr>
        <p:spPr>
          <a:xfrm>
            <a:off x="3546592" y="3282696"/>
            <a:ext cx="603504" cy="228600"/>
          </a:xfrm>
          <a:prstGeom prst="roundRect">
            <a:avLst>
              <a:gd name="adj" fmla="val 48000"/>
            </a:avLst>
          </a:prstGeom>
          <a:solidFill>
            <a:srgbClr val="4F6D8F"/>
          </a:solidFill>
          <a:ln w="12700">
            <a:solidFill>
              <a:srgbClr val="4F6D8F"/>
            </a:solidFill>
            <a:prstDash val="solid"/>
          </a:ln>
        </p:spPr>
      </p:sp>
      <p:sp>
        <p:nvSpPr>
          <p:cNvPr id="19" name="label"/>
          <p:cNvSpPr txBox="1"/>
          <p:nvPr/>
        </p:nvSpPr>
        <p:spPr>
          <a:xfrm>
            <a:off x="3546592" y="3282696"/>
            <a:ext cx="603504"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Build</a:t>
            </a:r>
            <a:endParaRPr lang="en-US" sz="950" dirty="0"/>
          </a:p>
        </p:txBody>
      </p:sp>
      <p:sp>
        <p:nvSpPr>
          <p:cNvPr id="20" name="Shape 18"/>
          <p:cNvSpPr/>
          <p:nvPr/>
        </p:nvSpPr>
        <p:spPr>
          <a:xfrm>
            <a:off x="4204960" y="3282696"/>
            <a:ext cx="603504" cy="228600"/>
          </a:xfrm>
          <a:prstGeom prst="roundRect">
            <a:avLst>
              <a:gd name="adj" fmla="val 48000"/>
            </a:avLst>
          </a:prstGeom>
          <a:solidFill>
            <a:srgbClr val="B23A2E"/>
          </a:solidFill>
          <a:ln w="12700">
            <a:solidFill>
              <a:srgbClr val="B23A2E"/>
            </a:solidFill>
            <a:prstDash val="solid"/>
          </a:ln>
        </p:spPr>
      </p:sp>
      <p:sp>
        <p:nvSpPr>
          <p:cNvPr id="21" name="label"/>
          <p:cNvSpPr txBox="1"/>
          <p:nvPr/>
        </p:nvSpPr>
        <p:spPr>
          <a:xfrm>
            <a:off x="4204960" y="3282696"/>
            <a:ext cx="603504"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Test</a:t>
            </a:r>
            <a:endParaRPr lang="en-US" sz="950" dirty="0"/>
          </a:p>
        </p:txBody>
      </p:sp>
      <p:sp>
        <p:nvSpPr>
          <p:cNvPr id="22" name="label"/>
          <p:cNvSpPr txBox="1"/>
          <p:nvPr/>
        </p:nvSpPr>
        <p:spPr>
          <a:xfrm>
            <a:off x="5044928" y="1417320"/>
            <a:ext cx="2101840" cy="329184"/>
          </a:xfrm>
          <a:prstGeom prst="rect">
            <a:avLst/>
          </a:prstGeom>
          <a:noFill/>
          <a:ln/>
        </p:spPr>
        <p:txBody>
          <a:bodyPr wrap="square" lIns="0" tIns="0" rIns="0" bIns="0" rtlCol="0" anchor="ctr"/>
          <a:lstStyle/>
          <a:p>
            <a:pPr algn="l" indent="0" marL="0">
              <a:buNone/>
            </a:pPr>
            <a:r>
              <a:rPr lang="en-US" sz="1500" b="1" dirty="0">
                <a:solidFill>
                  <a:srgbClr val="1F3A5F"/>
                </a:solidFill>
                <a:latin typeface="Arial" pitchFamily="34" charset="0"/>
                <a:ea typeface="Arial" pitchFamily="34" charset="-122"/>
                <a:cs typeface="Arial" pitchFamily="34" charset="-120"/>
              </a:rPr>
              <a:t>Sep – Oct 6</a:t>
            </a:r>
            <a:endParaRPr lang="en-US" sz="1500" dirty="0"/>
          </a:p>
        </p:txBody>
      </p:sp>
      <p:sp>
        <p:nvSpPr>
          <p:cNvPr id="23" name="Shape 21"/>
          <p:cNvSpPr/>
          <p:nvPr/>
        </p:nvSpPr>
        <p:spPr>
          <a:xfrm>
            <a:off x="5063216" y="1755648"/>
            <a:ext cx="146304" cy="146304"/>
          </a:xfrm>
          <a:prstGeom prst="ellipse">
            <a:avLst/>
          </a:prstGeom>
          <a:solidFill>
            <a:srgbClr val="1F3A5F"/>
          </a:solidFill>
          <a:ln w="12700">
            <a:solidFill>
              <a:srgbClr val="1F3A5F"/>
            </a:solidFill>
            <a:prstDash val="solid"/>
          </a:ln>
        </p:spPr>
      </p:sp>
      <p:sp>
        <p:nvSpPr>
          <p:cNvPr id="24" name="stage 3"/>
          <p:cNvSpPr/>
          <p:nvPr/>
        </p:nvSpPr>
        <p:spPr>
          <a:xfrm>
            <a:off x="5044928" y="2011680"/>
            <a:ext cx="2101840" cy="1600200"/>
          </a:xfrm>
          <a:prstGeom prst="rect">
            <a:avLst/>
          </a:prstGeom>
          <a:solidFill>
            <a:srgbClr val="FFFFFF"/>
          </a:solidFill>
          <a:ln w="12700">
            <a:solidFill>
              <a:srgbClr val="1F3A5F"/>
            </a:solidFill>
            <a:prstDash val="solid"/>
          </a:ln>
        </p:spPr>
      </p:sp>
      <p:sp>
        <p:nvSpPr>
          <p:cNvPr id="25" name="Text 23"/>
          <p:cNvSpPr txBox="1"/>
          <p:nvPr/>
        </p:nvSpPr>
        <p:spPr>
          <a:xfrm>
            <a:off x="5136368" y="2084832"/>
            <a:ext cx="1918960" cy="11430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Rethink</a:t>
            </a:r>
            <a:endParaRPr lang="en-US" sz="1500" dirty="0"/>
          </a:p>
          <a:p>
            <a:pPr indent="0" marL="0">
              <a:buNone/>
            </a:pPr>
            <a:r>
              <a:rPr lang="en-US" sz="1250" dirty="0">
                <a:solidFill>
                  <a:srgbClr val="404040"/>
                </a:solidFill>
                <a:latin typeface="Arial" pitchFamily="34" charset="0"/>
                <a:ea typeface="Arial" pitchFamily="34" charset="-122"/>
                <a:cs typeface="Arial" pitchFamily="34" charset="-120"/>
              </a:rPr>
              <a:t>Sensors per winch, wiring, line outlets</a:t>
            </a:r>
            <a:endParaRPr lang="en-US" sz="1500" dirty="0"/>
          </a:p>
        </p:txBody>
      </p:sp>
      <p:sp>
        <p:nvSpPr>
          <p:cNvPr id="26" name="Shape 24"/>
          <p:cNvSpPr/>
          <p:nvPr/>
        </p:nvSpPr>
        <p:spPr>
          <a:xfrm>
            <a:off x="5136368" y="3282696"/>
            <a:ext cx="603504" cy="228600"/>
          </a:xfrm>
          <a:prstGeom prst="roundRect">
            <a:avLst>
              <a:gd name="adj" fmla="val 48000"/>
            </a:avLst>
          </a:prstGeom>
          <a:solidFill>
            <a:srgbClr val="1F3A5F"/>
          </a:solidFill>
          <a:ln w="12700">
            <a:solidFill>
              <a:srgbClr val="1F3A5F"/>
            </a:solidFill>
            <a:prstDash val="solid"/>
          </a:ln>
        </p:spPr>
      </p:sp>
      <p:sp>
        <p:nvSpPr>
          <p:cNvPr id="27" name="label"/>
          <p:cNvSpPr txBox="1"/>
          <p:nvPr/>
        </p:nvSpPr>
        <p:spPr>
          <a:xfrm>
            <a:off x="5136368" y="3282696"/>
            <a:ext cx="603504"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Design</a:t>
            </a:r>
            <a:endParaRPr lang="en-US" sz="950" dirty="0"/>
          </a:p>
        </p:txBody>
      </p:sp>
      <p:sp>
        <p:nvSpPr>
          <p:cNvPr id="28" name="label"/>
          <p:cNvSpPr txBox="1"/>
          <p:nvPr/>
        </p:nvSpPr>
        <p:spPr>
          <a:xfrm>
            <a:off x="7293072" y="1417320"/>
            <a:ext cx="2101840" cy="329184"/>
          </a:xfrm>
          <a:prstGeom prst="rect">
            <a:avLst/>
          </a:prstGeom>
          <a:noFill/>
          <a:ln/>
        </p:spPr>
        <p:txBody>
          <a:bodyPr wrap="square" lIns="0" tIns="0" rIns="0" bIns="0" rtlCol="0" anchor="ctr"/>
          <a:lstStyle/>
          <a:p>
            <a:pPr algn="l" indent="0" marL="0">
              <a:buNone/>
            </a:pPr>
            <a:r>
              <a:rPr lang="en-US" sz="1500" b="1" dirty="0">
                <a:solidFill>
                  <a:srgbClr val="1F3A5F"/>
                </a:solidFill>
                <a:latin typeface="Arial" pitchFamily="34" charset="0"/>
                <a:ea typeface="Arial" pitchFamily="34" charset="-122"/>
                <a:cs typeface="Arial" pitchFamily="34" charset="-120"/>
              </a:rPr>
              <a:t>Oct 7 – 21</a:t>
            </a:r>
            <a:endParaRPr lang="en-US" sz="1500" dirty="0"/>
          </a:p>
        </p:txBody>
      </p:sp>
      <p:sp>
        <p:nvSpPr>
          <p:cNvPr id="29" name="Shape 27"/>
          <p:cNvSpPr/>
          <p:nvPr/>
        </p:nvSpPr>
        <p:spPr>
          <a:xfrm>
            <a:off x="7311360" y="1755648"/>
            <a:ext cx="146304" cy="146304"/>
          </a:xfrm>
          <a:prstGeom prst="ellipse">
            <a:avLst/>
          </a:prstGeom>
          <a:solidFill>
            <a:srgbClr val="1F3A5F"/>
          </a:solidFill>
          <a:ln w="12700">
            <a:solidFill>
              <a:srgbClr val="1F3A5F"/>
            </a:solidFill>
            <a:prstDash val="solid"/>
          </a:ln>
        </p:spPr>
      </p:sp>
      <p:sp>
        <p:nvSpPr>
          <p:cNvPr id="30" name="stage 4"/>
          <p:cNvSpPr/>
          <p:nvPr/>
        </p:nvSpPr>
        <p:spPr>
          <a:xfrm>
            <a:off x="7293072" y="2011680"/>
            <a:ext cx="2101840" cy="1600200"/>
          </a:xfrm>
          <a:prstGeom prst="rect">
            <a:avLst/>
          </a:prstGeom>
          <a:solidFill>
            <a:srgbClr val="FFFFFF"/>
          </a:solidFill>
          <a:ln w="12700">
            <a:solidFill>
              <a:srgbClr val="1F3A5F"/>
            </a:solidFill>
            <a:prstDash val="solid"/>
          </a:ln>
        </p:spPr>
      </p:sp>
      <p:sp>
        <p:nvSpPr>
          <p:cNvPr id="31" name="Text 29"/>
          <p:cNvSpPr txBox="1"/>
          <p:nvPr/>
        </p:nvSpPr>
        <p:spPr>
          <a:xfrm>
            <a:off x="7384512" y="2084832"/>
            <a:ext cx="1918960" cy="11430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Gen 2 → final</a:t>
            </a:r>
            <a:endParaRPr lang="en-US" sz="1500" dirty="0"/>
          </a:p>
          <a:p>
            <a:pPr indent="0" marL="0">
              <a:buNone/>
            </a:pPr>
            <a:r>
              <a:rPr lang="en-US" sz="1250" dirty="0">
                <a:solidFill>
                  <a:srgbClr val="404040"/>
                </a:solidFill>
                <a:latin typeface="Arial" pitchFamily="34" charset="0"/>
                <a:ea typeface="Arial" pitchFamily="34" charset="-122"/>
                <a:cs typeface="Arial" pitchFamily="34" charset="-120"/>
              </a:rPr>
              <a:t>SolidWorks: station v1→v3, spool v1→v3, claw → four-bar</a:t>
            </a:r>
            <a:endParaRPr lang="en-US" sz="1500" dirty="0"/>
          </a:p>
        </p:txBody>
      </p:sp>
      <p:sp>
        <p:nvSpPr>
          <p:cNvPr id="32" name="Shape 30"/>
          <p:cNvSpPr/>
          <p:nvPr/>
        </p:nvSpPr>
        <p:spPr>
          <a:xfrm>
            <a:off x="7384512" y="3282696"/>
            <a:ext cx="603504" cy="228600"/>
          </a:xfrm>
          <a:prstGeom prst="roundRect">
            <a:avLst>
              <a:gd name="adj" fmla="val 48000"/>
            </a:avLst>
          </a:prstGeom>
          <a:solidFill>
            <a:srgbClr val="1F3A5F"/>
          </a:solidFill>
          <a:ln w="12700">
            <a:solidFill>
              <a:srgbClr val="1F3A5F"/>
            </a:solidFill>
            <a:prstDash val="solid"/>
          </a:ln>
        </p:spPr>
      </p:sp>
      <p:sp>
        <p:nvSpPr>
          <p:cNvPr id="33" name="label"/>
          <p:cNvSpPr txBox="1"/>
          <p:nvPr/>
        </p:nvSpPr>
        <p:spPr>
          <a:xfrm>
            <a:off x="7384512" y="3282696"/>
            <a:ext cx="603504"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Design</a:t>
            </a:r>
            <a:endParaRPr lang="en-US" sz="950" dirty="0"/>
          </a:p>
        </p:txBody>
      </p:sp>
      <p:sp>
        <p:nvSpPr>
          <p:cNvPr id="34" name="Shape 32"/>
          <p:cNvSpPr/>
          <p:nvPr/>
        </p:nvSpPr>
        <p:spPr>
          <a:xfrm>
            <a:off x="8042880" y="3282696"/>
            <a:ext cx="603504" cy="228600"/>
          </a:xfrm>
          <a:prstGeom prst="roundRect">
            <a:avLst>
              <a:gd name="adj" fmla="val 48000"/>
            </a:avLst>
          </a:prstGeom>
          <a:solidFill>
            <a:srgbClr val="4F6D8F"/>
          </a:solidFill>
          <a:ln w="12700">
            <a:solidFill>
              <a:srgbClr val="4F6D8F"/>
            </a:solidFill>
            <a:prstDash val="solid"/>
          </a:ln>
        </p:spPr>
      </p:sp>
      <p:sp>
        <p:nvSpPr>
          <p:cNvPr id="35" name="label"/>
          <p:cNvSpPr txBox="1"/>
          <p:nvPr/>
        </p:nvSpPr>
        <p:spPr>
          <a:xfrm>
            <a:off x="8042880" y="3282696"/>
            <a:ext cx="603504"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Build</a:t>
            </a:r>
            <a:endParaRPr lang="en-US" sz="950" dirty="0"/>
          </a:p>
        </p:txBody>
      </p:sp>
      <p:sp>
        <p:nvSpPr>
          <p:cNvPr id="36" name="Shape 34"/>
          <p:cNvSpPr/>
          <p:nvPr/>
        </p:nvSpPr>
        <p:spPr>
          <a:xfrm>
            <a:off x="8701248" y="3282696"/>
            <a:ext cx="603504" cy="228600"/>
          </a:xfrm>
          <a:prstGeom prst="roundRect">
            <a:avLst>
              <a:gd name="adj" fmla="val 48000"/>
            </a:avLst>
          </a:prstGeom>
          <a:solidFill>
            <a:srgbClr val="B23A2E"/>
          </a:solidFill>
          <a:ln w="12700">
            <a:solidFill>
              <a:srgbClr val="B23A2E"/>
            </a:solidFill>
            <a:prstDash val="solid"/>
          </a:ln>
        </p:spPr>
      </p:sp>
      <p:sp>
        <p:nvSpPr>
          <p:cNvPr id="37" name="label"/>
          <p:cNvSpPr txBox="1"/>
          <p:nvPr/>
        </p:nvSpPr>
        <p:spPr>
          <a:xfrm>
            <a:off x="8701248" y="3282696"/>
            <a:ext cx="603504"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Test</a:t>
            </a:r>
            <a:endParaRPr lang="en-US" sz="950" dirty="0"/>
          </a:p>
        </p:txBody>
      </p:sp>
      <p:sp>
        <p:nvSpPr>
          <p:cNvPr id="38" name="label"/>
          <p:cNvSpPr txBox="1"/>
          <p:nvPr/>
        </p:nvSpPr>
        <p:spPr>
          <a:xfrm>
            <a:off x="9541215" y="1417320"/>
            <a:ext cx="2101840" cy="329184"/>
          </a:xfrm>
          <a:prstGeom prst="rect">
            <a:avLst/>
          </a:prstGeom>
          <a:noFill/>
          <a:ln/>
        </p:spPr>
        <p:txBody>
          <a:bodyPr wrap="square" lIns="0" tIns="0" rIns="0" bIns="0" rtlCol="0" anchor="ctr"/>
          <a:lstStyle/>
          <a:p>
            <a:pPr algn="l" indent="0" marL="0">
              <a:buNone/>
            </a:pPr>
            <a:r>
              <a:rPr lang="en-US" sz="1500" b="1" dirty="0">
                <a:solidFill>
                  <a:srgbClr val="1F3A5F"/>
                </a:solidFill>
                <a:latin typeface="Arial" pitchFamily="34" charset="0"/>
                <a:ea typeface="Arial" pitchFamily="34" charset="-122"/>
                <a:cs typeface="Arial" pitchFamily="34" charset="-120"/>
              </a:rPr>
              <a:t>Oct 22 – 27</a:t>
            </a:r>
            <a:endParaRPr lang="en-US" sz="1500" dirty="0"/>
          </a:p>
        </p:txBody>
      </p:sp>
      <p:sp>
        <p:nvSpPr>
          <p:cNvPr id="39" name="Shape 37"/>
          <p:cNvSpPr/>
          <p:nvPr/>
        </p:nvSpPr>
        <p:spPr>
          <a:xfrm>
            <a:off x="9559503" y="1755648"/>
            <a:ext cx="146304" cy="146304"/>
          </a:xfrm>
          <a:prstGeom prst="ellipse">
            <a:avLst/>
          </a:prstGeom>
          <a:solidFill>
            <a:srgbClr val="1F3A5F"/>
          </a:solidFill>
          <a:ln w="12700">
            <a:solidFill>
              <a:srgbClr val="1F3A5F"/>
            </a:solidFill>
            <a:prstDash val="solid"/>
          </a:ln>
        </p:spPr>
      </p:sp>
      <p:sp>
        <p:nvSpPr>
          <p:cNvPr id="40" name="stage 5"/>
          <p:cNvSpPr/>
          <p:nvPr/>
        </p:nvSpPr>
        <p:spPr>
          <a:xfrm>
            <a:off x="9541215" y="2011680"/>
            <a:ext cx="2101840" cy="1600200"/>
          </a:xfrm>
          <a:prstGeom prst="rect">
            <a:avLst/>
          </a:prstGeom>
          <a:solidFill>
            <a:srgbClr val="FFFFFF"/>
          </a:solidFill>
          <a:ln w="12700">
            <a:solidFill>
              <a:srgbClr val="1F3A5F"/>
            </a:solidFill>
            <a:prstDash val="solid"/>
          </a:ln>
        </p:spPr>
      </p:sp>
      <p:sp>
        <p:nvSpPr>
          <p:cNvPr id="41" name="Text 39"/>
          <p:cNvSpPr txBox="1"/>
          <p:nvPr/>
        </p:nvSpPr>
        <p:spPr>
          <a:xfrm>
            <a:off x="9632655" y="2084832"/>
            <a:ext cx="1918960" cy="1143000"/>
          </a:xfrm>
          <a:prstGeom prst="rect">
            <a:avLst/>
          </a:prstGeom>
          <a:noFill/>
          <a:ln/>
        </p:spPr>
        <p:txBody>
          <a:bodyPr wrap="square" lIns="0" tIns="0" rIns="0" bIns="0" rtlCol="0" anchor="t"/>
          <a:lstStyle/>
          <a:p>
            <a:pPr indent="0" marL="0">
              <a:buNone/>
            </a:pPr>
            <a:r>
              <a:rPr lang="en-US" sz="1500" b="1" dirty="0">
                <a:solidFill>
                  <a:srgbClr val="000000"/>
                </a:solidFill>
                <a:latin typeface="Arial" pitchFamily="34" charset="0"/>
                <a:ea typeface="Arial" pitchFamily="34" charset="-122"/>
                <a:cs typeface="Arial" pitchFamily="34" charset="-120"/>
              </a:rPr>
              <a:t>Build and test</a:t>
            </a:r>
            <a:endParaRPr lang="en-US" sz="1500" dirty="0"/>
          </a:p>
          <a:p>
            <a:pPr indent="0" marL="0">
              <a:buNone/>
            </a:pPr>
            <a:r>
              <a:rPr lang="en-US" sz="1250" dirty="0">
                <a:solidFill>
                  <a:srgbClr val="404040"/>
                </a:solidFill>
                <a:latin typeface="Arial" pitchFamily="34" charset="0"/>
                <a:ea typeface="Arial" pitchFamily="34" charset="-122"/>
                <a:cs typeface="Arial" pitchFamily="34" charset="-120"/>
              </a:rPr>
              <a:t>Print, wire, three-station test</a:t>
            </a:r>
            <a:endParaRPr lang="en-US" sz="1500" dirty="0"/>
          </a:p>
        </p:txBody>
      </p:sp>
      <p:sp>
        <p:nvSpPr>
          <p:cNvPr id="42" name="Shape 40"/>
          <p:cNvSpPr/>
          <p:nvPr/>
        </p:nvSpPr>
        <p:spPr>
          <a:xfrm>
            <a:off x="9632655" y="3282696"/>
            <a:ext cx="603504" cy="228600"/>
          </a:xfrm>
          <a:prstGeom prst="roundRect">
            <a:avLst>
              <a:gd name="adj" fmla="val 48000"/>
            </a:avLst>
          </a:prstGeom>
          <a:solidFill>
            <a:srgbClr val="4F6D8F"/>
          </a:solidFill>
          <a:ln w="12700">
            <a:solidFill>
              <a:srgbClr val="4F6D8F"/>
            </a:solidFill>
            <a:prstDash val="solid"/>
          </a:ln>
        </p:spPr>
      </p:sp>
      <p:sp>
        <p:nvSpPr>
          <p:cNvPr id="43" name="label"/>
          <p:cNvSpPr txBox="1"/>
          <p:nvPr/>
        </p:nvSpPr>
        <p:spPr>
          <a:xfrm>
            <a:off x="9632655" y="3282696"/>
            <a:ext cx="603504"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Build</a:t>
            </a:r>
            <a:endParaRPr lang="en-US" sz="950" dirty="0"/>
          </a:p>
        </p:txBody>
      </p:sp>
      <p:sp>
        <p:nvSpPr>
          <p:cNvPr id="44" name="Shape 42"/>
          <p:cNvSpPr/>
          <p:nvPr/>
        </p:nvSpPr>
        <p:spPr>
          <a:xfrm>
            <a:off x="10291023" y="3282696"/>
            <a:ext cx="603504" cy="228600"/>
          </a:xfrm>
          <a:prstGeom prst="roundRect">
            <a:avLst>
              <a:gd name="adj" fmla="val 48000"/>
            </a:avLst>
          </a:prstGeom>
          <a:solidFill>
            <a:srgbClr val="B23A2E"/>
          </a:solidFill>
          <a:ln w="12700">
            <a:solidFill>
              <a:srgbClr val="B23A2E"/>
            </a:solidFill>
            <a:prstDash val="solid"/>
          </a:ln>
        </p:spPr>
      </p:sp>
      <p:sp>
        <p:nvSpPr>
          <p:cNvPr id="45" name="label"/>
          <p:cNvSpPr txBox="1"/>
          <p:nvPr/>
        </p:nvSpPr>
        <p:spPr>
          <a:xfrm>
            <a:off x="10291023" y="3282696"/>
            <a:ext cx="603504" cy="228600"/>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Test</a:t>
            </a:r>
            <a:endParaRPr lang="en-US" sz="950" dirty="0"/>
          </a:p>
        </p:txBody>
      </p:sp>
      <p:sp>
        <p:nvSpPr>
          <p:cNvPr id="46" name="Me: a solo project (team of one) header"/>
          <p:cNvSpPr/>
          <p:nvPr/>
        </p:nvSpPr>
        <p:spPr>
          <a:xfrm>
            <a:off x="548640" y="3840480"/>
            <a:ext cx="6400800" cy="411480"/>
          </a:xfrm>
          <a:prstGeom prst="rect">
            <a:avLst/>
          </a:prstGeom>
          <a:solidFill>
            <a:srgbClr val="1F3A5F"/>
          </a:solidFill>
          <a:ln w="12700">
            <a:solidFill>
              <a:srgbClr val="1F3A5F"/>
            </a:solidFill>
            <a:prstDash val="solid"/>
          </a:ln>
        </p:spPr>
      </p:sp>
      <p:sp>
        <p:nvSpPr>
          <p:cNvPr id="47" name="label"/>
          <p:cNvSpPr txBox="1"/>
          <p:nvPr/>
        </p:nvSpPr>
        <p:spPr>
          <a:xfrm>
            <a:off x="685800" y="3840480"/>
            <a:ext cx="6126480"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Me: a solo project (team of one)</a:t>
            </a:r>
            <a:endParaRPr lang="en-US" sz="1600" dirty="0"/>
          </a:p>
        </p:txBody>
      </p:sp>
      <p:sp>
        <p:nvSpPr>
          <p:cNvPr id="48" name="Shape 46"/>
          <p:cNvSpPr/>
          <p:nvPr/>
        </p:nvSpPr>
        <p:spPr>
          <a:xfrm>
            <a:off x="548640" y="4251960"/>
            <a:ext cx="6400800" cy="2011680"/>
          </a:xfrm>
          <a:prstGeom prst="rect">
            <a:avLst/>
          </a:prstGeom>
          <a:solidFill>
            <a:srgbClr val="FFFFFF"/>
          </a:solidFill>
          <a:ln w="12700">
            <a:solidFill>
              <a:srgbClr val="1F3A5F"/>
            </a:solidFill>
            <a:prstDash val="solid"/>
          </a:ln>
        </p:spPr>
      </p:sp>
      <p:sp>
        <p:nvSpPr>
          <p:cNvPr id="49" name="my work"/>
          <p:cNvSpPr txBox="1"/>
          <p:nvPr/>
        </p:nvSpPr>
        <p:spPr>
          <a:xfrm>
            <a:off x="685800" y="4343400"/>
            <a:ext cx="6126480" cy="187452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Requirements, calculations and test plans</a:t>
            </a:r>
            <a:endParaRPr lang="en-US" sz="1500" dirty="0"/>
          </a:p>
          <a:p>
            <a:pPr algn="l" marL="254000" indent="-2540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All CAD (computer-aided design) in SolidWorks: stations, spool, claw, fin</a:t>
            </a:r>
            <a:endParaRPr lang="en-US" sz="1500" dirty="0"/>
          </a:p>
          <a:p>
            <a:pPr algn="l" marL="254000" indent="-2540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3D printing and fits; the heat fin on the shear and manual mill</a:t>
            </a:r>
            <a:endParaRPr lang="en-US" sz="1500" dirty="0"/>
          </a:p>
          <a:p>
            <a:pPr algn="l" marL="254000" indent="-2540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Wiring, soldering, electronics bring-up and debugging</a:t>
            </a:r>
            <a:endParaRPr lang="en-US" sz="1500" dirty="0"/>
          </a:p>
          <a:p>
            <a:pPr algn="l" marL="254000" indent="-2540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Control software: </a:t>
            </a:r>
            <a:pPr algn="l" marL="254000" indent="-254000">
              <a:spcAft>
                <a:spcPts val="600"/>
              </a:spcAft>
              <a:buSzPct val="100000"/>
              <a:buChar char="•"/>
            </a:pPr>
            <a:r>
              <a:rPr lang="en-US" sz="1500" i="1" dirty="0">
                <a:solidFill>
                  <a:srgbClr val="B23A2E"/>
                </a:solidFill>
                <a:latin typeface="Arial" pitchFamily="34" charset="0"/>
                <a:ea typeface="Arial" pitchFamily="34" charset="-122"/>
                <a:cs typeface="Arial" pitchFamily="34" charset="-120"/>
              </a:rPr>
              <a:t>[confirm the parts you wrote]</a:t>
            </a:r>
            <a:endParaRPr lang="en-US" sz="1500" dirty="0"/>
          </a:p>
        </p:txBody>
      </p:sp>
      <p:sp>
        <p:nvSpPr>
          <p:cNvPr id="50" name="Bought or outside header"/>
          <p:cNvSpPr/>
          <p:nvPr/>
        </p:nvSpPr>
        <p:spPr>
          <a:xfrm>
            <a:off x="7114032" y="3840480"/>
            <a:ext cx="4529023" cy="411480"/>
          </a:xfrm>
          <a:prstGeom prst="rect">
            <a:avLst/>
          </a:prstGeom>
          <a:solidFill>
            <a:srgbClr val="7F7F7F"/>
          </a:solidFill>
          <a:ln w="12700">
            <a:solidFill>
              <a:srgbClr val="7F7F7F"/>
            </a:solidFill>
            <a:prstDash val="solid"/>
          </a:ln>
        </p:spPr>
      </p:sp>
      <p:sp>
        <p:nvSpPr>
          <p:cNvPr id="51" name="label"/>
          <p:cNvSpPr txBox="1"/>
          <p:nvPr/>
        </p:nvSpPr>
        <p:spPr>
          <a:xfrm>
            <a:off x="7251192" y="3840480"/>
            <a:ext cx="4254703"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Bought or outside</a:t>
            </a:r>
            <a:endParaRPr lang="en-US" sz="1600" dirty="0"/>
          </a:p>
        </p:txBody>
      </p:sp>
      <p:sp>
        <p:nvSpPr>
          <p:cNvPr id="52" name="Shape 50"/>
          <p:cNvSpPr/>
          <p:nvPr/>
        </p:nvSpPr>
        <p:spPr>
          <a:xfrm>
            <a:off x="7114032" y="4251960"/>
            <a:ext cx="4529023" cy="2011680"/>
          </a:xfrm>
          <a:prstGeom prst="rect">
            <a:avLst/>
          </a:prstGeom>
          <a:solidFill>
            <a:srgbClr val="FFFFFF"/>
          </a:solidFill>
          <a:ln w="12700">
            <a:solidFill>
              <a:srgbClr val="7F7F7F"/>
            </a:solidFill>
            <a:prstDash val="solid"/>
          </a:ln>
        </p:spPr>
      </p:sp>
      <p:sp>
        <p:nvSpPr>
          <p:cNvPr id="53" name="bought"/>
          <p:cNvSpPr txBox="1"/>
          <p:nvPr/>
        </p:nvSpPr>
        <p:spPr>
          <a:xfrm>
            <a:off x="7251192" y="4343400"/>
            <a:ext cx="4254703" cy="1874520"/>
          </a:xfrm>
          <a:prstGeom prst="rect">
            <a:avLst/>
          </a:prstGeom>
          <a:noFill/>
          <a:ln/>
        </p:spPr>
        <p:txBody>
          <a:bodyPr wrap="square" lIns="25400" tIns="0" rIns="50800" bIns="25400" rtlCol="0" anchor="t"/>
          <a:lstStyle/>
          <a:p>
            <a:pPr algn="l" marL="254000" indent="-2540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Stepper motors, drivers, controller boards</a:t>
            </a:r>
            <a:endParaRPr lang="en-US" sz="1500" dirty="0"/>
          </a:p>
          <a:p>
            <a:pPr algn="l" marL="254000" indent="-2540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Servo, camera, battery, encoder boards</a:t>
            </a:r>
            <a:endParaRPr lang="en-US" sz="1500" dirty="0"/>
          </a:p>
          <a:p>
            <a:pPr algn="l" marL="254000" indent="-2540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Garment detector: YOLO-World, an open-source model</a:t>
            </a:r>
            <a:endParaRPr lang="en-US" sz="1500" dirty="0"/>
          </a:p>
          <a:p>
            <a:pPr algn="l" marL="254000" indent="-2540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Help: </a:t>
            </a:r>
            <a:pPr algn="l" marL="254000" indent="-254000">
              <a:spcAft>
                <a:spcPts val="600"/>
              </a:spcAft>
              <a:buSzPct val="100000"/>
              <a:buChar char="•"/>
            </a:pPr>
            <a:r>
              <a:rPr lang="en-US" sz="1500" i="1" dirty="0">
                <a:solidFill>
                  <a:srgbClr val="B23A2E"/>
                </a:solidFill>
                <a:latin typeface="Arial" pitchFamily="34" charset="0"/>
                <a:ea typeface="Arial" pitchFamily="34" charset="-122"/>
                <a:cs typeface="Arial" pitchFamily="34" charset="-120"/>
              </a:rPr>
              <a:t>[shop access or mentors, if any]</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How It Works</a:t>
            </a:r>
            <a:endParaRPr lang="en-US" sz="3000" dirty="0"/>
          </a:p>
        </p:txBody>
      </p:sp>
      <p:sp>
        <p:nvSpPr>
          <p:cNvPr id="4" name="status chip"/>
          <p:cNvSpPr/>
          <p:nvPr/>
        </p:nvSpPr>
        <p:spPr>
          <a:xfrm>
            <a:off x="9082735" y="621792"/>
            <a:ext cx="256032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9082735" y="621792"/>
            <a:ext cx="256032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Simulated end to end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254886"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4 wall stations:</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winch, encoder, fin, controller</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1 claw:</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gripper, camera, battery</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Laptop:</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plans + checks every move</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Phone:</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start · PAUSE · approve</a:t>
            </a:r>
            <a:endParaRPr lang="en-US" sz="2000" dirty="0"/>
          </a:p>
        </p:txBody>
      </p:sp>
      <p:sp>
        <p:nvSpPr>
          <p:cNvPr id="8" name="layer 1"/>
          <p:cNvSpPr/>
          <p:nvPr/>
        </p:nvSpPr>
        <p:spPr>
          <a:xfrm>
            <a:off x="5215006" y="1463040"/>
            <a:ext cx="4416369" cy="716890"/>
          </a:xfrm>
          <a:prstGeom prst="rect">
            <a:avLst/>
          </a:prstGeom>
          <a:solidFill>
            <a:srgbClr val="FFFFFF"/>
          </a:solidFill>
          <a:ln w="15875">
            <a:solidFill>
              <a:srgbClr val="1F3A5F"/>
            </a:solidFill>
            <a:prstDash val="solid"/>
          </a:ln>
        </p:spPr>
      </p:sp>
      <p:sp>
        <p:nvSpPr>
          <p:cNvPr id="9" name="Text 7"/>
          <p:cNvSpPr txBox="1"/>
          <p:nvPr/>
        </p:nvSpPr>
        <p:spPr>
          <a:xfrm>
            <a:off x="5352166" y="1463040"/>
            <a:ext cx="4142049" cy="71689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Phone app</a:t>
            </a:r>
            <a:endParaRPr lang="en-US" sz="1400" dirty="0"/>
          </a:p>
          <a:p>
            <a:pPr indent="0" marL="0">
              <a:buNone/>
            </a:pPr>
            <a:r>
              <a:rPr lang="en-US" sz="1200" dirty="0">
                <a:solidFill>
                  <a:srgbClr val="000000"/>
                </a:solidFill>
                <a:latin typeface="Arial" pitchFamily="34" charset="0"/>
                <a:ea typeface="Arial" pitchFamily="34" charset="-122"/>
                <a:cs typeface="Arial" pitchFamily="34" charset="-120"/>
              </a:rPr>
              <a:t>Start, PAUSE, and a “yes” before every move</a:t>
            </a:r>
            <a:endParaRPr lang="en-US" sz="1400" dirty="0"/>
          </a:p>
        </p:txBody>
      </p:sp>
      <p:sp>
        <p:nvSpPr>
          <p:cNvPr id="10" name="Shape 8"/>
          <p:cNvSpPr/>
          <p:nvPr/>
        </p:nvSpPr>
        <p:spPr>
          <a:xfrm>
            <a:off x="7423191" y="2198218"/>
            <a:ext cx="0" cy="164592"/>
          </a:xfrm>
          <a:prstGeom prst="line">
            <a:avLst/>
          </a:prstGeom>
          <a:noFill/>
          <a:ln w="19050">
            <a:solidFill>
              <a:srgbClr val="7F7F7F"/>
            </a:solidFill>
            <a:prstDash val="solid"/>
            <a:tailEnd type="triangle"/>
          </a:ln>
        </p:spPr>
      </p:sp>
      <p:sp>
        <p:nvSpPr>
          <p:cNvPr id="11" name="layer 2"/>
          <p:cNvSpPr/>
          <p:nvPr/>
        </p:nvSpPr>
        <p:spPr>
          <a:xfrm>
            <a:off x="5215006" y="2381098"/>
            <a:ext cx="4416369" cy="716890"/>
          </a:xfrm>
          <a:prstGeom prst="rect">
            <a:avLst/>
          </a:prstGeom>
          <a:solidFill>
            <a:srgbClr val="F2F2F4"/>
          </a:solidFill>
          <a:ln w="15875">
            <a:solidFill>
              <a:srgbClr val="1F3A5F"/>
            </a:solidFill>
            <a:prstDash val="solid"/>
          </a:ln>
        </p:spPr>
      </p:sp>
      <p:sp>
        <p:nvSpPr>
          <p:cNvPr id="12" name="Text 10"/>
          <p:cNvSpPr txBox="1"/>
          <p:nvPr/>
        </p:nvSpPr>
        <p:spPr>
          <a:xfrm>
            <a:off x="5352166" y="2381098"/>
            <a:ext cx="4142049" cy="71689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Supervisor  ·  laptop</a:t>
            </a:r>
            <a:endParaRPr lang="en-US" sz="1400" dirty="0"/>
          </a:p>
          <a:p>
            <a:pPr indent="0" marL="0">
              <a:buNone/>
            </a:pPr>
            <a:r>
              <a:rPr lang="en-US" sz="1200" dirty="0">
                <a:solidFill>
                  <a:srgbClr val="000000"/>
                </a:solidFill>
                <a:latin typeface="Arial" pitchFamily="34" charset="0"/>
                <a:ea typeface="Arial" pitchFamily="34" charset="-122"/>
                <a:cs typeface="Arial" pitchFamily="34" charset="-120"/>
              </a:rPr>
              <a:t>One robot state; refuses commands that do not fit it</a:t>
            </a:r>
            <a:endParaRPr lang="en-US" sz="1400" dirty="0"/>
          </a:p>
        </p:txBody>
      </p:sp>
      <p:sp>
        <p:nvSpPr>
          <p:cNvPr id="13" name="Shape 11"/>
          <p:cNvSpPr/>
          <p:nvPr/>
        </p:nvSpPr>
        <p:spPr>
          <a:xfrm>
            <a:off x="7423191" y="3116275"/>
            <a:ext cx="0" cy="164592"/>
          </a:xfrm>
          <a:prstGeom prst="line">
            <a:avLst/>
          </a:prstGeom>
          <a:noFill/>
          <a:ln w="19050">
            <a:solidFill>
              <a:srgbClr val="7F7F7F"/>
            </a:solidFill>
            <a:prstDash val="solid"/>
            <a:tailEnd type="triangle"/>
          </a:ln>
        </p:spPr>
      </p:sp>
      <p:sp>
        <p:nvSpPr>
          <p:cNvPr id="14" name="layer 3"/>
          <p:cNvSpPr/>
          <p:nvPr/>
        </p:nvSpPr>
        <p:spPr>
          <a:xfrm>
            <a:off x="5215006" y="3299155"/>
            <a:ext cx="4416369" cy="716890"/>
          </a:xfrm>
          <a:prstGeom prst="rect">
            <a:avLst/>
          </a:prstGeom>
          <a:solidFill>
            <a:srgbClr val="F2F2F4"/>
          </a:solidFill>
          <a:ln w="15875">
            <a:solidFill>
              <a:srgbClr val="1F3A5F"/>
            </a:solidFill>
            <a:prstDash val="solid"/>
          </a:ln>
        </p:spPr>
      </p:sp>
      <p:sp>
        <p:nvSpPr>
          <p:cNvPr id="15" name="Text 13"/>
          <p:cNvSpPr txBox="1"/>
          <p:nvPr/>
        </p:nvSpPr>
        <p:spPr>
          <a:xfrm>
            <a:off x="5352166" y="3299155"/>
            <a:ext cx="4142049" cy="71689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Startup and tasks  ·  laptop</a:t>
            </a:r>
            <a:endParaRPr lang="en-US" sz="1400" dirty="0"/>
          </a:p>
          <a:p>
            <a:pPr indent="0" marL="0">
              <a:buNone/>
            </a:pPr>
            <a:r>
              <a:rPr lang="en-US" sz="1200" dirty="0">
                <a:solidFill>
                  <a:srgbClr val="000000"/>
                </a:solidFill>
                <a:latin typeface="Arial" pitchFamily="34" charset="0"/>
                <a:ea typeface="Arial" pitchFamily="34" charset="-122"/>
                <a:cs typeface="Arial" pitchFamily="34" charset="-120"/>
              </a:rPr>
              <a:t>Calibrate; then scan, grip, check, deliver</a:t>
            </a:r>
            <a:endParaRPr lang="en-US" sz="1400" dirty="0"/>
          </a:p>
        </p:txBody>
      </p:sp>
      <p:sp>
        <p:nvSpPr>
          <p:cNvPr id="16" name="Shape 14"/>
          <p:cNvSpPr/>
          <p:nvPr/>
        </p:nvSpPr>
        <p:spPr>
          <a:xfrm>
            <a:off x="7423191" y="4034333"/>
            <a:ext cx="0" cy="164592"/>
          </a:xfrm>
          <a:prstGeom prst="line">
            <a:avLst/>
          </a:prstGeom>
          <a:noFill/>
          <a:ln w="19050">
            <a:solidFill>
              <a:srgbClr val="7F7F7F"/>
            </a:solidFill>
            <a:prstDash val="solid"/>
            <a:tailEnd type="triangle"/>
          </a:ln>
        </p:spPr>
      </p:sp>
      <p:sp>
        <p:nvSpPr>
          <p:cNvPr id="17" name="layer 4"/>
          <p:cNvSpPr/>
          <p:nvPr/>
        </p:nvSpPr>
        <p:spPr>
          <a:xfrm>
            <a:off x="5215006" y="4217213"/>
            <a:ext cx="4416369" cy="716890"/>
          </a:xfrm>
          <a:prstGeom prst="rect">
            <a:avLst/>
          </a:prstGeom>
          <a:solidFill>
            <a:srgbClr val="F2F2F4"/>
          </a:solidFill>
          <a:ln w="15875">
            <a:solidFill>
              <a:srgbClr val="1F3A5F"/>
            </a:solidFill>
            <a:prstDash val="solid"/>
          </a:ln>
        </p:spPr>
      </p:sp>
      <p:sp>
        <p:nvSpPr>
          <p:cNvPr id="18" name="Text 16"/>
          <p:cNvSpPr txBox="1"/>
          <p:nvPr/>
        </p:nvSpPr>
        <p:spPr>
          <a:xfrm>
            <a:off x="5352166" y="4217213"/>
            <a:ext cx="4142049" cy="71689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Planner  ·  laptop</a:t>
            </a:r>
            <a:endParaRPr lang="en-US" sz="1400" dirty="0"/>
          </a:p>
          <a:p>
            <a:pPr indent="0" marL="0">
              <a:buNone/>
            </a:pPr>
            <a:r>
              <a:rPr lang="en-US" sz="1200" dirty="0">
                <a:solidFill>
                  <a:srgbClr val="000000"/>
                </a:solidFill>
                <a:latin typeface="Arial" pitchFamily="34" charset="0"/>
                <a:ea typeface="Arial" pitchFamily="34" charset="-122"/>
                <a:cs typeface="Arial" pitchFamily="34" charset="-120"/>
              </a:rPr>
              <a:t>Checks every path point, then streams time-stamped moves</a:t>
            </a:r>
            <a:endParaRPr lang="en-US" sz="1400" dirty="0"/>
          </a:p>
        </p:txBody>
      </p:sp>
      <p:sp>
        <p:nvSpPr>
          <p:cNvPr id="19" name="Shape 17"/>
          <p:cNvSpPr/>
          <p:nvPr/>
        </p:nvSpPr>
        <p:spPr>
          <a:xfrm>
            <a:off x="7423191" y="4952390"/>
            <a:ext cx="0" cy="164592"/>
          </a:xfrm>
          <a:prstGeom prst="line">
            <a:avLst/>
          </a:prstGeom>
          <a:noFill/>
          <a:ln w="19050">
            <a:solidFill>
              <a:srgbClr val="7F7F7F"/>
            </a:solidFill>
            <a:prstDash val="solid"/>
            <a:tailEnd type="triangle"/>
          </a:ln>
        </p:spPr>
      </p:sp>
      <p:sp>
        <p:nvSpPr>
          <p:cNvPr id="20" name="layer 5"/>
          <p:cNvSpPr/>
          <p:nvPr/>
        </p:nvSpPr>
        <p:spPr>
          <a:xfrm>
            <a:off x="5215006" y="5135270"/>
            <a:ext cx="4416369" cy="716890"/>
          </a:xfrm>
          <a:prstGeom prst="rect">
            <a:avLst/>
          </a:prstGeom>
          <a:solidFill>
            <a:srgbClr val="FFFFFF"/>
          </a:solidFill>
          <a:ln w="15875">
            <a:solidFill>
              <a:srgbClr val="1F3A5F"/>
            </a:solidFill>
            <a:prstDash val="solid"/>
          </a:ln>
        </p:spPr>
      </p:sp>
      <p:sp>
        <p:nvSpPr>
          <p:cNvPr id="21" name="Text 19"/>
          <p:cNvSpPr txBox="1"/>
          <p:nvPr/>
        </p:nvSpPr>
        <p:spPr>
          <a:xfrm>
            <a:off x="5352166" y="5135270"/>
            <a:ext cx="4142049" cy="71689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Wall stations  ·  a controller in each</a:t>
            </a:r>
            <a:endParaRPr lang="en-US" sz="1400" dirty="0"/>
          </a:p>
          <a:p>
            <a:pPr indent="0" marL="0">
              <a:buNone/>
            </a:pPr>
            <a:r>
              <a:rPr lang="en-US" sz="1200" dirty="0">
                <a:solidFill>
                  <a:srgbClr val="000000"/>
                </a:solidFill>
                <a:latin typeface="Arial" pitchFamily="34" charset="0"/>
                <a:ea typeface="Arial" pitchFamily="34" charset="-122"/>
                <a:cs typeface="Arial" pitchFamily="34" charset="-120"/>
              </a:rPr>
              <a:t>Step the motor, watch the encoder, hold if the link drops</a:t>
            </a:r>
            <a:endParaRPr lang="en-US" sz="1400" dirty="0"/>
          </a:p>
        </p:txBody>
      </p:sp>
      <p:sp>
        <p:nvSpPr>
          <p:cNvPr id="22" name="claw"/>
          <p:cNvSpPr/>
          <p:nvPr/>
        </p:nvSpPr>
        <p:spPr>
          <a:xfrm>
            <a:off x="10042855" y="3207715"/>
            <a:ext cx="1600200" cy="899770"/>
          </a:xfrm>
          <a:prstGeom prst="rect">
            <a:avLst/>
          </a:prstGeom>
          <a:solidFill>
            <a:srgbClr val="FFFFFF"/>
          </a:solidFill>
          <a:ln w="15875">
            <a:solidFill>
              <a:srgbClr val="1F3A5F"/>
            </a:solidFill>
            <a:prstDash val="solid"/>
          </a:ln>
        </p:spPr>
      </p:sp>
      <p:sp>
        <p:nvSpPr>
          <p:cNvPr id="23" name="Text 21"/>
          <p:cNvSpPr txBox="1"/>
          <p:nvPr/>
        </p:nvSpPr>
        <p:spPr>
          <a:xfrm>
            <a:off x="10134295" y="3207715"/>
            <a:ext cx="1417320" cy="899770"/>
          </a:xfrm>
          <a:prstGeom prst="rect">
            <a:avLst/>
          </a:prstGeom>
          <a:noFill/>
          <a:ln/>
        </p:spPr>
        <p:txBody>
          <a:bodyPr wrap="square" lIns="0" tIns="0" rIns="0" bIns="0" rtlCol="0" anchor="ctr"/>
          <a:lstStyle/>
          <a:p>
            <a:pPr indent="0" marL="0">
              <a:buNone/>
            </a:pPr>
            <a:r>
              <a:rPr lang="en-US" sz="1400" b="1" dirty="0">
                <a:solidFill>
                  <a:srgbClr val="1F3A5F"/>
                </a:solidFill>
                <a:latin typeface="Arial" pitchFamily="34" charset="0"/>
                <a:ea typeface="Arial" pitchFamily="34" charset="-122"/>
                <a:cs typeface="Arial" pitchFamily="34" charset="-120"/>
              </a:rPr>
              <a:t>Claw</a:t>
            </a:r>
            <a:endParaRPr lang="en-US" sz="1400" dirty="0"/>
          </a:p>
          <a:p>
            <a:pPr indent="0" marL="0">
              <a:buNone/>
            </a:pPr>
            <a:r>
              <a:rPr lang="en-US" sz="1150" dirty="0">
                <a:solidFill>
                  <a:srgbClr val="000000"/>
                </a:solidFill>
                <a:latin typeface="Arial" pitchFamily="34" charset="0"/>
                <a:ea typeface="Arial" pitchFamily="34" charset="-122"/>
                <a:cs typeface="Arial" pitchFamily="34" charset="-120"/>
              </a:rPr>
              <a:t>sends camera frames; grips only when approved</a:t>
            </a:r>
            <a:endParaRPr lang="en-US" sz="1400" dirty="0"/>
          </a:p>
        </p:txBody>
      </p:sp>
      <p:sp>
        <p:nvSpPr>
          <p:cNvPr id="24" name="Shape 22"/>
          <p:cNvSpPr/>
          <p:nvPr/>
        </p:nvSpPr>
        <p:spPr>
          <a:xfrm>
            <a:off x="9667951" y="3657600"/>
            <a:ext cx="338328" cy="0"/>
          </a:xfrm>
          <a:prstGeom prst="line">
            <a:avLst/>
          </a:prstGeom>
          <a:noFill/>
          <a:ln w="19050">
            <a:solidFill>
              <a:srgbClr val="7F7F7F"/>
            </a:solidFill>
            <a:prstDash val="solid"/>
            <a:headEnd type="triangle"/>
            <a:tailEnd type="triangle"/>
          </a:ln>
        </p:spPr>
      </p:sp>
      <p:sp>
        <p:nvSpPr>
          <p:cNvPr id="25" name="layer note"/>
          <p:cNvSpPr txBox="1"/>
          <p:nvPr/>
        </p:nvSpPr>
        <p:spPr>
          <a:xfrm>
            <a:off x="5215006" y="5943600"/>
            <a:ext cx="6428049" cy="274320"/>
          </a:xfrm>
          <a:prstGeom prst="rect">
            <a:avLst/>
          </a:prstGeom>
          <a:noFill/>
          <a:ln/>
        </p:spPr>
        <p:txBody>
          <a:bodyPr wrap="square" lIns="0" tIns="0" rIns="0" bIns="0" rtlCol="0" anchor="ctr"/>
          <a:lstStyle/>
          <a:p>
            <a:pPr algn="l" indent="0" marL="0">
              <a:buNone/>
            </a:pPr>
            <a:r>
              <a:rPr lang="en-US" sz="1200" dirty="0">
                <a:solidFill>
                  <a:srgbClr val="404040"/>
                </a:solidFill>
                <a:latin typeface="Arial" pitchFamily="34" charset="0"/>
                <a:ea typeface="Arial" pitchFamily="34" charset="-122"/>
                <a:cs typeface="Arial" pitchFamily="34" charset="-120"/>
              </a:rPr>
              <a:t>Commands flow down; status and camera frames flow back up.</a:t>
            </a:r>
            <a:endParaRPr lang="en-US" sz="12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What I’m Optimizing</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Lift capacity tile"/>
          <p:cNvSpPr/>
          <p:nvPr/>
        </p:nvSpPr>
        <p:spPr>
          <a:xfrm>
            <a:off x="548640" y="1463040"/>
            <a:ext cx="2650160" cy="2029968"/>
          </a:xfrm>
          <a:prstGeom prst="rect">
            <a:avLst/>
          </a:prstGeom>
          <a:solidFill>
            <a:srgbClr val="FFFFFF"/>
          </a:solidFill>
          <a:ln w="12700">
            <a:solidFill>
              <a:srgbClr val="BFBFBF"/>
            </a:solidFill>
            <a:prstDash val="solid"/>
          </a:ln>
        </p:spPr>
      </p:sp>
      <p:sp>
        <p:nvSpPr>
          <p:cNvPr id="6" name="Lift capacity status bar"/>
          <p:cNvSpPr/>
          <p:nvPr/>
        </p:nvSpPr>
        <p:spPr>
          <a:xfrm>
            <a:off x="548640" y="1463040"/>
            <a:ext cx="2650160" cy="91440"/>
          </a:xfrm>
          <a:prstGeom prst="rect">
            <a:avLst/>
          </a:prstGeom>
          <a:solidFill>
            <a:srgbClr val="B23A2E"/>
          </a:solidFill>
          <a:ln w="12700">
            <a:solidFill>
              <a:srgbClr val="B23A2E"/>
            </a:solidFill>
            <a:prstDash val="solid"/>
          </a:ln>
        </p:spPr>
      </p:sp>
      <p:sp>
        <p:nvSpPr>
          <p:cNvPr id="7" name="label"/>
          <p:cNvSpPr txBox="1"/>
          <p:nvPr/>
        </p:nvSpPr>
        <p:spPr>
          <a:xfrm>
            <a:off x="685800" y="1618488"/>
            <a:ext cx="2375840" cy="219456"/>
          </a:xfrm>
          <a:prstGeom prst="rect">
            <a:avLst/>
          </a:prstGeom>
          <a:noFill/>
          <a:ln/>
        </p:spPr>
        <p:txBody>
          <a:bodyPr wrap="square" lIns="0" tIns="0" rIns="0" bIns="0" rtlCol="0" anchor="ctr"/>
          <a:lstStyle/>
          <a:p>
            <a:pPr algn="l" indent="0" marL="0">
              <a:buNone/>
            </a:pPr>
            <a:r>
              <a:rPr lang="en-US" sz="1050" b="1" dirty="0">
                <a:solidFill>
                  <a:srgbClr val="B23A2E"/>
                </a:solidFill>
                <a:latin typeface="Arial" pitchFamily="34" charset="0"/>
                <a:ea typeface="Arial" pitchFamily="34" charset="-122"/>
                <a:cs typeface="Arial" pitchFamily="34" charset="-120"/>
              </a:rPr>
              <a:t>NOT MET</a:t>
            </a:r>
            <a:endParaRPr lang="en-US" sz="1050" dirty="0"/>
          </a:p>
        </p:txBody>
      </p:sp>
      <p:sp>
        <p:nvSpPr>
          <p:cNvPr id="8" name="label"/>
          <p:cNvSpPr txBox="1"/>
          <p:nvPr/>
        </p:nvSpPr>
        <p:spPr>
          <a:xfrm>
            <a:off x="685800" y="1847088"/>
            <a:ext cx="2375840" cy="329184"/>
          </a:xfrm>
          <a:prstGeom prst="rect">
            <a:avLst/>
          </a:prstGeom>
          <a:noFill/>
          <a:ln/>
        </p:spPr>
        <p:txBody>
          <a:bodyPr wrap="square" lIns="0" tIns="0" rIns="0" bIns="0" rtlCol="0" anchor="ctr"/>
          <a:lstStyle/>
          <a:p>
            <a:pPr algn="l" indent="0" marL="0">
              <a:buNone/>
            </a:pPr>
            <a:r>
              <a:rPr lang="en-US" sz="1700" b="1" dirty="0">
                <a:solidFill>
                  <a:srgbClr val="000000"/>
                </a:solidFill>
                <a:latin typeface="Arial" pitchFamily="34" charset="0"/>
                <a:ea typeface="Arial" pitchFamily="34" charset="-122"/>
                <a:cs typeface="Arial" pitchFamily="34" charset="-120"/>
              </a:rPr>
              <a:t>Lift capacity</a:t>
            </a:r>
            <a:endParaRPr lang="en-US" sz="1700" dirty="0"/>
          </a:p>
        </p:txBody>
      </p:sp>
      <p:sp>
        <p:nvSpPr>
          <p:cNvPr id="9" name="label"/>
          <p:cNvSpPr txBox="1"/>
          <p:nvPr/>
        </p:nvSpPr>
        <p:spPr>
          <a:xfrm>
            <a:off x="685800" y="2176272"/>
            <a:ext cx="2375840" cy="237744"/>
          </a:xfrm>
          <a:prstGeom prst="rect">
            <a:avLst/>
          </a:prstGeom>
          <a:noFill/>
          <a:ln/>
        </p:spPr>
        <p:txBody>
          <a:bodyPr wrap="square" lIns="0" tIns="0" rIns="0" bIns="0" rtlCol="0" anchor="ctr"/>
          <a:lstStyle/>
          <a:p>
            <a:pPr algn="l" indent="0" marL="0">
              <a:buNone/>
            </a:pPr>
            <a:r>
              <a:rPr lang="en-US" sz="1200" dirty="0">
                <a:solidFill>
                  <a:srgbClr val="7F7F7F"/>
                </a:solidFill>
                <a:latin typeface="Arial" pitchFamily="34" charset="0"/>
                <a:ea typeface="Arial" pitchFamily="34" charset="-122"/>
                <a:cs typeface="Arial" pitchFamily="34" charset="-120"/>
              </a:rPr>
              <a:t>Maximize</a:t>
            </a:r>
            <a:endParaRPr lang="en-US" sz="1200" dirty="0"/>
          </a:p>
        </p:txBody>
      </p:sp>
      <p:sp>
        <p:nvSpPr>
          <p:cNvPr id="10" name="label"/>
          <p:cNvSpPr txBox="1"/>
          <p:nvPr/>
        </p:nvSpPr>
        <p:spPr>
          <a:xfrm>
            <a:off x="685800" y="2432304"/>
            <a:ext cx="2375840" cy="457200"/>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Target:</a:t>
            </a:r>
            <a:pPr algn="l" indent="0" marL="0">
              <a:buNone/>
            </a:pPr>
            <a:r>
              <a:rPr lang="en-US" sz="1300" dirty="0">
                <a:solidFill>
                  <a:srgbClr val="000000"/>
                </a:solidFill>
                <a:latin typeface="Arial" pitchFamily="34" charset="0"/>
                <a:ea typeface="Arial" pitchFamily="34" charset="-122"/>
                <a:cs typeface="Arial" pitchFamily="34" charset="-120"/>
              </a:rPr>
              <a:t> Claw + jeans: 1.76 kg</a:t>
            </a:r>
            <a:endParaRPr lang="en-US" sz="1300" dirty="0"/>
          </a:p>
        </p:txBody>
      </p:sp>
      <p:sp>
        <p:nvSpPr>
          <p:cNvPr id="11" name="label"/>
          <p:cNvSpPr txBox="1"/>
          <p:nvPr/>
        </p:nvSpPr>
        <p:spPr>
          <a:xfrm>
            <a:off x="685800" y="2889504"/>
            <a:ext cx="2375840" cy="530352"/>
          </a:xfrm>
          <a:prstGeom prst="rect">
            <a:avLst/>
          </a:prstGeom>
          <a:noFill/>
          <a:ln/>
        </p:spPr>
        <p:txBody>
          <a:bodyPr wrap="square" lIns="0" tIns="0" rIns="0" bIns="0" rtlCol="0" anchor="t"/>
          <a:lstStyle/>
          <a:p>
            <a:pPr algn="l" indent="0" marL="0">
              <a:buNone/>
            </a:pPr>
            <a:r>
              <a:rPr lang="en-US" sz="1300" b="1" dirty="0">
                <a:solidFill>
                  <a:srgbClr val="B23A2E"/>
                </a:solidFill>
                <a:latin typeface="Arial" pitchFamily="34" charset="0"/>
                <a:ea typeface="Arial" pitchFamily="34" charset="-122"/>
                <a:cs typeface="Arial" pitchFamily="34" charset="-120"/>
              </a:rPr>
              <a:t>Now:</a:t>
            </a:r>
            <a:pPr algn="l" indent="0" marL="0">
              <a:buNone/>
            </a:pPr>
            <a:r>
              <a:rPr lang="en-US" sz="1300" dirty="0">
                <a:solidFill>
                  <a:srgbClr val="B23A2E"/>
                </a:solidFill>
                <a:latin typeface="Arial" pitchFamily="34" charset="0"/>
                <a:ea typeface="Arial" pitchFamily="34" charset="-122"/>
                <a:cs typeface="Arial" pitchFamily="34" charset="-120"/>
              </a:rPr>
              <a:t> 1.56 kg (calculated)</a:t>
            </a:r>
            <a:endParaRPr lang="en-US" sz="1300" dirty="0"/>
          </a:p>
        </p:txBody>
      </p:sp>
      <p:sp>
        <p:nvSpPr>
          <p:cNvPr id="12" name="Claw mass tile"/>
          <p:cNvSpPr/>
          <p:nvPr/>
        </p:nvSpPr>
        <p:spPr>
          <a:xfrm>
            <a:off x="3363392" y="1463040"/>
            <a:ext cx="2650160" cy="2029968"/>
          </a:xfrm>
          <a:prstGeom prst="rect">
            <a:avLst/>
          </a:prstGeom>
          <a:solidFill>
            <a:srgbClr val="FFFFFF"/>
          </a:solidFill>
          <a:ln w="12700">
            <a:solidFill>
              <a:srgbClr val="BFBFBF"/>
            </a:solidFill>
            <a:prstDash val="solid"/>
          </a:ln>
        </p:spPr>
      </p:sp>
      <p:sp>
        <p:nvSpPr>
          <p:cNvPr id="13" name="Claw mass status bar"/>
          <p:cNvSpPr/>
          <p:nvPr/>
        </p:nvSpPr>
        <p:spPr>
          <a:xfrm>
            <a:off x="3363392" y="1463040"/>
            <a:ext cx="2650160" cy="91440"/>
          </a:xfrm>
          <a:prstGeom prst="rect">
            <a:avLst/>
          </a:prstGeom>
          <a:solidFill>
            <a:srgbClr val="B23A2E"/>
          </a:solidFill>
          <a:ln w="12700">
            <a:solidFill>
              <a:srgbClr val="B23A2E"/>
            </a:solidFill>
            <a:prstDash val="solid"/>
          </a:ln>
        </p:spPr>
      </p:sp>
      <p:sp>
        <p:nvSpPr>
          <p:cNvPr id="14" name="label"/>
          <p:cNvSpPr txBox="1"/>
          <p:nvPr/>
        </p:nvSpPr>
        <p:spPr>
          <a:xfrm>
            <a:off x="3500552" y="1618488"/>
            <a:ext cx="2375840" cy="219456"/>
          </a:xfrm>
          <a:prstGeom prst="rect">
            <a:avLst/>
          </a:prstGeom>
          <a:noFill/>
          <a:ln/>
        </p:spPr>
        <p:txBody>
          <a:bodyPr wrap="square" lIns="0" tIns="0" rIns="0" bIns="0" rtlCol="0" anchor="ctr"/>
          <a:lstStyle/>
          <a:p>
            <a:pPr algn="l" indent="0" marL="0">
              <a:buNone/>
            </a:pPr>
            <a:r>
              <a:rPr lang="en-US" sz="1050" b="1" dirty="0">
                <a:solidFill>
                  <a:srgbClr val="B23A2E"/>
                </a:solidFill>
                <a:latin typeface="Arial" pitchFamily="34" charset="0"/>
                <a:ea typeface="Arial" pitchFamily="34" charset="-122"/>
                <a:cs typeface="Arial" pitchFamily="34" charset="-120"/>
              </a:rPr>
              <a:t>NOT MET</a:t>
            </a:r>
            <a:endParaRPr lang="en-US" sz="1050" dirty="0"/>
          </a:p>
        </p:txBody>
      </p:sp>
      <p:sp>
        <p:nvSpPr>
          <p:cNvPr id="15" name="label"/>
          <p:cNvSpPr txBox="1"/>
          <p:nvPr/>
        </p:nvSpPr>
        <p:spPr>
          <a:xfrm>
            <a:off x="3500552" y="1847088"/>
            <a:ext cx="2375840" cy="329184"/>
          </a:xfrm>
          <a:prstGeom prst="rect">
            <a:avLst/>
          </a:prstGeom>
          <a:noFill/>
          <a:ln/>
        </p:spPr>
        <p:txBody>
          <a:bodyPr wrap="square" lIns="0" tIns="0" rIns="0" bIns="0" rtlCol="0" anchor="ctr"/>
          <a:lstStyle/>
          <a:p>
            <a:pPr algn="l" indent="0" marL="0">
              <a:buNone/>
            </a:pPr>
            <a:r>
              <a:rPr lang="en-US" sz="1700" b="1" dirty="0">
                <a:solidFill>
                  <a:srgbClr val="000000"/>
                </a:solidFill>
                <a:latin typeface="Arial" pitchFamily="34" charset="0"/>
                <a:ea typeface="Arial" pitchFamily="34" charset="-122"/>
                <a:cs typeface="Arial" pitchFamily="34" charset="-120"/>
              </a:rPr>
              <a:t>Claw mass</a:t>
            </a:r>
            <a:endParaRPr lang="en-US" sz="1700" dirty="0"/>
          </a:p>
        </p:txBody>
      </p:sp>
      <p:sp>
        <p:nvSpPr>
          <p:cNvPr id="16" name="label"/>
          <p:cNvSpPr txBox="1"/>
          <p:nvPr/>
        </p:nvSpPr>
        <p:spPr>
          <a:xfrm>
            <a:off x="3500552" y="2176272"/>
            <a:ext cx="2375840" cy="237744"/>
          </a:xfrm>
          <a:prstGeom prst="rect">
            <a:avLst/>
          </a:prstGeom>
          <a:noFill/>
          <a:ln/>
        </p:spPr>
        <p:txBody>
          <a:bodyPr wrap="square" lIns="0" tIns="0" rIns="0" bIns="0" rtlCol="0" anchor="ctr"/>
          <a:lstStyle/>
          <a:p>
            <a:pPr algn="l" indent="0" marL="0">
              <a:buNone/>
            </a:pPr>
            <a:r>
              <a:rPr lang="en-US" sz="1200" dirty="0">
                <a:solidFill>
                  <a:srgbClr val="7F7F7F"/>
                </a:solidFill>
                <a:latin typeface="Arial" pitchFamily="34" charset="0"/>
                <a:ea typeface="Arial" pitchFamily="34" charset="-122"/>
                <a:cs typeface="Arial" pitchFamily="34" charset="-120"/>
              </a:rPr>
              <a:t>Minimize</a:t>
            </a:r>
            <a:endParaRPr lang="en-US" sz="1200" dirty="0"/>
          </a:p>
        </p:txBody>
      </p:sp>
      <p:sp>
        <p:nvSpPr>
          <p:cNvPr id="17" name="label"/>
          <p:cNvSpPr txBox="1"/>
          <p:nvPr/>
        </p:nvSpPr>
        <p:spPr>
          <a:xfrm>
            <a:off x="3500552" y="2432304"/>
            <a:ext cx="2375840" cy="457200"/>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Target:</a:t>
            </a:r>
            <a:pPr algn="l" indent="0" marL="0">
              <a:buNone/>
            </a:pPr>
            <a:r>
              <a:rPr lang="en-US" sz="1300" dirty="0">
                <a:solidFill>
                  <a:srgbClr val="000000"/>
                </a:solidFill>
                <a:latin typeface="Arial" pitchFamily="34" charset="0"/>
                <a:ea typeface="Arial" pitchFamily="34" charset="-122"/>
                <a:cs typeface="Arial" pitchFamily="34" charset="-120"/>
              </a:rPr>
              <a:t> 0.45 kg budget</a:t>
            </a:r>
            <a:endParaRPr lang="en-US" sz="1300" dirty="0"/>
          </a:p>
        </p:txBody>
      </p:sp>
      <p:sp>
        <p:nvSpPr>
          <p:cNvPr id="18" name="label"/>
          <p:cNvSpPr txBox="1"/>
          <p:nvPr/>
        </p:nvSpPr>
        <p:spPr>
          <a:xfrm>
            <a:off x="3500552" y="2889504"/>
            <a:ext cx="2375840" cy="530352"/>
          </a:xfrm>
          <a:prstGeom prst="rect">
            <a:avLst/>
          </a:prstGeom>
          <a:noFill/>
          <a:ln/>
        </p:spPr>
        <p:txBody>
          <a:bodyPr wrap="square" lIns="0" tIns="0" rIns="0" bIns="0" rtlCol="0" anchor="t"/>
          <a:lstStyle/>
          <a:p>
            <a:pPr algn="l" indent="0" marL="0">
              <a:buNone/>
            </a:pPr>
            <a:r>
              <a:rPr lang="en-US" sz="1300" b="1" dirty="0">
                <a:solidFill>
                  <a:srgbClr val="B23A2E"/>
                </a:solidFill>
                <a:latin typeface="Arial" pitchFamily="34" charset="0"/>
                <a:ea typeface="Arial" pitchFamily="34" charset="-122"/>
                <a:cs typeface="Arial" pitchFamily="34" charset="-120"/>
              </a:rPr>
              <a:t>Now:</a:t>
            </a:r>
            <a:pPr algn="l" indent="0" marL="0">
              <a:buNone/>
            </a:pPr>
            <a:r>
              <a:rPr lang="en-US" sz="1300" dirty="0">
                <a:solidFill>
                  <a:srgbClr val="B23A2E"/>
                </a:solidFill>
                <a:latin typeface="Arial" pitchFamily="34" charset="0"/>
                <a:ea typeface="Arial" pitchFamily="34" charset="-122"/>
                <a:cs typeface="Arial" pitchFamily="34" charset="-120"/>
              </a:rPr>
              <a:t> ≈ 0.86 kg (CAD) · </a:t>
            </a:r>
            <a:pPr algn="l" indent="0" marL="0">
              <a:buNone/>
            </a:pPr>
            <a:r>
              <a:rPr lang="en-US" sz="1300" i="1" dirty="0">
                <a:solidFill>
                  <a:srgbClr val="B23A2E"/>
                </a:solidFill>
                <a:latin typeface="Arial" pitchFamily="34" charset="0"/>
                <a:ea typeface="Arial" pitchFamily="34" charset="-122"/>
                <a:cs typeface="Arial" pitchFamily="34" charset="-120"/>
              </a:rPr>
              <a:t>[weighed]</a:t>
            </a:r>
            <a:endParaRPr lang="en-US" sz="1300" dirty="0"/>
          </a:p>
        </p:txBody>
      </p:sp>
      <p:sp>
        <p:nvSpPr>
          <p:cNvPr id="19" name="Motor temperature tile"/>
          <p:cNvSpPr/>
          <p:nvPr/>
        </p:nvSpPr>
        <p:spPr>
          <a:xfrm>
            <a:off x="6178144" y="1463040"/>
            <a:ext cx="2650160" cy="2029968"/>
          </a:xfrm>
          <a:prstGeom prst="rect">
            <a:avLst/>
          </a:prstGeom>
          <a:solidFill>
            <a:srgbClr val="FFFFFF"/>
          </a:solidFill>
          <a:ln w="12700">
            <a:solidFill>
              <a:srgbClr val="BFBFBF"/>
            </a:solidFill>
            <a:prstDash val="solid"/>
          </a:ln>
        </p:spPr>
      </p:sp>
      <p:sp>
        <p:nvSpPr>
          <p:cNvPr id="20" name="Motor temperature status bar"/>
          <p:cNvSpPr/>
          <p:nvPr/>
        </p:nvSpPr>
        <p:spPr>
          <a:xfrm>
            <a:off x="6178144" y="1463040"/>
            <a:ext cx="2650160" cy="91440"/>
          </a:xfrm>
          <a:prstGeom prst="rect">
            <a:avLst/>
          </a:prstGeom>
          <a:solidFill>
            <a:srgbClr val="4F6D8F"/>
          </a:solidFill>
          <a:ln w="12700">
            <a:solidFill>
              <a:srgbClr val="4F6D8F"/>
            </a:solidFill>
            <a:prstDash val="solid"/>
          </a:ln>
        </p:spPr>
      </p:sp>
      <p:sp>
        <p:nvSpPr>
          <p:cNvPr id="21" name="label"/>
          <p:cNvSpPr txBox="1"/>
          <p:nvPr/>
        </p:nvSpPr>
        <p:spPr>
          <a:xfrm>
            <a:off x="6315304" y="1618488"/>
            <a:ext cx="2375840" cy="219456"/>
          </a:xfrm>
          <a:prstGeom prst="rect">
            <a:avLst/>
          </a:prstGeom>
          <a:noFill/>
          <a:ln/>
        </p:spPr>
        <p:txBody>
          <a:bodyPr wrap="square" lIns="0" tIns="0" rIns="0" bIns="0" rtlCol="0" anchor="ctr"/>
          <a:lstStyle/>
          <a:p>
            <a:pPr algn="l" indent="0" marL="0">
              <a:buNone/>
            </a:pPr>
            <a:r>
              <a:rPr lang="en-US" sz="1050" b="1" dirty="0">
                <a:solidFill>
                  <a:srgbClr val="4F6D8F"/>
                </a:solidFill>
                <a:latin typeface="Arial" pitchFamily="34" charset="0"/>
                <a:ea typeface="Arial" pitchFamily="34" charset="-122"/>
                <a:cs typeface="Arial" pitchFamily="34" charset="-120"/>
              </a:rPr>
              <a:t>TIGHT</a:t>
            </a:r>
            <a:endParaRPr lang="en-US" sz="1050" dirty="0"/>
          </a:p>
        </p:txBody>
      </p:sp>
      <p:sp>
        <p:nvSpPr>
          <p:cNvPr id="22" name="label"/>
          <p:cNvSpPr txBox="1"/>
          <p:nvPr/>
        </p:nvSpPr>
        <p:spPr>
          <a:xfrm>
            <a:off x="6315304" y="1847088"/>
            <a:ext cx="2375840" cy="329184"/>
          </a:xfrm>
          <a:prstGeom prst="rect">
            <a:avLst/>
          </a:prstGeom>
          <a:noFill/>
          <a:ln/>
        </p:spPr>
        <p:txBody>
          <a:bodyPr wrap="square" lIns="0" tIns="0" rIns="0" bIns="0" rtlCol="0" anchor="ctr"/>
          <a:lstStyle/>
          <a:p>
            <a:pPr algn="l" indent="0" marL="0">
              <a:buNone/>
            </a:pPr>
            <a:r>
              <a:rPr lang="en-US" sz="1700" b="1" dirty="0">
                <a:solidFill>
                  <a:srgbClr val="000000"/>
                </a:solidFill>
                <a:latin typeface="Arial" pitchFamily="34" charset="0"/>
                <a:ea typeface="Arial" pitchFamily="34" charset="-122"/>
                <a:cs typeface="Arial" pitchFamily="34" charset="-120"/>
              </a:rPr>
              <a:t>Motor temperature</a:t>
            </a:r>
            <a:endParaRPr lang="en-US" sz="1700" dirty="0"/>
          </a:p>
        </p:txBody>
      </p:sp>
      <p:sp>
        <p:nvSpPr>
          <p:cNvPr id="23" name="label"/>
          <p:cNvSpPr txBox="1"/>
          <p:nvPr/>
        </p:nvSpPr>
        <p:spPr>
          <a:xfrm>
            <a:off x="6315304" y="2176272"/>
            <a:ext cx="2375840" cy="237744"/>
          </a:xfrm>
          <a:prstGeom prst="rect">
            <a:avLst/>
          </a:prstGeom>
          <a:noFill/>
          <a:ln/>
        </p:spPr>
        <p:txBody>
          <a:bodyPr wrap="square" lIns="0" tIns="0" rIns="0" bIns="0" rtlCol="0" anchor="ctr"/>
          <a:lstStyle/>
          <a:p>
            <a:pPr algn="l" indent="0" marL="0">
              <a:buNone/>
            </a:pPr>
            <a:r>
              <a:rPr lang="en-US" sz="1200" dirty="0">
                <a:solidFill>
                  <a:srgbClr val="7F7F7F"/>
                </a:solidFill>
                <a:latin typeface="Arial" pitchFamily="34" charset="0"/>
                <a:ea typeface="Arial" pitchFamily="34" charset="-122"/>
                <a:cs typeface="Arial" pitchFamily="34" charset="-120"/>
              </a:rPr>
              <a:t>Limit</a:t>
            </a:r>
            <a:endParaRPr lang="en-US" sz="1200" dirty="0"/>
          </a:p>
        </p:txBody>
      </p:sp>
      <p:sp>
        <p:nvSpPr>
          <p:cNvPr id="24" name="label"/>
          <p:cNvSpPr txBox="1"/>
          <p:nvPr/>
        </p:nvSpPr>
        <p:spPr>
          <a:xfrm>
            <a:off x="6315304" y="2432304"/>
            <a:ext cx="2375840" cy="457200"/>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Target:</a:t>
            </a:r>
            <a:pPr algn="l" indent="0" marL="0">
              <a:buNone/>
            </a:pPr>
            <a:r>
              <a:rPr lang="en-US" sz="1300" dirty="0">
                <a:solidFill>
                  <a:srgbClr val="000000"/>
                </a:solidFill>
                <a:latin typeface="Arial" pitchFamily="34" charset="0"/>
                <a:ea typeface="Arial" pitchFamily="34" charset="-122"/>
                <a:cs typeface="Arial" pitchFamily="34" charset="-120"/>
              </a:rPr>
              <a:t> Under 60 °C (PETG)</a:t>
            </a:r>
            <a:endParaRPr lang="en-US" sz="1300" dirty="0"/>
          </a:p>
        </p:txBody>
      </p:sp>
      <p:sp>
        <p:nvSpPr>
          <p:cNvPr id="25" name="label"/>
          <p:cNvSpPr txBox="1"/>
          <p:nvPr/>
        </p:nvSpPr>
        <p:spPr>
          <a:xfrm>
            <a:off x="6315304" y="2889504"/>
            <a:ext cx="2375840" cy="530352"/>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Now:</a:t>
            </a:r>
            <a:pPr algn="l" indent="0" marL="0">
              <a:buNone/>
            </a:pPr>
            <a:r>
              <a:rPr lang="en-US" sz="1300" dirty="0">
                <a:solidFill>
                  <a:srgbClr val="000000"/>
                </a:solidFill>
                <a:latin typeface="Arial" pitchFamily="34" charset="0"/>
                <a:ea typeface="Arial" pitchFamily="34" charset="-122"/>
                <a:cs typeface="Arial" pitchFamily="34" charset="-120"/>
              </a:rPr>
              <a:t> 58 °C prototype · 45–49 °C 1/8 in fin</a:t>
            </a:r>
            <a:endParaRPr lang="en-US" sz="1300" dirty="0"/>
          </a:p>
        </p:txBody>
      </p:sp>
      <p:sp>
        <p:nvSpPr>
          <p:cNvPr id="26" name="Working area tile"/>
          <p:cNvSpPr/>
          <p:nvPr/>
        </p:nvSpPr>
        <p:spPr>
          <a:xfrm>
            <a:off x="8992895" y="1463040"/>
            <a:ext cx="2650160" cy="2029968"/>
          </a:xfrm>
          <a:prstGeom prst="rect">
            <a:avLst/>
          </a:prstGeom>
          <a:solidFill>
            <a:srgbClr val="FFFFFF"/>
          </a:solidFill>
          <a:ln w="12700">
            <a:solidFill>
              <a:srgbClr val="BFBFBF"/>
            </a:solidFill>
            <a:prstDash val="solid"/>
          </a:ln>
        </p:spPr>
      </p:sp>
      <p:sp>
        <p:nvSpPr>
          <p:cNvPr id="27" name="Working area status bar"/>
          <p:cNvSpPr/>
          <p:nvPr/>
        </p:nvSpPr>
        <p:spPr>
          <a:xfrm>
            <a:off x="8992895" y="1463040"/>
            <a:ext cx="2650160" cy="91440"/>
          </a:xfrm>
          <a:prstGeom prst="rect">
            <a:avLst/>
          </a:prstGeom>
          <a:solidFill>
            <a:srgbClr val="1F3A5F"/>
          </a:solidFill>
          <a:ln w="12700">
            <a:solidFill>
              <a:srgbClr val="1F3A5F"/>
            </a:solidFill>
            <a:prstDash val="solid"/>
          </a:ln>
        </p:spPr>
      </p:sp>
      <p:sp>
        <p:nvSpPr>
          <p:cNvPr id="28" name="label"/>
          <p:cNvSpPr txBox="1"/>
          <p:nvPr/>
        </p:nvSpPr>
        <p:spPr>
          <a:xfrm>
            <a:off x="9130055" y="1618488"/>
            <a:ext cx="2375840" cy="219456"/>
          </a:xfrm>
          <a:prstGeom prst="rect">
            <a:avLst/>
          </a:prstGeom>
          <a:noFill/>
          <a:ln/>
        </p:spPr>
        <p:txBody>
          <a:bodyPr wrap="square" lIns="0" tIns="0" rIns="0" bIns="0" rtlCol="0" anchor="ctr"/>
          <a:lstStyle/>
          <a:p>
            <a:pPr algn="l" indent="0" marL="0">
              <a:buNone/>
            </a:pPr>
            <a:r>
              <a:rPr lang="en-US" sz="1050" b="1" dirty="0">
                <a:solidFill>
                  <a:srgbClr val="1F3A5F"/>
                </a:solidFill>
                <a:latin typeface="Arial" pitchFamily="34" charset="0"/>
                <a:ea typeface="Arial" pitchFamily="34" charset="-122"/>
                <a:cs typeface="Arial" pitchFamily="34" charset="-120"/>
              </a:rPr>
              <a:t>MET IN DESIGN</a:t>
            </a:r>
            <a:endParaRPr lang="en-US" sz="1050" dirty="0"/>
          </a:p>
        </p:txBody>
      </p:sp>
      <p:sp>
        <p:nvSpPr>
          <p:cNvPr id="29" name="label"/>
          <p:cNvSpPr txBox="1"/>
          <p:nvPr/>
        </p:nvSpPr>
        <p:spPr>
          <a:xfrm>
            <a:off x="9130055" y="1847088"/>
            <a:ext cx="2375840" cy="329184"/>
          </a:xfrm>
          <a:prstGeom prst="rect">
            <a:avLst/>
          </a:prstGeom>
          <a:noFill/>
          <a:ln/>
        </p:spPr>
        <p:txBody>
          <a:bodyPr wrap="square" lIns="0" tIns="0" rIns="0" bIns="0" rtlCol="0" anchor="ctr"/>
          <a:lstStyle/>
          <a:p>
            <a:pPr algn="l" indent="0" marL="0">
              <a:buNone/>
            </a:pPr>
            <a:r>
              <a:rPr lang="en-US" sz="1700" b="1" dirty="0">
                <a:solidFill>
                  <a:srgbClr val="000000"/>
                </a:solidFill>
                <a:latin typeface="Arial" pitchFamily="34" charset="0"/>
                <a:ea typeface="Arial" pitchFamily="34" charset="-122"/>
                <a:cs typeface="Arial" pitchFamily="34" charset="-120"/>
              </a:rPr>
              <a:t>Working area</a:t>
            </a:r>
            <a:endParaRPr lang="en-US" sz="1700" dirty="0"/>
          </a:p>
        </p:txBody>
      </p:sp>
      <p:sp>
        <p:nvSpPr>
          <p:cNvPr id="30" name="label"/>
          <p:cNvSpPr txBox="1"/>
          <p:nvPr/>
        </p:nvSpPr>
        <p:spPr>
          <a:xfrm>
            <a:off x="9130055" y="2176272"/>
            <a:ext cx="2375840" cy="237744"/>
          </a:xfrm>
          <a:prstGeom prst="rect">
            <a:avLst/>
          </a:prstGeom>
          <a:noFill/>
          <a:ln/>
        </p:spPr>
        <p:txBody>
          <a:bodyPr wrap="square" lIns="0" tIns="0" rIns="0" bIns="0" rtlCol="0" anchor="ctr"/>
          <a:lstStyle/>
          <a:p>
            <a:pPr algn="l" indent="0" marL="0">
              <a:buNone/>
            </a:pPr>
            <a:r>
              <a:rPr lang="en-US" sz="1200" dirty="0">
                <a:solidFill>
                  <a:srgbClr val="7F7F7F"/>
                </a:solidFill>
                <a:latin typeface="Arial" pitchFamily="34" charset="0"/>
                <a:ea typeface="Arial" pitchFamily="34" charset="-122"/>
                <a:cs typeface="Arial" pitchFamily="34" charset="-120"/>
              </a:rPr>
              <a:t>Maximize</a:t>
            </a:r>
            <a:endParaRPr lang="en-US" sz="1200" dirty="0"/>
          </a:p>
        </p:txBody>
      </p:sp>
      <p:sp>
        <p:nvSpPr>
          <p:cNvPr id="31" name="label"/>
          <p:cNvSpPr txBox="1"/>
          <p:nvPr/>
        </p:nvSpPr>
        <p:spPr>
          <a:xfrm>
            <a:off x="9130055" y="2432304"/>
            <a:ext cx="2375840" cy="457200"/>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Target:</a:t>
            </a:r>
            <a:pPr algn="l" indent="0" marL="0">
              <a:buNone/>
            </a:pPr>
            <a:r>
              <a:rPr lang="en-US" sz="1300" dirty="0">
                <a:solidFill>
                  <a:srgbClr val="000000"/>
                </a:solidFill>
                <a:latin typeface="Arial" pitchFamily="34" charset="0"/>
                <a:ea typeface="Arial" pitchFamily="34" charset="-122"/>
                <a:cs typeface="Arial" pitchFamily="34" charset="-120"/>
              </a:rPr>
              <a:t> Whole 11 × 9 ft floor</a:t>
            </a:r>
            <a:endParaRPr lang="en-US" sz="1300" dirty="0"/>
          </a:p>
        </p:txBody>
      </p:sp>
      <p:sp>
        <p:nvSpPr>
          <p:cNvPr id="32" name="label"/>
          <p:cNvSpPr txBox="1"/>
          <p:nvPr/>
        </p:nvSpPr>
        <p:spPr>
          <a:xfrm>
            <a:off x="9130055" y="2889504"/>
            <a:ext cx="2375840" cy="530352"/>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Now:</a:t>
            </a:r>
            <a:pPr algn="l" indent="0" marL="0">
              <a:buNone/>
            </a:pPr>
            <a:r>
              <a:rPr lang="en-US" sz="1300" dirty="0">
                <a:solidFill>
                  <a:srgbClr val="000000"/>
                </a:solidFill>
                <a:latin typeface="Arial" pitchFamily="34" charset="0"/>
                <a:ea typeface="Arial" pitchFamily="34" charset="-122"/>
                <a:cs typeface="Arial" pitchFamily="34" charset="-120"/>
              </a:rPr>
              <a:t> All but 0.2 m at walls (simulated)</a:t>
            </a:r>
            <a:endParaRPr lang="en-US" sz="1300" dirty="0"/>
          </a:p>
        </p:txBody>
      </p:sp>
      <p:sp>
        <p:nvSpPr>
          <p:cNvPr id="33" name="Wiring tile"/>
          <p:cNvSpPr/>
          <p:nvPr/>
        </p:nvSpPr>
        <p:spPr>
          <a:xfrm>
            <a:off x="548640" y="3657600"/>
            <a:ext cx="2650160" cy="2029968"/>
          </a:xfrm>
          <a:prstGeom prst="rect">
            <a:avLst/>
          </a:prstGeom>
          <a:solidFill>
            <a:srgbClr val="FFFFFF"/>
          </a:solidFill>
          <a:ln w="12700">
            <a:solidFill>
              <a:srgbClr val="BFBFBF"/>
            </a:solidFill>
            <a:prstDash val="solid"/>
          </a:ln>
        </p:spPr>
      </p:sp>
      <p:sp>
        <p:nvSpPr>
          <p:cNvPr id="34" name="Wiring status bar"/>
          <p:cNvSpPr/>
          <p:nvPr/>
        </p:nvSpPr>
        <p:spPr>
          <a:xfrm>
            <a:off x="548640" y="3657600"/>
            <a:ext cx="2650160" cy="91440"/>
          </a:xfrm>
          <a:prstGeom prst="rect">
            <a:avLst/>
          </a:prstGeom>
          <a:solidFill>
            <a:srgbClr val="1F3A5F"/>
          </a:solidFill>
          <a:ln w="12700">
            <a:solidFill>
              <a:srgbClr val="1F3A5F"/>
            </a:solidFill>
            <a:prstDash val="solid"/>
          </a:ln>
        </p:spPr>
      </p:sp>
      <p:sp>
        <p:nvSpPr>
          <p:cNvPr id="35" name="label"/>
          <p:cNvSpPr txBox="1"/>
          <p:nvPr/>
        </p:nvSpPr>
        <p:spPr>
          <a:xfrm>
            <a:off x="685800" y="3813048"/>
            <a:ext cx="2375840" cy="219456"/>
          </a:xfrm>
          <a:prstGeom prst="rect">
            <a:avLst/>
          </a:prstGeom>
          <a:noFill/>
          <a:ln/>
        </p:spPr>
        <p:txBody>
          <a:bodyPr wrap="square" lIns="0" tIns="0" rIns="0" bIns="0" rtlCol="0" anchor="ctr"/>
          <a:lstStyle/>
          <a:p>
            <a:pPr algn="l" indent="0" marL="0">
              <a:buNone/>
            </a:pPr>
            <a:r>
              <a:rPr lang="en-US" sz="1050" b="1" dirty="0">
                <a:solidFill>
                  <a:srgbClr val="1F3A5F"/>
                </a:solidFill>
                <a:latin typeface="Arial" pitchFamily="34" charset="0"/>
                <a:ea typeface="Arial" pitchFamily="34" charset="-122"/>
                <a:cs typeface="Arial" pitchFamily="34" charset="-120"/>
              </a:rPr>
              <a:t>MET IN DESIGN</a:t>
            </a:r>
            <a:endParaRPr lang="en-US" sz="1050" dirty="0"/>
          </a:p>
        </p:txBody>
      </p:sp>
      <p:sp>
        <p:nvSpPr>
          <p:cNvPr id="36" name="label"/>
          <p:cNvSpPr txBox="1"/>
          <p:nvPr/>
        </p:nvSpPr>
        <p:spPr>
          <a:xfrm>
            <a:off x="685800" y="4041648"/>
            <a:ext cx="2375840" cy="329184"/>
          </a:xfrm>
          <a:prstGeom prst="rect">
            <a:avLst/>
          </a:prstGeom>
          <a:noFill/>
          <a:ln/>
        </p:spPr>
        <p:txBody>
          <a:bodyPr wrap="square" lIns="0" tIns="0" rIns="0" bIns="0" rtlCol="0" anchor="ctr"/>
          <a:lstStyle/>
          <a:p>
            <a:pPr algn="l" indent="0" marL="0">
              <a:buNone/>
            </a:pPr>
            <a:r>
              <a:rPr lang="en-US" sz="1700" b="1" dirty="0">
                <a:solidFill>
                  <a:srgbClr val="000000"/>
                </a:solidFill>
                <a:latin typeface="Arial" pitchFamily="34" charset="0"/>
                <a:ea typeface="Arial" pitchFamily="34" charset="-122"/>
                <a:cs typeface="Arial" pitchFamily="34" charset="-120"/>
              </a:rPr>
              <a:t>Wiring</a:t>
            </a:r>
            <a:endParaRPr lang="en-US" sz="1700" dirty="0"/>
          </a:p>
        </p:txBody>
      </p:sp>
      <p:sp>
        <p:nvSpPr>
          <p:cNvPr id="37" name="label"/>
          <p:cNvSpPr txBox="1"/>
          <p:nvPr/>
        </p:nvSpPr>
        <p:spPr>
          <a:xfrm>
            <a:off x="685800" y="4370832"/>
            <a:ext cx="2375840" cy="237744"/>
          </a:xfrm>
          <a:prstGeom prst="rect">
            <a:avLst/>
          </a:prstGeom>
          <a:noFill/>
          <a:ln/>
        </p:spPr>
        <p:txBody>
          <a:bodyPr wrap="square" lIns="0" tIns="0" rIns="0" bIns="0" rtlCol="0" anchor="ctr"/>
          <a:lstStyle/>
          <a:p>
            <a:pPr algn="l" indent="0" marL="0">
              <a:buNone/>
            </a:pPr>
            <a:r>
              <a:rPr lang="en-US" sz="1200" dirty="0">
                <a:solidFill>
                  <a:srgbClr val="7F7F7F"/>
                </a:solidFill>
                <a:latin typeface="Arial" pitchFamily="34" charset="0"/>
                <a:ea typeface="Arial" pitchFamily="34" charset="-122"/>
                <a:cs typeface="Arial" pitchFamily="34" charset="-120"/>
              </a:rPr>
              <a:t>Minimize</a:t>
            </a:r>
            <a:endParaRPr lang="en-US" sz="1200" dirty="0"/>
          </a:p>
        </p:txBody>
      </p:sp>
      <p:sp>
        <p:nvSpPr>
          <p:cNvPr id="38" name="label"/>
          <p:cNvSpPr txBox="1"/>
          <p:nvPr/>
        </p:nvSpPr>
        <p:spPr>
          <a:xfrm>
            <a:off x="685800" y="4626864"/>
            <a:ext cx="2375840" cy="457200"/>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Target:</a:t>
            </a:r>
            <a:pPr algn="l" indent="0" marL="0">
              <a:buNone/>
            </a:pPr>
            <a:r>
              <a:rPr lang="en-US" sz="1300" dirty="0">
                <a:solidFill>
                  <a:srgbClr val="000000"/>
                </a:solidFill>
                <a:latin typeface="Arial" pitchFamily="34" charset="0"/>
                <a:ea typeface="Arial" pitchFamily="34" charset="-122"/>
                <a:cs typeface="Arial" pitchFamily="34" charset="-120"/>
              </a:rPr>
              <a:t> One plug per station</a:t>
            </a:r>
            <a:endParaRPr lang="en-US" sz="1300" dirty="0"/>
          </a:p>
        </p:txBody>
      </p:sp>
      <p:sp>
        <p:nvSpPr>
          <p:cNvPr id="39" name="label"/>
          <p:cNvSpPr txBox="1"/>
          <p:nvPr/>
        </p:nvSpPr>
        <p:spPr>
          <a:xfrm>
            <a:off x="685800" y="5084064"/>
            <a:ext cx="2375840" cy="530352"/>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Now:</a:t>
            </a:r>
            <a:pPr algn="l" indent="0" marL="0">
              <a:buNone/>
            </a:pPr>
            <a:r>
              <a:rPr lang="en-US" sz="1300" dirty="0">
                <a:solidFill>
                  <a:srgbClr val="000000"/>
                </a:solidFill>
                <a:latin typeface="Arial" pitchFamily="34" charset="0"/>
                <a:ea typeface="Arial" pitchFamily="34" charset="-122"/>
                <a:cs typeface="Arial" pitchFamily="34" charset="-120"/>
              </a:rPr>
              <a:t> One 12 V pair · 0.51 V drop</a:t>
            </a:r>
            <a:endParaRPr lang="en-US" sz="1300" dirty="0"/>
          </a:p>
        </p:txBody>
      </p:sp>
      <p:sp>
        <p:nvSpPr>
          <p:cNvPr id="40" name="Accuracy tile"/>
          <p:cNvSpPr/>
          <p:nvPr/>
        </p:nvSpPr>
        <p:spPr>
          <a:xfrm>
            <a:off x="3363392" y="3657600"/>
            <a:ext cx="2650160" cy="2029968"/>
          </a:xfrm>
          <a:prstGeom prst="rect">
            <a:avLst/>
          </a:prstGeom>
          <a:solidFill>
            <a:srgbClr val="FFFFFF"/>
          </a:solidFill>
          <a:ln w="12700">
            <a:solidFill>
              <a:srgbClr val="BFBFBF"/>
            </a:solidFill>
            <a:prstDash val="solid"/>
          </a:ln>
        </p:spPr>
      </p:sp>
      <p:sp>
        <p:nvSpPr>
          <p:cNvPr id="41" name="Accuracy status bar"/>
          <p:cNvSpPr/>
          <p:nvPr/>
        </p:nvSpPr>
        <p:spPr>
          <a:xfrm>
            <a:off x="3363392" y="3657600"/>
            <a:ext cx="2650160" cy="91440"/>
          </a:xfrm>
          <a:prstGeom prst="rect">
            <a:avLst/>
          </a:prstGeom>
          <a:solidFill>
            <a:srgbClr val="7F7F7F"/>
          </a:solidFill>
          <a:ln w="12700">
            <a:solidFill>
              <a:srgbClr val="7F7F7F"/>
            </a:solidFill>
            <a:prstDash val="solid"/>
          </a:ln>
        </p:spPr>
      </p:sp>
      <p:sp>
        <p:nvSpPr>
          <p:cNvPr id="42" name="label"/>
          <p:cNvSpPr txBox="1"/>
          <p:nvPr/>
        </p:nvSpPr>
        <p:spPr>
          <a:xfrm>
            <a:off x="3500552" y="3813048"/>
            <a:ext cx="2375840" cy="219456"/>
          </a:xfrm>
          <a:prstGeom prst="rect">
            <a:avLst/>
          </a:prstGeom>
          <a:noFill/>
          <a:ln/>
        </p:spPr>
        <p:txBody>
          <a:bodyPr wrap="square" lIns="0" tIns="0" rIns="0" bIns="0" rtlCol="0" anchor="ctr"/>
          <a:lstStyle/>
          <a:p>
            <a:pPr algn="l" indent="0" marL="0">
              <a:buNone/>
            </a:pPr>
            <a:r>
              <a:rPr lang="en-US" sz="1050" b="1" dirty="0">
                <a:solidFill>
                  <a:srgbClr val="7F7F7F"/>
                </a:solidFill>
                <a:latin typeface="Arial" pitchFamily="34" charset="0"/>
                <a:ea typeface="Arial" pitchFamily="34" charset="-122"/>
                <a:cs typeface="Arial" pitchFamily="34" charset="-120"/>
              </a:rPr>
              <a:t>TEST PENDING</a:t>
            </a:r>
            <a:endParaRPr lang="en-US" sz="1050" dirty="0"/>
          </a:p>
        </p:txBody>
      </p:sp>
      <p:sp>
        <p:nvSpPr>
          <p:cNvPr id="43" name="label"/>
          <p:cNvSpPr txBox="1"/>
          <p:nvPr/>
        </p:nvSpPr>
        <p:spPr>
          <a:xfrm>
            <a:off x="3500552" y="4041648"/>
            <a:ext cx="2375840" cy="329184"/>
          </a:xfrm>
          <a:prstGeom prst="rect">
            <a:avLst/>
          </a:prstGeom>
          <a:noFill/>
          <a:ln/>
        </p:spPr>
        <p:txBody>
          <a:bodyPr wrap="square" lIns="0" tIns="0" rIns="0" bIns="0" rtlCol="0" anchor="ctr"/>
          <a:lstStyle/>
          <a:p>
            <a:pPr algn="l" indent="0" marL="0">
              <a:buNone/>
            </a:pPr>
            <a:r>
              <a:rPr lang="en-US" sz="1700" b="1" dirty="0">
                <a:solidFill>
                  <a:srgbClr val="000000"/>
                </a:solidFill>
                <a:latin typeface="Arial" pitchFamily="34" charset="0"/>
                <a:ea typeface="Arial" pitchFamily="34" charset="-122"/>
                <a:cs typeface="Arial" pitchFamily="34" charset="-120"/>
              </a:rPr>
              <a:t>Accuracy</a:t>
            </a:r>
            <a:endParaRPr lang="en-US" sz="1700" dirty="0"/>
          </a:p>
        </p:txBody>
      </p:sp>
      <p:sp>
        <p:nvSpPr>
          <p:cNvPr id="44" name="label"/>
          <p:cNvSpPr txBox="1"/>
          <p:nvPr/>
        </p:nvSpPr>
        <p:spPr>
          <a:xfrm>
            <a:off x="3500552" y="4370832"/>
            <a:ext cx="2375840" cy="237744"/>
          </a:xfrm>
          <a:prstGeom prst="rect">
            <a:avLst/>
          </a:prstGeom>
          <a:noFill/>
          <a:ln/>
        </p:spPr>
        <p:txBody>
          <a:bodyPr wrap="square" lIns="0" tIns="0" rIns="0" bIns="0" rtlCol="0" anchor="ctr"/>
          <a:lstStyle/>
          <a:p>
            <a:pPr algn="l" indent="0" marL="0">
              <a:buNone/>
            </a:pPr>
            <a:r>
              <a:rPr lang="en-US" sz="1200" dirty="0">
                <a:solidFill>
                  <a:srgbClr val="7F7F7F"/>
                </a:solidFill>
                <a:latin typeface="Arial" pitchFamily="34" charset="0"/>
                <a:ea typeface="Arial" pitchFamily="34" charset="-122"/>
                <a:cs typeface="Arial" pitchFamily="34" charset="-120"/>
              </a:rPr>
              <a:t>Maximize</a:t>
            </a:r>
            <a:endParaRPr lang="en-US" sz="1200" dirty="0"/>
          </a:p>
        </p:txBody>
      </p:sp>
      <p:sp>
        <p:nvSpPr>
          <p:cNvPr id="45" name="label"/>
          <p:cNvSpPr txBox="1"/>
          <p:nvPr/>
        </p:nvSpPr>
        <p:spPr>
          <a:xfrm>
            <a:off x="3500552" y="4626864"/>
            <a:ext cx="2375840" cy="457200"/>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Target:</a:t>
            </a:r>
            <a:pPr algn="l" indent="0" marL="0">
              <a:buNone/>
            </a:pPr>
            <a:r>
              <a:rPr lang="en-US" sz="1300" dirty="0">
                <a:solidFill>
                  <a:srgbClr val="000000"/>
                </a:solidFill>
                <a:latin typeface="Arial" pitchFamily="34" charset="0"/>
                <a:ea typeface="Arial" pitchFamily="34" charset="-122"/>
                <a:cs typeface="Arial" pitchFamily="34" charset="-120"/>
              </a:rPr>
              <a:t> ≤ 2 mm per cable</a:t>
            </a:r>
            <a:endParaRPr lang="en-US" sz="1300" dirty="0"/>
          </a:p>
        </p:txBody>
      </p:sp>
      <p:sp>
        <p:nvSpPr>
          <p:cNvPr id="46" name="label"/>
          <p:cNvSpPr txBox="1"/>
          <p:nvPr/>
        </p:nvSpPr>
        <p:spPr>
          <a:xfrm>
            <a:off x="3500552" y="5084064"/>
            <a:ext cx="2375840" cy="530352"/>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Now:</a:t>
            </a:r>
            <a:pPr algn="l" indent="0" marL="0">
              <a:buNone/>
            </a:pPr>
            <a:r>
              <a:rPr lang="en-US" sz="1300" dirty="0">
                <a:solidFill>
                  <a:srgbClr val="000000"/>
                </a:solidFill>
                <a:latin typeface="Arial" pitchFamily="34" charset="0"/>
                <a:ea typeface="Arial" pitchFamily="34" charset="-122"/>
                <a:cs typeface="Arial" pitchFamily="34" charset="-120"/>
              </a:rPr>
              <a:t> 0.7 mm floor board (calculated)</a:t>
            </a:r>
            <a:endParaRPr lang="en-US" sz="1300" dirty="0"/>
          </a:p>
        </p:txBody>
      </p:sp>
      <p:sp>
        <p:nvSpPr>
          <p:cNvPr id="47" name="Speed tile"/>
          <p:cNvSpPr/>
          <p:nvPr/>
        </p:nvSpPr>
        <p:spPr>
          <a:xfrm>
            <a:off x="6178144" y="3657600"/>
            <a:ext cx="2650160" cy="2029968"/>
          </a:xfrm>
          <a:prstGeom prst="rect">
            <a:avLst/>
          </a:prstGeom>
          <a:solidFill>
            <a:srgbClr val="FFFFFF"/>
          </a:solidFill>
          <a:ln w="12700">
            <a:solidFill>
              <a:srgbClr val="BFBFBF"/>
            </a:solidFill>
            <a:prstDash val="solid"/>
          </a:ln>
        </p:spPr>
      </p:sp>
      <p:sp>
        <p:nvSpPr>
          <p:cNvPr id="48" name="Speed status bar"/>
          <p:cNvSpPr/>
          <p:nvPr/>
        </p:nvSpPr>
        <p:spPr>
          <a:xfrm>
            <a:off x="6178144" y="3657600"/>
            <a:ext cx="2650160" cy="91440"/>
          </a:xfrm>
          <a:prstGeom prst="rect">
            <a:avLst/>
          </a:prstGeom>
          <a:solidFill>
            <a:srgbClr val="7F7F7F"/>
          </a:solidFill>
          <a:ln w="12700">
            <a:solidFill>
              <a:srgbClr val="7F7F7F"/>
            </a:solidFill>
            <a:prstDash val="solid"/>
          </a:ln>
        </p:spPr>
      </p:sp>
      <p:sp>
        <p:nvSpPr>
          <p:cNvPr id="49" name="label"/>
          <p:cNvSpPr txBox="1"/>
          <p:nvPr/>
        </p:nvSpPr>
        <p:spPr>
          <a:xfrm>
            <a:off x="6315304" y="3813048"/>
            <a:ext cx="2375840" cy="219456"/>
          </a:xfrm>
          <a:prstGeom prst="rect">
            <a:avLst/>
          </a:prstGeom>
          <a:noFill/>
          <a:ln/>
        </p:spPr>
        <p:txBody>
          <a:bodyPr wrap="square" lIns="0" tIns="0" rIns="0" bIns="0" rtlCol="0" anchor="ctr"/>
          <a:lstStyle/>
          <a:p>
            <a:pPr algn="l" indent="0" marL="0">
              <a:buNone/>
            </a:pPr>
            <a:r>
              <a:rPr lang="en-US" sz="1050" b="1" dirty="0">
                <a:solidFill>
                  <a:srgbClr val="7F7F7F"/>
                </a:solidFill>
                <a:latin typeface="Arial" pitchFamily="34" charset="0"/>
                <a:ea typeface="Arial" pitchFamily="34" charset="-122"/>
                <a:cs typeface="Arial" pitchFamily="34" charset="-120"/>
              </a:rPr>
              <a:t>TEST PENDING</a:t>
            </a:r>
            <a:endParaRPr lang="en-US" sz="1050" dirty="0"/>
          </a:p>
        </p:txBody>
      </p:sp>
      <p:sp>
        <p:nvSpPr>
          <p:cNvPr id="50" name="label"/>
          <p:cNvSpPr txBox="1"/>
          <p:nvPr/>
        </p:nvSpPr>
        <p:spPr>
          <a:xfrm>
            <a:off x="6315304" y="4041648"/>
            <a:ext cx="2375840" cy="329184"/>
          </a:xfrm>
          <a:prstGeom prst="rect">
            <a:avLst/>
          </a:prstGeom>
          <a:noFill/>
          <a:ln/>
        </p:spPr>
        <p:txBody>
          <a:bodyPr wrap="square" lIns="0" tIns="0" rIns="0" bIns="0" rtlCol="0" anchor="ctr"/>
          <a:lstStyle/>
          <a:p>
            <a:pPr algn="l" indent="0" marL="0">
              <a:buNone/>
            </a:pPr>
            <a:r>
              <a:rPr lang="en-US" sz="1700" b="1" dirty="0">
                <a:solidFill>
                  <a:srgbClr val="000000"/>
                </a:solidFill>
                <a:latin typeface="Arial" pitchFamily="34" charset="0"/>
                <a:ea typeface="Arial" pitchFamily="34" charset="-122"/>
                <a:cs typeface="Arial" pitchFamily="34" charset="-120"/>
              </a:rPr>
              <a:t>Speed</a:t>
            </a:r>
            <a:endParaRPr lang="en-US" sz="1700" dirty="0"/>
          </a:p>
        </p:txBody>
      </p:sp>
      <p:sp>
        <p:nvSpPr>
          <p:cNvPr id="51" name="label"/>
          <p:cNvSpPr txBox="1"/>
          <p:nvPr/>
        </p:nvSpPr>
        <p:spPr>
          <a:xfrm>
            <a:off x="6315304" y="4370832"/>
            <a:ext cx="2375840" cy="237744"/>
          </a:xfrm>
          <a:prstGeom prst="rect">
            <a:avLst/>
          </a:prstGeom>
          <a:noFill/>
          <a:ln/>
        </p:spPr>
        <p:txBody>
          <a:bodyPr wrap="square" lIns="0" tIns="0" rIns="0" bIns="0" rtlCol="0" anchor="ctr"/>
          <a:lstStyle/>
          <a:p>
            <a:pPr algn="l" indent="0" marL="0">
              <a:buNone/>
            </a:pPr>
            <a:r>
              <a:rPr lang="en-US" sz="1200" dirty="0">
                <a:solidFill>
                  <a:srgbClr val="7F7F7F"/>
                </a:solidFill>
                <a:latin typeface="Arial" pitchFamily="34" charset="0"/>
                <a:ea typeface="Arial" pitchFamily="34" charset="-122"/>
                <a:cs typeface="Arial" pitchFamily="34" charset="-120"/>
              </a:rPr>
              <a:t>Maximize</a:t>
            </a:r>
            <a:endParaRPr lang="en-US" sz="1200" dirty="0"/>
          </a:p>
        </p:txBody>
      </p:sp>
      <p:sp>
        <p:nvSpPr>
          <p:cNvPr id="52" name="label"/>
          <p:cNvSpPr txBox="1"/>
          <p:nvPr/>
        </p:nvSpPr>
        <p:spPr>
          <a:xfrm>
            <a:off x="6315304" y="4626864"/>
            <a:ext cx="2375840" cy="457200"/>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Target:</a:t>
            </a:r>
            <a:pPr algn="l" indent="0" marL="0">
              <a:buNone/>
            </a:pPr>
            <a:r>
              <a:rPr lang="en-US" sz="1300" dirty="0">
                <a:solidFill>
                  <a:srgbClr val="000000"/>
                </a:solidFill>
                <a:latin typeface="Arial" pitchFamily="34" charset="0"/>
                <a:ea typeface="Arial" pitchFamily="34" charset="-122"/>
                <a:cs typeface="Arial" pitchFamily="34" charset="-120"/>
              </a:rPr>
              <a:t> 50 mm/s · 2 m/s²</a:t>
            </a:r>
            <a:endParaRPr lang="en-US" sz="1300" dirty="0"/>
          </a:p>
        </p:txBody>
      </p:sp>
      <p:sp>
        <p:nvSpPr>
          <p:cNvPr id="53" name="label"/>
          <p:cNvSpPr txBox="1"/>
          <p:nvPr/>
        </p:nvSpPr>
        <p:spPr>
          <a:xfrm>
            <a:off x="6315304" y="5084064"/>
            <a:ext cx="2375840" cy="530352"/>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Now:</a:t>
            </a:r>
            <a:pPr algn="l" indent="0" marL="0">
              <a:buNone/>
            </a:pPr>
            <a:r>
              <a:rPr lang="en-US" sz="1300" dirty="0">
                <a:solidFill>
                  <a:srgbClr val="000000"/>
                </a:solidFill>
                <a:latin typeface="Arial" pitchFamily="34" charset="0"/>
                <a:ea typeface="Arial" pitchFamily="34" charset="-122"/>
                <a:cs typeface="Arial" pitchFamily="34" charset="-120"/>
              </a:rPr>
              <a:t> Designed for; not yet run</a:t>
            </a:r>
            <a:endParaRPr lang="en-US" sz="1300" dirty="0"/>
          </a:p>
        </p:txBody>
      </p:sp>
      <p:sp>
        <p:nvSpPr>
          <p:cNvPr id="54" name="Cost tile"/>
          <p:cNvSpPr/>
          <p:nvPr/>
        </p:nvSpPr>
        <p:spPr>
          <a:xfrm>
            <a:off x="8992895" y="3657600"/>
            <a:ext cx="2650160" cy="2029968"/>
          </a:xfrm>
          <a:prstGeom prst="rect">
            <a:avLst/>
          </a:prstGeom>
          <a:solidFill>
            <a:srgbClr val="FFFFFF"/>
          </a:solidFill>
          <a:ln w="12700">
            <a:solidFill>
              <a:srgbClr val="BFBFBF"/>
            </a:solidFill>
            <a:prstDash val="solid"/>
          </a:ln>
        </p:spPr>
      </p:sp>
      <p:sp>
        <p:nvSpPr>
          <p:cNvPr id="55" name="Cost status bar"/>
          <p:cNvSpPr/>
          <p:nvPr/>
        </p:nvSpPr>
        <p:spPr>
          <a:xfrm>
            <a:off x="8992895" y="3657600"/>
            <a:ext cx="2650160" cy="91440"/>
          </a:xfrm>
          <a:prstGeom prst="rect">
            <a:avLst/>
          </a:prstGeom>
          <a:solidFill>
            <a:srgbClr val="7F7F7F"/>
          </a:solidFill>
          <a:ln w="12700">
            <a:solidFill>
              <a:srgbClr val="7F7F7F"/>
            </a:solidFill>
            <a:prstDash val="solid"/>
          </a:ln>
        </p:spPr>
      </p:sp>
      <p:sp>
        <p:nvSpPr>
          <p:cNvPr id="56" name="label"/>
          <p:cNvSpPr txBox="1"/>
          <p:nvPr/>
        </p:nvSpPr>
        <p:spPr>
          <a:xfrm>
            <a:off x="9130055" y="3813048"/>
            <a:ext cx="2375840" cy="219456"/>
          </a:xfrm>
          <a:prstGeom prst="rect">
            <a:avLst/>
          </a:prstGeom>
          <a:noFill/>
          <a:ln/>
        </p:spPr>
        <p:txBody>
          <a:bodyPr wrap="square" lIns="0" tIns="0" rIns="0" bIns="0" rtlCol="0" anchor="ctr"/>
          <a:lstStyle/>
          <a:p>
            <a:pPr algn="l" indent="0" marL="0">
              <a:buNone/>
            </a:pPr>
            <a:r>
              <a:rPr lang="en-US" sz="1050" b="1" dirty="0">
                <a:solidFill>
                  <a:srgbClr val="7F7F7F"/>
                </a:solidFill>
                <a:latin typeface="Arial" pitchFamily="34" charset="0"/>
                <a:ea typeface="Arial" pitchFamily="34" charset="-122"/>
                <a:cs typeface="Arial" pitchFamily="34" charset="-120"/>
              </a:rPr>
              <a:t>TEST PENDING</a:t>
            </a:r>
            <a:endParaRPr lang="en-US" sz="1050" dirty="0"/>
          </a:p>
        </p:txBody>
      </p:sp>
      <p:sp>
        <p:nvSpPr>
          <p:cNvPr id="57" name="label"/>
          <p:cNvSpPr txBox="1"/>
          <p:nvPr/>
        </p:nvSpPr>
        <p:spPr>
          <a:xfrm>
            <a:off x="9130055" y="4041648"/>
            <a:ext cx="2375840" cy="329184"/>
          </a:xfrm>
          <a:prstGeom prst="rect">
            <a:avLst/>
          </a:prstGeom>
          <a:noFill/>
          <a:ln/>
        </p:spPr>
        <p:txBody>
          <a:bodyPr wrap="square" lIns="0" tIns="0" rIns="0" bIns="0" rtlCol="0" anchor="ctr"/>
          <a:lstStyle/>
          <a:p>
            <a:pPr algn="l" indent="0" marL="0">
              <a:buNone/>
            </a:pPr>
            <a:r>
              <a:rPr lang="en-US" sz="1700" b="1" dirty="0">
                <a:solidFill>
                  <a:srgbClr val="000000"/>
                </a:solidFill>
                <a:latin typeface="Arial" pitchFamily="34" charset="0"/>
                <a:ea typeface="Arial" pitchFamily="34" charset="-122"/>
                <a:cs typeface="Arial" pitchFamily="34" charset="-120"/>
              </a:rPr>
              <a:t>Cost</a:t>
            </a:r>
            <a:endParaRPr lang="en-US" sz="1700" dirty="0"/>
          </a:p>
        </p:txBody>
      </p:sp>
      <p:sp>
        <p:nvSpPr>
          <p:cNvPr id="58" name="label"/>
          <p:cNvSpPr txBox="1"/>
          <p:nvPr/>
        </p:nvSpPr>
        <p:spPr>
          <a:xfrm>
            <a:off x="9130055" y="4370832"/>
            <a:ext cx="2375840" cy="237744"/>
          </a:xfrm>
          <a:prstGeom prst="rect">
            <a:avLst/>
          </a:prstGeom>
          <a:noFill/>
          <a:ln/>
        </p:spPr>
        <p:txBody>
          <a:bodyPr wrap="square" lIns="0" tIns="0" rIns="0" bIns="0" rtlCol="0" anchor="ctr"/>
          <a:lstStyle/>
          <a:p>
            <a:pPr algn="l" indent="0" marL="0">
              <a:buNone/>
            </a:pPr>
            <a:r>
              <a:rPr lang="en-US" sz="1200" dirty="0">
                <a:solidFill>
                  <a:srgbClr val="7F7F7F"/>
                </a:solidFill>
                <a:latin typeface="Arial" pitchFamily="34" charset="0"/>
                <a:ea typeface="Arial" pitchFamily="34" charset="-122"/>
                <a:cs typeface="Arial" pitchFamily="34" charset="-120"/>
              </a:rPr>
              <a:t>Minimize</a:t>
            </a:r>
            <a:endParaRPr lang="en-US" sz="1200" dirty="0"/>
          </a:p>
        </p:txBody>
      </p:sp>
      <p:sp>
        <p:nvSpPr>
          <p:cNvPr id="59" name="label"/>
          <p:cNvSpPr txBox="1"/>
          <p:nvPr/>
        </p:nvSpPr>
        <p:spPr>
          <a:xfrm>
            <a:off x="9130055" y="4626864"/>
            <a:ext cx="2375840" cy="457200"/>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Target:</a:t>
            </a:r>
            <a:pPr algn="l" indent="0" marL="0">
              <a:buNone/>
            </a:pPr>
            <a:r>
              <a:rPr lang="en-US" sz="1300" dirty="0">
                <a:solidFill>
                  <a:srgbClr val="000000"/>
                </a:solidFill>
                <a:latin typeface="Arial" pitchFamily="34" charset="0"/>
                <a:ea typeface="Arial" pitchFamily="34" charset="-122"/>
                <a:cs typeface="Arial" pitchFamily="34" charset="-120"/>
              </a:rPr>
              <a:t> Hobby budget</a:t>
            </a:r>
            <a:endParaRPr lang="en-US" sz="1300" dirty="0"/>
          </a:p>
        </p:txBody>
      </p:sp>
      <p:sp>
        <p:nvSpPr>
          <p:cNvPr id="60" name="label"/>
          <p:cNvSpPr txBox="1"/>
          <p:nvPr/>
        </p:nvSpPr>
        <p:spPr>
          <a:xfrm>
            <a:off x="9130055" y="5084064"/>
            <a:ext cx="2375840" cy="530352"/>
          </a:xfrm>
          <a:prstGeom prst="rect">
            <a:avLst/>
          </a:prstGeom>
          <a:noFill/>
          <a:ln/>
        </p:spPr>
        <p:txBody>
          <a:bodyPr wrap="square" lIns="0" tIns="0" rIns="0" bIns="0" rtlCol="0" anchor="t"/>
          <a:lstStyle/>
          <a:p>
            <a:pPr algn="l" indent="0" marL="0">
              <a:buNone/>
            </a:pPr>
            <a:r>
              <a:rPr lang="en-US" sz="1300" b="1" dirty="0">
                <a:solidFill>
                  <a:srgbClr val="000000"/>
                </a:solidFill>
                <a:latin typeface="Arial" pitchFamily="34" charset="0"/>
                <a:ea typeface="Arial" pitchFamily="34" charset="-122"/>
                <a:cs typeface="Arial" pitchFamily="34" charset="-120"/>
              </a:rPr>
              <a:t>Now:</a:t>
            </a:r>
            <a:pPr algn="l" indent="0" marL="0">
              <a:buNone/>
            </a:pPr>
            <a:r>
              <a:rPr lang="en-US" sz="1300" dirty="0">
                <a:solidFill>
                  <a:srgbClr val="000000"/>
                </a:solidFill>
                <a:latin typeface="Arial" pitchFamily="34" charset="0"/>
                <a:ea typeface="Arial" pitchFamily="34" charset="-122"/>
                <a:cs typeface="Arial" pitchFamily="34" charset="-120"/>
              </a:rPr>
              <a:t> </a:t>
            </a:r>
            <a:pPr algn="l" indent="0" marL="0">
              <a:buNone/>
            </a:pPr>
            <a:r>
              <a:rPr lang="en-US" sz="1300" i="1" dirty="0">
                <a:solidFill>
                  <a:srgbClr val="B23A2E"/>
                </a:solidFill>
                <a:latin typeface="Arial" pitchFamily="34" charset="0"/>
                <a:ea typeface="Arial" pitchFamily="34" charset="-122"/>
                <a:cs typeface="Arial" pitchFamily="34" charset="-120"/>
              </a:rPr>
              <a:t>[total: $___]</a:t>
            </a:r>
            <a:endParaRPr lang="en-US" sz="1300" dirty="0"/>
          </a:p>
        </p:txBody>
      </p:sp>
      <p:sp>
        <p:nvSpPr>
          <p:cNvPr id="61" name="constraint box"/>
          <p:cNvSpPr/>
          <p:nvPr/>
        </p:nvSpPr>
        <p:spPr>
          <a:xfrm>
            <a:off x="548640" y="5806440"/>
            <a:ext cx="11094415" cy="457200"/>
          </a:xfrm>
          <a:prstGeom prst="rect">
            <a:avLst/>
          </a:prstGeom>
          <a:solidFill>
            <a:srgbClr val="F2F2F2"/>
          </a:solidFill>
          <a:ln w="12700">
            <a:solidFill>
              <a:srgbClr val="F2F2F2"/>
            </a:solidFill>
            <a:prstDash val="solid"/>
          </a:ln>
        </p:spPr>
      </p:sp>
      <p:sp>
        <p:nvSpPr>
          <p:cNvPr id="62" name="label"/>
          <p:cNvSpPr txBox="1"/>
          <p:nvPr/>
        </p:nvSpPr>
        <p:spPr>
          <a:xfrm>
            <a:off x="685800" y="5806440"/>
            <a:ext cx="10820095" cy="457200"/>
          </a:xfrm>
          <a:prstGeom prst="rect">
            <a:avLst/>
          </a:prstGeom>
          <a:noFill/>
          <a:ln/>
        </p:spPr>
        <p:txBody>
          <a:bodyPr wrap="square" lIns="0" tIns="0" rIns="0" bIns="0" rtlCol="0" anchor="ctr"/>
          <a:lstStyle/>
          <a:p>
            <a:pPr algn="l" indent="0" marL="0">
              <a:buNone/>
            </a:pPr>
            <a:r>
              <a:rPr lang="en-US" sz="1500" b="1" dirty="0">
                <a:solidFill>
                  <a:srgbClr val="000000"/>
                </a:solidFill>
                <a:latin typeface="Arial" pitchFamily="34" charset="0"/>
                <a:ea typeface="Arial" pitchFamily="34" charset="-122"/>
                <a:cs typeface="Arial" pitchFamily="34" charset="-120"/>
              </a:rPr>
              <a:t>Not traded:</a:t>
            </a:r>
            <a:pPr algn="l" indent="0" marL="0">
              <a:buNone/>
            </a:pPr>
            <a:r>
              <a:rPr lang="en-US" sz="1500" dirty="0">
                <a:solidFill>
                  <a:srgbClr val="000000"/>
                </a:solidFill>
                <a:latin typeface="Arial" pitchFamily="34" charset="0"/>
                <a:ea typeface="Arial" pitchFamily="34" charset="-122"/>
                <a:cs typeface="Arial" pitchFamily="34" charset="-120"/>
              </a:rPr>
              <a:t> safety. Anchors in studs, one hard stop, holds on any fault, nobody under the robot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Trade-offs</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Motor current ↑ card"/>
          <p:cNvSpPr/>
          <p:nvPr/>
        </p:nvSpPr>
        <p:spPr>
          <a:xfrm>
            <a:off x="548640" y="1463040"/>
            <a:ext cx="3576218" cy="1965960"/>
          </a:xfrm>
          <a:prstGeom prst="rect">
            <a:avLst/>
          </a:prstGeom>
          <a:solidFill>
            <a:srgbClr val="FFFFFF"/>
          </a:solidFill>
          <a:ln w="12700">
            <a:solidFill>
              <a:srgbClr val="1F3A5F"/>
            </a:solidFill>
            <a:prstDash val="solid"/>
          </a:ln>
        </p:spPr>
      </p:sp>
      <p:sp>
        <p:nvSpPr>
          <p:cNvPr id="6" name="Motor current ↑ header"/>
          <p:cNvSpPr/>
          <p:nvPr/>
        </p:nvSpPr>
        <p:spPr>
          <a:xfrm>
            <a:off x="548640" y="1463040"/>
            <a:ext cx="3576218" cy="411480"/>
          </a:xfrm>
          <a:prstGeom prst="rect">
            <a:avLst/>
          </a:prstGeom>
          <a:solidFill>
            <a:srgbClr val="1F3A5F"/>
          </a:solidFill>
          <a:ln w="12700">
            <a:solidFill>
              <a:srgbClr val="1F3A5F"/>
            </a:solidFill>
            <a:prstDash val="solid"/>
          </a:ln>
        </p:spPr>
      </p:sp>
      <p:sp>
        <p:nvSpPr>
          <p:cNvPr id="7" name="label"/>
          <p:cNvSpPr txBox="1"/>
          <p:nvPr/>
        </p:nvSpPr>
        <p:spPr>
          <a:xfrm>
            <a:off x="685800" y="1463040"/>
            <a:ext cx="3301898"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Motor current ↑</a:t>
            </a:r>
            <a:endParaRPr lang="en-US" sz="1600" dirty="0"/>
          </a:p>
        </p:txBody>
      </p:sp>
      <p:sp>
        <p:nvSpPr>
          <p:cNvPr id="8" name="Motor current ↑ text"/>
          <p:cNvSpPr txBox="1"/>
          <p:nvPr/>
        </p:nvSpPr>
        <p:spPr>
          <a:xfrm>
            <a:off x="685800" y="1938528"/>
            <a:ext cx="3301898" cy="1417320"/>
          </a:xfrm>
          <a:prstGeom prst="rect">
            <a:avLst/>
          </a:prstGeom>
          <a:noFill/>
          <a:ln/>
        </p:spPr>
        <p:txBody>
          <a:bodyPr wrap="square" lIns="0" tIns="0" rIns="0" bIns="0" rtlCol="0" anchor="t"/>
          <a:lstStyle/>
          <a:p>
            <a:pPr indent="0" marL="0">
              <a:spcAft>
                <a:spcPts val="700"/>
              </a:spcAft>
              <a:buNone/>
            </a:pPr>
            <a:r>
              <a:rPr lang="en-US" sz="1450" b="1" dirty="0">
                <a:solidFill>
                  <a:srgbClr val="1F3A5F"/>
                </a:solidFill>
                <a:latin typeface="Arial" pitchFamily="34" charset="0"/>
                <a:ea typeface="Arial" pitchFamily="34" charset="-122"/>
                <a:cs typeface="Arial" pitchFamily="34" charset="-120"/>
              </a:rPr>
              <a:t>Gain:  </a:t>
            </a:r>
            <a:pPr indent="0" marL="0">
              <a:spcAft>
                <a:spcPts val="700"/>
              </a:spcAft>
              <a:buNone/>
            </a:pPr>
            <a:r>
              <a:rPr lang="en-US" sz="1450" dirty="0">
                <a:solidFill>
                  <a:srgbClr val="1F3A5F"/>
                </a:solidFill>
                <a:latin typeface="Arial" pitchFamily="34" charset="0"/>
                <a:ea typeface="Arial" pitchFamily="34" charset="-122"/>
                <a:cs typeface="Arial" pitchFamily="34" charset="-120"/>
              </a:rPr>
              <a:t>pull, T ∝ I (+41 % at 1.5 A)</a:t>
            </a:r>
            <a:endParaRPr lang="en-US" sz="1450" dirty="0"/>
          </a:p>
          <a:p>
            <a:pPr indent="0" marL="0">
              <a:spcAft>
                <a:spcPts val="700"/>
              </a:spcAft>
              <a:buNone/>
            </a:pPr>
            <a:r>
              <a:rPr lang="en-US" sz="1450" b="1" dirty="0">
                <a:solidFill>
                  <a:srgbClr val="B23A2E"/>
                </a:solidFill>
                <a:latin typeface="Arial" pitchFamily="34" charset="0"/>
                <a:ea typeface="Arial" pitchFamily="34" charset="-122"/>
                <a:cs typeface="Arial" pitchFamily="34" charset="-120"/>
              </a:rPr>
              <a:t>Cost:  </a:t>
            </a:r>
            <a:pPr indent="0" marL="0">
              <a:spcAft>
                <a:spcPts val="700"/>
              </a:spcAft>
              <a:buNone/>
            </a:pPr>
            <a:r>
              <a:rPr lang="en-US" sz="1450" dirty="0">
                <a:solidFill>
                  <a:srgbClr val="B23A2E"/>
                </a:solidFill>
                <a:latin typeface="Arial" pitchFamily="34" charset="0"/>
                <a:ea typeface="Arial" pitchFamily="34" charset="-122"/>
                <a:cs typeface="Arial" pitchFamily="34" charset="-120"/>
              </a:rPr>
              <a:t>heat, P = I²R (2.0 → 4.1 W)</a:t>
            </a:r>
            <a:endParaRPr lang="en-US" sz="1450" dirty="0"/>
          </a:p>
          <a:p>
            <a:pPr indent="0" marL="0">
              <a:spcAft>
                <a:spcPts val="700"/>
              </a:spcAft>
              <a:buNone/>
            </a:pPr>
            <a:r>
              <a:rPr lang="en-US" sz="1450" b="1" dirty="0">
                <a:solidFill>
                  <a:srgbClr val="404040"/>
                </a:solidFill>
                <a:latin typeface="Arial" pitchFamily="34" charset="0"/>
                <a:ea typeface="Arial" pitchFamily="34" charset="-122"/>
                <a:cs typeface="Arial" pitchFamily="34" charset="-120"/>
              </a:rPr>
              <a:t>Set:  </a:t>
            </a:r>
            <a:pPr indent="0" marL="0">
              <a:spcAft>
                <a:spcPts val="700"/>
              </a:spcAft>
              <a:buNone/>
            </a:pPr>
            <a:r>
              <a:rPr lang="en-US" sz="1450" dirty="0">
                <a:solidFill>
                  <a:srgbClr val="404040"/>
                </a:solidFill>
                <a:latin typeface="Arial" pitchFamily="34" charset="0"/>
                <a:ea typeface="Arial" pitchFamily="34" charset="-122"/>
                <a:cs typeface="Arial" pitchFamily="34" charset="-120"/>
              </a:rPr>
              <a:t>1.5 A, vented shell + fin</a:t>
            </a:r>
            <a:endParaRPr lang="en-US" sz="1450" dirty="0"/>
          </a:p>
        </p:txBody>
      </p:sp>
      <p:sp>
        <p:nvSpPr>
          <p:cNvPr id="9" name="Claw strength ↑ card"/>
          <p:cNvSpPr/>
          <p:nvPr/>
        </p:nvSpPr>
        <p:spPr>
          <a:xfrm>
            <a:off x="4307738" y="1463040"/>
            <a:ext cx="3576218" cy="1965960"/>
          </a:xfrm>
          <a:prstGeom prst="rect">
            <a:avLst/>
          </a:prstGeom>
          <a:solidFill>
            <a:srgbClr val="FFFFFF"/>
          </a:solidFill>
          <a:ln w="12700">
            <a:solidFill>
              <a:srgbClr val="1F3A5F"/>
            </a:solidFill>
            <a:prstDash val="solid"/>
          </a:ln>
        </p:spPr>
      </p:sp>
      <p:sp>
        <p:nvSpPr>
          <p:cNvPr id="10" name="Claw strength ↑ header"/>
          <p:cNvSpPr/>
          <p:nvPr/>
        </p:nvSpPr>
        <p:spPr>
          <a:xfrm>
            <a:off x="4307738" y="1463040"/>
            <a:ext cx="3576218" cy="411480"/>
          </a:xfrm>
          <a:prstGeom prst="rect">
            <a:avLst/>
          </a:prstGeom>
          <a:solidFill>
            <a:srgbClr val="1F3A5F"/>
          </a:solidFill>
          <a:ln w="12700">
            <a:solidFill>
              <a:srgbClr val="1F3A5F"/>
            </a:solidFill>
            <a:prstDash val="solid"/>
          </a:ln>
        </p:spPr>
      </p:sp>
      <p:sp>
        <p:nvSpPr>
          <p:cNvPr id="11" name="label"/>
          <p:cNvSpPr txBox="1"/>
          <p:nvPr/>
        </p:nvSpPr>
        <p:spPr>
          <a:xfrm>
            <a:off x="4444898" y="1463040"/>
            <a:ext cx="3301898"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Claw strength ↑</a:t>
            </a:r>
            <a:endParaRPr lang="en-US" sz="1600" dirty="0"/>
          </a:p>
        </p:txBody>
      </p:sp>
      <p:sp>
        <p:nvSpPr>
          <p:cNvPr id="12" name="Claw strength ↑ text"/>
          <p:cNvSpPr txBox="1"/>
          <p:nvPr/>
        </p:nvSpPr>
        <p:spPr>
          <a:xfrm>
            <a:off x="4444898" y="1938528"/>
            <a:ext cx="3301898" cy="1417320"/>
          </a:xfrm>
          <a:prstGeom prst="rect">
            <a:avLst/>
          </a:prstGeom>
          <a:noFill/>
          <a:ln/>
        </p:spPr>
        <p:txBody>
          <a:bodyPr wrap="square" lIns="0" tIns="0" rIns="0" bIns="0" rtlCol="0" anchor="t"/>
          <a:lstStyle/>
          <a:p>
            <a:pPr indent="0" marL="0">
              <a:spcAft>
                <a:spcPts val="700"/>
              </a:spcAft>
              <a:buNone/>
            </a:pPr>
            <a:r>
              <a:rPr lang="en-US" sz="1450" b="1" dirty="0">
                <a:solidFill>
                  <a:srgbClr val="1F3A5F"/>
                </a:solidFill>
                <a:latin typeface="Arial" pitchFamily="34" charset="0"/>
                <a:ea typeface="Arial" pitchFamily="34" charset="-122"/>
                <a:cs typeface="Arial" pitchFamily="34" charset="-120"/>
              </a:rPr>
              <a:t>Gain:  </a:t>
            </a:r>
            <a:pPr indent="0" marL="0">
              <a:spcAft>
                <a:spcPts val="700"/>
              </a:spcAft>
              <a:buNone/>
            </a:pPr>
            <a:r>
              <a:rPr lang="en-US" sz="1450" dirty="0">
                <a:solidFill>
                  <a:srgbClr val="1F3A5F"/>
                </a:solidFill>
                <a:latin typeface="Arial" pitchFamily="34" charset="0"/>
                <a:ea typeface="Arial" pitchFamily="34" charset="-122"/>
                <a:cs typeface="Arial" pitchFamily="34" charset="-120"/>
              </a:rPr>
              <a:t>gear safety factor 0.4 → 2</a:t>
            </a:r>
            <a:endParaRPr lang="en-US" sz="1450" dirty="0"/>
          </a:p>
          <a:p>
            <a:pPr indent="0" marL="0">
              <a:spcAft>
                <a:spcPts val="700"/>
              </a:spcAft>
              <a:buNone/>
            </a:pPr>
            <a:r>
              <a:rPr lang="en-US" sz="1450" b="1" dirty="0">
                <a:solidFill>
                  <a:srgbClr val="B23A2E"/>
                </a:solidFill>
                <a:latin typeface="Arial" pitchFamily="34" charset="0"/>
                <a:ea typeface="Arial" pitchFamily="34" charset="-122"/>
                <a:cs typeface="Arial" pitchFamily="34" charset="-120"/>
              </a:rPr>
              <a:t>Cost:  </a:t>
            </a:r>
            <a:pPr indent="0" marL="0">
              <a:spcAft>
                <a:spcPts val="700"/>
              </a:spcAft>
              <a:buNone/>
            </a:pPr>
            <a:r>
              <a:rPr lang="en-US" sz="1450" dirty="0">
                <a:solidFill>
                  <a:srgbClr val="B23A2E"/>
                </a:solidFill>
                <a:latin typeface="Arial" pitchFamily="34" charset="0"/>
                <a:ea typeface="Arial" pitchFamily="34" charset="-122"/>
                <a:cs typeface="Arial" pitchFamily="34" charset="-120"/>
              </a:rPr>
              <a:t>mass; payload = capacity − claw</a:t>
            </a:r>
            <a:endParaRPr lang="en-US" sz="1450" dirty="0"/>
          </a:p>
          <a:p>
            <a:pPr indent="0" marL="0">
              <a:spcAft>
                <a:spcPts val="700"/>
              </a:spcAft>
              <a:buNone/>
            </a:pPr>
            <a:r>
              <a:rPr lang="en-US" sz="1450" b="1" dirty="0">
                <a:solidFill>
                  <a:srgbClr val="404040"/>
                </a:solidFill>
                <a:latin typeface="Arial" pitchFamily="34" charset="0"/>
                <a:ea typeface="Arial" pitchFamily="34" charset="-122"/>
                <a:cs typeface="Arial" pitchFamily="34" charset="-120"/>
              </a:rPr>
              <a:t>Set:  </a:t>
            </a:r>
            <a:pPr indent="0" marL="0">
              <a:spcAft>
                <a:spcPts val="700"/>
              </a:spcAft>
              <a:buNone/>
            </a:pPr>
            <a:r>
              <a:rPr lang="en-US" sz="1450" dirty="0">
                <a:solidFill>
                  <a:srgbClr val="404040"/>
                </a:solidFill>
                <a:latin typeface="Arial" pitchFamily="34" charset="0"/>
                <a:ea typeface="Arial" pitchFamily="34" charset="-122"/>
                <a:cs typeface="Arial" pitchFamily="34" charset="-120"/>
              </a:rPr>
              <a:t>module 1.5 gears; mass budget open</a:t>
            </a:r>
            <a:endParaRPr lang="en-US" sz="1450" dirty="0"/>
          </a:p>
        </p:txBody>
      </p:sp>
      <p:sp>
        <p:nvSpPr>
          <p:cNvPr id="13" name="Room size ↑ card"/>
          <p:cNvSpPr/>
          <p:nvPr/>
        </p:nvSpPr>
        <p:spPr>
          <a:xfrm>
            <a:off x="8066837" y="1463040"/>
            <a:ext cx="3576218" cy="1965960"/>
          </a:xfrm>
          <a:prstGeom prst="rect">
            <a:avLst/>
          </a:prstGeom>
          <a:solidFill>
            <a:srgbClr val="FFFFFF"/>
          </a:solidFill>
          <a:ln w="12700">
            <a:solidFill>
              <a:srgbClr val="1F3A5F"/>
            </a:solidFill>
            <a:prstDash val="solid"/>
          </a:ln>
        </p:spPr>
      </p:sp>
      <p:sp>
        <p:nvSpPr>
          <p:cNvPr id="14" name="Room size ↑ header"/>
          <p:cNvSpPr/>
          <p:nvPr/>
        </p:nvSpPr>
        <p:spPr>
          <a:xfrm>
            <a:off x="8066837" y="1463040"/>
            <a:ext cx="3576218" cy="411480"/>
          </a:xfrm>
          <a:prstGeom prst="rect">
            <a:avLst/>
          </a:prstGeom>
          <a:solidFill>
            <a:srgbClr val="1F3A5F"/>
          </a:solidFill>
          <a:ln w="12700">
            <a:solidFill>
              <a:srgbClr val="1F3A5F"/>
            </a:solidFill>
            <a:prstDash val="solid"/>
          </a:ln>
        </p:spPr>
      </p:sp>
      <p:sp>
        <p:nvSpPr>
          <p:cNvPr id="15" name="label"/>
          <p:cNvSpPr txBox="1"/>
          <p:nvPr/>
        </p:nvSpPr>
        <p:spPr>
          <a:xfrm>
            <a:off x="8203997" y="1463040"/>
            <a:ext cx="3301898"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Room size ↑</a:t>
            </a:r>
            <a:endParaRPr lang="en-US" sz="1600" dirty="0"/>
          </a:p>
        </p:txBody>
      </p:sp>
      <p:sp>
        <p:nvSpPr>
          <p:cNvPr id="16" name="Room size ↑ text"/>
          <p:cNvSpPr txBox="1"/>
          <p:nvPr/>
        </p:nvSpPr>
        <p:spPr>
          <a:xfrm>
            <a:off x="8203997" y="1938528"/>
            <a:ext cx="3301898" cy="1417320"/>
          </a:xfrm>
          <a:prstGeom prst="rect">
            <a:avLst/>
          </a:prstGeom>
          <a:noFill/>
          <a:ln/>
        </p:spPr>
        <p:txBody>
          <a:bodyPr wrap="square" lIns="0" tIns="0" rIns="0" bIns="0" rtlCol="0" anchor="t"/>
          <a:lstStyle/>
          <a:p>
            <a:pPr indent="0" marL="0">
              <a:spcAft>
                <a:spcPts val="700"/>
              </a:spcAft>
              <a:buNone/>
            </a:pPr>
            <a:r>
              <a:rPr lang="en-US" sz="1450" b="1" dirty="0">
                <a:solidFill>
                  <a:srgbClr val="1F3A5F"/>
                </a:solidFill>
                <a:latin typeface="Arial" pitchFamily="34" charset="0"/>
                <a:ea typeface="Arial" pitchFamily="34" charset="-122"/>
                <a:cs typeface="Arial" pitchFamily="34" charset="-120"/>
              </a:rPr>
              <a:t>Gain:  </a:t>
            </a:r>
            <a:pPr indent="0" marL="0">
              <a:spcAft>
                <a:spcPts val="700"/>
              </a:spcAft>
              <a:buNone/>
            </a:pPr>
            <a:r>
              <a:rPr lang="en-US" sz="1450" dirty="0">
                <a:solidFill>
                  <a:srgbClr val="1F3A5F"/>
                </a:solidFill>
                <a:latin typeface="Arial" pitchFamily="34" charset="0"/>
                <a:ea typeface="Arial" pitchFamily="34" charset="-122"/>
                <a:cs typeface="Arial" pitchFamily="34" charset="-120"/>
              </a:rPr>
              <a:t>more floor covered</a:t>
            </a:r>
            <a:endParaRPr lang="en-US" sz="1450" dirty="0"/>
          </a:p>
          <a:p>
            <a:pPr indent="0" marL="0">
              <a:spcAft>
                <a:spcPts val="700"/>
              </a:spcAft>
              <a:buNone/>
            </a:pPr>
            <a:r>
              <a:rPr lang="en-US" sz="1450" b="1" dirty="0">
                <a:solidFill>
                  <a:srgbClr val="B23A2E"/>
                </a:solidFill>
                <a:latin typeface="Arial" pitchFamily="34" charset="0"/>
                <a:ea typeface="Arial" pitchFamily="34" charset="-122"/>
                <a:cs typeface="Arial" pitchFamily="34" charset="-120"/>
              </a:rPr>
              <a:t>Cost:  </a:t>
            </a:r>
            <a:pPr indent="0" marL="0">
              <a:spcAft>
                <a:spcPts val="700"/>
              </a:spcAft>
              <a:buNone/>
            </a:pPr>
            <a:r>
              <a:rPr lang="en-US" sz="1450" dirty="0">
                <a:solidFill>
                  <a:srgbClr val="B23A2E"/>
                </a:solidFill>
                <a:latin typeface="Arial" pitchFamily="34" charset="0"/>
                <a:ea typeface="Arial" pitchFamily="34" charset="-122"/>
                <a:cs typeface="Arial" pitchFamily="34" charset="-120"/>
              </a:rPr>
              <a:t>longer wire, more resistance: R = ρL/A</a:t>
            </a:r>
            <a:endParaRPr lang="en-US" sz="1450" dirty="0"/>
          </a:p>
          <a:p>
            <a:pPr indent="0" marL="0">
              <a:spcAft>
                <a:spcPts val="700"/>
              </a:spcAft>
              <a:buNone/>
            </a:pPr>
            <a:r>
              <a:rPr lang="en-US" sz="1450" b="1" dirty="0">
                <a:solidFill>
                  <a:srgbClr val="404040"/>
                </a:solidFill>
                <a:latin typeface="Arial" pitchFamily="34" charset="0"/>
                <a:ea typeface="Arial" pitchFamily="34" charset="-122"/>
                <a:cs typeface="Arial" pitchFamily="34" charset="-120"/>
              </a:rPr>
              <a:t>Set:  </a:t>
            </a:r>
            <a:pPr indent="0" marL="0">
              <a:spcAft>
                <a:spcPts val="700"/>
              </a:spcAft>
              <a:buNone/>
            </a:pPr>
            <a:r>
              <a:rPr lang="en-US" sz="1450" dirty="0">
                <a:solidFill>
                  <a:srgbClr val="404040"/>
                </a:solidFill>
                <a:latin typeface="Arial" pitchFamily="34" charset="0"/>
                <a:ea typeface="Arial" pitchFamily="34" charset="-122"/>
                <a:cs typeface="Arial" pitchFamily="34" charset="-120"/>
              </a:rPr>
              <a:t>only 12 V travels, on 16-gauge wire</a:t>
            </a:r>
            <a:endParaRPr lang="en-US" sz="1450" dirty="0"/>
          </a:p>
        </p:txBody>
      </p:sp>
      <p:sp>
        <p:nvSpPr>
          <p:cNvPr id="17" name="Reach toward the ceiling ↑ card"/>
          <p:cNvSpPr/>
          <p:nvPr/>
        </p:nvSpPr>
        <p:spPr>
          <a:xfrm>
            <a:off x="548640" y="3611880"/>
            <a:ext cx="3576218" cy="1965960"/>
          </a:xfrm>
          <a:prstGeom prst="rect">
            <a:avLst/>
          </a:prstGeom>
          <a:solidFill>
            <a:srgbClr val="FFFFFF"/>
          </a:solidFill>
          <a:ln w="12700">
            <a:solidFill>
              <a:srgbClr val="1F3A5F"/>
            </a:solidFill>
            <a:prstDash val="solid"/>
          </a:ln>
        </p:spPr>
      </p:sp>
      <p:sp>
        <p:nvSpPr>
          <p:cNvPr id="18" name="Reach toward the ceiling ↑ header"/>
          <p:cNvSpPr/>
          <p:nvPr/>
        </p:nvSpPr>
        <p:spPr>
          <a:xfrm>
            <a:off x="548640" y="3611880"/>
            <a:ext cx="3576218" cy="411480"/>
          </a:xfrm>
          <a:prstGeom prst="rect">
            <a:avLst/>
          </a:prstGeom>
          <a:solidFill>
            <a:srgbClr val="1F3A5F"/>
          </a:solidFill>
          <a:ln w="12700">
            <a:solidFill>
              <a:srgbClr val="1F3A5F"/>
            </a:solidFill>
            <a:prstDash val="solid"/>
          </a:ln>
        </p:spPr>
      </p:sp>
      <p:sp>
        <p:nvSpPr>
          <p:cNvPr id="19" name="label"/>
          <p:cNvSpPr txBox="1"/>
          <p:nvPr/>
        </p:nvSpPr>
        <p:spPr>
          <a:xfrm>
            <a:off x="685800" y="3611880"/>
            <a:ext cx="3301898"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Reach toward the ceiling ↑</a:t>
            </a:r>
            <a:endParaRPr lang="en-US" sz="1600" dirty="0"/>
          </a:p>
        </p:txBody>
      </p:sp>
      <p:sp>
        <p:nvSpPr>
          <p:cNvPr id="20" name="Reach toward the ceiling ↑ text"/>
          <p:cNvSpPr txBox="1"/>
          <p:nvPr/>
        </p:nvSpPr>
        <p:spPr>
          <a:xfrm>
            <a:off x="685800" y="4087368"/>
            <a:ext cx="3301898" cy="1417320"/>
          </a:xfrm>
          <a:prstGeom prst="rect">
            <a:avLst/>
          </a:prstGeom>
          <a:noFill/>
          <a:ln/>
        </p:spPr>
        <p:txBody>
          <a:bodyPr wrap="square" lIns="0" tIns="0" rIns="0" bIns="0" rtlCol="0" anchor="t"/>
          <a:lstStyle/>
          <a:p>
            <a:pPr indent="0" marL="0">
              <a:spcAft>
                <a:spcPts val="700"/>
              </a:spcAft>
              <a:buNone/>
            </a:pPr>
            <a:r>
              <a:rPr lang="en-US" sz="1450" b="1" dirty="0">
                <a:solidFill>
                  <a:srgbClr val="1F3A5F"/>
                </a:solidFill>
                <a:latin typeface="Arial" pitchFamily="34" charset="0"/>
                <a:ea typeface="Arial" pitchFamily="34" charset="-122"/>
                <a:cs typeface="Arial" pitchFamily="34" charset="-120"/>
              </a:rPr>
              <a:t>Gain:  </a:t>
            </a:r>
            <a:pPr indent="0" marL="0">
              <a:spcAft>
                <a:spcPts val="700"/>
              </a:spcAft>
              <a:buNone/>
            </a:pPr>
            <a:r>
              <a:rPr lang="en-US" sz="1450" dirty="0">
                <a:solidFill>
                  <a:srgbClr val="1F3A5F"/>
                </a:solidFill>
                <a:latin typeface="Arial" pitchFamily="34" charset="0"/>
                <a:ea typeface="Arial" pitchFamily="34" charset="-122"/>
                <a:cs typeface="Arial" pitchFamily="34" charset="-120"/>
              </a:rPr>
              <a:t>more working volume</a:t>
            </a:r>
            <a:endParaRPr lang="en-US" sz="1450" dirty="0"/>
          </a:p>
          <a:p>
            <a:pPr indent="0" marL="0">
              <a:spcAft>
                <a:spcPts val="700"/>
              </a:spcAft>
              <a:buNone/>
            </a:pPr>
            <a:r>
              <a:rPr lang="en-US" sz="1450" b="1" dirty="0">
                <a:solidFill>
                  <a:srgbClr val="B23A2E"/>
                </a:solidFill>
                <a:latin typeface="Arial" pitchFamily="34" charset="0"/>
                <a:ea typeface="Arial" pitchFamily="34" charset="-122"/>
                <a:cs typeface="Arial" pitchFamily="34" charset="-120"/>
              </a:rPr>
              <a:t>Cost:  </a:t>
            </a:r>
            <a:pPr indent="0" marL="0">
              <a:spcAft>
                <a:spcPts val="700"/>
              </a:spcAft>
              <a:buNone/>
            </a:pPr>
            <a:r>
              <a:rPr lang="en-US" sz="1450" dirty="0">
                <a:solidFill>
                  <a:srgbClr val="B23A2E"/>
                </a:solidFill>
                <a:latin typeface="Arial" pitchFamily="34" charset="0"/>
                <a:ea typeface="Arial" pitchFamily="34" charset="-122"/>
                <a:cs typeface="Arial" pitchFamily="34" charset="-120"/>
              </a:rPr>
              <a:t>tension, T = W / (4 sin φ): 12 → 32 N</a:t>
            </a:r>
            <a:endParaRPr lang="en-US" sz="1450" dirty="0"/>
          </a:p>
          <a:p>
            <a:pPr indent="0" marL="0">
              <a:spcAft>
                <a:spcPts val="700"/>
              </a:spcAft>
              <a:buNone/>
            </a:pPr>
            <a:r>
              <a:rPr lang="en-US" sz="1450" b="1" dirty="0">
                <a:solidFill>
                  <a:srgbClr val="404040"/>
                </a:solidFill>
                <a:latin typeface="Arial" pitchFamily="34" charset="0"/>
                <a:ea typeface="Arial" pitchFamily="34" charset="-122"/>
                <a:cs typeface="Arial" pitchFamily="34" charset="-120"/>
              </a:rPr>
              <a:t>Set:  </a:t>
            </a:r>
            <a:pPr indent="0" marL="0">
              <a:spcAft>
                <a:spcPts val="700"/>
              </a:spcAft>
              <a:buNone/>
            </a:pPr>
            <a:r>
              <a:rPr lang="en-US" sz="1450" dirty="0">
                <a:solidFill>
                  <a:srgbClr val="404040"/>
                </a:solidFill>
                <a:latin typeface="Arial" pitchFamily="34" charset="0"/>
                <a:ea typeface="Arial" pitchFamily="34" charset="-122"/>
                <a:cs typeface="Arial" pitchFamily="34" charset="-120"/>
              </a:rPr>
              <a:t>stop 0.4 m below the anchors</a:t>
            </a:r>
            <a:endParaRPr lang="en-US" sz="1450" dirty="0"/>
          </a:p>
        </p:txBody>
      </p:sp>
      <p:sp>
        <p:nvSpPr>
          <p:cNvPr id="21" name="Spool radius ↓ card"/>
          <p:cNvSpPr/>
          <p:nvPr/>
        </p:nvSpPr>
        <p:spPr>
          <a:xfrm>
            <a:off x="4307738" y="3611880"/>
            <a:ext cx="3576218" cy="1965960"/>
          </a:xfrm>
          <a:prstGeom prst="rect">
            <a:avLst/>
          </a:prstGeom>
          <a:solidFill>
            <a:srgbClr val="FFFFFF"/>
          </a:solidFill>
          <a:ln w="12700">
            <a:solidFill>
              <a:srgbClr val="1F3A5F"/>
            </a:solidFill>
            <a:prstDash val="solid"/>
          </a:ln>
        </p:spPr>
      </p:sp>
      <p:sp>
        <p:nvSpPr>
          <p:cNvPr id="22" name="Spool radius ↓ header"/>
          <p:cNvSpPr/>
          <p:nvPr/>
        </p:nvSpPr>
        <p:spPr>
          <a:xfrm>
            <a:off x="4307738" y="3611880"/>
            <a:ext cx="3576218" cy="411480"/>
          </a:xfrm>
          <a:prstGeom prst="rect">
            <a:avLst/>
          </a:prstGeom>
          <a:solidFill>
            <a:srgbClr val="1F3A5F"/>
          </a:solidFill>
          <a:ln w="12700">
            <a:solidFill>
              <a:srgbClr val="1F3A5F"/>
            </a:solidFill>
            <a:prstDash val="solid"/>
          </a:ln>
        </p:spPr>
      </p:sp>
      <p:sp>
        <p:nvSpPr>
          <p:cNvPr id="23" name="label"/>
          <p:cNvSpPr txBox="1"/>
          <p:nvPr/>
        </p:nvSpPr>
        <p:spPr>
          <a:xfrm>
            <a:off x="4444898" y="3611880"/>
            <a:ext cx="3301898"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Spool radius ↓</a:t>
            </a:r>
            <a:endParaRPr lang="en-US" sz="1600" dirty="0"/>
          </a:p>
        </p:txBody>
      </p:sp>
      <p:sp>
        <p:nvSpPr>
          <p:cNvPr id="24" name="Spool radius ↓ text"/>
          <p:cNvSpPr txBox="1"/>
          <p:nvPr/>
        </p:nvSpPr>
        <p:spPr>
          <a:xfrm>
            <a:off x="4444898" y="4087368"/>
            <a:ext cx="3301898" cy="1417320"/>
          </a:xfrm>
          <a:prstGeom prst="rect">
            <a:avLst/>
          </a:prstGeom>
          <a:noFill/>
          <a:ln/>
        </p:spPr>
        <p:txBody>
          <a:bodyPr wrap="square" lIns="0" tIns="0" rIns="0" bIns="0" rtlCol="0" anchor="t"/>
          <a:lstStyle/>
          <a:p>
            <a:pPr indent="0" marL="0">
              <a:spcAft>
                <a:spcPts val="700"/>
              </a:spcAft>
              <a:buNone/>
            </a:pPr>
            <a:r>
              <a:rPr lang="en-US" sz="1450" b="1" dirty="0">
                <a:solidFill>
                  <a:srgbClr val="1F3A5F"/>
                </a:solidFill>
                <a:latin typeface="Arial" pitchFamily="34" charset="0"/>
                <a:ea typeface="Arial" pitchFamily="34" charset="-122"/>
                <a:cs typeface="Arial" pitchFamily="34" charset="-120"/>
              </a:rPr>
              <a:t>Gain:  </a:t>
            </a:r>
            <a:pPr indent="0" marL="0">
              <a:spcAft>
                <a:spcPts val="700"/>
              </a:spcAft>
              <a:buNone/>
            </a:pPr>
            <a:r>
              <a:rPr lang="en-US" sz="1450" dirty="0">
                <a:solidFill>
                  <a:srgbClr val="1F3A5F"/>
                </a:solidFill>
                <a:latin typeface="Arial" pitchFamily="34" charset="0"/>
                <a:ea typeface="Arial" pitchFamily="34" charset="-122"/>
                <a:cs typeface="Arial" pitchFamily="34" charset="-120"/>
              </a:rPr>
              <a:t>pull, T = τ / r</a:t>
            </a:r>
            <a:endParaRPr lang="en-US" sz="1450" dirty="0"/>
          </a:p>
          <a:p>
            <a:pPr indent="0" marL="0">
              <a:spcAft>
                <a:spcPts val="700"/>
              </a:spcAft>
              <a:buNone/>
            </a:pPr>
            <a:r>
              <a:rPr lang="en-US" sz="1450" b="1" dirty="0">
                <a:solidFill>
                  <a:srgbClr val="B23A2E"/>
                </a:solidFill>
                <a:latin typeface="Arial" pitchFamily="34" charset="0"/>
                <a:ea typeface="Arial" pitchFamily="34" charset="-122"/>
                <a:cs typeface="Arial" pitchFamily="34" charset="-120"/>
              </a:rPr>
              <a:t>Cost:  </a:t>
            </a:r>
            <a:pPr indent="0" marL="0">
              <a:spcAft>
                <a:spcPts val="700"/>
              </a:spcAft>
              <a:buNone/>
            </a:pPr>
            <a:r>
              <a:rPr lang="en-US" sz="1450" dirty="0">
                <a:solidFill>
                  <a:srgbClr val="B23A2E"/>
                </a:solidFill>
                <a:latin typeface="Arial" pitchFamily="34" charset="0"/>
                <a:ea typeface="Arial" pitchFamily="34" charset="-122"/>
                <a:cs typeface="Arial" pitchFamily="34" charset="-120"/>
              </a:rPr>
              <a:t>line speed, v = ω r; less line per layer</a:t>
            </a:r>
            <a:endParaRPr lang="en-US" sz="1450" dirty="0"/>
          </a:p>
          <a:p>
            <a:pPr indent="0" marL="0">
              <a:spcAft>
                <a:spcPts val="700"/>
              </a:spcAft>
              <a:buNone/>
            </a:pPr>
            <a:r>
              <a:rPr lang="en-US" sz="1450" b="1" dirty="0">
                <a:solidFill>
                  <a:srgbClr val="404040"/>
                </a:solidFill>
                <a:latin typeface="Arial" pitchFamily="34" charset="0"/>
                <a:ea typeface="Arial" pitchFamily="34" charset="-122"/>
                <a:cs typeface="Arial" pitchFamily="34" charset="-120"/>
              </a:rPr>
              <a:t>Set:  </a:t>
            </a:r>
            <a:pPr indent="0" marL="0">
              <a:spcAft>
                <a:spcPts val="700"/>
              </a:spcAft>
              <a:buNone/>
            </a:pPr>
            <a:r>
              <a:rPr lang="en-US" sz="1450" dirty="0">
                <a:solidFill>
                  <a:srgbClr val="404040"/>
                </a:solidFill>
                <a:latin typeface="Arial" pitchFamily="34" charset="0"/>
                <a:ea typeface="Arial" pitchFamily="34" charset="-122"/>
                <a:cs typeface="Arial" pitchFamily="34" charset="-120"/>
              </a:rPr>
              <a:t>Ø15 core: 34 N empty, 25 N full</a:t>
            </a:r>
            <a:endParaRPr lang="en-US" sz="1450" dirty="0"/>
          </a:p>
        </p:txBody>
      </p:sp>
      <p:sp>
        <p:nvSpPr>
          <p:cNvPr id="25" name="Safety margins ↑ card"/>
          <p:cNvSpPr/>
          <p:nvPr/>
        </p:nvSpPr>
        <p:spPr>
          <a:xfrm>
            <a:off x="8066837" y="3611880"/>
            <a:ext cx="3576218" cy="1965960"/>
          </a:xfrm>
          <a:prstGeom prst="rect">
            <a:avLst/>
          </a:prstGeom>
          <a:solidFill>
            <a:srgbClr val="FFFFFF"/>
          </a:solidFill>
          <a:ln w="12700">
            <a:solidFill>
              <a:srgbClr val="1F3A5F"/>
            </a:solidFill>
            <a:prstDash val="solid"/>
          </a:ln>
        </p:spPr>
      </p:sp>
      <p:sp>
        <p:nvSpPr>
          <p:cNvPr id="26" name="Safety margins ↑ header"/>
          <p:cNvSpPr/>
          <p:nvPr/>
        </p:nvSpPr>
        <p:spPr>
          <a:xfrm>
            <a:off x="8066837" y="3611880"/>
            <a:ext cx="3576218" cy="411480"/>
          </a:xfrm>
          <a:prstGeom prst="rect">
            <a:avLst/>
          </a:prstGeom>
          <a:solidFill>
            <a:srgbClr val="1F3A5F"/>
          </a:solidFill>
          <a:ln w="12700">
            <a:solidFill>
              <a:srgbClr val="1F3A5F"/>
            </a:solidFill>
            <a:prstDash val="solid"/>
          </a:ln>
        </p:spPr>
      </p:sp>
      <p:sp>
        <p:nvSpPr>
          <p:cNvPr id="27" name="label"/>
          <p:cNvSpPr txBox="1"/>
          <p:nvPr/>
        </p:nvSpPr>
        <p:spPr>
          <a:xfrm>
            <a:off x="8203997" y="3611880"/>
            <a:ext cx="3301898"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Safety margins ↑</a:t>
            </a:r>
            <a:endParaRPr lang="en-US" sz="1600" dirty="0"/>
          </a:p>
        </p:txBody>
      </p:sp>
      <p:sp>
        <p:nvSpPr>
          <p:cNvPr id="28" name="Safety margins ↑ text"/>
          <p:cNvSpPr txBox="1"/>
          <p:nvPr/>
        </p:nvSpPr>
        <p:spPr>
          <a:xfrm>
            <a:off x="8203997" y="4087368"/>
            <a:ext cx="3301898" cy="1417320"/>
          </a:xfrm>
          <a:prstGeom prst="rect">
            <a:avLst/>
          </a:prstGeom>
          <a:noFill/>
          <a:ln/>
        </p:spPr>
        <p:txBody>
          <a:bodyPr wrap="square" lIns="0" tIns="0" rIns="0" bIns="0" rtlCol="0" anchor="t"/>
          <a:lstStyle/>
          <a:p>
            <a:pPr indent="0" marL="0">
              <a:spcAft>
                <a:spcPts val="700"/>
              </a:spcAft>
              <a:buNone/>
            </a:pPr>
            <a:r>
              <a:rPr lang="en-US" sz="1450" b="1" dirty="0">
                <a:solidFill>
                  <a:srgbClr val="1F3A5F"/>
                </a:solidFill>
                <a:latin typeface="Arial" pitchFamily="34" charset="0"/>
                <a:ea typeface="Arial" pitchFamily="34" charset="-122"/>
                <a:cs typeface="Arial" pitchFamily="34" charset="-120"/>
              </a:rPr>
              <a:t>Gain:  </a:t>
            </a:r>
            <a:pPr indent="0" marL="0">
              <a:spcAft>
                <a:spcPts val="700"/>
              </a:spcAft>
              <a:buNone/>
            </a:pPr>
            <a:r>
              <a:rPr lang="en-US" sz="1450" dirty="0">
                <a:solidFill>
                  <a:srgbClr val="1F3A5F"/>
                </a:solidFill>
                <a:latin typeface="Arial" pitchFamily="34" charset="0"/>
                <a:ea typeface="Arial" pitchFamily="34" charset="-122"/>
                <a:cs typeface="Arial" pitchFamily="34" charset="-120"/>
              </a:rPr>
              <a:t>no skipped steps, no wall contact</a:t>
            </a:r>
            <a:endParaRPr lang="en-US" sz="1450" dirty="0"/>
          </a:p>
          <a:p>
            <a:pPr indent="0" marL="0">
              <a:spcAft>
                <a:spcPts val="700"/>
              </a:spcAft>
              <a:buNone/>
            </a:pPr>
            <a:r>
              <a:rPr lang="en-US" sz="1450" b="1" dirty="0">
                <a:solidFill>
                  <a:srgbClr val="B23A2E"/>
                </a:solidFill>
                <a:latin typeface="Arial" pitchFamily="34" charset="0"/>
                <a:ea typeface="Arial" pitchFamily="34" charset="-122"/>
                <a:cs typeface="Arial" pitchFamily="34" charset="-120"/>
              </a:rPr>
              <a:t>Cost:  </a:t>
            </a:r>
            <a:pPr indent="0" marL="0">
              <a:spcAft>
                <a:spcPts val="700"/>
              </a:spcAft>
              <a:buNone/>
            </a:pPr>
            <a:r>
              <a:rPr lang="en-US" sz="1450" dirty="0">
                <a:solidFill>
                  <a:srgbClr val="B23A2E"/>
                </a:solidFill>
                <a:latin typeface="Arial" pitchFamily="34" charset="0"/>
                <a:ea typeface="Arial" pitchFamily="34" charset="-122"/>
                <a:cs typeface="Arial" pitchFamily="34" charset="-120"/>
              </a:rPr>
              <a:t>usable force (÷ 1.5) and floor area</a:t>
            </a:r>
            <a:endParaRPr lang="en-US" sz="1450" dirty="0"/>
          </a:p>
          <a:p>
            <a:pPr indent="0" marL="0">
              <a:spcAft>
                <a:spcPts val="700"/>
              </a:spcAft>
              <a:buNone/>
            </a:pPr>
            <a:r>
              <a:rPr lang="en-US" sz="1450" b="1" dirty="0">
                <a:solidFill>
                  <a:srgbClr val="404040"/>
                </a:solidFill>
                <a:latin typeface="Arial" pitchFamily="34" charset="0"/>
                <a:ea typeface="Arial" pitchFamily="34" charset="-122"/>
                <a:cs typeface="Arial" pitchFamily="34" charset="-120"/>
              </a:rPr>
              <a:t>Set:  </a:t>
            </a:r>
            <a:pPr indent="0" marL="0">
              <a:spcAft>
                <a:spcPts val="700"/>
              </a:spcAft>
              <a:buNone/>
            </a:pPr>
            <a:r>
              <a:rPr lang="en-US" sz="1450" dirty="0">
                <a:solidFill>
                  <a:srgbClr val="404040"/>
                </a:solidFill>
                <a:latin typeface="Arial" pitchFamily="34" charset="0"/>
                <a:ea typeface="Arial" pitchFamily="34" charset="-122"/>
                <a:cs typeface="Arial" pitchFamily="34" charset="-120"/>
              </a:rPr>
              <a:t>÷ 1.5; 0.2 m walls, 0.4 m ceiling</a:t>
            </a:r>
            <a:endParaRPr lang="en-US" sz="1450" dirty="0"/>
          </a:p>
        </p:txBody>
      </p:sp>
      <p:sp>
        <p:nvSpPr>
          <p:cNvPr id="29" name="label"/>
          <p:cNvSpPr txBox="1"/>
          <p:nvPr/>
        </p:nvSpPr>
        <p:spPr>
          <a:xfrm>
            <a:off x="548640" y="5760720"/>
            <a:ext cx="1280160" cy="475488"/>
          </a:xfrm>
          <a:prstGeom prst="rect">
            <a:avLst/>
          </a:prstGeom>
          <a:noFill/>
          <a:ln/>
        </p:spPr>
        <p:txBody>
          <a:bodyPr wrap="square" lIns="0" tIns="0" rIns="0" bIns="0" rtlCol="0" anchor="ctr"/>
          <a:lstStyle/>
          <a:p>
            <a:pPr algn="l" indent="0" marL="0">
              <a:buNone/>
            </a:pPr>
            <a:r>
              <a:rPr lang="en-US" sz="1400" b="1" dirty="0">
                <a:solidFill>
                  <a:srgbClr val="1F3A5F"/>
                </a:solidFill>
                <a:latin typeface="Arial" pitchFamily="34" charset="0"/>
                <a:ea typeface="Arial" pitchFamily="34" charset="-122"/>
                <a:cs typeface="Arial" pitchFamily="34" charset="-120"/>
              </a:rPr>
              <a:t>How they chain:</a:t>
            </a:r>
            <a:endParaRPr lang="en-US" sz="1400" dirty="0"/>
          </a:p>
        </p:txBody>
      </p:sp>
      <p:sp>
        <p:nvSpPr>
          <p:cNvPr id="30" name="chain 1"/>
          <p:cNvSpPr/>
          <p:nvPr/>
        </p:nvSpPr>
        <p:spPr>
          <a:xfrm>
            <a:off x="1920240" y="5760720"/>
            <a:ext cx="1710477" cy="475488"/>
          </a:xfrm>
          <a:prstGeom prst="roundRect">
            <a:avLst>
              <a:gd name="adj" fmla="val 15385"/>
            </a:avLst>
          </a:prstGeom>
          <a:solidFill>
            <a:srgbClr val="F2F2F2"/>
          </a:solidFill>
          <a:ln w="12700">
            <a:solidFill>
              <a:srgbClr val="1F3A5F"/>
            </a:solidFill>
            <a:prstDash val="solid"/>
          </a:ln>
        </p:spPr>
      </p:sp>
      <p:sp>
        <p:nvSpPr>
          <p:cNvPr id="31" name="label"/>
          <p:cNvSpPr txBox="1"/>
          <p:nvPr/>
        </p:nvSpPr>
        <p:spPr>
          <a:xfrm>
            <a:off x="1920240" y="5760720"/>
            <a:ext cx="1710477" cy="475488"/>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Claw mass ↑</a:t>
            </a:r>
            <a:endParaRPr lang="en-US" sz="1400" dirty="0"/>
          </a:p>
        </p:txBody>
      </p:sp>
      <p:sp>
        <p:nvSpPr>
          <p:cNvPr id="32" name="Shape 30"/>
          <p:cNvSpPr/>
          <p:nvPr/>
        </p:nvSpPr>
        <p:spPr>
          <a:xfrm>
            <a:off x="3667293" y="5998464"/>
            <a:ext cx="219456" cy="0"/>
          </a:xfrm>
          <a:prstGeom prst="line">
            <a:avLst/>
          </a:prstGeom>
          <a:noFill/>
          <a:ln w="19050">
            <a:solidFill>
              <a:srgbClr val="7F7F7F"/>
            </a:solidFill>
            <a:prstDash val="solid"/>
            <a:tailEnd type="triangle"/>
          </a:ln>
        </p:spPr>
      </p:sp>
      <p:sp>
        <p:nvSpPr>
          <p:cNvPr id="33" name="chain 2"/>
          <p:cNvSpPr/>
          <p:nvPr/>
        </p:nvSpPr>
        <p:spPr>
          <a:xfrm>
            <a:off x="3923325" y="5760720"/>
            <a:ext cx="1710477" cy="475488"/>
          </a:xfrm>
          <a:prstGeom prst="roundRect">
            <a:avLst>
              <a:gd name="adj" fmla="val 15385"/>
            </a:avLst>
          </a:prstGeom>
          <a:solidFill>
            <a:srgbClr val="F2F2F2"/>
          </a:solidFill>
          <a:ln w="12700">
            <a:solidFill>
              <a:srgbClr val="1F3A5F"/>
            </a:solidFill>
            <a:prstDash val="solid"/>
          </a:ln>
        </p:spPr>
      </p:sp>
      <p:sp>
        <p:nvSpPr>
          <p:cNvPr id="34" name="label"/>
          <p:cNvSpPr txBox="1"/>
          <p:nvPr/>
        </p:nvSpPr>
        <p:spPr>
          <a:xfrm>
            <a:off x="3923325" y="5760720"/>
            <a:ext cx="1710477" cy="475488"/>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Pull needed ↑</a:t>
            </a:r>
            <a:endParaRPr lang="en-US" sz="1400" dirty="0"/>
          </a:p>
        </p:txBody>
      </p:sp>
      <p:sp>
        <p:nvSpPr>
          <p:cNvPr id="35" name="Shape 33"/>
          <p:cNvSpPr/>
          <p:nvPr/>
        </p:nvSpPr>
        <p:spPr>
          <a:xfrm>
            <a:off x="5670377" y="5998464"/>
            <a:ext cx="219456" cy="0"/>
          </a:xfrm>
          <a:prstGeom prst="line">
            <a:avLst/>
          </a:prstGeom>
          <a:noFill/>
          <a:ln w="19050">
            <a:solidFill>
              <a:srgbClr val="7F7F7F"/>
            </a:solidFill>
            <a:prstDash val="solid"/>
            <a:tailEnd type="triangle"/>
          </a:ln>
        </p:spPr>
      </p:sp>
      <p:sp>
        <p:nvSpPr>
          <p:cNvPr id="36" name="chain 3"/>
          <p:cNvSpPr/>
          <p:nvPr/>
        </p:nvSpPr>
        <p:spPr>
          <a:xfrm>
            <a:off x="5926409" y="5760720"/>
            <a:ext cx="1710477" cy="475488"/>
          </a:xfrm>
          <a:prstGeom prst="roundRect">
            <a:avLst>
              <a:gd name="adj" fmla="val 15385"/>
            </a:avLst>
          </a:prstGeom>
          <a:solidFill>
            <a:srgbClr val="F2F2F2"/>
          </a:solidFill>
          <a:ln w="12700">
            <a:solidFill>
              <a:srgbClr val="1F3A5F"/>
            </a:solidFill>
            <a:prstDash val="solid"/>
          </a:ln>
        </p:spPr>
      </p:sp>
      <p:sp>
        <p:nvSpPr>
          <p:cNvPr id="37" name="label"/>
          <p:cNvSpPr txBox="1"/>
          <p:nvPr/>
        </p:nvSpPr>
        <p:spPr>
          <a:xfrm>
            <a:off x="5926409" y="5760720"/>
            <a:ext cx="1710477" cy="475488"/>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Motor current ↑</a:t>
            </a:r>
            <a:endParaRPr lang="en-US" sz="1400" dirty="0"/>
          </a:p>
        </p:txBody>
      </p:sp>
      <p:sp>
        <p:nvSpPr>
          <p:cNvPr id="38" name="Shape 36"/>
          <p:cNvSpPr/>
          <p:nvPr/>
        </p:nvSpPr>
        <p:spPr>
          <a:xfrm>
            <a:off x="7673462" y="5998464"/>
            <a:ext cx="219456" cy="0"/>
          </a:xfrm>
          <a:prstGeom prst="line">
            <a:avLst/>
          </a:prstGeom>
          <a:noFill/>
          <a:ln w="19050">
            <a:solidFill>
              <a:srgbClr val="7F7F7F"/>
            </a:solidFill>
            <a:prstDash val="solid"/>
            <a:tailEnd type="triangle"/>
          </a:ln>
        </p:spPr>
      </p:sp>
      <p:sp>
        <p:nvSpPr>
          <p:cNvPr id="39" name="chain 4"/>
          <p:cNvSpPr/>
          <p:nvPr/>
        </p:nvSpPr>
        <p:spPr>
          <a:xfrm>
            <a:off x="7929494" y="5760720"/>
            <a:ext cx="1710477" cy="475488"/>
          </a:xfrm>
          <a:prstGeom prst="roundRect">
            <a:avLst>
              <a:gd name="adj" fmla="val 15385"/>
            </a:avLst>
          </a:prstGeom>
          <a:solidFill>
            <a:srgbClr val="F2F2F2"/>
          </a:solidFill>
          <a:ln w="12700">
            <a:solidFill>
              <a:srgbClr val="1F3A5F"/>
            </a:solidFill>
            <a:prstDash val="solid"/>
          </a:ln>
        </p:spPr>
      </p:sp>
      <p:sp>
        <p:nvSpPr>
          <p:cNvPr id="40" name="label"/>
          <p:cNvSpPr txBox="1"/>
          <p:nvPr/>
        </p:nvSpPr>
        <p:spPr>
          <a:xfrm>
            <a:off x="7929494" y="5760720"/>
            <a:ext cx="1710477" cy="475488"/>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Heat ↑ as I²</a:t>
            </a:r>
            <a:endParaRPr lang="en-US" sz="1400" dirty="0"/>
          </a:p>
        </p:txBody>
      </p:sp>
      <p:sp>
        <p:nvSpPr>
          <p:cNvPr id="41" name="Shape 39"/>
          <p:cNvSpPr/>
          <p:nvPr/>
        </p:nvSpPr>
        <p:spPr>
          <a:xfrm>
            <a:off x="9676547" y="5998464"/>
            <a:ext cx="219456" cy="0"/>
          </a:xfrm>
          <a:prstGeom prst="line">
            <a:avLst/>
          </a:prstGeom>
          <a:noFill/>
          <a:ln w="19050">
            <a:solidFill>
              <a:srgbClr val="7F7F7F"/>
            </a:solidFill>
            <a:prstDash val="solid"/>
            <a:tailEnd type="triangle"/>
          </a:ln>
        </p:spPr>
      </p:sp>
      <p:sp>
        <p:nvSpPr>
          <p:cNvPr id="42" name="chain 5"/>
          <p:cNvSpPr/>
          <p:nvPr/>
        </p:nvSpPr>
        <p:spPr>
          <a:xfrm>
            <a:off x="9932579" y="5760720"/>
            <a:ext cx="1710477" cy="475488"/>
          </a:xfrm>
          <a:prstGeom prst="roundRect">
            <a:avLst>
              <a:gd name="adj" fmla="val 15385"/>
            </a:avLst>
          </a:prstGeom>
          <a:solidFill>
            <a:srgbClr val="1F3A5F"/>
          </a:solidFill>
          <a:ln w="12700">
            <a:solidFill>
              <a:srgbClr val="1F3A5F"/>
            </a:solidFill>
            <a:prstDash val="solid"/>
          </a:ln>
        </p:spPr>
      </p:sp>
      <p:sp>
        <p:nvSpPr>
          <p:cNvPr id="43" name="label"/>
          <p:cNvSpPr txBox="1"/>
          <p:nvPr/>
        </p:nvSpPr>
        <p:spPr>
          <a:xfrm>
            <a:off x="9932579" y="5760720"/>
            <a:ext cx="1710477"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Fin and vents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Cable Tension</a:t>
            </a:r>
            <a:endParaRPr lang="en-US" sz="3000" dirty="0"/>
          </a:p>
        </p:txBody>
      </p:sp>
      <p:sp>
        <p:nvSpPr>
          <p:cNvPr id="4" name="status chip"/>
          <p:cNvSpPr/>
          <p:nvPr/>
        </p:nvSpPr>
        <p:spPr>
          <a:xfrm>
            <a:off x="10134295" y="621792"/>
            <a:ext cx="150876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10134295" y="621792"/>
            <a:ext cx="150876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Calculated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2249424"/>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Cables only pull:</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T &gt; 0</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Tension climbs near the ceiling</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32 N at 0.15 m · 8.3 N at 0.6 m</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Decision:</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stay 0.4 m below anchors</a:t>
            </a:r>
            <a:endParaRPr lang="en-US" sz="2000" dirty="0"/>
          </a:p>
        </p:txBody>
      </p:sp>
      <p:sp>
        <p:nvSpPr>
          <p:cNvPr id="8" name="equation box"/>
          <p:cNvSpPr/>
          <p:nvPr/>
        </p:nvSpPr>
        <p:spPr>
          <a:xfrm>
            <a:off x="548640" y="3895344"/>
            <a:ext cx="4920551" cy="2368296"/>
          </a:xfrm>
          <a:prstGeom prst="rect">
            <a:avLst/>
          </a:prstGeom>
          <a:solidFill>
            <a:srgbClr val="F7F8FA"/>
          </a:solidFill>
          <a:ln w="15875">
            <a:solidFill>
              <a:srgbClr val="1F3A5F"/>
            </a:solidFill>
            <a:prstDash val="solid"/>
          </a:ln>
        </p:spPr>
      </p:sp>
      <p:sp>
        <p:nvSpPr>
          <p:cNvPr id="9" name="equation label"/>
          <p:cNvSpPr txBox="1"/>
          <p:nvPr/>
        </p:nvSpPr>
        <p:spPr>
          <a:xfrm>
            <a:off x="713232" y="3968496"/>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4206240"/>
            <a:ext cx="4591367"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T = W / (4 sin φ),   sin φ = d / √(d² + D</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h</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²)</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sin φ = 0.4 / √(0.4² + 2.17²) = 0.181</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T = 8.87 N / (4 × 0.181)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12.2 N</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(1 + a/g) = 12.2 × 1.20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14.7 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&lt; 16.8 N</a:t>
            </a:r>
            <a:endParaRPr lang="en-US" sz="1550" dirty="0"/>
          </a:p>
        </p:txBody>
      </p:sp>
      <p:sp>
        <p:nvSpPr>
          <p:cNvPr id="11" name="equation inputs"/>
          <p:cNvSpPr txBox="1"/>
          <p:nvPr/>
        </p:nvSpPr>
        <p:spPr>
          <a:xfrm>
            <a:off x="713232" y="5577840"/>
            <a:ext cx="4591367"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W = (0.45 + 0.454) kg × 9.81 m/s² = 8.87 N  ·  d = 0.4 m below the anchors  ·  D</a:t>
            </a:r>
            <a:pPr indent="0" marL="0">
              <a:buNone/>
            </a:pPr>
            <a:r>
              <a:rPr lang="en-US" sz="1100" baseline="-40000" dirty="0">
                <a:solidFill>
                  <a:srgbClr val="404040"/>
                </a:solidFill>
                <a:latin typeface="Arial" pitchFamily="34" charset="0"/>
                <a:ea typeface="Arial" pitchFamily="34" charset="-122"/>
                <a:cs typeface="Arial" pitchFamily="34" charset="-120"/>
              </a:rPr>
              <a:t>h</a:t>
            </a:r>
            <a:pPr indent="0" marL="0">
              <a:buNone/>
            </a:pPr>
            <a:r>
              <a:rPr lang="en-US" sz="1100" dirty="0">
                <a:solidFill>
                  <a:srgbClr val="404040"/>
                </a:solidFill>
                <a:latin typeface="Arial" pitchFamily="34" charset="0"/>
                <a:ea typeface="Arial" pitchFamily="34" charset="-122"/>
                <a:cs typeface="Arial" pitchFamily="34" charset="-120"/>
              </a:rPr>
              <a:t> = 2.17 m centre to corner  ·  a = 2 m/s²  ·  16.8 N = winch design force</a:t>
            </a:r>
            <a:endParaRPr lang="en-US" sz="1100" dirty="0"/>
          </a:p>
        </p:txBody>
      </p:sp>
      <p:pic>
        <p:nvPicPr>
          <p:cNvPr id="12" name="Chart from the calculation sheet: Cable " descr="Chart from the calculation sheet: Cable tension">    </p:cNvPr>
          <p:cNvPicPr>
            <a:picLocks noChangeAspect="1"/>
          </p:cNvPicPr>
          <p:nvPr/>
        </p:nvPicPr>
        <p:blipFill>
          <a:blip r:embed="rId1"/>
          <a:stretch>
            <a:fillRect/>
          </a:stretch>
        </p:blipFill>
        <p:spPr>
          <a:xfrm>
            <a:off x="5880671" y="1554480"/>
            <a:ext cx="5762384" cy="3966477"/>
          </a:xfrm>
          <a:prstGeom prst="rect">
            <a:avLst/>
          </a:prstGeom>
        </p:spPr>
      </p:pic>
      <p:sp>
        <p:nvSpPr>
          <p:cNvPr id="13" name="chart frame"/>
          <p:cNvSpPr/>
          <p:nvPr/>
        </p:nvSpPr>
        <p:spPr>
          <a:xfrm>
            <a:off x="5880671" y="1554480"/>
            <a:ext cx="5762384" cy="3966477"/>
          </a:xfrm>
          <a:prstGeom prst="rect">
            <a:avLst/>
          </a:prstGeom>
          <a:ln w="9525">
            <a:solidFill>
              <a:srgbClr val="BFBFBF"/>
            </a:solidFill>
            <a:prstDash val="solid"/>
          </a:ln>
        </p:spPr>
      </p:sp>
      <p:sp>
        <p:nvSpPr>
          <p:cNvPr id="14" name="caption"/>
          <p:cNvSpPr txBox="1"/>
          <p:nvPr/>
        </p:nvSpPr>
        <p:spPr>
          <a:xfrm>
            <a:off x="5880671" y="5594109"/>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My calculation sheet (Google Sheets), “Cable tension” tab. Calculated, not measured.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Winch Pull</a:t>
            </a:r>
            <a:endParaRPr lang="en-US" sz="3000" dirty="0"/>
          </a:p>
        </p:txBody>
      </p:sp>
      <p:sp>
        <p:nvSpPr>
          <p:cNvPr id="4" name="status chip"/>
          <p:cNvSpPr/>
          <p:nvPr/>
        </p:nvSpPr>
        <p:spPr>
          <a:xfrm>
            <a:off x="8346643" y="621792"/>
            <a:ext cx="3296412"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8346643" y="621792"/>
            <a:ext cx="3296412"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1.5 A set · pull calculated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2249424"/>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NEMA 17 stepper (1.7 in frame)</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Current: 1.06 → </a:t>
            </a:r>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1.5 A</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Pull: 34 N empty · 25 N full spool</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Next:</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luggage-scale pull test</a:t>
            </a:r>
            <a:endParaRPr lang="en-US" sz="2000" dirty="0"/>
          </a:p>
        </p:txBody>
      </p:sp>
      <p:sp>
        <p:nvSpPr>
          <p:cNvPr id="8" name="equation box"/>
          <p:cNvSpPr/>
          <p:nvPr/>
        </p:nvSpPr>
        <p:spPr>
          <a:xfrm>
            <a:off x="548640" y="3895344"/>
            <a:ext cx="4920551" cy="2368296"/>
          </a:xfrm>
          <a:prstGeom prst="rect">
            <a:avLst/>
          </a:prstGeom>
          <a:solidFill>
            <a:srgbClr val="F7F8FA"/>
          </a:solidFill>
          <a:ln w="15875">
            <a:solidFill>
              <a:srgbClr val="1F3A5F"/>
            </a:solidFill>
            <a:prstDash val="solid"/>
          </a:ln>
        </p:spPr>
      </p:sp>
      <p:sp>
        <p:nvSpPr>
          <p:cNvPr id="9" name="equation label"/>
          <p:cNvSpPr txBox="1"/>
          <p:nvPr/>
        </p:nvSpPr>
        <p:spPr>
          <a:xfrm>
            <a:off x="713232" y="3968496"/>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4206240"/>
            <a:ext cx="4591367"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I = V</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ref</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(8 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s</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1.2 V / (8 × 0.1 Ω)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1.5 A</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τ</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run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0.7 × 0.36 N·m × 1.5 / 1.5 = 0.252 N·m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T = τ / r = 0.252 / 0.010 m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25.2 N</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design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25.2 N / 1.5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16.8 N</a:t>
            </a:r>
            <a:endParaRPr lang="en-US" sz="1550" dirty="0"/>
          </a:p>
        </p:txBody>
      </p:sp>
      <p:sp>
        <p:nvSpPr>
          <p:cNvPr id="11" name="equation inputs"/>
          <p:cNvSpPr txBox="1"/>
          <p:nvPr/>
        </p:nvSpPr>
        <p:spPr>
          <a:xfrm>
            <a:off x="713232" y="5577840"/>
            <a:ext cx="4591367"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V</a:t>
            </a:r>
            <a:pPr indent="0" marL="0">
              <a:buNone/>
            </a:pPr>
            <a:r>
              <a:rPr lang="en-US" sz="1100" baseline="-40000" dirty="0">
                <a:solidFill>
                  <a:srgbClr val="404040"/>
                </a:solidFill>
                <a:latin typeface="Arial" pitchFamily="34" charset="0"/>
                <a:ea typeface="Arial" pitchFamily="34" charset="-122"/>
                <a:cs typeface="Arial" pitchFamily="34" charset="-120"/>
              </a:rPr>
              <a:t>ref</a:t>
            </a:r>
            <a:pPr indent="0" marL="0">
              <a:buNone/>
            </a:pPr>
            <a:r>
              <a:rPr lang="en-US" sz="1100" dirty="0">
                <a:solidFill>
                  <a:srgbClr val="404040"/>
                </a:solidFill>
                <a:latin typeface="Arial" pitchFamily="34" charset="0"/>
                <a:ea typeface="Arial" pitchFamily="34" charset="-122"/>
                <a:cs typeface="Arial" pitchFamily="34" charset="-120"/>
              </a:rPr>
              <a:t> = driver reference voltage  ·  R</a:t>
            </a:r>
            <a:pPr indent="0" marL="0">
              <a:buNone/>
            </a:pPr>
            <a:r>
              <a:rPr lang="en-US" sz="1100" baseline="-40000" dirty="0">
                <a:solidFill>
                  <a:srgbClr val="404040"/>
                </a:solidFill>
                <a:latin typeface="Arial" pitchFamily="34" charset="0"/>
                <a:ea typeface="Arial" pitchFamily="34" charset="-122"/>
                <a:cs typeface="Arial" pitchFamily="34" charset="-120"/>
              </a:rPr>
              <a:t>s</a:t>
            </a:r>
            <a:pPr indent="0" marL="0">
              <a:buNone/>
            </a:pPr>
            <a:r>
              <a:rPr lang="en-US" sz="1100" dirty="0">
                <a:solidFill>
                  <a:srgbClr val="404040"/>
                </a:solidFill>
                <a:latin typeface="Arial" pitchFamily="34" charset="0"/>
                <a:ea typeface="Arial" pitchFamily="34" charset="-122"/>
                <a:cs typeface="Arial" pitchFamily="34" charset="-120"/>
              </a:rPr>
              <a:t> = 0.1 Ω sense resistor  ·  0.36 N·m holding torque at 1.5 A rated  ·  0.7 = running / holding (assumed)  ·  r = 10 mm full spool  ·  1.5 = skip margin</a:t>
            </a:r>
            <a:endParaRPr lang="en-US" sz="1100" dirty="0"/>
          </a:p>
        </p:txBody>
      </p:sp>
      <p:pic>
        <p:nvPicPr>
          <p:cNvPr id="12" name="Chart from the calculation sheet: Winch " descr="Chart from the calculation sheet: Winch pull">    </p:cNvPr>
          <p:cNvPicPr>
            <a:picLocks noChangeAspect="1"/>
          </p:cNvPicPr>
          <p:nvPr/>
        </p:nvPicPr>
        <p:blipFill>
          <a:blip r:embed="rId1"/>
          <a:stretch>
            <a:fillRect/>
          </a:stretch>
        </p:blipFill>
        <p:spPr>
          <a:xfrm>
            <a:off x="5880671" y="1554480"/>
            <a:ext cx="5762384" cy="3966013"/>
          </a:xfrm>
          <a:prstGeom prst="rect">
            <a:avLst/>
          </a:prstGeom>
        </p:spPr>
      </p:pic>
      <p:sp>
        <p:nvSpPr>
          <p:cNvPr id="13" name="chart frame"/>
          <p:cNvSpPr/>
          <p:nvPr/>
        </p:nvSpPr>
        <p:spPr>
          <a:xfrm>
            <a:off x="5880671" y="1554480"/>
            <a:ext cx="5762384" cy="3966013"/>
          </a:xfrm>
          <a:prstGeom prst="rect">
            <a:avLst/>
          </a:prstGeom>
          <a:ln w="9525">
            <a:solidFill>
              <a:srgbClr val="BFBFBF"/>
            </a:solidFill>
            <a:prstDash val="solid"/>
          </a:ln>
        </p:spPr>
      </p:sp>
      <p:sp>
        <p:nvSpPr>
          <p:cNvPr id="14" name="caption"/>
          <p:cNvSpPr txBox="1"/>
          <p:nvPr/>
        </p:nvSpPr>
        <p:spPr>
          <a:xfrm>
            <a:off x="5880671" y="5593645"/>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My calculation sheet (Google Sheets), “Winch pull” tab. Calculated, not measured.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One Controller per Winch</a:t>
            </a:r>
            <a:endParaRPr lang="en-US" sz="3000" dirty="0"/>
          </a:p>
        </p:txBody>
      </p:sp>
      <p:sp>
        <p:nvSpPr>
          <p:cNvPr id="4" name="status chip"/>
          <p:cNvSpPr/>
          <p:nvPr/>
        </p:nvSpPr>
        <p:spPr>
          <a:xfrm>
            <a:off x="10180015" y="621792"/>
            <a:ext cx="1463040" cy="365760"/>
          </a:xfrm>
          <a:prstGeom prst="roundRect">
            <a:avLst>
              <a:gd name="adj" fmla="val 50000"/>
            </a:avLst>
          </a:prstGeom>
          <a:solidFill>
            <a:srgbClr val="1F3A5F"/>
          </a:solidFill>
          <a:ln w="15875">
            <a:solidFill>
              <a:srgbClr val="1F3A5F"/>
            </a:solidFill>
            <a:prstDash val="solid"/>
          </a:ln>
        </p:spPr>
      </p:sp>
      <p:sp>
        <p:nvSpPr>
          <p:cNvPr id="5" name="status"/>
          <p:cNvSpPr txBox="1"/>
          <p:nvPr/>
        </p:nvSpPr>
        <p:spPr>
          <a:xfrm>
            <a:off x="10180015" y="621792"/>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Built</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2249424"/>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Gen 1:</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one board, four motors</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Sensors per winch: 10 wires per corner</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Decision:</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controller in every station</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Result:</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5× less wire</a:t>
            </a:r>
            <a:endParaRPr lang="en-US" sz="2000" dirty="0"/>
          </a:p>
        </p:txBody>
      </p:sp>
      <p:sp>
        <p:nvSpPr>
          <p:cNvPr id="8" name="equation box"/>
          <p:cNvSpPr/>
          <p:nvPr/>
        </p:nvSpPr>
        <p:spPr>
          <a:xfrm>
            <a:off x="548640" y="3895344"/>
            <a:ext cx="4920551" cy="2368296"/>
          </a:xfrm>
          <a:prstGeom prst="rect">
            <a:avLst/>
          </a:prstGeom>
          <a:solidFill>
            <a:srgbClr val="F7F8FA"/>
          </a:solidFill>
          <a:ln w="15875">
            <a:solidFill>
              <a:srgbClr val="1F3A5F"/>
            </a:solidFill>
            <a:prstDash val="solid"/>
          </a:ln>
        </p:spPr>
      </p:sp>
      <p:sp>
        <p:nvSpPr>
          <p:cNvPr id="9" name="equation label"/>
          <p:cNvSpPr txBox="1"/>
          <p:nvPr/>
        </p:nvSpPr>
        <p:spPr>
          <a:xfrm>
            <a:off x="713232" y="3968496"/>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4206240"/>
            <a:ext cx="4591367"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Wire = n × ΣL</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Central box: 10 × 82 ft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820 ft</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Controller per station: 2 × 82 ft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164 ft</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Sync error: Δx = v Δt = 50 mm/s × 50 ms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2.5 mm</a:t>
            </a:r>
            <a:endParaRPr lang="en-US" sz="1550" dirty="0"/>
          </a:p>
        </p:txBody>
      </p:sp>
      <p:sp>
        <p:nvSpPr>
          <p:cNvPr id="11" name="equation inputs"/>
          <p:cNvSpPr txBox="1"/>
          <p:nvPr/>
        </p:nvSpPr>
        <p:spPr>
          <a:xfrm>
            <a:off x="713232" y="5577840"/>
            <a:ext cx="4591367"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n = conductors per corner (motor 4, switch 2, encoder 4)  ·  ΣL = 6 + 21 + 23 + 32 ft of routes  ·  v = line speed  ·  Δt = clock skew between stations</a:t>
            </a:r>
            <a:endParaRPr lang="en-US" sz="1100" dirty="0"/>
          </a:p>
        </p:txBody>
      </p:sp>
      <p:pic>
        <p:nvPicPr>
          <p:cNvPr id="12" name="Chart from the calculation sheet: Wiring" descr="Chart from the calculation sheet: Wiring">    </p:cNvPr>
          <p:cNvPicPr>
            <a:picLocks noChangeAspect="1"/>
          </p:cNvPicPr>
          <p:nvPr/>
        </p:nvPicPr>
        <p:blipFill>
          <a:blip r:embed="rId1"/>
          <a:stretch>
            <a:fillRect/>
          </a:stretch>
        </p:blipFill>
        <p:spPr>
          <a:xfrm>
            <a:off x="5880671" y="1554480"/>
            <a:ext cx="5762384" cy="3966013"/>
          </a:xfrm>
          <a:prstGeom prst="rect">
            <a:avLst/>
          </a:prstGeom>
        </p:spPr>
      </p:pic>
      <p:sp>
        <p:nvSpPr>
          <p:cNvPr id="13" name="chart frame"/>
          <p:cNvSpPr/>
          <p:nvPr/>
        </p:nvSpPr>
        <p:spPr>
          <a:xfrm>
            <a:off x="5880671" y="1554480"/>
            <a:ext cx="5762384" cy="3966013"/>
          </a:xfrm>
          <a:prstGeom prst="rect">
            <a:avLst/>
          </a:prstGeom>
          <a:ln w="9525">
            <a:solidFill>
              <a:srgbClr val="BFBFBF"/>
            </a:solidFill>
            <a:prstDash val="solid"/>
          </a:ln>
        </p:spPr>
      </p:sp>
      <p:sp>
        <p:nvSpPr>
          <p:cNvPr id="14" name="caption"/>
          <p:cNvSpPr txBox="1"/>
          <p:nvPr/>
        </p:nvSpPr>
        <p:spPr>
          <a:xfrm>
            <a:off x="5880671" y="5593645"/>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My calculation sheet (Google Sheets), “Wiring” tab. Calculated, not measured.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Cooling the Motor</a:t>
            </a:r>
            <a:endParaRPr lang="en-US" sz="3000" dirty="0"/>
          </a:p>
        </p:txBody>
      </p:sp>
      <p:sp>
        <p:nvSpPr>
          <p:cNvPr id="4" name="status chip"/>
          <p:cNvSpPr/>
          <p:nvPr/>
        </p:nvSpPr>
        <p:spPr>
          <a:xfrm>
            <a:off x="7610551" y="621792"/>
            <a:ext cx="4032504"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7610551" y="621792"/>
            <a:ext cx="4032504"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Fin built · temperature calculated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2249424"/>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Sealed PETG shell traps motor heat</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Limit:</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PETG creeps above 60 °C</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Decision:</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aluminium fin through the shell</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Next:</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90-min hold test at 1.5 A</a:t>
            </a:r>
            <a:endParaRPr lang="en-US" sz="2000" dirty="0"/>
          </a:p>
        </p:txBody>
      </p:sp>
      <p:sp>
        <p:nvSpPr>
          <p:cNvPr id="8" name="equation box"/>
          <p:cNvSpPr/>
          <p:nvPr/>
        </p:nvSpPr>
        <p:spPr>
          <a:xfrm>
            <a:off x="548640" y="3895344"/>
            <a:ext cx="4920551" cy="2368296"/>
          </a:xfrm>
          <a:prstGeom prst="rect">
            <a:avLst/>
          </a:prstGeom>
          <a:solidFill>
            <a:srgbClr val="F7F8FA"/>
          </a:solidFill>
          <a:ln w="15875">
            <a:solidFill>
              <a:srgbClr val="1F3A5F"/>
            </a:solidFill>
            <a:prstDash val="solid"/>
          </a:ln>
        </p:spPr>
      </p:sp>
      <p:sp>
        <p:nvSpPr>
          <p:cNvPr id="9" name="equation label"/>
          <p:cNvSpPr txBox="1"/>
          <p:nvPr/>
        </p:nvSpPr>
        <p:spPr>
          <a:xfrm>
            <a:off x="713232" y="3968496"/>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4206240"/>
            <a:ext cx="4591367"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P = I² 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coil</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(1.5 A)² × 1.8 Ω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4.05 W</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1/R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th</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shell</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fin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ΔT = P × 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th</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0.019 in fin: 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fin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23.1 K/W </a:t>
            </a:r>
            <a:pPr algn="l" indent="0" marL="0">
              <a:spcAft>
                <a:spcPts val="400"/>
              </a:spcAft>
              <a:buNone/>
            </a:pPr>
            <a:r>
              <a:rPr lang="en-US" sz="1550" dirty="0">
                <a:solidFill>
                  <a:srgbClr val="000000"/>
                </a:solidFill>
                <a:latin typeface="Arial" pitchFamily="34" charset="0"/>
                <a:ea typeface="Arial" pitchFamily="34" charset="-122"/>
                <a:cs typeface="Arial"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57.6 °C</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1/8 in fin: 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fin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11.9 K/W </a:t>
            </a:r>
            <a:pPr algn="l" indent="0" marL="0">
              <a:spcAft>
                <a:spcPts val="400"/>
              </a:spcAft>
              <a:buNone/>
            </a:pPr>
            <a:r>
              <a:rPr lang="en-US" sz="1550" dirty="0">
                <a:solidFill>
                  <a:srgbClr val="000000"/>
                </a:solidFill>
                <a:latin typeface="Arial" pitchFamily="34" charset="0"/>
                <a:ea typeface="Arial" pitchFamily="34" charset="-122"/>
                <a:cs typeface="Arial"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48.9 °C</a:t>
            </a:r>
            <a:endParaRPr lang="en-US" sz="1550" dirty="0"/>
          </a:p>
        </p:txBody>
      </p:sp>
      <p:sp>
        <p:nvSpPr>
          <p:cNvPr id="11" name="equation inputs"/>
          <p:cNvSpPr txBox="1"/>
          <p:nvPr/>
        </p:nvSpPr>
        <p:spPr>
          <a:xfrm>
            <a:off x="713232" y="5577840"/>
            <a:ext cx="4591367"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R</a:t>
            </a:r>
            <a:pPr indent="0" marL="0">
              <a:buNone/>
            </a:pPr>
            <a:r>
              <a:rPr lang="en-US" sz="1100" baseline="-40000" dirty="0">
                <a:solidFill>
                  <a:srgbClr val="404040"/>
                </a:solidFill>
                <a:latin typeface="Arial" pitchFamily="34" charset="0"/>
                <a:ea typeface="Arial" pitchFamily="34" charset="-122"/>
                <a:cs typeface="Arial" pitchFamily="34" charset="-120"/>
              </a:rPr>
              <a:t>coil</a:t>
            </a:r>
            <a:pPr indent="0" marL="0">
              <a:buNone/>
            </a:pPr>
            <a:r>
              <a:rPr lang="en-US" sz="1100" dirty="0">
                <a:solidFill>
                  <a:srgbClr val="404040"/>
                </a:solidFill>
                <a:latin typeface="Arial" pitchFamily="34" charset="0"/>
                <a:ea typeface="Arial" pitchFamily="34" charset="-122"/>
                <a:cs typeface="Arial" pitchFamily="34" charset="-120"/>
              </a:rPr>
              <a:t> = 1.8 Ω per phase (assumed)  ·  R</a:t>
            </a:r>
            <a:pPr indent="0" marL="0">
              <a:buNone/>
            </a:pPr>
            <a:r>
              <a:rPr lang="en-US" sz="1100" baseline="-40000" dirty="0">
                <a:solidFill>
                  <a:srgbClr val="404040"/>
                </a:solidFill>
                <a:latin typeface="Arial" pitchFamily="34" charset="0"/>
                <a:ea typeface="Arial" pitchFamily="34" charset="-122"/>
                <a:cs typeface="Arial" pitchFamily="34" charset="-120"/>
              </a:rPr>
              <a:t>shell</a:t>
            </a:r>
            <a:pPr indent="0" marL="0">
              <a:buNone/>
            </a:pPr>
            <a:r>
              <a:rPr lang="en-US" sz="1100" dirty="0">
                <a:solidFill>
                  <a:srgbClr val="404040"/>
                </a:solidFill>
                <a:latin typeface="Arial" pitchFamily="34" charset="0"/>
                <a:ea typeface="Arial" pitchFamily="34" charset="-122"/>
                <a:cs typeface="Arial" pitchFamily="34" charset="-120"/>
              </a:rPr>
              <a:t> = 12 + 1 K/W (motor → shell air → room)  ·  room 23 °C  ·  1.5 W of electronics in the shell  ·  limit 60 °C</a:t>
            </a:r>
            <a:endParaRPr lang="en-US" sz="1100" dirty="0"/>
          </a:p>
        </p:txBody>
      </p:sp>
      <p:pic>
        <p:nvPicPr>
          <p:cNvPr id="12" name="Chart from the calculation sheet: Motor " descr="Chart from the calculation sheet: Motor temperature">    </p:cNvPr>
          <p:cNvPicPr>
            <a:picLocks noChangeAspect="1"/>
          </p:cNvPicPr>
          <p:nvPr/>
        </p:nvPicPr>
        <p:blipFill>
          <a:blip r:embed="rId1"/>
          <a:stretch>
            <a:fillRect/>
          </a:stretch>
        </p:blipFill>
        <p:spPr>
          <a:xfrm>
            <a:off x="5880671" y="1554480"/>
            <a:ext cx="5762384" cy="3959968"/>
          </a:xfrm>
          <a:prstGeom prst="rect">
            <a:avLst/>
          </a:prstGeom>
        </p:spPr>
      </p:pic>
      <p:sp>
        <p:nvSpPr>
          <p:cNvPr id="13" name="chart frame"/>
          <p:cNvSpPr/>
          <p:nvPr/>
        </p:nvSpPr>
        <p:spPr>
          <a:xfrm>
            <a:off x="5880671" y="1554480"/>
            <a:ext cx="5762384" cy="3959968"/>
          </a:xfrm>
          <a:prstGeom prst="rect">
            <a:avLst/>
          </a:prstGeom>
          <a:ln w="9525">
            <a:solidFill>
              <a:srgbClr val="BFBFBF"/>
            </a:solidFill>
            <a:prstDash val="solid"/>
          </a:ln>
        </p:spPr>
      </p:sp>
      <p:sp>
        <p:nvSpPr>
          <p:cNvPr id="14" name="caption"/>
          <p:cNvSpPr txBox="1"/>
          <p:nvPr/>
        </p:nvSpPr>
        <p:spPr>
          <a:xfrm>
            <a:off x="5880671" y="5587600"/>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My calculation sheet (Google Sheets), “Motor temperature” tab. Calculated, not measured.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Heat Fin Sizing</a:t>
            </a:r>
            <a:endParaRPr lang="en-US" sz="3000" dirty="0"/>
          </a:p>
        </p:txBody>
      </p:sp>
      <p:sp>
        <p:nvSpPr>
          <p:cNvPr id="4" name="status chip"/>
          <p:cNvSpPr/>
          <p:nvPr/>
        </p:nvSpPr>
        <p:spPr>
          <a:xfrm>
            <a:off x="10134295" y="621792"/>
            <a:ext cx="150876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10134295" y="621792"/>
            <a:ext cx="150876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Calculated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1591056"/>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Prototype 0.019 in:</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done by 136 mm</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Design 1/8 in:</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74 % efficient at 200 mm</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Built length:</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200 mm</a:t>
            </a:r>
            <a:endParaRPr lang="en-US" sz="2000" dirty="0"/>
          </a:p>
        </p:txBody>
      </p:sp>
      <p:sp>
        <p:nvSpPr>
          <p:cNvPr id="8" name="equation box"/>
          <p:cNvSpPr/>
          <p:nvPr/>
        </p:nvSpPr>
        <p:spPr>
          <a:xfrm>
            <a:off x="548640" y="3236976"/>
            <a:ext cx="4920551" cy="3026664"/>
          </a:xfrm>
          <a:prstGeom prst="rect">
            <a:avLst/>
          </a:prstGeom>
          <a:solidFill>
            <a:srgbClr val="F7F8FA"/>
          </a:solidFill>
          <a:ln w="15875">
            <a:solidFill>
              <a:srgbClr val="1F3A5F"/>
            </a:solidFill>
            <a:prstDash val="solid"/>
          </a:ln>
        </p:spPr>
      </p:sp>
      <p:sp>
        <p:nvSpPr>
          <p:cNvPr id="9" name="equation label"/>
          <p:cNvSpPr txBox="1"/>
          <p:nvPr/>
        </p:nvSpPr>
        <p:spPr>
          <a:xfrm>
            <a:off x="713232" y="3310128"/>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3547872"/>
            <a:ext cx="4591367" cy="1993392"/>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m = √(2h / (k t)),   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95</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1.83 / 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0.019 in: m = √(2 × 7 / (160 × 0.00048)) = 13.5 /m</a:t>
            </a:r>
            <a:endParaRPr lang="en-US" sz="1550" dirty="0"/>
          </a:p>
          <a:p>
            <a:pPr algn="l" indent="0" marL="0">
              <a:spcAft>
                <a:spcPts val="400"/>
              </a:spcAft>
              <a:buNone/>
            </a:pPr>
            <a:r>
              <a:rPr lang="en-US" sz="1550" dirty="0">
                <a:solidFill>
                  <a:srgbClr val="000000"/>
                </a:solidFill>
                <a:latin typeface="Arial" pitchFamily="34" charset="0"/>
                <a:ea typeface="Arial" pitchFamily="34" charset="-122"/>
                <a:cs typeface="Arial"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95</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1.83 / 13.5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136 mm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1/8 in: m = 5.25 /m </a:t>
            </a:r>
            <a:pPr algn="l" indent="0" marL="0">
              <a:spcAft>
                <a:spcPts val="400"/>
              </a:spcAft>
              <a:buNone/>
            </a:pPr>
            <a:r>
              <a:rPr lang="en-US" sz="1550" dirty="0">
                <a:solidFill>
                  <a:srgbClr val="000000"/>
                </a:solidFill>
                <a:latin typeface="Arial" pitchFamily="34" charset="0"/>
                <a:ea typeface="Arial" pitchFamily="34" charset="-122"/>
                <a:cs typeface="Arial"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95</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349 mm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η = tanh(mL) / (mL) = tanh(1.05) / 1.05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0.74</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R</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fin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1 / (7 × 0.74 × 0.0176)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10.9 K/W</a:t>
            </a:r>
            <a:endParaRPr lang="en-US" sz="1550" dirty="0"/>
          </a:p>
        </p:txBody>
      </p:sp>
      <p:sp>
        <p:nvSpPr>
          <p:cNvPr id="11" name="equation inputs"/>
          <p:cNvSpPr txBox="1"/>
          <p:nvPr/>
        </p:nvSpPr>
        <p:spPr>
          <a:xfrm>
            <a:off x="713232" y="5577840"/>
            <a:ext cx="4591367"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R</a:t>
            </a:r>
            <a:pPr indent="0" marL="0">
              <a:buNone/>
            </a:pPr>
            <a:r>
              <a:rPr lang="en-US" sz="1100" baseline="-40000" dirty="0">
                <a:solidFill>
                  <a:srgbClr val="404040"/>
                </a:solidFill>
                <a:latin typeface="Arial" pitchFamily="34" charset="0"/>
                <a:ea typeface="Arial" pitchFamily="34" charset="-122"/>
                <a:cs typeface="Arial" pitchFamily="34" charset="-120"/>
              </a:rPr>
              <a:t>fin</a:t>
            </a:r>
            <a:pPr indent="0" marL="0">
              <a:buNone/>
            </a:pPr>
            <a:r>
              <a:rPr lang="en-US" sz="1100" dirty="0">
                <a:solidFill>
                  <a:srgbClr val="404040"/>
                </a:solidFill>
                <a:latin typeface="Arial" pitchFamily="34" charset="0"/>
                <a:ea typeface="Arial" pitchFamily="34" charset="-122"/>
                <a:cs typeface="Arial" pitchFamily="34" charset="-120"/>
              </a:rPr>
              <a:t> = 1 / (h η A)  ·  h = 7 W/m²·K still air  ·  k = 160 W/m·K aluminium  ·  t = thickness  ·  L = 200 mm  ·  A = 2 × 44 mm × 200 mm = 0.0176 m²  ·  L</a:t>
            </a:r>
            <a:pPr indent="0" marL="0">
              <a:buNone/>
            </a:pPr>
            <a:r>
              <a:rPr lang="en-US" sz="1100" baseline="-40000" dirty="0">
                <a:solidFill>
                  <a:srgbClr val="404040"/>
                </a:solidFill>
                <a:latin typeface="Arial" pitchFamily="34" charset="0"/>
                <a:ea typeface="Arial" pitchFamily="34" charset="-122"/>
                <a:cs typeface="Arial" pitchFamily="34" charset="-120"/>
              </a:rPr>
              <a:t>95</a:t>
            </a:r>
            <a:pPr indent="0" marL="0">
              <a:buNone/>
            </a:pPr>
            <a:r>
              <a:rPr lang="en-US" sz="1100" dirty="0">
                <a:solidFill>
                  <a:srgbClr val="404040"/>
                </a:solidFill>
                <a:latin typeface="Arial" pitchFamily="34" charset="0"/>
                <a:ea typeface="Arial" pitchFamily="34" charset="-122"/>
                <a:cs typeface="Arial" pitchFamily="34" charset="-120"/>
              </a:rPr>
              <a:t> = 95 % of a long fin's heat</a:t>
            </a:r>
            <a:endParaRPr lang="en-US" sz="1100" dirty="0"/>
          </a:p>
        </p:txBody>
      </p:sp>
      <p:pic>
        <p:nvPicPr>
          <p:cNvPr id="12" name="Chart from the calculation sheet: Heat f" descr="Chart from the calculation sheet: Heat fin">    </p:cNvPr>
          <p:cNvPicPr>
            <a:picLocks noChangeAspect="1"/>
          </p:cNvPicPr>
          <p:nvPr/>
        </p:nvPicPr>
        <p:blipFill>
          <a:blip r:embed="rId1"/>
          <a:stretch>
            <a:fillRect/>
          </a:stretch>
        </p:blipFill>
        <p:spPr>
          <a:xfrm>
            <a:off x="5880671" y="1554480"/>
            <a:ext cx="5762384" cy="3959875"/>
          </a:xfrm>
          <a:prstGeom prst="rect">
            <a:avLst/>
          </a:prstGeom>
        </p:spPr>
      </p:pic>
      <p:sp>
        <p:nvSpPr>
          <p:cNvPr id="13" name="chart frame"/>
          <p:cNvSpPr/>
          <p:nvPr/>
        </p:nvSpPr>
        <p:spPr>
          <a:xfrm>
            <a:off x="5880671" y="1554480"/>
            <a:ext cx="5762384" cy="3959875"/>
          </a:xfrm>
          <a:prstGeom prst="rect">
            <a:avLst/>
          </a:prstGeom>
          <a:ln w="9525">
            <a:solidFill>
              <a:srgbClr val="BFBFBF"/>
            </a:solidFill>
            <a:prstDash val="solid"/>
          </a:ln>
        </p:spPr>
      </p:sp>
      <p:sp>
        <p:nvSpPr>
          <p:cNvPr id="14" name="caption"/>
          <p:cNvSpPr txBox="1"/>
          <p:nvPr/>
        </p:nvSpPr>
        <p:spPr>
          <a:xfrm>
            <a:off x="5880671" y="5587507"/>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My calculation sheet (Google Sheets), “Heat fin” tab. Calculated, not measured.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Homing</a:t>
            </a:r>
            <a:endParaRPr lang="en-US" sz="3000" dirty="0"/>
          </a:p>
        </p:txBody>
      </p:sp>
      <p:sp>
        <p:nvSpPr>
          <p:cNvPr id="4" name="status chip"/>
          <p:cNvSpPr/>
          <p:nvPr/>
        </p:nvSpPr>
        <p:spPr>
          <a:xfrm>
            <a:off x="8872423" y="621792"/>
            <a:ext cx="2770632"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8872423" y="621792"/>
            <a:ext cx="2770632"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Calculated · simulated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2578608"/>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Plan A:</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bead trips a switch at the outlet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Cables can't get shorter than at home</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Decision:</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camera + floor board calibration</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Result:</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whole room · beads = end stops</a:t>
            </a:r>
            <a:endParaRPr lang="en-US" sz="2000" dirty="0"/>
          </a:p>
        </p:txBody>
      </p:sp>
      <p:sp>
        <p:nvSpPr>
          <p:cNvPr id="8" name="equation box"/>
          <p:cNvSpPr/>
          <p:nvPr/>
        </p:nvSpPr>
        <p:spPr>
          <a:xfrm>
            <a:off x="548640" y="4224528"/>
            <a:ext cx="4920551" cy="2039112"/>
          </a:xfrm>
          <a:prstGeom prst="rect">
            <a:avLst/>
          </a:prstGeom>
          <a:solidFill>
            <a:srgbClr val="F7F8FA"/>
          </a:solidFill>
          <a:ln w="15875">
            <a:solidFill>
              <a:srgbClr val="1F3A5F"/>
            </a:solidFill>
            <a:prstDash val="solid"/>
          </a:ln>
        </p:spPr>
      </p:sp>
      <p:sp>
        <p:nvSpPr>
          <p:cNvPr id="9" name="equation label"/>
          <p:cNvSpPr txBox="1"/>
          <p:nvPr/>
        </p:nvSpPr>
        <p:spPr>
          <a:xfrm>
            <a:off x="713232" y="4297680"/>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4535424"/>
            <a:ext cx="4591367" cy="1005840"/>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p</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i,home</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a</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p</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home</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Home 1 m up (room centre) </a:t>
            </a:r>
            <a:pPr algn="l" indent="0" marL="0">
              <a:spcAft>
                <a:spcPts val="400"/>
              </a:spcAft>
              <a:buNone/>
            </a:pPr>
            <a:r>
              <a:rPr lang="en-US" sz="1550" dirty="0">
                <a:solidFill>
                  <a:srgbClr val="000000"/>
                </a:solidFill>
                <a:latin typeface="Arial" pitchFamily="34" charset="0"/>
                <a:ea typeface="Arial" pitchFamily="34" charset="-122"/>
                <a:cs typeface="Arial"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5 %</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reachable</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Home 2 m up </a:t>
            </a:r>
            <a:pPr algn="l" indent="0" marL="0">
              <a:spcAft>
                <a:spcPts val="400"/>
              </a:spcAft>
              <a:buNone/>
            </a:pPr>
            <a:r>
              <a:rPr lang="en-US" sz="1550" dirty="0">
                <a:solidFill>
                  <a:srgbClr val="000000"/>
                </a:solidFill>
                <a:latin typeface="Arial" pitchFamily="34" charset="0"/>
                <a:ea typeface="Arial" pitchFamily="34" charset="-122"/>
                <a:cs typeface="Arial"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29 %</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reachable</a:t>
            </a:r>
            <a:endParaRPr lang="en-US" sz="1550" dirty="0"/>
          </a:p>
        </p:txBody>
      </p:sp>
      <p:sp>
        <p:nvSpPr>
          <p:cNvPr id="11" name="equation inputs"/>
          <p:cNvSpPr txBox="1"/>
          <p:nvPr/>
        </p:nvSpPr>
        <p:spPr>
          <a:xfrm>
            <a:off x="713232" y="5577840"/>
            <a:ext cx="4591367"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a</a:t>
            </a:r>
            <a:pPr indent="0" marL="0">
              <a:buNone/>
            </a:pPr>
            <a:r>
              <a:rPr lang="en-US" sz="1100" baseline="-40000" dirty="0">
                <a:solidFill>
                  <a:srgbClr val="404040"/>
                </a:solidFill>
                <a:latin typeface="Arial" pitchFamily="34" charset="0"/>
                <a:ea typeface="Arial" pitchFamily="34" charset="-122"/>
                <a:cs typeface="Arial" pitchFamily="34" charset="-120"/>
              </a:rPr>
              <a:t>i</a:t>
            </a:r>
            <a:pPr indent="0" marL="0">
              <a:buNone/>
            </a:pPr>
            <a:r>
              <a:rPr lang="en-US" sz="1100" dirty="0">
                <a:solidFill>
                  <a:srgbClr val="404040"/>
                </a:solidFill>
                <a:latin typeface="Arial" pitchFamily="34" charset="0"/>
                <a:ea typeface="Arial" pitchFamily="34" charset="-122"/>
                <a:cs typeface="Arial" pitchFamily="34" charset="-120"/>
              </a:rPr>
              <a:t> = anchor i  ·  p = claw position  ·  reachable = every cable at or above its home length, inside 0.2 m wall and 0.4 m ceiling margins</a:t>
            </a:r>
            <a:endParaRPr lang="en-US" sz="1100" dirty="0"/>
          </a:p>
        </p:txBody>
      </p:sp>
      <p:pic>
        <p:nvPicPr>
          <p:cNvPr id="12" name="Chart from the calculation sheet: Bead h" descr="Chart from the calculation sheet: Bead homing">    </p:cNvPr>
          <p:cNvPicPr>
            <a:picLocks noChangeAspect="1"/>
          </p:cNvPicPr>
          <p:nvPr/>
        </p:nvPicPr>
        <p:blipFill>
          <a:blip r:embed="rId1"/>
          <a:stretch>
            <a:fillRect/>
          </a:stretch>
        </p:blipFill>
        <p:spPr>
          <a:xfrm>
            <a:off x="5880671" y="1554480"/>
            <a:ext cx="5762384" cy="3967454"/>
          </a:xfrm>
          <a:prstGeom prst="rect">
            <a:avLst/>
          </a:prstGeom>
        </p:spPr>
      </p:pic>
      <p:sp>
        <p:nvSpPr>
          <p:cNvPr id="13" name="chart frame"/>
          <p:cNvSpPr/>
          <p:nvPr/>
        </p:nvSpPr>
        <p:spPr>
          <a:xfrm>
            <a:off x="5880671" y="1554480"/>
            <a:ext cx="5762384" cy="3967454"/>
          </a:xfrm>
          <a:prstGeom prst="rect">
            <a:avLst/>
          </a:prstGeom>
          <a:ln w="9525">
            <a:solidFill>
              <a:srgbClr val="BFBFBF"/>
            </a:solidFill>
            <a:prstDash val="solid"/>
          </a:ln>
        </p:spPr>
      </p:sp>
      <p:sp>
        <p:nvSpPr>
          <p:cNvPr id="14" name="caption"/>
          <p:cNvSpPr txBox="1"/>
          <p:nvPr/>
        </p:nvSpPr>
        <p:spPr>
          <a:xfrm>
            <a:off x="5880671" y="5595086"/>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My calculation sheet (Google Sheets), “Bead homing” tab. Calculated, not measured.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The Claw</a:t>
            </a:r>
            <a:endParaRPr lang="en-US" sz="3000" dirty="0"/>
          </a:p>
        </p:txBody>
      </p:sp>
      <p:sp>
        <p:nvSpPr>
          <p:cNvPr id="4" name="status chip"/>
          <p:cNvSpPr/>
          <p:nvPr/>
        </p:nvSpPr>
        <p:spPr>
          <a:xfrm>
            <a:off x="8556955" y="621792"/>
            <a:ext cx="308610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8556955" y="621792"/>
            <a:ext cx="308610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Body built · hands in CAD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2249424"/>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Gen 1:</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5 TPU (thermoplastic polyurethane) fingers</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Couldn't pinch fabric · 4.6× over mass</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Final:</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geared four-bar, 53 mm opening</a:t>
            </a:r>
            <a:endParaRPr lang="en-US" sz="2000" dirty="0"/>
          </a:p>
        </p:txBody>
      </p:sp>
      <p:sp>
        <p:nvSpPr>
          <p:cNvPr id="8" name="equation box"/>
          <p:cNvSpPr/>
          <p:nvPr/>
        </p:nvSpPr>
        <p:spPr>
          <a:xfrm>
            <a:off x="548640" y="3895344"/>
            <a:ext cx="4920551" cy="2368296"/>
          </a:xfrm>
          <a:prstGeom prst="rect">
            <a:avLst/>
          </a:prstGeom>
          <a:solidFill>
            <a:srgbClr val="F7F8FA"/>
          </a:solidFill>
          <a:ln w="15875">
            <a:solidFill>
              <a:srgbClr val="1F3A5F"/>
            </a:solidFill>
            <a:prstDash val="solid"/>
          </a:ln>
        </p:spPr>
      </p:sp>
      <p:sp>
        <p:nvSpPr>
          <p:cNvPr id="9" name="equation label"/>
          <p:cNvSpPr txBox="1"/>
          <p:nvPr/>
        </p:nvSpPr>
        <p:spPr>
          <a:xfrm>
            <a:off x="713232" y="3968496"/>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4206240"/>
            <a:ext cx="4591367"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N ≥ m g / 2μ = 0.454 × 9.81 / 0.6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7.4 N</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2τ / d = 2 × 1.078 / 0.027 = 79.9 N</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σ = 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(b m Y) = 79.9 / (15.7 × 1.5 × 0.309)</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σ = 11.0 MPa </a:t>
            </a:r>
            <a:pPr algn="l" indent="0" marL="0">
              <a:spcAft>
                <a:spcPts val="400"/>
              </a:spcAft>
              <a:buNone/>
            </a:pPr>
            <a:r>
              <a:rPr lang="en-US" sz="1550" dirty="0">
                <a:solidFill>
                  <a:srgbClr val="000000"/>
                </a:solidFill>
                <a:latin typeface="Arial" pitchFamily="34" charset="0"/>
                <a:ea typeface="Arial" pitchFamily="34" charset="-122"/>
                <a:cs typeface="Arial"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SF = 22.5 / 11.0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2.05</a:t>
            </a:r>
            <a:endParaRPr lang="en-US" sz="1550" dirty="0"/>
          </a:p>
        </p:txBody>
      </p:sp>
      <p:sp>
        <p:nvSpPr>
          <p:cNvPr id="11" name="equation inputs"/>
          <p:cNvSpPr txBox="1"/>
          <p:nvPr/>
        </p:nvSpPr>
        <p:spPr>
          <a:xfrm>
            <a:off x="713232" y="5577840"/>
            <a:ext cx="4591367"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N = grip per jaw  ·  μ = 0.3  ·  τ = 1.078 N·m stall  ·  d = 27 mm  ·  b = 15.7 mm  ·  m = 1.5 mm  ·  Y = 0.309  ·  allowable 22.5 MPa  ·  module 1: SF 0.4</a:t>
            </a:r>
            <a:endParaRPr lang="en-US" sz="1100" dirty="0"/>
          </a:p>
        </p:txBody>
      </p:sp>
      <p:sp>
        <p:nvSpPr>
          <p:cNvPr id="12" name="Shape 10"/>
          <p:cNvSpPr/>
          <p:nvPr/>
        </p:nvSpPr>
        <p:spPr>
          <a:xfrm>
            <a:off x="5880671" y="1463040"/>
            <a:ext cx="2826328" cy="2162556"/>
          </a:xfrm>
          <a:prstGeom prst="rect">
            <a:avLst/>
          </a:prstGeom>
          <a:solidFill>
            <a:srgbClr val="F2F2F2"/>
          </a:solidFill>
          <a:ln w="12700">
            <a:solidFill>
              <a:srgbClr val="F2F2F2"/>
            </a:solidFill>
            <a:prstDash val="solid"/>
          </a:ln>
        </p:spPr>
      </p:sp>
      <p:pic>
        <p:nvPicPr>
          <p:cNvPr id="13" name="Claw generations and the printed gear tr" descr="Claw generations and the printed gear train">    </p:cNvPr>
          <p:cNvPicPr>
            <a:picLocks noChangeAspect="1"/>
          </p:cNvPicPr>
          <p:nvPr/>
        </p:nvPicPr>
        <p:blipFill>
          <a:blip r:embed="rId1"/>
          <a:stretch>
            <a:fillRect/>
          </a:stretch>
        </p:blipFill>
        <p:spPr>
          <a:xfrm>
            <a:off x="6583877" y="1517904"/>
            <a:ext cx="1419915" cy="2052828"/>
          </a:xfrm>
          <a:prstGeom prst="rect">
            <a:avLst/>
          </a:prstGeom>
        </p:spPr>
      </p:pic>
      <p:sp>
        <p:nvSpPr>
          <p:cNvPr id="14" name="Shape 11"/>
          <p:cNvSpPr/>
          <p:nvPr/>
        </p:nvSpPr>
        <p:spPr>
          <a:xfrm>
            <a:off x="8816727" y="1463040"/>
            <a:ext cx="2826328" cy="2162556"/>
          </a:xfrm>
          <a:prstGeom prst="rect">
            <a:avLst/>
          </a:prstGeom>
          <a:solidFill>
            <a:srgbClr val="F2F2F2"/>
          </a:solidFill>
          <a:ln w="12700">
            <a:solidFill>
              <a:srgbClr val="F2F2F2"/>
            </a:solidFill>
            <a:prstDash val="solid"/>
          </a:ln>
        </p:spPr>
      </p:sp>
      <p:pic>
        <p:nvPicPr>
          <p:cNvPr id="15" name="Claw generations and the printed gear tr" descr="Claw generations and the printed gear train">    </p:cNvPr>
          <p:cNvPicPr>
            <a:picLocks noChangeAspect="1"/>
          </p:cNvPicPr>
          <p:nvPr/>
        </p:nvPicPr>
        <p:blipFill>
          <a:blip r:embed="rId2"/>
          <a:stretch>
            <a:fillRect/>
          </a:stretch>
        </p:blipFill>
        <p:spPr>
          <a:xfrm>
            <a:off x="9912872" y="1517904"/>
            <a:ext cx="634038" cy="2052828"/>
          </a:xfrm>
          <a:prstGeom prst="rect">
            <a:avLst/>
          </a:prstGeom>
        </p:spPr>
      </p:pic>
      <p:sp>
        <p:nvSpPr>
          <p:cNvPr id="16" name="Shape 12"/>
          <p:cNvSpPr/>
          <p:nvPr/>
        </p:nvSpPr>
        <p:spPr>
          <a:xfrm>
            <a:off x="5880671" y="3735324"/>
            <a:ext cx="2826328" cy="2162556"/>
          </a:xfrm>
          <a:prstGeom prst="rect">
            <a:avLst/>
          </a:prstGeom>
          <a:solidFill>
            <a:srgbClr val="F2F2F2"/>
          </a:solidFill>
          <a:ln w="12700">
            <a:solidFill>
              <a:srgbClr val="F2F2F2"/>
            </a:solidFill>
            <a:prstDash val="solid"/>
          </a:ln>
        </p:spPr>
      </p:sp>
      <p:pic>
        <p:nvPicPr>
          <p:cNvPr id="17" name="Claw generations and the printed gear tr" descr="Claw generations and the printed gear train">    </p:cNvPr>
          <p:cNvPicPr>
            <a:picLocks noChangeAspect="1"/>
          </p:cNvPicPr>
          <p:nvPr/>
        </p:nvPicPr>
        <p:blipFill>
          <a:blip r:embed="rId3"/>
          <a:stretch>
            <a:fillRect/>
          </a:stretch>
        </p:blipFill>
        <p:spPr>
          <a:xfrm>
            <a:off x="6697053" y="3790188"/>
            <a:ext cx="1193564" cy="2052828"/>
          </a:xfrm>
          <a:prstGeom prst="rect">
            <a:avLst/>
          </a:prstGeom>
        </p:spPr>
      </p:pic>
      <p:sp>
        <p:nvSpPr>
          <p:cNvPr id="18" name="Shape 13"/>
          <p:cNvSpPr/>
          <p:nvPr/>
        </p:nvSpPr>
        <p:spPr>
          <a:xfrm>
            <a:off x="8816727" y="3735324"/>
            <a:ext cx="2826328" cy="2162556"/>
          </a:xfrm>
          <a:prstGeom prst="rect">
            <a:avLst/>
          </a:prstGeom>
          <a:solidFill>
            <a:srgbClr val="F2F2F2"/>
          </a:solidFill>
          <a:ln w="12700">
            <a:solidFill>
              <a:srgbClr val="F2F2F2"/>
            </a:solidFill>
            <a:prstDash val="solid"/>
          </a:ln>
        </p:spPr>
      </p:sp>
      <p:pic>
        <p:nvPicPr>
          <p:cNvPr id="19" name="Claw generations and the printed gear tr" descr="Claw generations and the printed gear train">    </p:cNvPr>
          <p:cNvPicPr>
            <a:picLocks noChangeAspect="1"/>
          </p:cNvPicPr>
          <p:nvPr/>
        </p:nvPicPr>
        <p:blipFill>
          <a:blip r:embed="rId4"/>
          <a:stretch>
            <a:fillRect/>
          </a:stretch>
        </p:blipFill>
        <p:spPr>
          <a:xfrm>
            <a:off x="9460081" y="3790188"/>
            <a:ext cx="1539621" cy="2052828"/>
          </a:xfrm>
          <a:prstGeom prst="rect">
            <a:avLst/>
          </a:prstGeom>
        </p:spPr>
      </p:pic>
      <p:sp>
        <p:nvSpPr>
          <p:cNvPr id="20" name="caption"/>
          <p:cNvSpPr txBox="1"/>
          <p:nvPr/>
        </p:nvSpPr>
        <p:spPr>
          <a:xfrm>
            <a:off x="5880671" y="5971032"/>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Fingers → v6 clamp → final geared four-bar (CAD) → printed gear train with the servo</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Weight: the Open Problem</a:t>
            </a:r>
            <a:endParaRPr lang="en-US" sz="3000" dirty="0"/>
          </a:p>
        </p:txBody>
      </p:sp>
      <p:sp>
        <p:nvSpPr>
          <p:cNvPr id="4" name="status chip"/>
          <p:cNvSpPr/>
          <p:nvPr/>
        </p:nvSpPr>
        <p:spPr>
          <a:xfrm>
            <a:off x="9923983" y="621792"/>
            <a:ext cx="1719072" cy="365760"/>
          </a:xfrm>
          <a:prstGeom prst="roundRect">
            <a:avLst>
              <a:gd name="adj" fmla="val 50000"/>
            </a:avLst>
          </a:prstGeom>
          <a:solidFill>
            <a:srgbClr val="FFFFFF"/>
          </a:solidFill>
          <a:ln w="15875">
            <a:solidFill>
              <a:srgbClr val="B23A2E"/>
            </a:solidFill>
            <a:prstDash val="solid"/>
          </a:ln>
        </p:spPr>
      </p:sp>
      <p:sp>
        <p:nvSpPr>
          <p:cNvPr id="5" name="status"/>
          <p:cNvSpPr txBox="1"/>
          <p:nvPr/>
        </p:nvSpPr>
        <p:spPr>
          <a:xfrm>
            <a:off x="9923983" y="621792"/>
            <a:ext cx="1719072" cy="365760"/>
          </a:xfrm>
          <a:prstGeom prst="rect">
            <a:avLst/>
          </a:prstGeom>
          <a:noFill/>
          <a:ln/>
        </p:spPr>
        <p:txBody>
          <a:bodyPr wrap="square" lIns="0" tIns="0" rIns="0" bIns="0" rtlCol="0" anchor="ctr"/>
          <a:lstStyle/>
          <a:p>
            <a:pPr algn="ctr" indent="0" marL="0">
              <a:buNone/>
            </a:pPr>
            <a:r>
              <a:rPr lang="en-US" sz="1200" b="1" dirty="0">
                <a:solidFill>
                  <a:srgbClr val="B23A2E"/>
                </a:solidFill>
                <a:latin typeface="Arial" pitchFamily="34" charset="0"/>
                <a:ea typeface="Arial" pitchFamily="34" charset="-122"/>
                <a:cs typeface="Arial" pitchFamily="34" charset="-120"/>
              </a:rPr>
              <a:t>Open problem</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20574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Capacity at 1.5 A:</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1.56 kg</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Claw:</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 0.86 kg · </a:t>
            </a:r>
            <a:pPr algn="l" marL="254000" indent="-254000">
              <a:spcAft>
                <a:spcPts val="1400"/>
              </a:spcAft>
              <a:buSzPct val="100000"/>
              <a:buChar char="•"/>
            </a:pPr>
            <a:r>
              <a:rPr lang="en-US" sz="2000" i="1" dirty="0">
                <a:solidFill>
                  <a:srgbClr val="B23A2E"/>
                </a:solidFill>
                <a:latin typeface="Arial" pitchFamily="34" charset="0"/>
                <a:ea typeface="Arial" pitchFamily="34" charset="-122"/>
                <a:cs typeface="Arial" pitchFamily="34" charset="-120"/>
              </a:rPr>
              <a:t>[weighed: ___ g]</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1 lb test fits · jeans 0.2 kg over</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Fix:</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lighter claw or 3:1 winch</a:t>
            </a:r>
            <a:endParaRPr lang="en-US" sz="2000" dirty="0"/>
          </a:p>
        </p:txBody>
      </p:sp>
      <p:sp>
        <p:nvSpPr>
          <p:cNvPr id="8" name="equation box"/>
          <p:cNvSpPr/>
          <p:nvPr/>
        </p:nvSpPr>
        <p:spPr>
          <a:xfrm>
            <a:off x="548640" y="3703320"/>
            <a:ext cx="4920551" cy="2560320"/>
          </a:xfrm>
          <a:prstGeom prst="rect">
            <a:avLst/>
          </a:prstGeom>
          <a:solidFill>
            <a:srgbClr val="F7F8FA"/>
          </a:solidFill>
          <a:ln w="15875">
            <a:solidFill>
              <a:srgbClr val="1F3A5F"/>
            </a:solidFill>
            <a:prstDash val="solid"/>
          </a:ln>
        </p:spPr>
      </p:sp>
      <p:sp>
        <p:nvSpPr>
          <p:cNvPr id="9" name="equation label"/>
          <p:cNvSpPr txBox="1"/>
          <p:nvPr/>
        </p:nvSpPr>
        <p:spPr>
          <a:xfrm>
            <a:off x="713232" y="3776472"/>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4014216"/>
            <a:ext cx="4591367" cy="1335024"/>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m</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max</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design</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(k g)</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16.8 N / (1.101 × 9.81 m/s²)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1.56 kg</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m</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claw</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0.55 × 0.927 + 0.198 + 0.055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0.76 kg</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Need: 0.76 + 0.10 + 0.90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1.76 kg</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&gt; 1.56 kg</a:t>
            </a:r>
            <a:endParaRPr lang="en-US" sz="1550" dirty="0"/>
          </a:p>
        </p:txBody>
      </p:sp>
      <p:sp>
        <p:nvSpPr>
          <p:cNvPr id="11" name="equation inputs"/>
          <p:cNvSpPr txBox="1"/>
          <p:nvPr/>
        </p:nvSpPr>
        <p:spPr>
          <a:xfrm>
            <a:off x="713232" y="5385816"/>
            <a:ext cx="4591367" cy="804672"/>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k = worst cable tension per unit weight (+2 m/s²), linear program over the room  ·  0.55 = print fill  ·  0.927 kg solid PETG (CAD)  ·  tube 0.198  ·  servo 0.055  ·  battery 0.10  ·  jeans 0.90 kg</a:t>
            </a:r>
            <a:endParaRPr lang="en-US" sz="1100" dirty="0"/>
          </a:p>
        </p:txBody>
      </p:sp>
      <p:pic>
        <p:nvPicPr>
          <p:cNvPr id="12" name="Chart from the calculation sheet: Lift b" descr="Chart from the calculation sheet: Lift budget">    </p:cNvPr>
          <p:cNvPicPr>
            <a:picLocks noChangeAspect="1"/>
          </p:cNvPicPr>
          <p:nvPr/>
        </p:nvPicPr>
        <p:blipFill>
          <a:blip r:embed="rId1"/>
          <a:stretch>
            <a:fillRect/>
          </a:stretch>
        </p:blipFill>
        <p:spPr>
          <a:xfrm>
            <a:off x="5880671" y="1554480"/>
            <a:ext cx="5762384" cy="3966013"/>
          </a:xfrm>
          <a:prstGeom prst="rect">
            <a:avLst/>
          </a:prstGeom>
        </p:spPr>
      </p:pic>
      <p:sp>
        <p:nvSpPr>
          <p:cNvPr id="13" name="chart frame"/>
          <p:cNvSpPr/>
          <p:nvPr/>
        </p:nvSpPr>
        <p:spPr>
          <a:xfrm>
            <a:off x="5880671" y="1554480"/>
            <a:ext cx="5762384" cy="3966013"/>
          </a:xfrm>
          <a:prstGeom prst="rect">
            <a:avLst/>
          </a:prstGeom>
          <a:ln w="9525">
            <a:solidFill>
              <a:srgbClr val="BFBFBF"/>
            </a:solidFill>
            <a:prstDash val="solid"/>
          </a:ln>
        </p:spPr>
      </p:sp>
      <p:sp>
        <p:nvSpPr>
          <p:cNvPr id="14" name="caption"/>
          <p:cNvSpPr txBox="1"/>
          <p:nvPr/>
        </p:nvSpPr>
        <p:spPr>
          <a:xfrm>
            <a:off x="5880671" y="5593645"/>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My calculation sheet (Google Sheets), “Lift budget” tab. Calculated, not measured.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Printed Fits</a:t>
            </a:r>
            <a:endParaRPr lang="en-US" sz="3000" dirty="0"/>
          </a:p>
        </p:txBody>
      </p:sp>
      <p:sp>
        <p:nvSpPr>
          <p:cNvPr id="4" name="status chip"/>
          <p:cNvSpPr/>
          <p:nvPr/>
        </p:nvSpPr>
        <p:spPr>
          <a:xfrm>
            <a:off x="10180015" y="621792"/>
            <a:ext cx="1463040" cy="365760"/>
          </a:xfrm>
          <a:prstGeom prst="roundRect">
            <a:avLst>
              <a:gd name="adj" fmla="val 50000"/>
            </a:avLst>
          </a:prstGeom>
          <a:solidFill>
            <a:srgbClr val="1F3A5F"/>
          </a:solidFill>
          <a:ln w="15875">
            <a:solidFill>
              <a:srgbClr val="1F3A5F"/>
            </a:solidFill>
            <a:prstDash val="solid"/>
          </a:ln>
        </p:spPr>
      </p:sp>
      <p:sp>
        <p:nvSpPr>
          <p:cNvPr id="5" name="status"/>
          <p:cNvSpPr txBox="1"/>
          <p:nvPr/>
        </p:nvSpPr>
        <p:spPr>
          <a:xfrm>
            <a:off x="10180015" y="621792"/>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Built</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698663" cy="2578608"/>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PETG · Creality K1 · 0.2 mm layers</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Printed holes come out small</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Spool:</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3 prints to fit the shaft</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Lesson:</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fit coupon first</a:t>
            </a:r>
            <a:endParaRPr lang="en-US" sz="2000" dirty="0"/>
          </a:p>
        </p:txBody>
      </p:sp>
      <p:sp>
        <p:nvSpPr>
          <p:cNvPr id="8" name="equation box"/>
          <p:cNvSpPr/>
          <p:nvPr/>
        </p:nvSpPr>
        <p:spPr>
          <a:xfrm>
            <a:off x="548640" y="4224528"/>
            <a:ext cx="4698663" cy="2039112"/>
          </a:xfrm>
          <a:prstGeom prst="rect">
            <a:avLst/>
          </a:prstGeom>
          <a:solidFill>
            <a:srgbClr val="F7F8FA"/>
          </a:solidFill>
          <a:ln w="15875">
            <a:solidFill>
              <a:srgbClr val="1F3A5F"/>
            </a:solidFill>
            <a:prstDash val="solid"/>
          </a:ln>
        </p:spPr>
      </p:sp>
      <p:sp>
        <p:nvSpPr>
          <p:cNvPr id="9" name="equation label"/>
          <p:cNvSpPr txBox="1"/>
          <p:nvPr/>
        </p:nvSpPr>
        <p:spPr>
          <a:xfrm>
            <a:off x="713232" y="4297680"/>
            <a:ext cx="4369479"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4535424"/>
            <a:ext cx="4369479" cy="1005840"/>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c = (D</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hole</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u) − D</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shaft</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Ø5.2 too tight </a:t>
            </a:r>
            <a:pPr algn="l" indent="0" marL="0">
              <a:spcAft>
                <a:spcPts val="400"/>
              </a:spcAft>
              <a:buNone/>
            </a:pPr>
            <a:r>
              <a:rPr lang="en-US" sz="1550" dirty="0">
                <a:solidFill>
                  <a:srgbClr val="000000"/>
                </a:solidFill>
                <a:latin typeface="Arial" pitchFamily="34" charset="0"/>
                <a:ea typeface="Arial" pitchFamily="34" charset="-122"/>
                <a:cs typeface="Arial"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u ≥ 0.2 mm</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c = (5.45 − 0.2) − 5.00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0.25 mm</a:t>
            </a:r>
            <a:endParaRPr lang="en-US" sz="1550" dirty="0"/>
          </a:p>
        </p:txBody>
      </p:sp>
      <p:sp>
        <p:nvSpPr>
          <p:cNvPr id="11" name="equation inputs"/>
          <p:cNvSpPr txBox="1"/>
          <p:nvPr/>
        </p:nvSpPr>
        <p:spPr>
          <a:xfrm>
            <a:off x="713232" y="5577840"/>
            <a:ext cx="4369479"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c = clearance  ·  u = printer undersize  ·  D</a:t>
            </a:r>
            <a:pPr indent="0" marL="0">
              <a:buNone/>
            </a:pPr>
            <a:r>
              <a:rPr lang="en-US" sz="1100" baseline="-40000" dirty="0">
                <a:solidFill>
                  <a:srgbClr val="404040"/>
                </a:solidFill>
                <a:latin typeface="Arial" pitchFamily="34" charset="0"/>
                <a:ea typeface="Arial" pitchFamily="34" charset="-122"/>
                <a:cs typeface="Arial" pitchFamily="34" charset="-120"/>
              </a:rPr>
              <a:t>shaft</a:t>
            </a:r>
            <a:pPr indent="0" marL="0">
              <a:buNone/>
            </a:pPr>
            <a:r>
              <a:rPr lang="en-US" sz="1100" dirty="0">
                <a:solidFill>
                  <a:srgbClr val="404040"/>
                </a:solidFill>
                <a:latin typeface="Arial" pitchFamily="34" charset="0"/>
                <a:ea typeface="Arial" pitchFamily="34" charset="-122"/>
                <a:cs typeface="Arial" pitchFamily="34" charset="-120"/>
              </a:rPr>
              <a:t> = 5.00 mm motor shaft  ·  v3 bore Ø5.45 with a D-flat; the set screw on the flat carries the torque</a:t>
            </a:r>
            <a:endParaRPr lang="en-US" sz="1100" dirty="0"/>
          </a:p>
        </p:txBody>
      </p:sp>
      <p:sp>
        <p:nvSpPr>
          <p:cNvPr id="12" name="Shape 10"/>
          <p:cNvSpPr/>
          <p:nvPr/>
        </p:nvSpPr>
        <p:spPr>
          <a:xfrm>
            <a:off x="5658783" y="1463040"/>
            <a:ext cx="1903318" cy="4526280"/>
          </a:xfrm>
          <a:prstGeom prst="rect">
            <a:avLst/>
          </a:prstGeom>
          <a:solidFill>
            <a:srgbClr val="F2F2F2"/>
          </a:solidFill>
          <a:ln w="12700">
            <a:solidFill>
              <a:srgbClr val="F2F2F2"/>
            </a:solidFill>
            <a:prstDash val="solid"/>
          </a:ln>
        </p:spPr>
      </p:sp>
      <p:pic>
        <p:nvPicPr>
          <p:cNvPr id="13" name="Spool v1, v2, v3" descr="Spool v1, v2, v3">    </p:cNvPr>
          <p:cNvPicPr>
            <a:picLocks noChangeAspect="1"/>
          </p:cNvPicPr>
          <p:nvPr/>
        </p:nvPicPr>
        <p:blipFill>
          <a:blip r:embed="rId1"/>
          <a:stretch>
            <a:fillRect/>
          </a:stretch>
        </p:blipFill>
        <p:spPr>
          <a:xfrm>
            <a:off x="5713647" y="2821123"/>
            <a:ext cx="1793590" cy="1810114"/>
          </a:xfrm>
          <a:prstGeom prst="rect">
            <a:avLst/>
          </a:prstGeom>
        </p:spPr>
      </p:pic>
      <p:sp>
        <p:nvSpPr>
          <p:cNvPr id="14" name="Shape 11"/>
          <p:cNvSpPr/>
          <p:nvPr/>
        </p:nvSpPr>
        <p:spPr>
          <a:xfrm>
            <a:off x="7699260" y="1463040"/>
            <a:ext cx="1903318" cy="4526280"/>
          </a:xfrm>
          <a:prstGeom prst="rect">
            <a:avLst/>
          </a:prstGeom>
          <a:solidFill>
            <a:srgbClr val="F2F2F2"/>
          </a:solidFill>
          <a:ln w="12700">
            <a:solidFill>
              <a:srgbClr val="F2F2F2"/>
            </a:solidFill>
            <a:prstDash val="solid"/>
          </a:ln>
        </p:spPr>
      </p:sp>
      <p:pic>
        <p:nvPicPr>
          <p:cNvPr id="15" name="Spool v1, v2, v3" descr="Spool v1, v2, v3">    </p:cNvPr>
          <p:cNvPicPr>
            <a:picLocks noChangeAspect="1"/>
          </p:cNvPicPr>
          <p:nvPr/>
        </p:nvPicPr>
        <p:blipFill>
          <a:blip r:embed="rId2"/>
          <a:stretch>
            <a:fillRect/>
          </a:stretch>
        </p:blipFill>
        <p:spPr>
          <a:xfrm>
            <a:off x="7754124" y="2885472"/>
            <a:ext cx="1793590" cy="1681416"/>
          </a:xfrm>
          <a:prstGeom prst="rect">
            <a:avLst/>
          </a:prstGeom>
        </p:spPr>
      </p:pic>
      <p:sp>
        <p:nvSpPr>
          <p:cNvPr id="16" name="Shape 12"/>
          <p:cNvSpPr/>
          <p:nvPr/>
        </p:nvSpPr>
        <p:spPr>
          <a:xfrm>
            <a:off x="9739738" y="1463040"/>
            <a:ext cx="1903318" cy="4526280"/>
          </a:xfrm>
          <a:prstGeom prst="rect">
            <a:avLst/>
          </a:prstGeom>
          <a:solidFill>
            <a:srgbClr val="F2F2F2"/>
          </a:solidFill>
          <a:ln w="12700">
            <a:solidFill>
              <a:srgbClr val="F2F2F2"/>
            </a:solidFill>
            <a:prstDash val="solid"/>
          </a:ln>
        </p:spPr>
      </p:sp>
      <p:pic>
        <p:nvPicPr>
          <p:cNvPr id="17" name="Spool v1, v2, v3" descr="Spool v1, v2, v3">    </p:cNvPr>
          <p:cNvPicPr>
            <a:picLocks noChangeAspect="1"/>
          </p:cNvPicPr>
          <p:nvPr/>
        </p:nvPicPr>
        <p:blipFill>
          <a:blip r:embed="rId3"/>
          <a:stretch>
            <a:fillRect/>
          </a:stretch>
        </p:blipFill>
        <p:spPr>
          <a:xfrm>
            <a:off x="9794602" y="2821758"/>
            <a:ext cx="1793590" cy="1808843"/>
          </a:xfrm>
          <a:prstGeom prst="rect">
            <a:avLst/>
          </a:prstGeom>
        </p:spPr>
      </p:pic>
      <p:sp>
        <p:nvSpPr>
          <p:cNvPr id="18" name="caption"/>
          <p:cNvSpPr txBox="1"/>
          <p:nvPr/>
        </p:nvSpPr>
        <p:spPr>
          <a:xfrm>
            <a:off x="5658783" y="6062472"/>
            <a:ext cx="5984273"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Spool v1, v2, v3 (CAD)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Machining the Fin</a:t>
            </a:r>
            <a:endParaRPr lang="en-US" sz="3000" dirty="0"/>
          </a:p>
        </p:txBody>
      </p:sp>
      <p:sp>
        <p:nvSpPr>
          <p:cNvPr id="4" name="status chip"/>
          <p:cNvSpPr/>
          <p:nvPr/>
        </p:nvSpPr>
        <p:spPr>
          <a:xfrm>
            <a:off x="10180015" y="621792"/>
            <a:ext cx="1463040" cy="365760"/>
          </a:xfrm>
          <a:prstGeom prst="roundRect">
            <a:avLst>
              <a:gd name="adj" fmla="val 50000"/>
            </a:avLst>
          </a:prstGeom>
          <a:solidFill>
            <a:srgbClr val="1F3A5F"/>
          </a:solidFill>
          <a:ln w="15875">
            <a:solidFill>
              <a:srgbClr val="1F3A5F"/>
            </a:solidFill>
            <a:prstDash val="solid"/>
          </a:ln>
        </p:spPr>
      </p:sp>
      <p:sp>
        <p:nvSpPr>
          <p:cNvPr id="5" name="status"/>
          <p:cNvSpPr txBox="1"/>
          <p:nvPr/>
        </p:nvSpPr>
        <p:spPr>
          <a:xfrm>
            <a:off x="10180015" y="621792"/>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Built</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Shop drawing first:</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1:1 template</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Prototype:</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0.019 in sheet on hand</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One mill setup:</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5 holes, ±0.1 mm</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Bolted on, no reaming</a:t>
            </a:r>
            <a:endParaRPr lang="en-US" sz="2000" dirty="0"/>
          </a:p>
        </p:txBody>
      </p:sp>
      <p:sp>
        <p:nvSpPr>
          <p:cNvPr id="8" name="Shape 6"/>
          <p:cNvSpPr/>
          <p:nvPr/>
        </p:nvSpPr>
        <p:spPr>
          <a:xfrm>
            <a:off x="5880671" y="1463040"/>
            <a:ext cx="2826328" cy="2162556"/>
          </a:xfrm>
          <a:prstGeom prst="rect">
            <a:avLst/>
          </a:prstGeom>
          <a:solidFill>
            <a:srgbClr val="F2F2F2"/>
          </a:solidFill>
          <a:ln w="12700">
            <a:solidFill>
              <a:srgbClr val="F2F2F2"/>
            </a:solidFill>
            <a:prstDash val="solid"/>
          </a:ln>
        </p:spPr>
      </p:sp>
      <p:pic>
        <p:nvPicPr>
          <p:cNvPr id="9" name="Fin manufacturing photos" descr="Fin manufacturing photos">    </p:cNvPr>
          <p:cNvPicPr>
            <a:picLocks noChangeAspect="1"/>
          </p:cNvPicPr>
          <p:nvPr/>
        </p:nvPicPr>
        <p:blipFill>
          <a:blip r:embed="rId1"/>
          <a:stretch>
            <a:fillRect/>
          </a:stretch>
        </p:blipFill>
        <p:spPr>
          <a:xfrm>
            <a:off x="5935535" y="1525593"/>
            <a:ext cx="2716600" cy="2037450"/>
          </a:xfrm>
          <a:prstGeom prst="rect">
            <a:avLst/>
          </a:prstGeom>
        </p:spPr>
      </p:pic>
      <p:sp>
        <p:nvSpPr>
          <p:cNvPr id="10" name="Shape 7"/>
          <p:cNvSpPr/>
          <p:nvPr/>
        </p:nvSpPr>
        <p:spPr>
          <a:xfrm>
            <a:off x="8816727" y="1463040"/>
            <a:ext cx="2826328" cy="2162556"/>
          </a:xfrm>
          <a:prstGeom prst="rect">
            <a:avLst/>
          </a:prstGeom>
          <a:solidFill>
            <a:srgbClr val="F2F2F2"/>
          </a:solidFill>
          <a:ln w="12700">
            <a:solidFill>
              <a:srgbClr val="F2F2F2"/>
            </a:solidFill>
            <a:prstDash val="solid"/>
          </a:ln>
        </p:spPr>
      </p:sp>
      <p:pic>
        <p:nvPicPr>
          <p:cNvPr id="11" name="Fin manufacturing photos" descr="Fin manufacturing photos">    </p:cNvPr>
          <p:cNvPicPr>
            <a:picLocks noChangeAspect="1"/>
          </p:cNvPicPr>
          <p:nvPr/>
        </p:nvPicPr>
        <p:blipFill>
          <a:blip r:embed="rId2"/>
          <a:stretch>
            <a:fillRect/>
          </a:stretch>
        </p:blipFill>
        <p:spPr>
          <a:xfrm>
            <a:off x="9460081" y="1517904"/>
            <a:ext cx="1539621" cy="2052828"/>
          </a:xfrm>
          <a:prstGeom prst="rect">
            <a:avLst/>
          </a:prstGeom>
        </p:spPr>
      </p:pic>
      <p:sp>
        <p:nvSpPr>
          <p:cNvPr id="12" name="Shape 8"/>
          <p:cNvSpPr/>
          <p:nvPr/>
        </p:nvSpPr>
        <p:spPr>
          <a:xfrm>
            <a:off x="5880671" y="3735324"/>
            <a:ext cx="2826328" cy="2162556"/>
          </a:xfrm>
          <a:prstGeom prst="rect">
            <a:avLst/>
          </a:prstGeom>
          <a:solidFill>
            <a:srgbClr val="F2F2F2"/>
          </a:solidFill>
          <a:ln w="12700">
            <a:solidFill>
              <a:srgbClr val="F2F2F2"/>
            </a:solidFill>
            <a:prstDash val="solid"/>
          </a:ln>
        </p:spPr>
      </p:sp>
      <p:pic>
        <p:nvPicPr>
          <p:cNvPr id="13" name="Fin manufacturing photos" descr="Fin manufacturing photos">    </p:cNvPr>
          <p:cNvPicPr>
            <a:picLocks noChangeAspect="1"/>
          </p:cNvPicPr>
          <p:nvPr/>
        </p:nvPicPr>
        <p:blipFill>
          <a:blip r:embed="rId3"/>
          <a:stretch>
            <a:fillRect/>
          </a:stretch>
        </p:blipFill>
        <p:spPr>
          <a:xfrm>
            <a:off x="6524025" y="3790188"/>
            <a:ext cx="1539621" cy="2052828"/>
          </a:xfrm>
          <a:prstGeom prst="rect">
            <a:avLst/>
          </a:prstGeom>
        </p:spPr>
      </p:pic>
      <p:sp>
        <p:nvSpPr>
          <p:cNvPr id="14" name="Shape 9"/>
          <p:cNvSpPr/>
          <p:nvPr/>
        </p:nvSpPr>
        <p:spPr>
          <a:xfrm>
            <a:off x="8816727" y="3735324"/>
            <a:ext cx="2826328" cy="2162556"/>
          </a:xfrm>
          <a:prstGeom prst="rect">
            <a:avLst/>
          </a:prstGeom>
          <a:solidFill>
            <a:srgbClr val="F2F2F2"/>
          </a:solidFill>
          <a:ln w="12700">
            <a:solidFill>
              <a:srgbClr val="F2F2F2"/>
            </a:solidFill>
            <a:prstDash val="solid"/>
          </a:ln>
        </p:spPr>
      </p:sp>
      <p:pic>
        <p:nvPicPr>
          <p:cNvPr id="15" name="Fin manufacturing photos" descr="Fin manufacturing photos">    </p:cNvPr>
          <p:cNvPicPr>
            <a:picLocks noChangeAspect="1"/>
          </p:cNvPicPr>
          <p:nvPr/>
        </p:nvPicPr>
        <p:blipFill>
          <a:blip r:embed="rId4"/>
          <a:stretch>
            <a:fillRect/>
          </a:stretch>
        </p:blipFill>
        <p:spPr>
          <a:xfrm>
            <a:off x="9460081" y="3790188"/>
            <a:ext cx="1539621" cy="2052828"/>
          </a:xfrm>
          <a:prstGeom prst="rect">
            <a:avLst/>
          </a:prstGeom>
        </p:spPr>
      </p:pic>
      <p:sp>
        <p:nvSpPr>
          <p:cNvPr id="16" name="caption"/>
          <p:cNvSpPr txBox="1"/>
          <p:nvPr/>
        </p:nvSpPr>
        <p:spPr>
          <a:xfrm>
            <a:off x="5880671" y="5971032"/>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Shear and blanks · mill setup with the drawing · drilling · the finished fin</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Electronics Bring-Up</a:t>
            </a:r>
            <a:endParaRPr lang="en-US" sz="3000" dirty="0"/>
          </a:p>
        </p:txBody>
      </p:sp>
      <p:sp>
        <p:nvSpPr>
          <p:cNvPr id="4" name="status chip"/>
          <p:cNvSpPr/>
          <p:nvPr/>
        </p:nvSpPr>
        <p:spPr>
          <a:xfrm>
            <a:off x="10180015" y="621792"/>
            <a:ext cx="1463040" cy="365760"/>
          </a:xfrm>
          <a:prstGeom prst="roundRect">
            <a:avLst>
              <a:gd name="adj" fmla="val 50000"/>
            </a:avLst>
          </a:prstGeom>
          <a:solidFill>
            <a:srgbClr val="1F3A5F"/>
          </a:solidFill>
          <a:ln w="15875">
            <a:solidFill>
              <a:srgbClr val="1F3A5F"/>
            </a:solidFill>
            <a:prstDash val="solid"/>
          </a:ln>
        </p:spPr>
      </p:sp>
      <p:sp>
        <p:nvSpPr>
          <p:cNvPr id="5" name="status"/>
          <p:cNvSpPr txBox="1"/>
          <p:nvPr/>
        </p:nvSpPr>
        <p:spPr>
          <a:xfrm>
            <a:off x="10180015" y="621792"/>
            <a:ext cx="146304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Measured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698663"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Boots safe:</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driver off until armed</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Schematic = soldered board:</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16 nets</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Failure:</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logic rail 1.14 V, not 3.3 V</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Now:</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meter before code</a:t>
            </a:r>
            <a:endParaRPr lang="en-US" sz="2000" dirty="0"/>
          </a:p>
        </p:txBody>
      </p:sp>
      <p:sp>
        <p:nvSpPr>
          <p:cNvPr id="8" name="Shape 6"/>
          <p:cNvSpPr/>
          <p:nvPr/>
        </p:nvSpPr>
        <p:spPr>
          <a:xfrm>
            <a:off x="5658783" y="1463040"/>
            <a:ext cx="2923556" cy="4526280"/>
          </a:xfrm>
          <a:prstGeom prst="rect">
            <a:avLst/>
          </a:prstGeom>
          <a:solidFill>
            <a:srgbClr val="F2F2F2"/>
          </a:solidFill>
          <a:ln w="12700">
            <a:solidFill>
              <a:srgbClr val="F2F2F2"/>
            </a:solidFill>
            <a:prstDash val="solid"/>
          </a:ln>
        </p:spPr>
      </p:sp>
      <p:pic>
        <p:nvPicPr>
          <p:cNvPr id="9" name="Soldered station board and bench bring-u" descr="Soldered station board and bench bring-up">    </p:cNvPr>
          <p:cNvPicPr>
            <a:picLocks noChangeAspect="1"/>
          </p:cNvPicPr>
          <p:nvPr/>
        </p:nvPicPr>
        <p:blipFill>
          <a:blip r:embed="rId1"/>
          <a:stretch>
            <a:fillRect/>
          </a:stretch>
        </p:blipFill>
        <p:spPr>
          <a:xfrm>
            <a:off x="5713647" y="1850294"/>
            <a:ext cx="2813828" cy="3751771"/>
          </a:xfrm>
          <a:prstGeom prst="rect">
            <a:avLst/>
          </a:prstGeom>
        </p:spPr>
      </p:pic>
      <p:sp>
        <p:nvSpPr>
          <p:cNvPr id="10" name="Shape 7"/>
          <p:cNvSpPr/>
          <p:nvPr/>
        </p:nvSpPr>
        <p:spPr>
          <a:xfrm>
            <a:off x="8719499" y="1463040"/>
            <a:ext cx="2923556" cy="4526280"/>
          </a:xfrm>
          <a:prstGeom prst="rect">
            <a:avLst/>
          </a:prstGeom>
          <a:solidFill>
            <a:srgbClr val="F2F2F2"/>
          </a:solidFill>
          <a:ln w="12700">
            <a:solidFill>
              <a:srgbClr val="F2F2F2"/>
            </a:solidFill>
            <a:prstDash val="solid"/>
          </a:ln>
        </p:spPr>
      </p:sp>
      <p:pic>
        <p:nvPicPr>
          <p:cNvPr id="11" name="Soldered station board and bench bring-u" descr="Soldered station board and bench bring-up">    </p:cNvPr>
          <p:cNvPicPr>
            <a:picLocks noChangeAspect="1"/>
          </p:cNvPicPr>
          <p:nvPr/>
        </p:nvPicPr>
        <p:blipFill>
          <a:blip r:embed="rId2"/>
          <a:stretch>
            <a:fillRect/>
          </a:stretch>
        </p:blipFill>
        <p:spPr>
          <a:xfrm>
            <a:off x="8774363" y="1850294"/>
            <a:ext cx="2813828" cy="3751771"/>
          </a:xfrm>
          <a:prstGeom prst="rect">
            <a:avLst/>
          </a:prstGeom>
        </p:spPr>
      </p:pic>
      <p:sp>
        <p:nvSpPr>
          <p:cNvPr id="12" name="caption"/>
          <p:cNvSpPr txBox="1"/>
          <p:nvPr/>
        </p:nvSpPr>
        <p:spPr>
          <a:xfrm>
            <a:off x="5658783" y="6062472"/>
            <a:ext cx="5984273"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Soldered station board (left); bench bring-up (right)</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First Test</a:t>
            </a:r>
            <a:endParaRPr lang="en-US" sz="3000" dirty="0"/>
          </a:p>
        </p:txBody>
      </p:sp>
      <p:sp>
        <p:nvSpPr>
          <p:cNvPr id="4" name="status chip"/>
          <p:cNvSpPr/>
          <p:nvPr/>
        </p:nvSpPr>
        <p:spPr>
          <a:xfrm>
            <a:off x="9187891" y="621792"/>
            <a:ext cx="2455164" cy="365760"/>
          </a:xfrm>
          <a:prstGeom prst="roundRect">
            <a:avLst>
              <a:gd name="adj" fmla="val 50000"/>
            </a:avLst>
          </a:prstGeom>
          <a:solidFill>
            <a:srgbClr val="FFFFFF"/>
          </a:solidFill>
          <a:ln w="15875">
            <a:solidFill>
              <a:srgbClr val="B23A2E"/>
            </a:solidFill>
            <a:prstDash val="solid"/>
          </a:ln>
        </p:spPr>
      </p:sp>
      <p:sp>
        <p:nvSpPr>
          <p:cNvPr id="5" name="status"/>
          <p:cNvSpPr txBox="1"/>
          <p:nvPr/>
        </p:nvSpPr>
        <p:spPr>
          <a:xfrm>
            <a:off x="9187891" y="621792"/>
            <a:ext cx="2455164" cy="365760"/>
          </a:xfrm>
          <a:prstGeom prst="rect">
            <a:avLst/>
          </a:prstGeom>
          <a:noFill/>
          <a:ln/>
        </p:spPr>
        <p:txBody>
          <a:bodyPr wrap="square" lIns="0" tIns="0" rIns="0" bIns="0" rtlCol="0" anchor="ctr"/>
          <a:lstStyle/>
          <a:p>
            <a:pPr algn="ctr" indent="0" marL="0">
              <a:buNone/>
            </a:pPr>
            <a:r>
              <a:rPr lang="en-US" sz="1200" b="1" dirty="0">
                <a:solidFill>
                  <a:srgbClr val="B23A2E"/>
                </a:solidFill>
                <a:latin typeface="Arial" pitchFamily="34" charset="0"/>
                <a:ea typeface="Arial" pitchFamily="34" charset="-122"/>
                <a:cs typeface="Arial" pitchFamily="34" charset="-120"/>
              </a:rPr>
              <a:t>Planned · this week</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476774"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3 stations:</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fewest cables that hold a point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Self-check → calibrate → move → pickup</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Load:</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1 lb, then one garment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Pass limits written first</a:t>
            </a:r>
            <a:endParaRPr lang="en-US" sz="2000" dirty="0"/>
          </a:p>
        </p:txBody>
      </p:sp>
      <p:sp>
        <p:nvSpPr>
          <p:cNvPr id="8" name="placeholder"/>
          <p:cNvSpPr/>
          <p:nvPr/>
        </p:nvSpPr>
        <p:spPr>
          <a:xfrm>
            <a:off x="5436894" y="1463040"/>
            <a:ext cx="6206161" cy="2240280"/>
          </a:xfrm>
          <a:prstGeom prst="rect">
            <a:avLst/>
          </a:prstGeom>
          <a:solidFill>
            <a:srgbClr val="F2F2F2"/>
          </a:solidFill>
          <a:ln w="12700">
            <a:solidFill>
              <a:srgbClr val="B23A2E"/>
            </a:solidFill>
            <a:prstDash val="dash"/>
          </a:ln>
        </p:spPr>
      </p:sp>
      <p:sp>
        <p:nvSpPr>
          <p:cNvPr id="9" name="placeholder text"/>
          <p:cNvSpPr txBox="1"/>
          <p:nvPr/>
        </p:nvSpPr>
        <p:spPr>
          <a:xfrm>
            <a:off x="5619774" y="1463040"/>
            <a:ext cx="5840401" cy="2240280"/>
          </a:xfrm>
          <a:prstGeom prst="rect">
            <a:avLst/>
          </a:prstGeom>
          <a:noFill/>
          <a:ln/>
        </p:spPr>
        <p:txBody>
          <a:bodyPr wrap="square" lIns="0" tIns="0" rIns="0" bIns="0" rtlCol="0" anchor="ctr"/>
          <a:lstStyle/>
          <a:p>
            <a:pPr algn="ctr" indent="0" marL="0">
              <a:buNone/>
            </a:pPr>
            <a:r>
              <a:rPr lang="en-US" sz="1600" i="1" dirty="0">
                <a:solidFill>
                  <a:srgbClr val="B23A2E"/>
                </a:solidFill>
                <a:latin typeface="Arial" pitchFamily="34" charset="0"/>
                <a:ea typeface="Arial" pitchFamily="34" charset="-122"/>
                <a:cs typeface="Arial" pitchFamily="34" charset="-120"/>
              </a:rPr>
              <a:t>[Photo or video from the three-station test]</a:t>
            </a:r>
            <a:endParaRPr lang="en-US" sz="1600" dirty="0"/>
          </a:p>
        </p:txBody>
      </p:sp>
      <p:graphicFrame>
        <p:nvGraphicFramePr>
          <p:cNvPr id="20" name="pass limits"/>
          <p:cNvGraphicFramePr>
            <a:graphicFrameLocks noGrp="1"/>
          </p:cNvGraphicFramePr>
          <p:nvPr>
            <p:extLst>
              <p:ext uri="{D42A27DB-BD31-4B8C-83A1-F6EECF244321}">
                <p14:modId xmlns:p14="http://schemas.microsoft.com/office/powerpoint/2010/main" val="1579011935"/>
              </p:ext>
            </p:extLst>
          </p:nvPr>
        </p:nvGraphicFramePr>
        <p:xfrm>
          <a:off x="5436894" y="3886200"/>
          <a:ext cx="6206161" cy="914400"/>
        </p:xfrm>
        <a:graphic>
          <a:graphicData uri="http://schemas.openxmlformats.org/drawingml/2006/table">
            <a:tbl>
              <a:tblPr/>
              <a:tblGrid>
                <a:gridCol w="1861848"/>
                <a:gridCol w="3103080"/>
                <a:gridCol w="1241232"/>
              </a:tblGrid>
              <a:tr h="438912">
                <a:tc>
                  <a:txBody>
                    <a:bodyPr/>
                    <a:lstStyle/>
                    <a:p>
                      <a:pPr indent="0" marL="0">
                        <a:buNone/>
                      </a:pPr>
                      <a:r>
                        <a:rPr lang="en-US" sz="1300" b="1" dirty="0">
                          <a:solidFill>
                            <a:srgbClr val="FFFFFF"/>
                          </a:solidFill>
                          <a:latin typeface="Arial" pitchFamily="34" charset="0"/>
                          <a:ea typeface="Arial" pitchFamily="34" charset="-122"/>
                          <a:cs typeface="Arial" pitchFamily="34" charset="-120"/>
                        </a:rPr>
                        <a:t>Check</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Pass limit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Result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38912">
                <a:tc>
                  <a:txBody>
                    <a:bodyPr/>
                    <a:lstStyle/>
                    <a:p>
                      <a:pPr indent="0" marL="0">
                        <a:buNone/>
                      </a:pPr>
                      <a:r>
                        <a:rPr lang="en-US" sz="1300" b="1" dirty="0">
                          <a:solidFill>
                            <a:srgbClr val="000000"/>
                          </a:solidFill>
                          <a:latin typeface="Arial" pitchFamily="34" charset="0"/>
                          <a:ea typeface="Arial" pitchFamily="34" charset="-122"/>
                          <a:cs typeface="Arial" pitchFamily="34" charset="-120"/>
                        </a:rPr>
                        <a:t>Startup self-check</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All stations answer; slack taken up</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rgbClr val="000000"/>
                          </a:solidFill>
                          <a:latin typeface="Arial" pitchFamily="34" charset="0"/>
                          <a:ea typeface="Arial" pitchFamily="34" charset="-122"/>
                          <a:cs typeface="Arial" pitchFamily="34" charset="-120"/>
                        </a:rPr>
                        <a:t>Calibration fit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Held-out poses inside the safety margin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rgbClr val="000000"/>
                          </a:solidFill>
                          <a:latin typeface="Arial" pitchFamily="34" charset="0"/>
                          <a:ea typeface="Arial" pitchFamily="34" charset="-122"/>
                          <a:cs typeface="Arial" pitchFamily="34" charset="-120"/>
                        </a:rPr>
                        <a:t>Short move, 1 lb</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300 mm at 50 mm/s, ≤ 2 mm per cable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38912">
                <a:tc>
                  <a:txBody>
                    <a:bodyPr/>
                    <a:lstStyle/>
                    <a:p>
                      <a:pPr indent="0" marL="0">
                        <a:buNone/>
                      </a:pPr>
                      <a:r>
                        <a:rPr lang="en-US" sz="1300" b="1" dirty="0">
                          <a:solidFill>
                            <a:srgbClr val="000000"/>
                          </a:solidFill>
                          <a:latin typeface="Arial" pitchFamily="34" charset="0"/>
                          <a:ea typeface="Arial" pitchFamily="34" charset="-122"/>
                          <a:cs typeface="Arial" pitchFamily="34" charset="-120"/>
                        </a:rPr>
                        <a:t>Pickup</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One garment into the hamper</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i="1" dirty="0">
                          <a:solidFill>
                            <a:srgbClr val="B23A2E"/>
                          </a:solidFill>
                          <a:latin typeface="Arial" pitchFamily="34" charset="0"/>
                          <a:ea typeface="Arial" pitchFamily="34" charset="-122"/>
                          <a:cs typeface="Arial" pitchFamily="34" charset="-120"/>
                        </a:rPr>
                        <a:t>[fill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Thermal Check</a:t>
            </a:r>
            <a:endParaRPr lang="en-US" sz="3000" dirty="0"/>
          </a:p>
        </p:txBody>
      </p:sp>
      <p:sp>
        <p:nvSpPr>
          <p:cNvPr id="4" name="status chip"/>
          <p:cNvSpPr/>
          <p:nvPr/>
        </p:nvSpPr>
        <p:spPr>
          <a:xfrm>
            <a:off x="8241487" y="621792"/>
            <a:ext cx="3401568"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8241487" y="621792"/>
            <a:ext cx="3401568"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Calculated · simulation next</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476774"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Limit:</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PETG mount &lt; 60 °C</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Hand calc:</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56–59 °C (0.019 in) · 45–49 °C (1/8 in)</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SolidWorks:</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motor, fin, screws, mount</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Hold test:</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90 min at 1.5 A</a:t>
            </a:r>
            <a:endParaRPr lang="en-US" sz="2000" dirty="0"/>
          </a:p>
        </p:txBody>
      </p:sp>
      <p:sp>
        <p:nvSpPr>
          <p:cNvPr id="8" name="placeholder"/>
          <p:cNvSpPr/>
          <p:nvPr/>
        </p:nvSpPr>
        <p:spPr>
          <a:xfrm>
            <a:off x="5436894" y="1463040"/>
            <a:ext cx="6206161" cy="2194560"/>
          </a:xfrm>
          <a:prstGeom prst="rect">
            <a:avLst/>
          </a:prstGeom>
          <a:solidFill>
            <a:srgbClr val="F2F2F2"/>
          </a:solidFill>
          <a:ln w="12700">
            <a:solidFill>
              <a:srgbClr val="B23A2E"/>
            </a:solidFill>
            <a:prstDash val="dash"/>
          </a:ln>
        </p:spPr>
      </p:sp>
      <p:sp>
        <p:nvSpPr>
          <p:cNvPr id="9" name="placeholder text"/>
          <p:cNvSpPr txBox="1"/>
          <p:nvPr/>
        </p:nvSpPr>
        <p:spPr>
          <a:xfrm>
            <a:off x="5619774" y="1463040"/>
            <a:ext cx="5840401" cy="2194560"/>
          </a:xfrm>
          <a:prstGeom prst="rect">
            <a:avLst/>
          </a:prstGeom>
          <a:noFill/>
          <a:ln/>
        </p:spPr>
        <p:txBody>
          <a:bodyPr wrap="square" lIns="0" tIns="0" rIns="0" bIns="0" rtlCol="0" anchor="ctr"/>
          <a:lstStyle/>
          <a:p>
            <a:pPr algn="ctr" indent="0" marL="0">
              <a:buNone/>
            </a:pPr>
            <a:r>
              <a:rPr lang="en-US" sz="1600" i="1" dirty="0">
                <a:solidFill>
                  <a:srgbClr val="B23A2E"/>
                </a:solidFill>
                <a:latin typeface="Arial" pitchFamily="34" charset="0"/>
                <a:ea typeface="Arial" pitchFamily="34" charset="-122"/>
                <a:cs typeface="Arial" pitchFamily="34" charset="-120"/>
              </a:rPr>
              <a:t>[SolidWorks temperature plot: motor, fin, screws and mount]</a:t>
            </a:r>
            <a:endParaRPr lang="en-US" sz="1600" dirty="0"/>
          </a:p>
        </p:txBody>
      </p:sp>
      <p:graphicFrame>
        <p:nvGraphicFramePr>
          <p:cNvPr id="21" name="thermal methods"/>
          <p:cNvGraphicFramePr>
            <a:graphicFrameLocks noGrp="1"/>
          </p:cNvGraphicFramePr>
          <p:nvPr>
            <p:extLst>
              <p:ext uri="{D42A27DB-BD31-4B8C-83A1-F6EECF244321}">
                <p14:modId xmlns:p14="http://schemas.microsoft.com/office/powerpoint/2010/main" val="1579011935"/>
              </p:ext>
            </p:extLst>
          </p:nvPr>
        </p:nvGraphicFramePr>
        <p:xfrm>
          <a:off x="5436894" y="3794760"/>
          <a:ext cx="6206161" cy="914400"/>
        </p:xfrm>
        <a:graphic>
          <a:graphicData uri="http://schemas.openxmlformats.org/drawingml/2006/table">
            <a:tbl>
              <a:tblPr/>
              <a:tblGrid>
                <a:gridCol w="1737725"/>
                <a:gridCol w="1489479"/>
                <a:gridCol w="1489479"/>
                <a:gridCol w="1489479"/>
              </a:tblGrid>
              <a:tr h="457200">
                <a:tc>
                  <a:txBody>
                    <a:bodyPr/>
                    <a:lstStyle/>
                    <a:p>
                      <a:pPr indent="0" marL="0">
                        <a:buNone/>
                      </a:pPr>
                      <a:r>
                        <a:rPr lang="en-US" sz="1400" b="1" dirty="0">
                          <a:solidFill>
                            <a:srgbClr val="FFFFFF"/>
                          </a:solidFill>
                          <a:latin typeface="Arial" pitchFamily="34" charset="0"/>
                          <a:ea typeface="Arial" pitchFamily="34" charset="-122"/>
                          <a:cs typeface="Arial" pitchFamily="34" charset="-120"/>
                        </a:rPr>
                        <a:t>Method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0.019 in fin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1/8 in fin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PETG mount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Hand calc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56–59 °C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45–49 °C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 motor − 2 K</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SolidWorks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Hold test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i="1" dirty="0">
                          <a:solidFill>
                            <a:srgbClr val="B23A2E"/>
                          </a:solidFill>
                          <a:latin typeface="Arial" pitchFamily="34" charset="0"/>
                          <a:ea typeface="Arial" pitchFamily="34" charset="-122"/>
                          <a:cs typeface="Arial" pitchFamily="34" charset="-120"/>
                        </a:rPr>
                        <a:t>[fill in]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1" name="caption"/>
          <p:cNvSpPr txBox="1"/>
          <p:nvPr/>
        </p:nvSpPr>
        <p:spPr>
          <a:xfrm>
            <a:off x="5436894" y="5733288"/>
            <a:ext cx="6206161"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Three ways to know one temperature: calculate it, simulate it, measure it</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Good and Poor Decisions</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Good decisions header"/>
          <p:cNvSpPr/>
          <p:nvPr/>
        </p:nvSpPr>
        <p:spPr>
          <a:xfrm>
            <a:off x="548640" y="1463040"/>
            <a:ext cx="5410048" cy="411480"/>
          </a:xfrm>
          <a:prstGeom prst="rect">
            <a:avLst/>
          </a:prstGeom>
          <a:solidFill>
            <a:srgbClr val="1F3A5F"/>
          </a:solidFill>
          <a:ln w="12700">
            <a:solidFill>
              <a:srgbClr val="1F3A5F"/>
            </a:solidFill>
            <a:prstDash val="solid"/>
          </a:ln>
        </p:spPr>
      </p:sp>
      <p:sp>
        <p:nvSpPr>
          <p:cNvPr id="6" name="label"/>
          <p:cNvSpPr txBox="1"/>
          <p:nvPr/>
        </p:nvSpPr>
        <p:spPr>
          <a:xfrm>
            <a:off x="685800" y="1463040"/>
            <a:ext cx="5135728"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Good decisions</a:t>
            </a:r>
            <a:endParaRPr lang="en-US" sz="1600" dirty="0"/>
          </a:p>
        </p:txBody>
      </p:sp>
      <p:sp>
        <p:nvSpPr>
          <p:cNvPr id="7" name="Shape 5"/>
          <p:cNvSpPr/>
          <p:nvPr/>
        </p:nvSpPr>
        <p:spPr>
          <a:xfrm>
            <a:off x="548640" y="2011680"/>
            <a:ext cx="1417320" cy="960120"/>
          </a:xfrm>
          <a:prstGeom prst="rect">
            <a:avLst/>
          </a:prstGeom>
          <a:solidFill>
            <a:srgbClr val="F2F2F2"/>
          </a:solidFill>
          <a:ln w="12700">
            <a:solidFill>
              <a:srgbClr val="F2F2F2"/>
            </a:solidFill>
            <a:prstDash val="solid"/>
          </a:ln>
        </p:spPr>
      </p:sp>
      <p:pic>
        <p:nvPicPr>
          <p:cNvPr id="8" name="One controller per winch" descr="One controller per winch">    </p:cNvPr>
          <p:cNvPicPr>
            <a:picLocks noChangeAspect="1"/>
          </p:cNvPicPr>
          <p:nvPr/>
        </p:nvPicPr>
        <p:blipFill>
          <a:blip r:embed="rId1"/>
          <a:stretch>
            <a:fillRect/>
          </a:stretch>
        </p:blipFill>
        <p:spPr>
          <a:xfrm>
            <a:off x="938403" y="2066544"/>
            <a:ext cx="637794" cy="850392"/>
          </a:xfrm>
          <a:prstGeom prst="rect">
            <a:avLst/>
          </a:prstGeom>
        </p:spPr>
      </p:pic>
      <p:sp>
        <p:nvSpPr>
          <p:cNvPr id="9" name="One controller per winch"/>
          <p:cNvSpPr txBox="1"/>
          <p:nvPr/>
        </p:nvSpPr>
        <p:spPr>
          <a:xfrm>
            <a:off x="2103120" y="2011680"/>
            <a:ext cx="3809848" cy="96012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One controller per winch</a:t>
            </a:r>
            <a:endParaRPr lang="en-US" sz="1600" dirty="0"/>
          </a:p>
          <a:p>
            <a:pPr indent="0" marL="0">
              <a:buNone/>
            </a:pPr>
            <a:r>
              <a:rPr lang="en-US" sz="1400" dirty="0">
                <a:solidFill>
                  <a:srgbClr val="404040"/>
                </a:solidFill>
                <a:latin typeface="Arial" pitchFamily="34" charset="0"/>
                <a:ea typeface="Arial" pitchFamily="34" charset="-122"/>
                <a:cs typeface="Arial" pitchFamily="34" charset="-120"/>
              </a:rPr>
              <a:t>5× less wire; each station tested alone</a:t>
            </a:r>
            <a:endParaRPr lang="en-US" sz="1600" dirty="0"/>
          </a:p>
        </p:txBody>
      </p:sp>
      <p:sp>
        <p:nvSpPr>
          <p:cNvPr id="10" name="Shape 7"/>
          <p:cNvSpPr/>
          <p:nvPr/>
        </p:nvSpPr>
        <p:spPr>
          <a:xfrm>
            <a:off x="548640" y="3108960"/>
            <a:ext cx="1417320" cy="960120"/>
          </a:xfrm>
          <a:prstGeom prst="rect">
            <a:avLst/>
          </a:prstGeom>
          <a:solidFill>
            <a:srgbClr val="F2F2F2"/>
          </a:solidFill>
          <a:ln w="12700">
            <a:solidFill>
              <a:srgbClr val="F2F2F2"/>
            </a:solidFill>
            <a:prstDash val="solid"/>
          </a:ln>
        </p:spPr>
      </p:sp>
      <p:pic>
        <p:nvPicPr>
          <p:cNvPr id="11" name="Slide-in wall mount" descr="Slide-in wall mount">    </p:cNvPr>
          <p:cNvPicPr>
            <a:picLocks noChangeAspect="1"/>
          </p:cNvPicPr>
          <p:nvPr/>
        </p:nvPicPr>
        <p:blipFill>
          <a:blip r:embed="rId2"/>
          <a:stretch>
            <a:fillRect/>
          </a:stretch>
        </p:blipFill>
        <p:spPr>
          <a:xfrm>
            <a:off x="937026" y="3163824"/>
            <a:ext cx="640547" cy="850392"/>
          </a:xfrm>
          <a:prstGeom prst="rect">
            <a:avLst/>
          </a:prstGeom>
        </p:spPr>
      </p:pic>
      <p:sp>
        <p:nvSpPr>
          <p:cNvPr id="12" name="Slide-in wall mount"/>
          <p:cNvSpPr txBox="1"/>
          <p:nvPr/>
        </p:nvSpPr>
        <p:spPr>
          <a:xfrm>
            <a:off x="2103120" y="3108960"/>
            <a:ext cx="3809848" cy="96012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Slide-in wall mount</a:t>
            </a:r>
            <a:endParaRPr lang="en-US" sz="1600" dirty="0"/>
          </a:p>
          <a:p>
            <a:pPr indent="0" marL="0">
              <a:buNone/>
            </a:pPr>
            <a:r>
              <a:rPr lang="en-US" sz="1400" dirty="0">
                <a:solidFill>
                  <a:srgbClr val="404040"/>
                </a:solidFill>
                <a:latin typeface="Arial" pitchFamily="34" charset="0"/>
                <a:ea typeface="Arial" pitchFamily="34" charset="-122"/>
                <a:cs typeface="Arial" pitchFamily="34" charset="-120"/>
              </a:rPr>
              <a:t>A station comes off; the anchor stays put</a:t>
            </a:r>
            <a:endParaRPr lang="en-US" sz="1600" dirty="0"/>
          </a:p>
        </p:txBody>
      </p:sp>
      <p:sp>
        <p:nvSpPr>
          <p:cNvPr id="13" name="Shape 9"/>
          <p:cNvSpPr/>
          <p:nvPr/>
        </p:nvSpPr>
        <p:spPr>
          <a:xfrm>
            <a:off x="548640" y="4206240"/>
            <a:ext cx="1417320" cy="960120"/>
          </a:xfrm>
          <a:prstGeom prst="rect">
            <a:avLst/>
          </a:prstGeom>
          <a:solidFill>
            <a:srgbClr val="F2F2F2"/>
          </a:solidFill>
          <a:ln w="12700">
            <a:solidFill>
              <a:srgbClr val="F2F2F2"/>
            </a:solidFill>
            <a:prstDash val="solid"/>
          </a:ln>
        </p:spPr>
      </p:sp>
      <p:pic>
        <p:nvPicPr>
          <p:cNvPr id="14" name="Camera calibration over bead homing" descr="Camera calibration over bead homing">    </p:cNvPr>
          <p:cNvPicPr>
            <a:picLocks noChangeAspect="1"/>
          </p:cNvPicPr>
          <p:nvPr/>
        </p:nvPicPr>
        <p:blipFill>
          <a:blip r:embed="rId3"/>
          <a:stretch>
            <a:fillRect/>
          </a:stretch>
        </p:blipFill>
        <p:spPr>
          <a:xfrm>
            <a:off x="1140219" y="4261104"/>
            <a:ext cx="234162" cy="850392"/>
          </a:xfrm>
          <a:prstGeom prst="rect">
            <a:avLst/>
          </a:prstGeom>
        </p:spPr>
      </p:pic>
      <p:sp>
        <p:nvSpPr>
          <p:cNvPr id="15" name="Camera calibration over bead homing"/>
          <p:cNvSpPr txBox="1"/>
          <p:nvPr/>
        </p:nvSpPr>
        <p:spPr>
          <a:xfrm>
            <a:off x="2103120" y="4206240"/>
            <a:ext cx="3809848" cy="96012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Camera calibration over bead homing</a:t>
            </a:r>
            <a:endParaRPr lang="en-US" sz="1600" dirty="0"/>
          </a:p>
          <a:p>
            <a:pPr indent="0" marL="0">
              <a:buNone/>
            </a:pPr>
            <a:r>
              <a:rPr lang="en-US" sz="1400" dirty="0">
                <a:solidFill>
                  <a:srgbClr val="404040"/>
                </a:solidFill>
                <a:latin typeface="Arial" pitchFamily="34" charset="0"/>
                <a:ea typeface="Arial" pitchFamily="34" charset="-122"/>
                <a:cs typeface="Arial" pitchFamily="34" charset="-120"/>
              </a:rPr>
              <a:t>Whole room reachable; no tape measure</a:t>
            </a:r>
            <a:endParaRPr lang="en-US" sz="1600" dirty="0"/>
          </a:p>
        </p:txBody>
      </p:sp>
      <p:sp>
        <p:nvSpPr>
          <p:cNvPr id="16" name="Shape 11"/>
          <p:cNvSpPr/>
          <p:nvPr/>
        </p:nvSpPr>
        <p:spPr>
          <a:xfrm>
            <a:off x="548640" y="5303520"/>
            <a:ext cx="1417320" cy="960120"/>
          </a:xfrm>
          <a:prstGeom prst="rect">
            <a:avLst/>
          </a:prstGeom>
          <a:solidFill>
            <a:srgbClr val="F2F2F2"/>
          </a:solidFill>
          <a:ln w="12700">
            <a:solidFill>
              <a:srgbClr val="F2F2F2"/>
            </a:solidFill>
            <a:prstDash val="solid"/>
          </a:ln>
        </p:spPr>
      </p:sp>
      <p:pic>
        <p:nvPicPr>
          <p:cNvPr id="17" name="Gear strength checked at stall" descr="Gear strength checked at stall">    </p:cNvPr>
          <p:cNvPicPr>
            <a:picLocks noChangeAspect="1"/>
          </p:cNvPicPr>
          <p:nvPr/>
        </p:nvPicPr>
        <p:blipFill>
          <a:blip r:embed="rId4"/>
          <a:stretch>
            <a:fillRect/>
          </a:stretch>
        </p:blipFill>
        <p:spPr>
          <a:xfrm>
            <a:off x="867323" y="5358384"/>
            <a:ext cx="779954" cy="850392"/>
          </a:xfrm>
          <a:prstGeom prst="rect">
            <a:avLst/>
          </a:prstGeom>
        </p:spPr>
      </p:pic>
      <p:sp>
        <p:nvSpPr>
          <p:cNvPr id="18" name="Gear strength checked at stall"/>
          <p:cNvSpPr txBox="1"/>
          <p:nvPr/>
        </p:nvSpPr>
        <p:spPr>
          <a:xfrm>
            <a:off x="2103120" y="5303520"/>
            <a:ext cx="3809848" cy="96012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Gear strength checked at stall</a:t>
            </a:r>
            <a:endParaRPr lang="en-US" sz="1600" dirty="0"/>
          </a:p>
          <a:p>
            <a:pPr indent="0" marL="0">
              <a:buNone/>
            </a:pPr>
            <a:r>
              <a:rPr lang="en-US" sz="1400" dirty="0">
                <a:solidFill>
                  <a:srgbClr val="404040"/>
                </a:solidFill>
                <a:latin typeface="Arial" pitchFamily="34" charset="0"/>
                <a:ea typeface="Arial" pitchFamily="34" charset="-122"/>
                <a:cs typeface="Arial" pitchFamily="34" charset="-120"/>
              </a:rPr>
              <a:t>Module 1 would have failed; fixed in CAD</a:t>
            </a:r>
            <a:endParaRPr lang="en-US" sz="1600" dirty="0"/>
          </a:p>
        </p:txBody>
      </p:sp>
      <p:sp>
        <p:nvSpPr>
          <p:cNvPr id="19" name="Poor decisions header"/>
          <p:cNvSpPr/>
          <p:nvPr/>
        </p:nvSpPr>
        <p:spPr>
          <a:xfrm>
            <a:off x="6233008" y="1463040"/>
            <a:ext cx="5410048" cy="411480"/>
          </a:xfrm>
          <a:prstGeom prst="rect">
            <a:avLst/>
          </a:prstGeom>
          <a:solidFill>
            <a:srgbClr val="B23A2E"/>
          </a:solidFill>
          <a:ln w="12700">
            <a:solidFill>
              <a:srgbClr val="B23A2E"/>
            </a:solidFill>
            <a:prstDash val="solid"/>
          </a:ln>
        </p:spPr>
      </p:sp>
      <p:sp>
        <p:nvSpPr>
          <p:cNvPr id="20" name="label"/>
          <p:cNvSpPr txBox="1"/>
          <p:nvPr/>
        </p:nvSpPr>
        <p:spPr>
          <a:xfrm>
            <a:off x="6370168" y="1463040"/>
            <a:ext cx="5135728"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Poor decisions</a:t>
            </a:r>
            <a:endParaRPr lang="en-US" sz="1600" dirty="0"/>
          </a:p>
        </p:txBody>
      </p:sp>
      <p:sp>
        <p:nvSpPr>
          <p:cNvPr id="21" name="Shape 15"/>
          <p:cNvSpPr/>
          <p:nvPr/>
        </p:nvSpPr>
        <p:spPr>
          <a:xfrm>
            <a:off x="6233008" y="2011680"/>
            <a:ext cx="1417320" cy="960120"/>
          </a:xfrm>
          <a:prstGeom prst="rect">
            <a:avLst/>
          </a:prstGeom>
          <a:solidFill>
            <a:srgbClr val="F2F2F2"/>
          </a:solidFill>
          <a:ln w="12700">
            <a:solidFill>
              <a:srgbClr val="F2F2F2"/>
            </a:solidFill>
            <a:prstDash val="solid"/>
          </a:ln>
        </p:spPr>
      </p:sp>
      <p:pic>
        <p:nvPicPr>
          <p:cNvPr id="22" name="Mass budget set late" descr="Mass budget set late">    </p:cNvPr>
          <p:cNvPicPr>
            <a:picLocks noChangeAspect="1"/>
          </p:cNvPicPr>
          <p:nvPr/>
        </p:nvPicPr>
        <p:blipFill>
          <a:blip r:embed="rId5"/>
          <a:stretch>
            <a:fillRect/>
          </a:stretch>
        </p:blipFill>
        <p:spPr>
          <a:xfrm>
            <a:off x="6810341" y="2066544"/>
            <a:ext cx="262653" cy="850392"/>
          </a:xfrm>
          <a:prstGeom prst="rect">
            <a:avLst/>
          </a:prstGeom>
        </p:spPr>
      </p:pic>
      <p:sp>
        <p:nvSpPr>
          <p:cNvPr id="23" name="Mass budget set late"/>
          <p:cNvSpPr txBox="1"/>
          <p:nvPr/>
        </p:nvSpPr>
        <p:spPr>
          <a:xfrm>
            <a:off x="7787488" y="2011680"/>
            <a:ext cx="3809848" cy="96012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Mass budget set late</a:t>
            </a:r>
            <a:endParaRPr lang="en-US" sz="1600" dirty="0"/>
          </a:p>
          <a:p>
            <a:pPr indent="0" marL="0">
              <a:buNone/>
            </a:pPr>
            <a:r>
              <a:rPr lang="en-US" sz="1400" dirty="0">
                <a:solidFill>
                  <a:srgbClr val="404040"/>
                </a:solidFill>
                <a:latin typeface="Arial" pitchFamily="34" charset="0"/>
                <a:ea typeface="Arial" pitchFamily="34" charset="-122"/>
                <a:cs typeface="Arial" pitchFamily="34" charset="-120"/>
              </a:rPr>
              <a:t>Claw + jeans is 0.2 kg over, even at 1.5 A</a:t>
            </a:r>
            <a:endParaRPr lang="en-US" sz="1600" dirty="0"/>
          </a:p>
        </p:txBody>
      </p:sp>
      <p:sp>
        <p:nvSpPr>
          <p:cNvPr id="24" name="Shape 17"/>
          <p:cNvSpPr/>
          <p:nvPr/>
        </p:nvSpPr>
        <p:spPr>
          <a:xfrm>
            <a:off x="6233008" y="3108960"/>
            <a:ext cx="1417320" cy="960120"/>
          </a:xfrm>
          <a:prstGeom prst="rect">
            <a:avLst/>
          </a:prstGeom>
          <a:solidFill>
            <a:srgbClr val="F2F2F2"/>
          </a:solidFill>
          <a:ln w="12700">
            <a:solidFill>
              <a:srgbClr val="F2F2F2"/>
            </a:solidFill>
            <a:prstDash val="solid"/>
          </a:ln>
        </p:spPr>
      </p:sp>
      <p:pic>
        <p:nvPicPr>
          <p:cNvPr id="25" name="Bead homing as plan A" descr="Bead homing as plan A">    </p:cNvPr>
          <p:cNvPicPr>
            <a:picLocks noChangeAspect="1"/>
          </p:cNvPicPr>
          <p:nvPr/>
        </p:nvPicPr>
        <p:blipFill>
          <a:blip r:embed="rId6"/>
          <a:stretch>
            <a:fillRect/>
          </a:stretch>
        </p:blipFill>
        <p:spPr>
          <a:xfrm>
            <a:off x="6622771" y="3163824"/>
            <a:ext cx="637794" cy="850392"/>
          </a:xfrm>
          <a:prstGeom prst="rect">
            <a:avLst/>
          </a:prstGeom>
        </p:spPr>
      </p:pic>
      <p:sp>
        <p:nvSpPr>
          <p:cNvPr id="26" name="Bead homing as plan A"/>
          <p:cNvSpPr txBox="1"/>
          <p:nvPr/>
        </p:nvSpPr>
        <p:spPr>
          <a:xfrm>
            <a:off x="7787488" y="3108960"/>
            <a:ext cx="3809848" cy="96012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Bead homing as plan A</a:t>
            </a:r>
            <a:endParaRPr lang="en-US" sz="1600" dirty="0"/>
          </a:p>
          <a:p>
            <a:pPr indent="0" marL="0">
              <a:buNone/>
            </a:pPr>
            <a:r>
              <a:rPr lang="en-US" sz="1400" dirty="0">
                <a:solidFill>
                  <a:srgbClr val="404040"/>
                </a:solidFill>
                <a:latin typeface="Arial" pitchFamily="34" charset="0"/>
                <a:ea typeface="Arial" pitchFamily="34" charset="-122"/>
                <a:cs typeface="Arial" pitchFamily="34" charset="-120"/>
              </a:rPr>
              <a:t>Under a third of the room; a redesign</a:t>
            </a:r>
            <a:endParaRPr lang="en-US" sz="1600" dirty="0"/>
          </a:p>
        </p:txBody>
      </p:sp>
      <p:sp>
        <p:nvSpPr>
          <p:cNvPr id="27" name="Shape 19"/>
          <p:cNvSpPr/>
          <p:nvPr/>
        </p:nvSpPr>
        <p:spPr>
          <a:xfrm>
            <a:off x="6233008" y="4206240"/>
            <a:ext cx="1417320" cy="960120"/>
          </a:xfrm>
          <a:prstGeom prst="rect">
            <a:avLst/>
          </a:prstGeom>
          <a:solidFill>
            <a:srgbClr val="F2F2F2"/>
          </a:solidFill>
          <a:ln w="12700">
            <a:solidFill>
              <a:srgbClr val="F2F2F2"/>
            </a:solidFill>
            <a:prstDash val="solid"/>
          </a:ln>
        </p:spPr>
      </p:sp>
      <p:pic>
        <p:nvPicPr>
          <p:cNvPr id="28" name="Spool printed before a fit coupon" descr="Spool printed before a fit coupon">    </p:cNvPr>
          <p:cNvPicPr>
            <a:picLocks noChangeAspect="1"/>
          </p:cNvPicPr>
          <p:nvPr/>
        </p:nvPicPr>
        <p:blipFill>
          <a:blip r:embed="rId7"/>
          <a:stretch>
            <a:fillRect/>
          </a:stretch>
        </p:blipFill>
        <p:spPr>
          <a:xfrm>
            <a:off x="6488105" y="4261104"/>
            <a:ext cx="907125" cy="850392"/>
          </a:xfrm>
          <a:prstGeom prst="rect">
            <a:avLst/>
          </a:prstGeom>
        </p:spPr>
      </p:pic>
      <p:sp>
        <p:nvSpPr>
          <p:cNvPr id="29" name="Spool printed before a fit coupon"/>
          <p:cNvSpPr txBox="1"/>
          <p:nvPr/>
        </p:nvSpPr>
        <p:spPr>
          <a:xfrm>
            <a:off x="7787488" y="4206240"/>
            <a:ext cx="3809848" cy="96012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Spool printed before a fit coupon</a:t>
            </a:r>
            <a:endParaRPr lang="en-US" sz="1600" dirty="0"/>
          </a:p>
          <a:p>
            <a:pPr indent="0" marL="0">
              <a:buNone/>
            </a:pPr>
            <a:r>
              <a:rPr lang="en-US" sz="1400" dirty="0">
                <a:solidFill>
                  <a:srgbClr val="404040"/>
                </a:solidFill>
                <a:latin typeface="Arial" pitchFamily="34" charset="0"/>
                <a:ea typeface="Arial" pitchFamily="34" charset="-122"/>
                <a:cs typeface="Arial" pitchFamily="34" charset="-120"/>
              </a:rPr>
              <a:t>Three prints to fit the shaft</a:t>
            </a:r>
            <a:endParaRPr lang="en-US" sz="1600" dirty="0"/>
          </a:p>
        </p:txBody>
      </p:sp>
      <p:sp>
        <p:nvSpPr>
          <p:cNvPr id="30" name="Shape 21"/>
          <p:cNvSpPr/>
          <p:nvPr/>
        </p:nvSpPr>
        <p:spPr>
          <a:xfrm>
            <a:off x="6233008" y="5303520"/>
            <a:ext cx="1417320" cy="960120"/>
          </a:xfrm>
          <a:prstGeom prst="rect">
            <a:avLst/>
          </a:prstGeom>
          <a:solidFill>
            <a:srgbClr val="F2F2F2"/>
          </a:solidFill>
          <a:ln w="12700">
            <a:solidFill>
              <a:srgbClr val="F2F2F2"/>
            </a:solidFill>
            <a:prstDash val="solid"/>
          </a:ln>
        </p:spPr>
      </p:sp>
      <p:pic>
        <p:nvPicPr>
          <p:cNvPr id="31" name="Several stations before one was proven" descr="Several stations before one was proven">    </p:cNvPr>
          <p:cNvPicPr>
            <a:picLocks noChangeAspect="1"/>
          </p:cNvPicPr>
          <p:nvPr/>
        </p:nvPicPr>
        <p:blipFill>
          <a:blip r:embed="rId8"/>
          <a:stretch>
            <a:fillRect/>
          </a:stretch>
        </p:blipFill>
        <p:spPr>
          <a:xfrm>
            <a:off x="6622771" y="5358384"/>
            <a:ext cx="637794" cy="850392"/>
          </a:xfrm>
          <a:prstGeom prst="rect">
            <a:avLst/>
          </a:prstGeom>
        </p:spPr>
      </p:pic>
      <p:sp>
        <p:nvSpPr>
          <p:cNvPr id="32" name="Several stations before one was proven"/>
          <p:cNvSpPr txBox="1"/>
          <p:nvPr/>
        </p:nvSpPr>
        <p:spPr>
          <a:xfrm>
            <a:off x="7787488" y="5303520"/>
            <a:ext cx="3809848" cy="960120"/>
          </a:xfrm>
          <a:prstGeom prst="rect">
            <a:avLst/>
          </a:prstGeom>
          <a:noFill/>
          <a:ln/>
        </p:spPr>
        <p:txBody>
          <a:bodyPr wrap="square" lIns="0" tIns="0" rIns="0" bIns="0" rtlCol="0" anchor="ctr"/>
          <a:lstStyle/>
          <a:p>
            <a:pPr indent="0" marL="0">
              <a:buNone/>
            </a:pPr>
            <a:r>
              <a:rPr lang="en-US" sz="1600" b="1" dirty="0">
                <a:solidFill>
                  <a:srgbClr val="000000"/>
                </a:solidFill>
                <a:latin typeface="Arial" pitchFamily="34" charset="0"/>
                <a:ea typeface="Arial" pitchFamily="34" charset="-122"/>
                <a:cs typeface="Arial" pitchFamily="34" charset="-120"/>
              </a:rPr>
              <a:t>Several stations before one was proven</a:t>
            </a:r>
            <a:endParaRPr lang="en-US" sz="1600" dirty="0"/>
          </a:p>
          <a:p>
            <a:pPr indent="0" marL="0">
              <a:buNone/>
            </a:pPr>
            <a:r>
              <a:rPr lang="en-US" sz="1400" dirty="0">
                <a:solidFill>
                  <a:srgbClr val="404040"/>
                </a:solidFill>
                <a:latin typeface="Arial" pitchFamily="34" charset="0"/>
                <a:ea typeface="Arial" pitchFamily="34" charset="-122"/>
                <a:cs typeface="Arial" pitchFamily="34" charset="-120"/>
              </a:rPr>
              <a:t>Every fix repeated on each station</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Thorough vs Scrappy</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Thorough header"/>
          <p:cNvSpPr/>
          <p:nvPr/>
        </p:nvSpPr>
        <p:spPr>
          <a:xfrm>
            <a:off x="548640" y="1463040"/>
            <a:ext cx="5410048" cy="411480"/>
          </a:xfrm>
          <a:prstGeom prst="rect">
            <a:avLst/>
          </a:prstGeom>
          <a:solidFill>
            <a:srgbClr val="1F3A5F"/>
          </a:solidFill>
          <a:ln w="12700">
            <a:solidFill>
              <a:srgbClr val="1F3A5F"/>
            </a:solidFill>
            <a:prstDash val="solid"/>
          </a:ln>
        </p:spPr>
      </p:sp>
      <p:sp>
        <p:nvSpPr>
          <p:cNvPr id="6" name="label"/>
          <p:cNvSpPr txBox="1"/>
          <p:nvPr/>
        </p:nvSpPr>
        <p:spPr>
          <a:xfrm>
            <a:off x="685800" y="1463040"/>
            <a:ext cx="5135728"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Thorough</a:t>
            </a:r>
            <a:endParaRPr lang="en-US" sz="1600" dirty="0"/>
          </a:p>
        </p:txBody>
      </p:sp>
      <p:sp>
        <p:nvSpPr>
          <p:cNvPr id="7" name="Shape 5"/>
          <p:cNvSpPr/>
          <p:nvPr/>
        </p:nvSpPr>
        <p:spPr>
          <a:xfrm>
            <a:off x="548640" y="1965960"/>
            <a:ext cx="5410048" cy="2148840"/>
          </a:xfrm>
          <a:prstGeom prst="rect">
            <a:avLst/>
          </a:prstGeom>
          <a:solidFill>
            <a:srgbClr val="F2F2F2"/>
          </a:solidFill>
          <a:ln w="12700">
            <a:solidFill>
              <a:srgbClr val="F2F2F2"/>
            </a:solidFill>
            <a:prstDash val="solid"/>
          </a:ln>
        </p:spPr>
      </p:sp>
      <p:pic>
        <p:nvPicPr>
          <p:cNvPr id="8" name="Heat fin: mill setup with the shop drawi" descr="Heat fin: mill setup with the shop drawing">    </p:cNvPr>
          <p:cNvPicPr>
            <a:picLocks noChangeAspect="1"/>
          </p:cNvPicPr>
          <p:nvPr/>
        </p:nvPicPr>
        <p:blipFill>
          <a:blip r:embed="rId1"/>
          <a:stretch>
            <a:fillRect/>
          </a:stretch>
        </p:blipFill>
        <p:spPr>
          <a:xfrm>
            <a:off x="2488997" y="2020824"/>
            <a:ext cx="1529334" cy="2039112"/>
          </a:xfrm>
          <a:prstGeom prst="rect">
            <a:avLst/>
          </a:prstGeom>
        </p:spPr>
      </p:pic>
      <p:sp>
        <p:nvSpPr>
          <p:cNvPr id="9" name="Thorough bullets"/>
          <p:cNvSpPr txBox="1"/>
          <p:nvPr/>
        </p:nvSpPr>
        <p:spPr>
          <a:xfrm>
            <a:off x="548640" y="4251960"/>
            <a:ext cx="5410048" cy="1600200"/>
          </a:xfrm>
          <a:prstGeom prst="rect">
            <a:avLst/>
          </a:prstGeom>
          <a:noFill/>
          <a:ln/>
        </p:spPr>
        <p:txBody>
          <a:bodyPr wrap="square" lIns="25400" tIns="0" rIns="50800" bIns="25400" rtlCol="0" anchor="t"/>
          <a:lstStyle/>
          <a:p>
            <a:pPr algn="l" marL="254000" indent="-2540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Heat fin:</a:t>
            </a:r>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 equations → shop drawing → one mill setup, ±0.1 mm</a:t>
            </a:r>
            <a:endParaRPr lang="en-US" sz="1600" dirty="0"/>
          </a:p>
          <a:p>
            <a:pPr algn="l" marL="254000" indent="-2540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Station board:</a:t>
            </a:r>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 schematic checked net by net against the solder</a:t>
            </a:r>
            <a:endParaRPr lang="en-US" sz="1600" dirty="0"/>
          </a:p>
          <a:p>
            <a:pPr algn="l" marL="254000" indent="-2540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Gears:</a:t>
            </a:r>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 strength checked at servo stall before printing</a:t>
            </a:r>
            <a:endParaRPr lang="en-US" sz="1600" dirty="0"/>
          </a:p>
        </p:txBody>
      </p:sp>
      <p:sp>
        <p:nvSpPr>
          <p:cNvPr id="10" name="Scrappy header"/>
          <p:cNvSpPr/>
          <p:nvPr/>
        </p:nvSpPr>
        <p:spPr>
          <a:xfrm>
            <a:off x="6233008" y="1463040"/>
            <a:ext cx="5410048" cy="411480"/>
          </a:xfrm>
          <a:prstGeom prst="rect">
            <a:avLst/>
          </a:prstGeom>
          <a:solidFill>
            <a:srgbClr val="4F6D8F"/>
          </a:solidFill>
          <a:ln w="12700">
            <a:solidFill>
              <a:srgbClr val="4F6D8F"/>
            </a:solidFill>
            <a:prstDash val="solid"/>
          </a:ln>
        </p:spPr>
      </p:sp>
      <p:sp>
        <p:nvSpPr>
          <p:cNvPr id="11" name="label"/>
          <p:cNvSpPr txBox="1"/>
          <p:nvPr/>
        </p:nvSpPr>
        <p:spPr>
          <a:xfrm>
            <a:off x="6370168" y="1463040"/>
            <a:ext cx="5135728" cy="41148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Scrappy</a:t>
            </a:r>
            <a:endParaRPr lang="en-US" sz="1600" dirty="0"/>
          </a:p>
        </p:txBody>
      </p:sp>
      <p:sp>
        <p:nvSpPr>
          <p:cNvPr id="12" name="Shape 9"/>
          <p:cNvSpPr/>
          <p:nvPr/>
        </p:nvSpPr>
        <p:spPr>
          <a:xfrm>
            <a:off x="6233008" y="1965960"/>
            <a:ext cx="5410048" cy="2148840"/>
          </a:xfrm>
          <a:prstGeom prst="rect">
            <a:avLst/>
          </a:prstGeom>
          <a:solidFill>
            <a:srgbClr val="F2F2F2"/>
          </a:solidFill>
          <a:ln w="12700">
            <a:solidFill>
              <a:srgbClr val="F2F2F2"/>
            </a:solidFill>
            <a:prstDash val="solid"/>
          </a:ln>
        </p:spPr>
      </p:sp>
      <p:pic>
        <p:nvPicPr>
          <p:cNvPr id="13" name="ESP32 DevKit jumpered onto the station b" descr="ESP32 DevKit jumpered onto the station breadboard">    </p:cNvPr>
          <p:cNvPicPr>
            <a:picLocks noChangeAspect="1"/>
          </p:cNvPicPr>
          <p:nvPr/>
        </p:nvPicPr>
        <p:blipFill>
          <a:blip r:embed="rId2"/>
          <a:stretch>
            <a:fillRect/>
          </a:stretch>
        </p:blipFill>
        <p:spPr>
          <a:xfrm>
            <a:off x="7578430" y="2020824"/>
            <a:ext cx="2719204" cy="2039112"/>
          </a:xfrm>
          <a:prstGeom prst="rect">
            <a:avLst/>
          </a:prstGeom>
        </p:spPr>
      </p:pic>
      <p:sp>
        <p:nvSpPr>
          <p:cNvPr id="14" name="Scrappy bullets"/>
          <p:cNvSpPr txBox="1"/>
          <p:nvPr/>
        </p:nvSpPr>
        <p:spPr>
          <a:xfrm>
            <a:off x="6233008" y="4251960"/>
            <a:ext cx="5410048" cy="1600200"/>
          </a:xfrm>
          <a:prstGeom prst="rect">
            <a:avLst/>
          </a:prstGeom>
          <a:noFill/>
          <a:ln/>
        </p:spPr>
        <p:txBody>
          <a:bodyPr wrap="square" lIns="25400" tIns="0" rIns="50800" bIns="25400" rtlCol="0" anchor="t"/>
          <a:lstStyle/>
          <a:p>
            <a:pPr algn="l" marL="254000" indent="-2540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Fried a controller:</a:t>
            </a:r>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 ESP32 on nine jumpers, same firmware</a:t>
            </a:r>
            <a:endParaRPr lang="en-US" sz="1600" dirty="0"/>
          </a:p>
          <a:p>
            <a:pPr algn="l" marL="254000" indent="-2540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Floor board:</a:t>
            </a:r>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 paper tags, 250 mm grid</a:t>
            </a:r>
            <a:endParaRPr lang="en-US" sz="1600" dirty="0"/>
          </a:p>
          <a:p>
            <a:pPr algn="l" marL="254000" indent="-2540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Prototype fin:</a:t>
            </a:r>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 0.019 in sheet on hand; design is 1/8 in</a:t>
            </a:r>
            <a:endParaRPr lang="en-US" sz="1600" dirty="0"/>
          </a:p>
          <a:p>
            <a:pPr algn="l" marL="254000" indent="-254000">
              <a:spcAft>
                <a:spcPts val="800"/>
              </a:spcAft>
              <a:buSzPct val="100000"/>
              <a:buChar char="•"/>
            </a:pPr>
            <a:r>
              <a:rPr lang="en-US" sz="1600" b="1" dirty="0">
                <a:solidFill>
                  <a:srgbClr val="000000"/>
                </a:solidFill>
                <a:latin typeface="Arial" pitchFamily="34" charset="0"/>
                <a:ea typeface="Arial" pitchFamily="34" charset="-122"/>
                <a:cs typeface="Arial" pitchFamily="34" charset="-120"/>
              </a:rPr>
              <a:t>Three stations</a:t>
            </a:r>
            <a:pPr algn="l" marL="254000" indent="-254000">
              <a:spcAft>
                <a:spcPts val="800"/>
              </a:spcAft>
              <a:buSzPct val="100000"/>
              <a:buChar char="•"/>
            </a:pPr>
            <a:r>
              <a:rPr lang="en-US" sz="1600" dirty="0">
                <a:solidFill>
                  <a:srgbClr val="000000"/>
                </a:solidFill>
                <a:latin typeface="Arial" pitchFamily="34" charset="0"/>
                <a:ea typeface="Arial" pitchFamily="34" charset="-122"/>
                <a:cs typeface="Arial" pitchFamily="34" charset="-120"/>
              </a:rPr>
              <a:t> tested while the fourth is built</a:t>
            </a:r>
            <a:endParaRPr lang="en-US" sz="1600" dirty="0"/>
          </a:p>
        </p:txBody>
      </p:sp>
      <p:sp>
        <p:nvSpPr>
          <p:cNvPr id="15" name="rule box"/>
          <p:cNvSpPr/>
          <p:nvPr/>
        </p:nvSpPr>
        <p:spPr>
          <a:xfrm>
            <a:off x="548640" y="5852160"/>
            <a:ext cx="11094415" cy="438912"/>
          </a:xfrm>
          <a:prstGeom prst="rect">
            <a:avLst/>
          </a:prstGeom>
          <a:solidFill>
            <a:srgbClr val="F2F2F2"/>
          </a:solidFill>
          <a:ln w="12700">
            <a:solidFill>
              <a:srgbClr val="F2F2F2"/>
            </a:solidFill>
            <a:prstDash val="solid"/>
          </a:ln>
        </p:spPr>
      </p:sp>
      <p:sp>
        <p:nvSpPr>
          <p:cNvPr id="16" name="label"/>
          <p:cNvSpPr txBox="1"/>
          <p:nvPr/>
        </p:nvSpPr>
        <p:spPr>
          <a:xfrm>
            <a:off x="685800" y="5852160"/>
            <a:ext cx="10820095" cy="438912"/>
          </a:xfrm>
          <a:prstGeom prst="rect">
            <a:avLst/>
          </a:prstGeom>
          <a:noFill/>
          <a:ln/>
        </p:spPr>
        <p:txBody>
          <a:bodyPr wrap="square" lIns="0" tIns="0" rIns="0" bIns="0" rtlCol="0" anchor="ctr"/>
          <a:lstStyle/>
          <a:p>
            <a:pPr algn="l" indent="0" marL="0">
              <a:buNone/>
            </a:pPr>
            <a:r>
              <a:rPr lang="en-US" sz="1500" b="1" dirty="0">
                <a:solidFill>
                  <a:srgbClr val="000000"/>
                </a:solidFill>
                <a:latin typeface="Arial" pitchFamily="34" charset="0"/>
                <a:ea typeface="Arial" pitchFamily="34" charset="-122"/>
                <a:cs typeface="Arial" pitchFamily="34" charset="-120"/>
              </a:rPr>
              <a:t>My rule:</a:t>
            </a:r>
            <a:pPr algn="l" indent="0" marL="0">
              <a:buNone/>
            </a:pPr>
            <a:r>
              <a:rPr lang="en-US" sz="1500" dirty="0">
                <a:solidFill>
                  <a:srgbClr val="000000"/>
                </a:solidFill>
                <a:latin typeface="Arial" pitchFamily="34" charset="0"/>
                <a:ea typeface="Arial" pitchFamily="34" charset="-122"/>
                <a:cs typeface="Arial" pitchFamily="34" charset="-120"/>
              </a:rPr>
              <a:t> thorough where a mistake is expensive or unsafe; scrappy where it is cheap to undo</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spc="100" kern="0" dirty="0">
                <a:solidFill>
                  <a:srgbClr val="A6A6A6"/>
                </a:solidFill>
                <a:latin typeface="Arial" pitchFamily="34" charset="0"/>
                <a:ea typeface="Arial" pitchFamily="34" charset="-122"/>
                <a:cs typeface="Arial" pitchFamily="34" charset="-120"/>
              </a:rPr>
              <a:t>INTRO</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DESIGN</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BUILD</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spc="100" kern="0" dirty="0">
                <a:solidFill>
                  <a:srgbClr val="A6A6A6"/>
                </a:solidFill>
                <a:latin typeface="Arial" pitchFamily="34" charset="0"/>
                <a:ea typeface="Arial" pitchFamily="34" charset="-122"/>
                <a:cs typeface="Arial" pitchFamily="34" charset="-120"/>
              </a:rPr>
              <a:t>TEST</a:t>
            </a:r>
            <a:pPr indent="0" marL="0">
              <a:buNone/>
            </a:pPr>
            <a:r>
              <a:rPr lang="en-US" sz="1100" spc="100" kern="0" dirty="0">
                <a:solidFill>
                  <a:srgbClr val="A6A6A6"/>
                </a:solidFill>
                <a:latin typeface="Arial" pitchFamily="34" charset="0"/>
                <a:ea typeface="Arial" pitchFamily="34" charset="-122"/>
                <a:cs typeface="Arial" pitchFamily="34" charset="-120"/>
              </a:rPr>
              <a:t>   ›   </a:t>
            </a:r>
            <a:pPr indent="0" marL="0">
              <a:buNone/>
            </a:pPr>
            <a:r>
              <a:rPr lang="en-US" sz="1100" b="1" spc="100" kern="0" dirty="0">
                <a:solidFill>
                  <a:srgbClr val="1F3A5F"/>
                </a:solidFill>
                <a:latin typeface="Arial" pitchFamily="34" charset="0"/>
                <a:ea typeface="Arial" pitchFamily="34" charset="-122"/>
                <a:cs typeface="Arial" pitchFamily="34" charset="-120"/>
              </a:rPr>
              <a:t>LESSONS</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Lessons Learned</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label"/>
          <p:cNvSpPr txBox="1"/>
          <p:nvPr/>
        </p:nvSpPr>
        <p:spPr>
          <a:xfrm>
            <a:off x="548640" y="1417320"/>
            <a:ext cx="5364328" cy="365760"/>
          </a:xfrm>
          <a:prstGeom prst="rect">
            <a:avLst/>
          </a:prstGeom>
          <a:noFill/>
          <a:ln/>
        </p:spPr>
        <p:txBody>
          <a:bodyPr wrap="square" lIns="0" tIns="0" rIns="0" bIns="0" rtlCol="0" anchor="ctr"/>
          <a:lstStyle/>
          <a:p>
            <a:pPr algn="l" indent="0" marL="0">
              <a:buNone/>
            </a:pPr>
            <a:r>
              <a:rPr lang="en-US" sz="1800" b="1" dirty="0">
                <a:solidFill>
                  <a:srgbClr val="1F3A5F"/>
                </a:solidFill>
                <a:latin typeface="Arial" pitchFamily="34" charset="0"/>
                <a:ea typeface="Arial" pitchFamily="34" charset="-122"/>
                <a:cs typeface="Arial" pitchFamily="34" charset="-120"/>
              </a:rPr>
              <a:t>Do differently</a:t>
            </a:r>
            <a:endParaRPr lang="en-US" sz="1800" dirty="0"/>
          </a:p>
        </p:txBody>
      </p:sp>
      <p:sp>
        <p:nvSpPr>
          <p:cNvPr id="6" name="do differently"/>
          <p:cNvSpPr txBox="1"/>
          <p:nvPr/>
        </p:nvSpPr>
        <p:spPr>
          <a:xfrm>
            <a:off x="548640" y="1828800"/>
            <a:ext cx="5364328" cy="2468880"/>
          </a:xfrm>
          <a:prstGeom prst="rect">
            <a:avLst/>
          </a:prstGeom>
          <a:noFill/>
          <a:ln/>
        </p:spPr>
        <p:txBody>
          <a:bodyPr wrap="square" lIns="25400" tIns="0" rIns="50800" bIns="25400" rtlCol="0" anchor="t"/>
          <a:lstStyle/>
          <a:p>
            <a:pPr algn="l" marL="254000" indent="-254000">
              <a:spcAft>
                <a:spcPts val="800"/>
              </a:spcAft>
              <a:buSzPct val="100000"/>
              <a:buChar char="•"/>
            </a:pPr>
            <a:r>
              <a:rPr lang="en-US" sz="1700" b="1" dirty="0">
                <a:solidFill>
                  <a:srgbClr val="000000"/>
                </a:solidFill>
                <a:latin typeface="Arial" pitchFamily="34" charset="0"/>
                <a:ea typeface="Arial" pitchFamily="34" charset="-122"/>
                <a:cs typeface="Arial" pitchFamily="34" charset="-120"/>
              </a:rPr>
              <a:t>Weigh early:</a:t>
            </a:r>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 budget from winch pull</a:t>
            </a:r>
            <a:endParaRPr lang="en-US" sz="1700" dirty="0"/>
          </a:p>
          <a:p>
            <a:pPr algn="l" marL="254000" indent="-254000">
              <a:spcAft>
                <a:spcPts val="800"/>
              </a:spcAft>
              <a:buSzPct val="100000"/>
              <a:buChar char="•"/>
            </a:pPr>
            <a:r>
              <a:rPr lang="en-US" sz="1700" b="1" dirty="0">
                <a:solidFill>
                  <a:srgbClr val="000000"/>
                </a:solidFill>
                <a:latin typeface="Arial" pitchFamily="34" charset="0"/>
                <a:ea typeface="Arial" pitchFamily="34" charset="-122"/>
                <a:cs typeface="Arial" pitchFamily="34" charset="-120"/>
              </a:rPr>
              <a:t>Coupons first:</a:t>
            </a:r>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 fit before part</a:t>
            </a:r>
            <a:endParaRPr lang="en-US" sz="1700" dirty="0"/>
          </a:p>
          <a:p>
            <a:pPr algn="l" marL="254000" indent="-254000">
              <a:spcAft>
                <a:spcPts val="800"/>
              </a:spcAft>
              <a:buSzPct val="100000"/>
              <a:buChar char="•"/>
            </a:pPr>
            <a:r>
              <a:rPr lang="en-US" sz="1700" b="1" dirty="0">
                <a:solidFill>
                  <a:srgbClr val="000000"/>
                </a:solidFill>
                <a:latin typeface="Arial" pitchFamily="34" charset="0"/>
                <a:ea typeface="Arial" pitchFamily="34" charset="-122"/>
                <a:cs typeface="Arial" pitchFamily="34" charset="-120"/>
              </a:rPr>
              <a:t>One station first:</a:t>
            </a:r>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 prove, then copy</a:t>
            </a:r>
            <a:endParaRPr lang="en-US" sz="1700" dirty="0"/>
          </a:p>
          <a:p>
            <a:pPr algn="l" marL="254000" indent="-254000">
              <a:spcAft>
                <a:spcPts val="800"/>
              </a:spcAft>
              <a:buSzPct val="100000"/>
              <a:buChar char="•"/>
            </a:pPr>
            <a:r>
              <a:rPr lang="en-US" sz="1700" b="1" dirty="0">
                <a:solidFill>
                  <a:srgbClr val="000000"/>
                </a:solidFill>
                <a:latin typeface="Arial" pitchFamily="34" charset="0"/>
                <a:ea typeface="Arial" pitchFamily="34" charset="-122"/>
                <a:cs typeface="Arial" pitchFamily="34" charset="-120"/>
              </a:rPr>
              <a:t>Meter before code</a:t>
            </a:r>
            <a:endParaRPr lang="en-US" sz="1700" dirty="0"/>
          </a:p>
        </p:txBody>
      </p:sp>
      <p:sp>
        <p:nvSpPr>
          <p:cNvPr id="7" name="label"/>
          <p:cNvSpPr txBox="1"/>
          <p:nvPr/>
        </p:nvSpPr>
        <p:spPr>
          <a:xfrm>
            <a:off x="6278728" y="1417320"/>
            <a:ext cx="5364328" cy="365760"/>
          </a:xfrm>
          <a:prstGeom prst="rect">
            <a:avLst/>
          </a:prstGeom>
          <a:noFill/>
          <a:ln/>
        </p:spPr>
        <p:txBody>
          <a:bodyPr wrap="square" lIns="0" tIns="0" rIns="0" bIns="0" rtlCol="0" anchor="ctr"/>
          <a:lstStyle/>
          <a:p>
            <a:pPr algn="l" indent="0" marL="0">
              <a:buNone/>
            </a:pPr>
            <a:r>
              <a:rPr lang="en-US" sz="1800" b="1" dirty="0">
                <a:solidFill>
                  <a:srgbClr val="1F3A5F"/>
                </a:solidFill>
                <a:latin typeface="Arial" pitchFamily="34" charset="0"/>
                <a:ea typeface="Arial" pitchFamily="34" charset="-122"/>
                <a:cs typeface="Arial" pitchFamily="34" charset="-120"/>
              </a:rPr>
              <a:t>In half the time</a:t>
            </a:r>
            <a:endParaRPr lang="en-US" sz="1800" dirty="0"/>
          </a:p>
        </p:txBody>
      </p:sp>
      <p:sp>
        <p:nvSpPr>
          <p:cNvPr id="8" name="half the time"/>
          <p:cNvSpPr txBox="1"/>
          <p:nvPr/>
        </p:nvSpPr>
        <p:spPr>
          <a:xfrm>
            <a:off x="6278728" y="1828800"/>
            <a:ext cx="5364328" cy="2468880"/>
          </a:xfrm>
          <a:prstGeom prst="rect">
            <a:avLst/>
          </a:prstGeom>
          <a:noFill/>
          <a:ln/>
        </p:spPr>
        <p:txBody>
          <a:bodyPr wrap="square" lIns="25400" tIns="0" rIns="50800" bIns="25400" rtlCol="0" anchor="t"/>
          <a:lstStyle/>
          <a:p>
            <a:pPr algn="l" marL="254000" indent="-254000">
              <a:spcAft>
                <a:spcPts val="800"/>
              </a:spcAft>
              <a:buSzPct val="100000"/>
              <a:buChar char="•"/>
            </a:pPr>
            <a:r>
              <a:rPr lang="en-US" sz="1700" b="1" dirty="0">
                <a:solidFill>
                  <a:srgbClr val="000000"/>
                </a:solidFill>
                <a:latin typeface="Arial" pitchFamily="34" charset="0"/>
                <a:ea typeface="Arial" pitchFamily="34" charset="-122"/>
                <a:cs typeface="Arial" pitchFamily="34" charset="-120"/>
              </a:rPr>
              <a:t>Freeze</a:t>
            </a:r>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 requirements in week 1</a:t>
            </a:r>
            <a:endParaRPr lang="en-US" sz="1700" dirty="0"/>
          </a:p>
          <a:p>
            <a:pPr algn="l" marL="254000" indent="-254000">
              <a:spcAft>
                <a:spcPts val="800"/>
              </a:spcAft>
              <a:buSzPct val="100000"/>
              <a:buChar char="•"/>
            </a:pPr>
            <a:r>
              <a:rPr lang="en-US" sz="1700" b="1" dirty="0">
                <a:solidFill>
                  <a:srgbClr val="000000"/>
                </a:solidFill>
                <a:latin typeface="Arial" pitchFamily="34" charset="0"/>
                <a:ea typeface="Arial" pitchFamily="34" charset="-122"/>
                <a:cs typeface="Arial" pitchFamily="34" charset="-120"/>
              </a:rPr>
              <a:t>Order</a:t>
            </a:r>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 long-lead parts on day 1</a:t>
            </a:r>
            <a:endParaRPr lang="en-US" sz="1700" dirty="0"/>
          </a:p>
          <a:p>
            <a:pPr algn="l" marL="254000" indent="-254000">
              <a:spcAft>
                <a:spcPts val="800"/>
              </a:spcAft>
              <a:buSzPct val="100000"/>
              <a:buChar char="•"/>
            </a:pPr>
            <a:r>
              <a:rPr lang="en-US" sz="1700" b="1" dirty="0">
                <a:solidFill>
                  <a:srgbClr val="000000"/>
                </a:solidFill>
                <a:latin typeface="Arial" pitchFamily="34" charset="0"/>
                <a:ea typeface="Arial" pitchFamily="34" charset="-122"/>
                <a:cs typeface="Arial" pitchFamily="34" charset="-120"/>
              </a:rPr>
              <a:t>Start</a:t>
            </a:r>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 with 3 stations</a:t>
            </a:r>
            <a:endParaRPr lang="en-US" sz="1700" dirty="0"/>
          </a:p>
          <a:p>
            <a:pPr algn="l" marL="254000" indent="-254000">
              <a:spcAft>
                <a:spcPts val="800"/>
              </a:spcAft>
              <a:buSzPct val="100000"/>
              <a:buChar char="•"/>
            </a:pPr>
            <a:r>
              <a:rPr lang="en-US" sz="1700" b="1" dirty="0">
                <a:solidFill>
                  <a:srgbClr val="000000"/>
                </a:solidFill>
                <a:latin typeface="Arial" pitchFamily="34" charset="0"/>
                <a:ea typeface="Arial" pitchFamily="34" charset="-122"/>
                <a:cs typeface="Arial" pitchFamily="34" charset="-120"/>
              </a:rPr>
              <a:t>One generation</a:t>
            </a:r>
            <a:pPr algn="l" marL="254000" indent="-254000">
              <a:spcAft>
                <a:spcPts val="800"/>
              </a:spcAft>
              <a:buSzPct val="100000"/>
              <a:buChar char="•"/>
            </a:pPr>
            <a:r>
              <a:rPr lang="en-US" sz="1700" dirty="0">
                <a:solidFill>
                  <a:srgbClr val="000000"/>
                </a:solidFill>
                <a:latin typeface="Arial" pitchFamily="34" charset="0"/>
                <a:ea typeface="Arial" pitchFamily="34" charset="-122"/>
                <a:cs typeface="Arial" pitchFamily="34" charset="-120"/>
              </a:rPr>
              <a:t> per part, test-gated</a:t>
            </a:r>
            <a:endParaRPr lang="en-US" sz="1700" dirty="0"/>
          </a:p>
        </p:txBody>
      </p:sp>
      <p:sp>
        <p:nvSpPr>
          <p:cNvPr id="9" name="label"/>
          <p:cNvSpPr txBox="1"/>
          <p:nvPr/>
        </p:nvSpPr>
        <p:spPr>
          <a:xfrm>
            <a:off x="548640" y="4434840"/>
            <a:ext cx="1234440" cy="566928"/>
          </a:xfrm>
          <a:prstGeom prst="rect">
            <a:avLst/>
          </a:prstGeom>
          <a:noFill/>
          <a:ln/>
        </p:spPr>
        <p:txBody>
          <a:bodyPr wrap="square" lIns="0" tIns="0" rIns="0" bIns="0" rtlCol="0" anchor="ctr"/>
          <a:lstStyle/>
          <a:p>
            <a:pPr algn="l" indent="0" marL="0">
              <a:buNone/>
            </a:pPr>
            <a:r>
              <a:rPr lang="en-US" sz="1300" b="1" dirty="0">
                <a:solidFill>
                  <a:srgbClr val="1F3A5F"/>
                </a:solidFill>
                <a:latin typeface="Arial" pitchFamily="34" charset="0"/>
                <a:ea typeface="Arial" pitchFamily="34" charset="-122"/>
                <a:cs typeface="Arial" pitchFamily="34" charset="-120"/>
              </a:rPr>
              <a:t>Actual:</a:t>
            </a:r>
            <a:endParaRPr lang="en-US" sz="1300" dirty="0"/>
          </a:p>
          <a:p>
            <a:pPr algn="l" indent="0" marL="0">
              <a:buNone/>
            </a:pPr>
            <a:r>
              <a:rPr lang="en-US" sz="1300" b="1" dirty="0">
                <a:solidFill>
                  <a:srgbClr val="1F3A5F"/>
                </a:solidFill>
                <a:latin typeface="Arial" pitchFamily="34" charset="0"/>
                <a:ea typeface="Arial" pitchFamily="34" charset="-122"/>
                <a:cs typeface="Arial" pitchFamily="34" charset="-120"/>
              </a:rPr>
              <a:t>15 weeks</a:t>
            </a:r>
            <a:endParaRPr lang="en-US" sz="1300" dirty="0"/>
          </a:p>
        </p:txBody>
      </p:sp>
      <p:sp>
        <p:nvSpPr>
          <p:cNvPr id="10" name="Concept"/>
          <p:cNvSpPr/>
          <p:nvPr/>
        </p:nvSpPr>
        <p:spPr>
          <a:xfrm>
            <a:off x="1874520" y="4434840"/>
            <a:ext cx="1972493" cy="566928"/>
          </a:xfrm>
          <a:prstGeom prst="rect">
            <a:avLst/>
          </a:prstGeom>
          <a:solidFill>
            <a:srgbClr val="D9DEE5"/>
          </a:solidFill>
          <a:ln w="19050">
            <a:solidFill>
              <a:srgbClr val="FFFFFF"/>
            </a:solidFill>
            <a:prstDash val="solid"/>
          </a:ln>
        </p:spPr>
      </p:sp>
      <p:sp>
        <p:nvSpPr>
          <p:cNvPr id="11" name="label"/>
          <p:cNvSpPr txBox="1"/>
          <p:nvPr/>
        </p:nvSpPr>
        <p:spPr>
          <a:xfrm>
            <a:off x="1911096" y="4434840"/>
            <a:ext cx="1899341" cy="566928"/>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Concept</a:t>
            </a:r>
            <a:endParaRPr lang="en-US" sz="1200" dirty="0"/>
          </a:p>
        </p:txBody>
      </p:sp>
      <p:sp>
        <p:nvSpPr>
          <p:cNvPr id="12" name="Gen 1"/>
          <p:cNvSpPr/>
          <p:nvPr/>
        </p:nvSpPr>
        <p:spPr>
          <a:xfrm>
            <a:off x="3847013" y="4434840"/>
            <a:ext cx="2629990" cy="566928"/>
          </a:xfrm>
          <a:prstGeom prst="rect">
            <a:avLst/>
          </a:prstGeom>
          <a:solidFill>
            <a:srgbClr val="4F6D8F"/>
          </a:solidFill>
          <a:ln w="19050">
            <a:solidFill>
              <a:srgbClr val="FFFFFF"/>
            </a:solidFill>
            <a:prstDash val="solid"/>
          </a:ln>
        </p:spPr>
      </p:sp>
      <p:sp>
        <p:nvSpPr>
          <p:cNvPr id="13" name="label"/>
          <p:cNvSpPr txBox="1"/>
          <p:nvPr/>
        </p:nvSpPr>
        <p:spPr>
          <a:xfrm>
            <a:off x="3883589" y="4434840"/>
            <a:ext cx="2556838"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Gen 1</a:t>
            </a:r>
            <a:endParaRPr lang="en-US" sz="1200" dirty="0"/>
          </a:p>
        </p:txBody>
      </p:sp>
      <p:sp>
        <p:nvSpPr>
          <p:cNvPr id="14" name="Rethink"/>
          <p:cNvSpPr/>
          <p:nvPr/>
        </p:nvSpPr>
        <p:spPr>
          <a:xfrm>
            <a:off x="6477003" y="4434840"/>
            <a:ext cx="3193560" cy="566928"/>
          </a:xfrm>
          <a:prstGeom prst="rect">
            <a:avLst/>
          </a:prstGeom>
          <a:solidFill>
            <a:srgbClr val="D9DEE5"/>
          </a:solidFill>
          <a:ln w="19050">
            <a:solidFill>
              <a:srgbClr val="FFFFFF"/>
            </a:solidFill>
            <a:prstDash val="solid"/>
          </a:ln>
        </p:spPr>
      </p:sp>
      <p:sp>
        <p:nvSpPr>
          <p:cNvPr id="15" name="label"/>
          <p:cNvSpPr txBox="1"/>
          <p:nvPr/>
        </p:nvSpPr>
        <p:spPr>
          <a:xfrm>
            <a:off x="6513579" y="4434840"/>
            <a:ext cx="3120408" cy="566928"/>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Rethink</a:t>
            </a:r>
            <a:endParaRPr lang="en-US" sz="1200" dirty="0"/>
          </a:p>
        </p:txBody>
      </p:sp>
      <p:sp>
        <p:nvSpPr>
          <p:cNvPr id="16" name="Gen 2 → final"/>
          <p:cNvSpPr/>
          <p:nvPr/>
        </p:nvSpPr>
        <p:spPr>
          <a:xfrm>
            <a:off x="9670563" y="4434840"/>
            <a:ext cx="1408923" cy="566928"/>
          </a:xfrm>
          <a:prstGeom prst="rect">
            <a:avLst/>
          </a:prstGeom>
          <a:solidFill>
            <a:srgbClr val="4F6D8F"/>
          </a:solidFill>
          <a:ln w="19050">
            <a:solidFill>
              <a:srgbClr val="FFFFFF"/>
            </a:solidFill>
            <a:prstDash val="solid"/>
          </a:ln>
        </p:spPr>
      </p:sp>
      <p:sp>
        <p:nvSpPr>
          <p:cNvPr id="17" name="label"/>
          <p:cNvSpPr txBox="1"/>
          <p:nvPr/>
        </p:nvSpPr>
        <p:spPr>
          <a:xfrm>
            <a:off x="9707139" y="4434840"/>
            <a:ext cx="1335771"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Gen 2 → final</a:t>
            </a:r>
            <a:endParaRPr lang="en-US" sz="1200" dirty="0"/>
          </a:p>
        </p:txBody>
      </p:sp>
      <p:sp>
        <p:nvSpPr>
          <p:cNvPr id="18" name="Build, test"/>
          <p:cNvSpPr/>
          <p:nvPr/>
        </p:nvSpPr>
        <p:spPr>
          <a:xfrm>
            <a:off x="11079486" y="4434840"/>
            <a:ext cx="563569" cy="566928"/>
          </a:xfrm>
          <a:prstGeom prst="rect">
            <a:avLst/>
          </a:prstGeom>
          <a:solidFill>
            <a:srgbClr val="1F3A5F"/>
          </a:solidFill>
          <a:ln w="19050">
            <a:solidFill>
              <a:srgbClr val="FFFFFF"/>
            </a:solidFill>
            <a:prstDash val="solid"/>
          </a:ln>
        </p:spPr>
      </p:sp>
      <p:sp>
        <p:nvSpPr>
          <p:cNvPr id="19" name="label"/>
          <p:cNvSpPr txBox="1"/>
          <p:nvPr/>
        </p:nvSpPr>
        <p:spPr>
          <a:xfrm>
            <a:off x="11116062" y="4434840"/>
            <a:ext cx="490417"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Build, test</a:t>
            </a:r>
            <a:endParaRPr lang="en-US" sz="1000" dirty="0"/>
          </a:p>
        </p:txBody>
      </p:sp>
      <p:sp>
        <p:nvSpPr>
          <p:cNvPr id="20" name="label"/>
          <p:cNvSpPr txBox="1"/>
          <p:nvPr/>
        </p:nvSpPr>
        <p:spPr>
          <a:xfrm>
            <a:off x="548640" y="5321808"/>
            <a:ext cx="1234440" cy="566928"/>
          </a:xfrm>
          <a:prstGeom prst="rect">
            <a:avLst/>
          </a:prstGeom>
          <a:noFill/>
          <a:ln/>
        </p:spPr>
        <p:txBody>
          <a:bodyPr wrap="square" lIns="0" tIns="0" rIns="0" bIns="0" rtlCol="0" anchor="ctr"/>
          <a:lstStyle/>
          <a:p>
            <a:pPr algn="l" indent="0" marL="0">
              <a:buNone/>
            </a:pPr>
            <a:r>
              <a:rPr lang="en-US" sz="1300" b="1" dirty="0">
                <a:solidFill>
                  <a:srgbClr val="1F3A5F"/>
                </a:solidFill>
                <a:latin typeface="Arial" pitchFamily="34" charset="0"/>
                <a:ea typeface="Arial" pitchFamily="34" charset="-122"/>
                <a:cs typeface="Arial" pitchFamily="34" charset="-120"/>
              </a:rPr>
              <a:t>Half:</a:t>
            </a:r>
            <a:endParaRPr lang="en-US" sz="1300" dirty="0"/>
          </a:p>
          <a:p>
            <a:pPr algn="l" indent="0" marL="0">
              <a:buNone/>
            </a:pPr>
            <a:r>
              <a:rPr lang="en-US" sz="1300" b="1" dirty="0">
                <a:solidFill>
                  <a:srgbClr val="1F3A5F"/>
                </a:solidFill>
                <a:latin typeface="Arial" pitchFamily="34" charset="0"/>
                <a:ea typeface="Arial" pitchFamily="34" charset="-122"/>
                <a:cs typeface="Arial" pitchFamily="34" charset="-120"/>
              </a:rPr>
              <a:t>7 weeks</a:t>
            </a:r>
            <a:endParaRPr lang="en-US" sz="1300" dirty="0"/>
          </a:p>
        </p:txBody>
      </p:sp>
      <p:sp>
        <p:nvSpPr>
          <p:cNvPr id="21" name="Plan"/>
          <p:cNvSpPr/>
          <p:nvPr/>
        </p:nvSpPr>
        <p:spPr>
          <a:xfrm>
            <a:off x="1874520" y="5321808"/>
            <a:ext cx="657498" cy="566928"/>
          </a:xfrm>
          <a:prstGeom prst="rect">
            <a:avLst/>
          </a:prstGeom>
          <a:solidFill>
            <a:srgbClr val="D9DEE5"/>
          </a:solidFill>
          <a:ln w="19050">
            <a:solidFill>
              <a:srgbClr val="FFFFFF"/>
            </a:solidFill>
            <a:prstDash val="solid"/>
          </a:ln>
        </p:spPr>
      </p:sp>
      <p:sp>
        <p:nvSpPr>
          <p:cNvPr id="22" name="label"/>
          <p:cNvSpPr txBox="1"/>
          <p:nvPr/>
        </p:nvSpPr>
        <p:spPr>
          <a:xfrm>
            <a:off x="1911096" y="5321808"/>
            <a:ext cx="584346" cy="566928"/>
          </a:xfrm>
          <a:prstGeom prst="rect">
            <a:avLst/>
          </a:prstGeom>
          <a:noFill/>
          <a:ln/>
        </p:spPr>
        <p:txBody>
          <a:bodyPr wrap="square" lIns="0" tIns="0" rIns="0" bIns="0" rtlCol="0" anchor="ctr"/>
          <a:lstStyle/>
          <a:p>
            <a:pPr algn="ctr" indent="0" marL="0">
              <a:buNone/>
            </a:pPr>
            <a:r>
              <a:rPr lang="en-US" sz="1000" b="1" dirty="0">
                <a:solidFill>
                  <a:srgbClr val="1F3A5F"/>
                </a:solidFill>
                <a:latin typeface="Arial" pitchFamily="34" charset="0"/>
                <a:ea typeface="Arial" pitchFamily="34" charset="-122"/>
                <a:cs typeface="Arial" pitchFamily="34" charset="-120"/>
              </a:rPr>
              <a:t>Plan</a:t>
            </a:r>
            <a:endParaRPr lang="en-US" sz="1000" dirty="0"/>
          </a:p>
        </p:txBody>
      </p:sp>
      <p:sp>
        <p:nvSpPr>
          <p:cNvPr id="23" name="One full station + tests"/>
          <p:cNvSpPr/>
          <p:nvPr/>
        </p:nvSpPr>
        <p:spPr>
          <a:xfrm>
            <a:off x="2532018" y="5321808"/>
            <a:ext cx="1314995" cy="566928"/>
          </a:xfrm>
          <a:prstGeom prst="rect">
            <a:avLst/>
          </a:prstGeom>
          <a:solidFill>
            <a:srgbClr val="4F6D8F"/>
          </a:solidFill>
          <a:ln w="19050">
            <a:solidFill>
              <a:srgbClr val="FFFFFF"/>
            </a:solidFill>
            <a:prstDash val="solid"/>
          </a:ln>
        </p:spPr>
      </p:sp>
      <p:sp>
        <p:nvSpPr>
          <p:cNvPr id="24" name="label"/>
          <p:cNvSpPr txBox="1"/>
          <p:nvPr/>
        </p:nvSpPr>
        <p:spPr>
          <a:xfrm>
            <a:off x="2568594" y="5321808"/>
            <a:ext cx="1241843"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One full station + tests</a:t>
            </a:r>
            <a:endParaRPr lang="en-US" sz="1200" dirty="0"/>
          </a:p>
        </p:txBody>
      </p:sp>
      <p:sp>
        <p:nvSpPr>
          <p:cNvPr id="25" name="Copy"/>
          <p:cNvSpPr/>
          <p:nvPr/>
        </p:nvSpPr>
        <p:spPr>
          <a:xfrm>
            <a:off x="3847013" y="5321808"/>
            <a:ext cx="657498" cy="566928"/>
          </a:xfrm>
          <a:prstGeom prst="rect">
            <a:avLst/>
          </a:prstGeom>
          <a:solidFill>
            <a:srgbClr val="D9DEE5"/>
          </a:solidFill>
          <a:ln w="19050">
            <a:solidFill>
              <a:srgbClr val="FFFFFF"/>
            </a:solidFill>
            <a:prstDash val="solid"/>
          </a:ln>
        </p:spPr>
      </p:sp>
      <p:sp>
        <p:nvSpPr>
          <p:cNvPr id="26" name="label"/>
          <p:cNvSpPr txBox="1"/>
          <p:nvPr/>
        </p:nvSpPr>
        <p:spPr>
          <a:xfrm>
            <a:off x="3883589" y="5321808"/>
            <a:ext cx="584346" cy="566928"/>
          </a:xfrm>
          <a:prstGeom prst="rect">
            <a:avLst/>
          </a:prstGeom>
          <a:noFill/>
          <a:ln/>
        </p:spPr>
        <p:txBody>
          <a:bodyPr wrap="square" lIns="0" tIns="0" rIns="0" bIns="0" rtlCol="0" anchor="ctr"/>
          <a:lstStyle/>
          <a:p>
            <a:pPr algn="ctr" indent="0" marL="0">
              <a:buNone/>
            </a:pPr>
            <a:r>
              <a:rPr lang="en-US" sz="1000" b="1" dirty="0">
                <a:solidFill>
                  <a:srgbClr val="1F3A5F"/>
                </a:solidFill>
                <a:latin typeface="Arial" pitchFamily="34" charset="0"/>
                <a:ea typeface="Arial" pitchFamily="34" charset="-122"/>
                <a:cs typeface="Arial" pitchFamily="34" charset="-120"/>
              </a:rPr>
              <a:t>Copy</a:t>
            </a:r>
            <a:endParaRPr lang="en-US" sz="1000" dirty="0"/>
          </a:p>
        </p:txBody>
      </p:sp>
      <p:sp>
        <p:nvSpPr>
          <p:cNvPr id="27" name="Claw, coupons first"/>
          <p:cNvSpPr/>
          <p:nvPr/>
        </p:nvSpPr>
        <p:spPr>
          <a:xfrm>
            <a:off x="4504510" y="5321808"/>
            <a:ext cx="1314995" cy="566928"/>
          </a:xfrm>
          <a:prstGeom prst="rect">
            <a:avLst/>
          </a:prstGeom>
          <a:solidFill>
            <a:srgbClr val="4F6D8F"/>
          </a:solidFill>
          <a:ln w="19050">
            <a:solidFill>
              <a:srgbClr val="FFFFFF"/>
            </a:solidFill>
            <a:prstDash val="solid"/>
          </a:ln>
        </p:spPr>
      </p:sp>
      <p:sp>
        <p:nvSpPr>
          <p:cNvPr id="28" name="label"/>
          <p:cNvSpPr txBox="1"/>
          <p:nvPr/>
        </p:nvSpPr>
        <p:spPr>
          <a:xfrm>
            <a:off x="4541086" y="5321808"/>
            <a:ext cx="1241843"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Claw, coupons first</a:t>
            </a:r>
            <a:endParaRPr lang="en-US" sz="1200" dirty="0"/>
          </a:p>
        </p:txBody>
      </p:sp>
      <p:sp>
        <p:nvSpPr>
          <p:cNvPr id="29" name="Test"/>
          <p:cNvSpPr/>
          <p:nvPr/>
        </p:nvSpPr>
        <p:spPr>
          <a:xfrm>
            <a:off x="5819505" y="5321808"/>
            <a:ext cx="657498" cy="566928"/>
          </a:xfrm>
          <a:prstGeom prst="rect">
            <a:avLst/>
          </a:prstGeom>
          <a:solidFill>
            <a:srgbClr val="1F3A5F"/>
          </a:solidFill>
          <a:ln w="19050">
            <a:solidFill>
              <a:srgbClr val="FFFFFF"/>
            </a:solidFill>
            <a:prstDash val="solid"/>
          </a:ln>
        </p:spPr>
      </p:sp>
      <p:sp>
        <p:nvSpPr>
          <p:cNvPr id="30" name="label"/>
          <p:cNvSpPr txBox="1"/>
          <p:nvPr/>
        </p:nvSpPr>
        <p:spPr>
          <a:xfrm>
            <a:off x="5856081" y="5321808"/>
            <a:ext cx="584346" cy="56692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Test</a:t>
            </a:r>
            <a:endParaRPr lang="en-US" sz="1000" dirty="0"/>
          </a:p>
        </p:txBody>
      </p:sp>
      <p:sp>
        <p:nvSpPr>
          <p:cNvPr id="31" name="caption"/>
          <p:cNvSpPr txBox="1"/>
          <p:nvPr/>
        </p:nvSpPr>
        <p:spPr>
          <a:xfrm>
            <a:off x="1874520" y="5952744"/>
            <a:ext cx="9768535"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Same scale. Actual: Jul 16 to Oct 27. The half-time plan proves one station before copying it.</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56032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Arial" pitchFamily="34" charset="0"/>
                <a:ea typeface="Arial" pitchFamily="34" charset="-122"/>
                <a:cs typeface="Arial" pitchFamily="34" charset="-120"/>
              </a:rPr>
              <a:t>Questions</a:t>
            </a:r>
            <a:endParaRPr lang="en-US" sz="4800" dirty="0"/>
          </a:p>
        </p:txBody>
      </p:sp>
      <p:sp>
        <p:nvSpPr>
          <p:cNvPr id="3" name="Text 1"/>
          <p:cNvSpPr txBox="1"/>
          <p:nvPr/>
        </p:nvSpPr>
        <p:spPr>
          <a:xfrm>
            <a:off x="548640" y="3566160"/>
            <a:ext cx="10058400" cy="548640"/>
          </a:xfrm>
          <a:prstGeom prst="rect">
            <a:avLst/>
          </a:prstGeom>
          <a:noFill/>
          <a:ln/>
        </p:spPr>
        <p:txBody>
          <a:bodyPr wrap="square" lIns="0" tIns="0" rIns="0" bIns="0" rtlCol="0" anchor="ctr"/>
          <a:lstStyle/>
          <a:p>
            <a:pPr indent="0" marL="0">
              <a:buNone/>
            </a:pPr>
            <a:r>
              <a:rPr lang="en-US" sz="2000" dirty="0">
                <a:solidFill>
                  <a:srgbClr val="D9DEE5"/>
                </a:solidFill>
                <a:latin typeface="Arial" pitchFamily="34" charset="0"/>
                <a:ea typeface="Arial" pitchFamily="34" charset="-122"/>
                <a:cs typeface="Arial" pitchFamily="34" charset="-120"/>
              </a:rPr>
              <a:t>Jasper Buntinx  ·  jasper_buntinx@tamu.edu</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Where It Stands</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graphicFrame>
        <p:nvGraphicFramePr>
          <p:cNvPr id="26" nam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3550213"/>
                <a:gridCol w="3993989"/>
                <a:gridCol w="3550213"/>
              </a:tblGrid>
              <a:tr h="512064">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Part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Status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Next test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Wall stations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Built; bench-commissioned </a:t>
                      </a:r>
                      <a:pPr indent="0" marL="0">
                        <a:buNone/>
                      </a:pPr>
                      <a:r>
                        <a:rPr lang="en-US" sz="1300" i="1" dirty="0">
                          <a:solidFill>
                            <a:srgbClr val="B23A2E"/>
                          </a:solidFill>
                          <a:latin typeface="Arial" pitchFamily="34" charset="0"/>
                          <a:ea typeface="Arial" pitchFamily="34" charset="-122"/>
                          <a:cs typeface="Arial" pitchFamily="34" charset="-120"/>
                        </a:rPr>
                        <a:t>[how many]</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Three-station test, then the fourth</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Station electronics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Built; drivers at 1.5 A </a:t>
                      </a:r>
                      <a:pPr indent="0" marL="0">
                        <a:buNone/>
                      </a:pPr>
                      <a:r>
                        <a:rPr lang="en-US" sz="1300" i="1" dirty="0">
                          <a:solidFill>
                            <a:srgbClr val="B23A2E"/>
                          </a:solidFill>
                          <a:latin typeface="Arial" pitchFamily="34" charset="0"/>
                          <a:ea typeface="Arial" pitchFamily="34" charset="-122"/>
                          <a:cs typeface="Arial" pitchFamily="34" charset="-120"/>
                        </a:rPr>
                        <a:t>[how: Vref reading]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90-minute hold test at 1.5 A</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Heat fin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Prototype 0.019 in built; 1/8 in designed (D38)</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Machine the 1/8 in fin; hold test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Thermal model of the station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Hand calc at 1.5 A; SolidWorks model set up</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Run it; then the hold test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Claw body: tube, mount, servo, gears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Built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Weigh it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Claw hands, camera housing, encoder casing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Checked in CAD; printing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Fit checks on the first print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Calibration and control software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Simulated end to end</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First hardware run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512064">
                <a:tc>
                  <a:txBody>
                    <a:bodyPr/>
                    <a:lstStyle/>
                    <a:p>
                      <a:pPr indent="0" marL="0">
                        <a:buNone/>
                      </a:pPr>
                      <a:r>
                        <a:rPr lang="en-US" sz="1300" b="1" dirty="0">
                          <a:solidFill>
                            <a:srgbClr val="000000"/>
                          </a:solidFill>
                          <a:latin typeface="Arial" pitchFamily="34" charset="0"/>
                          <a:ea typeface="Arial" pitchFamily="34" charset="-122"/>
                          <a:cs typeface="Arial" pitchFamily="34" charset="-120"/>
                        </a:rPr>
                        <a:t>Winch pull</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Calculated at 1.5 A: 25–34 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Luggage-scale pull test</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Fin Sizing for 4 W</a:t>
            </a:r>
            <a:endParaRPr lang="en-US" sz="3000" dirty="0"/>
          </a:p>
        </p:txBody>
      </p:sp>
      <p:sp>
        <p:nvSpPr>
          <p:cNvPr id="4" name="status chip"/>
          <p:cNvSpPr/>
          <p:nvPr/>
        </p:nvSpPr>
        <p:spPr>
          <a:xfrm>
            <a:off x="10134295" y="621792"/>
            <a:ext cx="150876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10134295" y="621792"/>
            <a:ext cx="150876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Calculated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254886" cy="2578608"/>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Fin alone carries all 4.05 W</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0.019 in:</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never (max ≈ 2 W)</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1/8 in:</a:t>
            </a:r>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 145–185 mm</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Thickness beats length</a:t>
            </a:r>
            <a:endParaRPr lang="en-US" sz="2000" dirty="0"/>
          </a:p>
        </p:txBody>
      </p:sp>
      <p:sp>
        <p:nvSpPr>
          <p:cNvPr id="8" name="equation box"/>
          <p:cNvSpPr/>
          <p:nvPr/>
        </p:nvSpPr>
        <p:spPr>
          <a:xfrm>
            <a:off x="548640" y="4224528"/>
            <a:ext cx="4254886" cy="2039112"/>
          </a:xfrm>
          <a:prstGeom prst="rect">
            <a:avLst/>
          </a:prstGeom>
          <a:solidFill>
            <a:srgbClr val="F7F8FA"/>
          </a:solidFill>
          <a:ln w="15875">
            <a:solidFill>
              <a:srgbClr val="1F3A5F"/>
            </a:solidFill>
            <a:prstDash val="solid"/>
          </a:ln>
        </p:spPr>
      </p:sp>
      <p:sp>
        <p:nvSpPr>
          <p:cNvPr id="9" name="equation label"/>
          <p:cNvSpPr txBox="1"/>
          <p:nvPr/>
        </p:nvSpPr>
        <p:spPr>
          <a:xfrm>
            <a:off x="713232" y="4297680"/>
            <a:ext cx="3925702"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4535424"/>
            <a:ext cx="3925702" cy="1005840"/>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q</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w √(2 h k t) × θ</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b</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0.019 in: 0.044 √(2 · 9.3 · 167 · 0.000483) × 37</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2.0 W</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&lt; 4.05 W</a:t>
            </a:r>
            <a:endParaRPr lang="en-US" sz="1550" dirty="0"/>
          </a:p>
        </p:txBody>
      </p:sp>
      <p:sp>
        <p:nvSpPr>
          <p:cNvPr id="11" name="equation inputs"/>
          <p:cNvSpPr txBox="1"/>
          <p:nvPr/>
        </p:nvSpPr>
        <p:spPr>
          <a:xfrm>
            <a:off x="713232" y="5577840"/>
            <a:ext cx="3925702"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q</a:t>
            </a:r>
            <a:pPr indent="0" marL="0">
              <a:buNone/>
            </a:pPr>
            <a:r>
              <a:rPr lang="en-US" sz="1100" baseline="-40000" dirty="0">
                <a:solidFill>
                  <a:srgbClr val="404040"/>
                </a:solidFill>
                <a:latin typeface="Arial" pitchFamily="34" charset="0"/>
                <a:ea typeface="Arial" pitchFamily="34" charset="-122"/>
                <a:cs typeface="Arial" pitchFamily="34" charset="-120"/>
              </a:rPr>
              <a:t>∞</a:t>
            </a:r>
            <a:pPr indent="0" marL="0">
              <a:buNone/>
            </a:pPr>
            <a:r>
              <a:rPr lang="en-US" sz="1100" dirty="0">
                <a:solidFill>
                  <a:srgbClr val="404040"/>
                </a:solidFill>
                <a:latin typeface="Arial" pitchFamily="34" charset="0"/>
                <a:ea typeface="Arial" pitchFamily="34" charset="-122"/>
                <a:cs typeface="Arial" pitchFamily="34" charset="-120"/>
              </a:rPr>
              <a:t> = most heat any length can carry  ·  w = 0.044 m  ·  h ≈ 9.3 W/m²·K painted  ·  k = 167 W/m·K (6061)  ·  t = 0.000483 m  ·  θ</a:t>
            </a:r>
            <a:pPr indent="0" marL="0">
              <a:buNone/>
            </a:pPr>
            <a:r>
              <a:rPr lang="en-US" sz="1100" baseline="-40000" dirty="0">
                <a:solidFill>
                  <a:srgbClr val="404040"/>
                </a:solidFill>
                <a:latin typeface="Arial" pitchFamily="34" charset="0"/>
                <a:ea typeface="Arial" pitchFamily="34" charset="-122"/>
                <a:cs typeface="Arial" pitchFamily="34" charset="-120"/>
              </a:rPr>
              <a:t>b</a:t>
            </a:r>
            <a:pPr indent="0" marL="0">
              <a:buNone/>
            </a:pPr>
            <a:r>
              <a:rPr lang="en-US" sz="1100" dirty="0">
                <a:solidFill>
                  <a:srgbClr val="404040"/>
                </a:solidFill>
                <a:latin typeface="Arial" pitchFamily="34" charset="0"/>
                <a:ea typeface="Arial" pitchFamily="34" charset="-122"/>
                <a:cs typeface="Arial" pitchFamily="34" charset="-120"/>
              </a:rPr>
              <a:t> = 60 − 23 = 37 K</a:t>
            </a:r>
            <a:endParaRPr lang="en-US" sz="1100" dirty="0"/>
          </a:p>
        </p:txBody>
      </p:sp>
      <p:graphicFrame>
        <p:nvGraphicFramePr>
          <p:cNvPr id="27" name="fin sizing"/>
          <p:cNvGraphicFramePr>
            <a:graphicFrameLocks noGrp="1"/>
          </p:cNvGraphicFramePr>
          <p:nvPr>
            <p:extLst>
              <p:ext uri="{D42A27DB-BD31-4B8C-83A1-F6EECF244321}">
                <p14:modId xmlns:p14="http://schemas.microsoft.com/office/powerpoint/2010/main" val="1579011935"/>
              </p:ext>
            </p:extLst>
          </p:nvPr>
        </p:nvGraphicFramePr>
        <p:xfrm>
          <a:off x="5215006" y="1554480"/>
          <a:ext cx="6428049" cy="914400"/>
        </p:xfrm>
        <a:graphic>
          <a:graphicData uri="http://schemas.openxmlformats.org/drawingml/2006/table">
            <a:tbl>
              <a:tblPr/>
              <a:tblGrid>
                <a:gridCol w="2056976"/>
                <a:gridCol w="771366"/>
                <a:gridCol w="1799854"/>
                <a:gridCol w="1799854"/>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Painted 6061, 44 mm wide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Mass</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Motor, 200 mm, fin alone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Shortest for ≤ 60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0.019 in (prototype)</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14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100–120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never (max ≈ 2.0 W)</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1/16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47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66–72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never (max ≈ 3.6 W)</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0.090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68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60–65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210 mm or never</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1/8 in (design, D38)</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94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56–59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145–185 mm</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3/16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141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53–55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125–140 mm</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300" b="1" dirty="0">
                          <a:solidFill>
                            <a:srgbClr val="000000"/>
                          </a:solidFill>
                          <a:latin typeface="Arial" pitchFamily="34" charset="0"/>
                          <a:ea typeface="Arial" pitchFamily="34" charset="-122"/>
                          <a:cs typeface="Arial" pitchFamily="34" charset="-120"/>
                        </a:rPr>
                        <a:t>1/4 in</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189 g</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51–52 °C</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115–125 mm</a:t>
                      </a:r>
                      <a:endParaRPr lang="en-US" sz="13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13" name="caption"/>
          <p:cNvSpPr txBox="1"/>
          <p:nvPr/>
        </p:nvSpPr>
        <p:spPr>
          <a:xfrm>
            <a:off x="5215006" y="4864608"/>
            <a:ext cx="6428049"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All 4.05 W through the fin, 23 °C room, paste contact; ranges: flange at one temperature to heat spread over the patch. Calculated.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Floor Board Accuracy</a:t>
            </a:r>
            <a:endParaRPr lang="en-US" sz="3000" dirty="0"/>
          </a:p>
        </p:txBody>
      </p:sp>
      <p:sp>
        <p:nvSpPr>
          <p:cNvPr id="4" name="status chip"/>
          <p:cNvSpPr/>
          <p:nvPr/>
        </p:nvSpPr>
        <p:spPr>
          <a:xfrm>
            <a:off x="10134295" y="621792"/>
            <a:ext cx="150876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10134295" y="621792"/>
            <a:ext cx="150876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Calculated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342900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Angle error × lever arm</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1 tag: 6.6 mm · 4 tags: 0.7 mm</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Averaging removes noise, not bias</a:t>
            </a:r>
            <a:endParaRPr lang="en-US" sz="2000" dirty="0"/>
          </a:p>
        </p:txBody>
      </p:sp>
      <p:sp>
        <p:nvSpPr>
          <p:cNvPr id="8" name="equation box"/>
          <p:cNvSpPr/>
          <p:nvPr/>
        </p:nvSpPr>
        <p:spPr>
          <a:xfrm>
            <a:off x="548640" y="5074920"/>
            <a:ext cx="4920551" cy="1188720"/>
          </a:xfrm>
          <a:prstGeom prst="rect">
            <a:avLst/>
          </a:prstGeom>
          <a:solidFill>
            <a:srgbClr val="F7F8FA"/>
          </a:solidFill>
          <a:ln w="15875">
            <a:solidFill>
              <a:srgbClr val="1F3A5F"/>
            </a:solidFill>
            <a:prstDash val="solid"/>
          </a:ln>
        </p:spPr>
      </p:sp>
      <p:sp>
        <p:nvSpPr>
          <p:cNvPr id="9" name="equation label"/>
          <p:cNvSpPr txBox="1"/>
          <p:nvPr/>
        </p:nvSpPr>
        <p:spPr>
          <a:xfrm>
            <a:off x="713232" y="5148072"/>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5385816"/>
            <a:ext cx="4591367" cy="347472"/>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δx = σ</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θ</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L = 12.9 mrad × 0.51 m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6.6 mm</a:t>
            </a:r>
            <a:endParaRPr lang="en-US" sz="1550" dirty="0"/>
          </a:p>
        </p:txBody>
      </p:sp>
      <p:sp>
        <p:nvSpPr>
          <p:cNvPr id="11" name="equation inputs"/>
          <p:cNvSpPr txBox="1"/>
          <p:nvPr/>
        </p:nvSpPr>
        <p:spPr>
          <a:xfrm>
            <a:off x="713232" y="5769864"/>
            <a:ext cx="4591367" cy="420624"/>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σ</a:t>
            </a:r>
            <a:pPr indent="0" marL="0">
              <a:buNone/>
            </a:pPr>
            <a:r>
              <a:rPr lang="en-US" sz="1100" baseline="-40000" dirty="0">
                <a:solidFill>
                  <a:srgbClr val="404040"/>
                </a:solidFill>
                <a:latin typeface="Arial" pitchFamily="34" charset="0"/>
                <a:ea typeface="Arial" pitchFamily="34" charset="-122"/>
                <a:cs typeface="Arial" pitchFamily="34" charset="-120"/>
              </a:rPr>
              <a:t>θ</a:t>
            </a:r>
            <a:pPr indent="0" marL="0">
              <a:buNone/>
            </a:pPr>
            <a:r>
              <a:rPr lang="en-US" sz="1100" dirty="0">
                <a:solidFill>
                  <a:srgbClr val="404040"/>
                </a:solidFill>
                <a:latin typeface="Arial" pitchFamily="34" charset="0"/>
                <a:ea typeface="Arial" pitchFamily="34" charset="-122"/>
                <a:cs typeface="Arial" pitchFamily="34" charset="-120"/>
              </a:rPr>
              <a:t> = pose-angle noise with one tag in view  ·  L = 0.51 m camera height above the board</a:t>
            </a:r>
            <a:endParaRPr lang="en-US" sz="1100" dirty="0"/>
          </a:p>
        </p:txBody>
      </p:sp>
      <p:pic>
        <p:nvPicPr>
          <p:cNvPr id="12" name="Chart from the calculation sheet: Floor " descr="Chart from the calculation sheet: Floor board">    </p:cNvPr>
          <p:cNvPicPr>
            <a:picLocks noChangeAspect="1"/>
          </p:cNvPicPr>
          <p:nvPr/>
        </p:nvPicPr>
        <p:blipFill>
          <a:blip r:embed="rId1"/>
          <a:stretch>
            <a:fillRect/>
          </a:stretch>
        </p:blipFill>
        <p:spPr>
          <a:xfrm>
            <a:off x="5880671" y="1554480"/>
            <a:ext cx="5762384" cy="3966013"/>
          </a:xfrm>
          <a:prstGeom prst="rect">
            <a:avLst/>
          </a:prstGeom>
        </p:spPr>
      </p:pic>
      <p:sp>
        <p:nvSpPr>
          <p:cNvPr id="13" name="chart frame"/>
          <p:cNvSpPr/>
          <p:nvPr/>
        </p:nvSpPr>
        <p:spPr>
          <a:xfrm>
            <a:off x="5880671" y="1554480"/>
            <a:ext cx="5762384" cy="3966013"/>
          </a:xfrm>
          <a:prstGeom prst="rect">
            <a:avLst/>
          </a:prstGeom>
          <a:ln w="9525">
            <a:solidFill>
              <a:srgbClr val="BFBFBF"/>
            </a:solidFill>
            <a:prstDash val="solid"/>
          </a:ln>
        </p:spPr>
      </p:sp>
      <p:sp>
        <p:nvSpPr>
          <p:cNvPr id="14" name="caption"/>
          <p:cNvSpPr txBox="1"/>
          <p:nvPr/>
        </p:nvSpPr>
        <p:spPr>
          <a:xfrm>
            <a:off x="5880671" y="5593645"/>
            <a:ext cx="5762384"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My calculation sheet (Google Sheets), “Floor board” tab. Calculated, not measured.</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Startup Calibration</a:t>
            </a:r>
            <a:endParaRPr lang="en-US" sz="3000" dirty="0"/>
          </a:p>
        </p:txBody>
      </p:sp>
      <p:sp>
        <p:nvSpPr>
          <p:cNvPr id="4" name="status chip"/>
          <p:cNvSpPr/>
          <p:nvPr/>
        </p:nvSpPr>
        <p:spPr>
          <a:xfrm>
            <a:off x="10180015" y="621792"/>
            <a:ext cx="146304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10180015" y="621792"/>
            <a:ext cx="146304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Simulated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3099816"/>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No tape measure</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Fit: anchors + cable zero lengths</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Held-out poses check the fit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Full room only inside error bars</a:t>
            </a:r>
            <a:endParaRPr lang="en-US" sz="2000" dirty="0"/>
          </a:p>
        </p:txBody>
      </p:sp>
      <p:sp>
        <p:nvSpPr>
          <p:cNvPr id="8" name="equation box"/>
          <p:cNvSpPr/>
          <p:nvPr/>
        </p:nvSpPr>
        <p:spPr>
          <a:xfrm>
            <a:off x="548640" y="4745736"/>
            <a:ext cx="4920551" cy="1517904"/>
          </a:xfrm>
          <a:prstGeom prst="rect">
            <a:avLst/>
          </a:prstGeom>
          <a:solidFill>
            <a:srgbClr val="F7F8FA"/>
          </a:solidFill>
          <a:ln w="15875">
            <a:solidFill>
              <a:srgbClr val="1F3A5F"/>
            </a:solidFill>
            <a:prstDash val="solid"/>
          </a:ln>
        </p:spPr>
      </p:sp>
      <p:sp>
        <p:nvSpPr>
          <p:cNvPr id="9" name="equation label"/>
          <p:cNvSpPr txBox="1"/>
          <p:nvPr/>
        </p:nvSpPr>
        <p:spPr>
          <a:xfrm>
            <a:off x="713232" y="4818888"/>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5056632"/>
            <a:ext cx="4591367" cy="676656"/>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min Σ</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k</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Σ</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L</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i0</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d</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ik</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a</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i</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p</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k</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)²</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Full room only if k · σ ≤ margin</a:t>
            </a:r>
            <a:endParaRPr lang="en-US" sz="1550" dirty="0"/>
          </a:p>
        </p:txBody>
      </p:sp>
      <p:sp>
        <p:nvSpPr>
          <p:cNvPr id="11" name="equation inputs"/>
          <p:cNvSpPr txBox="1"/>
          <p:nvPr/>
        </p:nvSpPr>
        <p:spPr>
          <a:xfrm>
            <a:off x="713232" y="5769864"/>
            <a:ext cx="4591367" cy="420624"/>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a</a:t>
            </a:r>
            <a:pPr indent="0" marL="0">
              <a:buNone/>
            </a:pPr>
            <a:r>
              <a:rPr lang="en-US" sz="1100" baseline="-40000" dirty="0">
                <a:solidFill>
                  <a:srgbClr val="404040"/>
                </a:solidFill>
                <a:latin typeface="Arial" pitchFamily="34" charset="0"/>
                <a:ea typeface="Arial" pitchFamily="34" charset="-122"/>
                <a:cs typeface="Arial" pitchFamily="34" charset="-120"/>
              </a:rPr>
              <a:t>i</a:t>
            </a:r>
            <a:pPr indent="0" marL="0">
              <a:buNone/>
            </a:pPr>
            <a:r>
              <a:rPr lang="en-US" sz="1100" dirty="0">
                <a:solidFill>
                  <a:srgbClr val="404040"/>
                </a:solidFill>
                <a:latin typeface="Arial" pitchFamily="34" charset="0"/>
                <a:ea typeface="Arial" pitchFamily="34" charset="-122"/>
                <a:cs typeface="Arial" pitchFamily="34" charset="-120"/>
              </a:rPr>
              <a:t> = anchor  ·  p</a:t>
            </a:r>
            <a:pPr indent="0" marL="0">
              <a:buNone/>
            </a:pPr>
            <a:r>
              <a:rPr lang="en-US" sz="1100" baseline="-40000" dirty="0">
                <a:solidFill>
                  <a:srgbClr val="404040"/>
                </a:solidFill>
                <a:latin typeface="Arial" pitchFamily="34" charset="0"/>
                <a:ea typeface="Arial" pitchFamily="34" charset="-122"/>
                <a:cs typeface="Arial" pitchFamily="34" charset="-120"/>
              </a:rPr>
              <a:t>k</a:t>
            </a:r>
            <a:pPr indent="0" marL="0">
              <a:buNone/>
            </a:pPr>
            <a:r>
              <a:rPr lang="en-US" sz="1100" dirty="0">
                <a:solidFill>
                  <a:srgbClr val="404040"/>
                </a:solidFill>
                <a:latin typeface="Arial" pitchFamily="34" charset="0"/>
                <a:ea typeface="Arial" pitchFamily="34" charset="-122"/>
                <a:cs typeface="Arial" pitchFamily="34" charset="-120"/>
              </a:rPr>
              <a:t> = claw pose k (camera)  ·  d</a:t>
            </a:r>
            <a:pPr indent="0" marL="0">
              <a:buNone/>
            </a:pPr>
            <a:r>
              <a:rPr lang="en-US" sz="1100" baseline="-40000" dirty="0">
                <a:solidFill>
                  <a:srgbClr val="404040"/>
                </a:solidFill>
                <a:latin typeface="Arial" pitchFamily="34" charset="0"/>
                <a:ea typeface="Arial" pitchFamily="34" charset="-122"/>
                <a:cs typeface="Arial" pitchFamily="34" charset="-120"/>
              </a:rPr>
              <a:t>ik</a:t>
            </a:r>
            <a:pPr indent="0" marL="0">
              <a:buNone/>
            </a:pPr>
            <a:r>
              <a:rPr lang="en-US" sz="1100" dirty="0">
                <a:solidFill>
                  <a:srgbClr val="404040"/>
                </a:solidFill>
                <a:latin typeface="Arial" pitchFamily="34" charset="0"/>
                <a:ea typeface="Arial" pitchFamily="34" charset="-122"/>
                <a:cs typeface="Arial" pitchFamily="34" charset="-120"/>
              </a:rPr>
              <a:t> = cable paid out (encoder)  ·  L</a:t>
            </a:r>
            <a:pPr indent="0" marL="0">
              <a:buNone/>
            </a:pPr>
            <a:r>
              <a:rPr lang="en-US" sz="1100" baseline="-40000" dirty="0">
                <a:solidFill>
                  <a:srgbClr val="404040"/>
                </a:solidFill>
                <a:latin typeface="Arial" pitchFamily="34" charset="0"/>
                <a:ea typeface="Arial" pitchFamily="34" charset="-122"/>
                <a:cs typeface="Arial" pitchFamily="34" charset="-120"/>
              </a:rPr>
              <a:t>i0</a:t>
            </a:r>
            <a:pPr indent="0" marL="0">
              <a:buNone/>
            </a:pPr>
            <a:r>
              <a:rPr lang="en-US" sz="1100" dirty="0">
                <a:solidFill>
                  <a:srgbClr val="404040"/>
                </a:solidFill>
                <a:latin typeface="Arial" pitchFamily="34" charset="0"/>
                <a:ea typeface="Arial" pitchFamily="34" charset="-122"/>
                <a:cs typeface="Arial" pitchFamily="34" charset="-120"/>
              </a:rPr>
              <a:t> = cable zero length  ·  σ = fit error</a:t>
            </a:r>
            <a:endParaRPr lang="en-US" sz="1100" dirty="0"/>
          </a:p>
        </p:txBody>
      </p:sp>
      <p:sp>
        <p:nvSpPr>
          <p:cNvPr id="12" name="calibration step 1"/>
          <p:cNvSpPr/>
          <p:nvPr/>
        </p:nvSpPr>
        <p:spPr>
          <a:xfrm>
            <a:off x="5880671" y="1737360"/>
            <a:ext cx="1713531" cy="1399032"/>
          </a:xfrm>
          <a:prstGeom prst="roundRect">
            <a:avLst>
              <a:gd name="adj" fmla="val 5229"/>
            </a:avLst>
          </a:prstGeom>
          <a:solidFill>
            <a:srgbClr val="FFFFFF"/>
          </a:solidFill>
          <a:ln w="15875">
            <a:solidFill>
              <a:srgbClr val="1F3A5F"/>
            </a:solidFill>
            <a:prstDash val="solid"/>
          </a:ln>
        </p:spPr>
      </p:sp>
      <p:sp>
        <p:nvSpPr>
          <p:cNvPr id="13" name="Text 11"/>
          <p:cNvSpPr txBox="1"/>
          <p:nvPr/>
        </p:nvSpPr>
        <p:spPr>
          <a:xfrm>
            <a:off x="5953823" y="1737360"/>
            <a:ext cx="1567227"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1  </a:t>
            </a:r>
            <a:pPr algn="ctr" indent="0" marL="0">
              <a:buNone/>
            </a:pPr>
            <a:r>
              <a:rPr lang="en-US" sz="1400" dirty="0">
                <a:solidFill>
                  <a:srgbClr val="000000"/>
                </a:solidFill>
                <a:latin typeface="Arial" pitchFamily="34" charset="0"/>
                <a:ea typeface="Arial" pitchFamily="34" charset="-122"/>
                <a:cs typeface="Arial" pitchFamily="34" charset="-120"/>
              </a:rPr>
              <a:t>Take up slack, one cable at a time</a:t>
            </a:r>
            <a:endParaRPr lang="en-US" sz="1400" dirty="0"/>
          </a:p>
        </p:txBody>
      </p:sp>
      <p:sp>
        <p:nvSpPr>
          <p:cNvPr id="14" name="calibration step 2"/>
          <p:cNvSpPr/>
          <p:nvPr/>
        </p:nvSpPr>
        <p:spPr>
          <a:xfrm>
            <a:off x="7905098" y="1737360"/>
            <a:ext cx="1713531" cy="1399032"/>
          </a:xfrm>
          <a:prstGeom prst="roundRect">
            <a:avLst>
              <a:gd name="adj" fmla="val 5229"/>
            </a:avLst>
          </a:prstGeom>
          <a:solidFill>
            <a:srgbClr val="FFFFFF"/>
          </a:solidFill>
          <a:ln w="15875">
            <a:solidFill>
              <a:srgbClr val="1F3A5F"/>
            </a:solidFill>
            <a:prstDash val="solid"/>
          </a:ln>
        </p:spPr>
      </p:sp>
      <p:sp>
        <p:nvSpPr>
          <p:cNvPr id="15" name="Text 13"/>
          <p:cNvSpPr txBox="1"/>
          <p:nvPr/>
        </p:nvSpPr>
        <p:spPr>
          <a:xfrm>
            <a:off x="7978250" y="1737360"/>
            <a:ext cx="1567227"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2  </a:t>
            </a:r>
            <a:pPr algn="ctr" indent="0" marL="0">
              <a:buNone/>
            </a:pPr>
            <a:r>
              <a:rPr lang="en-US" sz="1400" dirty="0">
                <a:solidFill>
                  <a:srgbClr val="000000"/>
                </a:solidFill>
                <a:latin typeface="Arial" pitchFamily="34" charset="0"/>
                <a:ea typeface="Arial" pitchFamily="34" charset="-122"/>
                <a:cs typeface="Arial" pitchFamily="34" charset="-120"/>
              </a:rPr>
              <a:t>Lift the claw off the floor</a:t>
            </a:r>
            <a:endParaRPr lang="en-US" sz="1400" dirty="0"/>
          </a:p>
        </p:txBody>
      </p:sp>
      <p:sp>
        <p:nvSpPr>
          <p:cNvPr id="16" name="calibration step 3"/>
          <p:cNvSpPr/>
          <p:nvPr/>
        </p:nvSpPr>
        <p:spPr>
          <a:xfrm>
            <a:off x="9929524" y="1737360"/>
            <a:ext cx="1713531" cy="1399032"/>
          </a:xfrm>
          <a:prstGeom prst="roundRect">
            <a:avLst>
              <a:gd name="adj" fmla="val 5229"/>
            </a:avLst>
          </a:prstGeom>
          <a:solidFill>
            <a:srgbClr val="FFFFFF"/>
          </a:solidFill>
          <a:ln w="15875">
            <a:solidFill>
              <a:srgbClr val="1F3A5F"/>
            </a:solidFill>
            <a:prstDash val="solid"/>
          </a:ln>
        </p:spPr>
      </p:sp>
      <p:sp>
        <p:nvSpPr>
          <p:cNvPr id="17" name="Text 15"/>
          <p:cNvSpPr txBox="1"/>
          <p:nvPr/>
        </p:nvSpPr>
        <p:spPr>
          <a:xfrm>
            <a:off x="10002676" y="1737360"/>
            <a:ext cx="1567227"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3  </a:t>
            </a:r>
            <a:pPr algn="ctr" indent="0" marL="0">
              <a:buNone/>
            </a:pPr>
            <a:r>
              <a:rPr lang="en-US" sz="1400" dirty="0">
                <a:solidFill>
                  <a:srgbClr val="000000"/>
                </a:solidFill>
                <a:latin typeface="Arial" pitchFamily="34" charset="0"/>
                <a:ea typeface="Arial" pitchFamily="34" charset="-122"/>
                <a:cs typeface="Arial" pitchFamily="34" charset="-120"/>
              </a:rPr>
              <a:t>Camera reads the floor board</a:t>
            </a:r>
            <a:endParaRPr lang="en-US" sz="1400" dirty="0"/>
          </a:p>
        </p:txBody>
      </p:sp>
      <p:sp>
        <p:nvSpPr>
          <p:cNvPr id="18" name="calibration step 4"/>
          <p:cNvSpPr/>
          <p:nvPr/>
        </p:nvSpPr>
        <p:spPr>
          <a:xfrm>
            <a:off x="9929524" y="3447288"/>
            <a:ext cx="1713531" cy="1399032"/>
          </a:xfrm>
          <a:prstGeom prst="roundRect">
            <a:avLst>
              <a:gd name="adj" fmla="val 5229"/>
            </a:avLst>
          </a:prstGeom>
          <a:solidFill>
            <a:srgbClr val="FFFFFF"/>
          </a:solidFill>
          <a:ln w="15875">
            <a:solidFill>
              <a:srgbClr val="1F3A5F"/>
            </a:solidFill>
            <a:prstDash val="solid"/>
          </a:ln>
        </p:spPr>
      </p:sp>
      <p:sp>
        <p:nvSpPr>
          <p:cNvPr id="19" name="Text 17"/>
          <p:cNvSpPr txBox="1"/>
          <p:nvPr/>
        </p:nvSpPr>
        <p:spPr>
          <a:xfrm>
            <a:off x="10002676" y="3447288"/>
            <a:ext cx="1567227"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4  </a:t>
            </a:r>
            <a:pPr algn="ctr" indent="0" marL="0">
              <a:buNone/>
            </a:pPr>
            <a:r>
              <a:rPr lang="en-US" sz="1400" dirty="0">
                <a:solidFill>
                  <a:srgbClr val="000000"/>
                </a:solidFill>
                <a:latin typeface="Arial" pitchFamily="34" charset="0"/>
                <a:ea typeface="Arial" pitchFamily="34" charset="-122"/>
                <a:cs typeface="Arial" pitchFamily="34" charset="-120"/>
              </a:rPr>
              <a:t>Fit anchors and cable lengths</a:t>
            </a:r>
            <a:endParaRPr lang="en-US" sz="1400" dirty="0"/>
          </a:p>
        </p:txBody>
      </p:sp>
      <p:sp>
        <p:nvSpPr>
          <p:cNvPr id="20" name="calibration step 5"/>
          <p:cNvSpPr/>
          <p:nvPr/>
        </p:nvSpPr>
        <p:spPr>
          <a:xfrm>
            <a:off x="7905098" y="3447288"/>
            <a:ext cx="1713531" cy="1399032"/>
          </a:xfrm>
          <a:prstGeom prst="roundRect">
            <a:avLst>
              <a:gd name="adj" fmla="val 5229"/>
            </a:avLst>
          </a:prstGeom>
          <a:solidFill>
            <a:srgbClr val="FFFFFF"/>
          </a:solidFill>
          <a:ln w="15875">
            <a:solidFill>
              <a:srgbClr val="1F3A5F"/>
            </a:solidFill>
            <a:prstDash val="solid"/>
          </a:ln>
        </p:spPr>
      </p:sp>
      <p:sp>
        <p:nvSpPr>
          <p:cNvPr id="21" name="Text 19"/>
          <p:cNvSpPr txBox="1"/>
          <p:nvPr/>
        </p:nvSpPr>
        <p:spPr>
          <a:xfrm>
            <a:off x="7978250" y="3447288"/>
            <a:ext cx="1567227" cy="1399032"/>
          </a:xfrm>
          <a:prstGeom prst="rect">
            <a:avLst/>
          </a:prstGeom>
          <a:noFill/>
          <a:ln/>
        </p:spPr>
        <p:txBody>
          <a:bodyPr wrap="square" lIns="0" tIns="0" rIns="0" bIns="0" rtlCol="0" anchor="ctr"/>
          <a:lstStyle/>
          <a:p>
            <a:pPr algn="ctr" indent="0" marL="0">
              <a:buNone/>
            </a:pPr>
            <a:r>
              <a:rPr lang="en-US" sz="1400" b="1" dirty="0">
                <a:solidFill>
                  <a:srgbClr val="1F3A5F"/>
                </a:solidFill>
                <a:latin typeface="Arial" pitchFamily="34" charset="0"/>
                <a:ea typeface="Arial" pitchFamily="34" charset="-122"/>
                <a:cs typeface="Arial" pitchFamily="34" charset="-120"/>
              </a:rPr>
              <a:t>5  </a:t>
            </a:r>
            <a:pPr algn="ctr" indent="0" marL="0">
              <a:buNone/>
            </a:pPr>
            <a:r>
              <a:rPr lang="en-US" sz="1400" dirty="0">
                <a:solidFill>
                  <a:srgbClr val="000000"/>
                </a:solidFill>
                <a:latin typeface="Arial" pitchFamily="34" charset="0"/>
                <a:ea typeface="Arial" pitchFamily="34" charset="-122"/>
                <a:cs typeface="Arial" pitchFamily="34" charset="-120"/>
              </a:rPr>
              <a:t>Check on held-out poses</a:t>
            </a:r>
            <a:endParaRPr lang="en-US" sz="1400" dirty="0"/>
          </a:p>
        </p:txBody>
      </p:sp>
      <p:sp>
        <p:nvSpPr>
          <p:cNvPr id="22" name="calibration step 6"/>
          <p:cNvSpPr/>
          <p:nvPr/>
        </p:nvSpPr>
        <p:spPr>
          <a:xfrm>
            <a:off x="5880671" y="3447288"/>
            <a:ext cx="1713531" cy="1399032"/>
          </a:xfrm>
          <a:prstGeom prst="roundRect">
            <a:avLst>
              <a:gd name="adj" fmla="val 5229"/>
            </a:avLst>
          </a:prstGeom>
          <a:solidFill>
            <a:srgbClr val="1F3A5F"/>
          </a:solidFill>
          <a:ln w="15875">
            <a:solidFill>
              <a:srgbClr val="1F3A5F"/>
            </a:solidFill>
            <a:prstDash val="solid"/>
          </a:ln>
        </p:spPr>
      </p:sp>
      <p:sp>
        <p:nvSpPr>
          <p:cNvPr id="23" name="Text 21"/>
          <p:cNvSpPr txBox="1"/>
          <p:nvPr/>
        </p:nvSpPr>
        <p:spPr>
          <a:xfrm>
            <a:off x="5953823" y="3447288"/>
            <a:ext cx="1567227" cy="1399032"/>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  </a:t>
            </a:r>
            <a:pPr algn="ctr" indent="0" marL="0">
              <a:buNone/>
            </a:pPr>
            <a:r>
              <a:rPr lang="en-US" sz="1400" dirty="0">
                <a:solidFill>
                  <a:srgbClr val="FFFFFF"/>
                </a:solidFill>
                <a:latin typeface="Arial" pitchFamily="34" charset="0"/>
                <a:ea typeface="Arial" pitchFamily="34" charset="-122"/>
                <a:cs typeface="Arial" pitchFamily="34" charset="-120"/>
              </a:rPr>
              <a:t>Ready, inside the safe margins</a:t>
            </a:r>
            <a:endParaRPr lang="en-US" sz="1400" dirty="0"/>
          </a:p>
        </p:txBody>
      </p:sp>
      <p:sp>
        <p:nvSpPr>
          <p:cNvPr id="24" name="Shape 22"/>
          <p:cNvSpPr/>
          <p:nvPr/>
        </p:nvSpPr>
        <p:spPr>
          <a:xfrm>
            <a:off x="7639922" y="2436876"/>
            <a:ext cx="219456" cy="0"/>
          </a:xfrm>
          <a:prstGeom prst="line">
            <a:avLst/>
          </a:prstGeom>
          <a:noFill/>
          <a:ln w="19050">
            <a:solidFill>
              <a:srgbClr val="7F7F7F"/>
            </a:solidFill>
            <a:prstDash val="solid"/>
            <a:tailEnd type="triangle"/>
          </a:ln>
        </p:spPr>
      </p:sp>
      <p:sp>
        <p:nvSpPr>
          <p:cNvPr id="25" name="Shape 23"/>
          <p:cNvSpPr/>
          <p:nvPr/>
        </p:nvSpPr>
        <p:spPr>
          <a:xfrm>
            <a:off x="9664348" y="2436876"/>
            <a:ext cx="219456" cy="0"/>
          </a:xfrm>
          <a:prstGeom prst="line">
            <a:avLst/>
          </a:prstGeom>
          <a:noFill/>
          <a:ln w="19050">
            <a:solidFill>
              <a:srgbClr val="7F7F7F"/>
            </a:solidFill>
            <a:prstDash val="solid"/>
            <a:tailEnd type="triangle"/>
          </a:ln>
        </p:spPr>
      </p:sp>
      <p:sp>
        <p:nvSpPr>
          <p:cNvPr id="26" name="Shape 24"/>
          <p:cNvSpPr/>
          <p:nvPr/>
        </p:nvSpPr>
        <p:spPr>
          <a:xfrm>
            <a:off x="10786290" y="3182112"/>
            <a:ext cx="0" cy="219456"/>
          </a:xfrm>
          <a:prstGeom prst="line">
            <a:avLst/>
          </a:prstGeom>
          <a:noFill/>
          <a:ln w="19050">
            <a:solidFill>
              <a:srgbClr val="7F7F7F"/>
            </a:solidFill>
            <a:prstDash val="solid"/>
            <a:tailEnd type="triangle"/>
          </a:ln>
        </p:spPr>
      </p:sp>
      <p:sp>
        <p:nvSpPr>
          <p:cNvPr id="27" name="Shape 25"/>
          <p:cNvSpPr/>
          <p:nvPr/>
        </p:nvSpPr>
        <p:spPr>
          <a:xfrm flipH="1">
            <a:off x="9664348" y="4146804"/>
            <a:ext cx="219456" cy="0"/>
          </a:xfrm>
          <a:prstGeom prst="line">
            <a:avLst/>
          </a:prstGeom>
          <a:noFill/>
          <a:ln w="19050">
            <a:solidFill>
              <a:srgbClr val="7F7F7F"/>
            </a:solidFill>
            <a:prstDash val="solid"/>
            <a:tailEnd type="triangle"/>
          </a:ln>
        </p:spPr>
      </p:sp>
      <p:sp>
        <p:nvSpPr>
          <p:cNvPr id="28" name="Shape 26"/>
          <p:cNvSpPr/>
          <p:nvPr/>
        </p:nvSpPr>
        <p:spPr>
          <a:xfrm flipH="1">
            <a:off x="7639922" y="4146804"/>
            <a:ext cx="219456" cy="0"/>
          </a:xfrm>
          <a:prstGeom prst="line">
            <a:avLst/>
          </a:prstGeom>
          <a:noFill/>
          <a:ln w="19050">
            <a:solidFill>
              <a:srgbClr val="7F7F7F"/>
            </a:solidFill>
            <a:prstDash val="solid"/>
            <a:tailEnd type="triangle"/>
          </a:ln>
        </p:spPr>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Logic: Gen 1 vs Final</a:t>
            </a:r>
            <a:endParaRPr lang="en-US" sz="3000" dirty="0"/>
          </a:p>
        </p:txBody>
      </p:sp>
      <p:sp>
        <p:nvSpPr>
          <p:cNvPr id="4" name="status chip"/>
          <p:cNvSpPr/>
          <p:nvPr/>
        </p:nvSpPr>
        <p:spPr>
          <a:xfrm>
            <a:off x="10180015" y="621792"/>
            <a:ext cx="146304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10180015" y="621792"/>
            <a:ext cx="146304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Simulated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graphicFrame>
        <p:nvGraphicFramePr>
          <p:cNvPr id="30"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218883"/>
                <a:gridCol w="3993989"/>
                <a:gridCol w="4881543"/>
              </a:tblGrid>
              <a:tr h="640080">
                <a:tc>
                  <a:txBody>
                    <a:bodyPr/>
                    <a:lstStyle/>
                    <a:p>
                      <a:pPr indent="0" marL="0">
                        <a:buNone/>
                      </a:pP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Gen 1</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Final</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Where is the claw?</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Assumed: where the cables were told to put it</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Measured: claw camera on the floor board, refit at every startup</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Room geometry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Point mass; anchors from a tape measure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Rigid claw; anchors and cable lengths fitted, with error bars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Who runs the motors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One central board steps all four</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Each station runs time-stamped moves; the laptop coordinates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Finding laundry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Ceiling camera, pixel to floor map</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Claw camera, ray from the claw's pose to the floor</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Did the grab work?</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Assumed once the claw closed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Camera checks pickup and delivery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640080">
                <a:tc>
                  <a:txBody>
                    <a:bodyPr/>
                    <a:lstStyle/>
                    <a:p>
                      <a:pPr indent="0" marL="0">
                        <a:buNone/>
                      </a:pPr>
                      <a:r>
                        <a:rPr lang="en-US" sz="1400" b="1" dirty="0">
                          <a:solidFill>
                            <a:srgbClr val="000000"/>
                          </a:solidFill>
                          <a:latin typeface="Arial" pitchFamily="34" charset="0"/>
                          <a:ea typeface="Arial" pitchFamily="34" charset="-122"/>
                          <a:cs typeface="Arial" pitchFamily="34" charset="-120"/>
                        </a:rPr>
                        <a:t>Faults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Emergency stop only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Supervisor: a stop keeps torque; nothing restarts by itself</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One Run</a:t>
            </a:r>
            <a:endParaRPr lang="en-US" sz="3000" dirty="0"/>
          </a:p>
        </p:txBody>
      </p:sp>
      <p:sp>
        <p:nvSpPr>
          <p:cNvPr id="4" name="status chip"/>
          <p:cNvSpPr/>
          <p:nvPr/>
        </p:nvSpPr>
        <p:spPr>
          <a:xfrm>
            <a:off x="10180015" y="621792"/>
            <a:ext cx="146304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10180015" y="621792"/>
            <a:ext cx="146304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Simulated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stage 1"/>
          <p:cNvSpPr/>
          <p:nvPr/>
        </p:nvSpPr>
        <p:spPr>
          <a:xfrm>
            <a:off x="548640" y="1508760"/>
            <a:ext cx="2554148" cy="457200"/>
          </a:xfrm>
          <a:prstGeom prst="rect">
            <a:avLst/>
          </a:prstGeom>
          <a:solidFill>
            <a:srgbClr val="1F3A5F"/>
          </a:solidFill>
          <a:ln w="12700">
            <a:solidFill>
              <a:srgbClr val="1F3A5F"/>
            </a:solidFill>
            <a:prstDash val="solid"/>
          </a:ln>
        </p:spPr>
      </p:sp>
      <p:sp>
        <p:nvSpPr>
          <p:cNvPr id="8" name="label"/>
          <p:cNvSpPr txBox="1"/>
          <p:nvPr/>
        </p:nvSpPr>
        <p:spPr>
          <a:xfrm>
            <a:off x="658368" y="1508760"/>
            <a:ext cx="2334692"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1  Start up</a:t>
            </a:r>
            <a:endParaRPr lang="en-US" sz="1500" dirty="0"/>
          </a:p>
        </p:txBody>
      </p:sp>
      <p:sp>
        <p:nvSpPr>
          <p:cNvPr id="9" name="Shape 7"/>
          <p:cNvSpPr/>
          <p:nvPr/>
        </p:nvSpPr>
        <p:spPr>
          <a:xfrm>
            <a:off x="548640" y="1965960"/>
            <a:ext cx="2554148" cy="2651760"/>
          </a:xfrm>
          <a:prstGeom prst="rect">
            <a:avLst/>
          </a:prstGeom>
          <a:solidFill>
            <a:srgbClr val="FFFFFF"/>
          </a:solidFill>
          <a:ln w="12700">
            <a:solidFill>
              <a:srgbClr val="1F3A5F"/>
            </a:solidFill>
            <a:prstDash val="solid"/>
          </a:ln>
        </p:spPr>
      </p:sp>
      <p:sp>
        <p:nvSpPr>
          <p:cNvPr id="10" name="stage 1 steps"/>
          <p:cNvSpPr txBox="1"/>
          <p:nvPr/>
        </p:nvSpPr>
        <p:spPr>
          <a:xfrm>
            <a:off x="621792" y="2057400"/>
            <a:ext cx="2407844" cy="246888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Self-check</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Take up slack</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Lift a few centimetres</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Calibrate</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Set the trust level</a:t>
            </a:r>
            <a:endParaRPr lang="en-US" sz="1500" dirty="0"/>
          </a:p>
        </p:txBody>
      </p:sp>
      <p:sp>
        <p:nvSpPr>
          <p:cNvPr id="11" name="Shape 9"/>
          <p:cNvSpPr/>
          <p:nvPr/>
        </p:nvSpPr>
        <p:spPr>
          <a:xfrm>
            <a:off x="3139364" y="1737360"/>
            <a:ext cx="219456" cy="0"/>
          </a:xfrm>
          <a:prstGeom prst="line">
            <a:avLst/>
          </a:prstGeom>
          <a:noFill/>
          <a:ln w="19050">
            <a:solidFill>
              <a:srgbClr val="7F7F7F"/>
            </a:solidFill>
            <a:prstDash val="solid"/>
            <a:tailEnd type="triangle"/>
          </a:ln>
        </p:spPr>
      </p:sp>
      <p:sp>
        <p:nvSpPr>
          <p:cNvPr id="12" name="stage 2"/>
          <p:cNvSpPr/>
          <p:nvPr/>
        </p:nvSpPr>
        <p:spPr>
          <a:xfrm>
            <a:off x="3395396" y="1508760"/>
            <a:ext cx="2554148" cy="457200"/>
          </a:xfrm>
          <a:prstGeom prst="rect">
            <a:avLst/>
          </a:prstGeom>
          <a:solidFill>
            <a:srgbClr val="1F3A5F"/>
          </a:solidFill>
          <a:ln w="12700">
            <a:solidFill>
              <a:srgbClr val="1F3A5F"/>
            </a:solidFill>
            <a:prstDash val="solid"/>
          </a:ln>
        </p:spPr>
      </p:sp>
      <p:sp>
        <p:nvSpPr>
          <p:cNvPr id="13" name="label"/>
          <p:cNvSpPr txBox="1"/>
          <p:nvPr/>
        </p:nvSpPr>
        <p:spPr>
          <a:xfrm>
            <a:off x="3505124" y="1508760"/>
            <a:ext cx="2334692"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2  Find</a:t>
            </a:r>
            <a:endParaRPr lang="en-US" sz="1500" dirty="0"/>
          </a:p>
        </p:txBody>
      </p:sp>
      <p:sp>
        <p:nvSpPr>
          <p:cNvPr id="14" name="Shape 12"/>
          <p:cNvSpPr/>
          <p:nvPr/>
        </p:nvSpPr>
        <p:spPr>
          <a:xfrm>
            <a:off x="3395396" y="1965960"/>
            <a:ext cx="2554148" cy="2651760"/>
          </a:xfrm>
          <a:prstGeom prst="rect">
            <a:avLst/>
          </a:prstGeom>
          <a:solidFill>
            <a:srgbClr val="FFFFFF"/>
          </a:solidFill>
          <a:ln w="12700">
            <a:solidFill>
              <a:srgbClr val="1F3A5F"/>
            </a:solidFill>
            <a:prstDash val="solid"/>
          </a:ln>
        </p:spPr>
      </p:sp>
      <p:sp>
        <p:nvSpPr>
          <p:cNvPr id="15" name="stage 2 steps"/>
          <p:cNvSpPr txBox="1"/>
          <p:nvPr/>
        </p:nvSpPr>
        <p:spPr>
          <a:xfrm>
            <a:off x="3468548" y="2057400"/>
            <a:ext cx="2407844" cy="246888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Rise to scan height</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Detector lists the items</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Map each to the floor</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Choose the nearest</a:t>
            </a:r>
            <a:endParaRPr lang="en-US" sz="1500" dirty="0"/>
          </a:p>
        </p:txBody>
      </p:sp>
      <p:sp>
        <p:nvSpPr>
          <p:cNvPr id="16" name="Shape 14"/>
          <p:cNvSpPr/>
          <p:nvPr/>
        </p:nvSpPr>
        <p:spPr>
          <a:xfrm>
            <a:off x="5986120" y="1737360"/>
            <a:ext cx="219456" cy="0"/>
          </a:xfrm>
          <a:prstGeom prst="line">
            <a:avLst/>
          </a:prstGeom>
          <a:noFill/>
          <a:ln w="19050">
            <a:solidFill>
              <a:srgbClr val="7F7F7F"/>
            </a:solidFill>
            <a:prstDash val="solid"/>
            <a:tailEnd type="triangle"/>
          </a:ln>
        </p:spPr>
      </p:sp>
      <p:sp>
        <p:nvSpPr>
          <p:cNvPr id="17" name="stage 3"/>
          <p:cNvSpPr/>
          <p:nvPr/>
        </p:nvSpPr>
        <p:spPr>
          <a:xfrm>
            <a:off x="6242152" y="1508760"/>
            <a:ext cx="2554148" cy="457200"/>
          </a:xfrm>
          <a:prstGeom prst="rect">
            <a:avLst/>
          </a:prstGeom>
          <a:solidFill>
            <a:srgbClr val="1F3A5F"/>
          </a:solidFill>
          <a:ln w="12700">
            <a:solidFill>
              <a:srgbClr val="1F3A5F"/>
            </a:solidFill>
            <a:prstDash val="solid"/>
          </a:ln>
        </p:spPr>
      </p:sp>
      <p:sp>
        <p:nvSpPr>
          <p:cNvPr id="18" name="label"/>
          <p:cNvSpPr txBox="1"/>
          <p:nvPr/>
        </p:nvSpPr>
        <p:spPr>
          <a:xfrm>
            <a:off x="6351880" y="1508760"/>
            <a:ext cx="2334692"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3  Pick and deliver</a:t>
            </a:r>
            <a:endParaRPr lang="en-US" sz="1500" dirty="0"/>
          </a:p>
        </p:txBody>
      </p:sp>
      <p:sp>
        <p:nvSpPr>
          <p:cNvPr id="19" name="Shape 17"/>
          <p:cNvSpPr/>
          <p:nvPr/>
        </p:nvSpPr>
        <p:spPr>
          <a:xfrm>
            <a:off x="6242152" y="1965960"/>
            <a:ext cx="2554148" cy="2651760"/>
          </a:xfrm>
          <a:prstGeom prst="rect">
            <a:avLst/>
          </a:prstGeom>
          <a:solidFill>
            <a:srgbClr val="FFFFFF"/>
          </a:solidFill>
          <a:ln w="12700">
            <a:solidFill>
              <a:srgbClr val="1F3A5F"/>
            </a:solidFill>
            <a:prstDash val="solid"/>
          </a:ln>
        </p:spPr>
      </p:sp>
      <p:sp>
        <p:nvSpPr>
          <p:cNvPr id="20" name="stage 3 steps"/>
          <p:cNvSpPr txBox="1"/>
          <p:nvPr/>
        </p:nvSpPr>
        <p:spPr>
          <a:xfrm>
            <a:off x="6315304" y="2057400"/>
            <a:ext cx="2407844" cy="246888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Hover until still</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Descend, close</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Camera: is it held?</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Fly to the hamper, release</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Camera: is it in?</a:t>
            </a:r>
            <a:endParaRPr lang="en-US" sz="1500" dirty="0"/>
          </a:p>
        </p:txBody>
      </p:sp>
      <p:sp>
        <p:nvSpPr>
          <p:cNvPr id="21" name="Shape 19"/>
          <p:cNvSpPr/>
          <p:nvPr/>
        </p:nvSpPr>
        <p:spPr>
          <a:xfrm>
            <a:off x="8832875" y="1737360"/>
            <a:ext cx="219456" cy="0"/>
          </a:xfrm>
          <a:prstGeom prst="line">
            <a:avLst/>
          </a:prstGeom>
          <a:noFill/>
          <a:ln w="19050">
            <a:solidFill>
              <a:srgbClr val="7F7F7F"/>
            </a:solidFill>
            <a:prstDash val="solid"/>
            <a:tailEnd type="triangle"/>
          </a:ln>
        </p:spPr>
      </p:sp>
      <p:sp>
        <p:nvSpPr>
          <p:cNvPr id="22" name="stage 4"/>
          <p:cNvSpPr/>
          <p:nvPr/>
        </p:nvSpPr>
        <p:spPr>
          <a:xfrm>
            <a:off x="9088907" y="1508760"/>
            <a:ext cx="2554148" cy="457200"/>
          </a:xfrm>
          <a:prstGeom prst="rect">
            <a:avLst/>
          </a:prstGeom>
          <a:solidFill>
            <a:srgbClr val="1F3A5F"/>
          </a:solidFill>
          <a:ln w="12700">
            <a:solidFill>
              <a:srgbClr val="1F3A5F"/>
            </a:solidFill>
            <a:prstDash val="solid"/>
          </a:ln>
        </p:spPr>
      </p:sp>
      <p:sp>
        <p:nvSpPr>
          <p:cNvPr id="23" name="label"/>
          <p:cNvSpPr txBox="1"/>
          <p:nvPr/>
        </p:nvSpPr>
        <p:spPr>
          <a:xfrm>
            <a:off x="9198635" y="1508760"/>
            <a:ext cx="2334692"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4  Put away</a:t>
            </a:r>
            <a:endParaRPr lang="en-US" sz="1500" dirty="0"/>
          </a:p>
        </p:txBody>
      </p:sp>
      <p:sp>
        <p:nvSpPr>
          <p:cNvPr id="24" name="Shape 22"/>
          <p:cNvSpPr/>
          <p:nvPr/>
        </p:nvSpPr>
        <p:spPr>
          <a:xfrm>
            <a:off x="9088907" y="1965960"/>
            <a:ext cx="2554148" cy="2651760"/>
          </a:xfrm>
          <a:prstGeom prst="rect">
            <a:avLst/>
          </a:prstGeom>
          <a:solidFill>
            <a:srgbClr val="FFFFFF"/>
          </a:solidFill>
          <a:ln w="12700">
            <a:solidFill>
              <a:srgbClr val="1F3A5F"/>
            </a:solidFill>
            <a:prstDash val="solid"/>
          </a:ln>
        </p:spPr>
      </p:sp>
      <p:sp>
        <p:nvSpPr>
          <p:cNvPr id="25" name="stage 4 steps"/>
          <p:cNvSpPr txBox="1"/>
          <p:nvPr/>
        </p:nvSpPr>
        <p:spPr>
          <a:xfrm>
            <a:off x="9162059" y="2057400"/>
            <a:ext cx="2407844" cy="2468880"/>
          </a:xfrm>
          <a:prstGeom prst="rect">
            <a:avLst/>
          </a:prstGeom>
          <a:noFill/>
          <a:ln/>
        </p:spPr>
        <p:txBody>
          <a:bodyPr wrap="square" lIns="0" tIns="0" rIns="0" bIns="0" rtlCol="0" anchor="t"/>
          <a:lstStyle/>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Lower over the floor board</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Camera confirms the floor</a:t>
            </a:r>
            <a:endParaRPr lang="en-US" sz="1500" dirty="0"/>
          </a:p>
          <a:p>
            <a:pPr marL="152400" indent="-152400">
              <a:spcAft>
                <a:spcPts val="600"/>
              </a:spcAft>
              <a:buSzPct val="100000"/>
              <a:buChar char="•"/>
            </a:pPr>
            <a:r>
              <a:rPr lang="en-US" sz="1500" dirty="0">
                <a:solidFill>
                  <a:srgbClr val="000000"/>
                </a:solidFill>
                <a:latin typeface="Arial" pitchFamily="34" charset="0"/>
                <a:ea typeface="Arial" pitchFamily="34" charset="-122"/>
                <a:cs typeface="Arial" pitchFamily="34" charset="-120"/>
              </a:rPr>
              <a:t>Disarm after a typed confirm</a:t>
            </a:r>
            <a:endParaRPr lang="en-US" sz="1500" dirty="0"/>
          </a:p>
        </p:txBody>
      </p:sp>
      <p:sp>
        <p:nvSpPr>
          <p:cNvPr id="26" name="Shape 24"/>
          <p:cNvSpPr/>
          <p:nvPr/>
        </p:nvSpPr>
        <p:spPr>
          <a:xfrm>
            <a:off x="7519226" y="4617720"/>
            <a:ext cx="0" cy="256032"/>
          </a:xfrm>
          <a:prstGeom prst="line">
            <a:avLst/>
          </a:prstGeom>
          <a:noFill/>
          <a:ln w="19050">
            <a:solidFill>
              <a:srgbClr val="4F6D8F"/>
            </a:solidFill>
            <a:prstDash val="solid"/>
          </a:ln>
        </p:spPr>
      </p:sp>
      <p:sp>
        <p:nvSpPr>
          <p:cNvPr id="27" name="Shape 25"/>
          <p:cNvSpPr/>
          <p:nvPr/>
        </p:nvSpPr>
        <p:spPr>
          <a:xfrm flipH="1">
            <a:off x="4672470" y="4873752"/>
            <a:ext cx="2846756" cy="0"/>
          </a:xfrm>
          <a:prstGeom prst="line">
            <a:avLst/>
          </a:prstGeom>
          <a:noFill/>
          <a:ln w="19050">
            <a:solidFill>
              <a:srgbClr val="4F6D8F"/>
            </a:solidFill>
            <a:prstDash val="solid"/>
          </a:ln>
        </p:spPr>
      </p:sp>
      <p:sp>
        <p:nvSpPr>
          <p:cNvPr id="28" name="Shape 26"/>
          <p:cNvSpPr/>
          <p:nvPr/>
        </p:nvSpPr>
        <p:spPr>
          <a:xfrm flipV="1">
            <a:off x="4672470" y="4636008"/>
            <a:ext cx="0" cy="237744"/>
          </a:xfrm>
          <a:prstGeom prst="line">
            <a:avLst/>
          </a:prstGeom>
          <a:noFill/>
          <a:ln w="19050">
            <a:solidFill>
              <a:srgbClr val="4F6D8F"/>
            </a:solidFill>
            <a:prstDash val="solid"/>
            <a:tailEnd type="triangle"/>
          </a:ln>
        </p:spPr>
      </p:sp>
      <p:sp>
        <p:nvSpPr>
          <p:cNvPr id="29" name="label"/>
          <p:cNvSpPr txBox="1"/>
          <p:nvPr/>
        </p:nvSpPr>
        <p:spPr>
          <a:xfrm>
            <a:off x="3395396" y="4892040"/>
            <a:ext cx="5400904" cy="274320"/>
          </a:xfrm>
          <a:prstGeom prst="rect">
            <a:avLst/>
          </a:prstGeom>
          <a:noFill/>
          <a:ln/>
        </p:spPr>
        <p:txBody>
          <a:bodyPr wrap="square" lIns="0" tIns="0" rIns="0" bIns="0" rtlCol="0" anchor="ctr"/>
          <a:lstStyle/>
          <a:p>
            <a:pPr algn="ctr" indent="0" marL="0">
              <a:buNone/>
            </a:pPr>
            <a:r>
              <a:rPr lang="en-US" sz="1200" dirty="0">
                <a:solidFill>
                  <a:srgbClr val="4F6D8F"/>
                </a:solidFill>
                <a:latin typeface="Arial" pitchFamily="34" charset="0"/>
                <a:ea typeface="Arial" pitchFamily="34" charset="-122"/>
                <a:cs typeface="Arial" pitchFamily="34" charset="-120"/>
              </a:rPr>
              <a:t>next item; 3 failures in a row → pause for the operator</a:t>
            </a:r>
            <a:endParaRPr lang="en-US" sz="1200" dirty="0"/>
          </a:p>
        </p:txBody>
      </p:sp>
      <p:sp>
        <p:nvSpPr>
          <p:cNvPr id="30" name="stop rule"/>
          <p:cNvSpPr/>
          <p:nvPr/>
        </p:nvSpPr>
        <p:spPr>
          <a:xfrm>
            <a:off x="548640" y="5669280"/>
            <a:ext cx="11094415" cy="548640"/>
          </a:xfrm>
          <a:prstGeom prst="rect">
            <a:avLst/>
          </a:prstGeom>
          <a:solidFill>
            <a:srgbClr val="FFFFFF"/>
          </a:solidFill>
          <a:ln w="19050">
            <a:solidFill>
              <a:srgbClr val="B23A2E"/>
            </a:solidFill>
            <a:prstDash val="solid"/>
          </a:ln>
        </p:spPr>
      </p:sp>
      <p:sp>
        <p:nvSpPr>
          <p:cNvPr id="31" name="label"/>
          <p:cNvSpPr txBox="1"/>
          <p:nvPr/>
        </p:nvSpPr>
        <p:spPr>
          <a:xfrm>
            <a:off x="685800" y="5669280"/>
            <a:ext cx="10820095" cy="548640"/>
          </a:xfrm>
          <a:prstGeom prst="rect">
            <a:avLst/>
          </a:prstGeom>
          <a:noFill/>
          <a:ln/>
        </p:spPr>
        <p:txBody>
          <a:bodyPr wrap="square" lIns="0" tIns="0" rIns="0" bIns="0" rtlCol="0" anchor="ctr"/>
          <a:lstStyle/>
          <a:p>
            <a:pPr algn="l" indent="0" marL="0">
              <a:buNone/>
            </a:pPr>
            <a:r>
              <a:rPr lang="en-US" sz="1400" b="1" dirty="0">
                <a:solidFill>
                  <a:srgbClr val="000000"/>
                </a:solidFill>
                <a:latin typeface="Arial" pitchFamily="34" charset="0"/>
                <a:ea typeface="Arial" pitchFamily="34" charset="-122"/>
                <a:cs typeface="Arial" pitchFamily="34" charset="-120"/>
              </a:rPr>
              <a:t>At any point:</a:t>
            </a:r>
            <a:pPr algn="l" indent="0" marL="0">
              <a:buNone/>
            </a:pPr>
            <a:r>
              <a:rPr lang="en-US" sz="1400" dirty="0">
                <a:solidFill>
                  <a:srgbClr val="000000"/>
                </a:solidFill>
                <a:latin typeface="Arial" pitchFamily="34" charset="0"/>
                <a:ea typeface="Arial" pitchFamily="34" charset="-122"/>
                <a:cs typeface="Arial" pitchFamily="34" charset="-120"/>
              </a:rPr>
              <a:t> PAUSE or a fault stops every station on the same point of the path, still holding. Nothing restarts by itself.</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Phone App</a:t>
            </a:r>
            <a:endParaRPr lang="en-US" sz="3000" dirty="0"/>
          </a:p>
        </p:txBody>
      </p:sp>
      <p:sp>
        <p:nvSpPr>
          <p:cNvPr id="4" name="status chip"/>
          <p:cNvSpPr/>
          <p:nvPr/>
        </p:nvSpPr>
        <p:spPr>
          <a:xfrm>
            <a:off x="10180015" y="621792"/>
            <a:ext cx="146304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10180015" y="621792"/>
            <a:ext cx="146304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Simulated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032998"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Status, live claw camera, guided setup</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Anything that moves asks “yes” first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PAUSE holds position at once</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The switched power strip is the hard stop</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A reboot never resumes a task</a:t>
            </a:r>
            <a:endParaRPr lang="en-US" sz="2000" dirty="0"/>
          </a:p>
        </p:txBody>
      </p:sp>
      <p:sp>
        <p:nvSpPr>
          <p:cNvPr id="8" name="Shape 6"/>
          <p:cNvSpPr/>
          <p:nvPr/>
        </p:nvSpPr>
        <p:spPr>
          <a:xfrm>
            <a:off x="4993118" y="1463040"/>
            <a:ext cx="2125206" cy="4526280"/>
          </a:xfrm>
          <a:prstGeom prst="rect">
            <a:avLst/>
          </a:prstGeom>
          <a:solidFill>
            <a:srgbClr val="F2F2F2"/>
          </a:solidFill>
          <a:ln w="12700">
            <a:solidFill>
              <a:srgbClr val="F2F2F2"/>
            </a:solidFill>
            <a:prstDash val="solid"/>
          </a:ln>
        </p:spPr>
      </p:sp>
      <p:pic>
        <p:nvPicPr>
          <p:cNvPr id="9" name="Phone app screens" descr="Phone app screens">    </p:cNvPr>
          <p:cNvPicPr>
            <a:picLocks noChangeAspect="1"/>
          </p:cNvPicPr>
          <p:nvPr/>
        </p:nvPicPr>
        <p:blipFill>
          <a:blip r:embed="rId1"/>
          <a:stretch>
            <a:fillRect/>
          </a:stretch>
        </p:blipFill>
        <p:spPr>
          <a:xfrm>
            <a:off x="5047982" y="1545330"/>
            <a:ext cx="2015478" cy="4361701"/>
          </a:xfrm>
          <a:prstGeom prst="rect">
            <a:avLst/>
          </a:prstGeom>
        </p:spPr>
      </p:pic>
      <p:sp>
        <p:nvSpPr>
          <p:cNvPr id="10" name="Shape 7"/>
          <p:cNvSpPr/>
          <p:nvPr/>
        </p:nvSpPr>
        <p:spPr>
          <a:xfrm>
            <a:off x="7255484" y="1463040"/>
            <a:ext cx="2125206" cy="4526280"/>
          </a:xfrm>
          <a:prstGeom prst="rect">
            <a:avLst/>
          </a:prstGeom>
          <a:solidFill>
            <a:srgbClr val="F2F2F2"/>
          </a:solidFill>
          <a:ln w="12700">
            <a:solidFill>
              <a:srgbClr val="F2F2F2"/>
            </a:solidFill>
            <a:prstDash val="solid"/>
          </a:ln>
        </p:spPr>
      </p:sp>
      <p:pic>
        <p:nvPicPr>
          <p:cNvPr id="11" name="Phone app screens" descr="Phone app screens">    </p:cNvPr>
          <p:cNvPicPr>
            <a:picLocks noChangeAspect="1"/>
          </p:cNvPicPr>
          <p:nvPr/>
        </p:nvPicPr>
        <p:blipFill>
          <a:blip r:embed="rId2"/>
          <a:stretch>
            <a:fillRect/>
          </a:stretch>
        </p:blipFill>
        <p:spPr>
          <a:xfrm>
            <a:off x="7310348" y="1545330"/>
            <a:ext cx="2015478" cy="4361701"/>
          </a:xfrm>
          <a:prstGeom prst="rect">
            <a:avLst/>
          </a:prstGeom>
        </p:spPr>
      </p:pic>
      <p:sp>
        <p:nvSpPr>
          <p:cNvPr id="12" name="Shape 8"/>
          <p:cNvSpPr/>
          <p:nvPr/>
        </p:nvSpPr>
        <p:spPr>
          <a:xfrm>
            <a:off x="9517849" y="1463040"/>
            <a:ext cx="2125206" cy="4526280"/>
          </a:xfrm>
          <a:prstGeom prst="rect">
            <a:avLst/>
          </a:prstGeom>
          <a:solidFill>
            <a:srgbClr val="F2F2F2"/>
          </a:solidFill>
          <a:ln w="12700">
            <a:solidFill>
              <a:srgbClr val="F2F2F2"/>
            </a:solidFill>
            <a:prstDash val="solid"/>
          </a:ln>
        </p:spPr>
      </p:sp>
      <p:pic>
        <p:nvPicPr>
          <p:cNvPr id="13" name="Phone app screens" descr="Phone app screens">    </p:cNvPr>
          <p:cNvPicPr>
            <a:picLocks noChangeAspect="1"/>
          </p:cNvPicPr>
          <p:nvPr/>
        </p:nvPicPr>
        <p:blipFill>
          <a:blip r:embed="rId3"/>
          <a:stretch>
            <a:fillRect/>
          </a:stretch>
        </p:blipFill>
        <p:spPr>
          <a:xfrm>
            <a:off x="9572713" y="1545330"/>
            <a:ext cx="2015478" cy="4361701"/>
          </a:xfrm>
          <a:prstGeom prst="rect">
            <a:avLst/>
          </a:prstGeom>
        </p:spPr>
      </p:pic>
      <p:sp>
        <p:nvSpPr>
          <p:cNvPr id="14" name="caption"/>
          <p:cNvSpPr txBox="1"/>
          <p:nvPr/>
        </p:nvSpPr>
        <p:spPr>
          <a:xfrm>
            <a:off x="4993118" y="6062472"/>
            <a:ext cx="6649937"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Phone app: home, camera, chat</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Obstacles</a:t>
            </a:r>
            <a:endParaRPr lang="en-US" sz="3000" dirty="0"/>
          </a:p>
        </p:txBody>
      </p:sp>
      <p:sp>
        <p:nvSpPr>
          <p:cNvPr id="4" name="status chip"/>
          <p:cNvSpPr/>
          <p:nvPr/>
        </p:nvSpPr>
        <p:spPr>
          <a:xfrm>
            <a:off x="10180015" y="621792"/>
            <a:ext cx="146304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10180015" y="621792"/>
            <a:ext cx="146304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Simulated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5142439"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1800" dirty="0">
                <a:solidFill>
                  <a:srgbClr val="000000"/>
                </a:solidFill>
                <a:latin typeface="Arial" pitchFamily="34" charset="0"/>
                <a:ea typeface="Arial" pitchFamily="34" charset="-122"/>
                <a:cs typeface="Arial" pitchFamily="34" charset="-120"/>
              </a:rPr>
              <a:t>Known obstacles = keep-out cylinders</a:t>
            </a:r>
            <a:endParaRPr lang="en-US" sz="1800" dirty="0"/>
          </a:p>
          <a:p>
            <a:pPr algn="l" marL="254000" indent="-254000">
              <a:spcAft>
                <a:spcPts val="1400"/>
              </a:spcAft>
              <a:buSzPct val="100000"/>
              <a:buChar char="•"/>
            </a:pPr>
            <a:r>
              <a:rPr lang="en-US" sz="1800" dirty="0">
                <a:solidFill>
                  <a:srgbClr val="000000"/>
                </a:solidFill>
                <a:latin typeface="Arial" pitchFamily="34" charset="0"/>
                <a:ea typeface="Arial" pitchFamily="34" charset="-122"/>
                <a:cs typeface="Arial" pitchFamily="34" charset="-120"/>
              </a:rPr>
              <a:t>Every cable checked at every path point</a:t>
            </a:r>
            <a:endParaRPr lang="en-US" sz="1800" dirty="0"/>
          </a:p>
          <a:p>
            <a:pPr algn="l" marL="254000" indent="-254000">
              <a:spcAft>
                <a:spcPts val="1400"/>
              </a:spcAft>
              <a:buSzPct val="100000"/>
              <a:buChar char="•"/>
            </a:pPr>
            <a:r>
              <a:rPr lang="en-US" sz="1800" dirty="0">
                <a:solidFill>
                  <a:srgbClr val="000000"/>
                </a:solidFill>
                <a:latin typeface="Arial" pitchFamily="34" charset="0"/>
                <a:ea typeface="Arial" pitchFamily="34" charset="-122"/>
                <a:cs typeface="Arial" pitchFamily="34" charset="-120"/>
              </a:rPr>
              <a:t>Fails → refused before moving</a:t>
            </a:r>
            <a:endParaRPr lang="en-US" sz="1800" dirty="0"/>
          </a:p>
          <a:p>
            <a:pPr algn="l" marL="254000" indent="-254000">
              <a:spcAft>
                <a:spcPts val="1400"/>
              </a:spcAft>
              <a:buSzPct val="100000"/>
              <a:buChar char="•"/>
            </a:pPr>
            <a:r>
              <a:rPr lang="en-US" sz="1800" dirty="0">
                <a:solidFill>
                  <a:srgbClr val="000000"/>
                </a:solidFill>
                <a:latin typeface="Arial" pitchFamily="34" charset="0"/>
                <a:ea typeface="Arial" pitchFamily="34" charset="-122"/>
                <a:cs typeface="Arial" pitchFamily="34" charset="-120"/>
              </a:rPr>
              <a:t>Can't see people yet: nobody underneath</a:t>
            </a:r>
            <a:endParaRPr lang="en-US" sz="1800" dirty="0"/>
          </a:p>
        </p:txBody>
      </p:sp>
      <p:sp>
        <p:nvSpPr>
          <p:cNvPr id="8" name="Shape 6"/>
          <p:cNvSpPr/>
          <p:nvPr/>
        </p:nvSpPr>
        <p:spPr>
          <a:xfrm>
            <a:off x="6193999" y="5103748"/>
            <a:ext cx="5357616" cy="0"/>
          </a:xfrm>
          <a:prstGeom prst="line">
            <a:avLst/>
          </a:prstGeom>
          <a:noFill/>
          <a:ln w="15875">
            <a:solidFill>
              <a:srgbClr val="000000"/>
            </a:solidFill>
            <a:prstDash val="solid"/>
          </a:ln>
        </p:spPr>
      </p:sp>
      <p:sp>
        <p:nvSpPr>
          <p:cNvPr id="9" name="Shape 7"/>
          <p:cNvSpPr/>
          <p:nvPr/>
        </p:nvSpPr>
        <p:spPr>
          <a:xfrm>
            <a:off x="6193999" y="1600200"/>
            <a:ext cx="5357616" cy="0"/>
          </a:xfrm>
          <a:prstGeom prst="line">
            <a:avLst/>
          </a:prstGeom>
          <a:noFill/>
          <a:ln w="12700">
            <a:solidFill>
              <a:srgbClr val="BFBFBF"/>
            </a:solidFill>
            <a:prstDash val="solid"/>
          </a:ln>
        </p:spPr>
      </p:sp>
      <p:sp>
        <p:nvSpPr>
          <p:cNvPr id="10" name="shelf"/>
          <p:cNvSpPr/>
          <p:nvPr/>
        </p:nvSpPr>
        <p:spPr>
          <a:xfrm>
            <a:off x="7216933" y="2674281"/>
            <a:ext cx="511467" cy="2429468"/>
          </a:xfrm>
          <a:prstGeom prst="rect">
            <a:avLst/>
          </a:prstGeom>
          <a:solidFill>
            <a:srgbClr val="D9DEE5"/>
          </a:solidFill>
          <a:ln w="12700">
            <a:solidFill>
              <a:srgbClr val="7F7F7F"/>
            </a:solidFill>
            <a:prstDash val="solid"/>
          </a:ln>
        </p:spPr>
      </p:sp>
      <p:sp>
        <p:nvSpPr>
          <p:cNvPr id="11" name="label"/>
          <p:cNvSpPr txBox="1"/>
          <p:nvPr/>
        </p:nvSpPr>
        <p:spPr>
          <a:xfrm>
            <a:off x="6302533" y="3569348"/>
            <a:ext cx="859536" cy="457200"/>
          </a:xfrm>
          <a:prstGeom prst="rect">
            <a:avLst/>
          </a:prstGeom>
          <a:noFill/>
          <a:ln/>
        </p:spPr>
        <p:txBody>
          <a:bodyPr wrap="square" lIns="0" tIns="0" rIns="0" bIns="0" rtlCol="0" anchor="ctr"/>
          <a:lstStyle/>
          <a:p>
            <a:pPr algn="r" indent="0" marL="0">
              <a:buNone/>
            </a:pPr>
            <a:r>
              <a:rPr lang="en-US" sz="1100" dirty="0">
                <a:solidFill>
                  <a:srgbClr val="404040"/>
                </a:solidFill>
                <a:latin typeface="Arial" pitchFamily="34" charset="0"/>
                <a:ea typeface="Arial" pitchFamily="34" charset="-122"/>
                <a:cs typeface="Arial" pitchFamily="34" charset="-120"/>
              </a:rPr>
              <a:t>shelf,</a:t>
            </a:r>
            <a:endParaRPr lang="en-US" sz="1100" dirty="0"/>
          </a:p>
          <a:p>
            <a:pPr algn="r" indent="0" marL="0">
              <a:buNone/>
            </a:pPr>
            <a:r>
              <a:rPr lang="en-US" sz="1100" dirty="0">
                <a:solidFill>
                  <a:srgbClr val="404040"/>
                </a:solidFill>
                <a:latin typeface="Arial" pitchFamily="34" charset="0"/>
                <a:ea typeface="Arial" pitchFamily="34" charset="-122"/>
                <a:cs typeface="Arial" pitchFamily="34" charset="-120"/>
              </a:rPr>
              <a:t>0–1.9 m</a:t>
            </a:r>
            <a:endParaRPr lang="en-US" sz="1100" dirty="0"/>
          </a:p>
        </p:txBody>
      </p:sp>
      <p:sp>
        <p:nvSpPr>
          <p:cNvPr id="12" name="Shape 10"/>
          <p:cNvSpPr/>
          <p:nvPr/>
        </p:nvSpPr>
        <p:spPr>
          <a:xfrm>
            <a:off x="6193999" y="1792000"/>
            <a:ext cx="2685201" cy="1393747"/>
          </a:xfrm>
          <a:prstGeom prst="line">
            <a:avLst/>
          </a:prstGeom>
          <a:noFill/>
          <a:ln w="25400">
            <a:solidFill>
              <a:srgbClr val="1F3A5F"/>
            </a:solidFill>
            <a:prstDash val="solid"/>
          </a:ln>
        </p:spPr>
      </p:sp>
      <p:sp>
        <p:nvSpPr>
          <p:cNvPr id="13" name="Shape 11"/>
          <p:cNvSpPr/>
          <p:nvPr/>
        </p:nvSpPr>
        <p:spPr>
          <a:xfrm flipH="1">
            <a:off x="8879201" y="1792000"/>
            <a:ext cx="2672415" cy="1393747"/>
          </a:xfrm>
          <a:prstGeom prst="line">
            <a:avLst/>
          </a:prstGeom>
          <a:noFill/>
          <a:ln w="25400">
            <a:solidFill>
              <a:srgbClr val="1F3A5F"/>
            </a:solidFill>
            <a:prstDash val="solid"/>
          </a:ln>
        </p:spPr>
      </p:sp>
      <p:sp>
        <p:nvSpPr>
          <p:cNvPr id="14" name="Shape 12"/>
          <p:cNvSpPr/>
          <p:nvPr/>
        </p:nvSpPr>
        <p:spPr>
          <a:xfrm>
            <a:off x="8796905" y="3103451"/>
            <a:ext cx="164592" cy="164592"/>
          </a:xfrm>
          <a:prstGeom prst="rect">
            <a:avLst/>
          </a:prstGeom>
          <a:solidFill>
            <a:srgbClr val="1F3A5F"/>
          </a:solidFill>
          <a:ln w="12700">
            <a:solidFill>
              <a:srgbClr val="1F3A5F"/>
            </a:solidFill>
            <a:prstDash val="solid"/>
          </a:ln>
        </p:spPr>
      </p:sp>
      <p:sp>
        <p:nvSpPr>
          <p:cNvPr id="15" name="Shape 13"/>
          <p:cNvSpPr/>
          <p:nvPr/>
        </p:nvSpPr>
        <p:spPr>
          <a:xfrm>
            <a:off x="6193999" y="1792000"/>
            <a:ext cx="2685201" cy="2288814"/>
          </a:xfrm>
          <a:prstGeom prst="line">
            <a:avLst/>
          </a:prstGeom>
          <a:noFill/>
          <a:ln w="25400">
            <a:solidFill>
              <a:srgbClr val="B23A2E"/>
            </a:solidFill>
            <a:prstDash val="dash"/>
          </a:ln>
        </p:spPr>
      </p:sp>
      <p:sp>
        <p:nvSpPr>
          <p:cNvPr id="16" name="Shape 14"/>
          <p:cNvSpPr/>
          <p:nvPr/>
        </p:nvSpPr>
        <p:spPr>
          <a:xfrm flipH="1">
            <a:off x="8879201" y="1792000"/>
            <a:ext cx="2672415" cy="2288814"/>
          </a:xfrm>
          <a:prstGeom prst="line">
            <a:avLst/>
          </a:prstGeom>
          <a:noFill/>
          <a:ln w="25400">
            <a:solidFill>
              <a:srgbClr val="B23A2E"/>
            </a:solidFill>
            <a:prstDash val="dash"/>
          </a:ln>
        </p:spPr>
      </p:sp>
      <p:sp>
        <p:nvSpPr>
          <p:cNvPr id="17" name="Shape 15"/>
          <p:cNvSpPr/>
          <p:nvPr/>
        </p:nvSpPr>
        <p:spPr>
          <a:xfrm>
            <a:off x="8796905" y="3998519"/>
            <a:ext cx="164592" cy="164592"/>
          </a:xfrm>
          <a:prstGeom prst="rect">
            <a:avLst/>
          </a:prstGeom>
          <a:solidFill>
            <a:srgbClr val="B23A2E"/>
          </a:solidFill>
          <a:ln w="12700">
            <a:solidFill>
              <a:srgbClr val="B23A2E"/>
            </a:solidFill>
            <a:prstDash val="solid"/>
          </a:ln>
        </p:spPr>
      </p:sp>
      <p:sp>
        <p:nvSpPr>
          <p:cNvPr id="18" name="label"/>
          <p:cNvSpPr txBox="1"/>
          <p:nvPr/>
        </p:nvSpPr>
        <p:spPr>
          <a:xfrm>
            <a:off x="8193401" y="3304619"/>
            <a:ext cx="1371600" cy="22860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1.5 m: clear</a:t>
            </a:r>
            <a:endParaRPr lang="en-US" sz="1200" dirty="0"/>
          </a:p>
        </p:txBody>
      </p:sp>
      <p:sp>
        <p:nvSpPr>
          <p:cNvPr id="19" name="label"/>
          <p:cNvSpPr txBox="1"/>
          <p:nvPr/>
        </p:nvSpPr>
        <p:spPr>
          <a:xfrm>
            <a:off x="8056241" y="4199687"/>
            <a:ext cx="1645920" cy="228600"/>
          </a:xfrm>
          <a:prstGeom prst="rect">
            <a:avLst/>
          </a:prstGeom>
          <a:noFill/>
          <a:ln/>
        </p:spPr>
        <p:txBody>
          <a:bodyPr wrap="square" lIns="0" tIns="0" rIns="0" bIns="0" rtlCol="0" anchor="ctr"/>
          <a:lstStyle/>
          <a:p>
            <a:pPr algn="ctr" indent="0" marL="0">
              <a:buNone/>
            </a:pPr>
            <a:r>
              <a:rPr lang="en-US" sz="1200" b="1" dirty="0">
                <a:solidFill>
                  <a:srgbClr val="B23A2E"/>
                </a:solidFill>
                <a:latin typeface="Arial" pitchFamily="34" charset="0"/>
                <a:ea typeface="Arial" pitchFamily="34" charset="-122"/>
                <a:cs typeface="Arial" pitchFamily="34" charset="-120"/>
              </a:rPr>
              <a:t>0.8 m: refused</a:t>
            </a:r>
            <a:endParaRPr lang="en-US" sz="1200" dirty="0"/>
          </a:p>
        </p:txBody>
      </p:sp>
      <p:sp>
        <p:nvSpPr>
          <p:cNvPr id="20" name="caption"/>
          <p:cNvSpPr txBox="1"/>
          <p:nvPr/>
        </p:nvSpPr>
        <p:spPr>
          <a:xfrm>
            <a:off x="6102559" y="5760720"/>
            <a:ext cx="5540496"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Side view along a room diagonal: same floor spot, two heights; an example shelf</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Claw Electrical</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bullets"/>
          <p:cNvSpPr txBox="1"/>
          <p:nvPr/>
        </p:nvSpPr>
        <p:spPr>
          <a:xfrm>
            <a:off x="548640" y="1463040"/>
            <a:ext cx="4476774"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2-cell lithium-ion pack: 7.4 V, 5 A fuse</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6 V servo rail · separate 5 V logic</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Peak 2.8–3.1 A vs 3 A pack</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Charge: switch off, attended, ≤ 1 A</a:t>
            </a:r>
            <a:endParaRPr lang="en-US" sz="2000" dirty="0"/>
          </a:p>
        </p:txBody>
      </p:sp>
      <p:sp>
        <p:nvSpPr>
          <p:cNvPr id="6" name="Shape 4"/>
          <p:cNvSpPr/>
          <p:nvPr/>
        </p:nvSpPr>
        <p:spPr>
          <a:xfrm>
            <a:off x="5436894" y="1463040"/>
            <a:ext cx="6206161" cy="4526280"/>
          </a:xfrm>
          <a:prstGeom prst="rect">
            <a:avLst/>
          </a:prstGeom>
          <a:solidFill>
            <a:srgbClr val="F2F2F2"/>
          </a:solidFill>
          <a:ln w="12700">
            <a:solidFill>
              <a:srgbClr val="F2F2F2"/>
            </a:solidFill>
            <a:prstDash val="solid"/>
          </a:ln>
        </p:spPr>
      </p:sp>
      <p:pic>
        <p:nvPicPr>
          <p:cNvPr id="7" name="Claw schematic" descr="Claw schematic">    </p:cNvPr>
          <p:cNvPicPr>
            <a:picLocks noChangeAspect="1"/>
          </p:cNvPicPr>
          <p:nvPr/>
        </p:nvPicPr>
        <p:blipFill>
          <a:blip r:embed="rId1"/>
          <a:stretch>
            <a:fillRect/>
          </a:stretch>
        </p:blipFill>
        <p:spPr>
          <a:xfrm>
            <a:off x="5491758" y="1570308"/>
            <a:ext cx="6096433" cy="4311743"/>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Gear Strength</a:t>
            </a:r>
            <a:endParaRPr lang="en-US" sz="3000" dirty="0"/>
          </a:p>
        </p:txBody>
      </p:sp>
      <p:sp>
        <p:nvSpPr>
          <p:cNvPr id="4" name="status chip"/>
          <p:cNvSpPr/>
          <p:nvPr/>
        </p:nvSpPr>
        <p:spPr>
          <a:xfrm>
            <a:off x="10134295" y="621792"/>
            <a:ext cx="1508760" cy="365760"/>
          </a:xfrm>
          <a:prstGeom prst="roundRect">
            <a:avLst>
              <a:gd name="adj" fmla="val 50000"/>
            </a:avLst>
          </a:prstGeom>
          <a:solidFill>
            <a:srgbClr val="FFFFFF"/>
          </a:solidFill>
          <a:ln w="15875">
            <a:solidFill>
              <a:srgbClr val="1F3A5F"/>
            </a:solidFill>
            <a:prstDash val="solid"/>
          </a:ln>
        </p:spPr>
      </p:sp>
      <p:sp>
        <p:nvSpPr>
          <p:cNvPr id="5" name="status"/>
          <p:cNvSpPr txBox="1"/>
          <p:nvPr/>
        </p:nvSpPr>
        <p:spPr>
          <a:xfrm>
            <a:off x="10134295" y="621792"/>
            <a:ext cx="1508760" cy="365760"/>
          </a:xfrm>
          <a:prstGeom prst="rect">
            <a:avLst/>
          </a:prstGeom>
          <a:noFill/>
          <a:ln/>
        </p:spPr>
        <p:txBody>
          <a:bodyPr wrap="square" lIns="0" tIns="0" rIns="0" bIns="0" rtlCol="0" anchor="ctr"/>
          <a:lstStyle/>
          <a:p>
            <a:pPr algn="ctr" indent="0" marL="0">
              <a:buNone/>
            </a:pPr>
            <a:r>
              <a:rPr lang="en-US" sz="1200" b="1" dirty="0">
                <a:solidFill>
                  <a:srgbClr val="1F3A5F"/>
                </a:solidFill>
                <a:latin typeface="Arial" pitchFamily="34" charset="0"/>
                <a:ea typeface="Arial" pitchFamily="34" charset="-122"/>
                <a:cs typeface="Arial" pitchFamily="34" charset="-120"/>
              </a:rPr>
              <a:t>Calculated</a:t>
            </a:r>
            <a:endParaRPr lang="en-US" sz="1200" dirty="0"/>
          </a:p>
        </p:txBody>
      </p:sp>
      <p:sp>
        <p:nvSpPr>
          <p:cNvPr id="6" name="title rule"/>
          <p:cNvSpPr/>
          <p:nvPr/>
        </p:nvSpPr>
        <p:spPr>
          <a:xfrm>
            <a:off x="548640" y="1234440"/>
            <a:ext cx="11094415" cy="0"/>
          </a:xfrm>
          <a:prstGeom prst="line">
            <a:avLst/>
          </a:prstGeom>
          <a:noFill/>
          <a:ln w="9525">
            <a:solidFill>
              <a:srgbClr val="BFBFBF"/>
            </a:solidFill>
            <a:prstDash val="solid"/>
          </a:ln>
        </p:spPr>
      </p:sp>
      <p:sp>
        <p:nvSpPr>
          <p:cNvPr id="7" name="bullets"/>
          <p:cNvSpPr txBox="1"/>
          <p:nvPr/>
        </p:nvSpPr>
        <p:spPr>
          <a:xfrm>
            <a:off x="548640" y="1463040"/>
            <a:ext cx="4920551" cy="2578608"/>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Module 1.5 · PETG allowable 22.5 MPa</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6 V stall: SF 2.05 / 2.50 / 2.00</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Module 1: SF 0.35–0.41 → rejected</a:t>
            </a:r>
            <a:endParaRPr lang="en-US" sz="2000" dirty="0"/>
          </a:p>
        </p:txBody>
      </p:sp>
      <p:sp>
        <p:nvSpPr>
          <p:cNvPr id="8" name="equation box"/>
          <p:cNvSpPr/>
          <p:nvPr/>
        </p:nvSpPr>
        <p:spPr>
          <a:xfrm>
            <a:off x="548640" y="4224528"/>
            <a:ext cx="4920551" cy="2039112"/>
          </a:xfrm>
          <a:prstGeom prst="rect">
            <a:avLst/>
          </a:prstGeom>
          <a:solidFill>
            <a:srgbClr val="F7F8FA"/>
          </a:solidFill>
          <a:ln w="15875">
            <a:solidFill>
              <a:srgbClr val="1F3A5F"/>
            </a:solidFill>
            <a:prstDash val="solid"/>
          </a:ln>
        </p:spPr>
      </p:sp>
      <p:sp>
        <p:nvSpPr>
          <p:cNvPr id="9" name="equation label"/>
          <p:cNvSpPr txBox="1"/>
          <p:nvPr/>
        </p:nvSpPr>
        <p:spPr>
          <a:xfrm>
            <a:off x="713232" y="4297680"/>
            <a:ext cx="4591367" cy="219456"/>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Equation</a:t>
            </a:r>
            <a:endParaRPr lang="en-US" sz="1100" dirty="0"/>
          </a:p>
        </p:txBody>
      </p:sp>
      <p:sp>
        <p:nvSpPr>
          <p:cNvPr id="10" name="equations"/>
          <p:cNvSpPr txBox="1"/>
          <p:nvPr/>
        </p:nvSpPr>
        <p:spPr>
          <a:xfrm>
            <a:off x="713232" y="4535424"/>
            <a:ext cx="4591367" cy="1005840"/>
          </a:xfrm>
          <a:prstGeom prst="rect">
            <a:avLst/>
          </a:prstGeom>
          <a:noFill/>
          <a:ln/>
        </p:spPr>
        <p:txBody>
          <a:bodyPr wrap="square" lIns="0" tIns="0" rIns="0" bIns="0" rtlCol="0" anchor="t"/>
          <a:lstStyle/>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2τ / d = 2 × 1.078 / 0.027 = 79.9 N</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σ = F</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t</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(b m Y) = 79.9 / (15.7 × 1.5 × 0.309) = 11.0 MPa</a:t>
            </a:r>
            <a:endParaRPr lang="en-US" sz="1550" dirty="0"/>
          </a:p>
          <a:p>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SF = σ</a:t>
            </a:r>
            <a:pPr algn="l" indent="0" marL="0">
              <a:spcAft>
                <a:spcPts val="400"/>
              </a:spcAft>
              <a:buNone/>
            </a:pPr>
            <a:r>
              <a:rPr lang="en-US" sz="1550" baseline="-40000" dirty="0">
                <a:solidFill>
                  <a:srgbClr val="000000"/>
                </a:solidFill>
                <a:latin typeface="Cambria" pitchFamily="34" charset="0"/>
                <a:ea typeface="Cambria" pitchFamily="34" charset="-122"/>
                <a:cs typeface="Cambria" pitchFamily="34" charset="-120"/>
              </a:rPr>
              <a:t>allow</a:t>
            </a:r>
            <a:pPr algn="l" indent="0" marL="0">
              <a:spcAft>
                <a:spcPts val="400"/>
              </a:spcAft>
              <a:buNone/>
            </a:pPr>
            <a:r>
              <a:rPr lang="en-US" sz="1550" dirty="0">
                <a:solidFill>
                  <a:srgbClr val="000000"/>
                </a:solidFill>
                <a:latin typeface="Cambria" pitchFamily="34" charset="0"/>
                <a:ea typeface="Cambria" pitchFamily="34" charset="-122"/>
                <a:cs typeface="Cambria" pitchFamily="34" charset="-120"/>
              </a:rPr>
              <a:t> / σ = 22.5 / 11.0 = </a:t>
            </a:r>
            <a:pPr algn="l" indent="0" marL="0">
              <a:spcAft>
                <a:spcPts val="400"/>
              </a:spcAft>
              <a:buNone/>
            </a:pPr>
            <a:r>
              <a:rPr lang="en-US" sz="1550" b="1" dirty="0">
                <a:solidFill>
                  <a:srgbClr val="000000"/>
                </a:solidFill>
                <a:latin typeface="Cambria" pitchFamily="34" charset="0"/>
                <a:ea typeface="Cambria" pitchFamily="34" charset="-122"/>
                <a:cs typeface="Cambria" pitchFamily="34" charset="-120"/>
              </a:rPr>
              <a:t>2.05</a:t>
            </a:r>
            <a:endParaRPr lang="en-US" sz="1550" dirty="0"/>
          </a:p>
        </p:txBody>
      </p:sp>
      <p:sp>
        <p:nvSpPr>
          <p:cNvPr id="11" name="equation inputs"/>
          <p:cNvSpPr txBox="1"/>
          <p:nvPr/>
        </p:nvSpPr>
        <p:spPr>
          <a:xfrm>
            <a:off x="713232" y="5577840"/>
            <a:ext cx="4591367" cy="612648"/>
          </a:xfrm>
          <a:prstGeom prst="rect">
            <a:avLst/>
          </a:prstGeom>
          <a:noFill/>
          <a:ln/>
        </p:spPr>
        <p:txBody>
          <a:bodyPr wrap="square" lIns="0" tIns="0" rIns="0" bIns="0" rtlCol="0" anchor="t"/>
          <a:lstStyle/>
          <a:p>
            <a:pPr indent="0" marL="0">
              <a:buNone/>
            </a:pPr>
            <a:r>
              <a:rPr lang="en-US" sz="1100" b="1" dirty="0">
                <a:solidFill>
                  <a:srgbClr val="404040"/>
                </a:solidFill>
                <a:latin typeface="Arial" pitchFamily="34" charset="0"/>
                <a:ea typeface="Arial" pitchFamily="34" charset="-122"/>
                <a:cs typeface="Arial" pitchFamily="34" charset="-120"/>
              </a:rPr>
              <a:t>where</a:t>
            </a:r>
            <a:pPr indent="0" marL="0">
              <a:buNone/>
            </a:pPr>
            <a:r>
              <a:rPr lang="en-US" sz="1100" dirty="0">
                <a:solidFill>
                  <a:srgbClr val="404040"/>
                </a:solidFill>
                <a:latin typeface="Arial" pitchFamily="34" charset="0"/>
                <a:ea typeface="Arial" pitchFamily="34" charset="-122"/>
                <a:cs typeface="Arial" pitchFamily="34" charset="-120"/>
              </a:rPr>
              <a:t>   SF = safety factor  ·  τ = servo stall torque  ·  d = pitch diameter (18 teeth × 1.5 mm)  ·  b = face width  ·  m = module  ·  Y = Lewis form factor</a:t>
            </a:r>
            <a:endParaRPr lang="en-US" sz="1100" dirty="0"/>
          </a:p>
        </p:txBody>
      </p:sp>
      <p:sp>
        <p:nvSpPr>
          <p:cNvPr id="12" name="Shape 10"/>
          <p:cNvSpPr/>
          <p:nvPr/>
        </p:nvSpPr>
        <p:spPr>
          <a:xfrm>
            <a:off x="5880671" y="1463040"/>
            <a:ext cx="2812612" cy="4526280"/>
          </a:xfrm>
          <a:prstGeom prst="rect">
            <a:avLst/>
          </a:prstGeom>
          <a:solidFill>
            <a:srgbClr val="F2F2F2"/>
          </a:solidFill>
          <a:ln w="12700">
            <a:solidFill>
              <a:srgbClr val="F2F2F2"/>
            </a:solidFill>
            <a:prstDash val="solid"/>
          </a:ln>
        </p:spPr>
      </p:sp>
      <p:pic>
        <p:nvPicPr>
          <p:cNvPr id="13" name="Compound and follower gears" descr="Compound and follower gears">    </p:cNvPr>
          <p:cNvPicPr>
            <a:picLocks noChangeAspect="1"/>
          </p:cNvPicPr>
          <p:nvPr/>
        </p:nvPicPr>
        <p:blipFill>
          <a:blip r:embed="rId1"/>
          <a:stretch>
            <a:fillRect/>
          </a:stretch>
        </p:blipFill>
        <p:spPr>
          <a:xfrm>
            <a:off x="5935535" y="2252689"/>
            <a:ext cx="2702884" cy="2946983"/>
          </a:xfrm>
          <a:prstGeom prst="rect">
            <a:avLst/>
          </a:prstGeom>
        </p:spPr>
      </p:pic>
      <p:sp>
        <p:nvSpPr>
          <p:cNvPr id="14" name="Shape 11"/>
          <p:cNvSpPr/>
          <p:nvPr/>
        </p:nvSpPr>
        <p:spPr>
          <a:xfrm>
            <a:off x="8830443" y="1463040"/>
            <a:ext cx="2812612" cy="4526280"/>
          </a:xfrm>
          <a:prstGeom prst="rect">
            <a:avLst/>
          </a:prstGeom>
          <a:solidFill>
            <a:srgbClr val="F2F2F2"/>
          </a:solidFill>
          <a:ln w="12700">
            <a:solidFill>
              <a:srgbClr val="F2F2F2"/>
            </a:solidFill>
            <a:prstDash val="solid"/>
          </a:ln>
        </p:spPr>
      </p:sp>
      <p:pic>
        <p:nvPicPr>
          <p:cNvPr id="15" name="Compound and follower gears" descr="Compound and follower gears">    </p:cNvPr>
          <p:cNvPicPr>
            <a:picLocks noChangeAspect="1"/>
          </p:cNvPicPr>
          <p:nvPr/>
        </p:nvPicPr>
        <p:blipFill>
          <a:blip r:embed="rId2"/>
          <a:stretch>
            <a:fillRect/>
          </a:stretch>
        </p:blipFill>
        <p:spPr>
          <a:xfrm>
            <a:off x="8885307" y="2570366"/>
            <a:ext cx="2702884" cy="2311627"/>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Safety</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bullets"/>
          <p:cNvSpPr txBox="1"/>
          <p:nvPr/>
        </p:nvSpPr>
        <p:spPr>
          <a:xfrm>
            <a:off x="548640" y="1463040"/>
            <a:ext cx="5919048"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One hard stop: switched power strip</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Faults and PAUSE hold torque</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Anchors in studs · nobody underneath</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Never unplug a motor under power</a:t>
            </a:r>
            <a:endParaRPr lang="en-US" sz="2000" dirty="0"/>
          </a:p>
        </p:txBody>
      </p:sp>
      <p:sp>
        <p:nvSpPr>
          <p:cNvPr id="6" name="Shape 4"/>
          <p:cNvSpPr/>
          <p:nvPr/>
        </p:nvSpPr>
        <p:spPr>
          <a:xfrm>
            <a:off x="6879168" y="1463040"/>
            <a:ext cx="4763887" cy="4526280"/>
          </a:xfrm>
          <a:prstGeom prst="rect">
            <a:avLst/>
          </a:prstGeom>
          <a:solidFill>
            <a:srgbClr val="F2F2F2"/>
          </a:solidFill>
          <a:ln w="12700">
            <a:solidFill>
              <a:srgbClr val="F2F2F2"/>
            </a:solidFill>
            <a:prstDash val="solid"/>
          </a:ln>
        </p:spPr>
      </p:sp>
      <p:pic>
        <p:nvPicPr>
          <p:cNvPr id="7" name="Wall station" descr="Wall station">    </p:cNvPr>
          <p:cNvPicPr>
            <a:picLocks noChangeAspect="1"/>
          </p:cNvPicPr>
          <p:nvPr/>
        </p:nvPicPr>
        <p:blipFill>
          <a:blip r:embed="rId1"/>
          <a:stretch>
            <a:fillRect/>
          </a:stretch>
        </p:blipFill>
        <p:spPr>
          <a:xfrm>
            <a:off x="7445889" y="1517904"/>
            <a:ext cx="3630445" cy="4416552"/>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Acronyms</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graphicFrame>
        <p:nvGraphicFramePr>
          <p:cNvPr id="37"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2440771"/>
                <a:gridCol w="8653644"/>
              </a:tblGrid>
              <a:tr h="457200">
                <a:tc>
                  <a:txBody>
                    <a:bodyPr/>
                    <a:lstStyle/>
                    <a:p>
                      <a:pPr indent="0" marL="0">
                        <a:buNone/>
                      </a:pPr>
                      <a:r>
                        <a:rPr lang="en-US" sz="1400" b="1" dirty="0">
                          <a:solidFill>
                            <a:srgbClr val="FFFFFF"/>
                          </a:solidFill>
                          <a:latin typeface="Arial" pitchFamily="34" charset="0"/>
                          <a:ea typeface="Arial" pitchFamily="34" charset="-122"/>
                          <a:cs typeface="Arial" pitchFamily="34" charset="-120"/>
                        </a:rPr>
                        <a:t>Term</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Meaning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3A5F"/>
                    </a:solidFill>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CAD</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Computer-aided design</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PETG</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Polyethylene terephthalate glycol (the printed plastic)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TPU</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Thermoplastic polyurethane (flexible printed plastic)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NEMA 17</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National Electrical Manufacturers Association motor frame, 1.7 in square</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I²C</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Inter-Integrated Circuit: a short-range two-wire sensor bus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ESP32</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A Wi-Fi microcontroller family (Espressif)</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A4988 · AS5600</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Stepper-motor driver chip (Allegro) · magnetic angle sensor (ams)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YOLO</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“You Only Look Once”: an object-detection model family</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457200">
                <a:tc>
                  <a:txBody>
                    <a:bodyPr/>
                    <a:lstStyle/>
                    <a:p>
                      <a:pPr indent="0" marL="0">
                        <a:buNone/>
                      </a:pPr>
                      <a:r>
                        <a:rPr lang="en-US" sz="1400" b="1" dirty="0">
                          <a:solidFill>
                            <a:srgbClr val="000000"/>
                          </a:solidFill>
                          <a:latin typeface="Arial" pitchFamily="34" charset="0"/>
                          <a:ea typeface="Arial" pitchFamily="34" charset="-122"/>
                          <a:cs typeface="Arial" pitchFamily="34" charset="-120"/>
                        </a:rPr>
                        <a:t>SF</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indent="0" marL="0">
                        <a:buNone/>
                      </a:pPr>
                      <a:r>
                        <a:rPr lang="en-US" sz="1400" dirty="0">
                          <a:solidFill>
                            <a:srgbClr val="000000"/>
                          </a:solidFill>
                          <a:latin typeface="Arial" pitchFamily="34" charset="0"/>
                          <a:ea typeface="Arial" pitchFamily="34" charset="-122"/>
                          <a:cs typeface="Arial" pitchFamily="34" charset="-120"/>
                        </a:rPr>
                        <a:t>Safety factor: allowable stress ÷ actual stress</a:t>
                      </a:r>
                      <a:endParaRPr lang="en-US" sz="1400" dirty="0">
                        <a:latin typeface="Arial" charset="0"/>
                        <a:ea typeface="Arial" charset="0"/>
                        <a:cs typeface="Arial"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tory tracker"/>
          <p:cNvSpPr txBox="1"/>
          <p:nvPr/>
        </p:nvSpPr>
        <p:spPr>
          <a:xfrm>
            <a:off x="548640" y="237744"/>
            <a:ext cx="7315200" cy="237744"/>
          </a:xfrm>
          <a:prstGeom prst="rect">
            <a:avLst/>
          </a:prstGeom>
          <a:noFill/>
          <a:ln/>
        </p:spPr>
        <p:txBody>
          <a:bodyPr wrap="square" lIns="0" tIns="0" rIns="0" bIns="0" rtlCol="0" anchor="ctr"/>
          <a:lstStyle/>
          <a:p>
            <a:pPr indent="0" marL="0">
              <a:buNone/>
            </a:pPr>
            <a:r>
              <a:rPr lang="en-US" sz="1100" b="1" spc="100" kern="0" dirty="0">
                <a:solidFill>
                  <a:srgbClr val="1F3A5F"/>
                </a:solidFill>
                <a:latin typeface="Arial" pitchFamily="34" charset="0"/>
                <a:ea typeface="Arial" pitchFamily="34" charset="-122"/>
                <a:cs typeface="Arial" pitchFamily="34" charset="-120"/>
              </a:rPr>
              <a:t>BACKUP</a:t>
            </a:r>
            <a:endParaRPr lang="en-US" sz="1100" dirty="0"/>
          </a:p>
        </p:txBody>
      </p:sp>
      <p:sp>
        <p:nvSpPr>
          <p:cNvPr id="3" name="title"/>
          <p:cNvSpPr txBox="1"/>
          <p:nvPr/>
        </p:nvSpPr>
        <p:spPr>
          <a:xfrm>
            <a:off x="548640" y="502920"/>
            <a:ext cx="7985455" cy="640080"/>
          </a:xfrm>
          <a:prstGeom prst="rect">
            <a:avLst/>
          </a:prstGeom>
          <a:noFill/>
          <a:ln/>
        </p:spPr>
        <p:txBody>
          <a:bodyPr wrap="square" lIns="0" tIns="0" rIns="0" bIns="0" rtlCol="0" anchor="ctr"/>
          <a:lstStyle/>
          <a:p>
            <a:pPr indent="0" marL="0">
              <a:buNone/>
            </a:pPr>
            <a:r>
              <a:rPr lang="en-US" sz="3000" b="1" dirty="0">
                <a:solidFill>
                  <a:srgbClr val="000000"/>
                </a:solidFill>
                <a:latin typeface="Arial" pitchFamily="34" charset="0"/>
                <a:ea typeface="Arial" pitchFamily="34" charset="-122"/>
                <a:cs typeface="Arial" pitchFamily="34" charset="-120"/>
              </a:rPr>
              <a:t>Calculations and Sources</a:t>
            </a:r>
            <a:endParaRPr lang="en-US" sz="3000" dirty="0"/>
          </a:p>
        </p:txBody>
      </p:sp>
      <p:sp>
        <p:nvSpPr>
          <p:cNvPr id="4" name="title rule"/>
          <p:cNvSpPr/>
          <p:nvPr/>
        </p:nvSpPr>
        <p:spPr>
          <a:xfrm>
            <a:off x="548640" y="1234440"/>
            <a:ext cx="11094415" cy="0"/>
          </a:xfrm>
          <a:prstGeom prst="line">
            <a:avLst/>
          </a:prstGeom>
          <a:noFill/>
          <a:ln w="9525">
            <a:solidFill>
              <a:srgbClr val="BFBFBF"/>
            </a:solidFill>
            <a:prstDash val="solid"/>
          </a:ln>
        </p:spPr>
      </p:sp>
      <p:sp>
        <p:nvSpPr>
          <p:cNvPr id="5" name="bullets"/>
          <p:cNvSpPr txBox="1"/>
          <p:nvPr/>
        </p:nvSpPr>
        <p:spPr>
          <a:xfrm>
            <a:off x="548640" y="1463040"/>
            <a:ext cx="5364328" cy="4754880"/>
          </a:xfrm>
          <a:prstGeom prst="rect">
            <a:avLst/>
          </a:prstGeom>
          <a:noFill/>
          <a:ln/>
        </p:spPr>
        <p:txBody>
          <a:bodyPr wrap="square" lIns="25400" tIns="0" rIns="50800" bIns="25400" rtlCol="0" anchor="t"/>
          <a:lstStyle/>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Every chart: my calculation sheet</a:t>
            </a:r>
            <a:endParaRPr lang="en-US" sz="2000" dirty="0"/>
          </a:p>
          <a:p>
            <a:pPr algn="l" marL="254000" indent="-254000">
              <a:spcAft>
                <a:spcPts val="1400"/>
              </a:spcAft>
              <a:buSzPct val="100000"/>
              <a:buChar char="•"/>
            </a:pPr>
            <a:r>
              <a:rPr lang="en-US" sz="2000" dirty="0">
                <a:solidFill>
                  <a:srgbClr val="000000"/>
                </a:solidFill>
                <a:latin typeface="Arial" pitchFamily="34" charset="0"/>
                <a:ea typeface="Arial" pitchFamily="34" charset="-122"/>
                <a:cs typeface="Arial" pitchFamily="34" charset="-120"/>
              </a:rPr>
              <a:t>Every result: a formula on marked inputs</a:t>
            </a:r>
            <a:endParaRPr lang="en-US" sz="2000" dirty="0"/>
          </a:p>
          <a:p>
            <a:pPr algn="l" marL="254000" indent="-254000">
              <a:spcAft>
                <a:spcPts val="1400"/>
              </a:spcAft>
              <a:buSzPct val="100000"/>
              <a:buChar char="•"/>
            </a:pPr>
            <a:r>
              <a:rPr lang="en-US" sz="2000" b="1" dirty="0">
                <a:solidFill>
                  <a:srgbClr val="000000"/>
                </a:solidFill>
                <a:latin typeface="Arial" pitchFamily="34" charset="0"/>
                <a:ea typeface="Arial" pitchFamily="34" charset="-122"/>
                <a:cs typeface="Arial" pitchFamily="34" charset="-120"/>
              </a:rPr>
              <a:t>Sources:</a:t>
            </a:r>
            <a:endParaRPr lang="en-US" sz="2000" dirty="0"/>
          </a:p>
          <a:p>
            <a:pPr algn="l" lvl="1" marL="457200" indent="-228600">
              <a:spcAft>
                <a:spcPts val="1000"/>
              </a:spcAft>
              <a:buSzPct val="100000"/>
              <a:buChar char="•"/>
            </a:pPr>
            <a:r>
              <a:rPr lang="en-US" sz="1700" dirty="0">
                <a:solidFill>
                  <a:srgbClr val="404040"/>
                </a:solidFill>
                <a:latin typeface="Arial" pitchFamily="34" charset="0"/>
                <a:ea typeface="Arial" pitchFamily="34" charset="-122"/>
                <a:cs typeface="Arial" pitchFamily="34" charset="-120"/>
              </a:rPr>
              <a:t>Incropera et al., Fundamentals of Heat and Mass Transfer, ch. 3</a:t>
            </a:r>
            <a:endParaRPr lang="en-US" sz="2000" dirty="0"/>
          </a:p>
          <a:p>
            <a:pPr algn="l" lvl="1" marL="457200" indent="-228600">
              <a:spcAft>
                <a:spcPts val="1000"/>
              </a:spcAft>
              <a:buSzPct val="100000"/>
              <a:buChar char="•"/>
            </a:pPr>
            <a:r>
              <a:rPr lang="en-US" sz="1700" dirty="0">
                <a:solidFill>
                  <a:srgbClr val="404040"/>
                </a:solidFill>
                <a:latin typeface="Arial" pitchFamily="34" charset="0"/>
                <a:ea typeface="Arial" pitchFamily="34" charset="-122"/>
                <a:cs typeface="Arial" pitchFamily="34" charset="-120"/>
              </a:rPr>
              <a:t>Allegro MicroSystems, A4988 datasheet</a:t>
            </a:r>
            <a:endParaRPr lang="en-US" sz="2000" dirty="0"/>
          </a:p>
        </p:txBody>
      </p:sp>
      <p:pic>
        <p:nvPicPr>
          <p:cNvPr id="6" name="Chart from the calculation sheet: Cable " descr="Chart from the calculation sheet: Cable tension">    </p:cNvPr>
          <p:cNvPicPr>
            <a:picLocks noChangeAspect="1"/>
          </p:cNvPicPr>
          <p:nvPr/>
        </p:nvPicPr>
        <p:blipFill>
          <a:blip r:embed="rId1"/>
          <a:stretch>
            <a:fillRect/>
          </a:stretch>
        </p:blipFill>
        <p:spPr>
          <a:xfrm>
            <a:off x="6324448" y="1554480"/>
            <a:ext cx="5318608" cy="3661008"/>
          </a:xfrm>
          <a:prstGeom prst="rect">
            <a:avLst/>
          </a:prstGeom>
        </p:spPr>
      </p:pic>
      <p:sp>
        <p:nvSpPr>
          <p:cNvPr id="7" name="chart frame"/>
          <p:cNvSpPr/>
          <p:nvPr/>
        </p:nvSpPr>
        <p:spPr>
          <a:xfrm>
            <a:off x="6324448" y="1554480"/>
            <a:ext cx="5318608" cy="3661008"/>
          </a:xfrm>
          <a:prstGeom prst="rect">
            <a:avLst/>
          </a:prstGeom>
          <a:ln w="9525">
            <a:solidFill>
              <a:srgbClr val="BFBFBF"/>
            </a:solidFill>
            <a:prstDash val="solid"/>
          </a:ln>
        </p:spPr>
      </p:sp>
      <p:sp>
        <p:nvSpPr>
          <p:cNvPr id="8" name="caption"/>
          <p:cNvSpPr txBox="1"/>
          <p:nvPr/>
        </p:nvSpPr>
        <p:spPr>
          <a:xfrm>
            <a:off x="6324448" y="5288640"/>
            <a:ext cx="5318608" cy="292608"/>
          </a:xfrm>
          <a:prstGeom prst="rect">
            <a:avLst/>
          </a:prstGeom>
          <a:noFill/>
          <a:ln/>
        </p:spPr>
        <p:txBody>
          <a:bodyPr wrap="square" lIns="0" tIns="0" rIns="0" bIns="0" rtlCol="0" anchor="ctr"/>
          <a:lstStyle/>
          <a:p>
            <a:pPr indent="0" marL="0">
              <a:buNone/>
            </a:pPr>
            <a:r>
              <a:rPr lang="en-US" sz="1100" dirty="0">
                <a:solidFill>
                  <a:srgbClr val="7F7F7F"/>
                </a:solidFill>
                <a:latin typeface="Arial" pitchFamily="34" charset="0"/>
                <a:ea typeface="Arial" pitchFamily="34" charset="-122"/>
                <a:cs typeface="Arial" pitchFamily="34" charset="-120"/>
              </a:rPr>
              <a:t>My calculation sheet (Google Sheets), “Cable tension” tab. Calculated, not measured.</a:t>
            </a:r>
            <a:endParaRPr lang="en-US" sz="1100" dirty="0"/>
          </a:p>
        </p:txBody>
      </p:sp>
      <p:sp>
        <p:nvSpPr>
          <p:cNvPr id="10" name="sheet link"/>
          <p:cNvSpPr txBox="1"/>
          <p:nvPr/>
        </p:nvSpPr>
        <p:spPr>
          <a:xfrm>
            <a:off x="548640" y="5760720"/>
            <a:ext cx="5029200" cy="365760"/>
          </a:xfrm>
          <a:prstGeom prst="rect">
            <a:avLst/>
          </a:prstGeom>
          <a:noFill/>
          <a:ln/>
        </p:spPr>
        <p:txBody>
          <a:bodyPr wrap="square" lIns="0" tIns="0" rIns="0" bIns="0" rtlCol="0" anchor="ctr"/>
          <a:lstStyle/>
          <a:p>
            <a:pPr indent="0" marL="0">
              <a:buNone/>
            </a:pPr>
            <a:r>
              <a:rPr lang="en-US" sz="1500" u="sng" dirty="0">
                <a:solidFill>
                  <a:srgbClr val="1F3A5F"/>
                </a:solidFill>
                <a:latin typeface="Arial" pitchFamily="34" charset="0"/>
                <a:ea typeface="Arial" pitchFamily="34" charset="-122"/>
                <a:cs typeface="Arial" pitchFamily="34" charset="-120"/>
                <a:hlinkClick r:id="rId2" invalidUrl="" action="" tgtFrame="" tooltip="Open the calculation sheet" history="1" highlightClick="0" endSnd="0">
                  <a:extLst>
                    <a:ext uri="{A12FA001-AC4F-418D-AE19-62706E023703}">
                      <ahyp:hlinkClr xmlns:ahyp="http://schemas.microsoft.com/office/drawing/2018/hyperlinkcolor" val="tx"/>
                    </a:ext>
                  </a:extLst>
                </a:hlinkClick>
              </a:rPr>
              <a:t>RoomCleaner engineering calculations (Google Sheets)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RoomCleaner v5">
  <a:themeElements>
    <a:clrScheme name="RoomCleaner v5">
      <a:dk1>
        <a:srgbClr val="1A1A1A"/>
      </a:dk1>
      <a:lt1>
        <a:srgbClr val="FFFFFF"/>
      </a:lt1>
      <a:dk2>
        <a:srgbClr val="1F3A5F"/>
      </a:dk2>
      <a:lt2>
        <a:srgbClr val="F2F2F4"/>
      </a:lt2>
      <a:accent1>
        <a:srgbClr val="1F3A5F"/>
      </a:accent1>
      <a:accent2>
        <a:srgbClr val="8A8F98"/>
      </a:accent2>
      <a:accent3>
        <a:srgbClr val="B23A2E"/>
      </a:accent3>
      <a:accent4>
        <a:srgbClr val="4F6D8F"/>
      </a:accent4>
      <a:accent5>
        <a:srgbClr val="D9DEE5"/>
      </a:accent5>
      <a:accent6>
        <a:srgbClr val="5B6470"/>
      </a:accent6>
      <a:hlink>
        <a:srgbClr val="1F3A5F"/>
      </a:hlink>
      <a:folHlink>
        <a:srgbClr val="4F6D8F"/>
      </a:folHlink>
    </a:clrScheme>
    <a:fontScheme name="RoomCleaner v5">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RoomCleaner</dc:title>
  <dc:subject>PptxGenJS Presentation</dc:subject>
  <dc:creator>Jasper Buntinx</dc:creator>
  <cp:lastModifiedBy>Jasper Buntinx</cp:lastModifiedBy>
  <cp:revision>1</cp:revision>
  <dcterms:created xsi:type="dcterms:W3CDTF">2026-10-22T14:57:49Z</dcterms:created>
  <dcterms:modified xsi:type="dcterms:W3CDTF">2026-10-22T14:57:49Z</dcterms:modified>
</cp:coreProperties>
</file>