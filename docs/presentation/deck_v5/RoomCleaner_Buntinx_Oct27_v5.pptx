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35a7202-d7ac-3746-3c9a-5b2279c8a75b}">
          <p14:sldIdLst>
            <p14:sldId id="256"/>
            <p14:sldId id="257"/>
            <p14:sldId id="258"/>
            <p14:sldId id="259"/>
            <p14:sldId id="260"/>
          </p14:sldIdLst>
        </p14:section>
        <p14:section name="Design" id="{2393ed16-accb-6f08-af5d-f2e189718f3c}">
          <p14:sldIdLst>
            <p14:sldId id="261"/>
            <p14:sldId id="262"/>
            <p14:sldId id="263"/>
            <p14:sldId id="264"/>
            <p14:sldId id="265"/>
            <p14:sldId id="266"/>
            <p14:sldId id="267"/>
            <p14:sldId id="268"/>
            <p14:sldId id="269"/>
          </p14:sldIdLst>
        </p14:section>
        <p14:section name="Build" id="{00882044-7e52-0473-0217-6cfa9ee95a2a}">
          <p14:sldIdLst>
            <p14:sldId id="270"/>
            <p14:sldId id="271"/>
            <p14:sldId id="272"/>
          </p14:sldIdLst>
        </p14:section>
        <p14:section name="Test" id="{d9e20115-8051-8983-8edc-8b4365eadc2d}">
          <p14:sldIdLst>
            <p14:sldId id="273"/>
            <p14:sldId id="274"/>
          </p14:sldIdLst>
        </p14:section>
        <p14:section name="Lessons" id="{e296cd36-f215-c416-351d-252ed2f0bd57}">
          <p14:sldIdLst>
            <p14:sldId id="275"/>
            <p14:sldId id="276"/>
            <p14:sldId id="277"/>
          </p14:sldIdLst>
        </p14:section>
        <p14:section name="Close" id="{8703e1be-bc5a-0cc8-31e1-d68893c427aa}">
          <p14:sldIdLst>
            <p14:sldId id="278"/>
          </p14:sldIdLst>
        </p14:section>
        <p14:section name="Backup" id="{927f66f9-3249-94a6-81bd-349921b43652}">
          <p14:sldIdLst>
            <p14:sldId id="279"/>
            <p14:sldId id="280"/>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I optimize, each with a number. Two are not met today: lift capacity and claw mass, and they are the same problem seen from two sides. Motor temperature is tight since the 1.5 A change. Working area and wiring are met by the design. Accuracy, speed and cost wait on the hardware test and the receipts. Safety is a constraint, not an objective: I never trade it for any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lever helps one thing and hurts another, and each design slide after this is one of these trades. Current: pull goes with I but heat goes with I squared, so 41 % more pull costs twice the heat. Claw strength: the stall check pushed the gears from module 1 to 1.5, and every gram of claw comes out of the payload. Room size: wire resistance grows with length, R = ρL/A; that is why only power travels, and the longest 32 ft run drops 0.51 V at 2 A on 16 AWG. Reach: tension doubles each time the depth below the anchors halves. Spool: a smaller radius pulls harder but reels slower, and the radius grows as the line winds on. Margins: they buy safety with force and floor area. The chain at the bottom is why weight matters so much: a heavier claw needs more pull, more pull needs more current, and the heat grows with the square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P = I²R = 4.1 W in the motor, double the 2.0 W at 1.06 A. Results at 1.5 A: vented 77 °C without the fin, 58 °C with it; sealed 99 °C without, 66 °C with, so the shell must stay vented. At 1.06 A the sealed shell with the fin was 46 °C. The driver chip also heats more (it holds current all the time, even standing still); if it overheats it shuts off and the winch loses torque, so the hold test watches the driver too. At 1.35 A the vented case is 51 °C.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and that is the one temperature the hand calculation cannot give: it only knows the motor node. The FEA (ANSYS, or the SolidWorks version) puts my own 10/21 assembly in: motor block with 4.05 W (1.5 A squared times 1.8 ohm), the fin with an equivalent conductivity because my CAD fin is 2 mm and the real one is 0.483 mm (k times t is what conducts), the PETG slip-in mount, convection inside the shell at 27 °C and outside at 23 °C. The answer sheet says the motor should land at 56 to 59 °C, with the fin carrying about 40 % of the heat. Then the hold test measures it. If they disagree, I fit h and the coil resistance, not the physics. Walkthrough: docs/simulation/SW_THERMAL_MOTOR_ASSEMBLY.md.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built sheet works today only because the motor also sheds about 2.5 W into the vented shell. A thin sheet has a large m = √(2h/kt), so its far end does almost nothing: the most heat any length can carry is w √(2hkt) θ_b, about 2 W for 0.019 in at a 60 °C base. The 1/8 in plate of my first drawing, painted, would carry all of it at the same 200 mm, and with the vented shell the motor would run at about 45 °C. Mass is no problem on a wall station. 1/8 in may be beyond a hand shear: bandsaw and square it on the mill. Details: calculations/fin_sizing_4w.md.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jpg"/><Relationship Id="rId7" Type="http://schemas.openxmlformats.org/officeDocument/2006/relationships/image" Target="../media/image-20-7.png"/><Relationship Id="rId8" Type="http://schemas.openxmlformats.org/officeDocument/2006/relationships/image" Target="../media/image-20-8.jp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7-1.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I’m Optimizing</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ift capacity tile"/>
          <p:cNvSpPr/>
          <p:nvPr/>
        </p:nvSpPr>
        <p:spPr>
          <a:xfrm>
            <a:off x="548640" y="1463040"/>
            <a:ext cx="2650160" cy="2029968"/>
          </a:xfrm>
          <a:prstGeom prst="rect">
            <a:avLst/>
          </a:prstGeom>
          <a:solidFill>
            <a:srgbClr val="FFFFFF"/>
          </a:solidFill>
          <a:ln w="12700">
            <a:solidFill>
              <a:srgbClr val="BFBFBF"/>
            </a:solidFill>
            <a:prstDash val="solid"/>
          </a:ln>
        </p:spPr>
      </p:sp>
      <p:sp>
        <p:nvSpPr>
          <p:cNvPr id="6" name="Lift capacity status bar"/>
          <p:cNvSpPr/>
          <p:nvPr/>
        </p:nvSpPr>
        <p:spPr>
          <a:xfrm>
            <a:off x="548640" y="1463040"/>
            <a:ext cx="2650160" cy="91440"/>
          </a:xfrm>
          <a:prstGeom prst="rect">
            <a:avLst/>
          </a:prstGeom>
          <a:solidFill>
            <a:srgbClr val="B23A2E"/>
          </a:solidFill>
          <a:ln w="12700">
            <a:solidFill>
              <a:srgbClr val="B23A2E"/>
            </a:solidFill>
            <a:prstDash val="solid"/>
          </a:ln>
        </p:spPr>
      </p:sp>
      <p:sp>
        <p:nvSpPr>
          <p:cNvPr id="7" name="label"/>
          <p:cNvSpPr txBox="1"/>
          <p:nvPr/>
        </p:nvSpPr>
        <p:spPr>
          <a:xfrm>
            <a:off x="685800"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8" name="label"/>
          <p:cNvSpPr txBox="1"/>
          <p:nvPr/>
        </p:nvSpPr>
        <p:spPr>
          <a:xfrm>
            <a:off x="685800"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Lift capacity</a:t>
            </a:r>
            <a:endParaRPr lang="en-US" sz="1700" dirty="0"/>
          </a:p>
        </p:txBody>
      </p:sp>
      <p:sp>
        <p:nvSpPr>
          <p:cNvPr id="9" name="label"/>
          <p:cNvSpPr txBox="1"/>
          <p:nvPr/>
        </p:nvSpPr>
        <p:spPr>
          <a:xfrm>
            <a:off x="685800"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10" name="label"/>
          <p:cNvSpPr txBox="1"/>
          <p:nvPr/>
        </p:nvSpPr>
        <p:spPr>
          <a:xfrm>
            <a:off x="685800"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Claw + jeans anywhere: 1.76 kg</a:t>
            </a:r>
            <a:endParaRPr lang="en-US" sz="1300" dirty="0"/>
          </a:p>
        </p:txBody>
      </p:sp>
      <p:sp>
        <p:nvSpPr>
          <p:cNvPr id="11" name="label"/>
          <p:cNvSpPr txBox="1"/>
          <p:nvPr/>
        </p:nvSpPr>
        <p:spPr>
          <a:xfrm>
            <a:off x="685800"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1.56 kg at 1.5 A (calculated)</a:t>
            </a:r>
            <a:endParaRPr lang="en-US" sz="1300" dirty="0"/>
          </a:p>
        </p:txBody>
      </p:sp>
      <p:sp>
        <p:nvSpPr>
          <p:cNvPr id="12" name="Claw mass tile"/>
          <p:cNvSpPr/>
          <p:nvPr/>
        </p:nvSpPr>
        <p:spPr>
          <a:xfrm>
            <a:off x="3363392" y="1463040"/>
            <a:ext cx="2650160" cy="2029968"/>
          </a:xfrm>
          <a:prstGeom prst="rect">
            <a:avLst/>
          </a:prstGeom>
          <a:solidFill>
            <a:srgbClr val="FFFFFF"/>
          </a:solidFill>
          <a:ln w="12700">
            <a:solidFill>
              <a:srgbClr val="BFBFBF"/>
            </a:solidFill>
            <a:prstDash val="solid"/>
          </a:ln>
        </p:spPr>
      </p:sp>
      <p:sp>
        <p:nvSpPr>
          <p:cNvPr id="13" name="Claw mass status bar"/>
          <p:cNvSpPr/>
          <p:nvPr/>
        </p:nvSpPr>
        <p:spPr>
          <a:xfrm>
            <a:off x="3363392" y="1463040"/>
            <a:ext cx="2650160" cy="91440"/>
          </a:xfrm>
          <a:prstGeom prst="rect">
            <a:avLst/>
          </a:prstGeom>
          <a:solidFill>
            <a:srgbClr val="B23A2E"/>
          </a:solidFill>
          <a:ln w="12700">
            <a:solidFill>
              <a:srgbClr val="B23A2E"/>
            </a:solidFill>
            <a:prstDash val="solid"/>
          </a:ln>
        </p:spPr>
      </p:sp>
      <p:sp>
        <p:nvSpPr>
          <p:cNvPr id="14" name="label"/>
          <p:cNvSpPr txBox="1"/>
          <p:nvPr/>
        </p:nvSpPr>
        <p:spPr>
          <a:xfrm>
            <a:off x="3500552"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15" name="label"/>
          <p:cNvSpPr txBox="1"/>
          <p:nvPr/>
        </p:nvSpPr>
        <p:spPr>
          <a:xfrm>
            <a:off x="3500552"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Claw mass</a:t>
            </a:r>
            <a:endParaRPr lang="en-US" sz="1700" dirty="0"/>
          </a:p>
        </p:txBody>
      </p:sp>
      <p:sp>
        <p:nvSpPr>
          <p:cNvPr id="16" name="label"/>
          <p:cNvSpPr txBox="1"/>
          <p:nvPr/>
        </p:nvSpPr>
        <p:spPr>
          <a:xfrm>
            <a:off x="3500552"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17" name="label"/>
          <p:cNvSpPr txBox="1"/>
          <p:nvPr/>
        </p:nvSpPr>
        <p:spPr>
          <a:xfrm>
            <a:off x="3500552"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0.45 kg budget</a:t>
            </a:r>
            <a:endParaRPr lang="en-US" sz="1300" dirty="0"/>
          </a:p>
        </p:txBody>
      </p:sp>
      <p:sp>
        <p:nvSpPr>
          <p:cNvPr id="18" name="label"/>
          <p:cNvSpPr txBox="1"/>
          <p:nvPr/>
        </p:nvSpPr>
        <p:spPr>
          <a:xfrm>
            <a:off x="3500552"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 0.86 kg with battery (CAD); </a:t>
            </a:r>
            <a:pPr algn="l" indent="0" marL="0">
              <a:buNone/>
            </a:pPr>
            <a:r>
              <a:rPr lang="en-US" sz="1300" i="1" dirty="0">
                <a:solidFill>
                  <a:srgbClr val="B23A2E"/>
                </a:solidFill>
                <a:latin typeface="Arial" pitchFamily="34" charset="0"/>
                <a:ea typeface="Arial" pitchFamily="34" charset="-122"/>
                <a:cs typeface="Arial" pitchFamily="34" charset="-120"/>
              </a:rPr>
              <a:t>[weighed: ___ g]</a:t>
            </a:r>
            <a:endParaRPr lang="en-US" sz="1300" dirty="0"/>
          </a:p>
        </p:txBody>
      </p:sp>
      <p:sp>
        <p:nvSpPr>
          <p:cNvPr id="19" name="Motor temperature tile"/>
          <p:cNvSpPr/>
          <p:nvPr/>
        </p:nvSpPr>
        <p:spPr>
          <a:xfrm>
            <a:off x="6178144" y="1463040"/>
            <a:ext cx="2650160" cy="2029968"/>
          </a:xfrm>
          <a:prstGeom prst="rect">
            <a:avLst/>
          </a:prstGeom>
          <a:solidFill>
            <a:srgbClr val="FFFFFF"/>
          </a:solidFill>
          <a:ln w="12700">
            <a:solidFill>
              <a:srgbClr val="BFBFBF"/>
            </a:solidFill>
            <a:prstDash val="solid"/>
          </a:ln>
        </p:spPr>
      </p:sp>
      <p:sp>
        <p:nvSpPr>
          <p:cNvPr id="20" name="Motor temperature status bar"/>
          <p:cNvSpPr/>
          <p:nvPr/>
        </p:nvSpPr>
        <p:spPr>
          <a:xfrm>
            <a:off x="6178144" y="1463040"/>
            <a:ext cx="2650160" cy="91440"/>
          </a:xfrm>
          <a:prstGeom prst="rect">
            <a:avLst/>
          </a:prstGeom>
          <a:solidFill>
            <a:srgbClr val="4F6D8F"/>
          </a:solidFill>
          <a:ln w="12700">
            <a:solidFill>
              <a:srgbClr val="4F6D8F"/>
            </a:solidFill>
            <a:prstDash val="solid"/>
          </a:ln>
        </p:spPr>
      </p:sp>
      <p:sp>
        <p:nvSpPr>
          <p:cNvPr id="21" name="label"/>
          <p:cNvSpPr txBox="1"/>
          <p:nvPr/>
        </p:nvSpPr>
        <p:spPr>
          <a:xfrm>
            <a:off x="6315304" y="1618488"/>
            <a:ext cx="2375840" cy="219456"/>
          </a:xfrm>
          <a:prstGeom prst="rect">
            <a:avLst/>
          </a:prstGeom>
          <a:noFill/>
          <a:ln/>
        </p:spPr>
        <p:txBody>
          <a:bodyPr wrap="square" lIns="0" tIns="0" rIns="0" bIns="0" rtlCol="0" anchor="ctr"/>
          <a:lstStyle/>
          <a:p>
            <a:pPr algn="l" indent="0" marL="0">
              <a:buNone/>
            </a:pPr>
            <a:r>
              <a:rPr lang="en-US" sz="1050" b="1" dirty="0">
                <a:solidFill>
                  <a:srgbClr val="4F6D8F"/>
                </a:solidFill>
                <a:latin typeface="Arial" pitchFamily="34" charset="0"/>
                <a:ea typeface="Arial" pitchFamily="34" charset="-122"/>
                <a:cs typeface="Arial" pitchFamily="34" charset="-120"/>
              </a:rPr>
              <a:t>TIGHT</a:t>
            </a:r>
            <a:endParaRPr lang="en-US" sz="1050" dirty="0"/>
          </a:p>
        </p:txBody>
      </p:sp>
      <p:sp>
        <p:nvSpPr>
          <p:cNvPr id="22" name="label"/>
          <p:cNvSpPr txBox="1"/>
          <p:nvPr/>
        </p:nvSpPr>
        <p:spPr>
          <a:xfrm>
            <a:off x="6315304"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Motor temperature</a:t>
            </a:r>
            <a:endParaRPr lang="en-US" sz="1700" dirty="0"/>
          </a:p>
        </p:txBody>
      </p:sp>
      <p:sp>
        <p:nvSpPr>
          <p:cNvPr id="23" name="label"/>
          <p:cNvSpPr txBox="1"/>
          <p:nvPr/>
        </p:nvSpPr>
        <p:spPr>
          <a:xfrm>
            <a:off x="6315304"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Limit</a:t>
            </a:r>
            <a:endParaRPr lang="en-US" sz="1200" dirty="0"/>
          </a:p>
        </p:txBody>
      </p:sp>
      <p:sp>
        <p:nvSpPr>
          <p:cNvPr id="24" name="label"/>
          <p:cNvSpPr txBox="1"/>
          <p:nvPr/>
        </p:nvSpPr>
        <p:spPr>
          <a:xfrm>
            <a:off x="6315304"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Under 60 °C (PETG creep)</a:t>
            </a:r>
            <a:endParaRPr lang="en-US" sz="1300" dirty="0"/>
          </a:p>
        </p:txBody>
      </p:sp>
      <p:sp>
        <p:nvSpPr>
          <p:cNvPr id="25" name="label"/>
          <p:cNvSpPr txBox="1"/>
          <p:nvPr/>
        </p:nvSpPr>
        <p:spPr>
          <a:xfrm>
            <a:off x="6315304"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 58 °C prototype fin; ≈ 45 °C with the 1/8 in fin (calculated)</a:t>
            </a:r>
            <a:endParaRPr lang="en-US" sz="1300" dirty="0"/>
          </a:p>
        </p:txBody>
      </p:sp>
      <p:sp>
        <p:nvSpPr>
          <p:cNvPr id="26" name="Working area tile"/>
          <p:cNvSpPr/>
          <p:nvPr/>
        </p:nvSpPr>
        <p:spPr>
          <a:xfrm>
            <a:off x="8992895" y="1463040"/>
            <a:ext cx="2650160" cy="2029968"/>
          </a:xfrm>
          <a:prstGeom prst="rect">
            <a:avLst/>
          </a:prstGeom>
          <a:solidFill>
            <a:srgbClr val="FFFFFF"/>
          </a:solidFill>
          <a:ln w="12700">
            <a:solidFill>
              <a:srgbClr val="BFBFBF"/>
            </a:solidFill>
            <a:prstDash val="solid"/>
          </a:ln>
        </p:spPr>
      </p:sp>
      <p:sp>
        <p:nvSpPr>
          <p:cNvPr id="27" name="Working area status bar"/>
          <p:cNvSpPr/>
          <p:nvPr/>
        </p:nvSpPr>
        <p:spPr>
          <a:xfrm>
            <a:off x="8992895" y="1463040"/>
            <a:ext cx="2650160" cy="91440"/>
          </a:xfrm>
          <a:prstGeom prst="rect">
            <a:avLst/>
          </a:prstGeom>
          <a:solidFill>
            <a:srgbClr val="1F3A5F"/>
          </a:solidFill>
          <a:ln w="12700">
            <a:solidFill>
              <a:srgbClr val="1F3A5F"/>
            </a:solidFill>
            <a:prstDash val="solid"/>
          </a:ln>
        </p:spPr>
      </p:sp>
      <p:sp>
        <p:nvSpPr>
          <p:cNvPr id="28" name="label"/>
          <p:cNvSpPr txBox="1"/>
          <p:nvPr/>
        </p:nvSpPr>
        <p:spPr>
          <a:xfrm>
            <a:off x="9130055" y="161848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29" name="label"/>
          <p:cNvSpPr txBox="1"/>
          <p:nvPr/>
        </p:nvSpPr>
        <p:spPr>
          <a:xfrm>
            <a:off x="9130055"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Working area</a:t>
            </a:r>
            <a:endParaRPr lang="en-US" sz="1700" dirty="0"/>
          </a:p>
        </p:txBody>
      </p:sp>
      <p:sp>
        <p:nvSpPr>
          <p:cNvPr id="30" name="label"/>
          <p:cNvSpPr txBox="1"/>
          <p:nvPr/>
        </p:nvSpPr>
        <p:spPr>
          <a:xfrm>
            <a:off x="9130055"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31" name="label"/>
          <p:cNvSpPr txBox="1"/>
          <p:nvPr/>
        </p:nvSpPr>
        <p:spPr>
          <a:xfrm>
            <a:off x="9130055"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The whole 11 × 9 ft floor</a:t>
            </a:r>
            <a:endParaRPr lang="en-US" sz="1300" dirty="0"/>
          </a:p>
        </p:txBody>
      </p:sp>
      <p:sp>
        <p:nvSpPr>
          <p:cNvPr id="32" name="label"/>
          <p:cNvSpPr txBox="1"/>
          <p:nvPr/>
        </p:nvSpPr>
        <p:spPr>
          <a:xfrm>
            <a:off x="9130055"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All but 0.2 m at the walls (simulated)</a:t>
            </a:r>
            <a:endParaRPr lang="en-US" sz="1300" dirty="0"/>
          </a:p>
        </p:txBody>
      </p:sp>
      <p:sp>
        <p:nvSpPr>
          <p:cNvPr id="33" name="Wiring tile"/>
          <p:cNvSpPr/>
          <p:nvPr/>
        </p:nvSpPr>
        <p:spPr>
          <a:xfrm>
            <a:off x="548640" y="3657600"/>
            <a:ext cx="2650160" cy="2029968"/>
          </a:xfrm>
          <a:prstGeom prst="rect">
            <a:avLst/>
          </a:prstGeom>
          <a:solidFill>
            <a:srgbClr val="FFFFFF"/>
          </a:solidFill>
          <a:ln w="12700">
            <a:solidFill>
              <a:srgbClr val="BFBFBF"/>
            </a:solidFill>
            <a:prstDash val="solid"/>
          </a:ln>
        </p:spPr>
      </p:sp>
      <p:sp>
        <p:nvSpPr>
          <p:cNvPr id="34" name="Wiring status bar"/>
          <p:cNvSpPr/>
          <p:nvPr/>
        </p:nvSpPr>
        <p:spPr>
          <a:xfrm>
            <a:off x="548640" y="3657600"/>
            <a:ext cx="2650160" cy="91440"/>
          </a:xfrm>
          <a:prstGeom prst="rect">
            <a:avLst/>
          </a:prstGeom>
          <a:solidFill>
            <a:srgbClr val="1F3A5F"/>
          </a:solidFill>
          <a:ln w="12700">
            <a:solidFill>
              <a:srgbClr val="1F3A5F"/>
            </a:solidFill>
            <a:prstDash val="solid"/>
          </a:ln>
        </p:spPr>
      </p:sp>
      <p:sp>
        <p:nvSpPr>
          <p:cNvPr id="35" name="label"/>
          <p:cNvSpPr txBox="1"/>
          <p:nvPr/>
        </p:nvSpPr>
        <p:spPr>
          <a:xfrm>
            <a:off x="685800" y="381304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36" name="label"/>
          <p:cNvSpPr txBox="1"/>
          <p:nvPr/>
        </p:nvSpPr>
        <p:spPr>
          <a:xfrm>
            <a:off x="685800"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Wiring</a:t>
            </a:r>
            <a:endParaRPr lang="en-US" sz="1700" dirty="0"/>
          </a:p>
        </p:txBody>
      </p:sp>
      <p:sp>
        <p:nvSpPr>
          <p:cNvPr id="37" name="label"/>
          <p:cNvSpPr txBox="1"/>
          <p:nvPr/>
        </p:nvSpPr>
        <p:spPr>
          <a:xfrm>
            <a:off x="685800"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38" name="label"/>
          <p:cNvSpPr txBox="1"/>
          <p:nvPr/>
        </p:nvSpPr>
        <p:spPr>
          <a:xfrm>
            <a:off x="685800"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One plug per station</a:t>
            </a:r>
            <a:endParaRPr lang="en-US" sz="1300" dirty="0"/>
          </a:p>
        </p:txBody>
      </p:sp>
      <p:sp>
        <p:nvSpPr>
          <p:cNvPr id="39" name="label"/>
          <p:cNvSpPr txBox="1"/>
          <p:nvPr/>
        </p:nvSpPr>
        <p:spPr>
          <a:xfrm>
            <a:off x="685800"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One 12 V pair; 0.51 V drop on the longest run</a:t>
            </a:r>
            <a:endParaRPr lang="en-US" sz="1300" dirty="0"/>
          </a:p>
        </p:txBody>
      </p:sp>
      <p:sp>
        <p:nvSpPr>
          <p:cNvPr id="40" name="Accuracy tile"/>
          <p:cNvSpPr/>
          <p:nvPr/>
        </p:nvSpPr>
        <p:spPr>
          <a:xfrm>
            <a:off x="3363392" y="3657600"/>
            <a:ext cx="2650160" cy="2029968"/>
          </a:xfrm>
          <a:prstGeom prst="rect">
            <a:avLst/>
          </a:prstGeom>
          <a:solidFill>
            <a:srgbClr val="FFFFFF"/>
          </a:solidFill>
          <a:ln w="12700">
            <a:solidFill>
              <a:srgbClr val="BFBFBF"/>
            </a:solidFill>
            <a:prstDash val="solid"/>
          </a:ln>
        </p:spPr>
      </p:sp>
      <p:sp>
        <p:nvSpPr>
          <p:cNvPr id="41" name="Accuracy status bar"/>
          <p:cNvSpPr/>
          <p:nvPr/>
        </p:nvSpPr>
        <p:spPr>
          <a:xfrm>
            <a:off x="3363392" y="3657600"/>
            <a:ext cx="2650160" cy="91440"/>
          </a:xfrm>
          <a:prstGeom prst="rect">
            <a:avLst/>
          </a:prstGeom>
          <a:solidFill>
            <a:srgbClr val="7F7F7F"/>
          </a:solidFill>
          <a:ln w="12700">
            <a:solidFill>
              <a:srgbClr val="7F7F7F"/>
            </a:solidFill>
            <a:prstDash val="solid"/>
          </a:ln>
        </p:spPr>
      </p:sp>
      <p:sp>
        <p:nvSpPr>
          <p:cNvPr id="42" name="label"/>
          <p:cNvSpPr txBox="1"/>
          <p:nvPr/>
        </p:nvSpPr>
        <p:spPr>
          <a:xfrm>
            <a:off x="3500552"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43" name="label"/>
          <p:cNvSpPr txBox="1"/>
          <p:nvPr/>
        </p:nvSpPr>
        <p:spPr>
          <a:xfrm>
            <a:off x="3500552"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Accuracy</a:t>
            </a:r>
            <a:endParaRPr lang="en-US" sz="1700" dirty="0"/>
          </a:p>
        </p:txBody>
      </p:sp>
      <p:sp>
        <p:nvSpPr>
          <p:cNvPr id="44" name="label"/>
          <p:cNvSpPr txBox="1"/>
          <p:nvPr/>
        </p:nvSpPr>
        <p:spPr>
          <a:xfrm>
            <a:off x="3500552"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45" name="label"/>
          <p:cNvSpPr txBox="1"/>
          <p:nvPr/>
        </p:nvSpPr>
        <p:spPr>
          <a:xfrm>
            <a:off x="3500552"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 2 mm per cable over 300 mm</a:t>
            </a:r>
            <a:endParaRPr lang="en-US" sz="1300" dirty="0"/>
          </a:p>
        </p:txBody>
      </p:sp>
      <p:sp>
        <p:nvSpPr>
          <p:cNvPr id="46" name="label"/>
          <p:cNvSpPr txBox="1"/>
          <p:nvPr/>
        </p:nvSpPr>
        <p:spPr>
          <a:xfrm>
            <a:off x="3500552"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Floor board 0.7 mm (calculated)</a:t>
            </a:r>
            <a:endParaRPr lang="en-US" sz="1300" dirty="0"/>
          </a:p>
        </p:txBody>
      </p:sp>
      <p:sp>
        <p:nvSpPr>
          <p:cNvPr id="47" name="Speed tile"/>
          <p:cNvSpPr/>
          <p:nvPr/>
        </p:nvSpPr>
        <p:spPr>
          <a:xfrm>
            <a:off x="6178144" y="3657600"/>
            <a:ext cx="2650160" cy="2029968"/>
          </a:xfrm>
          <a:prstGeom prst="rect">
            <a:avLst/>
          </a:prstGeom>
          <a:solidFill>
            <a:srgbClr val="FFFFFF"/>
          </a:solidFill>
          <a:ln w="12700">
            <a:solidFill>
              <a:srgbClr val="BFBFBF"/>
            </a:solidFill>
            <a:prstDash val="solid"/>
          </a:ln>
        </p:spPr>
      </p:sp>
      <p:sp>
        <p:nvSpPr>
          <p:cNvPr id="48" name="Speed status bar"/>
          <p:cNvSpPr/>
          <p:nvPr/>
        </p:nvSpPr>
        <p:spPr>
          <a:xfrm>
            <a:off x="6178144" y="3657600"/>
            <a:ext cx="2650160" cy="91440"/>
          </a:xfrm>
          <a:prstGeom prst="rect">
            <a:avLst/>
          </a:prstGeom>
          <a:solidFill>
            <a:srgbClr val="7F7F7F"/>
          </a:solidFill>
          <a:ln w="12700">
            <a:solidFill>
              <a:srgbClr val="7F7F7F"/>
            </a:solidFill>
            <a:prstDash val="solid"/>
          </a:ln>
        </p:spPr>
      </p:sp>
      <p:sp>
        <p:nvSpPr>
          <p:cNvPr id="49" name="label"/>
          <p:cNvSpPr txBox="1"/>
          <p:nvPr/>
        </p:nvSpPr>
        <p:spPr>
          <a:xfrm>
            <a:off x="6315304"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0" name="label"/>
          <p:cNvSpPr txBox="1"/>
          <p:nvPr/>
        </p:nvSpPr>
        <p:spPr>
          <a:xfrm>
            <a:off x="6315304"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Speed</a:t>
            </a:r>
            <a:endParaRPr lang="en-US" sz="1700" dirty="0"/>
          </a:p>
        </p:txBody>
      </p:sp>
      <p:sp>
        <p:nvSpPr>
          <p:cNvPr id="51" name="label"/>
          <p:cNvSpPr txBox="1"/>
          <p:nvPr/>
        </p:nvSpPr>
        <p:spPr>
          <a:xfrm>
            <a:off x="6315304"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52" name="label"/>
          <p:cNvSpPr txBox="1"/>
          <p:nvPr/>
        </p:nvSpPr>
        <p:spPr>
          <a:xfrm>
            <a:off x="6315304"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50 mm/s, 2 m/s²</a:t>
            </a:r>
            <a:endParaRPr lang="en-US" sz="1300" dirty="0"/>
          </a:p>
        </p:txBody>
      </p:sp>
      <p:sp>
        <p:nvSpPr>
          <p:cNvPr id="53" name="label"/>
          <p:cNvSpPr txBox="1"/>
          <p:nvPr/>
        </p:nvSpPr>
        <p:spPr>
          <a:xfrm>
            <a:off x="6315304"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In every tension check; not yet run</a:t>
            </a:r>
            <a:endParaRPr lang="en-US" sz="1300" dirty="0"/>
          </a:p>
        </p:txBody>
      </p:sp>
      <p:sp>
        <p:nvSpPr>
          <p:cNvPr id="54" name="Cost tile"/>
          <p:cNvSpPr/>
          <p:nvPr/>
        </p:nvSpPr>
        <p:spPr>
          <a:xfrm>
            <a:off x="8992895" y="3657600"/>
            <a:ext cx="2650160" cy="2029968"/>
          </a:xfrm>
          <a:prstGeom prst="rect">
            <a:avLst/>
          </a:prstGeom>
          <a:solidFill>
            <a:srgbClr val="FFFFFF"/>
          </a:solidFill>
          <a:ln w="12700">
            <a:solidFill>
              <a:srgbClr val="BFBFBF"/>
            </a:solidFill>
            <a:prstDash val="solid"/>
          </a:ln>
        </p:spPr>
      </p:sp>
      <p:sp>
        <p:nvSpPr>
          <p:cNvPr id="55" name="Cost status bar"/>
          <p:cNvSpPr/>
          <p:nvPr/>
        </p:nvSpPr>
        <p:spPr>
          <a:xfrm>
            <a:off x="8992895" y="3657600"/>
            <a:ext cx="2650160" cy="91440"/>
          </a:xfrm>
          <a:prstGeom prst="rect">
            <a:avLst/>
          </a:prstGeom>
          <a:solidFill>
            <a:srgbClr val="7F7F7F"/>
          </a:solidFill>
          <a:ln w="12700">
            <a:solidFill>
              <a:srgbClr val="7F7F7F"/>
            </a:solidFill>
            <a:prstDash val="solid"/>
          </a:ln>
        </p:spPr>
      </p:sp>
      <p:sp>
        <p:nvSpPr>
          <p:cNvPr id="56" name="label"/>
          <p:cNvSpPr txBox="1"/>
          <p:nvPr/>
        </p:nvSpPr>
        <p:spPr>
          <a:xfrm>
            <a:off x="9130055"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7" name="label"/>
          <p:cNvSpPr txBox="1"/>
          <p:nvPr/>
        </p:nvSpPr>
        <p:spPr>
          <a:xfrm>
            <a:off x="9130055"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Cost</a:t>
            </a:r>
            <a:endParaRPr lang="en-US" sz="1700" dirty="0"/>
          </a:p>
        </p:txBody>
      </p:sp>
      <p:sp>
        <p:nvSpPr>
          <p:cNvPr id="58" name="label"/>
          <p:cNvSpPr txBox="1"/>
          <p:nvPr/>
        </p:nvSpPr>
        <p:spPr>
          <a:xfrm>
            <a:off x="9130055"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59" name="label"/>
          <p:cNvSpPr txBox="1"/>
          <p:nvPr/>
        </p:nvSpPr>
        <p:spPr>
          <a:xfrm>
            <a:off x="9130055"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Hobby budget; parts I can buy and fix</a:t>
            </a:r>
            <a:endParaRPr lang="en-US" sz="1300" dirty="0"/>
          </a:p>
        </p:txBody>
      </p:sp>
      <p:sp>
        <p:nvSpPr>
          <p:cNvPr id="60" name="label"/>
          <p:cNvSpPr txBox="1"/>
          <p:nvPr/>
        </p:nvSpPr>
        <p:spPr>
          <a:xfrm>
            <a:off x="9130055"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t>
            </a:r>
            <a:pPr algn="l" indent="0" marL="0">
              <a:buNone/>
            </a:pPr>
            <a:r>
              <a:rPr lang="en-US" sz="1300" i="1" dirty="0">
                <a:solidFill>
                  <a:srgbClr val="B23A2E"/>
                </a:solidFill>
                <a:latin typeface="Arial" pitchFamily="34" charset="0"/>
                <a:ea typeface="Arial" pitchFamily="34" charset="-122"/>
                <a:cs typeface="Arial" pitchFamily="34" charset="-120"/>
              </a:rPr>
              <a:t>[total spent: $___]</a:t>
            </a:r>
            <a:endParaRPr lang="en-US" sz="1300" dirty="0"/>
          </a:p>
        </p:txBody>
      </p:sp>
      <p:sp>
        <p:nvSpPr>
          <p:cNvPr id="61" name="constraint box"/>
          <p:cNvSpPr/>
          <p:nvPr/>
        </p:nvSpPr>
        <p:spPr>
          <a:xfrm>
            <a:off x="548640" y="5806440"/>
            <a:ext cx="11094415" cy="457200"/>
          </a:xfrm>
          <a:prstGeom prst="rect">
            <a:avLst/>
          </a:prstGeom>
          <a:solidFill>
            <a:srgbClr val="F2F2F2"/>
          </a:solidFill>
          <a:ln w="12700">
            <a:solidFill>
              <a:srgbClr val="F2F2F2"/>
            </a:solidFill>
            <a:prstDash val="solid"/>
          </a:ln>
        </p:spPr>
      </p:sp>
      <p:sp>
        <p:nvSpPr>
          <p:cNvPr id="62" name="label"/>
          <p:cNvSpPr txBox="1"/>
          <p:nvPr/>
        </p:nvSpPr>
        <p:spPr>
          <a:xfrm>
            <a:off x="685800" y="5806440"/>
            <a:ext cx="10820095" cy="457200"/>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Not traded:</a:t>
            </a:r>
            <a:pPr algn="l" indent="0" marL="0">
              <a:buNone/>
            </a:pPr>
            <a:r>
              <a:rPr lang="en-US" sz="1500" dirty="0">
                <a:solidFill>
                  <a:srgbClr val="000000"/>
                </a:solidFill>
                <a:latin typeface="Arial" pitchFamily="34" charset="0"/>
                <a:ea typeface="Arial" pitchFamily="34" charset="-122"/>
                <a:cs typeface="Arial" pitchFamily="34" charset="-120"/>
              </a:rPr>
              <a:t> safety. Anchors in studs, one hard stop, holds on any fault, nobody under the robot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Trade-offs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Motor current ↑ card"/>
          <p:cNvSpPr/>
          <p:nvPr/>
        </p:nvSpPr>
        <p:spPr>
          <a:xfrm>
            <a:off x="548640" y="1463040"/>
            <a:ext cx="3576218" cy="1965960"/>
          </a:xfrm>
          <a:prstGeom prst="rect">
            <a:avLst/>
          </a:prstGeom>
          <a:solidFill>
            <a:srgbClr val="FFFFFF"/>
          </a:solidFill>
          <a:ln w="12700">
            <a:solidFill>
              <a:srgbClr val="1F3A5F"/>
            </a:solidFill>
            <a:prstDash val="solid"/>
          </a:ln>
        </p:spPr>
      </p:sp>
      <p:sp>
        <p:nvSpPr>
          <p:cNvPr id="6" name="Motor current ↑ header"/>
          <p:cNvSpPr/>
          <p:nvPr/>
        </p:nvSpPr>
        <p:spPr>
          <a:xfrm>
            <a:off x="548640" y="1463040"/>
            <a:ext cx="3576218" cy="411480"/>
          </a:xfrm>
          <a:prstGeom prst="rect">
            <a:avLst/>
          </a:prstGeom>
          <a:solidFill>
            <a:srgbClr val="1F3A5F"/>
          </a:solidFill>
          <a:ln w="12700">
            <a:solidFill>
              <a:srgbClr val="1F3A5F"/>
            </a:solidFill>
            <a:prstDash val="solid"/>
          </a:ln>
        </p:spPr>
      </p:sp>
      <p:sp>
        <p:nvSpPr>
          <p:cNvPr id="7" name="label"/>
          <p:cNvSpPr txBox="1"/>
          <p:nvPr/>
        </p:nvSpPr>
        <p:spPr>
          <a:xfrm>
            <a:off x="685800"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Motor current ↑</a:t>
            </a:r>
            <a:endParaRPr lang="en-US" sz="1600" dirty="0"/>
          </a:p>
        </p:txBody>
      </p:sp>
      <p:sp>
        <p:nvSpPr>
          <p:cNvPr id="8" name="Motor current ↑ text"/>
          <p:cNvSpPr txBox="1"/>
          <p:nvPr/>
        </p:nvSpPr>
        <p:spPr>
          <a:xfrm>
            <a:off x="685800"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I (+41 % at 1.5 A)</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heat, P = I²R (2.0 → 4.1 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1.5 A, vented shell + fin</a:t>
            </a:r>
            <a:endParaRPr lang="en-US" sz="1450" dirty="0"/>
          </a:p>
        </p:txBody>
      </p:sp>
      <p:sp>
        <p:nvSpPr>
          <p:cNvPr id="9" name="Claw strength ↑ card"/>
          <p:cNvSpPr/>
          <p:nvPr/>
        </p:nvSpPr>
        <p:spPr>
          <a:xfrm>
            <a:off x="4307738" y="1463040"/>
            <a:ext cx="3576218" cy="1965960"/>
          </a:xfrm>
          <a:prstGeom prst="rect">
            <a:avLst/>
          </a:prstGeom>
          <a:solidFill>
            <a:srgbClr val="FFFFFF"/>
          </a:solidFill>
          <a:ln w="12700">
            <a:solidFill>
              <a:srgbClr val="1F3A5F"/>
            </a:solidFill>
            <a:prstDash val="solid"/>
          </a:ln>
        </p:spPr>
      </p:sp>
      <p:sp>
        <p:nvSpPr>
          <p:cNvPr id="10" name="Claw strength ↑ header"/>
          <p:cNvSpPr/>
          <p:nvPr/>
        </p:nvSpPr>
        <p:spPr>
          <a:xfrm>
            <a:off x="4307738" y="1463040"/>
            <a:ext cx="3576218" cy="411480"/>
          </a:xfrm>
          <a:prstGeom prst="rect">
            <a:avLst/>
          </a:prstGeom>
          <a:solidFill>
            <a:srgbClr val="1F3A5F"/>
          </a:solidFill>
          <a:ln w="12700">
            <a:solidFill>
              <a:srgbClr val="1F3A5F"/>
            </a:solidFill>
            <a:prstDash val="solid"/>
          </a:ln>
        </p:spPr>
      </p:sp>
      <p:sp>
        <p:nvSpPr>
          <p:cNvPr id="11" name="label"/>
          <p:cNvSpPr txBox="1"/>
          <p:nvPr/>
        </p:nvSpPr>
        <p:spPr>
          <a:xfrm>
            <a:off x="4444898"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Claw strength ↑</a:t>
            </a:r>
            <a:endParaRPr lang="en-US" sz="1600" dirty="0"/>
          </a:p>
        </p:txBody>
      </p:sp>
      <p:sp>
        <p:nvSpPr>
          <p:cNvPr id="12" name="Claw strength ↑ text"/>
          <p:cNvSpPr txBox="1"/>
          <p:nvPr/>
        </p:nvSpPr>
        <p:spPr>
          <a:xfrm>
            <a:off x="4444898"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gear safety factor 0.4 → 2</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mass; payload = capacity − claw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module 1.5 gears; mass budget open</a:t>
            </a:r>
            <a:endParaRPr lang="en-US" sz="1450" dirty="0"/>
          </a:p>
        </p:txBody>
      </p:sp>
      <p:sp>
        <p:nvSpPr>
          <p:cNvPr id="13" name="Room size ↑ card"/>
          <p:cNvSpPr/>
          <p:nvPr/>
        </p:nvSpPr>
        <p:spPr>
          <a:xfrm>
            <a:off x="8066837" y="1463040"/>
            <a:ext cx="3576218" cy="1965960"/>
          </a:xfrm>
          <a:prstGeom prst="rect">
            <a:avLst/>
          </a:prstGeom>
          <a:solidFill>
            <a:srgbClr val="FFFFFF"/>
          </a:solidFill>
          <a:ln w="12700">
            <a:solidFill>
              <a:srgbClr val="1F3A5F"/>
            </a:solidFill>
            <a:prstDash val="solid"/>
          </a:ln>
        </p:spPr>
      </p:sp>
      <p:sp>
        <p:nvSpPr>
          <p:cNvPr id="14" name="Room size ↑ header"/>
          <p:cNvSpPr/>
          <p:nvPr/>
        </p:nvSpPr>
        <p:spPr>
          <a:xfrm>
            <a:off x="8066837" y="1463040"/>
            <a:ext cx="3576218" cy="411480"/>
          </a:xfrm>
          <a:prstGeom prst="rect">
            <a:avLst/>
          </a:prstGeom>
          <a:solidFill>
            <a:srgbClr val="1F3A5F"/>
          </a:solidFill>
          <a:ln w="12700">
            <a:solidFill>
              <a:srgbClr val="1F3A5F"/>
            </a:solidFill>
            <a:prstDash val="solid"/>
          </a:ln>
        </p:spPr>
      </p:sp>
      <p:sp>
        <p:nvSpPr>
          <p:cNvPr id="15" name="label"/>
          <p:cNvSpPr txBox="1"/>
          <p:nvPr/>
        </p:nvSpPr>
        <p:spPr>
          <a:xfrm>
            <a:off x="8203997"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Room size ↑</a:t>
            </a:r>
            <a:endParaRPr lang="en-US" sz="1600" dirty="0"/>
          </a:p>
        </p:txBody>
      </p:sp>
      <p:sp>
        <p:nvSpPr>
          <p:cNvPr id="16" name="Room size ↑ text"/>
          <p:cNvSpPr txBox="1"/>
          <p:nvPr/>
        </p:nvSpPr>
        <p:spPr>
          <a:xfrm>
            <a:off x="8203997"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floor covered</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longer wire, more resistance: R = ρL/A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only 12 V travels, on 16-gauge wire</a:t>
            </a:r>
            <a:endParaRPr lang="en-US" sz="1450" dirty="0"/>
          </a:p>
        </p:txBody>
      </p:sp>
      <p:sp>
        <p:nvSpPr>
          <p:cNvPr id="17" name="Reach toward the ceiling ↑ card"/>
          <p:cNvSpPr/>
          <p:nvPr/>
        </p:nvSpPr>
        <p:spPr>
          <a:xfrm>
            <a:off x="548640" y="3611880"/>
            <a:ext cx="3576218" cy="1965960"/>
          </a:xfrm>
          <a:prstGeom prst="rect">
            <a:avLst/>
          </a:prstGeom>
          <a:solidFill>
            <a:srgbClr val="FFFFFF"/>
          </a:solidFill>
          <a:ln w="12700">
            <a:solidFill>
              <a:srgbClr val="1F3A5F"/>
            </a:solidFill>
            <a:prstDash val="solid"/>
          </a:ln>
        </p:spPr>
      </p:sp>
      <p:sp>
        <p:nvSpPr>
          <p:cNvPr id="18" name="Reach toward the ceiling ↑ header"/>
          <p:cNvSpPr/>
          <p:nvPr/>
        </p:nvSpPr>
        <p:spPr>
          <a:xfrm>
            <a:off x="548640" y="3611880"/>
            <a:ext cx="3576218" cy="411480"/>
          </a:xfrm>
          <a:prstGeom prst="rect">
            <a:avLst/>
          </a:prstGeom>
          <a:solidFill>
            <a:srgbClr val="1F3A5F"/>
          </a:solidFill>
          <a:ln w="12700">
            <a:solidFill>
              <a:srgbClr val="1F3A5F"/>
            </a:solidFill>
            <a:prstDash val="solid"/>
          </a:ln>
        </p:spPr>
      </p:sp>
      <p:sp>
        <p:nvSpPr>
          <p:cNvPr id="19" name="label"/>
          <p:cNvSpPr txBox="1"/>
          <p:nvPr/>
        </p:nvSpPr>
        <p:spPr>
          <a:xfrm>
            <a:off x="685800"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Reach toward the ceiling ↑</a:t>
            </a:r>
            <a:endParaRPr lang="en-US" sz="1600" dirty="0"/>
          </a:p>
        </p:txBody>
      </p:sp>
      <p:sp>
        <p:nvSpPr>
          <p:cNvPr id="20" name="Reach toward the ceiling ↑ text"/>
          <p:cNvSpPr txBox="1"/>
          <p:nvPr/>
        </p:nvSpPr>
        <p:spPr>
          <a:xfrm>
            <a:off x="685800"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working volume</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tension, T = W / (4 sin φ): 12 → 32 N</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stop 0.4 m below the anchors</a:t>
            </a:r>
            <a:endParaRPr lang="en-US" sz="1450" dirty="0"/>
          </a:p>
        </p:txBody>
      </p:sp>
      <p:sp>
        <p:nvSpPr>
          <p:cNvPr id="21" name="Spool radius ↓ card"/>
          <p:cNvSpPr/>
          <p:nvPr/>
        </p:nvSpPr>
        <p:spPr>
          <a:xfrm>
            <a:off x="4307738" y="3611880"/>
            <a:ext cx="3576218" cy="1965960"/>
          </a:xfrm>
          <a:prstGeom prst="rect">
            <a:avLst/>
          </a:prstGeom>
          <a:solidFill>
            <a:srgbClr val="FFFFFF"/>
          </a:solidFill>
          <a:ln w="12700">
            <a:solidFill>
              <a:srgbClr val="1F3A5F"/>
            </a:solidFill>
            <a:prstDash val="solid"/>
          </a:ln>
        </p:spPr>
      </p:sp>
      <p:sp>
        <p:nvSpPr>
          <p:cNvPr id="22" name="Spool radius ↓ header"/>
          <p:cNvSpPr/>
          <p:nvPr/>
        </p:nvSpPr>
        <p:spPr>
          <a:xfrm>
            <a:off x="4307738" y="3611880"/>
            <a:ext cx="3576218" cy="411480"/>
          </a:xfrm>
          <a:prstGeom prst="rect">
            <a:avLst/>
          </a:prstGeom>
          <a:solidFill>
            <a:srgbClr val="1F3A5F"/>
          </a:solidFill>
          <a:ln w="12700">
            <a:solidFill>
              <a:srgbClr val="1F3A5F"/>
            </a:solidFill>
            <a:prstDash val="solid"/>
          </a:ln>
        </p:spPr>
      </p:sp>
      <p:sp>
        <p:nvSpPr>
          <p:cNvPr id="23" name="label"/>
          <p:cNvSpPr txBox="1"/>
          <p:nvPr/>
        </p:nvSpPr>
        <p:spPr>
          <a:xfrm>
            <a:off x="4444898"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Spool radius ↓</a:t>
            </a:r>
            <a:endParaRPr lang="en-US" sz="1600" dirty="0"/>
          </a:p>
        </p:txBody>
      </p:sp>
      <p:sp>
        <p:nvSpPr>
          <p:cNvPr id="24" name="Spool radius ↓ text"/>
          <p:cNvSpPr txBox="1"/>
          <p:nvPr/>
        </p:nvSpPr>
        <p:spPr>
          <a:xfrm>
            <a:off x="4444898"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τ / r</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line speed, v = ω r; less line per layer</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Ø15 core: 34 N empty, 25 N full</a:t>
            </a:r>
            <a:endParaRPr lang="en-US" sz="1450" dirty="0"/>
          </a:p>
        </p:txBody>
      </p:sp>
      <p:sp>
        <p:nvSpPr>
          <p:cNvPr id="25" name="Safety margins ↑ card"/>
          <p:cNvSpPr/>
          <p:nvPr/>
        </p:nvSpPr>
        <p:spPr>
          <a:xfrm>
            <a:off x="8066837" y="3611880"/>
            <a:ext cx="3576218" cy="1965960"/>
          </a:xfrm>
          <a:prstGeom prst="rect">
            <a:avLst/>
          </a:prstGeom>
          <a:solidFill>
            <a:srgbClr val="FFFFFF"/>
          </a:solidFill>
          <a:ln w="12700">
            <a:solidFill>
              <a:srgbClr val="1F3A5F"/>
            </a:solidFill>
            <a:prstDash val="solid"/>
          </a:ln>
        </p:spPr>
      </p:sp>
      <p:sp>
        <p:nvSpPr>
          <p:cNvPr id="26" name="Safety margins ↑ header"/>
          <p:cNvSpPr/>
          <p:nvPr/>
        </p:nvSpPr>
        <p:spPr>
          <a:xfrm>
            <a:off x="8066837" y="3611880"/>
            <a:ext cx="3576218" cy="411480"/>
          </a:xfrm>
          <a:prstGeom prst="rect">
            <a:avLst/>
          </a:prstGeom>
          <a:solidFill>
            <a:srgbClr val="1F3A5F"/>
          </a:solidFill>
          <a:ln w="12700">
            <a:solidFill>
              <a:srgbClr val="1F3A5F"/>
            </a:solidFill>
            <a:prstDash val="solid"/>
          </a:ln>
        </p:spPr>
      </p:sp>
      <p:sp>
        <p:nvSpPr>
          <p:cNvPr id="27" name="label"/>
          <p:cNvSpPr txBox="1"/>
          <p:nvPr/>
        </p:nvSpPr>
        <p:spPr>
          <a:xfrm>
            <a:off x="8203997"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Safety margins ↑</a:t>
            </a:r>
            <a:endParaRPr lang="en-US" sz="1600" dirty="0"/>
          </a:p>
        </p:txBody>
      </p:sp>
      <p:sp>
        <p:nvSpPr>
          <p:cNvPr id="28" name="Safety margins ↑ text"/>
          <p:cNvSpPr txBox="1"/>
          <p:nvPr/>
        </p:nvSpPr>
        <p:spPr>
          <a:xfrm>
            <a:off x="8203997"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no skipped steps, no wall contact</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usable force (÷ 1.5) and floor area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 1.5; 0.2 m walls, 0.4 m ceiling</a:t>
            </a:r>
            <a:endParaRPr lang="en-US" sz="1450" dirty="0"/>
          </a:p>
        </p:txBody>
      </p:sp>
      <p:sp>
        <p:nvSpPr>
          <p:cNvPr id="29" name="label"/>
          <p:cNvSpPr txBox="1"/>
          <p:nvPr/>
        </p:nvSpPr>
        <p:spPr>
          <a:xfrm>
            <a:off x="548640" y="5760720"/>
            <a:ext cx="1280160" cy="475488"/>
          </a:xfrm>
          <a:prstGeom prst="rect">
            <a:avLst/>
          </a:prstGeom>
          <a:noFill/>
          <a:ln/>
        </p:spPr>
        <p:txBody>
          <a:bodyPr wrap="square" lIns="0" tIns="0" rIns="0" bIns="0" rtlCol="0" anchor="ctr"/>
          <a:lstStyle/>
          <a:p>
            <a:pPr algn="l" indent="0" marL="0">
              <a:buNone/>
            </a:pPr>
            <a:r>
              <a:rPr lang="en-US" sz="1400" b="1" dirty="0">
                <a:solidFill>
                  <a:srgbClr val="1F3A5F"/>
                </a:solidFill>
                <a:latin typeface="Arial" pitchFamily="34" charset="0"/>
                <a:ea typeface="Arial" pitchFamily="34" charset="-122"/>
                <a:cs typeface="Arial" pitchFamily="34" charset="-120"/>
              </a:rPr>
              <a:t>How they chain:</a:t>
            </a:r>
            <a:endParaRPr lang="en-US" sz="1400" dirty="0"/>
          </a:p>
        </p:txBody>
      </p:sp>
      <p:sp>
        <p:nvSpPr>
          <p:cNvPr id="30" name="chain 1"/>
          <p:cNvSpPr/>
          <p:nvPr/>
        </p:nvSpPr>
        <p:spPr>
          <a:xfrm>
            <a:off x="1920240" y="5760720"/>
            <a:ext cx="1710477" cy="475488"/>
          </a:xfrm>
          <a:prstGeom prst="roundRect">
            <a:avLst>
              <a:gd name="adj" fmla="val 15385"/>
            </a:avLst>
          </a:prstGeom>
          <a:solidFill>
            <a:srgbClr val="F2F2F2"/>
          </a:solidFill>
          <a:ln w="12700">
            <a:solidFill>
              <a:srgbClr val="1F3A5F"/>
            </a:solidFill>
            <a:prstDash val="solid"/>
          </a:ln>
        </p:spPr>
      </p:sp>
      <p:sp>
        <p:nvSpPr>
          <p:cNvPr id="31" name="label"/>
          <p:cNvSpPr txBox="1"/>
          <p:nvPr/>
        </p:nvSpPr>
        <p:spPr>
          <a:xfrm>
            <a:off x="1920240"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Claw mass ↑</a:t>
            </a:r>
            <a:endParaRPr lang="en-US" sz="1400" dirty="0"/>
          </a:p>
        </p:txBody>
      </p:sp>
      <p:sp>
        <p:nvSpPr>
          <p:cNvPr id="32" name="Shape 30"/>
          <p:cNvSpPr/>
          <p:nvPr/>
        </p:nvSpPr>
        <p:spPr>
          <a:xfrm>
            <a:off x="3667293" y="5998464"/>
            <a:ext cx="219456" cy="0"/>
          </a:xfrm>
          <a:prstGeom prst="line">
            <a:avLst/>
          </a:prstGeom>
          <a:noFill/>
          <a:ln w="19050">
            <a:solidFill>
              <a:srgbClr val="7F7F7F"/>
            </a:solidFill>
            <a:prstDash val="solid"/>
            <a:tailEnd type="triangle"/>
          </a:ln>
        </p:spPr>
      </p:sp>
      <p:sp>
        <p:nvSpPr>
          <p:cNvPr id="33" name="chain 2"/>
          <p:cNvSpPr/>
          <p:nvPr/>
        </p:nvSpPr>
        <p:spPr>
          <a:xfrm>
            <a:off x="3923325" y="5760720"/>
            <a:ext cx="1710477" cy="475488"/>
          </a:xfrm>
          <a:prstGeom prst="roundRect">
            <a:avLst>
              <a:gd name="adj" fmla="val 15385"/>
            </a:avLst>
          </a:prstGeom>
          <a:solidFill>
            <a:srgbClr val="F2F2F2"/>
          </a:solidFill>
          <a:ln w="12700">
            <a:solidFill>
              <a:srgbClr val="1F3A5F"/>
            </a:solidFill>
            <a:prstDash val="solid"/>
          </a:ln>
        </p:spPr>
      </p:sp>
      <p:sp>
        <p:nvSpPr>
          <p:cNvPr id="34" name="label"/>
          <p:cNvSpPr txBox="1"/>
          <p:nvPr/>
        </p:nvSpPr>
        <p:spPr>
          <a:xfrm>
            <a:off x="3923325"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Pull needed ↑</a:t>
            </a:r>
            <a:endParaRPr lang="en-US" sz="1400" dirty="0"/>
          </a:p>
        </p:txBody>
      </p:sp>
      <p:sp>
        <p:nvSpPr>
          <p:cNvPr id="35" name="Shape 33"/>
          <p:cNvSpPr/>
          <p:nvPr/>
        </p:nvSpPr>
        <p:spPr>
          <a:xfrm>
            <a:off x="5670377" y="5998464"/>
            <a:ext cx="219456" cy="0"/>
          </a:xfrm>
          <a:prstGeom prst="line">
            <a:avLst/>
          </a:prstGeom>
          <a:noFill/>
          <a:ln w="19050">
            <a:solidFill>
              <a:srgbClr val="7F7F7F"/>
            </a:solidFill>
            <a:prstDash val="solid"/>
            <a:tailEnd type="triangle"/>
          </a:ln>
        </p:spPr>
      </p:sp>
      <p:sp>
        <p:nvSpPr>
          <p:cNvPr id="36" name="chain 3"/>
          <p:cNvSpPr/>
          <p:nvPr/>
        </p:nvSpPr>
        <p:spPr>
          <a:xfrm>
            <a:off x="5926409" y="5760720"/>
            <a:ext cx="1710477" cy="475488"/>
          </a:xfrm>
          <a:prstGeom prst="roundRect">
            <a:avLst>
              <a:gd name="adj" fmla="val 15385"/>
            </a:avLst>
          </a:prstGeom>
          <a:solidFill>
            <a:srgbClr val="F2F2F2"/>
          </a:solidFill>
          <a:ln w="12700">
            <a:solidFill>
              <a:srgbClr val="1F3A5F"/>
            </a:solidFill>
            <a:prstDash val="solid"/>
          </a:ln>
        </p:spPr>
      </p:sp>
      <p:sp>
        <p:nvSpPr>
          <p:cNvPr id="37" name="label"/>
          <p:cNvSpPr txBox="1"/>
          <p:nvPr/>
        </p:nvSpPr>
        <p:spPr>
          <a:xfrm>
            <a:off x="5926409"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Motor current ↑</a:t>
            </a:r>
            <a:endParaRPr lang="en-US" sz="1400" dirty="0"/>
          </a:p>
        </p:txBody>
      </p:sp>
      <p:sp>
        <p:nvSpPr>
          <p:cNvPr id="38" name="Shape 36"/>
          <p:cNvSpPr/>
          <p:nvPr/>
        </p:nvSpPr>
        <p:spPr>
          <a:xfrm>
            <a:off x="7673462" y="5998464"/>
            <a:ext cx="219456" cy="0"/>
          </a:xfrm>
          <a:prstGeom prst="line">
            <a:avLst/>
          </a:prstGeom>
          <a:noFill/>
          <a:ln w="19050">
            <a:solidFill>
              <a:srgbClr val="7F7F7F"/>
            </a:solidFill>
            <a:prstDash val="solid"/>
            <a:tailEnd type="triangle"/>
          </a:ln>
        </p:spPr>
      </p:sp>
      <p:sp>
        <p:nvSpPr>
          <p:cNvPr id="39" name="chain 4"/>
          <p:cNvSpPr/>
          <p:nvPr/>
        </p:nvSpPr>
        <p:spPr>
          <a:xfrm>
            <a:off x="7929494" y="5760720"/>
            <a:ext cx="1710477" cy="475488"/>
          </a:xfrm>
          <a:prstGeom prst="roundRect">
            <a:avLst>
              <a:gd name="adj" fmla="val 15385"/>
            </a:avLst>
          </a:prstGeom>
          <a:solidFill>
            <a:srgbClr val="F2F2F2"/>
          </a:solidFill>
          <a:ln w="12700">
            <a:solidFill>
              <a:srgbClr val="1F3A5F"/>
            </a:solidFill>
            <a:prstDash val="solid"/>
          </a:ln>
        </p:spPr>
      </p:sp>
      <p:sp>
        <p:nvSpPr>
          <p:cNvPr id="40" name="label"/>
          <p:cNvSpPr txBox="1"/>
          <p:nvPr/>
        </p:nvSpPr>
        <p:spPr>
          <a:xfrm>
            <a:off x="7929494"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Heat ↑ as I²</a:t>
            </a:r>
            <a:endParaRPr lang="en-US" sz="1400" dirty="0"/>
          </a:p>
        </p:txBody>
      </p:sp>
      <p:sp>
        <p:nvSpPr>
          <p:cNvPr id="41" name="Shape 39"/>
          <p:cNvSpPr/>
          <p:nvPr/>
        </p:nvSpPr>
        <p:spPr>
          <a:xfrm>
            <a:off x="9676547" y="5998464"/>
            <a:ext cx="219456" cy="0"/>
          </a:xfrm>
          <a:prstGeom prst="line">
            <a:avLst/>
          </a:prstGeom>
          <a:noFill/>
          <a:ln w="19050">
            <a:solidFill>
              <a:srgbClr val="7F7F7F"/>
            </a:solidFill>
            <a:prstDash val="solid"/>
            <a:tailEnd type="triangle"/>
          </a:ln>
        </p:spPr>
      </p:sp>
      <p:sp>
        <p:nvSpPr>
          <p:cNvPr id="42" name="chain 5"/>
          <p:cNvSpPr/>
          <p:nvPr/>
        </p:nvSpPr>
        <p:spPr>
          <a:xfrm>
            <a:off x="9932579" y="5760720"/>
            <a:ext cx="1710477" cy="475488"/>
          </a:xfrm>
          <a:prstGeom prst="roundRect">
            <a:avLst>
              <a:gd name="adj" fmla="val 15385"/>
            </a:avLst>
          </a:prstGeom>
          <a:solidFill>
            <a:srgbClr val="1F3A5F"/>
          </a:solidFill>
          <a:ln w="12700">
            <a:solidFill>
              <a:srgbClr val="1F3A5F"/>
            </a:solidFill>
            <a:prstDash val="solid"/>
          </a:ln>
        </p:spPr>
      </p:sp>
      <p:sp>
        <p:nvSpPr>
          <p:cNvPr id="43" name="label"/>
          <p:cNvSpPr txBox="1"/>
          <p:nvPr/>
        </p:nvSpPr>
        <p:spPr>
          <a:xfrm>
            <a:off x="9932579" y="5760720"/>
            <a:ext cx="1710477"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Fin and vents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at 1.5 A that holds even while accelerating (14.7 N vs 16.8 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8346643" y="621792"/>
            <a:ext cx="329641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346643" y="621792"/>
            <a:ext cx="329641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A set · pull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(standard 1.7 in frame), printed spool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Driver current raised to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motor's rating (was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34 N empty spool, 25 N full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16.8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(was 11.9 N):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1.2 V / (8 × 0.1 Ω) = 1.5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33.6 N at r = 7.5 mm,   25.2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twice the heat (4.1 W); prototype 0.019 in fin ≈ 58 °C, 1/8 in design fin ≈ 45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90-minute hold test at 1.5 A; back to 1.35 A if it runs hot</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(1.5 A)² × 1.8 Ω = 4.1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p:txBody>
      </p:sp>
      <p:pic>
        <p:nvPicPr>
          <p:cNvPr id="11"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2" name="chart frame"/>
          <p:cNvSpPr/>
          <p:nvPr/>
        </p:nvSpPr>
        <p:spPr>
          <a:xfrm>
            <a:off x="5880671" y="1554480"/>
            <a:ext cx="5762384" cy="3959968"/>
          </a:xfrm>
          <a:prstGeom prst="rect">
            <a:avLst/>
          </a:prstGeom>
          <a:ln w="9525">
            <a:solidFill>
              <a:srgbClr val="BFBFBF"/>
            </a:solidFill>
            <a:prstDash val="solid"/>
          </a:ln>
        </p:spPr>
      </p:sp>
      <p:sp>
        <p:nvSpPr>
          <p:cNvPr id="13"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 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1.56 kg at the worst point (was 1.10)</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 lb test now fits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(1.32 kg); jeans are still 0.2 kg over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16.8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Prototype: sheared 0.019 in sheet I had on hand; the design fin is 1/8 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Thermal Check</a:t>
            </a:r>
            <a:endParaRPr lang="en-US" sz="3000" dirty="0"/>
          </a:p>
        </p:txBody>
      </p:sp>
      <p:sp>
        <p:nvSpPr>
          <p:cNvPr id="4" name="status chip"/>
          <p:cNvSpPr/>
          <p:nvPr/>
        </p:nvSpPr>
        <p:spPr>
          <a:xfrm>
            <a:off x="8241487" y="621792"/>
            <a:ext cx="3401568"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241487" y="621792"/>
            <a:ext cx="3401568"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simulation next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Question: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does the PETG mount stay under 60 °C at 1.5 A?</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Hand calc:</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56–59 °C (prototype fin), ≈ 45 °C (1/8 in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ANSYS: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fin, motor screws, inserts and PETG mount from my assembly; 4.05 W</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Hold test: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 minutes at 1.5 A; thermocouples on the motor and the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If too hot: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1/8 in fin, or drop to 1.35 A (≈ 51 °C)</a:t>
            </a:r>
            <a:endParaRPr lang="en-US" sz="2000" dirty="0"/>
          </a:p>
        </p:txBody>
      </p:sp>
      <p:sp>
        <p:nvSpPr>
          <p:cNvPr id="8" name="placeholder"/>
          <p:cNvSpPr/>
          <p:nvPr/>
        </p:nvSpPr>
        <p:spPr>
          <a:xfrm>
            <a:off x="5436894" y="1463040"/>
            <a:ext cx="6206161" cy="219456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1945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[ANSYS temperature plot: motor, fin, screws and inserts]</a:t>
            </a:r>
            <a:endParaRPr lang="en-US" sz="1600" dirty="0"/>
          </a:p>
        </p:txBody>
      </p:sp>
      <p:graphicFrame>
        <p:nvGraphicFramePr>
          <p:cNvPr id="20" name="thermal methods"/>
          <p:cNvGraphicFramePr>
            <a:graphicFrameLocks noGrp="1"/>
          </p:cNvGraphicFramePr>
          <p:nvPr>
            <p:extLst>
              <p:ext uri="{D42A27DB-BD31-4B8C-83A1-F6EECF244321}">
                <p14:modId xmlns:p14="http://schemas.microsoft.com/office/powerpoint/2010/main" val="1579011935"/>
              </p:ext>
            </p:extLst>
          </p:nvPr>
        </p:nvGraphicFramePr>
        <p:xfrm>
          <a:off x="5436894" y="3794760"/>
          <a:ext cx="6206161" cy="914400"/>
        </p:xfrm>
        <a:graphic>
          <a:graphicData uri="http://schemas.openxmlformats.org/drawingml/2006/table">
            <a:tbl>
              <a:tblPr/>
              <a:tblGrid>
                <a:gridCol w="1737725"/>
                <a:gridCol w="1489479"/>
                <a:gridCol w="1613602"/>
                <a:gridCol w="1365355"/>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Motor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PETG mount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 carries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Hand calc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 53–58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1.4–1.6 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ANSYS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caption"/>
          <p:cNvSpPr txBox="1"/>
          <p:nvPr/>
        </p:nvSpPr>
        <p:spPr>
          <a:xfrm>
            <a:off x="5436894" y="5733288"/>
            <a:ext cx="6206161"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Three ways to know one temperature: calculate it, simulate it, measure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0.2 kg over, even at 1.5 A</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on nine jumpers,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paper tags,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Prototype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0.019 in sheet on hand; design is 1/8 in</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550213"/>
                <a:gridCol w="3993989"/>
                <a:gridCol w="3550213"/>
              </a:tblGrid>
              <a:tr h="512064">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Status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Next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Wall stations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bench-commissioned </a:t>
                      </a:r>
                      <a:pPr indent="0" marL="0">
                        <a:buNone/>
                      </a:pPr>
                      <a:r>
                        <a:rPr lang="en-US" sz="1300" i="1" dirty="0">
                          <a:solidFill>
                            <a:srgbClr val="B23A2E"/>
                          </a:solidFill>
                          <a:latin typeface="Arial" pitchFamily="34" charset="0"/>
                          <a:ea typeface="Arial" pitchFamily="34" charset="-122"/>
                          <a:cs typeface="Arial" pitchFamily="34" charset="-120"/>
                        </a:rPr>
                        <a:t>[how many]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Three-station test, then the fourth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Station electronics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drivers at 1.5 A </a:t>
                      </a:r>
                      <a:pPr indent="0" marL="0">
                        <a:buNone/>
                      </a:pPr>
                      <a:r>
                        <a:rPr lang="en-US" sz="1300" i="1" dirty="0">
                          <a:solidFill>
                            <a:srgbClr val="B23A2E"/>
                          </a:solidFill>
                          <a:latin typeface="Arial" pitchFamily="34" charset="0"/>
                          <a:ea typeface="Arial" pitchFamily="34" charset="-122"/>
                          <a:cs typeface="Arial" pitchFamily="34" charset="-120"/>
                        </a:rPr>
                        <a:t>[how: Vref reading]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90-minute hold test at 1.5 A</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Heat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Prototype 0.019 in built; 1/8 in designed (D38)</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Machine the 1/8 in fin;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Thermal model of the station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Hand calc at 1.5 A; ANSYS model with screws set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Run it; then the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body: tube, mount, servo, gears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Weigh 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hands, camera housing, encoder casing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Checked in CAD; printing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Fit checks on the first print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and control software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Simulated end to end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First hardware run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Winch pull</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Calculated at 1.5 A: 25–34 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Luggage-scale pull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Sizing for 4 W</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Question: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what fin carries all 4.05 W alone, with the motor ≤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Built 0.019 in sheet: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never; even infinitely long it carries ≈ 2 W</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(now the design), 200 mm: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56–59 °C alone; ≈ 45 °C in the station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Thickness is the lever,</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not length; bare needs 1/4 in × ≈ 300 mm</a:t>
            </a:r>
            <a:endParaRPr lang="en-US" sz="2000" dirty="0"/>
          </a:p>
        </p:txBody>
      </p:sp>
      <p:sp>
        <p:nvSpPr>
          <p:cNvPr id="8" name="equation box"/>
          <p:cNvSpPr/>
          <p:nvPr/>
        </p:nvSpPr>
        <p:spPr>
          <a:xfrm>
            <a:off x="548640" y="5239512"/>
            <a:ext cx="4254886"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3925702"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3925702"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q</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w √(2 h k t) · θ</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b</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p:txBody>
      </p:sp>
      <p:graphicFrame>
        <p:nvGraphicFramePr>
          <p:cNvPr id="27" name="fin sizing"/>
          <p:cNvGraphicFramePr>
            <a:graphicFrameLocks noGrp="1"/>
          </p:cNvGraphicFramePr>
          <p:nvPr>
            <p:extLst>
              <p:ext uri="{D42A27DB-BD31-4B8C-83A1-F6EECF244321}">
                <p14:modId xmlns:p14="http://schemas.microsoft.com/office/powerpoint/2010/main" val="1579011935"/>
              </p:ext>
            </p:extLst>
          </p:nvPr>
        </p:nvGraphicFramePr>
        <p:xfrm>
          <a:off x="5215006" y="1554480"/>
          <a:ext cx="6428049" cy="914400"/>
        </p:xfrm>
        <a:graphic>
          <a:graphicData uri="http://schemas.openxmlformats.org/drawingml/2006/table">
            <a:tbl>
              <a:tblPr/>
              <a:tblGrid>
                <a:gridCol w="2056976"/>
                <a:gridCol w="771366"/>
                <a:gridCol w="1799854"/>
                <a:gridCol w="1799854"/>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Painted 6061, 44 mm wide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Mass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Motor, 200 mm, fin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Shortest for ≤ 60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0.019 in (prototype)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100–120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never (max ≈ 2.0 W)</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47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66–72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never (max ≈ 3.6 W)</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0.090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68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60–65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210 mm or never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1/8 in (design, D38)</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56–59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145–185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3/16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141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53–55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125–140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1/4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189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51–52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115–125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caption"/>
          <p:cNvSpPr txBox="1"/>
          <p:nvPr/>
        </p:nvSpPr>
        <p:spPr>
          <a:xfrm>
            <a:off x="5215006" y="4864608"/>
            <a:ext cx="6428049"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ranges: flange at one temperature to heat spread over the patch. Calculated.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2026-10-22T14:47:12Z</dcterms:created>
  <dcterms:modified xsi:type="dcterms:W3CDTF">2026-10-22T14:47:12Z</dcterms:modified>
</cp:coreProperties>
</file>