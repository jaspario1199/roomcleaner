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0eb50a0-70c9-ccb3-3046-e4d8987ec4a6}">
          <p14:sldIdLst>
            <p14:sldId id="256"/>
            <p14:sldId id="257"/>
            <p14:sldId id="258"/>
          </p14:sldIdLst>
        </p14:section>
        <p14:section name="How a cable robot works" id="{d1c636a9-1f7e-9020-5594-829ff01ff3a4}">
          <p14:sldIdLst>
            <p14:sldId id="259"/>
            <p14:sldId id="260"/>
            <p14:sldId id="261"/>
            <p14:sldId id="262"/>
          </p14:sldIdLst>
        </p14:section>
        <p14:section name="From one box to modular stations" id="{75d155c9-77e9-3ec6-d559-0fb03cfe60c8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Homing and calibration" id="{6010a7e1-afd9-611c-1e4a-314f4264b782}">
          <p14:sldIdLst>
            <p14:sldId id="273"/>
            <p14:sldId id="274"/>
            <p14:sldId id="275"/>
            <p14:sldId id="276"/>
            <p14:sldId id="277"/>
          </p14:sldIdLst>
        </p14:section>
        <p14:section name="The claw" id="{7c0de59b-9c96-160e-f097-2a353954f686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Manufacturing" id="{a5f76362-ec4d-3c78-b785-cb96cdb30da5}">
          <p14:sldIdLst>
            <p14:sldId id="284"/>
            <p14:sldId id="285"/>
            <p14:sldId id="286"/>
            <p14:sldId id="287"/>
          </p14:sldIdLst>
        </p14:section>
        <p14:section name="Electronics and software" id="{f894c3c5-103c-8d00-0b85-51f30fdf979b}">
          <p14:sldIdLst>
            <p14:sldId id="288"/>
            <p14:sldId id="289"/>
            <p14:sldId id="290"/>
            <p14:sldId id="291"/>
          </p14:sldIdLst>
        </p14:section>
        <p14:section name="Status and next steps" id="{bd81b4fc-b914-36ef-a7c8-ee70a6b6d0b5}">
          <p14:sldIdLst>
            <p14:sldId id="292"/>
            <p14:sldId id="293"/>
            <p14:sldId id="294"/>
            <p14:sldId id="295"/>
          </p14:sldIdLst>
        </p14:section>
        <p14:section name="Close" id="{33f9c626-e149-6ae4-dca9-d3f7f62c721c}">
          <p14:sldIdLst>
            <p14:sldId id="296"/>
          </p14:sldIdLst>
        </p14:section>
        <p14:section name="Backup" id="{a90a5491-d570-b3f0-e671-7b00f6f5495a}">
          <p14:sldIdLst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cable robot whose four winches sit in the ceiling corners and move one claw anywhere over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 first: where it works, what it lifts, what it costs, and how it stays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talk follows the order the problems appeared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cables, one point, and the vectors that connect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Inverse kinematics of a cable robot is vector subtraction and a norm, done for each cable at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D_h = 2.17 m from the room centre to a corner. The tension doubles each time the depth halves near the ceiling; the ceiling margin is set by tension, not by collision.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force = full-spool pull / 1.5 skip margin. The pull test turns the 0.7 ratio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adding safety features changed the whole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and synchronised by design. It only stopped working once I wanted more than a motor at each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wire count, not the motors, was the problem. 18 AWG on the same run drops 0.82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Sync moved from wiring into software: time-stamped segments and a host that keeps every station's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there are electronics in every corner, the wall plate becomes a product housing.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 N is the snag case: holding torque at the empty spool. The study checks stress below 8.3 MPa (derated PETG / 3) and deflection at the cable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so far; the hardware run is the first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Unplugging a motor from an energised A4988 can kill the driver, so the plug carries only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 carries about half the heat in the sealed case. PETG softens near 80 °C. Inputs are assumptions until the hold test: 1.8 Ω per phase, 1.5 W of electronics.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Efficiency at the built length: 37 % (sheet) vs 74 % (plate); fin resistance 22.1 vs 10.9 K/W. The 200 mm length was sized for the 1/8 in plate; the thin sheet would do the same job at about 140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 first homing plan limited the robot, and what replaced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was a cheap absolute reference per 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Calculated over the working volume with 0.2 m wall and 0.4 m ceiling margins. This tradeoff is physical: software cannot remove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robot only unlocks the full workspace when k × σ fits inside the margin; otherwise it stays local.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tags: 4.85 mrad → 2.5 mm. Noise model: 0.3 px corner noise, 520 px focal length (camera not yet calibrated).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fingers to a parallel-jaw gripper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drove most of the changes; every gram of claw is a gram of laundry the winches cannot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Four-bar: ground 36.5, crank 53, rocker 50, coupler 34.7 mm. Lewis: module 1.5, PETG allowable 22.5 MPa.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found laundry from above and mapped it to the floor; the claw only had to go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Sees the grasp spot from about 17 cm; at contact the jaws hide it, so the last view guides the final approach. The gen-1 camera case and its software are kept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status: the numbers say the current claw plus jeans is too heavy. The pull test turns the 0.7 running-torque assumption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Printed PETG parts, and a heat fin cut and drilled on a manual mill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printed interface is chosen for how it prints and how I can measure it, not just how it looks in CAD.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bore fit only locates the spool; torque goes through the set screw on the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setup from the same two edges means hole-to-hole errors do not stack, so the fin bolts on without 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station board, a bring-up lesson, and how the robot is controlled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check: 0 errors. 16 nets, 55 pins match the perfboard.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Lesson: measure before trusting the software's view of the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software was built against a simulator first, so faults like lost messages and reboots were exercised before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and next steps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Placeholder: replace the box with the first-test photo and the measured numbers (calibration error bars, cable error over the 300 mm move).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that is calculated or simulated is called that; the test list is what turns it into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did it again: buy the pulleys and couplers sooner, and build one complete station to test before building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Backups follow: schematics, gear strength, safety, calculations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Stall torque 1.08 N·m at 6 V (servo rating, not 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RoomCleaner  |  Jasper Buntinx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jpg"/><Relationship Id="rId4" Type="http://schemas.openxmlformats.org/officeDocument/2006/relationships/image" Target="../media/image-32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spreadsheets/d/1UGFnkL1v305WnDYj5aj5zBtgxnxmGP7_TVRN0afZTGs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four-cable ceiling robot that picks laundry off the floor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presentation  ·  October 27, 2026</a:t>
            </a:r>
            <a:endParaRPr lang="en-US" sz="1400" dirty="0"/>
          </a:p>
        </p:txBody>
      </p:sp>
      <p:pic>
        <p:nvPicPr>
          <p:cNvPr id="6" name="Final claw: electronics housing with cam" descr="Final claw: electronics housing with camera bay, tube and grip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5955" y="365760"/>
            <a:ext cx="1686971" cy="6126480"/>
          </a:xfrm>
          <a:prstGeom prst="rect">
            <a:avLst/>
          </a:prstGeom>
        </p:spPr>
      </p:pic>
      <p:pic>
        <p:nvPicPr>
          <p:cNvPr id="7" name="Gen-1 winch station lifting a test weigh" descr="Gen-1 winch station lifting a test w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56360"/>
            <a:ext cx="310896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constraints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clothes off the floor and drop them in a hamper, from anywhere in the room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winches near the ceiling corners hold one claw on four cables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11 × 9 ft with a 9 ft ceiling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load: a pair of jeans (0.9 kg) with 2 m/s² of acceleration; first test load 1 lb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3D-printed in PETG on a hobby budget, from parts I can buy and fix myself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anchors in studs, one hard stop (the switched power strip), nobody under the robot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Winch station assembly" descr="Winch station assemb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1108" y="1517904"/>
            <a:ext cx="3427176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four winch stations (CAD)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447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739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vectors, statics, the winch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30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59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Wiring, a controller per winch, the slide-in housing, plug-in power, cooling and the fin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163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455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Bead homing, why it limited the motion, the camera-based method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021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313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Gripper evolution, the four-bar hands, overhead camera to claw camera, weight vs lift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41879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171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PETG parts, and a heat fin cut and drilled on a manual mill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8737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2029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board, bring-up, control and the phone app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559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888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test, what is built, what I learned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cables, one point, and the vectors that connect them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vectors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6029993" cy="328269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frame at a floor corner: anchor i (the pulley exit)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aseline="-40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claw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cable is the vector from the claw to its anchor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length is the distance between those two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move, compute the four lengths at every point on the path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spool turns by the change in length over its radius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form: no iteration is needed to command a move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6029993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20056"/>
            <a:ext cx="57008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70080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= √((a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Δθ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ΔL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   (r = spool radius with the wound line)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4652943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Position vectors from four anchors to th" descr="Position vectors from four anchors to the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08" y="1517904"/>
            <a:ext cx="4416552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Statics: why cable angle matters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28269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balance: the cable pulls and the weight sum to zero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Cables only pull: every tension must stay positive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claw, equal shares: tension rises as the cables flatten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N per cable 0.15 m below the anchors; 8.3 N at 0.6 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0.4 m: 12.2 N, right at the 11.9 N design force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robot keeps 0.4 m below the anchors, 0.2 m from the walls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20056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0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W / (4 sin φ),   sin φ = d / √(d²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(0.45 + 0.454) kg × 9.81 m/s² = 8.87 N</a:t>
            </a:r>
            <a:endParaRPr lang="en-US" sz="1500" dirty="0"/>
          </a:p>
        </p:txBody>
      </p:sp>
      <p:pic>
        <p:nvPicPr>
          <p:cNvPr id="8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8274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8274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90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“Cable tension”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CABLE ROBOT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winch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04495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17 stepper, printed spool, outlet pulley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 set by the driver's reference voltage: 0.85 V → 1.06 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torque &lt; holding torque: 0.7 assumed, the pull test measures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spool: more pull per amp, more turns per metre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spool: 24 N empty, 18 N full → 11.9 N design (÷ 1.5)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oundRect">
            <a:avLst>
              <a:gd name="adj" fmla="val 3488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82312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= V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(8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0.85 V / (8 × 0.1 Ω) = 1.06 A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·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I / I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× 0.36 × 1.06 / 1.5 = 0.18 N·m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r:   23.8 N at r = 7.5 mm,   17.9 N at r = 10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limit: Allegro MicroSystems, A4988 datasheet</a:t>
            </a:r>
            <a:endParaRPr lang="en-US" sz="1050" dirty="0"/>
          </a:p>
        </p:txBody>
      </p:sp>
      <p:pic>
        <p:nvPicPr>
          <p:cNvPr id="9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“Winch pull”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adding safety features changed the whole architecture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idea: one central controller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Arduino Uno and a CNC shield with four A4988 drivers, in a single box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sends moves; the shield steps all four motors from one clock, so sync is free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motor gets a long 4-wire cable from the box to its corner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worked on the bench: a gen-1 station lifted a test weight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1: central shield with four drivers; spool plate on the wall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did not scale: the wiring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35584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wanted more safety: a homing switch and an encoder at every winch, plus fault detection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corner: motor 4 + switch 2 + encoder 4 =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conductors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4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cable routes are 6, 21, 23 and 32 ft (82 ft)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encoder's I²C bus is meant for centimetres, not 10 m runs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phase currents in long cables also radiate noise into the sensor lines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oundRect">
            <a:avLst>
              <a:gd name="adj" fmla="val 4348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9320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Conductor = n · ΣL:   10 × 82 ft = 820 ft   vs   2 × 82 ft = 164 ft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ΔV = I · R′ · 2L = 2 A × 4.016 mΩ/ft × 64 ft = 0.51 V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AWG on the longest run (32 ft); 2 A is illustrative</a:t>
            </a:r>
            <a:endParaRPr lang="en-US" sz="1050" dirty="0"/>
          </a:p>
        </p:txBody>
      </p:sp>
      <p:pic>
        <p:nvPicPr>
          <p:cNvPr id="9" name="Chart from the calculation sheet: Wiring" descr="Chart from the calculation sheet: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“Wiring”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 controller in every winch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9044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station: XIAO ESP32-C3 + A4988 driver + 5 V buck; only 12 V power travels, on 2 wires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and encoder wires stay inside the station, a few centimetres long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computer plans the path and sends each station timed segments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station runs its segments on its own clock; any lost link → hold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timing skew between stations becomes cable mismatch, so segments are time-stamped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about 5× less wire, and every station can be built and tested alone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4184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v · Δt = 50 mm/s × 50 ms = 2.5 mm of cable mismatch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1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2: the station carries its own controller, driver and buck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units modular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1 was a plate screwed into the wall: fine for a bare motor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corner now carries a controller, driver, buck, switch and encoder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protection, a clean look and a path for heat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each station became a housing: motor, spool, pulley and electronics in one unit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unit in all four corners: build one, test one, copy 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907397"/>
            <a:ext cx="2370052" cy="163756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430937"/>
            <a:ext cx="2370052" cy="2590485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Gen-1 corner plate (left) vs the gen-2 station housing (right)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Slide-in mount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66674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take stations down often: to test, rework, repair or modify them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Drilling in and out each time damages the wall and moves the anchor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wall frame goes into a stud once; the station slides in and locks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it out, rework it, slide it back: the frame keeps the anchor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the line pulls the station away from the wall (pull-out and prying)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target: SF 3 at 34 N; SolidWorks study planned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312664"/>
            <a:ext cx="5586216" cy="950976"/>
          </a:xfrm>
          <a:prstGeom prst="roundRect">
            <a:avLst>
              <a:gd name="adj" fmla="val 5769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404104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641848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3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25 MPa / 3 = 8.3 MPa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Allowable: derated PETG yield, 25 MPa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Wall frame and slide-in piece" descr="Wall frame and slide-in 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8405" y="1517904"/>
            <a:ext cx="2175641" cy="44165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2" name="Wall frame and slide-in piece" descr="Wall frame and slide-in 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52938"/>
            <a:ext cx="2370052" cy="3146485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wall frame (left) and the slide-in piece (right)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Self-calibration: set it up anywhere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the stations go back up, the robot measures its own geometry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tape measure, no numbers typed in, nothing for a user to get wrong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 camera reads a printed floor board (a grid of tags) to get the claw's pose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moves through a set of poses and fits the anchor positions and cable lengths by least squares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any room the cables can reach, so it can become a consumer product</a:t>
            </a:r>
            <a:endParaRPr lang="en-US" sz="2000" dirty="0"/>
          </a:p>
        </p:txBody>
      </p:sp>
      <p:sp>
        <p:nvSpPr>
          <p:cNvPr id="5" name="calibration step 1"/>
          <p:cNvSpPr/>
          <p:nvPr/>
        </p:nvSpPr>
        <p:spPr>
          <a:xfrm>
            <a:off x="6546336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19488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7" name="calibration step 2"/>
          <p:cNvSpPr/>
          <p:nvPr/>
        </p:nvSpPr>
        <p:spPr>
          <a:xfrm>
            <a:off x="8348874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22026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9" name="calibration step 3"/>
          <p:cNvSpPr/>
          <p:nvPr/>
        </p:nvSpPr>
        <p:spPr>
          <a:xfrm>
            <a:off x="10151413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24565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1" name="calibration step 4"/>
          <p:cNvSpPr/>
          <p:nvPr/>
        </p:nvSpPr>
        <p:spPr>
          <a:xfrm>
            <a:off x="10151413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4565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3" name="calibration step 5"/>
          <p:cNvSpPr/>
          <p:nvPr/>
        </p:nvSpPr>
        <p:spPr>
          <a:xfrm>
            <a:off x="8348874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22026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5" name="calibration step 6"/>
          <p:cNvSpPr/>
          <p:nvPr/>
        </p:nvSpPr>
        <p:spPr>
          <a:xfrm>
            <a:off x="6546336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9488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83698" y="2002536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86237" y="2002536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897234" y="2496312"/>
            <a:ext cx="0" cy="219456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9886237" y="3209544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8083698" y="3209544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46336" y="3931920"/>
            <a:ext cx="5096719" cy="205740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23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43" y="3986784"/>
            <a:ext cx="536306" cy="1947672"/>
          </a:xfrm>
          <a:prstGeom prst="rect">
            <a:avLst/>
          </a:prstGeom>
        </p:spPr>
      </p:pic>
      <p:sp>
        <p:nvSpPr>
          <p:cNvPr id="24" name="caption"/>
          <p:cNvSpPr txBox="1"/>
          <p:nvPr/>
        </p:nvSpPr>
        <p:spPr>
          <a:xfrm>
            <a:off x="6546336" y="6035040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calibration; the claw camera looks straight down at the board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power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station has one cable: a 16 AWG pair from a fused 12 V supply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to use; unplug and store the cables when the robot is not needed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slide off the wall frames if wanted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cut at 9, 24, 26 and 35 ft (94 ft of a 100 ft roll), a fuse per branch at the supply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motor stays wired inside the station, so it is never unplugged under power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switched power strip is the one hard stop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Station power wiring" descr="Station power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Station power wiring" descr="Station power wi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station: the buck converter and its wiring; only 12 V comes 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28269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sealed printed housing traps the motor's heat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 at the loaded motor mount softens and creeps: 60 °C limit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vents, plus an aluminium fin straight up through the shell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motor → shell air → room, the fin a second path out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1.06 A: sealed 64 °C without the fin, 46 °C with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 hold test will measure it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20056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I² R =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ΔT = q ·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(heat flow × thermal resistance)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 in parallel with the shell:  1/R =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</a:t>
            </a:r>
            <a:endParaRPr lang="en-US" sz="1500" dirty="0"/>
          </a:p>
        </p:txBody>
      </p:sp>
      <p:pic>
        <p:nvPicPr>
          <p:cNvPr id="8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51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2517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014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“Motor temperature”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BOX TO MODULAR STATIONS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fin: how much length is useful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04495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 end runs cooler, so each extra mm does less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 in sheet (built):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95 % of a long fin's heat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1/8 in plate (drawn):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95 %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200 mm above the cover: past 136 mm the sheet adds &lt; 5 %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Looks: straight up at motor width (44 mm), matte black, one clean line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radiates more than bare aluminium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oundRect">
            <a:avLst>
              <a:gd name="adj" fmla="val 3488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82312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η = tanh(mL) / (mL)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95 % length:  tanh(mL) = 0.95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L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160 W/m·K, h = 7 W/m²·K, t = 0.48 mm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136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equations: Incropera et al., Fundamentals of Heat and Mass Transfer, ch. 3</a:t>
            </a:r>
            <a:endParaRPr lang="en-US" sz="1050" dirty="0"/>
          </a:p>
        </p:txBody>
      </p:sp>
      <p:pic>
        <p:nvPicPr>
          <p:cNvPr id="9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434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2434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006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“Heat fin”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first homing plan limited the robot, and what replaced it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plan: bead homing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bead on each cable trips a switch at the outlet → a known cable length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zeroes itself from that: set it up anywhere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expected that to be enough, possibly even without encoders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fixed early: the switch moved below the pulley, so the bead never rides over the pulley groove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Homing switch on the bench" descr="Homing switch on the 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KW12-3 homing switch on the bench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beads limit the motion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593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bead cannot pass the outlet, so a cable can never be shorter than its homing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home all four at one point, each bead sits at that point's length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claw can never get closer to any anchor than from that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at the room centre 1 m up → about 5 % of the working volume reachable; 2 m up → about 29 %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vision alone knows cable length to ~20–25 mm, while a bead allows ~12 mm of overtravel: a bead search was not safe either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30952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≥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  for every cable 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Reachable: every cable at or above its homing length</a:t>
            </a:r>
            <a:endParaRPr lang="en-US" sz="1500" dirty="0"/>
          </a:p>
        </p:txBody>
      </p:sp>
      <p:pic>
        <p:nvPicPr>
          <p:cNvPr id="8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913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9137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676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“Bead homing”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calibration: camera, floor board and margins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35584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Startup: take up slack one cable at a time, lift, then look at the floor board from several poses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Least-squares fit of the anchor positions and cable zero lengths; held-out poses check the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comes from margins, not precision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m below the anchors and 0.2 m inside the walls unless the error bars allow more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Beads stay as end-of-travel safety switches; encoders watch for lost steps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oundRect">
            <a:avLst>
              <a:gd name="adj" fmla="val 4348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9320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over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)²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workspace only if k · σ ≤ margin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d: cable paid out at pose k (encoder);  p: claw position from the camera</a:t>
            </a:r>
            <a:endParaRPr lang="en-US" sz="1050" dirty="0"/>
          </a:p>
        </p:txBody>
      </p:sp>
      <p:sp>
        <p:nvSpPr>
          <p:cNvPr id="9" name="calibration step 1"/>
          <p:cNvSpPr/>
          <p:nvPr/>
        </p:nvSpPr>
        <p:spPr>
          <a:xfrm>
            <a:off x="6546336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19488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11" name="calibration step 2"/>
          <p:cNvSpPr/>
          <p:nvPr/>
        </p:nvSpPr>
        <p:spPr>
          <a:xfrm>
            <a:off x="8348874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22026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13" name="calibration step 3"/>
          <p:cNvSpPr/>
          <p:nvPr/>
        </p:nvSpPr>
        <p:spPr>
          <a:xfrm>
            <a:off x="10151413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24565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5" name="calibration step 4"/>
          <p:cNvSpPr/>
          <p:nvPr/>
        </p:nvSpPr>
        <p:spPr>
          <a:xfrm>
            <a:off x="10151413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24565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7" name="calibration step 5"/>
          <p:cNvSpPr/>
          <p:nvPr/>
        </p:nvSpPr>
        <p:spPr>
          <a:xfrm>
            <a:off x="8348874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22026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9" name="calibration step 6"/>
          <p:cNvSpPr/>
          <p:nvPr/>
        </p:nvSpPr>
        <p:spPr>
          <a:xfrm>
            <a:off x="6546336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19488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83698" y="2391156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86237" y="2391156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897234" y="3090672"/>
            <a:ext cx="0" cy="219456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886237" y="4009644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8083698" y="4009644"/>
            <a:ext cx="219456" cy="0"/>
          </a:xfrm>
          <a:prstGeom prst="line">
            <a:avLst/>
          </a:prstGeom>
          <a:noFill/>
          <a:ln w="19050">
            <a:solidFill>
              <a:srgbClr val="8A8F98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46336" y="4846320"/>
            <a:ext cx="5096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fit is not good enough: more poses, then fit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HOMING AND CALIBRATION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floor board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9044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error becomes position error through the lever arm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tag: 12.9 mrad × 0.51 m ≈ 6.6 mm per frame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tags in view: about 0.7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is a printed grid at 250 mm pitch: cheap, and it works in any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frames helps only with random noise, not with a fixed bias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4184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L = 12.9 mrad × 0.51 m = 6.6 mm</a:t>
            </a:r>
            <a:endParaRPr lang="en-US" sz="1500" dirty="0"/>
          </a:p>
        </p:txBody>
      </p:sp>
      <p:pic>
        <p:nvPicPr>
          <p:cNvPr id="8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“Floor board”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fingers to a parallel-jaw gripper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 evolution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4698663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tendon-driven TPU fingers → a geared clamp → a lighter open frame → the final parallel-jaw gripper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fixed a problem I found: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clamp's jaws could not pinch thin fabric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v6 clamp was about 4.6× its mass budget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v7 cut the gearbox frame to 143 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Final: my gear housing and arms, with hands designed to fit them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58783" y="1463040"/>
            <a:ext cx="139319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Claw generations" descr="Claw gene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647" y="2798398"/>
            <a:ext cx="1283470" cy="18555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89141" y="1463040"/>
            <a:ext cx="139319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Claw generations" descr="Claw gene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05" y="1648431"/>
            <a:ext cx="1283470" cy="415549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719499" y="1463040"/>
            <a:ext cx="139319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Claw generations" descr="Claw genera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363" y="1923627"/>
            <a:ext cx="1283470" cy="360510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0249857" y="1463040"/>
            <a:ext cx="139319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2" name="Claw generations" descr="Claw generat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721" y="2622450"/>
            <a:ext cx="1283470" cy="2207459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5658783" y="6062472"/>
            <a:ext cx="59842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Fingers, v6 clamp, v7 open frame, final gripper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gripper: gears and four-bar hands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364328" cy="328269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→ 18T pinion → 36T/24T compound → 24T sync gear: mirror-image jaws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hand: gear crank (53 mm) + swing arm (50 mm), a near-parallelogram four-bar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jaws stay parallel within about 1° over the stroke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mm opening; closing drops the tips ~38 mm: a scoop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 teeth at servo stall: safety factor about 2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Swept in CAD: no collisions from open to closed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364328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20056"/>
            <a:ext cx="503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0351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Gear ratio i = 36 / 18 = 2   (servo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crank)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Grip: 2 μ N ≥ m g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N ≥ 7.4 N per jaw   (1 lb, μ = 0.3)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Lewis: 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4448" y="1463040"/>
            <a:ext cx="5318608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Hands on the four-bar at open, mid and c" descr="Hands on the four-bar at open, mid and clo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476049"/>
            <a:ext cx="5208880" cy="2500262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on the linkage: open, mid, closed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setup: an overhead camera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35584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camera on the ceiling, looking straight down and framing the whole floor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that works from words (YOLO-World) finds “sock”, “towel”, “t-shirt” with no training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item's bottom-centre pixel, where it meets the floor, becomes a floor position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straight-down camera: scale by the room size; tilted camera: a homography from four taped floor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 then flies to that point and grabs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camera board sat in a printed ceiling case: shell plus a screw-on lens bezel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oundRect">
            <a:avLst>
              <a:gd name="adj" fmla="val 4348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9320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down:  x = u · W / w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y = v · D / h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Tilted:  (x, y, 1) ∝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(u, v, 1),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fitted from 4 floor points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u, v: pixel;  W × D: floor size;  w × h: image size in pixels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Gen-1 overhead camera case" descr="Gen-1 overhead camera 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1558497"/>
            <a:ext cx="4986991" cy="433536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Gen-1 ceiling camera case: shell and lens bezel (45 g PETG)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the camera to the claw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overhead camera was one more device to mount, wire and calibrate in every room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 and cables hide the spot right where it grasps: it cannot see the grip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floor map assumes a flat floor, but a pile of clothes has height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a XIAO ESP32-S3 Sense camera in a bay in the claw's housing, looking straight down the tube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camera, two jobs: it guides the grasp up close and reads the floor board for calibration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it sees less of the room at once, so the robot scans by moving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631" y="1517904"/>
            <a:ext cx="1216130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bay on the electronics housing (cover in navy)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vs lift: where it stands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593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limit 1.06 A → running pull ≈ 18–24 N per winch (full vs empty spool)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1.1 kg total lift at the worst point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claw is not weighed yet: CAD says ~0.76 kg printed, plus a 0.1 kg battery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jeans that is above the capacity today: this is the open problem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Options: lighten the claw, a 3:1 winch reduction (~2.7× pull), or a lighter demo load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a luggage-scale pull test on one station decides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30952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 (g + a),   0 &lt;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11.9 N   (worst point in the room)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≈ f ρ V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servo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0.55 × 927 g + 198 g + 55 g ≈ 0.76 kg</a:t>
            </a:r>
            <a:endParaRPr lang="en-US" sz="1500" dirty="0"/>
          </a:p>
        </p:txBody>
      </p:sp>
      <p:pic>
        <p:nvPicPr>
          <p:cNvPr id="8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values: my calculation sheet (Google Sheets), “Lift budget” tab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PETG parts, and a heat fin cut and drilled on a manual mill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parts to be printed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6029993" cy="3593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 on a Creality K1 (0.4 mm nozzle, 0.2 mm layers); PLA creeps under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Orientation: flat face on the bed, loads along the layers, no supports on mating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holes come out undersize (bead rounding, shrink, first-layer squash)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fits get a lead-in: 687 bearing pocket Ø14.075 with a Ø14.000 entry lip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Heat-set M3 inserts where screws are reused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parts: camera bay printed into the housing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6029993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30952"/>
            <a:ext cx="57008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7008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 c = (D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u) −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shaft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u = printer undersize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Spool: Ø5.2 too tight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 ≥ 0.2 mm, so Ø5.45 gives c ≈ 0.25 mm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2257891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Printed shells and the slicer" descr="Printed shells and the slic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4977" y="2294071"/>
            <a:ext cx="2148163" cy="286421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385164" y="1463040"/>
            <a:ext cx="2257891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1" name="Printed shells and the slicer" descr="Printed shells and the sli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0028" y="2294071"/>
            <a:ext cx="2148163" cy="2864218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990113" y="6062472"/>
            <a:ext cx="4652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PETG station shells; slicing the plate for the K1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measure, adjust: the spool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364328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longer than the motor shaft could engage, so it was shortened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the Ø5.2 bore printed too tight on the 5 mm shaft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v3: bore opened to Ø5.45 with a D-flat; the set screw on the flat carries the torque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Ø15 core and 16 mm drum: 20 ft of line in 5 layers with 8 mm of flange margin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 fit coupon before every new interface, measured with calipers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168142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Spool v1, v2, v3" descr="Spool v1, v2, v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933089"/>
            <a:ext cx="1571701" cy="158618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43037" y="1463040"/>
            <a:ext cx="168142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Spool v1, v2, v3" descr="Spool v1, v2, v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901" y="2989477"/>
            <a:ext cx="1571701" cy="14734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961626" y="1463040"/>
            <a:ext cx="168142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Spool v1, v2, v3" descr="Spool v1, v2, v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6490" y="2933646"/>
            <a:ext cx="1571701" cy="1585068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Spool v1, v2, v3 (CAD)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Machining the heat fin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364328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drawing first: a 1:1 US Letter print with a hole template and inch dimensions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Sheared the blank from 0.019 in aluminium sheet: 44 × 250 mm (±0.5)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mill, one setup: all five holes located from the bottom and left edges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7/8 in pilot for the motor boss and 4 × Ø3.4 on the 31 mm motor square, ±0.1 mm to each other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Deburred, then matte black paint except the motor contact square; thermal paste there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fit on the NEMA 17: boss centred, all four screws lined up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604440" cy="2162556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Fin manufacturing photos" descr="Fin manufacturing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1608801"/>
            <a:ext cx="2494712" cy="187103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38615" y="1463040"/>
            <a:ext cx="2604440" cy="2162556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Fin manufacturing photos" descr="Fin manufacturing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025" y="1517904"/>
            <a:ext cx="1539621" cy="205282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24448" y="3735324"/>
            <a:ext cx="2604440" cy="2162556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Fin manufacturing photos" descr="Fin manufacturing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857" y="3790188"/>
            <a:ext cx="1539621" cy="20528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38615" y="3735324"/>
            <a:ext cx="2604440" cy="2162556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2" name="Fin manufacturing photos" descr="Fin manufacturing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1025" y="3790188"/>
            <a:ext cx="1539621" cy="2052828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324448" y="597103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Shear and blanks, mill setup with the drawing, drilling, the finished fin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station board, a bring-up lesson, and how the robot is controlled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board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4476774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boots disabled (EN pull-up): a reset never steps the motor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and the 5 V buck cannot back-feed each other: a link jumper plus a Schottky diode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µF at the driver's motor supply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for the motor, homing switch, encoder and 12 V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KiCad schematic is generated from the soldered board's net list, so the two cannot disagree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303450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2691898"/>
            <a:ext cx="2924772" cy="20685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08555" y="1463040"/>
            <a:ext cx="303450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3419" y="1776332"/>
            <a:ext cx="2924772" cy="3899697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436894" y="6062472"/>
            <a:ext cx="62061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schematic (left), checked net by net against the soldered perfboard (right)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motor that would not move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 said it was stepping; the shaft did not turn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meter said the logic rail was 1.14 V instead of 3.3 V: a bad connection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it moved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then: a meter checklist before any code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VDD, SLEEP, ENABLE and the buck output, every new 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Bench wiring and bring-up" descr="Bench wiring and bring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Bench wiring and bring-up" descr="Bench wiring and bring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wiring and bring-up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AND SOFTWARE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software and phone app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142439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plans paths; the stations execute timed segments; a lost link means hold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never disables: there is no brake, so faults and pause keep holding torque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app over home Wi-Fi: robot status, live claw camera, guided setup, chat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moves the robot asks “yes” first; pause runs at once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in a full simulator of the stations and the claw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02559" y="1463040"/>
            <a:ext cx="1755392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7423" y="1945487"/>
            <a:ext cx="1645664" cy="35613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95111" y="1463040"/>
            <a:ext cx="1755392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75" y="1945487"/>
            <a:ext cx="1645664" cy="356138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887663" y="1463040"/>
            <a:ext cx="1755392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0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527" y="1945487"/>
            <a:ext cx="1645664" cy="356138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102559" y="6062472"/>
            <a:ext cx="554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app: home, camera, chat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up in studs, powered from the switched power strip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Self-calibration on the real hardware: slack take-up, lift, floor-board poses, fit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short lift and a 300 mm move at 50 mm/s with the 1 lb test load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Logged: cable lengths, encoder counts, motor temperatures and the fit's error bars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limits written before the run</a:t>
            </a:r>
            <a:endParaRPr lang="en-US" sz="2000" dirty="0"/>
          </a:p>
        </p:txBody>
      </p:sp>
      <p:sp>
        <p:nvSpPr>
          <p:cNvPr id="5" name="first test photo placeholder"/>
          <p:cNvSpPr/>
          <p:nvPr/>
        </p:nvSpPr>
        <p:spPr>
          <a:xfrm>
            <a:off x="6546336" y="1463040"/>
            <a:ext cx="5096719" cy="4434840"/>
          </a:xfrm>
          <a:prstGeom prst="rect">
            <a:avLst/>
          </a:prstGeom>
          <a:solidFill>
            <a:srgbClr val="F2F2F4"/>
          </a:solidFill>
          <a:ln w="12700">
            <a:solidFill>
              <a:srgbClr val="8A8F98"/>
            </a:solidFill>
            <a:prstDash val="dash"/>
          </a:ln>
        </p:spPr>
      </p:sp>
      <p:sp>
        <p:nvSpPr>
          <p:cNvPr id="6" name="placeholder text"/>
          <p:cNvSpPr txBox="1"/>
          <p:nvPr/>
        </p:nvSpPr>
        <p:spPr>
          <a:xfrm>
            <a:off x="6546336" y="3406140"/>
            <a:ext cx="5096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/ video from the first test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stations, station boards, heat fins, gripper parts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checked in CAD: the hands and the camera housing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control: simulated, then the first test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tests, with pass limits written first: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winch pull test (decides the capacity fix)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90-min hold test: motor and printed mount under 60 °C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SolidWorks static and thermal studies of the station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four-station lift: 1 lb, 300 mm at 50 mm/s, within 2 mm per cable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the heat fin test-fitted on the motor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before trusting a margin: the driver limit and the 1.14 V rail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test coupon before the part: the spool bore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tolerance where it matters: one mill setup for the fin's holes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the worst case: stall, the corner of the room, the hottest hour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Modularity paid for itself: every station can be pulled, fixed and put back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each requirement and delete parts: the IMU, the overhead camera, the five-finger hand, the long motor harnesses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Final gripper head" descr="Final gripper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751" y="1517904"/>
            <a:ext cx="2567890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Jasper Buntinx  ·  jasper_buntinx@tamu.edu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claw electrical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4476774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protected 2S pack (7.4 V, 2200 mAh), 5 A fuse, main switch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 regulator for the servo only; separate 5 V buck and Schottky diode for the controller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read through 200k / 100k: 8.4 V → 2.80 V at the ADC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≈ 2.8–3.1 A against a ≈ 3 A pack rating: stalls must stay short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on the claw only with the switch off, attended, at ≤ 1 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6206161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6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1570308"/>
            <a:ext cx="6096433" cy="43117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gear strength (Lewis)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5586216" cy="390448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1.5, PETG allowable 22.5 MPa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V servo stall: pinion SF 2.05, 36T gear 2.50, sync gear 2.00 (one jaw carrying the load)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was screened first: SF 0.35–0.41, so the module went up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9DEE5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41848"/>
            <a:ext cx="5257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</a:t>
            </a:r>
            <a:endParaRPr lang="en-US" sz="10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d,   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Compound and follower gears" descr="Compound and follower gea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434134"/>
            <a:ext cx="2370052" cy="25840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1" name="Compound and follower gears" descr="Compound and follower gea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712693"/>
            <a:ext cx="2370052" cy="20269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safety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9802094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hard stop: the switched power strip; faults and pause hold torque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anchor into studs; the line load is mostly pull-out and prying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stands under the robot while it moves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 battery: protected pack, charged with the switch off and attended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safety-rated function is claimed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calculations and sources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548640" y="1463040"/>
            <a:ext cx="9802094" cy="47548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chart comes from my calculation sheet in Google Sheets, one tab per topic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tension, winch pull, heat fin, motor temperature, wiring, bead homing, floor board, lift budget, gears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a formula on its inputs; inputs are marked, with their source or assumption</a:t>
            </a:r>
            <a:endParaRPr lang="en-US" sz="20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used: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Incropera, DeWitt, Bergman, Lavine: Fundamentals of Heat and Mass Transfer, ch. 3 (extended surfaces)</a:t>
            </a:r>
            <a:endParaRPr lang="en-US" sz="20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Allegro MicroSystems: A4988 datasheet (current limit)</a:t>
            </a:r>
            <a:endParaRPr lang="en-US" sz="2000" dirty="0"/>
          </a:p>
        </p:txBody>
      </p:sp>
      <p:sp>
        <p:nvSpPr>
          <p:cNvPr id="6" name="sheet link"/>
          <p:cNvSpPr txBox="1"/>
          <p:nvPr/>
        </p:nvSpPr>
        <p:spPr>
          <a:xfrm>
            <a:off x="54864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3">
  <a:themeElements>
    <a:clrScheme name="RoomCleaner v3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3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2026-10-21T20:38:09Z</dcterms:created>
  <dcterms:modified xsi:type="dcterms:W3CDTF">2026-10-21T20:38:09Z</dcterms:modified>
</cp:coreProperties>
</file>