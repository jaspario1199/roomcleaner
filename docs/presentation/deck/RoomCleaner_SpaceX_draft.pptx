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2eb1a0d-10d9-3a47-abda-8aa463c34a93}">
          <p14:sldIdLst>
            <p14:sldId id="256"/>
            <p14:sldId id="257"/>
            <p14:sldId id="258"/>
          </p14:sldIdLst>
        </p14:section>
        <p14:section name="Act 1 · Physics sets the limits" id="{12bb218e-95d4-0c64-c05e-a761388223b4}">
          <p14:sldIdLst>
            <p14:sldId id="259"/>
            <p14:sldId id="260"/>
            <p14:sldId id="261"/>
            <p14:sldId id="262"/>
          </p14:sldIdLst>
        </p14:section>
        <p14:section name="Act 2 · Making it buildable" id="{f9ac0155-e404-6081-b282-894decffcb32}">
          <p14:sldIdLst>
            <p14:sldId id="263"/>
            <p14:sldId id="264"/>
            <p14:sldId id="265"/>
            <p14:sldId id="266"/>
            <p14:sldId id="267"/>
          </p14:sldIdLst>
        </p14:section>
        <p14:section name="Act 3 · Electronics and debugging" id="{69a40975-27b6-a297-252e-55dc373f3390}">
          <p14:sldIdLst>
            <p14:sldId id="268"/>
            <p14:sldId id="269"/>
            <p14:sldId id="270"/>
          </p14:sldIdLst>
        </p14:section>
        <p14:section name="Close" id="{a8925f4d-0674-2308-7bf2-5e157e075995}">
          <p14:sldIdLst>
            <p14:sldId id="271"/>
            <p14:sldId id="272"/>
          </p14:sldIdLst>
        </p14:section>
        <p14:section name="Backups" id="{85c1143b-4779-23fb-dfb6-59d8a62140ab}">
          <p14:sldIdLst>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 (budget)</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one-phase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upper bound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Sheet1!$B$2:$B$4</c:f>
              <c:numCache>
                <c:formatCode>General</c:formatCode>
                <c:ptCount val="3"/>
                <c:pt idx="0">
                  <c:v>64</c:v>
                </c:pt>
                <c:pt idx="1">
                  <c:v>51</c:v>
                </c:pt>
                <c:pt idx="2">
                  <c:v>47</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Sheet1!$C$2:$C$4</c:f>
              <c:numCache>
                <c:formatCode>General</c:formatCode>
                <c:ptCount val="3"/>
                <c:pt idx="0">
                  <c:v>46</c:v>
                </c:pt>
                <c:pt idx="1">
                  <c:v>41</c:v>
                </c:pt>
                <c:pt idx="2">
                  <c:v>39</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Sealed (the motivation)</c:v>
                  </c:pt>
                  <c:pt idx="1">
                    <c:v>Vented (planned test)</c:v>
                  </c:pt>
                  <c:pt idx="2">
                    <c:v>Open air</c:v>
                  </c:pt>
                </c:lvl>
              </c:multiLvlStrCache>
            </c:multiLvlStrRef>
          </c:cat>
          <c:val>
            <c:numRef>
              <c:f>Sheet1!$D$2:$D$4</c:f>
              <c:numCache>
                <c:formatCode>General</c:formatCode>
                <c:ptCount val="3"/>
                <c:pt idx="0">
                  <c:v>40</c:v>
                </c:pt>
                <c:pt idx="1">
                  <c:v>36</c:v>
                </c:pt>
                <c:pt idx="2">
                  <c:v>35</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first test load 1 lb. About 30 minutes of content: 12 decision slides and 7 backups.
LIKELY QUESTION 1: Give me the 30-second version.
ANSWER: Four wall-mounted winch stations hold a claw on four cables. The claw is designed to descend onto laundry, close its jaws with one servo, carry the load and release it over a hamper. I will show twelve decisions where a calculation or a measurement forced me to change the plan, including the ones that did not work out.
LIKELY QUESTION 2: Does it work today?
ANSWER: Not end to end yet. The stations and the claw are designed and partly built; the four-station test has not run and the claw has not been weighed. Slide 16 lists what is measured and what is still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project: I bought the motors, drivers, boards and a few modules, and the station and claw design, the printed and machined parts, the bench wiring and the test plan are mine.
NUMBERS: Jul 16 start (simulator, BOM, first CAD); Aug gen-1 printed plate and bench; Oct 7 SolidWorks gen-2 station; Oct 20 gripper v6; Oct 27 panel. Purchased: stepper motors, A4988 drivers, ESP32 boards, DROK buck, MG996R servo, bearings, pulleys, line. Tags: MEASURED = instrument on hardware, CALCULATED = hand or CAD calculation, SIMULATED = ran in a model, PLANNED = not done yet.
LIKELY QUESTION: What did you actually do yourself?
ANSWER: I designed the stations and the claw in SolidWorks, printed and machined the parts (PETG for the structural parts, the fins sheared and drilled on a manual mill), wired the bench and perfboard electronics and wrote the test plan. I made the architecture decisions: margins instead of precision, no IMU. The motors, drivers, boards, buck, servo, bearings, pulleys and line are purchased.
If you did this yourself, you can say it in the first person: "I designed the stations and the claw in SolidWorks, printed and machined the parts, wired the bench electronics and wrote the test plan." Say that you wrote or specified the control software only if it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goes from anywhere on the floor into the hamper with nobody touching it.
NUMBERS: Payload 0.9 kg is a provisional screening reference for jeans (the first gate is 1 lb, 0.454 kg), plus 2 m/s² vertical acceleration. Claw mass budget 0.45 kg; the printed claw is estimated at 1.05 to 1.25 kg and has not been weighed. Four stations designed to screw into wall studs. The switched power strip is the only stop. Nobody under the robot.
LIKELY QUESTION 1: Why 0.9 kg?
ANSWER: It is a provisional screening reference for a pair of jeans, not a measured garment; the first physical test load is 1 lb. Weighing a representative pair is on my list.
LIKELY QUESTION 2: Your only stop is a power strip and cutting power drops the claw. What is the safety case, and what happens if a stepper skips?
ANSWER: It is a deliberate category-0 stop with no brake: cutting 12 V removes holding torque and the claw falls. The accepted mitigation is that nobody stands under the robot while it moves, with a 1 lb first gate and a slow final approach. In software a stop never disables: every fault and pause holds torque, only a disarm confirmed with the claw supported releases it, and nothing resumes after a reboot. No safety-rated function is claimed (ISO 13849 and IEC 61508 are not claimed); a controlled stop or a self-locking drive is a gen-3 item. Steppers can lose steps silently on a snag or shock; the four-station test requires no step loss and at most 2 mm per cable, and the station board has an encoder port, but none of this has run on four stations and the control behaviour is simulated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limits come from cable geometry and the claw's own weight, not the payload: walls bind at task height and the ceiling binds above it.
NUMBERS: Centred claw, four equal shares: W = (0.454 + 0.45) kg x 9.81 = 8.86 N; D_h = 2.17 m (centre to corner of an 11 x 9 ft room). T = 32.1 / 16.2 / 8.3 / 4.6 N per cable at 0.15 / 0.30 / 0.60 / 1.20 m below the anchors; with +2 m/s² 38.6 / 19.4 / 10.0 / 5.5 N. Winch design force: 11.9 N if the 0.36 N·m rating is a one-phase figure (17.9 N running at a full spool, divided by a 1.5 skip margin) or 8.4 N if it is a two-phase rating; both are drawn on the chart. Whole-room worst case by linear program (best split, 0.2 m wall margin, one-phase basis, 1.5 margin): at the 0.4 m ceiling limit the largest tension is 2.42 x weight and the total the winches hold is 0.50 kg; at the highest task pose (0.99 m below the anchors) 1.10 x weight and 1.10 kg. On the two-phase basis those capacities are about 0.71 times lower (about 0.35 kg and 0.78 kg). The 0.45 kg claw is a budget; a printed claw of 1.05 to 1.25 kg would raise every tension (centred, 0.6 m: 13.8 to 15.7 N instead of 8.3 N).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ANSWER: Tension doubles each time the depth halves, so the planner never lets the claw closer than 0.4 m to the anchors. At that limit the same linear program only allows 0.50 kg total (2.42 x weight) against 1.10 kg at task height, so the ceiling is the harder case and the margin is a floor, not a comfortable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and the fix, a smaller core, 3:1 gearing or a lighter payload, stays open until a pull test gives a real number.
NUMBERS: Vref pot maximum 0.85 V on the red R100 boards with 3.3 V logic (measured); a second reading on Oct 21 was 0.79 V, which gives 0.99 A and lowers every pull by 7 %. I = Vref / (8 Rs) = 0.85 / 0.8 = 1.06 A. Torque basis: the 0.36 N·m rating is for two coils at 1.5 A; scaled linearly it gives 0.255 N·m holding at 1.06 A. The driver limits the combined current, so if the rating is a two-phase figure the holding torque is 0.18 N·m. Running torque = 0.7 x holding (the 0.7 is assumed). Pull T = tau / r: 23.8 N at the 7.5 mm core and 17.9 N at a full 10 mm spool (one-phase); 16.8 N and 12.6 N (two-phase). Design force (divided by 1.5): 15.9 / 11.9 N one-phase, 11.2 / 8.4 N two-phase. Snag case (holding torque over core radius) 34 N, or 24 N two-phase. On the line centre rather than the outer surface the lever arms are 7.75 and 9.75 mm (23.0 and 18.3 N). Line diameter is assumed 0.5 mm and not yet measured (0.6 mm gives 17.0 N and 1.0 mm gives 12.3 N at a full spool). Largest claw that still lifts 0.9 kg of jeans at the highest task pose, one-phase upper bounds: 202 g (Ø15 core, 1.10 kg held), 397 g (Ø12), 478 g (Ø10, +25 %, but it needs a spool redesign for the set screw and tie-off), 570 g (Ø8, which fails the 20:1 bend ratio). Needed: 0.45 kg claw + 0.9 kg = 1.35 kg, which is 1.22 x what the Ø15 spool can hold. A printed claw of 1.05 to 1.25 kg gives 2.0 to 2.2 kg with jeans. A 3:1 reduction at each winch buys about 2.7 x (2.98 to 3.09 kg held at a 0.2 m wall margin).
LIKELY QUESTION 1: Your own numbers say the winches can't lift your claw plus jeans. Does the robot work, and why is 450 g still the requirement?
ANSWER: Not yet, and the deck says so. At 1.06 A direct drive the four winches hold about 1.1 kg total in the worst case at the highest task pose and 0.50 kg at the 0.4 m ceiling limit, and only about 0.71 times that (roughly 30 % less) if the motor rating is a two-phase figure. The 1 lb test load plus the 0.45 kg budget claw is 0.9 kg. The printed claw is estimated at 1.05 to 1.25 kg and has not been weighed, so claw plus 1 lb is about 1.5 to 1.7 kg and claw plus jeans 2.0 to 2.2 kg. The options on record: a Ø10 core, +25 % (1.38 kg held); a 3:1 reduction at each winch, about 2.7 times (about 3 kg held); or a 0.3 to 0.5 kg payload for the demo. The first step is a 15-minute luggage-scale pull test, because the 0.7 running-torque factor is assumed and the true torque could be up to 1.4 times lower (two-phase rating); its result decides between these options. 450 g is the number the analysis assumed, not a weighed claw: the v6 gripper was 2.06 kg in CAD, the v7 head is 481 g in CAD, and weighing it is the next step.
LIKELY QUESTION 2: Why not raise Vref or run 5 V logic?
ANSWER: I do not want to modify the driver, and a 3.3 V GPIO cannot guarantee a HIGH into a 5 V-logic input. So I run at the board maximum and look for the pull in geometry or gearing: T = tau / r.
LIKELY QUESTION 3: How will the pull test settle it?
ANSWER: A luggage scale on one station at 1.06 A: holding peak by hand, then running pull before the motor skips, at 100, 200 and 400 steps/s, on the core and on a full spool. The test sheet runs full-step while the winches run 1/16 microstep, so that difference is noted. If the running pull at a full spool is about 25 N or more, direct drive might carry a lighter claw; under about 25 N (expected about 18 N) a 3:1 reduction is the way, with a lighter payload for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sealed PETG shell would leave the motor one way out for its heat, through plastic that conducts about one eight-hundredth as well as aluminium, so the mount that carries the cable load would run hot; the shells are vented today, and a fin through the shell adds margin.
NUMBERS: A holding stepper dissipates P = I²R continuously: 1.0625² x 1.8 Ω = 2.0 W (the 1.8 Ω coil resistance is assumed and not yet measured). Conductivity: aluminium 160 vs PETG 0.2 W/m·K (800 x). Conduction resistance through the 42.3 mm square flange contact: 0.011 K/W for 3.2 mm aluminium vs 14.0 K/W for 5 mm PETG, 1260 x, which is 800 x from conductivity times 1.6 x from thickness.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minutes, vented about 21 minutes. The planned hold test is on the vented shell: 60 minutes at 1.06 A, fin flattened, thermocouples on the motor case, fin and PETG tab, read at 60 minutes (about 94 % of the vented rise, about 82 % of a sealed one) against 0.94 x the 41 °C prediction; pass below 60 °C.
LIKELY QUESTION 1: At 1.06 A in a vented shell your chart shows 51 °C with no fin, under your 60 °C limit. Why a fin, and what have you measured?
ANSWER: The fin was sized when the plan was 1.35 A and a sealed shell (the review model gave 67 °C sealed with no fin at 1.0 A and 106 °C at 1.5 A). At the 1.06 A driver cap the thermal margin is large, so the fin now buys margin (vented 51 to 41 °C, sealed 64 to 46 °C) and keeps the loaded PETG tab cooler, which is the creep concern. Every temperature is calculated: coil resistance 1.8 Ω is assumed (1.5 Ω gives 0.83 times the rise), h is 5 to 9 W/m²K, the alloy and finish are unknown, and no thermometer reading exists. The planned test is a 60-minute hold on the vented shell with thermocouples on the motor case, fin and PETG tab, read at 60 minutes against 0.94 times the 41 °C prediction, pass below 60 °C. If the bare motor is already fine, the test says the fin is not earning its place.
LIKELY QUESTION 2: Why a fin and not a TMC2209 or lower current?
ANSWER: A design review listed seven options (vents, aluminium fin, clip-on sink, TMC2209 drivers, ASA shell, thermistor park, lower current); vents plus a fin was the biggest gain with no new electronics, and lower current costs pull, which slide 5 is already short of.
If you did this yourself, you can say it in the first person: "I weighed seven options and chose vents plus a fin because it was the biggest gain with no new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drawing called for 1/8-inch plate but the sheet that could be sheared and drilled on the bench was 0.019 inch, so before accepting it I re-ran the fin equation: efficiency drops from 74 to 37 percent, yet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so the thin fin costs about 6 K. Assumptions: k = 160 W/m·K assumes an aluminium alloy that has not been confirmed (a magnet or file test would settle it), and h = 7 assumes a black fin; the as-built fin is bare metal, which runs hotter (about 41 to 43 °C vented, 46 to 50 °C sealed).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calls for hole positions within 0.1 mm of each other in one setup; the finished part has not been caliper-checked yet.
If you did this yourself, you can say it in the first person: "I drew the 1/8-inch fin and built it from 0.019-inch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CAD the first spool extended about 14.5 millimetres past the end of the motor shaft, and fixing that changed the layer count, the line force and the line paid out per revolution, so the controller models radius against wound length.
NUMBERS: Gen-1 spool: Ø20 core x 26 mm winding x 32 mm overall. Spool v3 (from the STEP): Ø36 flanges, Ø15 core (r = 7.5 mm), 16 mm drum, 22 mm overall, bore Ø5.45 with a 0.5 mm D-flat on the Ø5 shaft. The 14.5 mm overhang comes from the CAD dimensions (shaft projection 24 mm, winding starting at X = 4.5 for 32 mm overall), not from a caliper. 20 ft (6.096 m) of line, assumed 0.5 mm and not yet measured, at 85 % packing gives 5 layers and a full radius of 10 mm. Line force falls 23.8 to 17.9 N on the one-phase basis (slide 5);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from -0.10 to +0.30 mm in 0.05 steps at Ø5, Ø7 and Ø14, vertical and horizontal) is planned; none has been printed.
LIKELY QUESTION 1: How does the controller cope with the changing radius?
ANSWER: It uses radius as a function of wound length, r(n) = r0 + n d p, so the line paid out per step stays right as the spool fills; line per revolution changes by 33 % between the core layer and a full spool.
LIKELY QUESTION 2: Did you measure the printed bore?
ANSWER: Not with calipers yet. The v2 bore printed too tight on the 5 mm shaft, so v3 opened it from Ø5.2 to Ø5.45; a fit coupon is the planned fix for every printed 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the switch moved to a drop arm under it; a geometry check caught that the first drop-arm revision missed the line by 5 millimetres in X and 10.5 in Y, and rev D lands the roller on it.
NUMBERS: Rev C: roller at X = 70.0 against the line at 65.0, so 5.0 mm off in X (0.25 mm gap to the edge of a 5 mm bead, against a 1.5 mm overlap requirement) and 10.5 mm off in Y (no contact). Rev D: X error 0 at the nominal 20 mm pulley, 1.0 mm untuned at 18 and 22 mm (limit 1.0), 0 after the ±2 mm slot tune; Y: roller 1.0 mm, overlap (2.5 + 2.25) - 1.0 = 3.75 mm on a 5 mm bead (limit 2.0 mm). Roller envelope clear of the pulley and of printed material (0.000 mm³ interference). These are probes of the CAD solid, not a physical test; no rev D arm has been printed.
LIKELY QUESTION 1: How do you know it will trip?
ANSWER: I do not yet: rev D passes the geometric checks in CAD, but no bead has been run past a printed arm on real line. That trip test is the open item.
LIKELY QUESTION 2: Why a drop arm?
ANSWER: With the switch mid-span the bead had to ride over the pulley groove on every descent and every homing run. The groove is sized for 0.5 mm line, so a bead climbs the flanges or jams.
If you did this yourself, you can say it in the first person: "I saw that the bead would ride over the groove, and moved the switch to a drop arm under the pulley."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the slide-in is being stress-tested before I trust it.
NUMBERS: PLANNED, no results yet: SolidWorks linear static study of the station mount. Targets at the 34 N slip-limit load (24 N if the motor rating is two-phase, slide 5): peak von Mises at most 8.33 MPa (SF 3 on a 25 MPa derated yield; the same model at 68 N dynamic gives SF 1.5, which is the same check), first principal stress across layers at most 7.5 MPa, cable-exit displacement at most 0.5 mm. A hand estimate puts the motor-tab root at about 8 to 14 MPa with stress concentration, so the study is expected to find a design issue rather than confirm one. This is for direct drive at 1.06 A; with a 3:1 reduction the line load rises about 2.7 times (about 92 N) and the station study is repeated. The line pulls the station away from the wall, so the stud screws see mostly pull-out and prying, plus some shear from the vertical component of the line. Linear statics cannot see creep or layer-adhesion weakness, so a physical pull test closes the gap.
LIKELY QUESTION 1: What retains the slide-in, and what load did you check it against?
ANSWER: Today the slide-in is held by three dovetail ribs and J-lips; a positive lock is still an open item. The 34 N check is the motor-tab stress check, not a retention check.
LIKELY QUESTION 2: Why not keep the screwed-down anchor?
ANSWER: A hook or loose anchor wanders and that error goes 1:1 into claw position, so I bolted the corner down first; service then needs removable stations without re-calibrating the room, so the anchor moved onto a fixed frame and the housing slides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the teeth are checked at that moment, and the train was rebuilt at 2:1 when the v6 inspection showed the claw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Module 1.5, 16 mm face (18 / 36 / 24 / 24 teeth): pinion SF 2.40 / 2.05, 36T gear 2.93 / 2.50, sync gear 2.34 / 2.00 at 4.8 / 6.0 V (the 24T sync gear at 6 V is 1.997, accepted as inside the precision of the assumed stall torque); these are tooth checks only, and the spoked 36T web is SF 1.7 as a conservative bound. Ratio 2:1: jaw torque 0.83 N·m, stroke 76.5 degrees; 3:1 would give 1.25 N·m, 51 degrees and a sync-gear SF of 1.56 (1.33 at 6 V). The v6 inspection found the gripper at about 2.06 kg against the 450 g budget (4.6 x). The 157 g to 96 g comparison is between the original and the rebuilt v6 gear sets (CAD), checked at 257 geometry checks with conditions; the safety factors above are for the v7 gear train in backup B6.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LIKELY QUESTION 1: Is the jaw force measured?
ANSWER: No. It is simulated from the four-bar model (efficiency 0.95 per mesh, no pivot friction); there is no force-gauge reading and no printed gear has been stalled. Pad-to-cloth friction has never been measured, which is why TPU pads are planned and a pull test is the first thing to run.
LIKELY QUESTION 2: Why 2:1 instead of 3:1?
ANSWER: Mass and the sync gear: 3:1 loads the sync gear to a margin of 1.3 to 1.6, and the v6 gripper was 4.6 x over the mass budget.
If you did this yourself, you can say it in the first person: "I rebuilt my v6 gears at 2:1 with a 36T gear and an R53 crank, and kept my press-fit bearing pockets."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50 millimetres of tube were cut and a short visual correction step is added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on the assumed 3 mm CAD wall (32.5 g for 50 mm; a 1 mm wall would save about 12 g); the tube can be cut up to 206 mm before the hub meets the head plates. In the 140 mm hover view the grasp zone is 100 % visible and the claw blocks 9.2 % of the 4:3 view with open jaws (7.6 % closed). The render shown is the v6 head, now superseded; the view figure is the current head with the 50 mm cut.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The tube wall (3 mm in CAD, 28.54 mm OD) and the alloy are not yet measured.
LIKELY QUESTION 1: Why not cut 100 mm?
ANSWER: We can always cut more; a cut cannot be undone. 50 mm already brings the hover from 171 to 140 mm and saves about 33 g. A shorter tube also shrinks the view and lowers the cable tie-offs toward furniture.
LIKELY QUESTION 2: What about a pile of laundry?
ANSWER: A pile raises the floor, so the required hover rises by the pile height; the model assumes a flat bare floor and a claw hanging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the plan was one controller so synchronised motion came for free; in October long harnesses argued for one controller per winch, and a design review priced the cost: every millisecond of skew becomes force on four over-constrained cables.
NUMBERS: Skew: 50 mm/s x 50 ms = 2.5 mm of length error (the 50 ms Wi-Fi skew is assumed); with an assumed line stiffness of 3 N/mm (E A / L over a 3 m run, an effective modulus of about 46 GPa), F = 7.5 N, an upper bound because the error would redistribute over the other three cables; about 90 % of the static tension at 0.6 m depth (8.3 N). The 2 mm pass criterion is 6 N, which a 40 ms skew at full speed produces. Wire: 32 ft (9.75 m) one way, 12 V label, 2 A (illustrative): 18 AWG drops 0.82 V (6.8 %), 16 AWG 0.51 V (4.3 %); 16 AWG is preferred for the long run and is not yet purchased. Architecture (simulated): the host plans; stations execute Hermite segments on their own clocks with path-time feed-hold and leases; stop never disables; no automatic resume. Simulated: lease-aligned stop spread about 18 ms; 10/10 lossy motions completed at 2 to 5 % packet loss. The photos show the gen-1 central controller (CNC shield with four A4988 drivers) and the gen-2 per-winch wiring.
LIKELY QUESTION 1: What is feed-hold?
ANSWER: A coordinated stop in path time: all four stations ramp their path rate to zero along the same geometric path, so the claw decelerates along the path instead of one winch stopping first.
LIKELY QUESTION 2: Has it run on four stations?
ANSWER: No. The control logic is simulated only; the four-station test (1 lb, 300 mm at 50 mm/s, within 2 mm per cable) is planned and its pass criteria are written first.
If you did this yourself, you can say it in the first person: "I priced the cost of timing skew and chose one controller per winch."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the reading was taken on the bench meter and not logged or photographed. After the 3.3 V connection was repaired on the earlier board the motor moved. Oct 21: the same habit caught a second limit, the Vref pot maxing at 0.85 V (1.06 A). Rev D fixes (layout only, not yet built): 3.3 V soldered rather than jumpered; 10 k pull resistors (R1 EN pull-up so the A4988 boots disabled; R2 and R3 STEP and DIR pull-downs); JP1 link with diode D1 (1N5819) so USB and the buck never fight; a measure-VDD step in the bring-up procedure; 100 µF bulk capacitor on VMOT. The layout is net-checked by script: every hole has exactly one net and every net is connected. Buck output to be checked at 5.00 V before connecting loads.
LIKELY QUESTION 1: Did the motor move after the repair?
ANSWER: Yes, on the earlier board once the 3.3 V connection was repaired. The Rev D board is a net-checked layout and has not been built yet, so its meter checklist is still planned.
LIKELY QUESTION 2: Is the supply safe for the buck?
ANSWER: The bench reading was 18 V while the brick label says 12 V and the DROK input limit is 20 V; whether that was an open-circuit reading is still to be re-measured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floor board of 150 mm tags on a 0.25 m pitch: with four tags in view 1.32 mrad, 0.68 mm (about 10 x better, the best case); with two tags in view 4.85 mrad, 2.5 mm (about 2.7 x better). Simulated: 6/6 startups, 91 to 97 % of slack readings resolved, predicted sigma 12 to 16 mm, 3 of 6 runs reach full-room trust. The 0.7 mm is the per-frame attitude lever-arm error; the absolute cable-length uncertainty is a different quantity and stays at 12 to 16 mm in simulation, above the 12 mm bead overtravel. Decisions: margins carry the safety, reel each cable in turn (no motion means slack), no IMU on the claw. A converged optimiser is not acceptance: in the one-cable toy both fits had a whitened residual near 1.0, yet the anchor range and length offset were 9 x less identifiable in the small excitation box.
LIKELY QUESTION 1: Why is calibration sigma above the overtravel if the board is 0.7 mm?
ANSWER: 0.7 mm is the per-frame attitude lever-arm error with four tags in view; the absolute cable-length uncertainty is a different quantity, predicted at 12 to 16 mm in simulation. That is why the safety rides on ceiling and wall margins rather than on precision.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pot maximum 0.79 to 0.85 V; one motor turned on all four driver channels; buck 5.00 V; logic rail 1.14 V (the fault). Observed, not instrument-measured: the fin test-fits on the motor; 18 V read at the supply against a 12 V label (to re-measure under load). Calculated: statics, Lewis, fin, wire drop, grip force required. Simulated: control system, calibration, camera view, four-bar jaw force. Planned: hold test (60 minutes, vented shell, motor case below 60 °C); winch pull test (luggage scale, empty and full spool); station-mount pull test; SolidWorks station study (SF at least 3, deflection at most 0.5 mm); 1 lb on four stations, 300 mm at 50 mm/s, within 2 mm per cable. Also to confirm: VDD = 3.3 V at the driver, and the line diameter.
LIKELY QUESTION 1: What is the first test you would run?
ANSWER: The 15-minute luggage-scale pull test at 1.06 A, empty and full spool, because it replaces the assumed 0.7 running-torque factor: a running pull of about 25 N or more at a full spool means the direct drive might carry a lighter claw, under about 25 N (expected about 18 N) points to the 3:1 reduction; then the hold test.
LIKELY QUESTION 2: Which number are you least sure of?
ANSWER: The claw mass: the budget is 0.45 kg but the printed claw is estimated at 1.05 to 1.25 kg and has not been weighed, and every capacity number rests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five fingers became two jaws; 50 mm of tube (32.5 g, assuming the 3 mm CAD wall); the housing block replaced by an open frame (head 1,044 g to 481 g, about -560 g in CAD); the 5 lb reserve target, with a 1 lb gate first. Lessons: measure before you trust a margin (Vref 0.85 V, the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(assumed stiffness).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The power strip is the only category-0 stop and no safety-rated function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so the A4988 boots disabled; R2 10 k STEP pull-down; R3 10 k DIR pull-down; R4 10 k switch pull-up. JP1 with D1 1N5819 between the XIAO 5 V side and the buck output. DROK buck standing on its 5-pin header: select 5 V by bridging its 5V pad and check 5.00 V before connecting loads. 3V3 bus row 13, GND bus row 11. C1 100 µF/50 V across VMOT. J1 12 V in, J2 motor, J3 switch, J5 encoder. The layout drawing is net-checked by a script; the as-built board has not been built or metered yet.
LIKELY QUESTION: How do you know the board is right?
ANSWER: The layout is net-checked by a script: every hole has exactly one net and every net is connected. That is a drawing check, not a measurement; the as-built board still needs its meter checklist (VDD, SLEEP, ENABLE, buck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by up to ten times, but the hanging claw still tilts between 13 and 21 degrees near the corners because of where its centre of mass sits.
NUMBERS: Tilt noise for one 152.4 mm tag at 0.46 / 0.6 / 0.8 / 1.0 m: 10.5 / 17.9 / 31.8 / 49.7 mrad (matches the project's Monte Carlo). Floor board with the camera centred over it: four tags in view 1.32 mrad, 0.68 mm lever-arm error at 0.51 m (9.8 x better than 12.9 mrad, 6.6 mm); two tags in view 4.85 mrad, 2.5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1: Which depth should I quote?
ANSWER: Neither as final: the recorded 0.196 m belongs to the superseded v6 head; the 0.116 m estimate is a rough lumped figure. The centre of mass needs re-extracting from the CAD and the study rerunning.
LIKELY QUESTION 2: How good is the noise model?
ANSWER: It assumes independent Gaussian corner noise (0.3 px), fronto-parallel tags and a 520 px focal length (a camera guess); real corner noise is unmeasured.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0.48 mm PETG; long-fin resistance 22 K/W (0.48 mm Al) vs 182 K/W (5 mm PETG). A 60-minute hold covers about 94 % of the vented rise (about 82 % sealed); read it against 0.94 x the prediction.
LIKELY QUESTION: Why not let the PETG mount sink the heat?
ANSWER: At equal geometry aluminium conducts 28 x better (the square root of 160 / 0.2), and through the flange contact the PETG path is 14.0 K/W against 0.011 K/W (1260 x, which includes the 5 mm vs 3.2 mm thickness). Heat in PETG dies out within a few millimetres of the motor, so the PETG around the motor bolts climbs toward the motor temperature while it carries the cable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Re-verification: 72 tests pass; interference over the full sweep 0.000 mm³; jaw travel 76.5°. The verdict is pass with conditions.
LIKELY QUESTION: What is still open?
ANSWER: The servo ear pitch (47.0 mm in the plate vs 48.3 mm in the interface definition) must be measured on hardware; the Ø9.7 race ring and the Ø3.3 insert hole cannot be checked from CAD; purchased fastener masses are assumed; flank clearance 0.1994 / 0.1997 mm and the 1.997 sync SF are accepted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are designed to anchor into studs; nobody stands under the robot; and the LiPo is balance-charged off the robot.
NUMBERS: Stop never disables: every fault and pause holds torque; only a disarm confirmed with the claw supported removes it; the power strip is the only category-0 stop; no safety-rated function is claimed (ISO 13849 and IEC 61508 are not claimed). Stations: the line pulls the station away from the wall, so the stud screws see mostly pull-out and prying plus some shear from the vertical component of the line; the screw pattern against the stud width and a positive lock on the slide-in are still open; the SolidWorks study and the pull test are planned (slide 10). No AC mains inside printed housings. Claw battery: 2S LiPo, charged with a matched external 2S balance charger with the pack removed from the robot; a protection board is not a charger.
LIKELY QUESTION 1: Is this a safety-rated system?
ANSWER: No. It is a hobby prototype with a single hard stop (the strip) and a rule that nobody is under it; load-bearing, high-speed or energy-storage parts need qualified supervision and controlled testing before use.
LIKELY QUESTION 2: Your only stop is a power strip and cutting power drops the claw. What is the safety case, and what happens if a stepper skips?
ANSWER: It is a deliberate category-0 stop with no brake: cutting 12 V removes holding torque and the claw falls. The accepted mitigation is that nobody stands under the robot while it moves, with a 1 lb first gate and a slow final approach. In software a stop never disables: every fault and pause holds torque, only a disarm confirmed with the claw supported releases it, and nothing resumes after a reboot. No safety-rated function is claimed (ISO 13849 and IEC 61508 are not claimed); a controlled stop or a self-locking drive is a gen-3 item. Steppers can lose steps silently on a snag or shock; the four-station test requires no step loss and at most 2 mm per cable, and the station board has an encoder port, but none of this has run on four stations and the control behaviour is simulated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designed to pick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project: a four-winch cable robot, a camera claw, and the control architecture.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114800"/>
            <a:ext cx="3383280" cy="1965960"/>
          </a:xfrm>
          <a:prstGeom prst="rect">
            <a:avLst/>
          </a:prstGeom>
          <a:solidFill>
            <a:schemeClr val="bg2"/>
          </a:solidFill>
          <a:ln w="9525">
            <a:solidFill>
              <a:schemeClr val="bg2"/>
            </a:solidFill>
            <a:prstDash val="solid"/>
          </a:ln>
        </p:spPr>
      </p:sp>
      <p:sp>
        <p:nvSpPr>
          <p:cNvPr id="26" name="Text 24"/>
          <p:cNvSpPr txBox="1"/>
          <p:nvPr/>
        </p:nvSpPr>
        <p:spPr>
          <a:xfrm>
            <a:off x="777240" y="4343400"/>
            <a:ext cx="29260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709160"/>
            <a:ext cx="2926080" cy="1234440"/>
          </a:xfrm>
          <a:prstGeom prst="rect">
            <a:avLst/>
          </a:prstGeom>
          <a:noFill/>
          <a:ln/>
        </p:spPr>
        <p:txBody>
          <a:bodyPr wrap="square" lIns="0" tIns="0" rIns="0" bIns="0" rtlCol="0" anchor="t"/>
          <a:lstStyle/>
          <a:p>
            <a:pPr indent="0" marL="0">
              <a:buNone/>
            </a:pPr>
            <a:r>
              <a:rPr lang="en-US" sz="1600" dirty="0">
                <a:solidFill>
                  <a:schemeClr val="tx1"/>
                </a:solidFill>
              </a:rPr>
              <a:t>Stepper motors, A4988 drivers, ESP32 boards, DROK buck, MG996R servo, bearings, pulleys, line.</a:t>
            </a:r>
            <a:endParaRPr lang="en-US" sz="1600" dirty="0"/>
          </a:p>
        </p:txBody>
      </p:sp>
      <p:sp>
        <p:nvSpPr>
          <p:cNvPr id="28" name="card_2"/>
          <p:cNvSpPr/>
          <p:nvPr/>
        </p:nvSpPr>
        <p:spPr>
          <a:xfrm>
            <a:off x="4160520" y="4114800"/>
            <a:ext cx="3383280" cy="1965960"/>
          </a:xfrm>
          <a:prstGeom prst="rect">
            <a:avLst/>
          </a:prstGeom>
          <a:solidFill>
            <a:schemeClr val="accent5"/>
          </a:solidFill>
          <a:ln w="19050">
            <a:solidFill>
              <a:schemeClr val="accent1"/>
            </a:solidFill>
            <a:prstDash val="solid"/>
          </a:ln>
        </p:spPr>
      </p:sp>
      <p:sp>
        <p:nvSpPr>
          <p:cNvPr id="29" name="Text 27"/>
          <p:cNvSpPr txBox="1"/>
          <p:nvPr/>
        </p:nvSpPr>
        <p:spPr>
          <a:xfrm>
            <a:off x="4389120" y="4343400"/>
            <a:ext cx="292608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389120" y="4709160"/>
            <a:ext cx="2926080" cy="1234440"/>
          </a:xfrm>
          <a:prstGeom prst="rect">
            <a:avLst/>
          </a:prstGeom>
          <a:noFill/>
          <a:ln/>
        </p:spPr>
        <p:txBody>
          <a:bodyPr wrap="square" lIns="0" tIns="0" rIns="0" bIns="0" rtlCol="0" anchor="t"/>
          <a:lstStyle/>
          <a:p>
            <a:pPr indent="0" marL="0">
              <a:buNone/>
            </a:pPr>
            <a:r>
              <a:rPr lang="en-US" sz="1600" dirty="0">
                <a:solidFill>
                  <a:schemeClr val="tx1"/>
                </a:solidFill>
              </a:rPr>
              <a:t>Station and claw design in SolidWorks, printed and machined parts, bench wiring, test plan.</a:t>
            </a:r>
            <a:endParaRPr lang="en-US" sz="1600" dirty="0"/>
          </a:p>
        </p:txBody>
      </p:sp>
      <p:sp>
        <p:nvSpPr>
          <p:cNvPr id="31" name="Text 29"/>
          <p:cNvSpPr txBox="1"/>
          <p:nvPr/>
        </p:nvSpPr>
        <p:spPr>
          <a:xfrm>
            <a:off x="7818120" y="413308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48056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46227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84632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82803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or CAD calculation</a:t>
            </a:r>
            <a:endParaRPr lang="en-US" sz="1300" dirty="0"/>
          </a:p>
        </p:txBody>
      </p:sp>
      <p:sp>
        <p:nvSpPr>
          <p:cNvPr id="36" name="tag_SIMULATED"/>
          <p:cNvSpPr txBox="1"/>
          <p:nvPr/>
        </p:nvSpPr>
        <p:spPr>
          <a:xfrm>
            <a:off x="7818120" y="521208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19379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57784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55955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Provisional jeans payload plus 2 m/s²; first gate 1 lb</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Stations designed to screw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sets the limits: walls bind at task height, ceiling above.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Winch design force 8.4–11.9 N_11.9"/>
          <p:cNvSpPr/>
          <p:nvPr/>
        </p:nvSpPr>
        <p:spPr>
          <a:xfrm>
            <a:off x="1239926" y="4102666"/>
            <a:ext cx="4048963" cy="0"/>
          </a:xfrm>
          <a:prstGeom prst="line">
            <a:avLst/>
          </a:prstGeom>
          <a:noFill/>
          <a:ln w="15875">
            <a:solidFill>
              <a:srgbClr val="0E1116"/>
            </a:solidFill>
            <a:prstDash val="dash"/>
          </a:ln>
        </p:spPr>
      </p:sp>
      <p:sp>
        <p:nvSpPr>
          <p:cNvPr id="7" name="limit_label_Winch design force 8.4–11.9 N"/>
          <p:cNvSpPr txBox="1"/>
          <p:nvPr/>
        </p:nvSpPr>
        <p:spPr>
          <a:xfrm>
            <a:off x="2733142" y="3855778"/>
            <a:ext cx="2528316"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Winch design force 8.4–11.9 N</a:t>
            </a:r>
            <a:endParaRPr lang="en-US" sz="1100" dirty="0"/>
          </a:p>
        </p:txBody>
      </p:sp>
      <p:sp>
        <p:nvSpPr>
          <p:cNvPr id="8" name="limit_line_8.414570696119917"/>
          <p:cNvSpPr/>
          <p:nvPr/>
        </p:nvSpPr>
        <p:spPr>
          <a:xfrm>
            <a:off x="1239926" y="4368149"/>
            <a:ext cx="4048963" cy="0"/>
          </a:xfrm>
          <a:prstGeom prst="line">
            <a:avLst/>
          </a:prstGeom>
          <a:noFill/>
          <a:ln w="15875">
            <a:solidFill>
              <a:srgbClr val="0E1116"/>
            </a:solidFill>
            <a:prstDash val="dash"/>
          </a:ln>
        </p:spPr>
      </p:sp>
      <p:sp>
        <p:nvSpPr>
          <p:cNvPr id="9" name="railv_line"/>
          <p:cNvSpPr/>
          <p:nvPr/>
        </p:nvSpPr>
        <p:spPr>
          <a:xfrm>
            <a:off x="5980176" y="2103120"/>
            <a:ext cx="0" cy="2560320"/>
          </a:xfrm>
          <a:prstGeom prst="line">
            <a:avLst/>
          </a:prstGeom>
          <a:noFill/>
          <a:ln w="25400">
            <a:solidFill>
              <a:schemeClr val="bg2"/>
            </a:solidFill>
            <a:prstDash val="solid"/>
          </a:ln>
        </p:spPr>
      </p:sp>
      <p:sp>
        <p:nvSpPr>
          <p:cNvPr id="1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3" name="railv_sep_1"/>
          <p:cNvSpPr/>
          <p:nvPr/>
        </p:nvSpPr>
        <p:spPr>
          <a:xfrm>
            <a:off x="6236208" y="2423160"/>
            <a:ext cx="5406847" cy="0"/>
          </a:xfrm>
          <a:prstGeom prst="line">
            <a:avLst/>
          </a:prstGeom>
          <a:noFill/>
          <a:ln w="9525">
            <a:solidFill>
              <a:schemeClr val="bg2"/>
            </a:solidFill>
            <a:prstDash val="solid"/>
          </a:ln>
        </p:spPr>
      </p:sp>
      <p:sp>
        <p:nvSpPr>
          <p:cNvPr id="14"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7" name="railv_sep_2"/>
          <p:cNvSpPr/>
          <p:nvPr/>
        </p:nvSpPr>
        <p:spPr>
          <a:xfrm>
            <a:off x="6236208" y="3063240"/>
            <a:ext cx="5406847" cy="0"/>
          </a:xfrm>
          <a:prstGeom prst="line">
            <a:avLst/>
          </a:prstGeom>
          <a:noFill/>
          <a:ln w="9525">
            <a:solidFill>
              <a:schemeClr val="bg2"/>
            </a:solidFill>
            <a:prstDash val="solid"/>
          </a:ln>
        </p:spPr>
      </p:sp>
      <p:sp>
        <p:nvSpPr>
          <p:cNvPr id="18"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1" name="railv_sep_3"/>
          <p:cNvSpPr/>
          <p:nvPr/>
        </p:nvSpPr>
        <p:spPr>
          <a:xfrm>
            <a:off x="6236208" y="3703320"/>
            <a:ext cx="5406847" cy="0"/>
          </a:xfrm>
          <a:prstGeom prst="line">
            <a:avLst/>
          </a:prstGeom>
          <a:noFill/>
          <a:ln w="9525">
            <a:solidFill>
              <a:schemeClr val="bg2"/>
            </a:solidFill>
            <a:prstDash val="solid"/>
          </a:ln>
        </p:spPr>
      </p:sp>
      <p:sp>
        <p:nvSpPr>
          <p:cNvPr id="2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Max 0.5 kg at 0.4 m, 1.1 kg at task height.</a:t>
            </a:r>
            <a:endParaRPr lang="en-US" sz="1500" dirty="0"/>
          </a:p>
        </p:txBody>
      </p:sp>
      <p:sp>
        <p:nvSpPr>
          <p:cNvPr id="25" name="railv_sep_4"/>
          <p:cNvSpPr/>
          <p:nvPr/>
        </p:nvSpPr>
        <p:spPr>
          <a:xfrm>
            <a:off x="6236208" y="4343400"/>
            <a:ext cx="5406847" cy="0"/>
          </a:xfrm>
          <a:prstGeom prst="line">
            <a:avLst/>
          </a:prstGeom>
          <a:noFill/>
          <a:ln w="9525">
            <a:solidFill>
              <a:schemeClr val="bg2"/>
            </a:solidFill>
            <a:prstDash val="solid"/>
          </a:ln>
        </p:spPr>
      </p:sp>
      <p:sp>
        <p:nvSpPr>
          <p:cNvPr id="2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 0.45 kg is a budget.</a:t>
            </a:r>
            <a:endParaRPr lang="en-US" sz="1500" dirty="0"/>
          </a:p>
        </p:txBody>
      </p:sp>
      <p:sp>
        <p:nvSpPr>
          <p:cNvPr id="2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0" name="Text 27"/>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(claw centred, equal share)</a:t>
            </a:r>
            <a:endParaRPr lang="en-US" sz="1600" dirty="0"/>
          </a:p>
        </p:txBody>
      </p:sp>
      <p:sp>
        <p:nvSpPr>
          <p:cNvPr id="3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sin φ = d / √(d² +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²),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W = 8.86 N: T = 32.1 N at 0.15 m, 8.3 N at 0.60 m. Off-centre needs a linear program.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the fix is open.</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0.79–0.85 V → 0.99–1.06 A</a:t>
            </a:r>
            <a:endParaRPr lang="en-US" sz="26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pot maximum (two readings)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settles the 0.7 factor and one- vs two-phase torque.</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open: core +25 %, or 3:1 gearing.</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Full-spool pull 12.6–17.9 N;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τ</a:t>
            </a:r>
            <a:pPr indent="0" marL="0">
              <a:buNone/>
            </a:pPr>
            <a:r>
              <a:rPr lang="en-US" sz="1300" baseline="-40000" dirty="0">
                <a:solidFill>
                  <a:schemeClr val="tx1"/>
                </a:solidFill>
                <a:latin typeface="Cambria" pitchFamily="34" charset="0"/>
                <a:ea typeface="Cambria" pitchFamily="34" charset="-122"/>
                <a:cs typeface="Cambria" pitchFamily="34" charset="-120"/>
              </a:rPr>
              <a:t>hold</a:t>
            </a:r>
            <a:pPr indent="0" marL="0">
              <a:buNone/>
            </a:pPr>
            <a:r>
              <a:rPr lang="en-US" sz="1300" dirty="0">
                <a:solidFill>
                  <a:schemeClr val="tx1"/>
                </a:solidFill>
                <a:latin typeface="Cambria" pitchFamily="34" charset="0"/>
                <a:ea typeface="Cambria" pitchFamily="34" charset="-122"/>
                <a:cs typeface="Cambria" pitchFamily="34" charset="-120"/>
              </a:rPr>
              <a:t>, with τ</a:t>
            </a:r>
            <a:pPr indent="0" marL="0">
              <a:buNone/>
            </a:pPr>
            <a:r>
              <a:rPr lang="en-US" sz="1300" baseline="-40000" dirty="0">
                <a:solidFill>
                  <a:schemeClr val="tx1"/>
                </a:solidFill>
                <a:latin typeface="Cambria" pitchFamily="34" charset="0"/>
                <a:ea typeface="Cambria" pitchFamily="34" charset="-122"/>
                <a:cs typeface="Cambria" pitchFamily="34" charset="-120"/>
              </a:rPr>
              <a:t>hold</a:t>
            </a:r>
            <a:pPr indent="0" marL="0">
              <a:buNone/>
            </a:pPr>
            <a:r>
              <a:rPr lang="en-US" sz="1300" dirty="0">
                <a:solidFill>
                  <a:schemeClr val="tx1"/>
                </a:solidFill>
                <a:latin typeface="Cambria" pitchFamily="34" charset="0"/>
                <a:ea typeface="Cambria" pitchFamily="34" charset="-122"/>
                <a:cs typeface="Cambria" pitchFamily="34" charset="-120"/>
              </a:rPr>
              <a:t> = 0.255 N·m (one-phase) or 0.18 N·m (two-phase). T = τ / r: at r = 10 mm 17.9 or 12.6 N; at the core 23.8 or 16.8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sealed station would heat the motor mount, my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4103827" y="2029093"/>
            <a:ext cx="120700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vented shell, 1.06 A: model predicts 41 °C (as-built fin); pass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64 to 46 °C with fin; vented 51 to 41 °C.</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vented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 1.8 Ω = 2.0 W (R assumed). Flange path: 5 mm PETG 14 K/W vs 3.2 mm aluminium 0.011 K/W (1260× = 800× k, 1.6× thickness).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Drawn at 1/8-inch, built at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shop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Drawing: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 built: 0.019 in (0.48 mm) sheet, not the 1/8 in drawn.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spool (26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About 14.5 mm past the 24 mm shaft (CAD).</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no caliper reading yet.</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line, diameter assumed 0.5 mm (not measured): 5 layers, r = 7.5 to 10 mm, T = 23.8 to 17.9 N (one-phase),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not cross the pulley; verification caught rev C.</a:t>
            </a:r>
            <a:endParaRPr lang="en-US" sz="3000" dirty="0"/>
          </a:p>
        </p:txBody>
      </p:sp>
      <p:sp>
        <p:nvSpPr>
          <p:cNvPr id="4" name="tag_CALCULATED"/>
          <p:cNvSpPr txBox="1"/>
          <p:nvPr/>
        </p:nvSpPr>
        <p:spPr>
          <a:xfrm>
            <a:off x="10042855" y="429768"/>
            <a:ext cx="160020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 · CAD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Bench switch, not rev D"/>
          <p:cNvSpPr/>
          <p:nvPr/>
        </p:nvSpPr>
        <p:spPr>
          <a:xfrm flipV="1">
            <a:off x="1239926" y="3883091"/>
            <a:ext cx="1005840" cy="685800"/>
          </a:xfrm>
          <a:prstGeom prst="line">
            <a:avLst/>
          </a:prstGeom>
          <a:noFill/>
          <a:ln w="12700">
            <a:solidFill>
              <a:schemeClr val="tx1"/>
            </a:solidFill>
            <a:prstDash val="solid"/>
          </a:ln>
        </p:spPr>
      </p:sp>
      <p:sp>
        <p:nvSpPr>
          <p:cNvPr id="7" name="callout_dot_Bench switch, not rev D"/>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Bench switch, not rev D"/>
          <p:cNvSpPr txBox="1"/>
          <p:nvPr/>
        </p:nvSpPr>
        <p:spPr>
          <a:xfrm>
            <a:off x="2291486" y="3736787"/>
            <a:ext cx="23774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Bench switch, not rev D</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5 mm bead on real line against a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in X and Y;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Rev C: 5.0 mm off in X, 10.5 mm in Y. X error ≤ 1.0 mm across 18 to 22 mm pulleys.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7"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8"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9" name="Text 5"/>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10" name="Text 6"/>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station-mount pull test.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plus slide-in; target SF ≥ 3 at 34 N.</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Hand estimate: tab root 8–14 MPa vs 8.33 limit; study pending.</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1"/>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Targets at the 34 N slip load (24 N if two-phase): σ ≤ 8.33 MPa (SF 3 on 25 MPa), ≤ 0.5 mm at the cable exit. Direct drive; 3:1 gearing adds ~2.7×.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teeth are checked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v6r,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36T gear rebuilt from my v6 gears.</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 with conditions.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teeth 2.0–2.5, 36T web 1.7.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 Render: v6 head (superseded).</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(ray-cast 172), c = 50 mm gives 140 mm. Saved 33 g assumes a 3 mm wall.</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removes long harnesses; a review priced sync.</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GEN 1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GEN 2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assumed 3 N/mm gives 7.5 N (upper bound). 16 AWG, 32 ft, 2 A (illustrative):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my meter (not logged)</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Motor moved after repair; Rev D layout net-checked, not built.</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777240" y="4864608"/>
            <a:ext cx="448056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 tags in view: 4.9 mrad;  4 tags: 1.3 mrad</a:t>
            </a:r>
            <a:endParaRPr lang="en-US" sz="1200" dirty="0"/>
          </a:p>
        </p:txBody>
      </p:sp>
      <p:sp>
        <p:nvSpPr>
          <p:cNvPr id="47" name="big_number"/>
          <p:cNvSpPr txBox="1"/>
          <p:nvPr/>
        </p:nvSpPr>
        <p:spPr>
          <a:xfrm>
            <a:off x="777240" y="51206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623560"/>
            <a:ext cx="4480560" cy="457200"/>
          </a:xfrm>
          <a:prstGeom prst="rect">
            <a:avLst/>
          </a:prstGeom>
          <a:noFill/>
          <a:ln/>
        </p:spPr>
        <p:txBody>
          <a:bodyPr wrap="square" lIns="0" tIns="0" rIns="0" bIns="0" rtlCol="0" anchor="t"/>
          <a:lstStyle/>
          <a:p>
            <a:pPr indent="0" marL="0">
              <a:buNone/>
            </a:pPr>
            <a:r>
              <a:rPr lang="en-US" sz="1200" dirty="0">
                <a:solidFill>
                  <a:schemeClr val="tx2"/>
                </a:solidFill>
              </a:rPr>
              <a:t>per-frame lever-arm error at 0.51 m: one tag vs four tags in view (two tags: 2.5 mm)</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mm/frame; cable σ stays above 12 mm.</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 tags in view: 1.32 mrad × 0.51 m = 0.68 mm; two tags: 4.85 mrad = 2.5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88036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pot maximum 0.79–0.85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p>
                      <a:pPr indent="0" marL="0">
                        <a:spcBef>
                          <a:spcPts val="600"/>
                        </a:spcBef>
                        <a:spcAft>
                          <a:spcPts val="400"/>
                        </a:spcAft>
                        <a:buNone/>
                      </a:pPr>
                      <a:r>
                        <a:rPr lang="en-US" sz="1200" b="1" dirty="0">
                          <a:solidFill>
                            <a:schemeClr val="tx2"/>
                          </a:solidFill>
                          <a:latin typeface="Calibri" pitchFamily="34" charset="0"/>
                          <a:ea typeface="Calibri" pitchFamily="34" charset="-122"/>
                          <a:cs typeface="Calibri" pitchFamily="34" charset="-120"/>
                        </a:rPr>
                        <a:t>Observed, not instrument-measured</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test-fits on the motor (visual)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read at the supply vs 12 V label (re-measure)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required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vented shell: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Winch pull test (luggage scale),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Station-mount pull test</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 3 at 34 N,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03520"/>
            <a:ext cx="11094415" cy="960120"/>
          </a:xfrm>
          <a:prstGeom prst="rect">
            <a:avLst/>
          </a:prstGeom>
          <a:solidFill>
            <a:schemeClr val="accent5"/>
          </a:solidFill>
          <a:ln w="19050">
            <a:solidFill>
              <a:schemeClr val="accent1"/>
            </a:solidFill>
            <a:prstDash val="solid"/>
          </a:ln>
        </p:spPr>
      </p:sp>
      <p:sp>
        <p:nvSpPr>
          <p:cNvPr id="6" name="Text 3"/>
          <p:cNvSpPr txBox="1"/>
          <p:nvPr/>
        </p:nvSpPr>
        <p:spPr>
          <a:xfrm>
            <a:off x="777240" y="5413248"/>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641848"/>
            <a:ext cx="10637215" cy="292608"/>
          </a:xfrm>
          <a:prstGeom prst="rect">
            <a:avLst/>
          </a:prstGeom>
          <a:noFill/>
          <a:ln/>
        </p:spPr>
        <p:txBody>
          <a:bodyPr wrap="square" lIns="0" tIns="0" rIns="0" bIns="0" rtlCol="0" anchor="ctr"/>
          <a:lstStyle/>
          <a:p>
            <a:pPr indent="0" marL="0">
              <a:buNone/>
            </a:pPr>
            <a:r>
              <a:rPr lang="en-US" sz="1500" dirty="0">
                <a:solidFill>
                  <a:schemeClr val="tx1"/>
                </a:solidFill>
              </a:rPr>
              <a:t>Luggage-scale pull at 1.06 A, empty and full spool; under about 25 N points to a 3:1 reduction (decision open).</a:t>
            </a:r>
            <a:endParaRPr lang="en-US" sz="1500" dirty="0"/>
          </a:p>
        </p:txBody>
      </p:sp>
      <p:sp>
        <p:nvSpPr>
          <p:cNvPr id="8" name="Text 5"/>
          <p:cNvSpPr txBox="1"/>
          <p:nvPr/>
        </p:nvSpPr>
        <p:spPr>
          <a:xfrm>
            <a:off x="777240" y="5943600"/>
            <a:ext cx="10637215" cy="256032"/>
          </a:xfrm>
          <a:prstGeom prst="rect">
            <a:avLst/>
          </a:prstGeom>
          <a:noFill/>
          <a:ln/>
        </p:spPr>
        <p:txBody>
          <a:bodyPr wrap="square" lIns="0" tIns="0" rIns="0" bIns="0" rtlCol="0" anchor="ctr"/>
          <a:lstStyle/>
          <a:p>
            <a:pPr indent="0" marL="0">
              <a:buNone/>
            </a:pPr>
            <a:r>
              <a:rPr lang="en-US" sz="1300" dirty="0">
                <a:solidFill>
                  <a:schemeClr val="tx1"/>
                </a:solidFill>
              </a:rPr>
              <a:t>Also: confirm VDD = 3.3 V at the driver and measure the line diameter.</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(−560 g, CAD)</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5 lb reserve: a 1 lb gate first</a:t>
            </a:r>
            <a:endParaRPr lang="en-US" sz="1700" dirty="0"/>
          </a:p>
        </p:txBody>
      </p:sp>
      <p:sp>
        <p:nvSpPr>
          <p:cNvPr id="15" name="Text 13"/>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6" name="Text 14"/>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7" name="Text 15"/>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18" name="Text 16"/>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19" name="Text 17"/>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0" name="Text 18"/>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1" name="Text 19"/>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2" name="Text 20"/>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3" name="Text 21"/>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4" name="Text 22"/>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5" name="Text 23"/>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6" name="Text 24"/>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5"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6" name="callout_line_JP1 link"/>
          <p:cNvSpPr/>
          <p:nvPr/>
        </p:nvSpPr>
        <p:spPr>
          <a:xfrm>
            <a:off x="4558309" y="4182868"/>
            <a:ext cx="416515" cy="400562"/>
          </a:xfrm>
          <a:prstGeom prst="line">
            <a:avLst/>
          </a:prstGeom>
          <a:noFill/>
          <a:ln w="12700">
            <a:solidFill>
              <a:schemeClr val="tx1"/>
            </a:solidFill>
            <a:prstDash val="solid"/>
          </a:ln>
        </p:spPr>
      </p:sp>
      <p:sp>
        <p:nvSpPr>
          <p:cNvPr id="7"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8"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9" name="callout_line_R1 pull-up"/>
          <p:cNvSpPr/>
          <p:nvPr/>
        </p:nvSpPr>
        <p:spPr>
          <a:xfrm flipV="1">
            <a:off x="1116100" y="4285473"/>
            <a:ext cx="857999" cy="477180"/>
          </a:xfrm>
          <a:prstGeom prst="line">
            <a:avLst/>
          </a:prstGeom>
          <a:noFill/>
          <a:ln w="12700">
            <a:solidFill>
              <a:schemeClr val="tx1"/>
            </a:solidFill>
            <a:prstDash val="solid"/>
          </a:ln>
        </p:spPr>
      </p:sp>
      <p:sp>
        <p:nvSpPr>
          <p:cNvPr id="10"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1"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2" name="callout_line_3V3 bus"/>
          <p:cNvSpPr/>
          <p:nvPr/>
        </p:nvSpPr>
        <p:spPr>
          <a:xfrm flipV="1">
            <a:off x="3215700" y="4563267"/>
            <a:ext cx="54476" cy="356205"/>
          </a:xfrm>
          <a:prstGeom prst="line">
            <a:avLst/>
          </a:prstGeom>
          <a:noFill/>
          <a:ln w="12700">
            <a:solidFill>
              <a:schemeClr val="tx1"/>
            </a:solidFill>
            <a:prstDash val="solid"/>
          </a:ln>
        </p:spPr>
      </p:sp>
      <p:sp>
        <p:nvSpPr>
          <p:cNvPr id="13"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4"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5" name="Text 12"/>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6" name="Text 13"/>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7"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8"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9"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Floor board cuts tilt noise up to 10×; hanging tilt still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Board: 2 tags 4.9, 4 tags 1.3 mrad_4.85"/>
          <p:cNvSpPr/>
          <p:nvPr/>
        </p:nvSpPr>
        <p:spPr>
          <a:xfrm>
            <a:off x="6839099" y="4024602"/>
            <a:ext cx="4588048" cy="0"/>
          </a:xfrm>
          <a:prstGeom prst="line">
            <a:avLst/>
          </a:prstGeom>
          <a:noFill/>
          <a:ln w="15875">
            <a:solidFill>
              <a:schemeClr val="tx1"/>
            </a:solidFill>
            <a:prstDash val="dash"/>
          </a:ln>
        </p:spPr>
      </p:sp>
      <p:sp>
        <p:nvSpPr>
          <p:cNvPr id="11" name="limit_label_Board: 2 tags 4.9, 4 tags 1.3 mrad"/>
          <p:cNvSpPr txBox="1"/>
          <p:nvPr/>
        </p:nvSpPr>
        <p:spPr>
          <a:xfrm>
            <a:off x="8747955" y="3777714"/>
            <a:ext cx="265176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Board: 2 tags 4.9, 4 tags 1.3 mrad</a:t>
            </a:r>
            <a:endParaRPr lang="en-US" sz="1100" dirty="0"/>
          </a:p>
        </p:txBody>
      </p:sp>
      <p:sp>
        <p:nvSpPr>
          <p:cNvPr id="12" name="limit_line_1.32375221376"/>
          <p:cNvSpPr/>
          <p:nvPr/>
        </p:nvSpPr>
        <p:spPr>
          <a:xfrm>
            <a:off x="6839099" y="4143367"/>
            <a:ext cx="4588048" cy="0"/>
          </a:xfrm>
          <a:prstGeom prst="line">
            <a:avLst/>
          </a:prstGeom>
          <a:noFill/>
          <a:ln w="15875">
            <a:solidFill>
              <a:schemeClr val="tx1"/>
            </a:solidFill>
            <a:prstDash val="dash"/>
          </a:ln>
        </p:spPr>
      </p:sp>
      <p:sp>
        <p:nvSpPr>
          <p:cNvPr id="13"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4" name="Text 10"/>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5"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6"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83 % then 92 % of grid points exceed 5°. Four tags in view: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371600"/>
                <a:gridCol w="1097280"/>
                <a:gridCol w="94457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Spread,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074920"/>
            <a:ext cx="11094415" cy="1188720"/>
          </a:xfrm>
          <a:prstGeom prst="rect">
            <a:avLst/>
          </a:prstGeom>
          <a:solidFill>
            <a:schemeClr val="bg2"/>
          </a:solidFill>
          <a:ln w="6350">
            <a:solidFill>
              <a:schemeClr val="bg2"/>
            </a:solidFill>
            <a:prstDash val="solid"/>
          </a:ln>
        </p:spPr>
      </p:sp>
      <p:sp>
        <p:nvSpPr>
          <p:cNvPr id="30" name="Text 27"/>
          <p:cNvSpPr txBox="1"/>
          <p:nvPr/>
        </p:nvSpPr>
        <p:spPr>
          <a:xfrm>
            <a:off x="731520" y="51663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34924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733288"/>
            <a:ext cx="10728655" cy="4754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Equal geometry: √(160 / 0.2) = 28×; spreading lengths are for a 0.48 mm sheet. Flange path, 5 mm PETG vs 3.2 mm aluminium: 1260× = 800× from k × 1.6× from thickness.</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333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anchors in studs, nobody underneath.</a:t>
            </a:r>
            <a:endParaRPr lang="en-US" sz="3000" dirty="0"/>
          </a:p>
        </p:txBody>
      </p:sp>
      <p:sp>
        <p:nvSpPr>
          <p:cNvPr id="4" name="safety_card_1"/>
          <p:cNvSpPr/>
          <p:nvPr/>
        </p:nvSpPr>
        <p:spPr>
          <a:xfrm>
            <a:off x="548640" y="1920240"/>
            <a:ext cx="2602154" cy="338328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The switched power strip is the only stop. Faults and pause hold torque.</a:t>
            </a:r>
            <a:endParaRPr lang="en-US" sz="1400" dirty="0"/>
          </a:p>
        </p:txBody>
      </p:sp>
      <p:sp>
        <p:nvSpPr>
          <p:cNvPr id="8" name="safety_card_2"/>
          <p:cNvSpPr/>
          <p:nvPr/>
        </p:nvSpPr>
        <p:spPr>
          <a:xfrm>
            <a:off x="3379394" y="1920240"/>
            <a:ext cx="2602154" cy="3383280"/>
          </a:xfrm>
          <a:prstGeom prst="rect">
            <a:avLst/>
          </a:prstGeom>
          <a:solidFill>
            <a:schemeClr val="bg2"/>
          </a:solidFill>
          <a:ln w="6350">
            <a:solidFill>
              <a:schemeClr val="bg2"/>
            </a:solidFill>
            <a:prstDash val="solid"/>
          </a:ln>
        </p:spPr>
      </p:sp>
      <p:pic>
        <p:nvPicPr>
          <p:cNvPr id="9" name="safety_icon_2" descr="Stud anchors">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 anchors</a:t>
            </a:r>
            <a:endParaRPr lang="en-US" sz="1900" dirty="0"/>
          </a:p>
        </p:txBody>
      </p:sp>
      <p:sp>
        <p:nvSpPr>
          <p:cNvPr id="11" name="Text 7"/>
          <p:cNvSpPr txBox="1"/>
          <p:nvPr/>
        </p:nvSpPr>
        <p:spPr>
          <a:xfrm>
            <a:off x="3653714"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Designed to screw into wall studs; screw pattern vs stud width and slide-in retention are still open. Line load is mostly pull-out and prying, plus some shear.</a:t>
            </a:r>
            <a:endParaRPr lang="en-US" sz="1400" dirty="0"/>
          </a:p>
        </p:txBody>
      </p:sp>
      <p:sp>
        <p:nvSpPr>
          <p:cNvPr id="12" name="safety_card_3"/>
          <p:cNvSpPr/>
          <p:nvPr/>
        </p:nvSpPr>
        <p:spPr>
          <a:xfrm>
            <a:off x="6210148" y="1920240"/>
            <a:ext cx="2602154" cy="338328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Nobody stands under the robot while it moves.</a:t>
            </a:r>
            <a:endParaRPr lang="en-US" sz="1400" dirty="0"/>
          </a:p>
        </p:txBody>
      </p:sp>
      <p:sp>
        <p:nvSpPr>
          <p:cNvPr id="16" name="safety_card_4"/>
          <p:cNvSpPr/>
          <p:nvPr/>
        </p:nvSpPr>
        <p:spPr>
          <a:xfrm>
            <a:off x="9040901" y="1920240"/>
            <a:ext cx="2602154" cy="3383280"/>
          </a:xfrm>
          <a:prstGeom prst="rect">
            <a:avLst/>
          </a:prstGeom>
          <a:solidFill>
            <a:schemeClr val="bg2"/>
          </a:solidFill>
          <a:ln w="6350">
            <a:solidFill>
              <a:schemeClr val="bg2"/>
            </a:solidFill>
            <a:prstDash val="solid"/>
          </a:ln>
        </p:spPr>
      </p:sp>
      <p:pic>
        <p:nvPicPr>
          <p:cNvPr id="17" name="safety_icon_4" descr="Balance charging">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Balance charging</a:t>
            </a:r>
            <a:endParaRPr lang="en-US" sz="1900" dirty="0"/>
          </a:p>
        </p:txBody>
      </p:sp>
      <p:sp>
        <p:nvSpPr>
          <p:cNvPr id="19" name="Text 13"/>
          <p:cNvSpPr txBox="1"/>
          <p:nvPr/>
        </p:nvSpPr>
        <p:spPr>
          <a:xfrm>
            <a:off x="9315221" y="3566160"/>
            <a:ext cx="2053514" cy="1645920"/>
          </a:xfrm>
          <a:prstGeom prst="rect">
            <a:avLst/>
          </a:prstGeom>
          <a:noFill/>
          <a:ln/>
        </p:spPr>
        <p:txBody>
          <a:bodyPr wrap="square" lIns="0" tIns="0" rIns="0" bIns="0" rtlCol="0" anchor="t"/>
          <a:lstStyle/>
          <a:p>
            <a:pPr indent="0" marL="0">
              <a:buNone/>
            </a:pPr>
            <a:r>
              <a:rPr lang="en-US" sz="1400" dirty="0">
                <a:solidFill>
                  <a:schemeClr val="tx1"/>
                </a:solidFill>
              </a:rPr>
              <a:t>Charge the 2S LiPo with a matched balance charger, pack off the robot.</a:t>
            </a:r>
            <a:endParaRPr lang="en-US" sz="1400" dirty="0"/>
          </a:p>
        </p:txBody>
      </p:sp>
      <p:sp>
        <p:nvSpPr>
          <p:cNvPr id="20" name="Text 14"/>
          <p:cNvSpPr txBox="1"/>
          <p:nvPr/>
        </p:nvSpPr>
        <p:spPr>
          <a:xfrm>
            <a:off x="548640" y="553212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2026-10-21T14:10:21Z</dcterms:created>
  <dcterms:modified xsi:type="dcterms:W3CDTF">2026-10-21T14:10:21Z</dcterms:modified>
</cp:coreProperties>
</file>