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9.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26421837-4635-5121-8971-defc50b839ec}">
          <p14:sldIdLst>
            <p14:sldId id="256"/>
            <p14:sldId id="257"/>
            <p14:sldId id="258"/>
          </p14:sldIdLst>
        </p14:section>
        <p14:section name="Act 1 · Physics sets the limits" id="{d9498369-0daa-007c-3713-eb60994a9312}">
          <p14:sldIdLst>
            <p14:sldId id="259"/>
            <p14:sldId id="260"/>
            <p14:sldId id="261"/>
            <p14:sldId id="262"/>
          </p14:sldIdLst>
        </p14:section>
        <p14:section name="Act 2 · Making it buildable" id="{4818afb5-df63-f23d-c9d6-d8d400aac938}">
          <p14:sldIdLst>
            <p14:sldId id="263"/>
            <p14:sldId id="264"/>
            <p14:sldId id="265"/>
            <p14:sldId id="266"/>
            <p14:sldId id="267"/>
          </p14:sldIdLst>
        </p14:section>
        <p14:section name="Act 3 · Electronics and debugging" id="{b59c1dd7-4079-1d84-2ea6-ca6623507635}">
          <p14:sldIdLst>
            <p14:sldId id="268"/>
            <p14:sldId id="269"/>
            <p14:sldId id="270"/>
          </p14:sldIdLst>
        </p14:section>
        <p14:section name="Close" id="{55136101-d927-7949-2dd9-0c6af1852832}">
          <p14:sldIdLst>
            <p14:sldId id="271"/>
            <p14:sldId id="272"/>
          </p14:sldIdLst>
        </p14:section>
        <p14:section name="Backups" id="{e2cd9409-0737-3ea8-e22c-6348ca1e8925}">
          <p14:sldIdLst>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4"/>
          <c:y val="0.04"/>
          <c:w val="0.82"/>
          <c:h val="0.68"/>
        </c:manualLayout>
      </c:layout>
      <c:scatterChart>
        <c:scatterStyle val="lineMarker"/>
        <c:varyColors val="0"/>
        <c:ser>
          <c:idx val="0"/>
          <c:order val="0"/>
          <c:tx>
            <c:strRef>
              <c:f>Sheet1!$B$1</c:f>
              <c:strCache>
                <c:ptCount val="1"/>
                <c:pt idx="0">
                  <c:v>Static: 1 lb + 0.45 kg claw</c:v>
                </c:pt>
              </c:strCache>
            </c:strRef>
          </c:tx>
          <c:spPr>
            <a:solidFill>
              <a:srgbClr val="FF6A13"/>
            </a:solidFill>
            <a:ln w="38100" cap="flat">
              <a:solidFill>
                <a:srgbClr val="FF6A13"/>
              </a:solidFill>
              <a:prstDash val="solid"/>
              <a:round/>
            </a:ln>
            <a:effectLst/>
          </c:spPr>
          <c:marker>
            <c:symbol val="none"/>
            <c:size val="6"/>
            <c:spPr>
              <a:solidFill>
                <a:srgbClr val="FF6A13"/>
              </a:solidFill>
              <a:ln w="9525" cap="flat">
                <a:solidFill>
                  <a:srgbClr val="FF6A13"/>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Sheet1!$B$2:$B$23</c:f>
              <c:numCache>
                <c:formatCode>General</c:formatCode>
                <c:ptCount val="22"/>
                <c:pt idx="0">
                  <c:v>32.1</c:v>
                </c:pt>
                <c:pt idx="1">
                  <c:v>24.1</c:v>
                </c:pt>
                <c:pt idx="2">
                  <c:v>19.3</c:v>
                </c:pt>
                <c:pt idx="3">
                  <c:v>16.2</c:v>
                </c:pt>
                <c:pt idx="4">
                  <c:v>13.9</c:v>
                </c:pt>
                <c:pt idx="5">
                  <c:v>12.2</c:v>
                </c:pt>
                <c:pt idx="6">
                  <c:v>10.9</c:v>
                </c:pt>
                <c:pt idx="7">
                  <c:v>9.9</c:v>
                </c:pt>
                <c:pt idx="8">
                  <c:v>9</c:v>
                </c:pt>
                <c:pt idx="9">
                  <c:v>8.3</c:v>
                </c:pt>
                <c:pt idx="10">
                  <c:v>7.7</c:v>
                </c:pt>
                <c:pt idx="11">
                  <c:v>7.2</c:v>
                </c:pt>
                <c:pt idx="12">
                  <c:v>6.8</c:v>
                </c:pt>
                <c:pt idx="13">
                  <c:v>6.4</c:v>
                </c:pt>
                <c:pt idx="14">
                  <c:v>6.1</c:v>
                </c:pt>
                <c:pt idx="15">
                  <c:v>5.8</c:v>
                </c:pt>
                <c:pt idx="16">
                  <c:v>5.5</c:v>
                </c:pt>
                <c:pt idx="17">
                  <c:v>5.3</c:v>
                </c:pt>
                <c:pt idx="18">
                  <c:v>5.1</c:v>
                </c:pt>
                <c:pt idx="19">
                  <c:v>4.9</c:v>
                </c:pt>
                <c:pt idx="20">
                  <c:v>4.7</c:v>
                </c:pt>
                <c:pt idx="21">
                  <c:v>4.6</c:v>
                </c:pt>
              </c:numCache>
            </c:numRef>
          </c:yVal>
          <c:smooth val="0"/>
        </c:ser>
        <c:ser>
          <c:idx val="1"/>
          <c:order val="1"/>
          <c:tx>
            <c:strRef>
              <c:f>Sheet1!$C$1</c:f>
              <c:strCache>
                <c:ptCount val="1"/>
                <c:pt idx="0">
                  <c:v>With +2 m/s²</c:v>
                </c:pt>
              </c:strCache>
            </c:strRef>
          </c:tx>
          <c:spPr>
            <a:solidFill>
              <a:srgbClr val="6B7480"/>
            </a:solidFill>
            <a:ln w="38100" cap="flat">
              <a:solidFill>
                <a:srgbClr val="6B7480"/>
              </a:solidFill>
              <a:prstDash val="solid"/>
              <a:round/>
            </a:ln>
            <a:effectLst/>
          </c:spPr>
          <c:marker>
            <c:symbol val="none"/>
            <c:size val="6"/>
            <c:spPr>
              <a:solidFill>
                <a:srgbClr val="6B7480"/>
              </a:solidFill>
              <a:ln w="9525" cap="flat">
                <a:solidFill>
                  <a:srgbClr val="6B7480"/>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Sheet1!$C$2:$C$23</c:f>
              <c:numCache>
                <c:formatCode>General</c:formatCode>
                <c:ptCount val="22"/>
                <c:pt idx="0">
                  <c:v>38.6</c:v>
                </c:pt>
                <c:pt idx="1">
                  <c:v>29</c:v>
                </c:pt>
                <c:pt idx="2">
                  <c:v>23.3</c:v>
                </c:pt>
                <c:pt idx="3">
                  <c:v>19.4</c:v>
                </c:pt>
                <c:pt idx="4">
                  <c:v>16.7</c:v>
                </c:pt>
                <c:pt idx="5">
                  <c:v>14.7</c:v>
                </c:pt>
                <c:pt idx="6">
                  <c:v>13.1</c:v>
                </c:pt>
                <c:pt idx="7">
                  <c:v>11.9</c:v>
                </c:pt>
                <c:pt idx="8">
                  <c:v>10.8</c:v>
                </c:pt>
                <c:pt idx="9">
                  <c:v>10</c:v>
                </c:pt>
                <c:pt idx="10">
                  <c:v>9.3</c:v>
                </c:pt>
                <c:pt idx="11">
                  <c:v>8.7</c:v>
                </c:pt>
                <c:pt idx="12">
                  <c:v>8.2</c:v>
                </c:pt>
                <c:pt idx="13">
                  <c:v>7.7</c:v>
                </c:pt>
                <c:pt idx="14">
                  <c:v>7.3</c:v>
                </c:pt>
                <c:pt idx="15">
                  <c:v>7</c:v>
                </c:pt>
                <c:pt idx="16">
                  <c:v>6.6</c:v>
                </c:pt>
                <c:pt idx="17">
                  <c:v>6.4</c:v>
                </c:pt>
                <c:pt idx="18">
                  <c:v>6.1</c:v>
                </c:pt>
                <c:pt idx="19">
                  <c:v>5.9</c:v>
                </c:pt>
                <c:pt idx="20">
                  <c:v>5.7</c:v>
                </c:pt>
                <c:pt idx="21">
                  <c:v>5.5</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2"/>
          <c:min val="0.15"/>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Depth below the anchors (m)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0.15"/>
      </c:valAx>
      <c:valAx>
        <c:axId val="2094734552"/>
        <c:scaling>
          <c:orientation val="minMax"/>
          <c:max val="4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Tension per cable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1"/>
          <c:w val="0.84"/>
          <c:h val="0.56"/>
        </c:manualLayout>
      </c:layout>
      <c:barChart>
        <c:barDir val="col"/>
        <c:grouping val="clustered"/>
        <c:varyColors val="0"/>
        <c:ser>
          <c:idx val="0"/>
          <c:order val="0"/>
          <c:tx>
            <c:strRef>
              <c:f>Sheet1!$B$1</c:f>
              <c:strCache>
                <c:ptCount val="1"/>
                <c:pt idx="0">
                  <c:v>Largest claw that still lifts 0.9 kg jeans (g)</c:v>
                </c:pt>
              </c:strCache>
            </c:strRef>
          </c:tx>
          <c:spPr>
            <a:solidFill>
              <a:srgbClr val="6B7480"/>
            </a:solidFill>
            <a:effectLst/>
          </c:spPr>
          <c:invertIfNegative val="0"/>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6B7480"/>
              </a:solidFill>
              <a:effectLst/>
            </c:spPr>
          </c:dPt>
          <c:dPt>
            <c:idx val="2"/>
            <c:invertIfNegative val="0"/>
            <c:bubble3D val="0"/>
            <c:spPr>
              <a:solidFill>
                <a:srgbClr val="FF6A13"/>
              </a:solidFill>
              <a:effectLst/>
            </c:spPr>
          </c:dPt>
          <c:dPt>
            <c:idx val="3"/>
            <c:invertIfNegative val="0"/>
            <c:bubble3D val="0"/>
            <c:spPr>
              <a:solidFill>
                <a:srgbClr val="6B7480"/>
              </a:solidFill>
              <a:effectLst/>
            </c:spPr>
          </c:dPt>
          <c:cat>
            <c:multiLvlStrRef>
              <c:f>Sheet1!$A$2:$A$5</c:f>
              <c:multiLvlStrCache>
                <c:ptCount val="4"/>
                <c:lvl>
                  <c:pt idx="0">
                    <c:v>Ø15 mm
11.9 N</c:v>
                  </c:pt>
                  <c:pt idx="1">
                    <c:v>Ø12 mm
14.0 N</c:v>
                  </c:pt>
                  <c:pt idx="2">
                    <c:v>Ø10 mm
14.9 N</c:v>
                  </c:pt>
                  <c:pt idx="3">
                    <c:v>Ø8 mm
15.9 N</c:v>
                  </c:pt>
                </c:lvl>
              </c:multiLvlStrCache>
            </c:multiLvlStrRef>
          </c:cat>
          <c:val>
            <c:numRef>
              <c:f>Sheet1!$B$2:$B$5</c:f>
              <c:numCache>
                <c:formatCode>General</c:formatCode>
                <c:ptCount val="4"/>
                <c:pt idx="0">
                  <c:v>202</c:v>
                </c:pt>
                <c:pt idx="1">
                  <c:v>397</c:v>
                </c:pt>
                <c:pt idx="2">
                  <c:v>478</c:v>
                </c:pt>
                <c:pt idx="3">
                  <c:v>570</c:v>
                </c:pt>
              </c:numCache>
            </c:numRef>
          </c:val>
        </c:ser>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Spool core and design force</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2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Largest claw (g)</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2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No fin</c:v>
                </c:pt>
              </c:strCache>
            </c:strRef>
          </c:tx>
          <c:spPr>
            <a:solidFill>
              <a:srgbClr val="6B7480"/>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Sheet1!$B$2:$B$4</c:f>
              <c:numCache>
                <c:formatCode>General</c:formatCode>
                <c:ptCount val="3"/>
                <c:pt idx="0">
                  <c:v>47</c:v>
                </c:pt>
                <c:pt idx="1">
                  <c:v>51</c:v>
                </c:pt>
                <c:pt idx="2">
                  <c:v>64</c:v>
                </c:pt>
              </c:numCache>
            </c:numRef>
          </c:val>
        </c:ser>
        <c:ser>
          <c:idx val="1"/>
          <c:order val="1"/>
          <c:tx>
            <c:strRef>
              <c:f>Sheet1!$C$1</c:f>
              <c:strCache>
                <c:ptCount val="1"/>
                <c:pt idx="0">
                  <c:v>As-built fin, 0.019 in</c:v>
                </c:pt>
              </c:strCache>
            </c:strRef>
          </c:tx>
          <c:spPr>
            <a:solidFill>
              <a:srgbClr val="FF6A13"/>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Sheet1!$C$2:$C$4</c:f>
              <c:numCache>
                <c:formatCode>General</c:formatCode>
                <c:ptCount val="3"/>
                <c:pt idx="0">
                  <c:v>39</c:v>
                </c:pt>
                <c:pt idx="1">
                  <c:v>41</c:v>
                </c:pt>
                <c:pt idx="2">
                  <c:v>46</c:v>
                </c:pt>
              </c:numCache>
            </c:numRef>
          </c:val>
        </c:ser>
        <c:ser>
          <c:idx val="2"/>
          <c:order val="2"/>
          <c:tx>
            <c:strRef>
              <c:f>Sheet1!$D$1</c:f>
              <c:strCache>
                <c:ptCount val="1"/>
                <c:pt idx="0">
                  <c:v>Drawn fin, 1/8 in</c:v>
                </c:pt>
              </c:strCache>
            </c:strRef>
          </c:tx>
          <c:spPr>
            <a:solidFill>
              <a:srgbClr val="A9B0B8"/>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Sheet1!$D$2:$D$4</c:f>
              <c:numCache>
                <c:formatCode>General</c:formatCode>
                <c:ptCount val="3"/>
                <c:pt idx="0">
                  <c:v>35</c:v>
                </c:pt>
                <c:pt idx="1">
                  <c:v>36</c:v>
                </c:pt>
                <c:pt idx="2">
                  <c:v>40</c:v>
                </c:pt>
              </c:numCache>
            </c:numRef>
          </c:val>
        </c:ser>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Motor case temperature (°C)</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4"/>
          <c:y val="0.04"/>
          <c:w val="0.92"/>
          <c:h val="0.68"/>
        </c:manualLayout>
      </c:layout>
      <c:barChart>
        <c:barDir val="col"/>
        <c:grouping val="clustered"/>
        <c:varyColors val="0"/>
        <c:ser>
          <c:idx val="0"/>
          <c:order val="0"/>
          <c:tx>
            <c:strRef>
              <c:f>Sheet1!$B$1</c:f>
              <c:strCache>
                <c:ptCount val="1"/>
                <c:pt idx="0">
                  <c:v>Fin efficiency (%)</c:v>
                </c:pt>
              </c:strCache>
            </c:strRef>
          </c:tx>
          <c:spPr>
            <a:solidFill>
              <a:srgbClr val="6B7480"/>
            </a:solidFill>
            <a:effectLst/>
          </c:spPr>
          <c:invertIfNegative val="0"/>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FF6A13"/>
              </a:solidFill>
              <a:effectLst/>
            </c:spPr>
          </c:dPt>
          <c:cat>
            <c:multiLvlStrRef>
              <c:f>Sheet1!$A$2:$A$3</c:f>
              <c:multiLvlStrCache>
                <c:ptCount val="2"/>
                <c:lvl>
                  <c:pt idx="0">
                    <c:v>Drawn 1/8 in</c:v>
                  </c:pt>
                  <c:pt idx="1">
                    <c:v>Built 0.019 in</c:v>
                  </c:pt>
                </c:lvl>
              </c:multiLvlStrCache>
            </c:multiLvlStrRef>
          </c:cat>
          <c:val>
            <c:numRef>
              <c:f>Sheet1!$B$2:$B$3</c:f>
              <c:numCache>
                <c:formatCode>General</c:formatCode>
                <c:ptCount val="2"/>
                <c:pt idx="0">
                  <c:v>74</c:v>
                </c:pt>
                <c:pt idx="1">
                  <c:v>37</c:v>
                </c:pt>
              </c:numCache>
            </c:numRef>
          </c:val>
        </c:ser>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1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Required normal force per jaw (N)</c:v>
                </c:pt>
              </c:strCache>
            </c:strRef>
          </c:tx>
          <c:spPr>
            <a:solidFill>
              <a:srgbClr val="6B7480"/>
            </a:solidFill>
            <a:effectLst/>
          </c:spPr>
          <c:invertIfNegative val="0"/>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6B7480"/>
              </a:solidFill>
              <a:effectLst/>
            </c:spPr>
          </c:dPt>
          <c:dPt>
            <c:idx val="2"/>
            <c:invertIfNegative val="0"/>
            <c:bubble3D val="0"/>
            <c:spPr>
              <a:solidFill>
                <a:srgbClr val="FF6A13"/>
              </a:solidFill>
              <a:effectLst/>
            </c:spPr>
          </c:dPt>
          <c:dPt>
            <c:idx val="3"/>
            <c:invertIfNegative val="0"/>
            <c:bubble3D val="0"/>
            <c:spPr>
              <a:solidFill>
                <a:srgbClr val="6B7480"/>
              </a:solidFill>
              <a:effectLst/>
            </c:spPr>
          </c:dPt>
          <c:cat>
            <c:multiLvlStrRef>
              <c:f>Sheet1!$A$2:$A$5</c:f>
              <c:multiLvlStrCache>
                <c:ptCount val="4"/>
                <c:lvl>
                  <c:pt idx="0">
                    <c:v>1 lb
μ 0.3</c:v>
                  </c:pt>
                  <c:pt idx="1">
                    <c:v>1 lb
μ 0.6</c:v>
                  </c:pt>
                  <c:pt idx="2">
                    <c:v>Jeans
μ 0.3</c:v>
                  </c:pt>
                  <c:pt idx="3">
                    <c:v>Jeans
μ 0.6</c:v>
                  </c:pt>
                </c:lvl>
              </c:multiLvlStrCache>
            </c:multiLvlStrRef>
          </c:cat>
          <c:val>
            <c:numRef>
              <c:f>Sheet1!$B$2:$B$5</c:f>
              <c:numCache>
                <c:formatCode>General</c:formatCode>
                <c:ptCount val="4"/>
                <c:pt idx="0">
                  <c:v>8.9</c:v>
                </c:pt>
                <c:pt idx="1">
                  <c:v>4.5</c:v>
                </c:pt>
                <c:pt idx="2">
                  <c:v>17.7</c:v>
                </c:pt>
                <c:pt idx="3">
                  <c:v>8.9</c:v>
                </c:pt>
              </c:numCache>
            </c:numRef>
          </c:val>
        </c:ser>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6"/>
          <c:h val="0.7"/>
        </c:manualLayout>
      </c:layout>
      <c:scatterChart>
        <c:scatterStyle val="lineMarker"/>
        <c:varyColors val="0"/>
        <c:ser>
          <c:idx val="0"/>
          <c:order val="0"/>
          <c:tx>
            <c:strRef>
              <c:f>Sheet1!$B$1</c:f>
              <c:strCache>
                <c:ptCount val="1"/>
                <c:pt idx="0">
                  <c:v>Force per jaw at 4.8 V (N)</c:v>
                </c:pt>
              </c:strCache>
            </c:strRef>
          </c:tx>
          <c:spPr>
            <a:solidFill>
              <a:srgbClr val="FF6A13"/>
            </a:solidFill>
            <a:ln w="38100" cap="flat">
              <a:solidFill>
                <a:srgbClr val="FF6A13"/>
              </a:solidFill>
              <a:prstDash val="solid"/>
              <a:round/>
            </a:ln>
            <a:effectLst/>
          </c:spPr>
          <c:marker>
            <c:symbol val="circle"/>
            <c:size val="8"/>
            <c:spPr>
              <a:solidFill>
                <a:srgbClr val="FF6A13"/>
              </a:solidFill>
              <a:ln w="9525" cap="flat">
                <a:solidFill>
                  <a:srgbClr val="FF6A13"/>
                </a:solidFill>
                <a:prstDash val="solid"/>
                <a:round/>
              </a:ln>
              <a:effectLst/>
            </c:spPr>
          </c:marker>
          <c:xVal>
            <c:numRef>
              <c:f>Sheet1!$A$2:$A$9</c:f>
              <c:numCache>
                <c:formatCode>General</c:formatCode>
                <c:ptCount val="8"/>
                <c:pt idx="0">
                  <c:v>0.6</c:v>
                </c:pt>
                <c:pt idx="1">
                  <c:v>10</c:v>
                </c:pt>
                <c:pt idx="2">
                  <c:v>20</c:v>
                </c:pt>
                <c:pt idx="3">
                  <c:v>40</c:v>
                </c:pt>
                <c:pt idx="4">
                  <c:v>60</c:v>
                </c:pt>
                <c:pt idx="5">
                  <c:v>70</c:v>
                </c:pt>
                <c:pt idx="6">
                  <c:v>80</c:v>
                </c:pt>
                <c:pt idx="7">
                  <c:v>85</c:v>
                </c:pt>
              </c:numCache>
            </c:numRef>
          </c:xVal>
          <c:yVal>
            <c:numRef>
              <c:f>Sheet1!$B$2:$B$9</c:f>
              <c:numCache>
                <c:formatCode>General</c:formatCode>
                <c:ptCount val="8"/>
                <c:pt idx="0">
                  <c:v>13.3</c:v>
                </c:pt>
                <c:pt idx="1">
                  <c:v>14.1</c:v>
                </c:pt>
                <c:pt idx="2">
                  <c:v>15</c:v>
                </c:pt>
                <c:pt idx="3">
                  <c:v>17.2</c:v>
                </c:pt>
                <c:pt idx="4">
                  <c:v>21.1</c:v>
                </c:pt>
                <c:pt idx="5">
                  <c:v>25</c:v>
                </c:pt>
                <c:pt idx="6">
                  <c:v>33.4</c:v>
                </c:pt>
                <c:pt idx="7">
                  <c:v>43.6</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90"/>
          <c:min val="0"/>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Jaw tip gap (mm)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10"/>
      </c:valAx>
      <c:valAx>
        <c:axId val="2094734552"/>
        <c:scaling>
          <c:orientation val="minMax"/>
          <c:max val="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5"/>
        </c:manualLayout>
      </c:layout>
      <c:barChart>
        <c:barDir val="col"/>
        <c:grouping val="clustered"/>
        <c:varyColors val="0"/>
        <c:ser>
          <c:idx val="0"/>
          <c:order val="0"/>
          <c:tx>
            <c:strRef>
              <c:f>Sheet1!$B$1</c:f>
              <c:strCache>
                <c:ptCount val="1"/>
                <c:pt idx="0">
                  <c:v>CoM depth 0.196 m (recorded, stale)</c:v>
                </c:pt>
              </c:strCache>
            </c:strRef>
          </c:tx>
          <c:spPr>
            <a:solidFill>
              <a:srgbClr val="6B7480"/>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Sheet1!$B$2:$B$3</c:f>
              <c:numCache>
                <c:formatCode>General</c:formatCode>
                <c:ptCount val="2"/>
                <c:pt idx="0">
                  <c:v>8.7</c:v>
                </c:pt>
                <c:pt idx="1">
                  <c:v>12.9</c:v>
                </c:pt>
              </c:numCache>
            </c:numRef>
          </c:val>
        </c:ser>
        <c:ser>
          <c:idx val="1"/>
          <c:order val="1"/>
          <c:tx>
            <c:strRef>
              <c:f>Sheet1!$C$1</c:f>
              <c:strCache>
                <c:ptCount val="1"/>
                <c:pt idx="0">
                  <c:v>CoM depth 0.116 m (current estimate)</c:v>
                </c:pt>
              </c:strCache>
            </c:strRef>
          </c:tx>
          <c:spPr>
            <a:solidFill>
              <a:srgbClr val="FF6A13"/>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Sheet1!$C$2:$C$3</c:f>
              <c:numCache>
                <c:formatCode>General</c:formatCode>
                <c:ptCount val="2"/>
                <c:pt idx="0">
                  <c:v>13.8</c:v>
                </c:pt>
                <c:pt idx="1">
                  <c:v>20.7</c:v>
                </c:pt>
              </c:numCache>
            </c:numRef>
          </c:val>
        </c:ser>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1"/>
          <c:y val="0.05"/>
          <c:w val="0.85"/>
          <c:h val="0.65"/>
        </c:manualLayout>
      </c:layout>
      <c:lineChart>
        <c:varyColors val="0"/>
        <c:ser>
          <c:idx val="0"/>
          <c:order val="0"/>
          <c:tx>
            <c:strRef>
              <c:f>Sheet1!$B$1</c:f>
              <c:strCache>
                <c:ptCount val="1"/>
                <c:pt idx="0">
                  <c:v>One 152 mm tag</c:v>
                </c:pt>
              </c:strCache>
            </c:strRef>
          </c:tx>
          <c:spPr>
            <a:solidFill>
              <a:srgbClr val="FF6A13"/>
            </a:solidFill>
            <a:ln w="38100" cap="flat">
              <a:solidFill>
                <a:srgbClr val="FF6A13"/>
              </a:solidFill>
              <a:prstDash val="solid"/>
              <a:round/>
            </a:ln>
            <a:effectLst/>
          </c:spPr>
          <c:invertIfNegative val="0"/>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c:symbol val="circle"/>
            <c:size val="8"/>
            <c:spPr>
              <a:solidFill>
                <a:srgbClr val="FF6A13"/>
              </a:solidFill>
              <a:ln w="9525" cap="flat">
                <a:solidFill>
                  <a:srgbClr val="FF6A13"/>
                </a:solidFill>
                <a:prstDash val="solid"/>
                <a:round/>
              </a:ln>
              <a:effectLst/>
            </c:spPr>
          </c:marker>
          <c:cat>
            <c:multiLvlStrRef>
              <c:f>Sheet1!$A$2:$A$5</c:f>
              <c:multiLvlStrCache>
                <c:ptCount val="4"/>
                <c:lvl>
                  <c:pt idx="0">
                    <c:v>0.46 m</c:v>
                  </c:pt>
                  <c:pt idx="1">
                    <c:v>0.60 m</c:v>
                  </c:pt>
                  <c:pt idx="2">
                    <c:v>0.80 m</c:v>
                  </c:pt>
                  <c:pt idx="3">
                    <c:v>1.00 m</c:v>
                  </c:pt>
                </c:lvl>
              </c:multiLvlStrCache>
            </c:multiLvlStrRef>
          </c:cat>
          <c:val>
            <c:numRef>
              <c:f>Sheet1!$B$2:$B$5</c:f>
              <c:numCache>
                <c:formatCode>General</c:formatCode>
                <c:ptCount val="4"/>
                <c:pt idx="0">
                  <c:v>10.5</c:v>
                </c:pt>
                <c:pt idx="1">
                  <c:v>17.9</c:v>
                </c:pt>
                <c:pt idx="2">
                  <c:v>31.8</c:v>
                </c:pt>
                <c:pt idx="3">
                  <c:v>49.7</c:v>
                </c:pt>
              </c:numCache>
            </c:numRef>
          </c:val>
          <c:smooth val="0"/>
        </c:ser>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Camera range to the tag</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8"/>
        </c:manualLayout>
      </c:layout>
      <c:barChart>
        <c:barDir val="col"/>
        <c:grouping val="clustered"/>
        <c:varyColors val="0"/>
        <c:ser>
          <c:idx val="0"/>
          <c:order val="0"/>
          <c:tx>
            <c:strRef>
              <c:f>Sheet1!$B$1</c:f>
              <c:strCache>
                <c:ptCount val="1"/>
                <c:pt idx="0">
                  <c:v>4.8 V stall</c:v>
                </c:pt>
              </c:strCache>
            </c:strRef>
          </c:tx>
          <c:spPr>
            <a:solidFill>
              <a:srgbClr val="6B7480"/>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Sheet1!$B$2:$B$4</c:f>
              <c:numCache>
                <c:formatCode>General</c:formatCode>
                <c:ptCount val="3"/>
                <c:pt idx="0">
                  <c:v>2.4</c:v>
                </c:pt>
                <c:pt idx="1">
                  <c:v>2.93</c:v>
                </c:pt>
                <c:pt idx="2">
                  <c:v>2.34</c:v>
                </c:pt>
              </c:numCache>
            </c:numRef>
          </c:val>
        </c:ser>
        <c:ser>
          <c:idx val="1"/>
          <c:order val="1"/>
          <c:tx>
            <c:strRef>
              <c:f>Sheet1!$C$1</c:f>
              <c:strCache>
                <c:ptCount val="1"/>
                <c:pt idx="0">
                  <c:v>6.0 V stall</c:v>
                </c:pt>
              </c:strCache>
            </c:strRef>
          </c:tx>
          <c:spPr>
            <a:solidFill>
              <a:srgbClr val="FF6A13"/>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Sheet1!$C$2:$C$4</c:f>
              <c:numCache>
                <c:formatCode>General</c:formatCode>
                <c:ptCount val="3"/>
                <c:pt idx="0">
                  <c:v>2.05</c:v>
                </c:pt>
                <c:pt idx="1">
                  <c:v>2.5</c:v>
                </c:pt>
                <c:pt idx="2">
                  <c:v>2</c:v>
                </c:pt>
              </c:numCache>
            </c:numRef>
          </c:val>
        </c:ser>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Safety factor; dashed line = 2.0</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set out to build a ceiling robot that picks laundry off my floor; every time a measurement disagreed with my plan I changed the design, and every change traces back to a first-principles equation.
NUMBERS: Four wall winch stations, one claw on four cables. Target payload 0.9 kg of jeans (provisional screening reference). About 30 minutes of content, 12 decision slides (4 to 15), 7 backups.
LIKELY QUESTION: Give me the 30-second version.
ANSWER: Four wall-mounted winch stations hold a claw on four cables. The claw descends onto the laundry, closes its jaws with one servo, carries the load and releases it over a hamper. I will show twelve decisions where a calculation or a measurement forced me to change the plan, including the ones that did not work out.
NEED FROM JASPER: Confirm the title wording and the panel date (Tue Oct 27). Photo 13 is the gen-1 station lifting the test weight (no weight, duration or result is recorded, so the slide makes no claim about it).
SOURCE: docs/presentation/DECK_STORYLINE.md slide 1; photo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solo build over about three months: I bought a few modules and designed, printed, machined and wired everything else.
NUMBERS: Jul 16 first commit (simulator, BOM, first CAD); Aug gen-1 printed plate and bench; Oct 7 SolidWorks gen-2 station; Oct 20 gripper v6; Oct 27 panel. Purchased: A4988 driver, ESP32, DROK buck, MG996R servo. Tags: MEASURED = instrument on hardware, CALCULATED = hand calculation, SIMULATED = ran in a model, PLANNED = not done yet.
LIKELY QUESTION: What did you actually do yourself?
ANSWER: I drew the parts, printed them (PETG structural, TPU 95A fingers), sheared and drilled the aluminium fins on a manual mill, wired the bench and perfboard electronics, and wrote the control logic. The purchased modules are the driver, the ESP32, the buck converter and the servo.
NEED FROM JASPER: Confirm the true start date (git says Jul 16; the older outline said Aug 6) and the printer and filament used for fit-critical parts (K1 or K1 Max, brand).
SOURCE: DECK_STORYLINE.md slide 2; DECISION_STORIES.md section 4 item 1 and Q20.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Done means a pair of jeans, about 0.9 kg, goes from anywhere on the floor into the hamper with nobody touching it.
NUMBERS: Payload 0.9 kg (provisional screening reference for jeans) plus 2 m/s² vertical acceleration; first test load 1 lb (0.454 kg). Claw mass budget 0.45 kg (requirement R7; the printed claw is estimated at 1.05 to 1.25 kg and has not been weighed). Four stations screwed into studs. The switched power strip is the only stop (decision D21; no safety-rated function is claimed). Nobody under the robot.
LIKELY QUESTION: Why 0.9 kg?
ANSWER: It is a provisional screening reference for a pair of jeans, not a measured garment; the first physical test load is 1 lb. Weighing a representative pair is on my list.
NEED FROM JASPER: Weigh a representative pair of jeans. Decide which claw mass you want to defend: the 450 g requirement against the unweighed 1.05 to 1.25 kg estimate (slide 5 depends on it).
SOURCE: REQUIREMENTS.md R1, R7; DECISIONS.md D21; FUNDAMENTALS.md section 5 and the note on the 0.45 kg input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Cable tension scales as one over the sine of the cable angle, so the room's limits come from cable geometry and the claw's own weight, not from the payload.
NUMBERS: Equal share, claw centred: W = (0.454 + 0.45) kg x 9.81 = 8.86 N; D_h = 2.17 m. T = 32.1 / 16.2 / 8.3 / 4.6 N per cable at 0.15 / 0.30 / 0.60 / 1.20 m below the anchors; with +2 m/s² 38.6 / 19.4 / 10.0 / 5.5 N. Winch design force 11.9 N (17.9 N running at a full spool, divided by a 1.5 skip margin, slide 5). Shallowest centred depth the winches can hold: 0.27 m static, 0.33 m with +2 m/s², 0.50 m with the 1.5 margin. Whole-room worst case (best split by linear program, 0.2 m wall margin, 1.06 A, 1.5 margin): largest tension 1.10 x total weight at the highest task pose (0.99 m below the anchors), holding 1.10 kg total.
LIKELY QUESTION 1: What about off-centre?
ANSWER: The four-cable split is statically indeterminate (four cables, three force equations), so I find the best split by a linear program that minimises the largest tension. The worst spot is high against the middle of a long wall; the equal-share table is a lower bound for any pose off the centre.
LIKELY QUESTION 2: Why a 0.4 m ceiling margin if the corner binds?
ANSWER: Tension doubles each time the depth halves, so the planner never lets the claw closer than 0.4 m to the anchors; at that limit the same linear program only allows 0.50 kg total (2.42 x weight), so the margin is a floor, not a comfortable value.
CHECK BEFORE SAYING: Say 'at task heights' when you say the corner binds. At the 0.4 m ceiling limit the capacity is lower (2.42 x weight, 0.50 kg), so 'the walls bind before the ceiling' only holds for task poses (highest task pose 0.99 m below the anchors).
NEED FROM JASPER: A weighed claw mass: every capacity number uses the 0.45 kg budget, which has not been weighed.
SOURCE: FUNDAMENTALS.md section 1; docs/decisions/WINCH_CAPACITY_20261021.md.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own numbers told me my claw outgrew my winches: the driver board caps the current at 1.06 A, so I am buying the pull back with geometry instead of hacking the driver.
NUMBERS: Vref pot maximum 0.85 V (MEASURED on the red R100 boards, 3.3 V logic; an earlier entry says 0.79 V, which gives 0.99 A, so there is a 7 % spread). I = Vref / (8 Rs) = 0.85 / 0.8 = 1.06 A. Holding torque 0.36 N·m x 1.0625 / 1.5 = 0.255 N·m; running torque 0.7 x holding = 0.179 N·m (the 0.7 is assumed). Pull T = tau / r: 23.8 N at the 7.5 mm core, 17.9 N at a full 10 mm spool; design force (divided by 1.5) 15.9 N and 11.9 N; snag case 34 N. Largest claw that still lifts 0.9 kg of jeans at the highest task pose: 202 g (Ø15 core, 1.10 kg held), 397 g (Ø12), 478 g (Ø10, +25 %), 570 g (Ø8, which fails the 20:1 bend ratio and the tie-off). Needed: 0.45 kg claw + 0.9 kg = 1.35 kg, which is 1.22 x what the Ø15 spool can hold. Printed claw estimate 1.05 to 1.25 kg (unweighed) gives 2.0 to 2.2 kg with jeans. A 3:1 reduction at each winch buys about 2.7 x (2.98 to 3.09 kg held at a 0.2 m wall margin).
LIKELY QUESTION 1: Why not raise Vref or run 5 V logic?
ANSWER: I do not want to modify the driver, and a 3.3 V GPIO cannot guarantee a HIGH into a 5 V-logic input. So I run at the board maximum and recover pull mechanically: T = tau / r, so a smaller core gives more tension.
LIKELY QUESTION 2: Is the 0.7 running-torque factor right?
ANSWER: It is assumed (an earlier table used 0.5). A 15-minute luggage-scale pull test at 1.06 A, empty and full spool, replaces it with a number. Procedure: docs/tests/WINCH_PULL_TEST.md (holding peak by hand, running pull before the motor skips, at 100 / 200 / 400 steps/s, on the core and on a full spool). If the running pull at a full spool is 25 N or more, the direct drive might carry a lighter claw; under 25 N (expected about 18 N) go to the 3:1 reduction (memo option 1), with a lighter payload for the demo.
CHECK BEFORE SAYING: Do not quote the old '43 N', '34 N per cable' or '750 g claw budget' (D29/D30): they used holding torque, not running pull. Three different things are called tension: running pull (23.8 / 17.9 N), derated design value (11.9 N), snag load (34 N).
NEED FROM JASPER: Decision D31: 3:1 reduction, Ø10 core with a lighter claw, or a lighter payload for the demo. The pull-test readings. A weighed claw.
SOURCE: FUNDAMENTALS.md section 2; docs/decisions/WINCH_CAPACITY_20261021.md.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Sealing the station in PETG meant the motor's only way out for heat was through plastic that conducts about one eight-hundredth as well as aluminium, so the mount that carries the cable load would run hot; I put a fin through the shell.
NUMBERS: A holding stepper dissipates P = I²R continuously: 1.0625² x 1.8 Ω = 2.0 W (coil resistance 1.8 Ω is ASSUMED; measure it with a meter). Conductivity: aluminium 160 vs PETG 0.2 W/m·K (800 x). Conduction resistance through the flange contact (42.3 mm square): 0.011 K/W aluminium vs 14.0 K/W PETG (1260 x). Two-node model at 23 °C ceiling air, h = 7 W/m²·K: sealed shell 64 °C with no fin, 46 °C with the as-built fin (carries 50 % of the heat), 40 °C with the drawn 1/8 in fin (68 %); vented 51 / 41 / 36 °C; open 47 / 39 / 35 °C. The sealed as-built case spans 45 to 49 °C over the h and conductivity ranges. Sealed-shell time constant 35 min.
LIKELY QUESTION 1: How do you know the fin works without a thermometer?
ANSWER: I do not yet: these are CALCULATED values from a lumped model with an assumed coil resistance, film coefficient and shell resistances. The hold test is planned: thermometers on the motor case, the fin and the PETG tab at 1.06 A, pass limit below 60 °C.
LIKELY QUESTION 2: Why a fin and not a TMC2209 or lower current?
ANSWER: I weighed seven options (vents, aluminium fin, clip-on sink, TMC2209 drivers, ASA shell, thermistor park, lower current). The fin plus vents is the biggest gain with no new electronics; lower current costs pull, which is exactly the thing slide 5 is short of.
CHECK BEFORE SAYING: Hold-test length: the storyline and docs/simulation/SW_THERMAL_HEAT_FIN.md section 8 say 60 minutes (D29), on a vented shell with two thermocouples and the fin flattened; FUNDAMENTALS section 3 assumes 90 minutes. Per the thermal manual, 60 minutes reads about 94 % of the steady value for a vented shell but a sealed shell takes about 104 minutes, so a 60-minute reading is compared with 0.94 x the prediction, or run 90 minutes. The planned test is therefore on the vented shell (predicted 41 °C with the as-built fin); the 46 °C sealed figure on this slide is not what it will read. The storyline's '70 to 100 °C' for the PETG joint is not in the fundamentals sheet (the model says 64 °C sealed, no fin); do not quote it unless you have a source.
NEED FROM JASPER: What first made you suspect heat (warm motor, soft PETG, a calculation); which other options you actually considered and why each lost; any thermometer reading; coil resistance measured with a meter.
SOURCE: FUNDAMENTALS.md section 3; DECK_STORYLINE.md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sheet I could shear and drill on the bench was 0.019 inch, not the 1/8 inch I drew, so before accepting it I re-ran the fin equation: efficiency drops from 74 to 37 percent but the fin still carries about half of the motor's heat.
NUMBERS: Fin parameter m = sqrt(2h/(k t)) with h = 7 W/m²·K, k = 160, L = 200 mm exposed. As built t = 0.483 mm: m = 13.5 /m, mL = 2.69, efficiency 37 % (33 to 43 % over h = 9 to 5), R_fin 22.1 K/W. Drawn t = 3.175 mm: m = 5.25, mL = 1.05, efficiency 74 % (70 to 80 %), R_fin 10.9 K/W. Sealed shell at 1.06 A: 46 °C (fin share 50 %) vs 40 °C (68 %) for the drawn plate: the thin fin costs about 6 K. Fit: 7/8 in (22.225 mm) centre hole over the 22.0 mm motor pilot boss, about 0.1 mm per side. Screws now reach 3.175 - 0.483 = 2.7 mm deeper into the motor.
LIKELY QUESTION 1: Why does a thinner fin still work?
ANSWER: The exposed area is the same, so the fin still carries about half the heat; the efficiency halves, so the sealed motor runs about 6 K hotter than with the drawn plate. I checked that before accepting the sheet.
LIKELY QUESTION 2: What tolerance did you reach?
ANSWER: The drawing called for positions within 0.1 mm of each other in one setup; I have not caliper-checked the as-built part (need from me).
CHECK BEFORE SAYING: Drawing notes (DECISION_STORIES story 1) give a Ø22.5 pilot hole; the as-built part uses a 7/8 in (22.225 mm) hole per the storyline and photo README. Confirm which is on the part. Say 'about 74 %' (the storyline's 'about 75 %' is the same number rounded).
NEED FROM JASPER: Photo of the fin installed in the station; hole-position tolerance (calipers); time per fin and any scrap; how the dimensions moved from 100 x 100 to 44 x 150 to 44 x 250 and why 1/8 in stock; where you sourced it and how many fins you made. Photo 03 (mill set-up with the printed drawing) is not on this slide: use it if you want the drawing shown.
SOURCE: FUNDAMENTALS.md section 3; DECK_STORYLINE.md slide 7; photos 06, 01,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first spool stuck out about 14.5 millimetres past the end of the motor shaft, and fixing that changed the layer count, the line force and the line paid out per revolution, so the controller has to model radius against wound length.
NUMBERS: Gen-1 spool: Ø20 core x 26 mm winding x 32 mm overall. Spool v3 (from the STEP): Ø36 flanges, Ø15 core (r = 7.5 mm), 16 mm drum, 22 mm overall, bore Ø5.45 with a 0.5 mm D-flat on the Ø5 shaft. 20 ft (6.096 m) of 0.5 mm line at 85 % packing gives 5 layers and a full radius of 10 mm. Line force falls 23.8 to 17.9 N; line per revolution 47.1 to 62.8 mm (+33 %). v2 bore Ø5.2 printed too tight on the Ø5.0 shaft; v3 opened to Ø5.45. Printed holes print undersize (bead rounding, shrink, elephant foot, mesh chords): Ø5.2 too tight means at least 0.2 mm was lost, so the Ø5.45 bore really leaves about 0.25 mm of clearance, not 0.45 mm. A fit coupon (54 holes: -0.10 to +0.30 mm in 0.05 steps at Ø5, Ø7, Ø14, vertical and horizontal) is PLANNED; none has been printed.
LIKELY QUESTION 1: Why not a level-wind?
ANSWER: I need your answer here (see need list).
LIKELY QUESTION 2: How does the controller cope with the changing radius?
ANSWER: It uses radius as a function of wound length, r(n) = r0 + n d p, so the line paid out per step stays right as the spool fills; line per revolution changes by 33 % between the core layer and a full spool.
CHECK BEFORE SAYING: The 'about 14.5 mm' is derived from the 2026-10-06 dimension note (shaft projection 24 mm, winding from X = 4.5 for 32 mm overall), not from your own measurement. Say it as a derived number unless you measured it.
NEED FROM JASPER: v2 and v3 printed bore caliper readings; what you measured on the shaft (engagement length, flat depth); why the core went Ø20 to Ø15 and the drum 26 to 16 mm; line diameter (the record says 0.5, 0.6 and 1.0 mm in different files); whether you considered a level-wind; printer and filament.
SOURCE: DECK_STORYLINE.md slide 8; FUNDAMENTALS.md sections 2 and 12; DECISION_STORIES.md T23, T24.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bead on the line must never ride over the pulley, so I moved the switch to a drop arm under it; my first version of that missed the line by 5 millimetres and rev D lands the roller on it.
NUMBERS: Rev C: roller at X = 70.0 against the line at 65.0, so 5.0 mm off in X and 10.5 mm off in Y (no contact) against a 1.5 mm overlap requirement. Rev D: X error 0 at the nominal 20 mm pulley, 1.0 mm untuned at 18 and 22 mm (limit 1.0), 0 after the ±2 mm slot tune; Y: roller 1.0 mm, overlap (2.5 + 2.25) - 1.0 = 3.75 mm on a 5 mm bead (limit 2.0 mm). Roller envelope clear of the pulley and of printed material (0.000 mm³ interference).
LIKELY QUESTION 1: How do you know it will trip?
ANSWER: I do not yet: rev D passes the geometric checks in CAD, but I have not run a bead past a printed arm on real line. That trip test is the open item.
LIKELY QUESTION 2: What did you notice that showed the problem?
ANSWER: I need your answer here (see need list).
NEED FROM JASPER: What you actually noticed about the bead riding over the groove (this was your find); whether rev D was printed and a bead trip-tested; the real bead diameter. Photo 09 is a bench microswitch on the perfboard, not the rev D arm.
SOURCE: DECK_STORYLINE.md slide 9; verification/corner_mount_revD_report.md; DECISION_STORIES.md T16, section 4 item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Making the station removable moved the anchor from a screw to a slide, and anchor error turns one-to-one into claw position error, so I am stress-testing the slide-in.
NUMBERS: PLANNED, no results yet: SolidWorks linear static study of the station mount, reporting peak stress, safety factor and deflection at the cable exit. Pass limits: SF at least 3 at the 34 N slip-limit load and at least 1.5 at 68 N (dynamic x2), on derated PETG (25 MPa); deflection at most 0.5 mm along the load at the cable exit. The line pulls the station away from the wall, so the stud screws see pull-out rather than shear. Load cases: working 17.9 N, slip limit 34 N, dynamic 68 N, in the reachable line directions. Linear statics cannot see creep or layer-adhesion weakness, so a physical pull test closes the gap.
LIKELY QUESTION 1: What retains the slide-in, and what load did you check it against?
ANSWER: I need your answer here (see need list). The design intent is positive retention checked at SF 3 at 34 N and SF 1.5 at 68 N.
LIKELY QUESTION 2: Why not keep the screwed-down anchor?
ANSWER: A hook or loose anchor wanders and that error goes 1:1 into claw position; I bolted the corner down first, then service needs forced removable stations without re-calibrating the room, so the anchor moved onto a fixed frame and the housing slides in.
CHECK BEFORE SAYING: Do not show any stress or safety-factor result until the study is run. The study manual docs/simulation/SW_STATIC_STATION_MOUNT.md (it was not in the repository when this deck was started; it arrived in commit 7135d7c) gives the answer sheet: P1 peak von Mises at the 34.0 N slip-limit load at most 8.33 MPa (SF 3 on 25 MPa), P4 cable-exit displacement at most 0.50 mm, plus P2, P3, P5 to P7. Its hand estimates (about 3 to 14 MPa at the motor-tab root) are expectations, not results.
NEED FROM JASPER: SolidWorks results (peak stress, SF, deflection) after the study tomorrow; what the gen-1 plate tests (photos 05 and 13) showed; the slide retention mechanism and the load you checked it against; the study document.
SOURCE: DECK_STORYLINE.md slide 10; DECISION_STORIES.md T06, T25.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clamp does not stop at a position, it stops when the servo stalls, so every grip loads the gear teeth at full stall torque and I sized the teeth for that moment, then rebuilt the train at 2:1 when the claw turned out far over its mass budget.
NUMBERS: MG996R stall 9.4 kg·cm at 4.8 V (0.922 N·m) and 11.0 kg·cm at 6.0 V (1.079 N·m). Lewis bending: F_t = 2 tau / (m z), sigma = F_t / (b m Y), allowable 22.5 MPa (half of 45 MPa PETG for layer adhesion and fatigue). Module 1, 6 mm face, 18T pinion at 6 V: F_t = 119.9 N, 64.7 MPa, SF 0.35 (0.41 at 4.8 V). As built (module 1.5, 16 mm face, 18 / 36 / 24 / 24 teeth): pinion SF 2.40 / 2.05, 36T gear 2.93 / 2.50, sync gear 2.34 / 2.00 at 4.8 / 6.0 V (the 24T sync gear at 6 V is 1.997, accepted as inside the precision of the assumed stall torque). Ratio 2:1: jaw torque 0.83 N·m, stroke 76.5 degrees; 3:1 would give 1.25 N·m, 51 degrees and a sync-gear SF of 1.56 (1.33 at 6 V). The v6 inspection found the gripper at about 2.06 kg against the 450 g budget (4.6 x), so I rebuilt my own gears at 2:1 with a 36T gear instead of 54T and an R53 crank instead of R75, kept my press-fit bearing pockets (Ø14.075 with a Ø14.000 lead-in lip) and added 0.42 mm backlash and a 0.3 mm axial relief; gear set 157 g to 96 g (CAD), all features identical to my originals except the intended changes at 257 checks. Grip: N &gt;= m (g + a) / (2 mu): 1 lb needs 8.9 N per jaw at mu 0.3 (4.5 N at 0.6); jeans need 17.7 N (8.9 N at 0.6). Jaw force at 4.8 V: 13.3 N at the weakest position (gap 0.6 mm) to 25.0 N at a 70 mm grab; 17 % more at 6 V. Margin at the weakest point: 1 lb 1.5 x; jeans at mu 0.3 0.75 x (short); they need a grab of at least 43 mm (22 mm at 6 V). From the storyline: the 7-hole web is SF about 1.7; 6 holes would give 3.75.
LIKELY QUESTION 1: Is the jaw force measured?
ANSWER: No. It is simulated from the four-bar model (efficiency 0.95 per mesh, no pivot friction); there is no force gauge reading and no printed gear has been stalled. Pad-to-cloth friction has never been measured, which is why TPU pads are on the claw and a pull test is the first thing to run.
LIKELY QUESTION 2: Why 2:1 instead of 3:1?
ANSWER: Mass and the sync gear: 3:1 loads the sync gear to a margin of 1.3 to 1.6, and the v6 gripper was 4.6 x over the mass budget.
CHECK BEFORE SAYING: An earlier design review quoted a 2.8 x grip margin for 1 lb; that came from an earlier gearbox estimate (20.8 N). The as-built four-bar gives 1.5 x at the weakest point. Say 1.5 x.
NEED FROM JASPER: When and why you chose module 1.5 with 16 and 20 mm faces; whether you ran strength numbers or printed a test gear before the Oct 19 review; the weighed or sliced claw mass and the new budget; why a 12 in aluminium tube.
SOURCE: FUNDAMENTALS.md sections 4 and 5; verification/gripper_v7_verification.md; DECK_STORYLINE.md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wanted the camera to see everything, but at the moment of contact the gearbox plate hides the grasp spot, so I cut 50 millimetres of tube and added a short visual correction step at the hover.
NUMBERS: Similar triangles: a ray from the lens (512.06 mm above the floor with the jaw tips down, 90 mm off the tube axis) to the far edge of the grasp zone (97 mm from the lens) passes the plate face (59.5 mm from the lens) at k = 1 - 59.5/97 = 0.3866 of the lens height. Minimum hover D* = (k (H0 - c) - 93) / (1 - k): 171.1 mm uncut, 139.6 mm with a 50 mm cut (ray-cast scan over the CAD: 172 and 140 mm), 108 mm at 100 mm cut. Each mm of cut lowers D* by 0.63 mm and saves 0.65 g (32.5 g for 50 mm); the tube can be cut up to 206 mm before the hub meets the head plates. In the 140 mm hover view the grasp zone is 100 % visible and the claw blocks 9.2 % of the 4:3 view with open jaws (7.6 % closed). Why aluminium: a long printed arm under constant load creeps and would slowly shift the camera against the jaws; same tube, same 10 N tip load: 0.04 mm in aluminium vs 1.32 mm in PETG (33 x). Collars and press fits are a stress-relaxation problem, so the tube joints need a positive cross-bolt lock.
LIKELY QUESTION 1: Why not cut 100 mm?
ANSWER: We can always cut more; a cut cannot be undone. 50 mm already brings the hover from 171 to 140 mm and saves 33 g. A shorter tube also shrinks the view and lowers the cable tie-offs toward furniture.
LIKELY QUESTION 2: What about a pile of laundry?
ANSWER: A pile raises the floor, so the required hover rises by the pile height; the model assumes a flat bare floor and a claw hanging still.
CHECK BEFORE SAYING: The tube wall (3 mm in CAD, 28.54 mm OD) and alloy are unmeasured; the figures that depend on them are labelled CALCULATED. Closed-form 171.1 / 139.6 mm vs ray-cast 172 / 140 mm: the scan reports the first whole millimetre, so they agree.
NEED FROM JASPER: Confirm why a 12 in aluminium tube (your reason: creep, so the camera stays registered to the jaws); tube wall thickness and alloy; a re-extracted centre-of-mass depth.
SOURCE: FUNDAMENTALS.md sections 6 and 11; renders/claw_tube_length_view/c050_Dstar140.png; DECISION_STORIES.md section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July I kept one controller so synchronised motion came for free; in October long harnesses pushed me to one controller per winch, and I priced what that costs: every millisecond of skew becomes force on four over-constrained cables.
NUMBERS: Skew: 50 mm/s x 50 ms = 2.5 mm of length error; with an assumed line stiffness of 3 N/mm (E A / L over a 3 m run), F = 7.5 N, about 90 % of the static tension at 0.6 m depth (8.3 N). The 2 mm pass criterion is 6 N, which a 40 ms skew at full speed produces. Wire: 32 ft (9.75 m) one way, 12 V label, 2 A: 18 AWG drops 0.82 V (6.8 %), 16 AWG 0.51 V (4.3 %); 16 AWG chosen for the long run. Architecture (simulated): the host plans; stations execute Hermite segments on their own clocks with path-time feed-hold and leases; stop never disables (D21), no automatic resume (D25). Simulated: lease-aligned stop spread about 18 ms; 10/10 lossy motions completed at 2 to 5 % packet loss.
LIKELY QUESTION 1: Why not keep the central controller for the 1 lb demo?
ANSWER: I need your answer here (see need list): whether a central-stepping fallback is still planned.
LIKELY QUESTION 2: What is feed-hold?
ANSWER: A coordinated stop in path time: all four stations ramp their path rate to zero along the same geometric path, so the claw decelerates along the path instead of one winch stopping first.
CHECK BEFORE SAYING: The 3 N/mm stiffness and the 50 ms Wi-Fi skew are assumptions. Everything on the control side is SIMULATED; nothing has run on four stations.
NEED FROM JASPER: What bothered you most about the central controller in October (harness length numbers, the one-plug goal); whether a hybrid fallback exists for the 1 lb demo.
SOURCE: FUNDAMENTALS.md sections 9 and 10; docs/CONTROL_SYSTEM_V1.md; DECISIONS.md D20, D21, D25.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log said the driver was stepping, but the meter said the 3.3 volt logic rail was 1.14 volts; since then I measure the supply before I touch the code.
NUMBERS: Command log: pulses sent, ENABLE toggled 3.3 to 0 to 3.3 V; shaft did not move; logic rail 1.14 V (expected 3.3 V) from a poor 3.3 V connection. Oct 21: the same habit caught a second limit, the Vref pot maxing at 0.85 V (1.06 A). Rev D fixes: 3.3 V soldered rather than jumpered; 10 k pull resistors (R1 EN pull-up so the A4988 boots disabled; R2 and R3 STEP and DIR pull-downs); JP1 link with diode D1 (1N5819) so USB and the buck never fight; a measure-VDD step in the bring-up procedure; 100 µF bulk capacitor on VMOT. The perfboard layout is net-checked by script: every hole has exactly one net and every net is connected. Buck output checked at 5.00 V before connecting loads.
LIKELY QUESTION 1: What did you try before the meter?
ANSWER: I need your answer here (see need list).
LIKELY QUESTION 2: Is the supply safe for the buck?
ANSWER: The bench reading was 18 V while the brick label says 12 V and the DROK input limit is 20 V; whether that was an open-circuit reading is still to be answered (T15).
CHECK BEFORE SAYING: Show only the 1.14 V and 3.3 V figures; the photo does not show the meter reading.
NEED FROM JASPER: Exact readings and dates (VDD, SLEEP, ENABLE) and VDD after the repair; what the bad connection physically was; what you tried first; whether the XIAO that heated and lost USB is quarantined; a photo of the built perfboard (the layout image is B3).
SOURCE: DECK_STORYLINE.md slide 14; DESIGN_STATE.md; docs/electrical/station_revD_20261021/PERFBOARD_LAYOUT.md; DECISION_STORIES.md T29, T30.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stopped trying to buy precision and moved the safety into margins: ceiling and wall margins carry it, and a floor board plus a one-cable-at-a-time slack probe makes the calibration honest.
NUMBERS: Lever-arm error dx = sigma_theta x L. One 152.4 mm tag at 0.51 m with 0.3 px corner noise: 12.9 mrad, 6.6 mm per frame; tilt noise 10.5 / 17.9 / 31.8 / 49.7 mrad at 0.46 / 0.6 / 0.8 / 1.0 m. A four-tag board (150 mm tags, 0.25 m pitch) with at least two tags in view: 1.3 mrad, 0.68 mm (about 10 x better). Simulated: 6/6 startups, 91 to 97 % of slack readings resolved, predicted sigma 12 to 16 mm, 3 of 6 runs reach full-room trust. Calibration sigma stayed above the 12 mm bead overtravel; decisions D26 (margins carry the safety, reel each cable in turn: no motion means slack) and D27 (no IMU on the claw). A converged optimiser is not acceptance: in the one-cable toy both fits had a whitened residual near 1.0, yet the anchor range and length offset were 9 x less identifiable in the small excitation box.
LIKELY QUESTION 1: What prompted the margins decision?
ANSWER: I need your answer here (see need list).
LIKELY QUESTION 2: Why does tilt matter?
ANSWER: The claw hangs tilted near the corners: 12.9 degrees at the largest with the recorded centre-of-mass depth of 0.196 m (stale) and 20.7 degrees with the lumped estimate for the current head (0.116 m); 83 to 92 % of grid points exceed 5 degrees. So the grip-tilt rule needs a decision before tilt gates grips across the room.
CHECK BEFORE SAYING: The storyline says 'about 13°'; that uses the stale centre-of-mass depth. The slide says 13 to 21° so both numbers are covered. Re-extract the centre of mass from the CAD before quoting either as final.
NEED FROM JASPER: What observation led to D26 and the slide probe; any hardware test planned before the panel; the re-extracted centre-of-mass depth.
SOURCE: FUNDAMENTALS.md sections 7 and 8; DECISIONS.md D26, D27; docs/STARTUP_CALIBRATION_V1_20261016.md.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what I have actually measured, what is calculated, what is simulated, and the specific tests that decide the rest, each with its pass limit.
NUMBERS: Measured: Vref 0.75 to 0.85 V; one motor turned on all four driver channels; 18 V on the meter; buck 5.00 V; fin fit; logic rail 1.14 V fault. Calculated: statics, Lewis, fin, wire drop, grip force. Simulated: control system, calibration, camera view, four-bar jaw force. Planned: hold test (motor case below 60 °C); station pull test; SolidWorks station study (SF at least 3, deflection at most 0.5 mm); 1 lb on four stations, 300 mm at 50 mm/s, within 2 mm per cable.
LIKELY QUESTION 1: What is the first test you would run?
ANSWER: The 15-minute luggage-scale pull test at 1.06 A, empty and full spool (docs/tests/WINCH_PULL_TEST.md), because it replaces the assumed 0.7 running-torque factor: a running pull of 25 N or more at a full spool means the direct drive might carry a lighter claw, under 25 N (expected about 18 N) means the 3:1 reduction; then the hold test.
LIKELY QUESTION 2: Which number are you least sure of?
ANSWER: The claw mass: the budget is 0.45 kg but the printed claw is estimated at 1.05 to 1.25 kg and has not been weighed, and every capacity number rests on it.
NEED FROM JASPER: Anything measured since Oct 20 (move it left); confirm each pass limit; hold-test length (60 minutes in the storyline, 90 in the fundamentals sheet).
SOURCE: DECK_STORYLINE.md slide 16; FUNDAMENTALS.md 'What must still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best decisions were deletions: every part I removed was a part that could not fail, so I measured, deleted, and then simplified.
NUMBERS: Deleted: the IMU (D27); the yaw guard; five fingers became two jaws; 50 mm of tube (32.5 g); the housing block replaced by an open frame (-600 g, per the storyline); the 5 lb payload reserve replaced by a 1 lb test gate first (D19): question the requirement before designing to it. Do NOT present the switched power strip as a deletion: if asked about the stop, say it is a deliberate category-0 stop with nobody under the robot (backup B7), and that a controlled stop is a gen-3 item. Lessons: measure before you trust a margin (Vref 0.85 V, 1.14 V rail); print the coupon before the part (spool bore Ø5.2 to Ø5.45; a 54-hole coupon is planned); stall and steady state are the design cases (gear stall; motor holding heat). With half the time again: buy pulleys and couplers sooner; build one station to test before four.
LIKELY QUESTION: What would you do differently?
ANSWER: Buy standard pulleys and couplers instead of designing them, and build and test one complete station before building four.
NEED FROM JASPER: Confirm what the 'yaw guard' was and the source of the -600 g open-frame figure (storyline only); say whether you want the contact line left on the slide.
SOURCE: DECK_STORYLINE.md slide 17; DECISIONS.md D21, D27.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four-bar jaw gives the least force when it is closed and more than three times as much near full open, because the effective lever arm shrinks as the gap widens.
NUMBERS: Jaw force per jaw at 4.8 V from the four-bar model: 13.3 N at 0.6 mm gap, 14.1 @ 10, 15.0 @ 20, 17.2 @ 40, 21.1 @ 60, 25.0 @ 70, 33.4 @ 80, 43.6 @ 85 mm. Effective lever arm 59 / 48 / 33 mm at 10 / 40 / 70 mm gap. Jaw torque 0.83 N·m at 4.8 V (N = 2, 0.95 efficiency per mesh); stroke 76.5° from a 153° servo; open gap 91.6 mm; closed gap 0.000 mm; max jaw tilt 2.59°. Requirements: 8.9 N for 1 lb at mu 0.3, 17.7 N for 0.9 kg jeans at mu 0.3 (8.9 N at 0.6).
LIKELY QUESTION 1: Is there a toggle in the stroke?
ANSWER: No: the gap is monotonic over the whole 76.5° stroke. Near full open the linkage approaches toggle, which is why force rises steeply there (43.6 N at an 85 mm gap).
LIKELY QUESTION 2: Is this measured?
ANSWER: No. It is simulated from the model (no pivot friction, 0.95 efficiency per mesh); there is no force-gauge reading yet.
SOURCE: FUNDAMENTALS.md sections 4 and 5; verification/gripper_v7_verification.md claims 4a and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host plans the path and sends timed segments; each station executes them on its own clock, holds on any fault or lost host, and a stop never disables a motor.
NUMBERS: Segments are Hermite segments executed in each station's own clock; the host estimates each station's clock offset and refuses motion unless the clock uncertainty is within its limit. Feed-hold names a path time and the host resends it every 20 ms to any station still running, so one lost datagram cannot leave a winch running while three hold. Lease: no valid host message within the lease time and the station holds itself and broadcasts the hold to its peers. Simulated: lease-aligned stop spread about 18 ms; 10/10 lossy motions complete at 2 to 5 % packet loss. Skew pricing: 2.5 mm per 50 ms at 50 mm/s is about 7.5 N. Pass test (PLANNED): 1 lb on four stations, 300 mm at 50 mm/s, within 2 mm per cable.
LIKELY QUESTION: Why not disable the drivers on a fault?
ANSWER: There is no brake, so disabling a driver drops the load. Every fault and pause holds torque; only a disarm confirmed with the claw supported removes it (D21). The power strip is the only category-0 stop and no safety-rated function is claimed.
CHECK BEFORE SAYING: Everything on this slide is simulated or by design; nothing has run on four stations yet.
SOURCE: docs/CONTROL_SYSTEM_V1.md sections on clocks, feed-hold and lease; DECISIONS.md D20, D21, D25; FUNDAMENTALS.md section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Rev D fixes the failure from decision 14 on the board itself: the 3.3 volt rail is soldered, the driver boots disabled through a pull-up, and a link and diode keep USB and the buck from fighting.
NUMBERS: 5 x 7 cm perfboard, component-side view, holes named column letter + row number. R1 10 k EN pull-up (E10-E13) so the A4988 boots disabled; R2 10 k STEP pull-down; R3 10 k DIR pull-down; R4 10 k switch pull-up. JP1 (R11-S11) with D1 1N5819 between the XIAO 5 V side and the buck output. DROK buck standing on its 5-pin header: select 5 V by bridging its 5V pad and check 5.00 V before connecting loads. 3V3 bus row 13, GND bus row 11. C1 100 µF/50 V across VMOT. J1 12 V in, J2 motor, J3 switch, J5 encoder. Layout generated and net-checked by perfboard_layout.py.
LIKELY QUESTION: Where is the schematic?
ANSWER: The layout drawing is net-checked, but this backup shows the layout only; add the schematic image if you want it on the slide.
CHECK BEFORE SAYING: The as-built board still needs its meter checklist; the layout is a drawing, not a measurement.
NEED FROM JASPER: Schematic image (if wanted) and a photo of the built perfboard.
SOURCE: docs/electrical/station_revD_20261021/PERFBOARD_LAYOUT.md and perfboard_layout.png; docs/LOCAL_STATION_CONTROL_20261004.md.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multi-tag floor board cuts the tilt noise about ten times, but the hanging claw still tilts between 13 and 21 degrees near the corners because of where its centre of mass sits.
NUMBERS: Tilt noise for one 152.4 mm tag at 0.46 / 0.6 / 0.8 / 1.0 m: 10.5 / 17.9 / 31.8 / 49.7 mrad (matches the project's Monte Carlo). Four-tag board with the camera centred over them: 1.3 mrad, 0.68 mm lever-arm error at 0.51 m (9.8 x better than 12.9 mrad, 6.6 mm). Mean of 1 / 4 / 10 / 30 frames (one tag): 12.9 / 6.5 / 4.1 / 2.4 mrad; a static 1 mrad bias still leaves 0.5 mm. Hanging tilt (force and moment balance on four straight lines, 9 x 7 grid): centre-of-mass depth 0.196 m (recorded, stale): centre 0.0°, median 8.7°, largest 12.9°, 83 % of points above 5°; 0.116 m (lumped estimate for the current head, range 0.09 to 0.14 m): median 13.8°, largest 20.7°, 92 % above 5°. Agrees with the project's attitude predictor to numerical precision at five poses.
LIKELY QUESTION: Which depth should I quote?
ANSWER: Neither as final: the recorded 0.196 m belongs to the superseded v6 head; the 0.116 m estimate is a rough lumped figure. Re-extract the centre of mass from the CAD and rerun.
CHECK BEFORE SAYING: Tilt noise assumes independent Gaussian corner noise (0.3 px), fronto-parallel tags and a 520 px focal length (a camera guess); real corner noise is unmeasured.
SOURCE: FUNDAMENTALS.md sections 7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motor has two ways out: through the printed shell, which is slow, and through the aluminium fin straight to room air; the fin is the parallel path that keeps the sealed case cooler.
NUMBERS: Two-node network: motor case to shell interior 12 K/W; shell interior to room 0 / 1 / 3.5 K/W for open / vented / sealed; fin as a second path from the motor case to the room, with 1 K/W contact resistance at the flange. P = 1.0625² x 1.8 = 2.03 W (R assumed); 1.5 W of electronics also heat the shell. Fin as built (0.483 mm): m = 13.5 /m, efficiency 37 %, R_fin 22.1 K/W (19.4 to 26.4 over h = 9 to 5). Drawn (3.175 mm): 74 %, 10.9 K/W. Temperatures (h = 7, 23 °C room): open 47 / 39 / 35; vented 51 / 41 / 36; sealed 64 / 46 / 40 for no fin / as built / drawn. Spreading length 74 mm in 0.48 mm aluminium vs 2.6 mm in PETG; long-fin resistance 22 K/W (0.48 mm Al) vs 182 K/W (5 mm PETG). Shell time constant 35 min: a 90-minute hold covers 92 % of the rise.
LIKELY QUESTION: Why not let the PETG mount sink the heat?
ANSWER: At equal geometry aluminium conducts 28 x better (the square root of 160 / 0.2), and through the flange contact the PETG path is 14.0 K/W against 0.011 K/W (1260 x). Heat in PETG dies out within a few millimetres of the motor, so the PETG around the motor bolts climbs toward the motor temperature while it carries the cable load.
CHECK BEFORE SAYING: Coil resistance (1.8 Ω), film coefficient and shell resistances are assumptions; the fin FEA and hold test are not done.
NEED FROM JASPER: Fin FEA results after the SolidWorks study (this slide shows none).
SOURCE: FUNDAMENTALS.md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open-frame v7 gearbox is the alternative that replaced the housing block; at stall every gear sits at a safety factor of about two or better.
NUMBERS: Module 1.5; teeth 18 / 36 / 24 / 24; face widths 15.7 and 20 mm; PETG allowable 22.5 MPa. Safety factor at 4.8 / 6.0 V: pinion 2.40 / 2.05; 36T gear 2.93 / 2.50; 24T sync gear (one jaw takes all) 2.34 / 2.00 (1.997 at 6 V, accepted as inside the precision of the stall torque). Frame 143.5 g (78.7 + 64.8; limit 150 g); printed total 332.8 g; head 481 g with purchased parts. Rev 2 re-verification: 72 tests pass; interference over the full sweep 0.000 mm³; jaw travel 76.5°.
LIKELY QUESTION: What is still open?
ANSWER: Servo ear pitch (47.0 mm in the plate vs 48.3 mm in interfaces.py) must be measured on hardware; the Ø9.7 race ring and the Ø3.3 insert hole cannot be checked from CAD; purchased fastener masses are assumed; flank clearance 0.1994 / 0.1997 mm and the 1.997 sync SF are accepted conditions.
CHECK BEFORE SAYING: The gripper_v7 render in the asset folder is marked work in progress (re-render once verified); swap in the final render if one exists. Verdict is PASS WITH CONDITIONS.
SOURCE: verification/gripper_v7_verification.md (revision 2); FUNDAMENTALS.md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There is one hard stop, the switched power strip; the stations go only into studs; nobody stands under the robot; and the LiPo is balance-charged off the robot.
NUMBERS: D21: every fault and pause holds torque; only a disarm confirmed with the claw supported removes it; the power strip is the only category-0 stop; no safety-rated function is claimed (ISO 13849 / IEC 61508 not claimed). Stations: the line pulls the station away from the wall, so the stud screws see pull-out, not shear; SolidWorks study and pull test PLANNED (slide 10). No AC mains inside printed housings (CR9). Claw battery: 2S LiPo, charged with the matched external 2S balance charger with the pack removed from the robot; a protection board is not a charger.
LIKELY QUESTION: Is this a safety-rated system?
ANSWER: No. It is a hobby prototype with a single hard stop (the strip) and a rule that nobody is under it; load-bearing, high-speed or energy-storage parts need qualified supervision and controlled testing before use.
NEED FROM JASPER: Confirm the stud anchoring and charging statements match what you actually do, and which charger you use.
SOURCE: DECISIONS.md D21; REQUIREMENTS.md CR9; docs/CLAW_ELECTRICAL_REVA_20261012.md; DECK_STORYLINE.md B7.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Title</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rtlCol="0"/>
          <a:lstStyle>
            <a:lvl1pPr algn="l" indent="0" marL="0">
              <a:buNone/>
              <a:defRPr lang="en-US" sz="1800" dirty="0">
                <a:solidFill>
                  <a:srgbClr val="A9B0B8"/>
                </a:solidFill>
              </a:defRPr>
            </a:lvl1pPr>
          </a:lstStyle>
          <a:p>
            <a:pPr algn="l" indent="0" marL="0">
              <a:buNone/>
            </a:pPr>
            <a:r>
              <a:rPr lang="en-US" sz="1800" dirty="0">
                <a:solidFill>
                  <a:srgbClr val="A9B0B8"/>
                </a:solidFill>
              </a:rPr>
              <a:t>Subtitle</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rtlCol="0"/>
          <a:lstStyle>
            <a:lvl1pPr algn="l" indent="0" marL="0">
              <a:buNone/>
              <a:defRPr lang="en-US" sz="1200" dirty="0">
                <a:solidFill>
                  <a:schemeClr val="tx2"/>
                </a:solidFill>
              </a:defRPr>
            </a:lvl1pPr>
          </a:lstStyle>
          <a:p>
            <a:pPr algn="l" indent="0" marL="0">
              <a:buNone/>
            </a:pPr>
            <a:r>
              <a:rPr lang="en-US" sz="1200" dirty="0">
                <a:solidFill>
                  <a:schemeClr val="tx2"/>
                </a:solidFill>
              </a:rPr>
              <a:t>Name · date</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3657600" cy="2011680"/>
          </a:xfrm>
          <a:prstGeom prst="rect">
            <a:avLst/>
          </a:prstGeom>
          <a:noFill/>
          <a:ln/>
        </p:spPr>
        <p:txBody>
          <a:bodyPr wrap="square" rtlCol="0"/>
          <a:lstStyle>
            <a:lvl1pPr algn="l" indent="0" marL="0">
              <a:buNone/>
              <a:defRPr lang="en-US" sz="14000" b="1" dirty="0">
                <a:solidFill>
                  <a:schemeClr val="accent1"/>
                </a:solidFill>
                <a:latin typeface="Arial" pitchFamily="34" charset="0"/>
                <a:ea typeface="Arial" pitchFamily="34" charset="-122"/>
                <a:cs typeface="Arial" pitchFamily="34" charset="-120"/>
              </a:defRPr>
            </a:lvl1pPr>
          </a:lstStyle>
          <a:p>
            <a:pPr algn="l" indent="0" marL="0">
              <a:buNone/>
            </a:pPr>
            <a:r>
              <a:rPr lang="en-US" sz="14000" b="1" dirty="0">
                <a:solidFill>
                  <a:schemeClr val="accent1"/>
                </a:solidFill>
                <a:latin typeface="Arial" pitchFamily="34" charset="0"/>
                <a:ea typeface="Arial" pitchFamily="34" charset="-122"/>
                <a:cs typeface="Arial" pitchFamily="34" charset="-120"/>
              </a:rPr>
              <a:t>01</a:t>
            </a:r>
            <a:endParaRPr lang="en-US" sz="14000" dirty="0"/>
          </a:p>
        </p:txBody>
      </p:sp>
      <p:sp>
        <p:nvSpPr>
          <p:cNvPr id="3" name="Text 0"/>
          <p:cNvSpPr/>
          <p:nvPr>
            <p:ph idx="101" type="title" hasCustomPrompt="1"/>
          </p:nvPr>
        </p:nvSpPr>
        <p:spPr>
          <a:xfrm>
            <a:off x="548640" y="3566160"/>
            <a:ext cx="822960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Section claim</a:t>
            </a:r>
            <a:endParaRPr lang="en-US" sz="3600" dirty="0"/>
          </a:p>
        </p:txBody>
      </p:sp>
      <p:sp>
        <p:nvSpPr>
          <p:cNvPr id="4" name="Text 0"/>
          <p:cNvSpPr/>
          <p:nvPr>
            <p:ph idx="102" type="body" hasCustomPrompt="1"/>
          </p:nvPr>
        </p:nvSpPr>
        <p:spPr>
          <a:xfrm>
            <a:off x="548640" y="4846320"/>
            <a:ext cx="7315200" cy="731520"/>
          </a:xfrm>
          <a:prstGeom prst="rect">
            <a:avLst/>
          </a:prstGeom>
          <a:noFill/>
          <a:ln/>
        </p:spPr>
        <p:txBody>
          <a:bodyPr wrap="square" rtlCol="0"/>
          <a:lstStyle>
            <a:lvl1pPr algn="l" indent="0" marL="0">
              <a:buNone/>
              <a:defRPr lang="en-US" sz="1600" dirty="0">
                <a:solidFill>
                  <a:srgbClr val="A9B0B8"/>
                </a:solidFill>
              </a:defRPr>
            </a:lvl1pPr>
          </a:lstStyle>
          <a:p>
            <a:pPr algn="l" indent="0" marL="0">
              <a:buNone/>
            </a:pPr>
            <a:r>
              <a:rPr lang="en-US" sz="1600" dirty="0">
                <a:solidFill>
                  <a:srgbClr val="A9B0B8"/>
                </a:solidFill>
              </a:rPr>
              <a:t>One line on what this act covers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rtlCol="0"/>
          <a:lstStyle>
            <a:lvl1pPr algn="l" indent="0" marL="0">
              <a:buNone/>
              <a:defRPr lang="en-US" sz="1100" b="1" spc="150" kern="0" dirty="0">
                <a:solidFill>
                  <a:schemeClr val="tx2"/>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tx2"/>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r>
              <a:rPr lang="en-US" sz="3000" b="1" dirty="0">
                <a:solidFill>
                  <a:schemeClr val="tx1"/>
                </a:solidFill>
              </a:rPr>
              <a:t>Claim title</a:t>
            </a:r>
            <a:endParaRPr lang="en-US" sz="3000" dirty="0"/>
          </a:p>
        </p:txBody>
      </p:sp>
      <p:sp>
        <p:nvSpPr>
          <p:cNvPr id="4"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900" b="1" spc="150" kern="0" dirty="0">
                <a:solidFill>
                  <a:schemeClr val="tx2"/>
                </a:solidFill>
              </a:rPr>
              <a:t>ROOMCLEANER</a:t>
            </a:r>
            <a:endParaRPr lang="en-US" sz="9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rtlCol="0"/>
          <a:lstStyle>
            <a:lvl1pPr algn="l" indent="0" marL="0">
              <a:buNone/>
              <a:defRPr lang="en-US" sz="1100" b="1" spc="150" kern="0" dirty="0">
                <a:solidFill>
                  <a:schemeClr val="accent1"/>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Closing claim</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23-1.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lIns="0" tIns="0" rIns="0" bIns="0" rtlCol="0" anchor="b"/>
          <a:lstStyle/>
          <a:p>
            <a:pPr algn="l" indent="0" marL="0">
              <a:buNone/>
            </a:pPr>
            <a:r>
              <a:rPr lang="en-US" sz="4400" b="1" dirty="0">
                <a:solidFill>
                  <a:schemeClr val="bg1"/>
                </a:solidFill>
              </a:rPr>
              <a:t>RoomCleaner</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lIns="0" tIns="0" rIns="0" bIns="0" rtlCol="0" anchor="t"/>
          <a:lstStyle/>
          <a:p>
            <a:pPr algn="l" indent="0" marL="0">
              <a:buNone/>
            </a:pPr>
            <a:r>
              <a:rPr lang="en-US" sz="1800" dirty="0">
                <a:solidFill>
                  <a:srgbClr val="A9B0B8"/>
                </a:solidFill>
              </a:rPr>
              <a:t>A four-cable ceiling robot</a:t>
            </a:r>
            <a:endParaRPr lang="en-US" sz="1800" dirty="0"/>
          </a:p>
          <a:p>
            <a:pPr algn="l" indent="0" marL="0">
              <a:buNone/>
            </a:pPr>
            <a:r>
              <a:rPr lang="en-US" sz="1800" dirty="0">
                <a:solidFill>
                  <a:srgbClr val="A9B0B8"/>
                </a:solidFill>
              </a:rPr>
              <a:t>that picks laundry off the floor</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lIns="0" tIns="0" rIns="0" bIns="0" rtlCol="0"/>
          <a:lstStyle/>
          <a:p>
            <a:pPr algn="l" indent="0" marL="0">
              <a:buNone/>
            </a:pPr>
            <a:r>
              <a:rPr lang="en-US" sz="1200" dirty="0">
                <a:solidFill>
                  <a:schemeClr val="tx2"/>
                </a:solidFill>
              </a:rPr>
              <a:t>Jasper Buntinx · Technical presentation · Oct 27, 2026</a:t>
            </a:r>
            <a:endParaRPr lang="en-US" sz="1200" dirty="0"/>
          </a:p>
        </p:txBody>
      </p:sp>
      <p:pic>
        <p:nvPicPr>
          <p:cNvPr id="5" name="hero_photo" descr="hero_photo">    </p:cNvPr>
          <p:cNvPicPr>
            <a:picLocks noChangeAspect="1"/>
          </p:cNvPicPr>
          <p:nvPr/>
        </p:nvPicPr>
        <p:blipFill>
          <a:blip r:embed="rId1"/>
          <a:srcRect l="0" r="0" t="11647" b="11647"/>
          <a:stretch/>
        </p:blipFill>
        <p:spPr>
          <a:xfrm>
            <a:off x="5486263" y="0"/>
            <a:ext cx="670543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WHAT I BUILT · HOW I WORKED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Solo build: four winch stations, a camera claw, and the software.</a:t>
            </a:r>
            <a:endParaRPr lang="en-US" sz="3000" dirty="0"/>
          </a:p>
        </p:txBody>
      </p:sp>
      <p:sp>
        <p:nvSpPr>
          <p:cNvPr id="4" name="timeline_axis"/>
          <p:cNvSpPr/>
          <p:nvPr/>
        </p:nvSpPr>
        <p:spPr>
          <a:xfrm>
            <a:off x="1371600" y="2697480"/>
            <a:ext cx="9448495" cy="0"/>
          </a:xfrm>
          <a:prstGeom prst="line">
            <a:avLst/>
          </a:prstGeom>
          <a:noFill/>
          <a:ln w="19050">
            <a:solidFill>
              <a:schemeClr val="tx1"/>
            </a:solidFill>
            <a:prstDash val="solid"/>
          </a:ln>
        </p:spPr>
      </p:sp>
      <p:sp>
        <p:nvSpPr>
          <p:cNvPr id="5" name="tl_node_1"/>
          <p:cNvSpPr/>
          <p:nvPr/>
        </p:nvSpPr>
        <p:spPr>
          <a:xfrm>
            <a:off x="1271016" y="2596896"/>
            <a:ext cx="201168" cy="201168"/>
          </a:xfrm>
          <a:prstGeom prst="ellipse">
            <a:avLst/>
          </a:prstGeom>
          <a:solidFill>
            <a:schemeClr val="tx1"/>
          </a:solidFill>
          <a:ln w="19050">
            <a:solidFill>
              <a:schemeClr val="tx1"/>
            </a:solidFill>
            <a:prstDash val="solid"/>
          </a:ln>
        </p:spPr>
      </p:sp>
      <p:sp>
        <p:nvSpPr>
          <p:cNvPr id="6" name="Text 4"/>
          <p:cNvSpPr txBox="1"/>
          <p:nvPr/>
        </p:nvSpPr>
        <p:spPr>
          <a:xfrm>
            <a:off x="548640"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Jul 16</a:t>
            </a:r>
            <a:endParaRPr lang="en-US" sz="1400" dirty="0"/>
          </a:p>
        </p:txBody>
      </p:sp>
      <p:sp>
        <p:nvSpPr>
          <p:cNvPr id="7" name="Text 5"/>
          <p:cNvSpPr txBox="1"/>
          <p:nvPr/>
        </p:nvSpPr>
        <p:spPr>
          <a:xfrm>
            <a:off x="365760"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Concept</a:t>
            </a:r>
            <a:endParaRPr lang="en-US" sz="1600" dirty="0"/>
          </a:p>
        </p:txBody>
      </p:sp>
      <p:sp>
        <p:nvSpPr>
          <p:cNvPr id="8" name="Text 6"/>
          <p:cNvSpPr txBox="1"/>
          <p:nvPr/>
        </p:nvSpPr>
        <p:spPr>
          <a:xfrm>
            <a:off x="365760"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Simulator, BOM, first CAD</a:t>
            </a:r>
            <a:endParaRPr lang="en-US" sz="1300" dirty="0"/>
          </a:p>
        </p:txBody>
      </p:sp>
      <p:sp>
        <p:nvSpPr>
          <p:cNvPr id="9" name="tl_node_2"/>
          <p:cNvSpPr/>
          <p:nvPr/>
        </p:nvSpPr>
        <p:spPr>
          <a:xfrm>
            <a:off x="3633140" y="2596896"/>
            <a:ext cx="201168" cy="201168"/>
          </a:xfrm>
          <a:prstGeom prst="ellipse">
            <a:avLst/>
          </a:prstGeom>
          <a:solidFill>
            <a:schemeClr val="tx1"/>
          </a:solidFill>
          <a:ln w="19050">
            <a:solidFill>
              <a:schemeClr val="tx1"/>
            </a:solidFill>
            <a:prstDash val="solid"/>
          </a:ln>
        </p:spPr>
      </p:sp>
      <p:sp>
        <p:nvSpPr>
          <p:cNvPr id="10" name="Text 8"/>
          <p:cNvSpPr txBox="1"/>
          <p:nvPr/>
        </p:nvSpPr>
        <p:spPr>
          <a:xfrm>
            <a:off x="2910764"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Aug</a:t>
            </a:r>
            <a:endParaRPr lang="en-US" sz="1400" dirty="0"/>
          </a:p>
        </p:txBody>
      </p:sp>
      <p:sp>
        <p:nvSpPr>
          <p:cNvPr id="11" name="Text 9"/>
          <p:cNvSpPr txBox="1"/>
          <p:nvPr/>
        </p:nvSpPr>
        <p:spPr>
          <a:xfrm>
            <a:off x="2727884"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Gen-1 bench</a:t>
            </a:r>
            <a:endParaRPr lang="en-US" sz="1600" dirty="0"/>
          </a:p>
        </p:txBody>
      </p:sp>
      <p:sp>
        <p:nvSpPr>
          <p:cNvPr id="12" name="Text 10"/>
          <p:cNvSpPr txBox="1"/>
          <p:nvPr/>
        </p:nvSpPr>
        <p:spPr>
          <a:xfrm>
            <a:off x="2727884"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Printed plate, test weight</a:t>
            </a:r>
            <a:endParaRPr lang="en-US" sz="1300" dirty="0"/>
          </a:p>
        </p:txBody>
      </p:sp>
      <p:sp>
        <p:nvSpPr>
          <p:cNvPr id="13" name="tl_node_3"/>
          <p:cNvSpPr/>
          <p:nvPr/>
        </p:nvSpPr>
        <p:spPr>
          <a:xfrm>
            <a:off x="5995264" y="2596896"/>
            <a:ext cx="201168" cy="201168"/>
          </a:xfrm>
          <a:prstGeom prst="ellipse">
            <a:avLst/>
          </a:prstGeom>
          <a:solidFill>
            <a:schemeClr val="tx1"/>
          </a:solidFill>
          <a:ln w="19050">
            <a:solidFill>
              <a:schemeClr val="tx1"/>
            </a:solidFill>
            <a:prstDash val="solid"/>
          </a:ln>
        </p:spPr>
      </p:sp>
      <p:sp>
        <p:nvSpPr>
          <p:cNvPr id="14" name="Text 12"/>
          <p:cNvSpPr txBox="1"/>
          <p:nvPr/>
        </p:nvSpPr>
        <p:spPr>
          <a:xfrm>
            <a:off x="5272888"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7</a:t>
            </a:r>
            <a:endParaRPr lang="en-US" sz="1400" dirty="0"/>
          </a:p>
        </p:txBody>
      </p:sp>
      <p:sp>
        <p:nvSpPr>
          <p:cNvPr id="15" name="Text 13"/>
          <p:cNvSpPr txBox="1"/>
          <p:nvPr/>
        </p:nvSpPr>
        <p:spPr>
          <a:xfrm>
            <a:off x="5090008"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SolidWorks gen-2</a:t>
            </a:r>
            <a:endParaRPr lang="en-US" sz="1600" dirty="0"/>
          </a:p>
        </p:txBody>
      </p:sp>
      <p:sp>
        <p:nvSpPr>
          <p:cNvPr id="16" name="Text 14"/>
          <p:cNvSpPr txBox="1"/>
          <p:nvPr/>
        </p:nvSpPr>
        <p:spPr>
          <a:xfrm>
            <a:off x="5090008"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Station v1 to v3</a:t>
            </a:r>
            <a:endParaRPr lang="en-US" sz="1300" dirty="0"/>
          </a:p>
        </p:txBody>
      </p:sp>
      <p:sp>
        <p:nvSpPr>
          <p:cNvPr id="17" name="tl_node_4"/>
          <p:cNvSpPr/>
          <p:nvPr/>
        </p:nvSpPr>
        <p:spPr>
          <a:xfrm>
            <a:off x="8357387" y="2596896"/>
            <a:ext cx="201168" cy="201168"/>
          </a:xfrm>
          <a:prstGeom prst="ellipse">
            <a:avLst/>
          </a:prstGeom>
          <a:solidFill>
            <a:schemeClr val="accent1"/>
          </a:solidFill>
          <a:ln w="19050">
            <a:solidFill>
              <a:schemeClr val="accent1"/>
            </a:solidFill>
            <a:prstDash val="solid"/>
          </a:ln>
        </p:spPr>
      </p:sp>
      <p:sp>
        <p:nvSpPr>
          <p:cNvPr id="18" name="Text 16"/>
          <p:cNvSpPr txBox="1"/>
          <p:nvPr/>
        </p:nvSpPr>
        <p:spPr>
          <a:xfrm>
            <a:off x="7635011" y="2057400"/>
            <a:ext cx="1645920" cy="320040"/>
          </a:xfrm>
          <a:prstGeom prst="rect">
            <a:avLst/>
          </a:prstGeom>
          <a:noFill/>
          <a:ln/>
        </p:spPr>
        <p:txBody>
          <a:bodyPr wrap="square" lIns="0" tIns="0" rIns="0" bIns="0" rtlCol="0" anchor="ctr"/>
          <a:lstStyle/>
          <a:p>
            <a:pPr algn="ctr" indent="0" marL="0">
              <a:buNone/>
            </a:pPr>
            <a:r>
              <a:rPr lang="en-US" sz="1400" b="1" dirty="0">
                <a:solidFill>
                  <a:schemeClr val="accent1"/>
                </a:solidFill>
                <a:latin typeface="Arial" pitchFamily="34" charset="0"/>
                <a:ea typeface="Arial" pitchFamily="34" charset="-122"/>
                <a:cs typeface="Arial" pitchFamily="34" charset="-120"/>
              </a:rPr>
              <a:t>Oct 20</a:t>
            </a:r>
            <a:endParaRPr lang="en-US" sz="1400" dirty="0"/>
          </a:p>
        </p:txBody>
      </p:sp>
      <p:sp>
        <p:nvSpPr>
          <p:cNvPr id="19" name="Text 17"/>
          <p:cNvSpPr txBox="1"/>
          <p:nvPr/>
        </p:nvSpPr>
        <p:spPr>
          <a:xfrm>
            <a:off x="7452131"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Gripper v6</a:t>
            </a:r>
            <a:endParaRPr lang="en-US" sz="1600" dirty="0"/>
          </a:p>
        </p:txBody>
      </p:sp>
      <p:sp>
        <p:nvSpPr>
          <p:cNvPr id="20" name="Text 18"/>
          <p:cNvSpPr txBox="1"/>
          <p:nvPr/>
        </p:nvSpPr>
        <p:spPr>
          <a:xfrm>
            <a:off x="7452131"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Geared jaws</a:t>
            </a:r>
            <a:endParaRPr lang="en-US" sz="1300" dirty="0"/>
          </a:p>
        </p:txBody>
      </p:sp>
      <p:sp>
        <p:nvSpPr>
          <p:cNvPr id="21" name="tl_node_5"/>
          <p:cNvSpPr/>
          <p:nvPr/>
        </p:nvSpPr>
        <p:spPr>
          <a:xfrm>
            <a:off x="10719511" y="2596896"/>
            <a:ext cx="201168" cy="201168"/>
          </a:xfrm>
          <a:prstGeom prst="ellipse">
            <a:avLst/>
          </a:prstGeom>
          <a:solidFill>
            <a:schemeClr val="bg1"/>
          </a:solidFill>
          <a:ln w="19050">
            <a:solidFill>
              <a:schemeClr val="tx1"/>
            </a:solidFill>
            <a:prstDash val="solid"/>
          </a:ln>
        </p:spPr>
      </p:sp>
      <p:sp>
        <p:nvSpPr>
          <p:cNvPr id="22" name="Text 20"/>
          <p:cNvSpPr txBox="1"/>
          <p:nvPr/>
        </p:nvSpPr>
        <p:spPr>
          <a:xfrm>
            <a:off x="9997135"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27</a:t>
            </a:r>
            <a:endParaRPr lang="en-US" sz="1400" dirty="0"/>
          </a:p>
        </p:txBody>
      </p:sp>
      <p:sp>
        <p:nvSpPr>
          <p:cNvPr id="23" name="Text 21"/>
          <p:cNvSpPr txBox="1"/>
          <p:nvPr/>
        </p:nvSpPr>
        <p:spPr>
          <a:xfrm>
            <a:off x="9814255"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Panel</a:t>
            </a:r>
            <a:endParaRPr lang="en-US" sz="1600" dirty="0"/>
          </a:p>
        </p:txBody>
      </p:sp>
      <p:sp>
        <p:nvSpPr>
          <p:cNvPr id="24" name="Text 22"/>
          <p:cNvSpPr txBox="1"/>
          <p:nvPr/>
        </p:nvSpPr>
        <p:spPr>
          <a:xfrm>
            <a:off x="9814255"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Today's talk</a:t>
            </a:r>
            <a:endParaRPr lang="en-US" sz="1300" dirty="0"/>
          </a:p>
        </p:txBody>
      </p:sp>
      <p:sp>
        <p:nvSpPr>
          <p:cNvPr id="25" name="card_1"/>
          <p:cNvSpPr/>
          <p:nvPr/>
        </p:nvSpPr>
        <p:spPr>
          <a:xfrm>
            <a:off x="548640" y="4251960"/>
            <a:ext cx="3246120" cy="1600200"/>
          </a:xfrm>
          <a:prstGeom prst="rect">
            <a:avLst/>
          </a:prstGeom>
          <a:solidFill>
            <a:schemeClr val="bg2"/>
          </a:solidFill>
          <a:ln w="9525">
            <a:solidFill>
              <a:schemeClr val="bg2"/>
            </a:solidFill>
            <a:prstDash val="solid"/>
          </a:ln>
        </p:spPr>
      </p:sp>
      <p:sp>
        <p:nvSpPr>
          <p:cNvPr id="26" name="Text 24"/>
          <p:cNvSpPr txBox="1"/>
          <p:nvPr/>
        </p:nvSpPr>
        <p:spPr>
          <a:xfrm>
            <a:off x="777240" y="4480560"/>
            <a:ext cx="2788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BOUGHT</a:t>
            </a:r>
            <a:endParaRPr lang="en-US" sz="1100" dirty="0"/>
          </a:p>
        </p:txBody>
      </p:sp>
      <p:sp>
        <p:nvSpPr>
          <p:cNvPr id="27" name="Text 25"/>
          <p:cNvSpPr txBox="1"/>
          <p:nvPr/>
        </p:nvSpPr>
        <p:spPr>
          <a:xfrm>
            <a:off x="777240" y="4937760"/>
            <a:ext cx="2788920" cy="731520"/>
          </a:xfrm>
          <a:prstGeom prst="rect">
            <a:avLst/>
          </a:prstGeom>
          <a:noFill/>
          <a:ln/>
        </p:spPr>
        <p:txBody>
          <a:bodyPr wrap="square" lIns="0" tIns="0" rIns="0" bIns="0" rtlCol="0" anchor="t"/>
          <a:lstStyle/>
          <a:p>
            <a:pPr indent="0" marL="0">
              <a:buNone/>
            </a:pPr>
            <a:r>
              <a:rPr lang="en-US" sz="1800" dirty="0">
                <a:solidFill>
                  <a:schemeClr val="tx1"/>
                </a:solidFill>
              </a:rPr>
              <a:t>A4988 driver, ESP32, DROK buck, MG996R servo.</a:t>
            </a:r>
            <a:endParaRPr lang="en-US" sz="1800" dirty="0"/>
          </a:p>
        </p:txBody>
      </p:sp>
      <p:sp>
        <p:nvSpPr>
          <p:cNvPr id="28" name="card_2"/>
          <p:cNvSpPr/>
          <p:nvPr/>
        </p:nvSpPr>
        <p:spPr>
          <a:xfrm>
            <a:off x="4023360" y="4251960"/>
            <a:ext cx="3246120" cy="1600200"/>
          </a:xfrm>
          <a:prstGeom prst="rect">
            <a:avLst/>
          </a:prstGeom>
          <a:solidFill>
            <a:schemeClr val="accent5"/>
          </a:solidFill>
          <a:ln w="19050">
            <a:solidFill>
              <a:schemeClr val="accent1"/>
            </a:solidFill>
            <a:prstDash val="solid"/>
          </a:ln>
        </p:spPr>
      </p:sp>
      <p:sp>
        <p:nvSpPr>
          <p:cNvPr id="29" name="Text 27"/>
          <p:cNvSpPr txBox="1"/>
          <p:nvPr/>
        </p:nvSpPr>
        <p:spPr>
          <a:xfrm>
            <a:off x="4251960" y="4480560"/>
            <a:ext cx="278892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MADE BY ME</a:t>
            </a:r>
            <a:endParaRPr lang="en-US" sz="1100" dirty="0"/>
          </a:p>
        </p:txBody>
      </p:sp>
      <p:sp>
        <p:nvSpPr>
          <p:cNvPr id="30" name="Text 28"/>
          <p:cNvSpPr txBox="1"/>
          <p:nvPr/>
        </p:nvSpPr>
        <p:spPr>
          <a:xfrm>
            <a:off x="4251960" y="4937760"/>
            <a:ext cx="2788920" cy="731520"/>
          </a:xfrm>
          <a:prstGeom prst="rect">
            <a:avLst/>
          </a:prstGeom>
          <a:noFill/>
          <a:ln/>
        </p:spPr>
        <p:txBody>
          <a:bodyPr wrap="square" lIns="0" tIns="0" rIns="0" bIns="0" rtlCol="0" anchor="t"/>
          <a:lstStyle/>
          <a:p>
            <a:pPr indent="0" marL="0">
              <a:buNone/>
            </a:pPr>
            <a:r>
              <a:rPr lang="en-US" sz="1800" dirty="0">
                <a:solidFill>
                  <a:schemeClr val="tx1"/>
                </a:solidFill>
              </a:rPr>
              <a:t>Everything else: designed, printed, machined and wired.</a:t>
            </a:r>
            <a:endParaRPr lang="en-US" sz="1800" dirty="0"/>
          </a:p>
        </p:txBody>
      </p:sp>
      <p:sp>
        <p:nvSpPr>
          <p:cNvPr id="31" name="Text 29"/>
          <p:cNvSpPr txBox="1"/>
          <p:nvPr/>
        </p:nvSpPr>
        <p:spPr>
          <a:xfrm>
            <a:off x="7818120" y="4270248"/>
            <a:ext cx="382493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HOW TO READ THE TAGS</a:t>
            </a:r>
            <a:endParaRPr lang="en-US" sz="1100" dirty="0"/>
          </a:p>
        </p:txBody>
      </p:sp>
      <p:sp>
        <p:nvSpPr>
          <p:cNvPr id="32" name="tag_MEASURED"/>
          <p:cNvSpPr txBox="1"/>
          <p:nvPr/>
        </p:nvSpPr>
        <p:spPr>
          <a:xfrm>
            <a:off x="7818120" y="4617720"/>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33" name="Text 31"/>
          <p:cNvSpPr txBox="1"/>
          <p:nvPr/>
        </p:nvSpPr>
        <p:spPr>
          <a:xfrm>
            <a:off x="9326880" y="4599432"/>
            <a:ext cx="2316175" cy="292608"/>
          </a:xfrm>
          <a:prstGeom prst="rect">
            <a:avLst/>
          </a:prstGeom>
          <a:noFill/>
          <a:ln/>
        </p:spPr>
        <p:txBody>
          <a:bodyPr wrap="square" lIns="0" tIns="0" rIns="0" bIns="0" rtlCol="0" anchor="ctr"/>
          <a:lstStyle/>
          <a:p>
            <a:pPr indent="0" marL="0">
              <a:buNone/>
            </a:pPr>
            <a:r>
              <a:rPr lang="en-US" sz="1300" dirty="0">
                <a:solidFill>
                  <a:schemeClr val="tx1"/>
                </a:solidFill>
              </a:rPr>
              <a:t>On hardware, with an instrument</a:t>
            </a:r>
            <a:endParaRPr lang="en-US" sz="1300" dirty="0"/>
          </a:p>
        </p:txBody>
      </p:sp>
      <p:sp>
        <p:nvSpPr>
          <p:cNvPr id="34" name="tag_CALCULATED"/>
          <p:cNvSpPr txBox="1"/>
          <p:nvPr/>
        </p:nvSpPr>
        <p:spPr>
          <a:xfrm>
            <a:off x="7818120" y="4983480"/>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35" name="Text 33"/>
          <p:cNvSpPr txBox="1"/>
          <p:nvPr/>
        </p:nvSpPr>
        <p:spPr>
          <a:xfrm>
            <a:off x="9326880" y="4965192"/>
            <a:ext cx="2316175" cy="292608"/>
          </a:xfrm>
          <a:prstGeom prst="rect">
            <a:avLst/>
          </a:prstGeom>
          <a:noFill/>
          <a:ln/>
        </p:spPr>
        <p:txBody>
          <a:bodyPr wrap="square" lIns="0" tIns="0" rIns="0" bIns="0" rtlCol="0" anchor="ctr"/>
          <a:lstStyle/>
          <a:p>
            <a:pPr indent="0" marL="0">
              <a:buNone/>
            </a:pPr>
            <a:r>
              <a:rPr lang="en-US" sz="1300" dirty="0">
                <a:solidFill>
                  <a:schemeClr val="tx1"/>
                </a:solidFill>
              </a:rPr>
              <a:t>Hand calculation, stated inputs</a:t>
            </a:r>
            <a:endParaRPr lang="en-US" sz="1300" dirty="0"/>
          </a:p>
        </p:txBody>
      </p:sp>
      <p:sp>
        <p:nvSpPr>
          <p:cNvPr id="36" name="tag_SIMULATED"/>
          <p:cNvSpPr txBox="1"/>
          <p:nvPr/>
        </p:nvSpPr>
        <p:spPr>
          <a:xfrm>
            <a:off x="7818120" y="5349240"/>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37" name="Text 35"/>
          <p:cNvSpPr txBox="1"/>
          <p:nvPr/>
        </p:nvSpPr>
        <p:spPr>
          <a:xfrm>
            <a:off x="9326880" y="5330952"/>
            <a:ext cx="2316175" cy="292608"/>
          </a:xfrm>
          <a:prstGeom prst="rect">
            <a:avLst/>
          </a:prstGeom>
          <a:noFill/>
          <a:ln/>
        </p:spPr>
        <p:txBody>
          <a:bodyPr wrap="square" lIns="0" tIns="0" rIns="0" bIns="0" rtlCol="0" anchor="ctr"/>
          <a:lstStyle/>
          <a:p>
            <a:pPr indent="0" marL="0">
              <a:buNone/>
            </a:pPr>
            <a:r>
              <a:rPr lang="en-US" sz="1300" dirty="0">
                <a:solidFill>
                  <a:schemeClr val="tx1"/>
                </a:solidFill>
              </a:rPr>
              <a:t>Run in a model or simulator</a:t>
            </a:r>
            <a:endParaRPr lang="en-US" sz="1300" dirty="0"/>
          </a:p>
        </p:txBody>
      </p:sp>
      <p:sp>
        <p:nvSpPr>
          <p:cNvPr id="38" name="tag_PLANNED"/>
          <p:cNvSpPr txBox="1"/>
          <p:nvPr/>
        </p:nvSpPr>
        <p:spPr>
          <a:xfrm>
            <a:off x="7818120" y="5715000"/>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39" name="Text 37"/>
          <p:cNvSpPr txBox="1"/>
          <p:nvPr/>
        </p:nvSpPr>
        <p:spPr>
          <a:xfrm>
            <a:off x="9326880" y="5696712"/>
            <a:ext cx="2316175" cy="292608"/>
          </a:xfrm>
          <a:prstGeom prst="rect">
            <a:avLst/>
          </a:prstGeom>
          <a:noFill/>
          <a:ln/>
        </p:spPr>
        <p:txBody>
          <a:bodyPr wrap="square" lIns="0" tIns="0" rIns="0" bIns="0" rtlCol="0" anchor="ctr"/>
          <a:lstStyle/>
          <a:p>
            <a:pPr indent="0" marL="0">
              <a:buNone/>
            </a:pPr>
            <a:r>
              <a:rPr lang="en-US" sz="1300" dirty="0">
                <a:solidFill>
                  <a:schemeClr val="tx1"/>
                </a:solidFill>
              </a:rPr>
              <a:t>Not done yet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THE PROBLEM · WHAT DONE MEANS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Done means jeans from anywhere on the floor into the hamper.</a:t>
            </a:r>
            <a:endParaRPr lang="en-US" sz="3000" dirty="0"/>
          </a:p>
        </p:txBody>
      </p:sp>
      <p:sp>
        <p:nvSpPr>
          <p:cNvPr id="4" name="render_mat"/>
          <p:cNvSpPr/>
          <p:nvPr/>
        </p:nvSpPr>
        <p:spPr>
          <a:xfrm>
            <a:off x="548640" y="1828800"/>
            <a:ext cx="4297680" cy="4434840"/>
          </a:xfrm>
          <a:prstGeom prst="rect">
            <a:avLst/>
          </a:prstGeom>
          <a:solidFill>
            <a:schemeClr val="bg2"/>
          </a:solidFill>
          <a:ln w="6350">
            <a:solidFill>
              <a:schemeClr val="bg2"/>
            </a:solidFill>
            <a:prstDash val="solid"/>
          </a:ln>
        </p:spPr>
      </p:sp>
      <p:pic>
        <p:nvPicPr>
          <p:cNvPr id="5" name="claw_render" descr="claw_render">    </p:cNvPr>
          <p:cNvPicPr>
            <a:picLocks noChangeAspect="1"/>
          </p:cNvPicPr>
          <p:nvPr/>
        </p:nvPicPr>
        <p:blipFill>
          <a:blip r:embed="rId1"/>
          <a:stretch>
            <a:fillRect/>
          </a:stretch>
        </p:blipFill>
        <p:spPr>
          <a:xfrm>
            <a:off x="868680" y="2057400"/>
            <a:ext cx="1291861" cy="3749040"/>
          </a:xfrm>
          <a:prstGeom prst="rect">
            <a:avLst/>
          </a:prstGeom>
        </p:spPr>
      </p:pic>
      <p:pic>
        <p:nvPicPr>
          <p:cNvPr id="6" name="station_render" descr="station_render">    </p:cNvPr>
          <p:cNvPicPr>
            <a:picLocks noChangeAspect="1"/>
          </p:cNvPicPr>
          <p:nvPr/>
        </p:nvPicPr>
        <p:blipFill>
          <a:blip r:embed="rId2"/>
          <a:stretch>
            <a:fillRect/>
          </a:stretch>
        </p:blipFill>
        <p:spPr>
          <a:xfrm>
            <a:off x="2451708" y="2331720"/>
            <a:ext cx="2057725" cy="2651760"/>
          </a:xfrm>
          <a:prstGeom prst="rect">
            <a:avLst/>
          </a:prstGeom>
        </p:spPr>
      </p:pic>
      <p:sp>
        <p:nvSpPr>
          <p:cNvPr id="7" name="Text 3"/>
          <p:cNvSpPr txBox="1"/>
          <p:nvPr/>
        </p:nvSpPr>
        <p:spPr>
          <a:xfrm>
            <a:off x="777240" y="5897880"/>
            <a:ext cx="2011680" cy="274320"/>
          </a:xfrm>
          <a:prstGeom prst="rect">
            <a:avLst/>
          </a:prstGeom>
          <a:noFill/>
          <a:ln/>
        </p:spPr>
        <p:txBody>
          <a:bodyPr wrap="square" lIns="0" tIns="0" rIns="0" bIns="0" rtlCol="0" anchor="t"/>
          <a:lstStyle/>
          <a:p>
            <a:pPr indent="0" marL="0">
              <a:buNone/>
            </a:pPr>
            <a:r>
              <a:rPr lang="en-US" sz="1100" i="1" dirty="0">
                <a:solidFill>
                  <a:schemeClr val="tx2"/>
                </a:solidFill>
              </a:rPr>
              <a:t>Claw v6 with camera bay</a:t>
            </a:r>
            <a:endParaRPr lang="en-US" sz="1100" dirty="0"/>
          </a:p>
        </p:txBody>
      </p:sp>
      <p:sp>
        <p:nvSpPr>
          <p:cNvPr id="8" name="Text 4"/>
          <p:cNvSpPr txBox="1"/>
          <p:nvPr/>
        </p:nvSpPr>
        <p:spPr>
          <a:xfrm>
            <a:off x="2405988" y="5074920"/>
            <a:ext cx="1828800" cy="274320"/>
          </a:xfrm>
          <a:prstGeom prst="rect">
            <a:avLst/>
          </a:prstGeom>
          <a:noFill/>
          <a:ln/>
        </p:spPr>
        <p:txBody>
          <a:bodyPr wrap="square" lIns="0" tIns="0" rIns="0" bIns="0" rtlCol="0" anchor="t"/>
          <a:lstStyle/>
          <a:p>
            <a:pPr indent="0" marL="0">
              <a:buNone/>
            </a:pPr>
            <a:r>
              <a:rPr lang="en-US" sz="1100" i="1" dirty="0">
                <a:solidFill>
                  <a:schemeClr val="tx2"/>
                </a:solidFill>
              </a:rPr>
              <a:t>Winch station v3</a:t>
            </a:r>
            <a:endParaRPr lang="en-US" sz="1100" dirty="0"/>
          </a:p>
        </p:txBody>
      </p:sp>
      <p:sp>
        <p:nvSpPr>
          <p:cNvPr id="9" name="req_card_1"/>
          <p:cNvSpPr/>
          <p:nvPr/>
        </p:nvSpPr>
        <p:spPr>
          <a:xfrm>
            <a:off x="5120640" y="1828800"/>
            <a:ext cx="6522415" cy="786384"/>
          </a:xfrm>
          <a:prstGeom prst="rect">
            <a:avLst/>
          </a:prstGeom>
          <a:solidFill>
            <a:schemeClr val="bg2"/>
          </a:solidFill>
          <a:ln w="6350">
            <a:solidFill>
              <a:schemeClr val="bg2"/>
            </a:solidFill>
            <a:prstDash val="solid"/>
          </a:ln>
        </p:spPr>
      </p:sp>
      <p:sp>
        <p:nvSpPr>
          <p:cNvPr id="10" name="req_big_1"/>
          <p:cNvSpPr txBox="1"/>
          <p:nvPr/>
        </p:nvSpPr>
        <p:spPr>
          <a:xfrm>
            <a:off x="5349240" y="1828800"/>
            <a:ext cx="2103120" cy="786384"/>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 kg</a:t>
            </a:r>
            <a:endParaRPr lang="en-US" sz="2800" dirty="0"/>
          </a:p>
        </p:txBody>
      </p:sp>
      <p:sp>
        <p:nvSpPr>
          <p:cNvPr id="11" name="req_label_1"/>
          <p:cNvSpPr txBox="1"/>
          <p:nvPr/>
        </p:nvSpPr>
        <p:spPr>
          <a:xfrm>
            <a:off x="7543800" y="1828800"/>
            <a:ext cx="3916375" cy="786384"/>
          </a:xfrm>
          <a:prstGeom prst="rect">
            <a:avLst/>
          </a:prstGeom>
          <a:noFill/>
          <a:ln/>
        </p:spPr>
        <p:txBody>
          <a:bodyPr wrap="square" lIns="0" tIns="0" rIns="0" bIns="0" rtlCol="0" anchor="ctr"/>
          <a:lstStyle/>
          <a:p>
            <a:pPr indent="0" marL="0">
              <a:buNone/>
            </a:pPr>
            <a:r>
              <a:rPr lang="en-US" sz="1600" dirty="0">
                <a:solidFill>
                  <a:schemeClr val="tx1"/>
                </a:solidFill>
              </a:rPr>
              <a:t>Payload of jeans, plus 2 m/s² acceleration</a:t>
            </a:r>
            <a:endParaRPr lang="en-US" sz="1600" dirty="0"/>
          </a:p>
        </p:txBody>
      </p:sp>
      <p:sp>
        <p:nvSpPr>
          <p:cNvPr id="12" name="req_card_2"/>
          <p:cNvSpPr/>
          <p:nvPr/>
        </p:nvSpPr>
        <p:spPr>
          <a:xfrm>
            <a:off x="5120640" y="2743200"/>
            <a:ext cx="6522415" cy="786384"/>
          </a:xfrm>
          <a:prstGeom prst="rect">
            <a:avLst/>
          </a:prstGeom>
          <a:solidFill>
            <a:schemeClr val="bg2"/>
          </a:solidFill>
          <a:ln w="6350">
            <a:solidFill>
              <a:schemeClr val="bg2"/>
            </a:solidFill>
            <a:prstDash val="solid"/>
          </a:ln>
        </p:spPr>
      </p:sp>
      <p:sp>
        <p:nvSpPr>
          <p:cNvPr id="13" name="req_big_2"/>
          <p:cNvSpPr txBox="1"/>
          <p:nvPr/>
        </p:nvSpPr>
        <p:spPr>
          <a:xfrm>
            <a:off x="5349240" y="27432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 450 g</a:t>
            </a:r>
            <a:endParaRPr lang="en-US" sz="2800" dirty="0"/>
          </a:p>
        </p:txBody>
      </p:sp>
      <p:sp>
        <p:nvSpPr>
          <p:cNvPr id="14" name="req_label_2"/>
          <p:cNvSpPr txBox="1"/>
          <p:nvPr/>
        </p:nvSpPr>
        <p:spPr>
          <a:xfrm>
            <a:off x="7543800" y="2743200"/>
            <a:ext cx="3916375" cy="786384"/>
          </a:xfrm>
          <a:prstGeom prst="rect">
            <a:avLst/>
          </a:prstGeom>
          <a:noFill/>
          <a:ln/>
        </p:spPr>
        <p:txBody>
          <a:bodyPr wrap="square" lIns="0" tIns="0" rIns="0" bIns="0" rtlCol="0" anchor="ctr"/>
          <a:lstStyle/>
          <a:p>
            <a:pPr indent="0" marL="0">
              <a:buNone/>
            </a:pPr>
            <a:r>
              <a:rPr lang="en-US" sz="1600" dirty="0">
                <a:solidFill>
                  <a:schemeClr val="tx1"/>
                </a:solidFill>
              </a:rPr>
              <a:t>Claw mass budget</a:t>
            </a:r>
            <a:endParaRPr lang="en-US" sz="1600" dirty="0"/>
          </a:p>
        </p:txBody>
      </p:sp>
      <p:sp>
        <p:nvSpPr>
          <p:cNvPr id="15" name="req_card_3"/>
          <p:cNvSpPr/>
          <p:nvPr/>
        </p:nvSpPr>
        <p:spPr>
          <a:xfrm>
            <a:off x="5120640" y="3657600"/>
            <a:ext cx="6522415" cy="786384"/>
          </a:xfrm>
          <a:prstGeom prst="rect">
            <a:avLst/>
          </a:prstGeom>
          <a:solidFill>
            <a:schemeClr val="bg2"/>
          </a:solidFill>
          <a:ln w="6350">
            <a:solidFill>
              <a:schemeClr val="bg2"/>
            </a:solidFill>
            <a:prstDash val="solid"/>
          </a:ln>
        </p:spPr>
      </p:sp>
      <p:sp>
        <p:nvSpPr>
          <p:cNvPr id="16" name="req_big_3"/>
          <p:cNvSpPr txBox="1"/>
          <p:nvPr/>
        </p:nvSpPr>
        <p:spPr>
          <a:xfrm>
            <a:off x="5349240" y="36576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4 × studs</a:t>
            </a:r>
            <a:endParaRPr lang="en-US" sz="2800" dirty="0"/>
          </a:p>
        </p:txBody>
      </p:sp>
      <p:sp>
        <p:nvSpPr>
          <p:cNvPr id="17" name="req_label_3"/>
          <p:cNvSpPr txBox="1"/>
          <p:nvPr/>
        </p:nvSpPr>
        <p:spPr>
          <a:xfrm>
            <a:off x="7543800" y="3657600"/>
            <a:ext cx="3916375" cy="786384"/>
          </a:xfrm>
          <a:prstGeom prst="rect">
            <a:avLst/>
          </a:prstGeom>
          <a:noFill/>
          <a:ln/>
        </p:spPr>
        <p:txBody>
          <a:bodyPr wrap="square" lIns="0" tIns="0" rIns="0" bIns="0" rtlCol="0" anchor="ctr"/>
          <a:lstStyle/>
          <a:p>
            <a:pPr indent="0" marL="0">
              <a:buNone/>
            </a:pPr>
            <a:r>
              <a:rPr lang="en-US" sz="1600" dirty="0">
                <a:solidFill>
                  <a:schemeClr val="tx1"/>
                </a:solidFill>
              </a:rPr>
              <a:t>Winch stations screwed into wall studs</a:t>
            </a:r>
            <a:endParaRPr lang="en-US" sz="1600" dirty="0"/>
          </a:p>
        </p:txBody>
      </p:sp>
      <p:sp>
        <p:nvSpPr>
          <p:cNvPr id="18" name="req_card_4"/>
          <p:cNvSpPr/>
          <p:nvPr/>
        </p:nvSpPr>
        <p:spPr>
          <a:xfrm>
            <a:off x="5120640" y="4572000"/>
            <a:ext cx="6522415" cy="786384"/>
          </a:xfrm>
          <a:prstGeom prst="rect">
            <a:avLst/>
          </a:prstGeom>
          <a:solidFill>
            <a:schemeClr val="bg2"/>
          </a:solidFill>
          <a:ln w="6350">
            <a:solidFill>
              <a:schemeClr val="bg2"/>
            </a:solidFill>
            <a:prstDash val="solid"/>
          </a:ln>
        </p:spPr>
      </p:sp>
      <p:sp>
        <p:nvSpPr>
          <p:cNvPr id="19" name="req_big_4"/>
          <p:cNvSpPr txBox="1"/>
          <p:nvPr/>
        </p:nvSpPr>
        <p:spPr>
          <a:xfrm>
            <a:off x="5349240" y="45720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1 switch</a:t>
            </a:r>
            <a:endParaRPr lang="en-US" sz="2800" dirty="0"/>
          </a:p>
        </p:txBody>
      </p:sp>
      <p:sp>
        <p:nvSpPr>
          <p:cNvPr id="20" name="req_label_4"/>
          <p:cNvSpPr txBox="1"/>
          <p:nvPr/>
        </p:nvSpPr>
        <p:spPr>
          <a:xfrm>
            <a:off x="7543800" y="4572000"/>
            <a:ext cx="3916375" cy="786384"/>
          </a:xfrm>
          <a:prstGeom prst="rect">
            <a:avLst/>
          </a:prstGeom>
          <a:noFill/>
          <a:ln/>
        </p:spPr>
        <p:txBody>
          <a:bodyPr wrap="square" lIns="0" tIns="0" rIns="0" bIns="0" rtlCol="0" anchor="ctr"/>
          <a:lstStyle/>
          <a:p>
            <a:pPr indent="0" marL="0">
              <a:buNone/>
            </a:pPr>
            <a:r>
              <a:rPr lang="en-US" sz="1600" dirty="0">
                <a:solidFill>
                  <a:schemeClr val="tx1"/>
                </a:solidFill>
              </a:rPr>
              <a:t>The switched power strip is the only kill switch</a:t>
            </a:r>
            <a:endParaRPr lang="en-US" sz="1600" dirty="0"/>
          </a:p>
        </p:txBody>
      </p:sp>
      <p:sp>
        <p:nvSpPr>
          <p:cNvPr id="21" name="req_card_5"/>
          <p:cNvSpPr/>
          <p:nvPr/>
        </p:nvSpPr>
        <p:spPr>
          <a:xfrm>
            <a:off x="5120640" y="5486400"/>
            <a:ext cx="6522415" cy="786384"/>
          </a:xfrm>
          <a:prstGeom prst="rect">
            <a:avLst/>
          </a:prstGeom>
          <a:solidFill>
            <a:schemeClr val="bg2"/>
          </a:solidFill>
          <a:ln w="6350">
            <a:solidFill>
              <a:schemeClr val="bg2"/>
            </a:solidFill>
            <a:prstDash val="solid"/>
          </a:ln>
        </p:spPr>
      </p:sp>
      <p:sp>
        <p:nvSpPr>
          <p:cNvPr id="22" name="req_big_5"/>
          <p:cNvSpPr txBox="1"/>
          <p:nvPr/>
        </p:nvSpPr>
        <p:spPr>
          <a:xfrm>
            <a:off x="5349240" y="54864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0 people</a:t>
            </a:r>
            <a:endParaRPr lang="en-US" sz="2800" dirty="0"/>
          </a:p>
        </p:txBody>
      </p:sp>
      <p:sp>
        <p:nvSpPr>
          <p:cNvPr id="23" name="req_label_5"/>
          <p:cNvSpPr txBox="1"/>
          <p:nvPr/>
        </p:nvSpPr>
        <p:spPr>
          <a:xfrm>
            <a:off x="7543800" y="5486400"/>
            <a:ext cx="3916375" cy="786384"/>
          </a:xfrm>
          <a:prstGeom prst="rect">
            <a:avLst/>
          </a:prstGeom>
          <a:noFill/>
          <a:ln/>
        </p:spPr>
        <p:txBody>
          <a:bodyPr wrap="square" lIns="0" tIns="0" rIns="0" bIns="0" rtlCol="0" anchor="ctr"/>
          <a:lstStyle/>
          <a:p>
            <a:pPr indent="0" marL="0">
              <a:buNone/>
            </a:pPr>
            <a:r>
              <a:rPr lang="en-US" sz="1600" dirty="0">
                <a:solidFill>
                  <a:schemeClr val="tx1"/>
                </a:solidFill>
              </a:rPr>
              <a:t>Nobody under the robot while it moves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04 · CABLE STATICS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Cable angle, not payload, sets the limits; walls bind before the ceiling.</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6" name="limit_11.9 N winch design force_11.9"/>
          <p:cNvSpPr/>
          <p:nvPr/>
        </p:nvSpPr>
        <p:spPr>
          <a:xfrm>
            <a:off x="1239926" y="4102666"/>
            <a:ext cx="4048963" cy="0"/>
          </a:xfrm>
          <a:prstGeom prst="line">
            <a:avLst/>
          </a:prstGeom>
          <a:noFill/>
          <a:ln w="15875">
            <a:solidFill>
              <a:srgbClr val="0E1116"/>
            </a:solidFill>
            <a:prstDash val="dash"/>
          </a:ln>
        </p:spPr>
      </p:sp>
      <p:sp>
        <p:nvSpPr>
          <p:cNvPr id="7" name="limit_label_11.9 N winch design force"/>
          <p:cNvSpPr txBox="1"/>
          <p:nvPr/>
        </p:nvSpPr>
        <p:spPr>
          <a:xfrm>
            <a:off x="3044038" y="3855778"/>
            <a:ext cx="2217420" cy="219456"/>
          </a:xfrm>
          <a:prstGeom prst="rect">
            <a:avLst/>
          </a:prstGeom>
          <a:noFill/>
          <a:ln/>
        </p:spPr>
        <p:txBody>
          <a:bodyPr wrap="square" lIns="0" tIns="0" rIns="0" bIns="0" rtlCol="0" anchor="ctr"/>
          <a:lstStyle/>
          <a:p>
            <a:pPr algn="r" indent="0" marL="0">
              <a:buNone/>
            </a:pPr>
            <a:r>
              <a:rPr lang="en-US" sz="1100" b="1" dirty="0">
                <a:solidFill>
                  <a:srgbClr val="0E1116"/>
                </a:solidFill>
                <a:latin typeface="Arial" pitchFamily="34" charset="0"/>
                <a:ea typeface="Arial" pitchFamily="34" charset="-122"/>
                <a:cs typeface="Arial" pitchFamily="34" charset="-120"/>
              </a:rPr>
              <a:t>11.9 N winch design force</a:t>
            </a:r>
            <a:endParaRPr lang="en-US" sz="1100" dirty="0"/>
          </a:p>
        </p:txBody>
      </p:sp>
      <p:sp>
        <p:nvSpPr>
          <p:cNvPr id="8" name="railv_line"/>
          <p:cNvSpPr/>
          <p:nvPr/>
        </p:nvSpPr>
        <p:spPr>
          <a:xfrm>
            <a:off x="5980176" y="2103120"/>
            <a:ext cx="0" cy="2560320"/>
          </a:xfrm>
          <a:prstGeom prst="line">
            <a:avLst/>
          </a:prstGeom>
          <a:noFill/>
          <a:ln w="25400">
            <a:solidFill>
              <a:schemeClr val="bg2"/>
            </a:solidFill>
            <a:prstDash val="solid"/>
          </a:ln>
        </p:spPr>
      </p:sp>
      <p:sp>
        <p:nvSpPr>
          <p:cNvPr id="9"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0"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1"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Use the whole room.</a:t>
            </a:r>
            <a:endParaRPr lang="en-US" sz="1500" dirty="0"/>
          </a:p>
        </p:txBody>
      </p:sp>
      <p:sp>
        <p:nvSpPr>
          <p:cNvPr id="12" name="railv_sep_1"/>
          <p:cNvSpPr/>
          <p:nvPr/>
        </p:nvSpPr>
        <p:spPr>
          <a:xfrm>
            <a:off x="6236208" y="2423160"/>
            <a:ext cx="5406847" cy="0"/>
          </a:xfrm>
          <a:prstGeom prst="line">
            <a:avLst/>
          </a:prstGeom>
          <a:noFill/>
          <a:ln w="9525">
            <a:solidFill>
              <a:schemeClr val="bg2"/>
            </a:solidFill>
            <a:prstDash val="solid"/>
          </a:ln>
        </p:spPr>
      </p:sp>
      <p:sp>
        <p:nvSpPr>
          <p:cNvPr id="13"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4"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15"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32 N at 0.15 m depth, 8.3 N at 0.6 m.</a:t>
            </a:r>
            <a:endParaRPr lang="en-US" sz="1500" dirty="0"/>
          </a:p>
        </p:txBody>
      </p:sp>
      <p:sp>
        <p:nvSpPr>
          <p:cNvPr id="16" name="railv_sep_2"/>
          <p:cNvSpPr/>
          <p:nvPr/>
        </p:nvSpPr>
        <p:spPr>
          <a:xfrm>
            <a:off x="6236208" y="3063240"/>
            <a:ext cx="5406847" cy="0"/>
          </a:xfrm>
          <a:prstGeom prst="line">
            <a:avLst/>
          </a:prstGeom>
          <a:noFill/>
          <a:ln w="9525">
            <a:solidFill>
              <a:schemeClr val="bg2"/>
            </a:solidFill>
            <a:prstDash val="solid"/>
          </a:ln>
        </p:spPr>
      </p:sp>
      <p:sp>
        <p:nvSpPr>
          <p:cNvPr id="17"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18"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19"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Ceiling margin 0.4 m, plus a wall margin.</a:t>
            </a:r>
            <a:endParaRPr lang="en-US" sz="1500" dirty="0"/>
          </a:p>
        </p:txBody>
      </p:sp>
      <p:sp>
        <p:nvSpPr>
          <p:cNvPr id="20" name="railv_sep_3"/>
          <p:cNvSpPr/>
          <p:nvPr/>
        </p:nvSpPr>
        <p:spPr>
          <a:xfrm>
            <a:off x="6236208" y="3703320"/>
            <a:ext cx="5406847" cy="0"/>
          </a:xfrm>
          <a:prstGeom prst="line">
            <a:avLst/>
          </a:prstGeom>
          <a:noFill/>
          <a:ln w="9525">
            <a:solidFill>
              <a:schemeClr val="bg2"/>
            </a:solidFill>
            <a:prstDash val="solid"/>
          </a:ln>
        </p:spPr>
      </p:sp>
      <p:sp>
        <p:nvSpPr>
          <p:cNvPr id="21"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2"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3"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At task heights, corners bind (1.1 × weight).</a:t>
            </a:r>
            <a:endParaRPr lang="en-US" sz="1500" dirty="0"/>
          </a:p>
        </p:txBody>
      </p:sp>
      <p:sp>
        <p:nvSpPr>
          <p:cNvPr id="24" name="railv_sep_4"/>
          <p:cNvSpPr/>
          <p:nvPr/>
        </p:nvSpPr>
        <p:spPr>
          <a:xfrm>
            <a:off x="6236208" y="4343400"/>
            <a:ext cx="5406847" cy="0"/>
          </a:xfrm>
          <a:prstGeom prst="line">
            <a:avLst/>
          </a:prstGeom>
          <a:noFill/>
          <a:ln w="9525">
            <a:solidFill>
              <a:schemeClr val="bg2"/>
            </a:solidFill>
            <a:prstDash val="solid"/>
          </a:ln>
        </p:spPr>
      </p:sp>
      <p:sp>
        <p:nvSpPr>
          <p:cNvPr id="25"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6"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27"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mass counts like payload.</a:t>
            </a:r>
            <a:endParaRPr lang="en-US" sz="1500" dirty="0"/>
          </a:p>
        </p:txBody>
      </p:sp>
      <p:sp>
        <p:nvSpPr>
          <p:cNvPr id="28"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29" name="Text 26"/>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0"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T = W / (4 sin φ),  sin φ = d / √(d² + D</a:t>
            </a:r>
            <a:pPr indent="0" marL="0">
              <a:buNone/>
            </a:pPr>
            <a:r>
              <a:rPr lang="en-US" sz="1600" baseline="-40000" dirty="0">
                <a:solidFill>
                  <a:schemeClr val="tx1"/>
                </a:solidFill>
                <a:latin typeface="Cambria" pitchFamily="34" charset="0"/>
                <a:ea typeface="Cambria" pitchFamily="34" charset="-122"/>
                <a:cs typeface="Cambria" pitchFamily="34" charset="-120"/>
              </a:rPr>
              <a:t>h</a:t>
            </a:r>
            <a:pPr indent="0" marL="0">
              <a:buNone/>
            </a:pPr>
            <a:r>
              <a:rPr lang="en-US" sz="1600" dirty="0">
                <a:solidFill>
                  <a:schemeClr val="tx1"/>
                </a:solidFill>
                <a:latin typeface="Cambria" pitchFamily="34" charset="0"/>
                <a:ea typeface="Cambria" pitchFamily="34" charset="-122"/>
                <a:cs typeface="Cambria" pitchFamily="34" charset="-120"/>
              </a:rPr>
              <a:t>²)</a:t>
            </a:r>
            <a:endParaRPr lang="en-US" sz="1600" dirty="0"/>
          </a:p>
        </p:txBody>
      </p:sp>
      <p:sp>
        <p:nvSpPr>
          <p:cNvPr id="31"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W = 8.86 N (1 lb + 0.45 kg claw), D</a:t>
            </a:r>
            <a:pPr indent="0" marL="0">
              <a:buNone/>
            </a:pPr>
            <a:r>
              <a:rPr lang="en-US" sz="1300" baseline="-40000" dirty="0">
                <a:solidFill>
                  <a:schemeClr val="tx1"/>
                </a:solidFill>
                <a:latin typeface="Cambria" pitchFamily="34" charset="0"/>
                <a:ea typeface="Cambria" pitchFamily="34" charset="-122"/>
                <a:cs typeface="Cambria" pitchFamily="34" charset="-120"/>
              </a:rPr>
              <a:t>h</a:t>
            </a:r>
            <a:pPr indent="0" marL="0">
              <a:buNone/>
            </a:pPr>
            <a:r>
              <a:rPr lang="en-US" sz="1300" dirty="0">
                <a:solidFill>
                  <a:schemeClr val="tx1"/>
                </a:solidFill>
                <a:latin typeface="Cambria" pitchFamily="34" charset="0"/>
                <a:ea typeface="Cambria" pitchFamily="34" charset="-122"/>
                <a:cs typeface="Cambria" pitchFamily="34" charset="-120"/>
              </a:rPr>
              <a:t> = 2.17 m: T = 32.1 N at d = 0.15 m, 8.3 N at 0.60 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05 · DRIVE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driver, not the motor, capped my pull; geometry buys it back.</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6" name="big_number"/>
          <p:cNvSpPr txBox="1"/>
          <p:nvPr/>
        </p:nvSpPr>
        <p:spPr>
          <a:xfrm>
            <a:off x="548640" y="1764792"/>
            <a:ext cx="4937760" cy="566928"/>
          </a:xfrm>
          <a:prstGeom prst="rect">
            <a:avLst/>
          </a:prstGeom>
          <a:noFill/>
          <a:ln/>
        </p:spPr>
        <p:txBody>
          <a:bodyPr wrap="square" lIns="0" tIns="0" rIns="0" bIns="0" rtlCol="0" anchor="ctr"/>
          <a:lstStyle/>
          <a:p>
            <a:pPr indent="0" marL="0">
              <a:buNone/>
            </a:pPr>
            <a:r>
              <a:rPr lang="en-US" sz="3800" b="1" dirty="0">
                <a:solidFill>
                  <a:schemeClr val="accent1"/>
                </a:solidFill>
                <a:latin typeface="Arial" pitchFamily="34" charset="0"/>
                <a:ea typeface="Arial" pitchFamily="34" charset="-122"/>
                <a:cs typeface="Arial" pitchFamily="34" charset="-120"/>
              </a:rPr>
              <a:t>0.85 V → 1.06 A</a:t>
            </a:r>
            <a:endParaRPr lang="en-US" sz="3800" dirty="0"/>
          </a:p>
        </p:txBody>
      </p:sp>
      <p:sp>
        <p:nvSpPr>
          <p:cNvPr id="7" name="Text 5"/>
          <p:cNvSpPr txBox="1"/>
          <p:nvPr/>
        </p:nvSpPr>
        <p:spPr>
          <a:xfrm>
            <a:off x="548640" y="2331720"/>
            <a:ext cx="4937760" cy="237744"/>
          </a:xfrm>
          <a:prstGeom prst="rect">
            <a:avLst/>
          </a:prstGeom>
          <a:noFill/>
          <a:ln/>
        </p:spPr>
        <p:txBody>
          <a:bodyPr wrap="square" lIns="0" tIns="0" rIns="0" bIns="0" rtlCol="0" anchor="t"/>
          <a:lstStyle/>
          <a:p>
            <a:pPr indent="0" marL="0">
              <a:buNone/>
            </a:pPr>
            <a:r>
              <a:rPr lang="en-US" sz="1200" dirty="0">
                <a:solidFill>
                  <a:schemeClr val="tx2"/>
                </a:solidFill>
              </a:rPr>
              <a:t>Vref cap on my A4988 boards, and the current it allows</a:t>
            </a:r>
            <a:endParaRPr lang="en-US" sz="1200" dirty="0"/>
          </a:p>
        </p:txBody>
      </p:sp>
      <p:graphicFrame>
        <p:nvGraphicFramePr>
          <p:cNvPr id="8" name="Chart 0" descr=""/>
          <p:cNvGraphicFramePr/>
          <p:nvPr/>
        </p:nvGraphicFramePr>
        <p:xfrm>
          <a:off x="548640" y="2606040"/>
          <a:ext cx="4937760" cy="2734056"/>
        </p:xfrm>
        <a:graphic xmlns:a="http://schemas.openxmlformats.org/drawingml/2006/main">
          <a:graphicData uri="http://schemas.openxmlformats.org/drawingml/2006/chart">
            <c:chart xmlns:c="http://schemas.openxmlformats.org/drawingml/2006/chart" r:id="rId1"/>
          </a:graphicData>
        </a:graphic>
      </p:graphicFrame>
      <p:sp>
        <p:nvSpPr>
          <p:cNvPr id="9" name="claw_estimate_band"/>
          <p:cNvSpPr/>
          <p:nvPr/>
        </p:nvSpPr>
        <p:spPr>
          <a:xfrm>
            <a:off x="1190549" y="2879446"/>
            <a:ext cx="4147718" cy="244971"/>
          </a:xfrm>
          <a:prstGeom prst="rect">
            <a:avLst/>
          </a:prstGeom>
          <a:solidFill>
            <a:schemeClr val="bg2"/>
          </a:solidFill>
          <a:ln w="12700">
            <a:solidFill>
              <a:schemeClr val="tx2"/>
            </a:solidFill>
            <a:prstDash val="dash"/>
          </a:ln>
        </p:spPr>
      </p:sp>
      <p:sp>
        <p:nvSpPr>
          <p:cNvPr id="10" name="claw_estimate_label"/>
          <p:cNvSpPr txBox="1"/>
          <p:nvPr/>
        </p:nvSpPr>
        <p:spPr>
          <a:xfrm>
            <a:off x="1281989" y="2879446"/>
            <a:ext cx="3964838" cy="244971"/>
          </a:xfrm>
          <a:prstGeom prst="rect">
            <a:avLst/>
          </a:prstGeom>
          <a:noFill/>
          <a:ln/>
        </p:spPr>
        <p:txBody>
          <a:bodyPr wrap="square" lIns="0" tIns="0" rIns="0" bIns="0" rtlCol="0" anchor="ctr"/>
          <a:lstStyle/>
          <a:p>
            <a:pPr indent="0" marL="0">
              <a:buNone/>
            </a:pPr>
            <a:r>
              <a:rPr lang="en-US" sz="1100" b="1" dirty="0">
                <a:solidFill>
                  <a:schemeClr val="tx1"/>
                </a:solidFill>
                <a:latin typeface="Arial" pitchFamily="34" charset="0"/>
                <a:ea typeface="Arial" pitchFamily="34" charset="-122"/>
                <a:cs typeface="Arial" pitchFamily="34" charset="-120"/>
              </a:rPr>
              <a:t>Printed claw estimate 1,050–1,250 g (unweighed)</a:t>
            </a:r>
            <a:endParaRPr lang="en-US" sz="1100" dirty="0"/>
          </a:p>
        </p:txBody>
      </p:sp>
      <p:sp>
        <p:nvSpPr>
          <p:cNvPr id="11" name="limit_450 g budget_450"/>
          <p:cNvSpPr/>
          <p:nvPr/>
        </p:nvSpPr>
        <p:spPr>
          <a:xfrm>
            <a:off x="1190549" y="3859331"/>
            <a:ext cx="4147718" cy="0"/>
          </a:xfrm>
          <a:prstGeom prst="line">
            <a:avLst/>
          </a:prstGeom>
          <a:noFill/>
          <a:ln w="15875">
            <a:solidFill>
              <a:schemeClr val="tx1"/>
            </a:solidFill>
            <a:prstDash val="dash"/>
          </a:ln>
        </p:spPr>
      </p:sp>
      <p:sp>
        <p:nvSpPr>
          <p:cNvPr id="12" name="limit_label_450 g budget"/>
          <p:cNvSpPr txBox="1"/>
          <p:nvPr/>
        </p:nvSpPr>
        <p:spPr>
          <a:xfrm>
            <a:off x="1236269" y="3612443"/>
            <a:ext cx="1207008"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450 g budget</a:t>
            </a:r>
            <a:endParaRPr lang="en-US" sz="1100" dirty="0"/>
          </a:p>
        </p:txBody>
      </p:sp>
      <p:sp>
        <p:nvSpPr>
          <p:cNvPr id="13"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4"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5"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Luggage-scale pull at 1.06 A, empty and full spool; replaces the assumed 0.7 running-torque factor.</a:t>
            </a:r>
            <a:endParaRPr lang="en-US" sz="1200" dirty="0"/>
          </a:p>
        </p:txBody>
      </p:sp>
      <p:sp>
        <p:nvSpPr>
          <p:cNvPr id="16" name="railv_line"/>
          <p:cNvSpPr/>
          <p:nvPr/>
        </p:nvSpPr>
        <p:spPr>
          <a:xfrm>
            <a:off x="5980176" y="2103120"/>
            <a:ext cx="0" cy="2560320"/>
          </a:xfrm>
          <a:prstGeom prst="line">
            <a:avLst/>
          </a:prstGeom>
          <a:noFill/>
          <a:ln w="25400">
            <a:solidFill>
              <a:schemeClr val="bg2"/>
            </a:solidFill>
            <a:prstDash val="solid"/>
          </a:ln>
        </p:spPr>
      </p:sp>
      <p:sp>
        <p:nvSpPr>
          <p:cNvPr id="17"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8"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9"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Raise current from 1.0 to 1.35 A.</a:t>
            </a:r>
            <a:endParaRPr lang="en-US" sz="1500" dirty="0"/>
          </a:p>
        </p:txBody>
      </p:sp>
      <p:sp>
        <p:nvSpPr>
          <p:cNvPr id="20" name="railv_sep_1"/>
          <p:cNvSpPr/>
          <p:nvPr/>
        </p:nvSpPr>
        <p:spPr>
          <a:xfrm>
            <a:off x="6236208" y="2423160"/>
            <a:ext cx="5406847" cy="0"/>
          </a:xfrm>
          <a:prstGeom prst="line">
            <a:avLst/>
          </a:prstGeom>
          <a:noFill/>
          <a:ln w="9525">
            <a:solidFill>
              <a:schemeClr val="bg2"/>
            </a:solidFill>
            <a:prstDash val="solid"/>
          </a:ln>
        </p:spPr>
      </p:sp>
      <p:sp>
        <p:nvSpPr>
          <p:cNvPr id="21"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2"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3"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Vref pot maxes at 0.85 V: 1.06 A cap.</a:t>
            </a:r>
            <a:endParaRPr lang="en-US" sz="1500" dirty="0"/>
          </a:p>
        </p:txBody>
      </p:sp>
      <p:sp>
        <p:nvSpPr>
          <p:cNvPr id="24" name="railv_sep_2"/>
          <p:cNvSpPr/>
          <p:nvPr/>
        </p:nvSpPr>
        <p:spPr>
          <a:xfrm>
            <a:off x="6236208" y="3063240"/>
            <a:ext cx="5406847" cy="0"/>
          </a:xfrm>
          <a:prstGeom prst="line">
            <a:avLst/>
          </a:prstGeom>
          <a:noFill/>
          <a:ln w="9525">
            <a:solidFill>
              <a:schemeClr val="bg2"/>
            </a:solidFill>
            <a:prstDash val="solid"/>
          </a:ln>
        </p:spPr>
      </p:sp>
      <p:sp>
        <p:nvSpPr>
          <p:cNvPr id="25"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6"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7"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Run at the cap; shrink the spool core.</a:t>
            </a:r>
            <a:endParaRPr lang="en-US" sz="1500" dirty="0"/>
          </a:p>
        </p:txBody>
      </p:sp>
      <p:sp>
        <p:nvSpPr>
          <p:cNvPr id="28" name="railv_sep_3"/>
          <p:cNvSpPr/>
          <p:nvPr/>
        </p:nvSpPr>
        <p:spPr>
          <a:xfrm>
            <a:off x="6236208" y="3703320"/>
            <a:ext cx="5406847" cy="0"/>
          </a:xfrm>
          <a:prstGeom prst="line">
            <a:avLst/>
          </a:prstGeom>
          <a:noFill/>
          <a:ln w="9525">
            <a:solidFill>
              <a:schemeClr val="bg2"/>
            </a:solidFill>
            <a:prstDash val="solid"/>
          </a:ln>
        </p:spPr>
      </p:sp>
      <p:sp>
        <p:nvSpPr>
          <p:cNvPr id="29"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0"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1"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Winches hold ~1.1 kg; claw plus jeans ~2 kg.</a:t>
            </a:r>
            <a:endParaRPr lang="en-US" sz="1500" dirty="0"/>
          </a:p>
        </p:txBody>
      </p:sp>
      <p:sp>
        <p:nvSpPr>
          <p:cNvPr id="32" name="railv_sep_4"/>
          <p:cNvSpPr/>
          <p:nvPr/>
        </p:nvSpPr>
        <p:spPr>
          <a:xfrm>
            <a:off x="6236208" y="4343400"/>
            <a:ext cx="5406847" cy="0"/>
          </a:xfrm>
          <a:prstGeom prst="line">
            <a:avLst/>
          </a:prstGeom>
          <a:noFill/>
          <a:ln w="9525">
            <a:solidFill>
              <a:schemeClr val="bg2"/>
            </a:solidFill>
            <a:prstDash val="solid"/>
          </a:ln>
        </p:spPr>
      </p:sp>
      <p:sp>
        <p:nvSpPr>
          <p:cNvPr id="33"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4"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5"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Torque factor 0.7 assumed; pull test decides.</a:t>
            </a:r>
            <a:endParaRPr lang="en-US" sz="1500" dirty="0"/>
          </a:p>
        </p:txBody>
      </p:sp>
      <p:sp>
        <p:nvSpPr>
          <p:cNvPr id="36"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7" name="Text 34"/>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8"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9"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 = τ / r: τ</a:t>
            </a:r>
            <a:pPr indent="0" marL="0">
              <a:buNone/>
            </a:pPr>
            <a:r>
              <a:rPr lang="en-US" sz="1300" baseline="-40000" dirty="0">
                <a:solidFill>
                  <a:schemeClr val="tx1"/>
                </a:solidFill>
                <a:latin typeface="Cambria" pitchFamily="34" charset="0"/>
                <a:ea typeface="Cambria" pitchFamily="34" charset="-122"/>
                <a:cs typeface="Cambria" pitchFamily="34" charset="-120"/>
              </a:rPr>
              <a:t>run</a:t>
            </a:r>
            <a:pPr indent="0" marL="0">
              <a:buNone/>
            </a:pPr>
            <a:r>
              <a:rPr lang="en-US" sz="1300" dirty="0">
                <a:solidFill>
                  <a:schemeClr val="tx1"/>
                </a:solidFill>
                <a:latin typeface="Cambria" pitchFamily="34" charset="0"/>
                <a:ea typeface="Cambria" pitchFamily="34" charset="-122"/>
                <a:cs typeface="Cambria" pitchFamily="34" charset="-120"/>
              </a:rPr>
              <a:t> = 0.7 × 0.255 N·m = 0.179 N·m, so T = 23.8 N at r = 7.5 mm and 17.9 N at a full spool (r = 10 mm).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06 · HEAT</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Sealing the station made the motor mount its hottest, most loaded joint.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3557016"/>
        </p:xfrm>
        <a:graphic xmlns:a="http://schemas.openxmlformats.org/drawingml/2006/main">
          <a:graphicData uri="http://schemas.openxmlformats.org/drawingml/2006/chart">
            <c:chart xmlns:c="http://schemas.openxmlformats.org/drawingml/2006/chart" r:id="rId1"/>
          </a:graphicData>
        </a:graphic>
      </p:graphicFrame>
      <p:sp>
        <p:nvSpPr>
          <p:cNvPr id="6" name="limit_60 °C target_60"/>
          <p:cNvSpPr/>
          <p:nvPr/>
        </p:nvSpPr>
        <p:spPr>
          <a:xfrm>
            <a:off x="1190549" y="2275981"/>
            <a:ext cx="4147718" cy="0"/>
          </a:xfrm>
          <a:prstGeom prst="line">
            <a:avLst/>
          </a:prstGeom>
          <a:noFill/>
          <a:ln w="15875">
            <a:solidFill>
              <a:schemeClr val="tx1"/>
            </a:solidFill>
            <a:prstDash val="dash"/>
          </a:ln>
        </p:spPr>
      </p:sp>
      <p:sp>
        <p:nvSpPr>
          <p:cNvPr id="7" name="limit_label_60 °C target"/>
          <p:cNvSpPr txBox="1"/>
          <p:nvPr/>
        </p:nvSpPr>
        <p:spPr>
          <a:xfrm>
            <a:off x="1236269" y="2029093"/>
            <a:ext cx="1207008"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60 °C target</a:t>
            </a:r>
            <a:endParaRPr lang="en-US" sz="1100" dirty="0"/>
          </a:p>
        </p:txBody>
      </p:sp>
      <p:sp>
        <p:nvSpPr>
          <p:cNvPr id="8"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9"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0"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at 1.06 A with thermometers on the motor case, fin and PETG tab; pass limit below 60 °C.</a:t>
            </a:r>
            <a:endParaRPr lang="en-US" sz="1200" dirty="0"/>
          </a:p>
        </p:txBody>
      </p:sp>
      <p:sp>
        <p:nvSpPr>
          <p:cNvPr id="11" name="railv_line"/>
          <p:cNvSpPr/>
          <p:nvPr/>
        </p:nvSpPr>
        <p:spPr>
          <a:xfrm>
            <a:off x="5980176" y="2103120"/>
            <a:ext cx="0" cy="2560320"/>
          </a:xfrm>
          <a:prstGeom prst="line">
            <a:avLst/>
          </a:prstGeom>
          <a:noFill/>
          <a:ln w="25400">
            <a:solidFill>
              <a:schemeClr val="bg2"/>
            </a:solidFill>
            <a:prstDash val="solid"/>
          </a:ln>
        </p:spPr>
      </p:sp>
      <p:sp>
        <p:nvSpPr>
          <p:cNvPr id="12"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3"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4"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clean, closed printed shell.</a:t>
            </a:r>
            <a:endParaRPr lang="en-US" sz="1500" dirty="0"/>
          </a:p>
        </p:txBody>
      </p:sp>
      <p:sp>
        <p:nvSpPr>
          <p:cNvPr id="15" name="railv_sep_1"/>
          <p:cNvSpPr/>
          <p:nvPr/>
        </p:nvSpPr>
        <p:spPr>
          <a:xfrm>
            <a:off x="6236208" y="2423160"/>
            <a:ext cx="5406847" cy="0"/>
          </a:xfrm>
          <a:prstGeom prst="line">
            <a:avLst/>
          </a:prstGeom>
          <a:noFill/>
          <a:ln w="9525">
            <a:solidFill>
              <a:schemeClr val="bg2"/>
            </a:solidFill>
            <a:prstDash val="solid"/>
          </a:ln>
        </p:spPr>
      </p:sp>
      <p:sp>
        <p:nvSpPr>
          <p:cNvPr id="16"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7"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8"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Holding stepper heats (I²R); PETG conducts 1/800 of aluminium.</a:t>
            </a:r>
            <a:endParaRPr lang="en-US" sz="1500" dirty="0"/>
          </a:p>
        </p:txBody>
      </p:sp>
      <p:sp>
        <p:nvSpPr>
          <p:cNvPr id="19" name="railv_sep_2"/>
          <p:cNvSpPr/>
          <p:nvPr/>
        </p:nvSpPr>
        <p:spPr>
          <a:xfrm>
            <a:off x="6236208" y="3063240"/>
            <a:ext cx="5406847" cy="0"/>
          </a:xfrm>
          <a:prstGeom prst="line">
            <a:avLst/>
          </a:prstGeom>
          <a:noFill/>
          <a:ln w="9525">
            <a:solidFill>
              <a:schemeClr val="bg2"/>
            </a:solidFill>
            <a:prstDash val="solid"/>
          </a:ln>
        </p:spPr>
      </p:sp>
      <p:sp>
        <p:nvSpPr>
          <p:cNvPr id="20"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1"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2"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Vents plus an aluminium fin.</a:t>
            </a:r>
            <a:endParaRPr lang="en-US" sz="1500" dirty="0"/>
          </a:p>
        </p:txBody>
      </p:sp>
      <p:sp>
        <p:nvSpPr>
          <p:cNvPr id="23" name="railv_sep_3"/>
          <p:cNvSpPr/>
          <p:nvPr/>
        </p:nvSpPr>
        <p:spPr>
          <a:xfrm>
            <a:off x="6236208" y="3703320"/>
            <a:ext cx="5406847" cy="0"/>
          </a:xfrm>
          <a:prstGeom prst="line">
            <a:avLst/>
          </a:prstGeom>
          <a:noFill/>
          <a:ln w="9525">
            <a:solidFill>
              <a:schemeClr val="bg2"/>
            </a:solidFill>
            <a:prstDash val="solid"/>
          </a:ln>
        </p:spPr>
      </p:sp>
      <p:sp>
        <p:nvSpPr>
          <p:cNvPr id="24"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5"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6"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Sealed, 1.06 A: 64 °C bare, 46 °C finned.</a:t>
            </a:r>
            <a:endParaRPr lang="en-US" sz="1500" dirty="0"/>
          </a:p>
        </p:txBody>
      </p:sp>
      <p:sp>
        <p:nvSpPr>
          <p:cNvPr id="27" name="railv_sep_4"/>
          <p:cNvSpPr/>
          <p:nvPr/>
        </p:nvSpPr>
        <p:spPr>
          <a:xfrm>
            <a:off x="6236208" y="4343400"/>
            <a:ext cx="5406847" cy="0"/>
          </a:xfrm>
          <a:prstGeom prst="line">
            <a:avLst/>
          </a:prstGeom>
          <a:noFill/>
          <a:ln w="9525">
            <a:solidFill>
              <a:schemeClr val="bg2"/>
            </a:solidFill>
            <a:prstDash val="solid"/>
          </a:ln>
        </p:spPr>
      </p:sp>
      <p:sp>
        <p:nvSpPr>
          <p:cNvPr id="28"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9"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0"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 thermometer data yet; hold test planned.</a:t>
            </a:r>
            <a:endParaRPr lang="en-US" sz="1500" dirty="0"/>
          </a:p>
        </p:txBody>
      </p:sp>
      <p:sp>
        <p:nvSpPr>
          <p:cNvPr id="31"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2" name="Text 29"/>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3"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 = I²R;   R</a:t>
            </a:r>
            <a:pPr indent="0" marL="0">
              <a:buNone/>
            </a:pPr>
            <a:r>
              <a:rPr lang="en-US" sz="1600" baseline="-40000" dirty="0">
                <a:solidFill>
                  <a:schemeClr val="tx1"/>
                </a:solidFill>
                <a:latin typeface="Cambria" pitchFamily="34" charset="0"/>
                <a:ea typeface="Cambria" pitchFamily="34" charset="-122"/>
                <a:cs typeface="Cambria" pitchFamily="34" charset="-120"/>
              </a:rPr>
              <a:t>cond</a:t>
            </a:r>
            <a:pPr indent="0" marL="0">
              <a:buNone/>
            </a:pPr>
            <a:r>
              <a:rPr lang="en-US" sz="1600" dirty="0">
                <a:solidFill>
                  <a:schemeClr val="tx1"/>
                </a:solidFill>
                <a:latin typeface="Cambria" pitchFamily="34" charset="0"/>
                <a:ea typeface="Cambria" pitchFamily="34" charset="-122"/>
                <a:cs typeface="Cambria" pitchFamily="34" charset="-120"/>
              </a:rPr>
              <a:t> = L / (k A);   R</a:t>
            </a:r>
            <a:pPr indent="0" marL="0">
              <a:buNone/>
            </a:pPr>
            <a:r>
              <a:rPr lang="en-US" sz="1600" baseline="-40000" dirty="0">
                <a:solidFill>
                  <a:schemeClr val="tx1"/>
                </a:solidFill>
                <a:latin typeface="Cambria" pitchFamily="34" charset="0"/>
                <a:ea typeface="Cambria" pitchFamily="34" charset="-122"/>
                <a:cs typeface="Cambria" pitchFamily="34" charset="-120"/>
              </a:rPr>
              <a:t>conv</a:t>
            </a:r>
            <a:pPr indent="0" marL="0">
              <a:buNone/>
            </a:pPr>
            <a:r>
              <a:rPr lang="en-US" sz="1600" dirty="0">
                <a:solidFill>
                  <a:schemeClr val="tx1"/>
                </a:solidFill>
                <a:latin typeface="Cambria" pitchFamily="34" charset="0"/>
                <a:ea typeface="Cambria" pitchFamily="34" charset="-122"/>
                <a:cs typeface="Cambria" pitchFamily="34" charset="-120"/>
              </a:rPr>
              <a:t> = 1 / (h A)</a:t>
            </a:r>
            <a:endParaRPr lang="en-US" sz="1600" dirty="0"/>
          </a:p>
        </p:txBody>
      </p:sp>
      <p:sp>
        <p:nvSpPr>
          <p:cNvPr id="34"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P = 1.06² A² × 1.8 Ω = 2.0 W (R assumed). Flange path: PETG 14 K/W vs aluminium 0.011 K/W, 1260 × worse.</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07 · BUILDING THE FIN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I drew 1/8-inch, built 0.019-inch, then re-checked the physics.</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6" name="spread_1" descr="spread_1">    </p:cNvPr>
          <p:cNvPicPr>
            <a:picLocks noChangeAspect="1"/>
          </p:cNvPicPr>
          <p:nvPr/>
        </p:nvPicPr>
        <p:blipFill>
          <a:blip r:embed="rId1"/>
          <a:srcRect l="0" r="0" t="14975" b="4975"/>
          <a:stretch/>
        </p:blipFill>
        <p:spPr>
          <a:xfrm>
            <a:off x="548640" y="1783080"/>
            <a:ext cx="2414016" cy="1449324"/>
          </a:xfrm>
          <a:prstGeom prst="rect">
            <a:avLst/>
          </a:prstGeom>
        </p:spPr>
      </p:pic>
      <p:sp>
        <p:nvSpPr>
          <p:cNvPr id="7" name="Text 4"/>
          <p:cNvSpPr txBox="1"/>
          <p:nvPr/>
        </p:nvSpPr>
        <p:spPr>
          <a:xfrm>
            <a:off x="548640"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1  Sheared blanks beside my drawing</a:t>
            </a:r>
            <a:endParaRPr lang="en-US" sz="1100" dirty="0"/>
          </a:p>
        </p:txBody>
      </p:sp>
      <p:pic>
        <p:nvPicPr>
          <p:cNvPr id="8" name="spread_2" descr="spread_2">    </p:cNvPr>
          <p:cNvPicPr>
            <a:picLocks noChangeAspect="1"/>
          </p:cNvPicPr>
          <p:nvPr/>
        </p:nvPicPr>
        <p:blipFill>
          <a:blip r:embed="rId2"/>
          <a:srcRect l="0" r="0" t="13486" b="41486"/>
          <a:stretch/>
        </p:blipFill>
        <p:spPr>
          <a:xfrm>
            <a:off x="3072384" y="1783080"/>
            <a:ext cx="2414016" cy="1449324"/>
          </a:xfrm>
          <a:prstGeom prst="rect">
            <a:avLst/>
          </a:prstGeom>
        </p:spPr>
      </p:pic>
      <p:sp>
        <p:nvSpPr>
          <p:cNvPr id="9" name="Text 5"/>
          <p:cNvSpPr txBox="1"/>
          <p:nvPr/>
        </p:nvSpPr>
        <p:spPr>
          <a:xfrm>
            <a:off x="3072384"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2  Drilling the holes on the mill</a:t>
            </a:r>
            <a:endParaRPr lang="en-US" sz="1100" dirty="0"/>
          </a:p>
        </p:txBody>
      </p:sp>
      <p:pic>
        <p:nvPicPr>
          <p:cNvPr id="10" name="spread_3" descr="spread_3">    </p:cNvPr>
          <p:cNvPicPr>
            <a:picLocks noChangeAspect="1"/>
          </p:cNvPicPr>
          <p:nvPr/>
        </p:nvPicPr>
        <p:blipFill>
          <a:blip r:embed="rId3"/>
          <a:srcRect l="0" r="0" t="39486" b="15486"/>
          <a:stretch/>
        </p:blipFill>
        <p:spPr>
          <a:xfrm>
            <a:off x="548640" y="3616452"/>
            <a:ext cx="2414016" cy="1449324"/>
          </a:xfrm>
          <a:prstGeom prst="rect">
            <a:avLst/>
          </a:prstGeom>
        </p:spPr>
      </p:pic>
      <p:sp>
        <p:nvSpPr>
          <p:cNvPr id="11" name="Text 6"/>
          <p:cNvSpPr txBox="1"/>
          <p:nvPr/>
        </p:nvSpPr>
        <p:spPr>
          <a:xfrm>
            <a:off x="548640" y="5102352"/>
            <a:ext cx="2414016" cy="274320"/>
          </a:xfrm>
          <a:prstGeom prst="rect">
            <a:avLst/>
          </a:prstGeom>
          <a:noFill/>
          <a:ln/>
        </p:spPr>
        <p:txBody>
          <a:bodyPr wrap="square" lIns="0" tIns="0" rIns="0" bIns="0" rtlCol="0" anchor="t"/>
          <a:lstStyle/>
          <a:p>
            <a:pPr indent="0" marL="0">
              <a:buNone/>
            </a:pPr>
            <a:r>
              <a:rPr lang="en-US" sz="1100" i="1" dirty="0">
                <a:solidFill>
                  <a:schemeClr val="tx2"/>
                </a:solidFill>
              </a:rPr>
              <a:t>3  Fitted: boss centred, 4 holes line up</a:t>
            </a:r>
            <a:endParaRPr lang="en-US" sz="1100" dirty="0"/>
          </a:p>
        </p:txBody>
      </p:sp>
      <p:sp>
        <p:nvSpPr>
          <p:cNvPr id="12" name="callout_line_7/8 in hole"/>
          <p:cNvSpPr/>
          <p:nvPr/>
        </p:nvSpPr>
        <p:spPr>
          <a:xfrm flipV="1">
            <a:off x="1695298" y="3890772"/>
            <a:ext cx="1194206" cy="273314"/>
          </a:xfrm>
          <a:prstGeom prst="line">
            <a:avLst/>
          </a:prstGeom>
          <a:noFill/>
          <a:ln w="12700">
            <a:solidFill>
              <a:schemeClr val="tx1"/>
            </a:solidFill>
            <a:prstDash val="solid"/>
          </a:ln>
        </p:spPr>
      </p:sp>
      <p:sp>
        <p:nvSpPr>
          <p:cNvPr id="13" name="callout_dot_7/8 in hole"/>
          <p:cNvSpPr/>
          <p:nvPr/>
        </p:nvSpPr>
        <p:spPr>
          <a:xfrm>
            <a:off x="1640434" y="4109222"/>
            <a:ext cx="109728" cy="109728"/>
          </a:xfrm>
          <a:prstGeom prst="ellipse">
            <a:avLst/>
          </a:prstGeom>
          <a:solidFill>
            <a:schemeClr val="accent1"/>
          </a:solidFill>
          <a:ln w="12700">
            <a:solidFill>
              <a:schemeClr val="bg1"/>
            </a:solidFill>
            <a:prstDash val="solid"/>
          </a:ln>
        </p:spPr>
      </p:sp>
      <p:sp>
        <p:nvSpPr>
          <p:cNvPr id="14" name="callout_label_7/8 in hole"/>
          <p:cNvSpPr txBox="1"/>
          <p:nvPr/>
        </p:nvSpPr>
        <p:spPr>
          <a:xfrm>
            <a:off x="1563624" y="3744468"/>
            <a:ext cx="128016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7/8 in hole</a:t>
            </a:r>
            <a:endParaRPr lang="en-US" sz="1200" dirty="0"/>
          </a:p>
        </p:txBody>
      </p:sp>
      <p:sp>
        <p:nvSpPr>
          <p:cNvPr id="15" name="Text 10"/>
          <p:cNvSpPr txBox="1"/>
          <p:nvPr/>
        </p:nvSpPr>
        <p:spPr>
          <a:xfrm>
            <a:off x="3072384" y="3616452"/>
            <a:ext cx="2414016" cy="219456"/>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Fin efficiency η, %</a:t>
            </a:r>
            <a:endParaRPr lang="en-US" sz="1100" dirty="0"/>
          </a:p>
        </p:txBody>
      </p:sp>
      <p:graphicFrame>
        <p:nvGraphicFramePr>
          <p:cNvPr id="16" name="Chart 0" descr=""/>
          <p:cNvGraphicFramePr/>
          <p:nvPr/>
        </p:nvGraphicFramePr>
        <p:xfrm>
          <a:off x="3072384" y="3835908"/>
          <a:ext cx="2414016" cy="1504188"/>
        </p:xfrm>
        <a:graphic xmlns:a="http://schemas.openxmlformats.org/drawingml/2006/main">
          <a:graphicData uri="http://schemas.openxmlformats.org/drawingml/2006/chart">
            <c:chart xmlns:c="http://schemas.openxmlformats.org/drawingml/2006/chart" r:id="rId4"/>
          </a:graphicData>
        </a:graphic>
      </p:graphicFrame>
      <p:sp>
        <p:nvSpPr>
          <p:cNvPr id="17"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8"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9"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does the thin sheet bow or buzz, and are the screw threads deep enough?</a:t>
            </a:r>
            <a:endParaRPr lang="en-US" sz="1200" dirty="0"/>
          </a:p>
        </p:txBody>
      </p:sp>
      <p:sp>
        <p:nvSpPr>
          <p:cNvPr id="20" name="railv_line"/>
          <p:cNvSpPr/>
          <p:nvPr/>
        </p:nvSpPr>
        <p:spPr>
          <a:xfrm>
            <a:off x="5980176" y="2103120"/>
            <a:ext cx="0" cy="2560320"/>
          </a:xfrm>
          <a:prstGeom prst="line">
            <a:avLst/>
          </a:prstGeom>
          <a:noFill/>
          <a:ln w="25400">
            <a:solidFill>
              <a:schemeClr val="bg2"/>
            </a:solidFill>
            <a:prstDash val="solid"/>
          </a:ln>
        </p:spPr>
      </p:sp>
      <p:sp>
        <p:nvSpPr>
          <p:cNvPr id="21"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2"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3"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Drawn: 1/8 in plate, fin efficiency 74 %.</a:t>
            </a:r>
            <a:endParaRPr lang="en-US" sz="1500" dirty="0"/>
          </a:p>
        </p:txBody>
      </p:sp>
      <p:sp>
        <p:nvSpPr>
          <p:cNvPr id="24" name="railv_sep_1"/>
          <p:cNvSpPr/>
          <p:nvPr/>
        </p:nvSpPr>
        <p:spPr>
          <a:xfrm>
            <a:off x="6236208" y="2423160"/>
            <a:ext cx="5406847" cy="0"/>
          </a:xfrm>
          <a:prstGeom prst="line">
            <a:avLst/>
          </a:prstGeom>
          <a:noFill/>
          <a:ln w="9525">
            <a:solidFill>
              <a:schemeClr val="bg2"/>
            </a:solidFill>
            <a:prstDash val="solid"/>
          </a:ln>
        </p:spPr>
      </p:sp>
      <p:sp>
        <p:nvSpPr>
          <p:cNvPr id="25"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6"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7"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The sheet I could drill was 0.019 in.</a:t>
            </a:r>
            <a:endParaRPr lang="en-US" sz="1500" dirty="0"/>
          </a:p>
        </p:txBody>
      </p:sp>
      <p:sp>
        <p:nvSpPr>
          <p:cNvPr id="28" name="railv_sep_2"/>
          <p:cNvSpPr/>
          <p:nvPr/>
        </p:nvSpPr>
        <p:spPr>
          <a:xfrm>
            <a:off x="6236208" y="3063240"/>
            <a:ext cx="5406847" cy="0"/>
          </a:xfrm>
          <a:prstGeom prst="line">
            <a:avLst/>
          </a:prstGeom>
          <a:noFill/>
          <a:ln w="9525">
            <a:solidFill>
              <a:schemeClr val="bg2"/>
            </a:solidFill>
            <a:prstDash val="solid"/>
          </a:ln>
        </p:spPr>
      </p:sp>
      <p:sp>
        <p:nvSpPr>
          <p:cNvPr id="29"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0"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1"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Re-ran the fin equation: 74 % falls to 37 %.</a:t>
            </a:r>
            <a:endParaRPr lang="en-US" sz="1500" dirty="0"/>
          </a:p>
        </p:txBody>
      </p:sp>
      <p:sp>
        <p:nvSpPr>
          <p:cNvPr id="32" name="railv_sep_3"/>
          <p:cNvSpPr/>
          <p:nvPr/>
        </p:nvSpPr>
        <p:spPr>
          <a:xfrm>
            <a:off x="6236208" y="3703320"/>
            <a:ext cx="5406847" cy="0"/>
          </a:xfrm>
          <a:prstGeom prst="line">
            <a:avLst/>
          </a:prstGeom>
          <a:noFill/>
          <a:ln w="9525">
            <a:solidFill>
              <a:schemeClr val="bg2"/>
            </a:solidFill>
            <a:prstDash val="solid"/>
          </a:ln>
        </p:spPr>
      </p:sp>
      <p:sp>
        <p:nvSpPr>
          <p:cNvPr id="33"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4"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5"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Still carries about half the heat: 46 °C.</a:t>
            </a:r>
            <a:endParaRPr lang="en-US" sz="1500" dirty="0"/>
          </a:p>
        </p:txBody>
      </p:sp>
      <p:sp>
        <p:nvSpPr>
          <p:cNvPr id="36" name="railv_sep_4"/>
          <p:cNvSpPr/>
          <p:nvPr/>
        </p:nvSpPr>
        <p:spPr>
          <a:xfrm>
            <a:off x="6236208" y="4343400"/>
            <a:ext cx="5406847" cy="0"/>
          </a:xfrm>
          <a:prstGeom prst="line">
            <a:avLst/>
          </a:prstGeom>
          <a:noFill/>
          <a:ln w="9525">
            <a:solidFill>
              <a:schemeClr val="bg2"/>
            </a:solidFill>
            <a:prstDash val="solid"/>
          </a:ln>
        </p:spPr>
      </p:sp>
      <p:sp>
        <p:nvSpPr>
          <p:cNvPr id="37"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8"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9"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May buzz; screws reach 2.7 mm deeper.</a:t>
            </a:r>
            <a:endParaRPr lang="en-US" sz="1500" dirty="0"/>
          </a:p>
        </p:txBody>
      </p:sp>
      <p:sp>
        <p:nvSpPr>
          <p:cNvPr id="40"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1"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2"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η = tanh(mL) / (mL),   m = √(2h / (k t))</a:t>
            </a:r>
            <a:endParaRPr lang="en-US" sz="1800" dirty="0"/>
          </a:p>
        </p:txBody>
      </p:sp>
      <p:sp>
        <p:nvSpPr>
          <p:cNvPr id="43"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 = 0.483 mm: m = 13.5 /m, mL = 2.69, η = 37 %,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22 K/W. Drawn 1/8 in: mL = 1.05, η = 74 %,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10.9 K/W.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08 · SPOOL</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My first spool outran its motor shaft; the fix changed the math.</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6" name="spool_render_1" descr="spool_render_1">    </p:cNvPr>
          <p:cNvPicPr>
            <a:picLocks noChangeAspect="1"/>
          </p:cNvPicPr>
          <p:nvPr/>
        </p:nvPicPr>
        <p:blipFill>
          <a:blip r:embed="rId1"/>
          <a:stretch>
            <a:fillRect/>
          </a:stretch>
        </p:blipFill>
        <p:spPr>
          <a:xfrm>
            <a:off x="731520" y="2124335"/>
            <a:ext cx="1432560" cy="1786370"/>
          </a:xfrm>
          <a:prstGeom prst="rect">
            <a:avLst/>
          </a:prstGeom>
        </p:spPr>
      </p:pic>
      <p:sp>
        <p:nvSpPr>
          <p:cNvPr id="7" name="Text 4"/>
          <p:cNvSpPr txBox="1"/>
          <p:nvPr/>
        </p:nvSpPr>
        <p:spPr>
          <a:xfrm>
            <a:off x="731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Gen-1 spool</a:t>
            </a:r>
            <a:endParaRPr lang="en-US" sz="1400" dirty="0"/>
          </a:p>
        </p:txBody>
      </p:sp>
      <p:sp>
        <p:nvSpPr>
          <p:cNvPr id="8" name="Text 5"/>
          <p:cNvSpPr txBox="1"/>
          <p:nvPr/>
        </p:nvSpPr>
        <p:spPr>
          <a:xfrm>
            <a:off x="731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Ø20 core, 32 mm long</a:t>
            </a:r>
            <a:endParaRPr lang="en-US" sz="1200" dirty="0"/>
          </a:p>
        </p:txBody>
      </p:sp>
      <p:pic>
        <p:nvPicPr>
          <p:cNvPr id="9" name="spool_render_2" descr="spool_render_2">    </p:cNvPr>
          <p:cNvPicPr>
            <a:picLocks noChangeAspect="1"/>
          </p:cNvPicPr>
          <p:nvPr/>
        </p:nvPicPr>
        <p:blipFill>
          <a:blip r:embed="rId2"/>
          <a:stretch>
            <a:fillRect/>
          </a:stretch>
        </p:blipFill>
        <p:spPr>
          <a:xfrm>
            <a:off x="2255520" y="2346037"/>
            <a:ext cx="1432560" cy="1342966"/>
          </a:xfrm>
          <a:prstGeom prst="rect">
            <a:avLst/>
          </a:prstGeom>
        </p:spPr>
      </p:pic>
      <p:sp>
        <p:nvSpPr>
          <p:cNvPr id="10" name="Text 6"/>
          <p:cNvSpPr txBox="1"/>
          <p:nvPr/>
        </p:nvSpPr>
        <p:spPr>
          <a:xfrm>
            <a:off x="2255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v2</a:t>
            </a:r>
            <a:endParaRPr lang="en-US" sz="1400" dirty="0"/>
          </a:p>
        </p:txBody>
      </p:sp>
      <p:sp>
        <p:nvSpPr>
          <p:cNvPr id="11" name="Text 7"/>
          <p:cNvSpPr txBox="1"/>
          <p:nvPr/>
        </p:nvSpPr>
        <p:spPr>
          <a:xfrm>
            <a:off x="2255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bore Ø5.2, too tight</a:t>
            </a:r>
            <a:endParaRPr lang="en-US" sz="1200" dirty="0"/>
          </a:p>
        </p:txBody>
      </p:sp>
      <p:pic>
        <p:nvPicPr>
          <p:cNvPr id="12" name="spool_render_3" descr="spool_render_3">    </p:cNvPr>
          <p:cNvPicPr>
            <a:picLocks noChangeAspect="1"/>
          </p:cNvPicPr>
          <p:nvPr/>
        </p:nvPicPr>
        <p:blipFill>
          <a:blip r:embed="rId3"/>
          <a:stretch>
            <a:fillRect/>
          </a:stretch>
        </p:blipFill>
        <p:spPr>
          <a:xfrm>
            <a:off x="3779520" y="2295148"/>
            <a:ext cx="1432560" cy="1444743"/>
          </a:xfrm>
          <a:prstGeom prst="rect">
            <a:avLst/>
          </a:prstGeom>
        </p:spPr>
      </p:pic>
      <p:sp>
        <p:nvSpPr>
          <p:cNvPr id="13" name="Text 8"/>
          <p:cNvSpPr txBox="1"/>
          <p:nvPr/>
        </p:nvSpPr>
        <p:spPr>
          <a:xfrm>
            <a:off x="3779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v3</a:t>
            </a:r>
            <a:endParaRPr lang="en-US" sz="1400" dirty="0"/>
          </a:p>
        </p:txBody>
      </p:sp>
      <p:sp>
        <p:nvSpPr>
          <p:cNvPr id="14" name="Text 9"/>
          <p:cNvSpPr txBox="1"/>
          <p:nvPr/>
        </p:nvSpPr>
        <p:spPr>
          <a:xfrm>
            <a:off x="3779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Ø15 core, bore Ø5.45</a:t>
            </a:r>
            <a:endParaRPr lang="en-US" sz="1200" dirty="0"/>
          </a:p>
        </p:txBody>
      </p:sp>
      <p:sp>
        <p:nvSpPr>
          <p:cNvPr id="15" name="mat_rule"/>
          <p:cNvSpPr/>
          <p:nvPr/>
        </p:nvSpPr>
        <p:spPr>
          <a:xfrm>
            <a:off x="731520" y="5029200"/>
            <a:ext cx="4572000" cy="0"/>
          </a:xfrm>
          <a:prstGeom prst="line">
            <a:avLst/>
          </a:prstGeom>
          <a:noFill/>
          <a:ln w="9525">
            <a:solidFill>
              <a:schemeClr val="tx2"/>
            </a:solidFill>
            <a:prstDash val="solid"/>
          </a:ln>
        </p:spPr>
      </p:sp>
      <p:sp>
        <p:nvSpPr>
          <p:cNvPr id="16" name="Text 11"/>
          <p:cNvSpPr txBox="1"/>
          <p:nvPr/>
        </p:nvSpPr>
        <p:spPr>
          <a:xfrm>
            <a:off x="731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Ø20 → Ø15</a:t>
            </a:r>
            <a:endParaRPr lang="en-US" sz="1600" dirty="0"/>
          </a:p>
        </p:txBody>
      </p:sp>
      <p:sp>
        <p:nvSpPr>
          <p:cNvPr id="17" name="Text 12"/>
          <p:cNvSpPr txBox="1"/>
          <p:nvPr/>
        </p:nvSpPr>
        <p:spPr>
          <a:xfrm>
            <a:off x="731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core, mm</a:t>
            </a:r>
            <a:endParaRPr lang="en-US" sz="1100" dirty="0"/>
          </a:p>
        </p:txBody>
      </p:sp>
      <p:sp>
        <p:nvSpPr>
          <p:cNvPr id="18" name="Text 13"/>
          <p:cNvSpPr txBox="1"/>
          <p:nvPr/>
        </p:nvSpPr>
        <p:spPr>
          <a:xfrm>
            <a:off x="2255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32 → 22</a:t>
            </a:r>
            <a:endParaRPr lang="en-US" sz="1600" dirty="0"/>
          </a:p>
        </p:txBody>
      </p:sp>
      <p:sp>
        <p:nvSpPr>
          <p:cNvPr id="19" name="Text 14"/>
          <p:cNvSpPr txBox="1"/>
          <p:nvPr/>
        </p:nvSpPr>
        <p:spPr>
          <a:xfrm>
            <a:off x="2255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overall length, mm</a:t>
            </a:r>
            <a:endParaRPr lang="en-US" sz="1100" dirty="0"/>
          </a:p>
        </p:txBody>
      </p:sp>
      <p:sp>
        <p:nvSpPr>
          <p:cNvPr id="20" name="Text 15"/>
          <p:cNvSpPr txBox="1"/>
          <p:nvPr/>
        </p:nvSpPr>
        <p:spPr>
          <a:xfrm>
            <a:off x="3779520" y="5166360"/>
            <a:ext cx="1478280"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Ø5.2 → Ø5.45</a:t>
            </a:r>
            <a:endParaRPr lang="en-US" sz="1600" dirty="0"/>
          </a:p>
        </p:txBody>
      </p:sp>
      <p:sp>
        <p:nvSpPr>
          <p:cNvPr id="21" name="Text 16"/>
          <p:cNvSpPr txBox="1"/>
          <p:nvPr/>
        </p:nvSpPr>
        <p:spPr>
          <a:xfrm>
            <a:off x="3779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bore, mm</a:t>
            </a:r>
            <a:endParaRPr lang="en-US" sz="1100" dirty="0"/>
          </a:p>
        </p:txBody>
      </p:sp>
      <p:sp>
        <p:nvSpPr>
          <p:cNvPr id="22" name="railv_line"/>
          <p:cNvSpPr/>
          <p:nvPr/>
        </p:nvSpPr>
        <p:spPr>
          <a:xfrm>
            <a:off x="5980176" y="2103120"/>
            <a:ext cx="0" cy="2560320"/>
          </a:xfrm>
          <a:prstGeom prst="line">
            <a:avLst/>
          </a:prstGeom>
          <a:noFill/>
          <a:ln w="25400">
            <a:solidFill>
              <a:schemeClr val="bg2"/>
            </a:solidFill>
            <a:prstDash val="solid"/>
          </a:ln>
        </p:spPr>
      </p:sp>
      <p:sp>
        <p:nvSpPr>
          <p:cNvPr id="2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mm drum on a Ø20 core.</a:t>
            </a:r>
            <a:endParaRPr lang="en-US" sz="1500" dirty="0"/>
          </a:p>
        </p:txBody>
      </p:sp>
      <p:sp>
        <p:nvSpPr>
          <p:cNvPr id="26" name="railv_sep_1"/>
          <p:cNvSpPr/>
          <p:nvPr/>
        </p:nvSpPr>
        <p:spPr>
          <a:xfrm>
            <a:off x="6236208" y="2423160"/>
            <a:ext cx="5406847" cy="0"/>
          </a:xfrm>
          <a:prstGeom prst="line">
            <a:avLst/>
          </a:prstGeom>
          <a:noFill/>
          <a:ln w="9525">
            <a:solidFill>
              <a:schemeClr val="bg2"/>
            </a:solidFill>
            <a:prstDash val="solid"/>
          </a:ln>
        </p:spPr>
      </p:sp>
      <p:sp>
        <p:nvSpPr>
          <p:cNvPr id="2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Stuck out 14.5 mm past the 24 mm shaft.</a:t>
            </a:r>
            <a:endParaRPr lang="en-US" sz="1500" dirty="0"/>
          </a:p>
        </p:txBody>
      </p:sp>
      <p:sp>
        <p:nvSpPr>
          <p:cNvPr id="30" name="railv_sep_2"/>
          <p:cNvSpPr/>
          <p:nvPr/>
        </p:nvSpPr>
        <p:spPr>
          <a:xfrm>
            <a:off x="6236208" y="3063240"/>
            <a:ext cx="5406847" cy="0"/>
          </a:xfrm>
          <a:prstGeom prst="line">
            <a:avLst/>
          </a:prstGeom>
          <a:noFill/>
          <a:ln w="9525">
            <a:solidFill>
              <a:schemeClr val="bg2"/>
            </a:solidFill>
            <a:prstDash val="solid"/>
          </a:ln>
        </p:spPr>
      </p:sp>
      <p:sp>
        <p:nvSpPr>
          <p:cNvPr id="31"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Ø15 core, 16 mm drum; radius tracks wound length.</a:t>
            </a:r>
            <a:endParaRPr lang="en-US" sz="1500" dirty="0"/>
          </a:p>
        </p:txBody>
      </p:sp>
      <p:sp>
        <p:nvSpPr>
          <p:cNvPr id="34" name="railv_sep_3"/>
          <p:cNvSpPr/>
          <p:nvPr/>
        </p:nvSpPr>
        <p:spPr>
          <a:xfrm>
            <a:off x="6236208" y="3703320"/>
            <a:ext cx="5406847" cy="0"/>
          </a:xfrm>
          <a:prstGeom prst="line">
            <a:avLst/>
          </a:prstGeom>
          <a:noFill/>
          <a:ln w="9525">
            <a:solidFill>
              <a:schemeClr val="bg2"/>
            </a:solidFill>
            <a:prstDash val="solid"/>
          </a:ln>
        </p:spPr>
      </p:sp>
      <p:sp>
        <p:nvSpPr>
          <p:cNvPr id="35"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v2 bore too tight: Ø5.2 opened to Ø5.45.</a:t>
            </a:r>
            <a:endParaRPr lang="en-US" sz="1500" dirty="0"/>
          </a:p>
        </p:txBody>
      </p:sp>
      <p:sp>
        <p:nvSpPr>
          <p:cNvPr id="38" name="railv_sep_4"/>
          <p:cNvSpPr/>
          <p:nvPr/>
        </p:nvSpPr>
        <p:spPr>
          <a:xfrm>
            <a:off x="6236208" y="4343400"/>
            <a:ext cx="5406847" cy="0"/>
          </a:xfrm>
          <a:prstGeom prst="line">
            <a:avLst/>
          </a:prstGeom>
          <a:noFill/>
          <a:ln w="9525">
            <a:solidFill>
              <a:schemeClr val="bg2"/>
            </a:solidFill>
            <a:prstDash val="solid"/>
          </a:ln>
        </p:spPr>
      </p:sp>
      <p:sp>
        <p:nvSpPr>
          <p:cNvPr id="3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4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4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Printed holes shrink; bore never calipered.</a:t>
            </a:r>
            <a:endParaRPr lang="en-US" sz="1500" dirty="0"/>
          </a:p>
        </p:txBody>
      </p:sp>
      <p:sp>
        <p:nvSpPr>
          <p:cNvPr id="4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3" name="Text 3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r(n) = r</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n·d·p;   T = τ / r(n);   ℓ = 2πr</a:t>
            </a:r>
            <a:endParaRPr lang="en-US" sz="1600" dirty="0"/>
          </a:p>
        </p:txBody>
      </p:sp>
      <p:sp>
        <p:nvSpPr>
          <p:cNvPr id="4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20 ft of 0.5 mm line on the Ø15 core: 5 layers, r = 7.5 to 10 mm, T = 23.8 to 17.9 N, line per rev 47 to 63 mm (+33 %).</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09 · HOMING SWITCH</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Bead must never cross the pulley; rev C missed by 5 mm.</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5" name="hero_photo" descr="hero_photo">    </p:cNvPr>
          <p:cNvPicPr>
            <a:picLocks noChangeAspect="1"/>
          </p:cNvPicPr>
          <p:nvPr/>
        </p:nvPicPr>
        <p:blipFill>
          <a:blip r:embed="rId1"/>
          <a:srcRect l="0" r="0" t="32986" b="12986"/>
          <a:stretch/>
        </p:blipFill>
        <p:spPr>
          <a:xfrm>
            <a:off x="548640" y="1783080"/>
            <a:ext cx="4937760" cy="3557016"/>
          </a:xfrm>
          <a:prstGeom prst="rect">
            <a:avLst/>
          </a:prstGeom>
        </p:spPr>
      </p:pic>
      <p:sp>
        <p:nvSpPr>
          <p:cNvPr id="6" name="callout_line_Switch roller"/>
          <p:cNvSpPr/>
          <p:nvPr/>
        </p:nvSpPr>
        <p:spPr>
          <a:xfrm flipV="1">
            <a:off x="1239926" y="3883091"/>
            <a:ext cx="1005840" cy="685800"/>
          </a:xfrm>
          <a:prstGeom prst="line">
            <a:avLst/>
          </a:prstGeom>
          <a:noFill/>
          <a:ln w="12700">
            <a:solidFill>
              <a:schemeClr val="tx1"/>
            </a:solidFill>
            <a:prstDash val="solid"/>
          </a:ln>
        </p:spPr>
      </p:sp>
      <p:sp>
        <p:nvSpPr>
          <p:cNvPr id="7" name="callout_dot_Switch roller"/>
          <p:cNvSpPr/>
          <p:nvPr/>
        </p:nvSpPr>
        <p:spPr>
          <a:xfrm>
            <a:off x="1185062" y="4514027"/>
            <a:ext cx="109728" cy="109728"/>
          </a:xfrm>
          <a:prstGeom prst="ellipse">
            <a:avLst/>
          </a:prstGeom>
          <a:solidFill>
            <a:schemeClr val="accent1"/>
          </a:solidFill>
          <a:ln w="12700">
            <a:solidFill>
              <a:schemeClr val="bg1"/>
            </a:solidFill>
            <a:prstDash val="solid"/>
          </a:ln>
        </p:spPr>
      </p:sp>
      <p:sp>
        <p:nvSpPr>
          <p:cNvPr id="8" name="callout_label_Switch roller"/>
          <p:cNvSpPr txBox="1"/>
          <p:nvPr/>
        </p:nvSpPr>
        <p:spPr>
          <a:xfrm>
            <a:off x="2291486" y="3736787"/>
            <a:ext cx="146304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Switch roller</a:t>
            </a:r>
            <a:endParaRPr lang="en-US" sz="1200" dirty="0"/>
          </a:p>
        </p:txBody>
      </p:sp>
      <p:sp>
        <p:nvSpPr>
          <p:cNvPr id="9"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0"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1"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Trip test: a 5 mm bead on real line against the printed rev D arm.</a:t>
            </a:r>
            <a:endParaRPr lang="en-US" sz="1200" dirty="0"/>
          </a:p>
        </p:txBody>
      </p:sp>
      <p:sp>
        <p:nvSpPr>
          <p:cNvPr id="12" name="railv_line"/>
          <p:cNvSpPr/>
          <p:nvPr/>
        </p:nvSpPr>
        <p:spPr>
          <a:xfrm>
            <a:off x="5980176" y="2103120"/>
            <a:ext cx="0" cy="2560320"/>
          </a:xfrm>
          <a:prstGeom prst="line">
            <a:avLst/>
          </a:prstGeom>
          <a:noFill/>
          <a:ln w="25400">
            <a:solidFill>
              <a:schemeClr val="bg2"/>
            </a:solidFill>
            <a:prstDash val="solid"/>
          </a:ln>
        </p:spPr>
      </p:sp>
      <p:sp>
        <p:nvSpPr>
          <p:cNvPr id="1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Bead on the line trips a home switch.</a:t>
            </a:r>
            <a:endParaRPr lang="en-US" sz="1500" dirty="0"/>
          </a:p>
        </p:txBody>
      </p:sp>
      <p:sp>
        <p:nvSpPr>
          <p:cNvPr id="16" name="railv_sep_1"/>
          <p:cNvSpPr/>
          <p:nvPr/>
        </p:nvSpPr>
        <p:spPr>
          <a:xfrm>
            <a:off x="6236208" y="2423160"/>
            <a:ext cx="5406847" cy="0"/>
          </a:xfrm>
          <a:prstGeom prst="line">
            <a:avLst/>
          </a:prstGeom>
          <a:noFill/>
          <a:ln w="9525">
            <a:solidFill>
              <a:schemeClr val="bg2"/>
            </a:solidFill>
            <a:prstDash val="solid"/>
          </a:ln>
        </p:spPr>
      </p:sp>
      <p:sp>
        <p:nvSpPr>
          <p:cNvPr id="1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Mid-span, the bead rides over the pulley.</a:t>
            </a:r>
            <a:endParaRPr lang="en-US" sz="1500" dirty="0"/>
          </a:p>
        </p:txBody>
      </p:sp>
      <p:sp>
        <p:nvSpPr>
          <p:cNvPr id="20" name="railv_sep_2"/>
          <p:cNvSpPr/>
          <p:nvPr/>
        </p:nvSpPr>
        <p:spPr>
          <a:xfrm>
            <a:off x="6236208" y="3063240"/>
            <a:ext cx="5406847" cy="0"/>
          </a:xfrm>
          <a:prstGeom prst="line">
            <a:avLst/>
          </a:prstGeom>
          <a:noFill/>
          <a:ln w="9525">
            <a:solidFill>
              <a:schemeClr val="bg2"/>
            </a:solidFill>
            <a:prstDash val="solid"/>
          </a:ln>
        </p:spPr>
      </p:sp>
      <p:sp>
        <p:nvSpPr>
          <p:cNvPr id="21"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drop arm under the pulley.</a:t>
            </a:r>
            <a:endParaRPr lang="en-US" sz="1500" dirty="0"/>
          </a:p>
        </p:txBody>
      </p:sp>
      <p:sp>
        <p:nvSpPr>
          <p:cNvPr id="24" name="railv_sep_3"/>
          <p:cNvSpPr/>
          <p:nvPr/>
        </p:nvSpPr>
        <p:spPr>
          <a:xfrm>
            <a:off x="6236208" y="3703320"/>
            <a:ext cx="5406847" cy="0"/>
          </a:xfrm>
          <a:prstGeom prst="line">
            <a:avLst/>
          </a:prstGeom>
          <a:noFill/>
          <a:ln w="9525">
            <a:solidFill>
              <a:schemeClr val="bg2"/>
            </a:solidFill>
            <a:prstDash val="solid"/>
          </a:ln>
        </p:spPr>
      </p:sp>
      <p:sp>
        <p:nvSpPr>
          <p:cNvPr id="25"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Rev C missed by 5 mm; rev D overlaps 3.75 mm.</a:t>
            </a:r>
            <a:endParaRPr lang="en-US" sz="1500" dirty="0"/>
          </a:p>
        </p:txBody>
      </p:sp>
      <p:sp>
        <p:nvSpPr>
          <p:cNvPr id="28" name="railv_sep_4"/>
          <p:cNvSpPr/>
          <p:nvPr/>
        </p:nvSpPr>
        <p:spPr>
          <a:xfrm>
            <a:off x="6236208" y="4343400"/>
            <a:ext cx="5406847" cy="0"/>
          </a:xfrm>
          <a:prstGeom prst="line">
            <a:avLst/>
          </a:prstGeom>
          <a:noFill/>
          <a:ln w="9525">
            <a:solidFill>
              <a:schemeClr val="bg2"/>
            </a:solidFill>
            <a:prstDash val="solid"/>
          </a:ln>
        </p:spPr>
      </p:sp>
      <p:sp>
        <p:nvSpPr>
          <p:cNvPr id="2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Never trip-tested on real line yet.</a:t>
            </a:r>
            <a:endParaRPr lang="en-US" sz="1500" dirty="0"/>
          </a:p>
        </p:txBody>
      </p:sp>
      <p:sp>
        <p:nvSpPr>
          <p:cNvPr id="3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3"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Y overlap = (r</a:t>
            </a:r>
            <a:pPr indent="0" marL="0">
              <a:buNone/>
            </a:pPr>
            <a:r>
              <a:rPr lang="en-US" sz="1600" baseline="-40000" dirty="0">
                <a:solidFill>
                  <a:schemeClr val="tx1"/>
                </a:solidFill>
                <a:latin typeface="Cambria" pitchFamily="34" charset="0"/>
                <a:ea typeface="Cambria" pitchFamily="34" charset="-122"/>
                <a:cs typeface="Cambria" pitchFamily="34" charset="-120"/>
              </a:rPr>
              <a:t>bead</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roller</a:t>
            </a:r>
            <a:pPr indent="0" marL="0">
              <a:buNone/>
            </a:pPr>
            <a:r>
              <a:rPr lang="en-US" sz="1600" dirty="0">
                <a:solidFill>
                  <a:schemeClr val="tx1"/>
                </a:solidFill>
                <a:latin typeface="Cambria" pitchFamily="34" charset="0"/>
                <a:ea typeface="Cambria" pitchFamily="34" charset="-122"/>
                <a:cs typeface="Cambria" pitchFamily="34" charset="-120"/>
              </a:rPr>
              <a:t>) − Y</a:t>
            </a:r>
            <a:pPr indent="0" marL="0">
              <a:buNone/>
            </a:pPr>
            <a:r>
              <a:rPr lang="en-US" sz="1600" baseline="-40000" dirty="0">
                <a:solidFill>
                  <a:schemeClr val="tx1"/>
                </a:solidFill>
                <a:latin typeface="Cambria" pitchFamily="34" charset="0"/>
                <a:ea typeface="Cambria" pitchFamily="34" charset="-122"/>
                <a:cs typeface="Cambria" pitchFamily="34" charset="-120"/>
              </a:rPr>
              <a:t>roller</a:t>
            </a:r>
            <a:endParaRPr lang="en-US" sz="1600" dirty="0"/>
          </a:p>
        </p:txBody>
      </p:sp>
      <p:sp>
        <p:nvSpPr>
          <p:cNvPr id="3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(2.5 + 2.25) − 1.0 = 3.75 mm, need ≥ 2.0 mm. X error ≤ 1.0 mm across 18 to 22 mm pulleys, 0 after the ±2 mm slot.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10 · REMOVABLE STATION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removable station moves the anchor from a screw to a slide.</a:t>
            </a:r>
            <a:endParaRPr lang="en-US" sz="3000" dirty="0"/>
          </a:p>
        </p:txBody>
      </p:sp>
      <p:sp>
        <p:nvSpPr>
          <p:cNvPr id="4" name="tag_PLANNED"/>
          <p:cNvSpPr txBox="1"/>
          <p:nvPr/>
        </p:nvSpPr>
        <p:spPr>
          <a:xfrm>
            <a:off x="10317175" y="429768"/>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5" name="render_mat"/>
          <p:cNvSpPr/>
          <p:nvPr/>
        </p:nvSpPr>
        <p:spPr>
          <a:xfrm>
            <a:off x="548640" y="1783080"/>
            <a:ext cx="4937760" cy="3557016"/>
          </a:xfrm>
          <a:prstGeom prst="rect">
            <a:avLst/>
          </a:prstGeom>
          <a:solidFill>
            <a:schemeClr val="bg2"/>
          </a:solidFill>
          <a:ln w="6350">
            <a:solidFill>
              <a:schemeClr val="bg2"/>
            </a:solidFill>
            <a:prstDash val="solid"/>
          </a:ln>
        </p:spPr>
      </p:sp>
      <p:pic>
        <p:nvPicPr>
          <p:cNvPr id="6" name="wall_mount_render" descr="wall_mount_render">    </p:cNvPr>
          <p:cNvPicPr>
            <a:picLocks noChangeAspect="1"/>
          </p:cNvPicPr>
          <p:nvPr/>
        </p:nvPicPr>
        <p:blipFill>
          <a:blip r:embed="rId1"/>
          <a:stretch>
            <a:fillRect/>
          </a:stretch>
        </p:blipFill>
        <p:spPr>
          <a:xfrm>
            <a:off x="926787" y="1965960"/>
            <a:ext cx="1346826" cy="2734056"/>
          </a:xfrm>
          <a:prstGeom prst="rect">
            <a:avLst/>
          </a:prstGeom>
        </p:spPr>
      </p:pic>
      <p:pic>
        <p:nvPicPr>
          <p:cNvPr id="7" name="slipin_render" descr="slipin_render">    </p:cNvPr>
          <p:cNvPicPr>
            <a:picLocks noChangeAspect="1"/>
          </p:cNvPicPr>
          <p:nvPr/>
        </p:nvPicPr>
        <p:blipFill>
          <a:blip r:embed="rId2"/>
          <a:stretch>
            <a:fillRect/>
          </a:stretch>
        </p:blipFill>
        <p:spPr>
          <a:xfrm>
            <a:off x="2947943" y="1965960"/>
            <a:ext cx="2059395" cy="2734056"/>
          </a:xfrm>
          <a:prstGeom prst="rect">
            <a:avLst/>
          </a:prstGeom>
        </p:spPr>
      </p:pic>
      <p:sp>
        <p:nvSpPr>
          <p:cNvPr id="8" name="Text 4"/>
          <p:cNvSpPr txBox="1"/>
          <p:nvPr/>
        </p:nvSpPr>
        <p:spPr>
          <a:xfrm>
            <a:off x="881067" y="4837176"/>
            <a:ext cx="1737360" cy="274320"/>
          </a:xfrm>
          <a:prstGeom prst="rect">
            <a:avLst/>
          </a:prstGeom>
          <a:noFill/>
          <a:ln/>
        </p:spPr>
        <p:txBody>
          <a:bodyPr wrap="square" lIns="0" tIns="0" rIns="0" bIns="0" rtlCol="0" anchor="t"/>
          <a:lstStyle/>
          <a:p>
            <a:pPr indent="0" marL="0">
              <a:buNone/>
            </a:pPr>
            <a:r>
              <a:rPr lang="en-US" sz="1100" i="1" dirty="0">
                <a:solidFill>
                  <a:schemeClr val="tx2"/>
                </a:solidFill>
              </a:rPr>
              <a:t>Fixed wall frame</a:t>
            </a:r>
            <a:endParaRPr lang="en-US" sz="1100" dirty="0"/>
          </a:p>
        </p:txBody>
      </p:sp>
      <p:sp>
        <p:nvSpPr>
          <p:cNvPr id="9" name="Text 5"/>
          <p:cNvSpPr txBox="1"/>
          <p:nvPr/>
        </p:nvSpPr>
        <p:spPr>
          <a:xfrm>
            <a:off x="2947943" y="4837176"/>
            <a:ext cx="2103120" cy="274320"/>
          </a:xfrm>
          <a:prstGeom prst="rect">
            <a:avLst/>
          </a:prstGeom>
          <a:noFill/>
          <a:ln/>
        </p:spPr>
        <p:txBody>
          <a:bodyPr wrap="square" lIns="0" tIns="0" rIns="0" bIns="0" rtlCol="0" anchor="t"/>
          <a:lstStyle/>
          <a:p>
            <a:pPr indent="0" marL="0">
              <a:buNone/>
            </a:pPr>
            <a:r>
              <a:rPr lang="en-US" sz="1100" i="1" dirty="0">
                <a:solidFill>
                  <a:schemeClr val="tx2"/>
                </a:solidFill>
              </a:rPr>
              <a:t>Slide-in housing</a:t>
            </a:r>
            <a:endParaRPr lang="en-US" sz="1100" dirty="0"/>
          </a:p>
        </p:txBody>
      </p:sp>
      <p:sp>
        <p:nvSpPr>
          <p:cNvPr id="10"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1"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2"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SolidWorks linear static study (stress, safety factor, deflection) and a physical station pull test.</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Swap a station without re-calibrating the room.</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Anchor error maps 1:1; studs see pull-out.</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Fixed frame + slide-in; SF 3 at 34 N, 1.5 at 68 N.</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SolidWorks static study pending.</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Statics can't see creep; pull test too.</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σ = M c / I (rail root);   δ = F L³ / (3 E I) (cable exit)</a:t>
            </a:r>
            <a:endParaRPr lang="en-US" sz="16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Pass: SF ≥ 3 at the 34 N slip load (σ ≤ 8.33 MPa on 25 MPa derated PETG) and SF ≥ 1.5 at 68 N dynamic; ≤ 0.5 mm at the cable exit.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11 · GRIPPER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clamp stalls the servo every grip, so I sized for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4937760" cy="228600"/>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Bars: needed per jaw  ·  Dashed lines: jaw force available</a:t>
            </a:r>
            <a:endParaRPr lang="en-US" sz="1100" dirty="0"/>
          </a:p>
        </p:txBody>
      </p:sp>
      <p:graphicFrame>
        <p:nvGraphicFramePr>
          <p:cNvPr id="7" name="Chart 0" descr=""/>
          <p:cNvGraphicFramePr/>
          <p:nvPr/>
        </p:nvGraphicFramePr>
        <p:xfrm>
          <a:off x="548640" y="2011680"/>
          <a:ext cx="4937760" cy="2788920"/>
        </p:xfrm>
        <a:graphic xmlns:a="http://schemas.openxmlformats.org/drawingml/2006/main">
          <a:graphicData uri="http://schemas.openxmlformats.org/drawingml/2006/chart">
            <c:chart xmlns:c="http://schemas.openxmlformats.org/drawingml/2006/chart" r:id="rId1"/>
          </a:graphicData>
        </a:graphic>
      </p:graphicFrame>
      <p:sp>
        <p:nvSpPr>
          <p:cNvPr id="8" name="limit_13.3 N weakest position_13.34"/>
          <p:cNvSpPr/>
          <p:nvPr/>
        </p:nvSpPr>
        <p:spPr>
          <a:xfrm>
            <a:off x="1190549" y="3111370"/>
            <a:ext cx="4147718" cy="0"/>
          </a:xfrm>
          <a:prstGeom prst="line">
            <a:avLst/>
          </a:prstGeom>
          <a:noFill/>
          <a:ln w="15875">
            <a:solidFill>
              <a:schemeClr val="tx1"/>
            </a:solidFill>
            <a:prstDash val="dash"/>
          </a:ln>
        </p:spPr>
      </p:sp>
      <p:sp>
        <p:nvSpPr>
          <p:cNvPr id="9" name="limit_label_13.3 N weakest position"/>
          <p:cNvSpPr txBox="1"/>
          <p:nvPr/>
        </p:nvSpPr>
        <p:spPr>
          <a:xfrm>
            <a:off x="1236269" y="2864482"/>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13.3 N weakest position</a:t>
            </a:r>
            <a:endParaRPr lang="en-US" sz="1100" dirty="0"/>
          </a:p>
        </p:txBody>
      </p:sp>
      <p:sp>
        <p:nvSpPr>
          <p:cNvPr id="10" name="limit_25.0 N at a 70 mm grab_25"/>
          <p:cNvSpPr/>
          <p:nvPr/>
        </p:nvSpPr>
        <p:spPr>
          <a:xfrm>
            <a:off x="1190549" y="2439314"/>
            <a:ext cx="4147718" cy="0"/>
          </a:xfrm>
          <a:prstGeom prst="line">
            <a:avLst/>
          </a:prstGeom>
          <a:noFill/>
          <a:ln w="15875">
            <a:solidFill>
              <a:schemeClr val="tx1"/>
            </a:solidFill>
            <a:prstDash val="dash"/>
          </a:ln>
        </p:spPr>
      </p:sp>
      <p:sp>
        <p:nvSpPr>
          <p:cNvPr id="11" name="limit_label_25.0 N at a 70 mm grab"/>
          <p:cNvSpPr txBox="1"/>
          <p:nvPr/>
        </p:nvSpPr>
        <p:spPr>
          <a:xfrm>
            <a:off x="3326587" y="2192426"/>
            <a:ext cx="1984248"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25.0 N at a 70 mm grab</a:t>
            </a:r>
            <a:endParaRPr lang="en-US" sz="1100" dirty="0"/>
          </a:p>
        </p:txBody>
      </p:sp>
      <p:sp>
        <p:nvSpPr>
          <p:cNvPr id="12" name="render_mat"/>
          <p:cNvSpPr/>
          <p:nvPr/>
        </p:nvSpPr>
        <p:spPr>
          <a:xfrm>
            <a:off x="548640" y="4892040"/>
            <a:ext cx="4937760" cy="1371600"/>
          </a:xfrm>
          <a:prstGeom prst="rect">
            <a:avLst/>
          </a:prstGeom>
          <a:solidFill>
            <a:schemeClr val="bg2"/>
          </a:solidFill>
          <a:ln w="6350">
            <a:solidFill>
              <a:schemeClr val="bg2"/>
            </a:solidFill>
            <a:prstDash val="solid"/>
          </a:ln>
        </p:spPr>
      </p:sp>
      <p:pic>
        <p:nvPicPr>
          <p:cNvPr id="13" name="gear_render_1" descr="gear_render_1">    </p:cNvPr>
          <p:cNvPicPr>
            <a:picLocks noChangeAspect="1"/>
          </p:cNvPicPr>
          <p:nvPr/>
        </p:nvPicPr>
        <p:blipFill>
          <a:blip r:embed="rId2"/>
          <a:stretch>
            <a:fillRect/>
          </a:stretch>
        </p:blipFill>
        <p:spPr>
          <a:xfrm>
            <a:off x="685800" y="5073992"/>
            <a:ext cx="1005840" cy="1007696"/>
          </a:xfrm>
          <a:prstGeom prst="rect">
            <a:avLst/>
          </a:prstGeom>
        </p:spPr>
      </p:pic>
      <p:sp>
        <p:nvSpPr>
          <p:cNvPr id="14" name="Text 10"/>
          <p:cNvSpPr txBox="1"/>
          <p:nvPr/>
        </p:nvSpPr>
        <p:spPr>
          <a:xfrm>
            <a:off x="178308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My v6 compound, 3:1</a:t>
            </a:r>
            <a:endParaRPr lang="en-US" sz="1200" dirty="0"/>
          </a:p>
        </p:txBody>
      </p:sp>
      <p:sp>
        <p:nvSpPr>
          <p:cNvPr id="15" name="Text 11"/>
          <p:cNvSpPr txBox="1"/>
          <p:nvPr/>
        </p:nvSpPr>
        <p:spPr>
          <a:xfrm>
            <a:off x="178308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157 g (CAD)</a:t>
            </a:r>
            <a:endParaRPr lang="en-US" sz="1100" dirty="0"/>
          </a:p>
        </p:txBody>
      </p:sp>
      <p:pic>
        <p:nvPicPr>
          <p:cNvPr id="16" name="gear_render_2" descr="gear_render_2">    </p:cNvPr>
          <p:cNvPicPr>
            <a:picLocks noChangeAspect="1"/>
          </p:cNvPicPr>
          <p:nvPr/>
        </p:nvPicPr>
        <p:blipFill>
          <a:blip r:embed="rId3"/>
          <a:stretch>
            <a:fillRect/>
          </a:stretch>
        </p:blipFill>
        <p:spPr>
          <a:xfrm>
            <a:off x="3154680" y="5029501"/>
            <a:ext cx="1005840" cy="1096678"/>
          </a:xfrm>
          <a:prstGeom prst="rect">
            <a:avLst/>
          </a:prstGeom>
        </p:spPr>
      </p:pic>
      <p:sp>
        <p:nvSpPr>
          <p:cNvPr id="17" name="Text 12"/>
          <p:cNvSpPr txBox="1"/>
          <p:nvPr/>
        </p:nvSpPr>
        <p:spPr>
          <a:xfrm>
            <a:off x="425196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Rebuilt, 2:1</a:t>
            </a:r>
            <a:endParaRPr lang="en-US" sz="1200" dirty="0"/>
          </a:p>
        </p:txBody>
      </p:sp>
      <p:sp>
        <p:nvSpPr>
          <p:cNvPr id="18" name="Text 13"/>
          <p:cNvSpPr txBox="1"/>
          <p:nvPr/>
        </p:nvSpPr>
        <p:spPr>
          <a:xfrm>
            <a:off x="425196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96 g (CAD)</a:t>
            </a:r>
            <a:endParaRPr lang="en-US" sz="1100" dirty="0"/>
          </a:p>
        </p:txBody>
      </p:sp>
      <p:sp>
        <p:nvSpPr>
          <p:cNvPr id="19" name="railv_line"/>
          <p:cNvSpPr/>
          <p:nvPr/>
        </p:nvSpPr>
        <p:spPr>
          <a:xfrm>
            <a:off x="5980176" y="2103120"/>
            <a:ext cx="0" cy="2560320"/>
          </a:xfrm>
          <a:prstGeom prst="line">
            <a:avLst/>
          </a:prstGeom>
          <a:noFill/>
          <a:ln w="25400">
            <a:solidFill>
              <a:schemeClr val="bg2"/>
            </a:solidFill>
            <a:prstDash val="solid"/>
          </a:ln>
        </p:spPr>
      </p:sp>
      <p:sp>
        <p:nvSpPr>
          <p:cNvPr id="2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Five soft tendon fingers.</a:t>
            </a:r>
            <a:endParaRPr lang="en-US" sz="1500" dirty="0"/>
          </a:p>
        </p:txBody>
      </p:sp>
      <p:sp>
        <p:nvSpPr>
          <p:cNvPr id="23" name="railv_sep_1"/>
          <p:cNvSpPr/>
          <p:nvPr/>
        </p:nvSpPr>
        <p:spPr>
          <a:xfrm>
            <a:off x="6236208" y="2423160"/>
            <a:ext cx="5406847" cy="0"/>
          </a:xfrm>
          <a:prstGeom prst="line">
            <a:avLst/>
          </a:prstGeom>
          <a:noFill/>
          <a:ln w="9525">
            <a:solidFill>
              <a:schemeClr val="bg2"/>
            </a:solidFill>
            <a:prstDash val="solid"/>
          </a:ln>
        </p:spPr>
      </p:sp>
      <p:sp>
        <p:nvSpPr>
          <p:cNvPr id="2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clamp is simpler but stalls the servo.</a:t>
            </a:r>
            <a:endParaRPr lang="en-US" sz="1500" dirty="0"/>
          </a:p>
        </p:txBody>
      </p:sp>
      <p:sp>
        <p:nvSpPr>
          <p:cNvPr id="27" name="railv_sep_2"/>
          <p:cNvSpPr/>
          <p:nvPr/>
        </p:nvSpPr>
        <p:spPr>
          <a:xfrm>
            <a:off x="6236208" y="3063240"/>
            <a:ext cx="5406847" cy="0"/>
          </a:xfrm>
          <a:prstGeom prst="line">
            <a:avLst/>
          </a:prstGeom>
          <a:noFill/>
          <a:ln w="9525">
            <a:solidFill>
              <a:schemeClr val="bg2"/>
            </a:solidFill>
            <a:prstDash val="solid"/>
          </a:ln>
        </p:spPr>
      </p:sp>
      <p:sp>
        <p:nvSpPr>
          <p:cNvPr id="28"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3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Module 1.5, 2:1 ratio, my own 36T gear.</a:t>
            </a:r>
            <a:endParaRPr lang="en-US" sz="1500" dirty="0"/>
          </a:p>
        </p:txBody>
      </p:sp>
      <p:sp>
        <p:nvSpPr>
          <p:cNvPr id="31" name="railv_sep_3"/>
          <p:cNvSpPr/>
          <p:nvPr/>
        </p:nvSpPr>
        <p:spPr>
          <a:xfrm>
            <a:off x="6236208" y="3703320"/>
            <a:ext cx="5406847" cy="0"/>
          </a:xfrm>
          <a:prstGeom prst="line">
            <a:avLst/>
          </a:prstGeom>
          <a:noFill/>
          <a:ln w="9525">
            <a:solidFill>
              <a:schemeClr val="bg2"/>
            </a:solidFill>
            <a:prstDash val="solid"/>
          </a:ln>
        </p:spPr>
      </p:sp>
      <p:sp>
        <p:nvSpPr>
          <p:cNvPr id="32" name="rail_dot_4"/>
          <p:cNvSpPr txBox="1"/>
          <p:nvPr/>
        </p:nvSpPr>
        <p:spPr>
          <a:xfrm>
            <a:off x="5852160" y="389534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3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RESULT</a:t>
            </a:r>
            <a:endParaRPr lang="en-US" sz="1100" dirty="0"/>
          </a:p>
        </p:txBody>
      </p:sp>
      <p:sp>
        <p:nvSpPr>
          <p:cNvPr id="3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Gears 157 g to 96 g; 257 checks pass.</a:t>
            </a:r>
            <a:endParaRPr lang="en-US" sz="1500" dirty="0"/>
          </a:p>
        </p:txBody>
      </p:sp>
      <p:sp>
        <p:nvSpPr>
          <p:cNvPr id="35" name="railv_sep_4"/>
          <p:cNvSpPr/>
          <p:nvPr/>
        </p:nvSpPr>
        <p:spPr>
          <a:xfrm>
            <a:off x="6236208" y="4343400"/>
            <a:ext cx="5406847" cy="0"/>
          </a:xfrm>
          <a:prstGeom prst="line">
            <a:avLst/>
          </a:prstGeom>
          <a:noFill/>
          <a:ln w="9525">
            <a:solidFill>
              <a:schemeClr val="bg2"/>
            </a:solidFill>
            <a:prstDash val="solid"/>
          </a:ln>
        </p:spPr>
      </p:sp>
      <p:sp>
        <p:nvSpPr>
          <p:cNvPr id="36" name="rail_dot_5"/>
          <p:cNvSpPr txBox="1"/>
          <p:nvPr/>
        </p:nvSpPr>
        <p:spPr>
          <a:xfrm>
            <a:off x="5852160" y="453542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5</a:t>
            </a:r>
            <a:endParaRPr lang="en-US" sz="900" dirty="0"/>
          </a:p>
        </p:txBody>
      </p:sp>
      <p:sp>
        <p:nvSpPr>
          <p:cNvPr id="3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BUT</a:t>
            </a:r>
            <a:endParaRPr lang="en-US" sz="1100" dirty="0"/>
          </a:p>
        </p:txBody>
      </p:sp>
      <p:sp>
        <p:nvSpPr>
          <p:cNvPr id="3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Jeans at μ 0.3 need 17.7 N; jaws give 13.3–25 N.</a:t>
            </a:r>
            <a:endParaRPr lang="en-US" sz="1500" dirty="0"/>
          </a:p>
        </p:txBody>
      </p:sp>
      <p:sp>
        <p:nvSpPr>
          <p:cNvPr id="3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0"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   N ≥ m(g + a) / (2μ)</a:t>
            </a:r>
            <a:endParaRPr lang="en-US" sz="1800" dirty="0"/>
          </a:p>
        </p:txBody>
      </p:sp>
      <p:sp>
        <p:nvSpPr>
          <p:cNvPr id="4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Module 1: SF 0.35–0.41 at stall; module 1.5, 16 mm face: SF 2.0–2.5. Jeans: 0.9 × 11.81 / (2 × 0.3) = 17.7 N per jaw.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12 · CAMERA AND TUBE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camera can't see the grasp at contact, and that's fine.</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7" name="claw_render" descr="claw_render">    </p:cNvPr>
          <p:cNvPicPr>
            <a:picLocks noChangeAspect="1"/>
          </p:cNvPicPr>
          <p:nvPr/>
        </p:nvPicPr>
        <p:blipFill>
          <a:blip r:embed="rId1"/>
          <a:stretch>
            <a:fillRect/>
          </a:stretch>
        </p:blipFill>
        <p:spPr>
          <a:xfrm>
            <a:off x="685800" y="1965960"/>
            <a:ext cx="1417897" cy="4114800"/>
          </a:xfrm>
          <a:prstGeom prst="rect">
            <a:avLst/>
          </a:prstGeom>
        </p:spPr>
      </p:pic>
      <p:pic>
        <p:nvPicPr>
          <p:cNvPr id="8" name="camera_view_plot" descr="Camera view at 140 mm hover, open jaws">    </p:cNvPr>
          <p:cNvPicPr>
            <a:picLocks noChangeAspect="1"/>
          </p:cNvPicPr>
          <p:nvPr/>
        </p:nvPicPr>
        <p:blipFill>
          <a:blip r:embed="rId2"/>
          <a:stretch>
            <a:fillRect/>
          </a:stretch>
        </p:blipFill>
        <p:spPr>
          <a:xfrm>
            <a:off x="2240280" y="2697480"/>
            <a:ext cx="3108960" cy="2934299"/>
          </a:xfrm>
          <a:prstGeom prst="rect">
            <a:avLst/>
          </a:prstGeom>
        </p:spPr>
      </p:pic>
      <p:sp>
        <p:nvSpPr>
          <p:cNvPr id="9" name="Text 5"/>
          <p:cNvSpPr txBox="1"/>
          <p:nvPr/>
        </p:nvSpPr>
        <p:spPr>
          <a:xfrm>
            <a:off x="2240280" y="5677499"/>
            <a:ext cx="3108960" cy="411480"/>
          </a:xfrm>
          <a:prstGeom prst="rect">
            <a:avLst/>
          </a:prstGeom>
          <a:noFill/>
          <a:ln/>
        </p:spPr>
        <p:txBody>
          <a:bodyPr wrap="square" lIns="0" tIns="0" rIns="0" bIns="0" rtlCol="0" anchor="t"/>
          <a:lstStyle/>
          <a:p>
            <a:pPr indent="0" marL="0">
              <a:buNone/>
            </a:pPr>
            <a:r>
              <a:rPr lang="en-US" sz="1100" i="1" dirty="0">
                <a:solidFill>
                  <a:schemeClr val="tx2"/>
                </a:solidFill>
              </a:rPr>
              <a:t>Camera view, 50 mm cut, 140 mm hover. Green box = grasp zone.</a:t>
            </a:r>
            <a:endParaRPr lang="en-US" sz="1100" dirty="0"/>
          </a:p>
        </p:txBody>
      </p:sp>
      <p:sp>
        <p:nvSpPr>
          <p:cNvPr id="10" name="callout_line_Camera bay"/>
          <p:cNvSpPr/>
          <p:nvPr/>
        </p:nvSpPr>
        <p:spPr>
          <a:xfrm flipV="1">
            <a:off x="1961907" y="2194560"/>
            <a:ext cx="552693" cy="211684"/>
          </a:xfrm>
          <a:prstGeom prst="line">
            <a:avLst/>
          </a:prstGeom>
          <a:noFill/>
          <a:ln w="12700">
            <a:solidFill>
              <a:schemeClr val="tx1"/>
            </a:solidFill>
            <a:prstDash val="solid"/>
          </a:ln>
        </p:spPr>
      </p:sp>
      <p:sp>
        <p:nvSpPr>
          <p:cNvPr id="11" name="callout_dot_Camera bay"/>
          <p:cNvSpPr/>
          <p:nvPr/>
        </p:nvSpPr>
        <p:spPr>
          <a:xfrm>
            <a:off x="1907043" y="2351380"/>
            <a:ext cx="109728" cy="109728"/>
          </a:xfrm>
          <a:prstGeom prst="ellipse">
            <a:avLst/>
          </a:prstGeom>
          <a:solidFill>
            <a:schemeClr val="accent1"/>
          </a:solidFill>
          <a:ln w="12700">
            <a:solidFill>
              <a:schemeClr val="bg1"/>
            </a:solidFill>
            <a:prstDash val="solid"/>
          </a:ln>
        </p:spPr>
      </p:sp>
      <p:sp>
        <p:nvSpPr>
          <p:cNvPr id="12" name="callout_label_Camera bay"/>
          <p:cNvSpPr txBox="1"/>
          <p:nvPr/>
        </p:nvSpPr>
        <p:spPr>
          <a:xfrm>
            <a:off x="2560320" y="2048256"/>
            <a:ext cx="118872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Camera bay</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Long aluminium arm; camera sees the jaws.</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At contact, a plate hides the grasp spot.</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Cut 50 mm of tube, not 100 mm.</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Visible from 140 mm hover (was 172 mm); saves 33 g.</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Last ~14 cm is blind; add a hover correction.</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D* = (k (H</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c) − 93) / (1 − k),   k = 1 − 59.5/97</a:t>
            </a:r>
            <a:endParaRPr lang="en-US" sz="16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k = 0.387, H</a:t>
            </a:r>
            <a:pPr indent="0" marL="0">
              <a:buNone/>
            </a:pPr>
            <a:r>
              <a:rPr lang="en-US" sz="1300" baseline="-40000" dirty="0">
                <a:solidFill>
                  <a:schemeClr val="tx1"/>
                </a:solidFill>
                <a:latin typeface="Cambria" pitchFamily="34" charset="0"/>
                <a:ea typeface="Cambria" pitchFamily="34" charset="-122"/>
                <a:cs typeface="Cambria" pitchFamily="34" charset="-120"/>
              </a:rPr>
              <a:t>0</a:t>
            </a:r>
            <a:pPr indent="0" marL="0">
              <a:buNone/>
            </a:pPr>
            <a:r>
              <a:rPr lang="en-US" sz="1300" dirty="0">
                <a:solidFill>
                  <a:schemeClr val="tx1"/>
                </a:solidFill>
                <a:latin typeface="Cambria" pitchFamily="34" charset="0"/>
                <a:ea typeface="Cambria" pitchFamily="34" charset="-122"/>
                <a:cs typeface="Cambria" pitchFamily="34" charset="-120"/>
              </a:rPr>
              <a:t> = 512 mm: c = 0 gives D* = 171 mm, c = 50 mm gives 140 mm; each mm cut lowers D* by 0.63 mm.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13 · DISTRIBUTED ELECTRONICS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One controller per winch fixed the wiring and priced sync error.</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pic>
        <p:nvPicPr>
          <p:cNvPr id="6" name="hero_photo_1" descr="hero_photo_1">    </p:cNvPr>
          <p:cNvPicPr>
            <a:picLocks noChangeAspect="1"/>
          </p:cNvPicPr>
          <p:nvPr/>
        </p:nvPicPr>
        <p:blipFill>
          <a:blip r:embed="rId1"/>
          <a:srcRect l="4756" r="4756" t="0" b="0"/>
          <a:stretch/>
        </p:blipFill>
        <p:spPr>
          <a:xfrm>
            <a:off x="548640" y="1783080"/>
            <a:ext cx="2414016" cy="3557016"/>
          </a:xfrm>
          <a:prstGeom prst="rect">
            <a:avLst/>
          </a:prstGeom>
        </p:spPr>
      </p:pic>
      <p:sp>
        <p:nvSpPr>
          <p:cNvPr id="7" name="photo_label_1"/>
          <p:cNvSpPr txBox="1"/>
          <p:nvPr/>
        </p:nvSpPr>
        <p:spPr>
          <a:xfrm>
            <a:off x="640080"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JULY · central</a:t>
            </a:r>
            <a:endParaRPr lang="en-US" sz="1100" dirty="0"/>
          </a:p>
        </p:txBody>
      </p:sp>
      <p:pic>
        <p:nvPicPr>
          <p:cNvPr id="8" name="hero_photo_2" descr="hero_photo_2">    </p:cNvPr>
          <p:cNvPicPr>
            <a:picLocks noChangeAspect="1"/>
          </p:cNvPicPr>
          <p:nvPr/>
        </p:nvPicPr>
        <p:blipFill>
          <a:blip r:embed="rId2"/>
          <a:srcRect l="4756" r="4756" t="0" b="0"/>
          <a:stretch/>
        </p:blipFill>
        <p:spPr>
          <a:xfrm>
            <a:off x="3072384" y="1783080"/>
            <a:ext cx="2414016" cy="3557016"/>
          </a:xfrm>
          <a:prstGeom prst="rect">
            <a:avLst/>
          </a:prstGeom>
        </p:spPr>
      </p:pic>
      <p:sp>
        <p:nvSpPr>
          <p:cNvPr id="9" name="photo_label_2"/>
          <p:cNvSpPr txBox="1"/>
          <p:nvPr/>
        </p:nvSpPr>
        <p:spPr>
          <a:xfrm>
            <a:off x="3163824"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OCTOBER · per winch</a:t>
            </a:r>
            <a:endParaRPr lang="en-US" sz="1100" dirty="0"/>
          </a:p>
        </p:txBody>
      </p:sp>
      <p:sp>
        <p:nvSpPr>
          <p:cNvPr id="10"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1"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2"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Four stations, 1 lb, 300 mm at 50 mm/s: pass if each cable is within 2 mm.</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July: one controller; synchronised motion came free.</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ft harnesses; skew becomes force on four cables.</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Host plans; stations run timed segments, own clocks.</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Control logic simulated only.</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Not yet run on four stations.</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Δℓ = v·Δt;   F = k·Δℓ;   V = I·ρ·2L / A</a:t>
            </a:r>
            <a:endParaRPr lang="en-US" sz="18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50 mm/s × 50 ms = 2.5 mm; 3 N/mm × 2.5 mm = 7.5 N. 16 AWG, 32 ft, 2 A: 0.51 V drop (18 AWG: 0.82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14 · BRING-UP</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motor that wouldn't move taught me to measure before coding.</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pic>
        <p:nvPicPr>
          <p:cNvPr id="5" name="hero_photo" descr="hero_photo">    </p:cNvPr>
          <p:cNvPicPr>
            <a:picLocks noChangeAspect="1"/>
          </p:cNvPicPr>
          <p:nvPr/>
        </p:nvPicPr>
        <p:blipFill>
          <a:blip r:embed="rId1"/>
          <a:srcRect l="0" r="0" t="13676" b="3676"/>
          <a:stretch/>
        </p:blipFill>
        <p:spPr>
          <a:xfrm>
            <a:off x="548640" y="1783080"/>
            <a:ext cx="3227832" cy="3557016"/>
          </a:xfrm>
          <a:prstGeom prst="rect">
            <a:avLst/>
          </a:prstGeom>
        </p:spPr>
      </p:pic>
      <p:sp>
        <p:nvSpPr>
          <p:cNvPr id="6" name="stat_tile"/>
          <p:cNvSpPr/>
          <p:nvPr/>
        </p:nvSpPr>
        <p:spPr>
          <a:xfrm>
            <a:off x="3886200" y="1783080"/>
            <a:ext cx="1600200" cy="3557016"/>
          </a:xfrm>
          <a:prstGeom prst="rect">
            <a:avLst/>
          </a:prstGeom>
          <a:solidFill>
            <a:schemeClr val="bg2"/>
          </a:solidFill>
          <a:ln w="6350">
            <a:solidFill>
              <a:schemeClr val="bg2"/>
            </a:solidFill>
            <a:prstDash val="solid"/>
          </a:ln>
        </p:spPr>
      </p:sp>
      <p:sp>
        <p:nvSpPr>
          <p:cNvPr id="7" name="Text 4"/>
          <p:cNvSpPr txBox="1"/>
          <p:nvPr/>
        </p:nvSpPr>
        <p:spPr>
          <a:xfrm>
            <a:off x="4023360" y="2194560"/>
            <a:ext cx="1325880" cy="50292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3.3 V</a:t>
            </a:r>
            <a:endParaRPr lang="en-US" sz="3000" dirty="0"/>
          </a:p>
        </p:txBody>
      </p:sp>
      <p:sp>
        <p:nvSpPr>
          <p:cNvPr id="8" name="Text 5"/>
          <p:cNvSpPr txBox="1"/>
          <p:nvPr/>
        </p:nvSpPr>
        <p:spPr>
          <a:xfrm>
            <a:off x="4023360" y="2715768"/>
            <a:ext cx="1325880" cy="457200"/>
          </a:xfrm>
          <a:prstGeom prst="rect">
            <a:avLst/>
          </a:prstGeom>
          <a:noFill/>
          <a:ln/>
        </p:spPr>
        <p:txBody>
          <a:bodyPr wrap="square" lIns="0" tIns="0" rIns="0" bIns="0" rtlCol="0" anchor="t"/>
          <a:lstStyle/>
          <a:p>
            <a:pPr indent="0" marL="0">
              <a:buNone/>
            </a:pPr>
            <a:r>
              <a:rPr lang="en-US" sz="1200" dirty="0">
                <a:solidFill>
                  <a:schemeClr val="tx2"/>
                </a:solidFill>
              </a:rPr>
              <a:t>expected on the logic rail</a:t>
            </a:r>
            <a:endParaRPr lang="en-US" sz="1200" dirty="0"/>
          </a:p>
        </p:txBody>
      </p:sp>
      <p:sp>
        <p:nvSpPr>
          <p:cNvPr id="9" name="Text 6"/>
          <p:cNvSpPr txBox="1"/>
          <p:nvPr/>
        </p:nvSpPr>
        <p:spPr>
          <a:xfrm>
            <a:off x="4023360" y="3611880"/>
            <a:ext cx="1325880" cy="50292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1.14 V</a:t>
            </a:r>
            <a:endParaRPr lang="en-US" sz="3000" dirty="0"/>
          </a:p>
        </p:txBody>
      </p:sp>
      <p:sp>
        <p:nvSpPr>
          <p:cNvPr id="10" name="Text 7"/>
          <p:cNvSpPr txBox="1"/>
          <p:nvPr/>
        </p:nvSpPr>
        <p:spPr>
          <a:xfrm>
            <a:off x="4023360" y="4133088"/>
            <a:ext cx="1325880" cy="457200"/>
          </a:xfrm>
          <a:prstGeom prst="rect">
            <a:avLst/>
          </a:prstGeom>
          <a:noFill/>
          <a:ln/>
        </p:spPr>
        <p:txBody>
          <a:bodyPr wrap="square" lIns="0" tIns="0" rIns="0" bIns="0" rtlCol="0" anchor="t"/>
          <a:lstStyle/>
          <a:p>
            <a:pPr indent="0" marL="0">
              <a:buNone/>
            </a:pPr>
            <a:r>
              <a:rPr lang="en-US" sz="1200" dirty="0">
                <a:solidFill>
                  <a:schemeClr val="tx2"/>
                </a:solidFill>
              </a:rPr>
              <a:t>read on the meter</a:t>
            </a:r>
            <a:endParaRPr lang="en-US" sz="1200" dirty="0"/>
          </a:p>
        </p:txBody>
      </p:sp>
      <p:sp>
        <p:nvSpPr>
          <p:cNvPr id="11"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2"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3"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and the buck output.</a:t>
            </a:r>
            <a:endParaRPr lang="en-US" sz="1200" dirty="0"/>
          </a:p>
        </p:txBody>
      </p:sp>
      <p:sp>
        <p:nvSpPr>
          <p:cNvPr id="14" name="railv_line"/>
          <p:cNvSpPr/>
          <p:nvPr/>
        </p:nvSpPr>
        <p:spPr>
          <a:xfrm>
            <a:off x="5980176" y="2103120"/>
            <a:ext cx="0" cy="2560320"/>
          </a:xfrm>
          <a:prstGeom prst="line">
            <a:avLst/>
          </a:prstGeom>
          <a:noFill/>
          <a:ln w="25400">
            <a:solidFill>
              <a:schemeClr val="bg2"/>
            </a:solidFill>
            <a:prstDash val="solid"/>
          </a:ln>
        </p:spPr>
      </p:sp>
      <p:sp>
        <p:nvSpPr>
          <p:cNvPr id="15"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6"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7"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First motion on the new station board.</a:t>
            </a:r>
            <a:endParaRPr lang="en-US" sz="1500" dirty="0"/>
          </a:p>
        </p:txBody>
      </p:sp>
      <p:sp>
        <p:nvSpPr>
          <p:cNvPr id="18" name="railv_sep_1"/>
          <p:cNvSpPr/>
          <p:nvPr/>
        </p:nvSpPr>
        <p:spPr>
          <a:xfrm>
            <a:off x="6236208" y="2423160"/>
            <a:ext cx="5406847" cy="0"/>
          </a:xfrm>
          <a:prstGeom prst="line">
            <a:avLst/>
          </a:prstGeom>
          <a:noFill/>
          <a:ln w="9525">
            <a:solidFill>
              <a:schemeClr val="bg2"/>
            </a:solidFill>
            <a:prstDash val="solid"/>
          </a:ln>
        </p:spPr>
      </p:sp>
      <p:sp>
        <p:nvSpPr>
          <p:cNvPr id="19"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0"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1"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Pulses sent, shaft still; logic rail read 1.14 V.</a:t>
            </a:r>
            <a:endParaRPr lang="en-US" sz="1500" dirty="0"/>
          </a:p>
        </p:txBody>
      </p:sp>
      <p:sp>
        <p:nvSpPr>
          <p:cNvPr id="22" name="railv_sep_2"/>
          <p:cNvSpPr/>
          <p:nvPr/>
        </p:nvSpPr>
        <p:spPr>
          <a:xfrm>
            <a:off x="6236208" y="3063240"/>
            <a:ext cx="5406847" cy="0"/>
          </a:xfrm>
          <a:prstGeom prst="line">
            <a:avLst/>
          </a:prstGeom>
          <a:noFill/>
          <a:ln w="9525">
            <a:solidFill>
              <a:schemeClr val="bg2"/>
            </a:solidFill>
            <a:prstDash val="solid"/>
          </a:ln>
        </p:spPr>
      </p:sp>
      <p:sp>
        <p:nvSpPr>
          <p:cNvPr id="23"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4"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5"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Solder 3.3 V; pull resistors; JP1; measure VDD.</a:t>
            </a:r>
            <a:endParaRPr lang="en-US" sz="1500" dirty="0"/>
          </a:p>
        </p:txBody>
      </p:sp>
      <p:sp>
        <p:nvSpPr>
          <p:cNvPr id="26" name="railv_sep_3"/>
          <p:cNvSpPr/>
          <p:nvPr/>
        </p:nvSpPr>
        <p:spPr>
          <a:xfrm>
            <a:off x="6236208" y="3703320"/>
            <a:ext cx="5406847" cy="0"/>
          </a:xfrm>
          <a:prstGeom prst="line">
            <a:avLst/>
          </a:prstGeom>
          <a:noFill/>
          <a:ln w="9525">
            <a:solidFill>
              <a:schemeClr val="bg2"/>
            </a:solidFill>
            <a:prstDash val="solid"/>
          </a:ln>
        </p:spPr>
      </p:sp>
      <p:sp>
        <p:nvSpPr>
          <p:cNvPr id="27"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8"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9"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Rev D board, net-checked; motion after repair.</a:t>
            </a:r>
            <a:endParaRPr lang="en-US" sz="1500" dirty="0"/>
          </a:p>
        </p:txBody>
      </p:sp>
      <p:sp>
        <p:nvSpPr>
          <p:cNvPr id="30" name="railv_sep_4"/>
          <p:cNvSpPr/>
          <p:nvPr/>
        </p:nvSpPr>
        <p:spPr>
          <a:xfrm>
            <a:off x="6236208" y="4343400"/>
            <a:ext cx="5406847" cy="0"/>
          </a:xfrm>
          <a:prstGeom prst="line">
            <a:avLst/>
          </a:prstGeom>
          <a:noFill/>
          <a:ln w="9525">
            <a:solidFill>
              <a:schemeClr val="bg2"/>
            </a:solidFill>
            <a:prstDash val="solid"/>
          </a:ln>
        </p:spPr>
      </p:sp>
      <p:sp>
        <p:nvSpPr>
          <p:cNvPr id="31"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2"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3"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As-built board still needs its meter checklist.</a:t>
            </a:r>
            <a:endParaRPr lang="en-US" sz="1500" dirty="0"/>
          </a:p>
        </p:txBody>
      </p:sp>
      <p:sp>
        <p:nvSpPr>
          <p:cNvPr id="34"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5" name="Text 32"/>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6"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7"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Meter first: logic rail 1.14 V read against 3.3 V expected. The same habit on Oct 21 found the Vref pot topping out at 0.85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15 · CALIBRATION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I stopped buying precision and moved the safety into margins.</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sp>
        <p:nvSpPr>
          <p:cNvPr id="7" name="camera_footprint"/>
          <p:cNvSpPr/>
          <p:nvPr/>
        </p:nvSpPr>
        <p:spPr>
          <a:xfrm>
            <a:off x="2103120" y="2683764"/>
            <a:ext cx="1828800" cy="1828800"/>
          </a:xfrm>
          <a:prstGeom prst="ellipse">
            <a:avLst/>
          </a:prstGeom>
          <a:solidFill>
            <a:schemeClr val="bg1">
              <a:alpha val="0"/>
            </a:schemeClr>
          </a:solidFill>
          <a:ln w="15875">
            <a:solidFill>
              <a:schemeClr val="tx2"/>
            </a:solidFill>
            <a:prstDash val="dash"/>
          </a:ln>
        </p:spPr>
      </p:sp>
      <p:sp>
        <p:nvSpPr>
          <p:cNvPr id="8" name="tag_0_0"/>
          <p:cNvSpPr/>
          <p:nvPr/>
        </p:nvSpPr>
        <p:spPr>
          <a:xfrm>
            <a:off x="1453896" y="2468880"/>
            <a:ext cx="521208" cy="521208"/>
          </a:xfrm>
          <a:prstGeom prst="rect">
            <a:avLst/>
          </a:prstGeom>
          <a:solidFill>
            <a:schemeClr val="tx1"/>
          </a:solidFill>
          <a:ln w="6350">
            <a:solidFill>
              <a:schemeClr val="tx1"/>
            </a:solidFill>
            <a:prstDash val="solid"/>
          </a:ln>
        </p:spPr>
      </p:sp>
      <p:sp>
        <p:nvSpPr>
          <p:cNvPr id="9" name="tag_in_0_0"/>
          <p:cNvSpPr/>
          <p:nvPr/>
        </p:nvSpPr>
        <p:spPr>
          <a:xfrm>
            <a:off x="1545336" y="2560320"/>
            <a:ext cx="338328" cy="338328"/>
          </a:xfrm>
          <a:prstGeom prst="rect">
            <a:avLst/>
          </a:prstGeom>
          <a:solidFill>
            <a:schemeClr val="bg1"/>
          </a:solidFill>
          <a:ln w="6350">
            <a:solidFill>
              <a:schemeClr val="bg1"/>
            </a:solidFill>
            <a:prstDash val="solid"/>
          </a:ln>
        </p:spPr>
      </p:sp>
      <p:sp>
        <p:nvSpPr>
          <p:cNvPr id="10" name="tag_core_0_0"/>
          <p:cNvSpPr/>
          <p:nvPr/>
        </p:nvSpPr>
        <p:spPr>
          <a:xfrm>
            <a:off x="1636776" y="2651760"/>
            <a:ext cx="155448" cy="155448"/>
          </a:xfrm>
          <a:prstGeom prst="rect">
            <a:avLst/>
          </a:prstGeom>
          <a:solidFill>
            <a:schemeClr val="tx1"/>
          </a:solidFill>
          <a:ln w="6350">
            <a:solidFill>
              <a:schemeClr val="tx1"/>
            </a:solidFill>
            <a:prstDash val="solid"/>
          </a:ln>
        </p:spPr>
      </p:sp>
      <p:sp>
        <p:nvSpPr>
          <p:cNvPr id="11" name="tag_1_0"/>
          <p:cNvSpPr/>
          <p:nvPr/>
        </p:nvSpPr>
        <p:spPr>
          <a:xfrm>
            <a:off x="2322576" y="2468880"/>
            <a:ext cx="521208" cy="521208"/>
          </a:xfrm>
          <a:prstGeom prst="rect">
            <a:avLst/>
          </a:prstGeom>
          <a:solidFill>
            <a:schemeClr val="tx1"/>
          </a:solidFill>
          <a:ln w="6350">
            <a:solidFill>
              <a:schemeClr val="tx1"/>
            </a:solidFill>
            <a:prstDash val="solid"/>
          </a:ln>
        </p:spPr>
      </p:sp>
      <p:sp>
        <p:nvSpPr>
          <p:cNvPr id="12" name="tag_in_1_0"/>
          <p:cNvSpPr/>
          <p:nvPr/>
        </p:nvSpPr>
        <p:spPr>
          <a:xfrm>
            <a:off x="2414016" y="2560320"/>
            <a:ext cx="338328" cy="338328"/>
          </a:xfrm>
          <a:prstGeom prst="rect">
            <a:avLst/>
          </a:prstGeom>
          <a:solidFill>
            <a:schemeClr val="bg1"/>
          </a:solidFill>
          <a:ln w="6350">
            <a:solidFill>
              <a:schemeClr val="bg1"/>
            </a:solidFill>
            <a:prstDash val="solid"/>
          </a:ln>
        </p:spPr>
      </p:sp>
      <p:sp>
        <p:nvSpPr>
          <p:cNvPr id="13" name="tag_core_1_0"/>
          <p:cNvSpPr/>
          <p:nvPr/>
        </p:nvSpPr>
        <p:spPr>
          <a:xfrm>
            <a:off x="2505456" y="2651760"/>
            <a:ext cx="155448" cy="155448"/>
          </a:xfrm>
          <a:prstGeom prst="rect">
            <a:avLst/>
          </a:prstGeom>
          <a:solidFill>
            <a:schemeClr val="tx1"/>
          </a:solidFill>
          <a:ln w="6350">
            <a:solidFill>
              <a:schemeClr val="tx1"/>
            </a:solidFill>
            <a:prstDash val="solid"/>
          </a:ln>
        </p:spPr>
      </p:sp>
      <p:sp>
        <p:nvSpPr>
          <p:cNvPr id="14" name="tag_2_0"/>
          <p:cNvSpPr/>
          <p:nvPr/>
        </p:nvSpPr>
        <p:spPr>
          <a:xfrm>
            <a:off x="3191256" y="2468880"/>
            <a:ext cx="521208" cy="521208"/>
          </a:xfrm>
          <a:prstGeom prst="rect">
            <a:avLst/>
          </a:prstGeom>
          <a:solidFill>
            <a:schemeClr val="tx1"/>
          </a:solidFill>
          <a:ln w="6350">
            <a:solidFill>
              <a:schemeClr val="tx1"/>
            </a:solidFill>
            <a:prstDash val="solid"/>
          </a:ln>
        </p:spPr>
      </p:sp>
      <p:sp>
        <p:nvSpPr>
          <p:cNvPr id="15" name="tag_in_2_0"/>
          <p:cNvSpPr/>
          <p:nvPr/>
        </p:nvSpPr>
        <p:spPr>
          <a:xfrm>
            <a:off x="3282696" y="2560320"/>
            <a:ext cx="338328" cy="338328"/>
          </a:xfrm>
          <a:prstGeom prst="rect">
            <a:avLst/>
          </a:prstGeom>
          <a:solidFill>
            <a:schemeClr val="bg1"/>
          </a:solidFill>
          <a:ln w="6350">
            <a:solidFill>
              <a:schemeClr val="bg1"/>
            </a:solidFill>
            <a:prstDash val="solid"/>
          </a:ln>
        </p:spPr>
      </p:sp>
      <p:sp>
        <p:nvSpPr>
          <p:cNvPr id="16" name="tag_core_2_0"/>
          <p:cNvSpPr/>
          <p:nvPr/>
        </p:nvSpPr>
        <p:spPr>
          <a:xfrm>
            <a:off x="3374136" y="2651760"/>
            <a:ext cx="155448" cy="155448"/>
          </a:xfrm>
          <a:prstGeom prst="rect">
            <a:avLst/>
          </a:prstGeom>
          <a:solidFill>
            <a:schemeClr val="tx1"/>
          </a:solidFill>
          <a:ln w="6350">
            <a:solidFill>
              <a:schemeClr val="tx1"/>
            </a:solidFill>
            <a:prstDash val="solid"/>
          </a:ln>
        </p:spPr>
      </p:sp>
      <p:sp>
        <p:nvSpPr>
          <p:cNvPr id="17" name="tag_3_0"/>
          <p:cNvSpPr/>
          <p:nvPr/>
        </p:nvSpPr>
        <p:spPr>
          <a:xfrm>
            <a:off x="4059936" y="2468880"/>
            <a:ext cx="521208" cy="521208"/>
          </a:xfrm>
          <a:prstGeom prst="rect">
            <a:avLst/>
          </a:prstGeom>
          <a:solidFill>
            <a:schemeClr val="tx1"/>
          </a:solidFill>
          <a:ln w="6350">
            <a:solidFill>
              <a:schemeClr val="tx1"/>
            </a:solidFill>
            <a:prstDash val="solid"/>
          </a:ln>
        </p:spPr>
      </p:sp>
      <p:sp>
        <p:nvSpPr>
          <p:cNvPr id="18" name="tag_in_3_0"/>
          <p:cNvSpPr/>
          <p:nvPr/>
        </p:nvSpPr>
        <p:spPr>
          <a:xfrm>
            <a:off x="4151376" y="2560320"/>
            <a:ext cx="338328" cy="338328"/>
          </a:xfrm>
          <a:prstGeom prst="rect">
            <a:avLst/>
          </a:prstGeom>
          <a:solidFill>
            <a:schemeClr val="bg1"/>
          </a:solidFill>
          <a:ln w="6350">
            <a:solidFill>
              <a:schemeClr val="bg1"/>
            </a:solidFill>
            <a:prstDash val="solid"/>
          </a:ln>
        </p:spPr>
      </p:sp>
      <p:sp>
        <p:nvSpPr>
          <p:cNvPr id="19" name="tag_core_3_0"/>
          <p:cNvSpPr/>
          <p:nvPr/>
        </p:nvSpPr>
        <p:spPr>
          <a:xfrm>
            <a:off x="4242816" y="2651760"/>
            <a:ext cx="155448" cy="155448"/>
          </a:xfrm>
          <a:prstGeom prst="rect">
            <a:avLst/>
          </a:prstGeom>
          <a:solidFill>
            <a:schemeClr val="tx1"/>
          </a:solidFill>
          <a:ln w="6350">
            <a:solidFill>
              <a:schemeClr val="tx1"/>
            </a:solidFill>
            <a:prstDash val="solid"/>
          </a:ln>
        </p:spPr>
      </p:sp>
      <p:sp>
        <p:nvSpPr>
          <p:cNvPr id="20" name="tag_0_1"/>
          <p:cNvSpPr/>
          <p:nvPr/>
        </p:nvSpPr>
        <p:spPr>
          <a:xfrm>
            <a:off x="1453896" y="3337560"/>
            <a:ext cx="521208" cy="521208"/>
          </a:xfrm>
          <a:prstGeom prst="rect">
            <a:avLst/>
          </a:prstGeom>
          <a:solidFill>
            <a:schemeClr val="tx1"/>
          </a:solidFill>
          <a:ln w="6350">
            <a:solidFill>
              <a:schemeClr val="tx1"/>
            </a:solidFill>
            <a:prstDash val="solid"/>
          </a:ln>
        </p:spPr>
      </p:sp>
      <p:sp>
        <p:nvSpPr>
          <p:cNvPr id="21" name="tag_in_0_1"/>
          <p:cNvSpPr/>
          <p:nvPr/>
        </p:nvSpPr>
        <p:spPr>
          <a:xfrm>
            <a:off x="1545336" y="3429000"/>
            <a:ext cx="338328" cy="338328"/>
          </a:xfrm>
          <a:prstGeom prst="rect">
            <a:avLst/>
          </a:prstGeom>
          <a:solidFill>
            <a:schemeClr val="bg1"/>
          </a:solidFill>
          <a:ln w="6350">
            <a:solidFill>
              <a:schemeClr val="bg1"/>
            </a:solidFill>
            <a:prstDash val="solid"/>
          </a:ln>
        </p:spPr>
      </p:sp>
      <p:sp>
        <p:nvSpPr>
          <p:cNvPr id="22" name="tag_core_0_1"/>
          <p:cNvSpPr/>
          <p:nvPr/>
        </p:nvSpPr>
        <p:spPr>
          <a:xfrm>
            <a:off x="1636776" y="3520440"/>
            <a:ext cx="155448" cy="155448"/>
          </a:xfrm>
          <a:prstGeom prst="rect">
            <a:avLst/>
          </a:prstGeom>
          <a:solidFill>
            <a:schemeClr val="tx1"/>
          </a:solidFill>
          <a:ln w="6350">
            <a:solidFill>
              <a:schemeClr val="tx1"/>
            </a:solidFill>
            <a:prstDash val="solid"/>
          </a:ln>
        </p:spPr>
      </p:sp>
      <p:sp>
        <p:nvSpPr>
          <p:cNvPr id="23" name="tag_1_1"/>
          <p:cNvSpPr/>
          <p:nvPr/>
        </p:nvSpPr>
        <p:spPr>
          <a:xfrm>
            <a:off x="2322576" y="3337560"/>
            <a:ext cx="521208" cy="521208"/>
          </a:xfrm>
          <a:prstGeom prst="rect">
            <a:avLst/>
          </a:prstGeom>
          <a:solidFill>
            <a:schemeClr val="tx1"/>
          </a:solidFill>
          <a:ln w="6350">
            <a:solidFill>
              <a:schemeClr val="tx1"/>
            </a:solidFill>
            <a:prstDash val="solid"/>
          </a:ln>
        </p:spPr>
      </p:sp>
      <p:sp>
        <p:nvSpPr>
          <p:cNvPr id="24" name="tag_in_1_1"/>
          <p:cNvSpPr/>
          <p:nvPr/>
        </p:nvSpPr>
        <p:spPr>
          <a:xfrm>
            <a:off x="2414016" y="3429000"/>
            <a:ext cx="338328" cy="338328"/>
          </a:xfrm>
          <a:prstGeom prst="rect">
            <a:avLst/>
          </a:prstGeom>
          <a:solidFill>
            <a:schemeClr val="bg1"/>
          </a:solidFill>
          <a:ln w="6350">
            <a:solidFill>
              <a:schemeClr val="bg1"/>
            </a:solidFill>
            <a:prstDash val="solid"/>
          </a:ln>
        </p:spPr>
      </p:sp>
      <p:sp>
        <p:nvSpPr>
          <p:cNvPr id="25" name="tag_core_1_1"/>
          <p:cNvSpPr/>
          <p:nvPr/>
        </p:nvSpPr>
        <p:spPr>
          <a:xfrm>
            <a:off x="2505456" y="3520440"/>
            <a:ext cx="155448" cy="155448"/>
          </a:xfrm>
          <a:prstGeom prst="rect">
            <a:avLst/>
          </a:prstGeom>
          <a:solidFill>
            <a:schemeClr val="tx1"/>
          </a:solidFill>
          <a:ln w="6350">
            <a:solidFill>
              <a:schemeClr val="tx1"/>
            </a:solidFill>
            <a:prstDash val="solid"/>
          </a:ln>
        </p:spPr>
      </p:sp>
      <p:sp>
        <p:nvSpPr>
          <p:cNvPr id="26" name="tag_2_1"/>
          <p:cNvSpPr/>
          <p:nvPr/>
        </p:nvSpPr>
        <p:spPr>
          <a:xfrm>
            <a:off x="3191256" y="3337560"/>
            <a:ext cx="521208" cy="521208"/>
          </a:xfrm>
          <a:prstGeom prst="rect">
            <a:avLst/>
          </a:prstGeom>
          <a:solidFill>
            <a:schemeClr val="tx1"/>
          </a:solidFill>
          <a:ln w="6350">
            <a:solidFill>
              <a:schemeClr val="tx1"/>
            </a:solidFill>
            <a:prstDash val="solid"/>
          </a:ln>
        </p:spPr>
      </p:sp>
      <p:sp>
        <p:nvSpPr>
          <p:cNvPr id="27" name="tag_in_2_1"/>
          <p:cNvSpPr/>
          <p:nvPr/>
        </p:nvSpPr>
        <p:spPr>
          <a:xfrm>
            <a:off x="3282696" y="3429000"/>
            <a:ext cx="338328" cy="338328"/>
          </a:xfrm>
          <a:prstGeom prst="rect">
            <a:avLst/>
          </a:prstGeom>
          <a:solidFill>
            <a:schemeClr val="bg1"/>
          </a:solidFill>
          <a:ln w="6350">
            <a:solidFill>
              <a:schemeClr val="bg1"/>
            </a:solidFill>
            <a:prstDash val="solid"/>
          </a:ln>
        </p:spPr>
      </p:sp>
      <p:sp>
        <p:nvSpPr>
          <p:cNvPr id="28" name="tag_core_2_1"/>
          <p:cNvSpPr/>
          <p:nvPr/>
        </p:nvSpPr>
        <p:spPr>
          <a:xfrm>
            <a:off x="3374136" y="3520440"/>
            <a:ext cx="155448" cy="155448"/>
          </a:xfrm>
          <a:prstGeom prst="rect">
            <a:avLst/>
          </a:prstGeom>
          <a:solidFill>
            <a:schemeClr val="tx1"/>
          </a:solidFill>
          <a:ln w="6350">
            <a:solidFill>
              <a:schemeClr val="tx1"/>
            </a:solidFill>
            <a:prstDash val="solid"/>
          </a:ln>
        </p:spPr>
      </p:sp>
      <p:sp>
        <p:nvSpPr>
          <p:cNvPr id="29" name="tag_3_1"/>
          <p:cNvSpPr/>
          <p:nvPr/>
        </p:nvSpPr>
        <p:spPr>
          <a:xfrm>
            <a:off x="4059936" y="3337560"/>
            <a:ext cx="521208" cy="521208"/>
          </a:xfrm>
          <a:prstGeom prst="rect">
            <a:avLst/>
          </a:prstGeom>
          <a:solidFill>
            <a:schemeClr val="tx1"/>
          </a:solidFill>
          <a:ln w="6350">
            <a:solidFill>
              <a:schemeClr val="tx1"/>
            </a:solidFill>
            <a:prstDash val="solid"/>
          </a:ln>
        </p:spPr>
      </p:sp>
      <p:sp>
        <p:nvSpPr>
          <p:cNvPr id="30" name="tag_in_3_1"/>
          <p:cNvSpPr/>
          <p:nvPr/>
        </p:nvSpPr>
        <p:spPr>
          <a:xfrm>
            <a:off x="4151376" y="3429000"/>
            <a:ext cx="338328" cy="338328"/>
          </a:xfrm>
          <a:prstGeom prst="rect">
            <a:avLst/>
          </a:prstGeom>
          <a:solidFill>
            <a:schemeClr val="bg1"/>
          </a:solidFill>
          <a:ln w="6350">
            <a:solidFill>
              <a:schemeClr val="bg1"/>
            </a:solidFill>
            <a:prstDash val="solid"/>
          </a:ln>
        </p:spPr>
      </p:sp>
      <p:sp>
        <p:nvSpPr>
          <p:cNvPr id="31" name="tag_core_3_1"/>
          <p:cNvSpPr/>
          <p:nvPr/>
        </p:nvSpPr>
        <p:spPr>
          <a:xfrm>
            <a:off x="4242816" y="3520440"/>
            <a:ext cx="155448" cy="155448"/>
          </a:xfrm>
          <a:prstGeom prst="rect">
            <a:avLst/>
          </a:prstGeom>
          <a:solidFill>
            <a:schemeClr val="tx1"/>
          </a:solidFill>
          <a:ln w="6350">
            <a:solidFill>
              <a:schemeClr val="tx1"/>
            </a:solidFill>
            <a:prstDash val="solid"/>
          </a:ln>
        </p:spPr>
      </p:sp>
      <p:sp>
        <p:nvSpPr>
          <p:cNvPr id="32" name="tag_0_2"/>
          <p:cNvSpPr/>
          <p:nvPr/>
        </p:nvSpPr>
        <p:spPr>
          <a:xfrm>
            <a:off x="1453896" y="4206240"/>
            <a:ext cx="521208" cy="521208"/>
          </a:xfrm>
          <a:prstGeom prst="rect">
            <a:avLst/>
          </a:prstGeom>
          <a:solidFill>
            <a:schemeClr val="tx1"/>
          </a:solidFill>
          <a:ln w="6350">
            <a:solidFill>
              <a:schemeClr val="tx1"/>
            </a:solidFill>
            <a:prstDash val="solid"/>
          </a:ln>
        </p:spPr>
      </p:sp>
      <p:sp>
        <p:nvSpPr>
          <p:cNvPr id="33" name="tag_in_0_2"/>
          <p:cNvSpPr/>
          <p:nvPr/>
        </p:nvSpPr>
        <p:spPr>
          <a:xfrm>
            <a:off x="1545336" y="4297680"/>
            <a:ext cx="338328" cy="338328"/>
          </a:xfrm>
          <a:prstGeom prst="rect">
            <a:avLst/>
          </a:prstGeom>
          <a:solidFill>
            <a:schemeClr val="bg1"/>
          </a:solidFill>
          <a:ln w="6350">
            <a:solidFill>
              <a:schemeClr val="bg1"/>
            </a:solidFill>
            <a:prstDash val="solid"/>
          </a:ln>
        </p:spPr>
      </p:sp>
      <p:sp>
        <p:nvSpPr>
          <p:cNvPr id="34" name="tag_core_0_2"/>
          <p:cNvSpPr/>
          <p:nvPr/>
        </p:nvSpPr>
        <p:spPr>
          <a:xfrm>
            <a:off x="1636776" y="4389120"/>
            <a:ext cx="155448" cy="155448"/>
          </a:xfrm>
          <a:prstGeom prst="rect">
            <a:avLst/>
          </a:prstGeom>
          <a:solidFill>
            <a:schemeClr val="tx1"/>
          </a:solidFill>
          <a:ln w="6350">
            <a:solidFill>
              <a:schemeClr val="tx1"/>
            </a:solidFill>
            <a:prstDash val="solid"/>
          </a:ln>
        </p:spPr>
      </p:sp>
      <p:sp>
        <p:nvSpPr>
          <p:cNvPr id="35" name="tag_1_2"/>
          <p:cNvSpPr/>
          <p:nvPr/>
        </p:nvSpPr>
        <p:spPr>
          <a:xfrm>
            <a:off x="2322576" y="4206240"/>
            <a:ext cx="521208" cy="521208"/>
          </a:xfrm>
          <a:prstGeom prst="rect">
            <a:avLst/>
          </a:prstGeom>
          <a:solidFill>
            <a:schemeClr val="tx1"/>
          </a:solidFill>
          <a:ln w="6350">
            <a:solidFill>
              <a:schemeClr val="tx1"/>
            </a:solidFill>
            <a:prstDash val="solid"/>
          </a:ln>
        </p:spPr>
      </p:sp>
      <p:sp>
        <p:nvSpPr>
          <p:cNvPr id="36" name="tag_in_1_2"/>
          <p:cNvSpPr/>
          <p:nvPr/>
        </p:nvSpPr>
        <p:spPr>
          <a:xfrm>
            <a:off x="2414016" y="4297680"/>
            <a:ext cx="338328" cy="338328"/>
          </a:xfrm>
          <a:prstGeom prst="rect">
            <a:avLst/>
          </a:prstGeom>
          <a:solidFill>
            <a:schemeClr val="bg1"/>
          </a:solidFill>
          <a:ln w="6350">
            <a:solidFill>
              <a:schemeClr val="bg1"/>
            </a:solidFill>
            <a:prstDash val="solid"/>
          </a:ln>
        </p:spPr>
      </p:sp>
      <p:sp>
        <p:nvSpPr>
          <p:cNvPr id="37" name="tag_core_1_2"/>
          <p:cNvSpPr/>
          <p:nvPr/>
        </p:nvSpPr>
        <p:spPr>
          <a:xfrm>
            <a:off x="2505456" y="4389120"/>
            <a:ext cx="155448" cy="155448"/>
          </a:xfrm>
          <a:prstGeom prst="rect">
            <a:avLst/>
          </a:prstGeom>
          <a:solidFill>
            <a:schemeClr val="tx1"/>
          </a:solidFill>
          <a:ln w="6350">
            <a:solidFill>
              <a:schemeClr val="tx1"/>
            </a:solidFill>
            <a:prstDash val="solid"/>
          </a:ln>
        </p:spPr>
      </p:sp>
      <p:sp>
        <p:nvSpPr>
          <p:cNvPr id="38" name="tag_2_2"/>
          <p:cNvSpPr/>
          <p:nvPr/>
        </p:nvSpPr>
        <p:spPr>
          <a:xfrm>
            <a:off x="3191256" y="4206240"/>
            <a:ext cx="521208" cy="521208"/>
          </a:xfrm>
          <a:prstGeom prst="rect">
            <a:avLst/>
          </a:prstGeom>
          <a:solidFill>
            <a:schemeClr val="tx1"/>
          </a:solidFill>
          <a:ln w="6350">
            <a:solidFill>
              <a:schemeClr val="tx1"/>
            </a:solidFill>
            <a:prstDash val="solid"/>
          </a:ln>
        </p:spPr>
      </p:sp>
      <p:sp>
        <p:nvSpPr>
          <p:cNvPr id="39" name="tag_in_2_2"/>
          <p:cNvSpPr/>
          <p:nvPr/>
        </p:nvSpPr>
        <p:spPr>
          <a:xfrm>
            <a:off x="3282696" y="4297680"/>
            <a:ext cx="338328" cy="338328"/>
          </a:xfrm>
          <a:prstGeom prst="rect">
            <a:avLst/>
          </a:prstGeom>
          <a:solidFill>
            <a:schemeClr val="bg1"/>
          </a:solidFill>
          <a:ln w="6350">
            <a:solidFill>
              <a:schemeClr val="bg1"/>
            </a:solidFill>
            <a:prstDash val="solid"/>
          </a:ln>
        </p:spPr>
      </p:sp>
      <p:sp>
        <p:nvSpPr>
          <p:cNvPr id="40" name="tag_core_2_2"/>
          <p:cNvSpPr/>
          <p:nvPr/>
        </p:nvSpPr>
        <p:spPr>
          <a:xfrm>
            <a:off x="3374136" y="4389120"/>
            <a:ext cx="155448" cy="155448"/>
          </a:xfrm>
          <a:prstGeom prst="rect">
            <a:avLst/>
          </a:prstGeom>
          <a:solidFill>
            <a:schemeClr val="tx1"/>
          </a:solidFill>
          <a:ln w="6350">
            <a:solidFill>
              <a:schemeClr val="tx1"/>
            </a:solidFill>
            <a:prstDash val="solid"/>
          </a:ln>
        </p:spPr>
      </p:sp>
      <p:sp>
        <p:nvSpPr>
          <p:cNvPr id="41" name="tag_3_2"/>
          <p:cNvSpPr/>
          <p:nvPr/>
        </p:nvSpPr>
        <p:spPr>
          <a:xfrm>
            <a:off x="4059936" y="4206240"/>
            <a:ext cx="521208" cy="521208"/>
          </a:xfrm>
          <a:prstGeom prst="rect">
            <a:avLst/>
          </a:prstGeom>
          <a:solidFill>
            <a:schemeClr val="tx1"/>
          </a:solidFill>
          <a:ln w="6350">
            <a:solidFill>
              <a:schemeClr val="tx1"/>
            </a:solidFill>
            <a:prstDash val="solid"/>
          </a:ln>
        </p:spPr>
      </p:sp>
      <p:sp>
        <p:nvSpPr>
          <p:cNvPr id="42" name="tag_in_3_2"/>
          <p:cNvSpPr/>
          <p:nvPr/>
        </p:nvSpPr>
        <p:spPr>
          <a:xfrm>
            <a:off x="4151376" y="4297680"/>
            <a:ext cx="338328" cy="338328"/>
          </a:xfrm>
          <a:prstGeom prst="rect">
            <a:avLst/>
          </a:prstGeom>
          <a:solidFill>
            <a:schemeClr val="bg1"/>
          </a:solidFill>
          <a:ln w="6350">
            <a:solidFill>
              <a:schemeClr val="bg1"/>
            </a:solidFill>
            <a:prstDash val="solid"/>
          </a:ln>
        </p:spPr>
      </p:sp>
      <p:sp>
        <p:nvSpPr>
          <p:cNvPr id="43" name="tag_core_3_2"/>
          <p:cNvSpPr/>
          <p:nvPr/>
        </p:nvSpPr>
        <p:spPr>
          <a:xfrm>
            <a:off x="4242816" y="4389120"/>
            <a:ext cx="155448" cy="155448"/>
          </a:xfrm>
          <a:prstGeom prst="rect">
            <a:avLst/>
          </a:prstGeom>
          <a:solidFill>
            <a:schemeClr val="tx1"/>
          </a:solidFill>
          <a:ln w="6350">
            <a:solidFill>
              <a:schemeClr val="tx1"/>
            </a:solidFill>
            <a:prstDash val="solid"/>
          </a:ln>
        </p:spPr>
      </p:sp>
      <p:sp>
        <p:nvSpPr>
          <p:cNvPr id="44" name="pitch_dim"/>
          <p:cNvSpPr/>
          <p:nvPr/>
        </p:nvSpPr>
        <p:spPr>
          <a:xfrm>
            <a:off x="1714500" y="2267712"/>
            <a:ext cx="868680" cy="0"/>
          </a:xfrm>
          <a:prstGeom prst="line">
            <a:avLst/>
          </a:prstGeom>
          <a:noFill/>
          <a:ln w="12700">
            <a:solidFill>
              <a:schemeClr val="tx1"/>
            </a:solidFill>
            <a:prstDash val="solid"/>
            <a:headEnd type="triangle"/>
            <a:tailEnd type="triangle"/>
          </a:ln>
        </p:spPr>
      </p:sp>
      <p:sp>
        <p:nvSpPr>
          <p:cNvPr id="45" name="Text 43"/>
          <p:cNvSpPr txBox="1"/>
          <p:nvPr/>
        </p:nvSpPr>
        <p:spPr>
          <a:xfrm>
            <a:off x="2674620" y="2139696"/>
            <a:ext cx="146304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250 mm pitch</a:t>
            </a:r>
            <a:endParaRPr lang="en-US" sz="1200" dirty="0"/>
          </a:p>
        </p:txBody>
      </p:sp>
      <p:sp>
        <p:nvSpPr>
          <p:cNvPr id="46" name="Text 44"/>
          <p:cNvSpPr txBox="1"/>
          <p:nvPr/>
        </p:nvSpPr>
        <p:spPr>
          <a:xfrm>
            <a:off x="3520440" y="4983480"/>
            <a:ext cx="146304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 2 tags in view</a:t>
            </a:r>
            <a:endParaRPr lang="en-US" sz="1200" dirty="0"/>
          </a:p>
        </p:txBody>
      </p:sp>
      <p:sp>
        <p:nvSpPr>
          <p:cNvPr id="47" name="big_number"/>
          <p:cNvSpPr txBox="1"/>
          <p:nvPr/>
        </p:nvSpPr>
        <p:spPr>
          <a:xfrm>
            <a:off x="777240" y="5349240"/>
            <a:ext cx="4480560" cy="502920"/>
          </a:xfrm>
          <a:prstGeom prst="rect">
            <a:avLst/>
          </a:prstGeom>
          <a:noFill/>
          <a:ln/>
        </p:spPr>
        <p:txBody>
          <a:bodyPr wrap="square" lIns="0" tIns="0" rIns="0" bIns="0" rtlCol="0" anchor="ctr"/>
          <a:lstStyle/>
          <a:p>
            <a:pPr indent="0" marL="0">
              <a:buNone/>
            </a:pPr>
            <a:r>
              <a:rPr lang="en-US" sz="3200" b="1" dirty="0">
                <a:solidFill>
                  <a:schemeClr val="tx1"/>
                </a:solidFill>
                <a:latin typeface="Arial" pitchFamily="34" charset="0"/>
                <a:ea typeface="Arial" pitchFamily="34" charset="-122"/>
                <a:cs typeface="Arial" pitchFamily="34" charset="-120"/>
              </a:rPr>
              <a:t>6.6 mm → </a:t>
            </a:r>
            <a:pPr indent="0" marL="0">
              <a:buNone/>
            </a:pPr>
            <a:r>
              <a:rPr lang="en-US" sz="3200" b="1" dirty="0">
                <a:solidFill>
                  <a:schemeClr val="accent1"/>
                </a:solidFill>
                <a:latin typeface="Arial" pitchFamily="34" charset="0"/>
                <a:ea typeface="Arial" pitchFamily="34" charset="-122"/>
                <a:cs typeface="Arial" pitchFamily="34" charset="-120"/>
              </a:rPr>
              <a:t>0.7 mm</a:t>
            </a:r>
            <a:endParaRPr lang="en-US" sz="3200" dirty="0"/>
          </a:p>
        </p:txBody>
      </p:sp>
      <p:sp>
        <p:nvSpPr>
          <p:cNvPr id="48" name="Text 46"/>
          <p:cNvSpPr txBox="1"/>
          <p:nvPr/>
        </p:nvSpPr>
        <p:spPr>
          <a:xfrm>
            <a:off x="777240" y="5852160"/>
            <a:ext cx="4480560" cy="274320"/>
          </a:xfrm>
          <a:prstGeom prst="rect">
            <a:avLst/>
          </a:prstGeom>
          <a:noFill/>
          <a:ln/>
        </p:spPr>
        <p:txBody>
          <a:bodyPr wrap="square" lIns="0" tIns="0" rIns="0" bIns="0" rtlCol="0" anchor="t"/>
          <a:lstStyle/>
          <a:p>
            <a:pPr indent="0" marL="0">
              <a:buNone/>
            </a:pPr>
            <a:r>
              <a:rPr lang="en-US" sz="1200" dirty="0">
                <a:solidFill>
                  <a:schemeClr val="tx2"/>
                </a:solidFill>
              </a:rPr>
              <a:t>lever-arm error per frame at 0.51 m: one tag vs the four-tag board</a:t>
            </a:r>
            <a:endParaRPr lang="en-US" sz="1200" dirty="0"/>
          </a:p>
        </p:txBody>
      </p:sp>
      <p:sp>
        <p:nvSpPr>
          <p:cNvPr id="49" name="railv_line"/>
          <p:cNvSpPr/>
          <p:nvPr/>
        </p:nvSpPr>
        <p:spPr>
          <a:xfrm>
            <a:off x="5980176" y="2103120"/>
            <a:ext cx="0" cy="2560320"/>
          </a:xfrm>
          <a:prstGeom prst="line">
            <a:avLst/>
          </a:prstGeom>
          <a:noFill/>
          <a:ln w="25400">
            <a:solidFill>
              <a:schemeClr val="bg2"/>
            </a:solidFill>
            <a:prstDash val="solid"/>
          </a:ln>
        </p:spPr>
      </p:sp>
      <p:sp>
        <p:nvSpPr>
          <p:cNvPr id="5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5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5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Absolute cable lengths from vision alone.</a:t>
            </a:r>
            <a:endParaRPr lang="en-US" sz="1500" dirty="0"/>
          </a:p>
        </p:txBody>
      </p:sp>
      <p:sp>
        <p:nvSpPr>
          <p:cNvPr id="53" name="railv_sep_1"/>
          <p:cNvSpPr/>
          <p:nvPr/>
        </p:nvSpPr>
        <p:spPr>
          <a:xfrm>
            <a:off x="6236208" y="2423160"/>
            <a:ext cx="5406847" cy="0"/>
          </a:xfrm>
          <a:prstGeom prst="line">
            <a:avLst/>
          </a:prstGeom>
          <a:noFill/>
          <a:ln w="9525">
            <a:solidFill>
              <a:schemeClr val="bg2"/>
            </a:solidFill>
            <a:prstDash val="solid"/>
          </a:ln>
        </p:spPr>
      </p:sp>
      <p:sp>
        <p:nvSpPr>
          <p:cNvPr id="5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5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5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One tag errs 6.6 mm; σ &gt; 12 mm overtravel.</a:t>
            </a:r>
            <a:endParaRPr lang="en-US" sz="1500" dirty="0"/>
          </a:p>
        </p:txBody>
      </p:sp>
      <p:sp>
        <p:nvSpPr>
          <p:cNvPr id="57" name="railv_sep_2"/>
          <p:cNvSpPr/>
          <p:nvPr/>
        </p:nvSpPr>
        <p:spPr>
          <a:xfrm>
            <a:off x="6236208" y="3063240"/>
            <a:ext cx="5406847" cy="0"/>
          </a:xfrm>
          <a:prstGeom prst="line">
            <a:avLst/>
          </a:prstGeom>
          <a:noFill/>
          <a:ln w="9525">
            <a:solidFill>
              <a:schemeClr val="bg2"/>
            </a:solidFill>
            <a:prstDash val="solid"/>
          </a:ln>
        </p:spPr>
      </p:sp>
      <p:sp>
        <p:nvSpPr>
          <p:cNvPr id="58"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5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6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Margins carry safety; probe slack; drop the IMU.</a:t>
            </a:r>
            <a:endParaRPr lang="en-US" sz="1500" dirty="0"/>
          </a:p>
        </p:txBody>
      </p:sp>
      <p:sp>
        <p:nvSpPr>
          <p:cNvPr id="61" name="railv_sep_3"/>
          <p:cNvSpPr/>
          <p:nvPr/>
        </p:nvSpPr>
        <p:spPr>
          <a:xfrm>
            <a:off x="6236208" y="3703320"/>
            <a:ext cx="5406847" cy="0"/>
          </a:xfrm>
          <a:prstGeom prst="line">
            <a:avLst/>
          </a:prstGeom>
          <a:noFill/>
          <a:ln w="9525">
            <a:solidFill>
              <a:schemeClr val="bg2"/>
            </a:solidFill>
            <a:prstDash val="solid"/>
          </a:ln>
        </p:spPr>
      </p:sp>
      <p:sp>
        <p:nvSpPr>
          <p:cNvPr id="62"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6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6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Simulated: 6/6 startups; 3 of 6 reach full trust.</a:t>
            </a:r>
            <a:endParaRPr lang="en-US" sz="1500" dirty="0"/>
          </a:p>
        </p:txBody>
      </p:sp>
      <p:sp>
        <p:nvSpPr>
          <p:cNvPr id="65" name="railv_sep_4"/>
          <p:cNvSpPr/>
          <p:nvPr/>
        </p:nvSpPr>
        <p:spPr>
          <a:xfrm>
            <a:off x="6236208" y="4343400"/>
            <a:ext cx="5406847" cy="0"/>
          </a:xfrm>
          <a:prstGeom prst="line">
            <a:avLst/>
          </a:prstGeom>
          <a:noFill/>
          <a:ln w="9525">
            <a:solidFill>
              <a:schemeClr val="bg2"/>
            </a:solidFill>
            <a:prstDash val="solid"/>
          </a:ln>
        </p:spPr>
      </p:sp>
      <p:sp>
        <p:nvSpPr>
          <p:cNvPr id="66"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6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6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tilts 13–21° near corners; all simulated.</a:t>
            </a:r>
            <a:endParaRPr lang="en-US" sz="1500" dirty="0"/>
          </a:p>
        </p:txBody>
      </p:sp>
      <p:sp>
        <p:nvSpPr>
          <p:cNvPr id="6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70" name="Text 6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7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   σ</a:t>
            </a:r>
            <a:pPr indent="0" marL="0">
              <a:buNone/>
            </a:pPr>
            <a:r>
              <a:rPr lang="en-US" sz="1800" baseline="-40000" dirty="0">
                <a:solidFill>
                  <a:schemeClr val="tx1"/>
                </a:solidFill>
                <a:latin typeface="Cambria" pitchFamily="34" charset="0"/>
                <a:ea typeface="Cambria" pitchFamily="34" charset="-122"/>
                <a:cs typeface="Cambria" pitchFamily="34" charset="-120"/>
              </a:rPr>
              <a:t>N</a:t>
            </a:r>
            <a:pPr indent="0" marL="0">
              <a:buNone/>
            </a:pPr>
            <a:r>
              <a:rPr lang="en-US" sz="1800" dirty="0">
                <a:solidFill>
                  <a:schemeClr val="tx1"/>
                </a:solidFill>
                <a:latin typeface="Cambria" pitchFamily="34" charset="0"/>
                <a:ea typeface="Cambria" pitchFamily="34" charset="-122"/>
                <a:cs typeface="Cambria" pitchFamily="34" charset="-120"/>
              </a:rPr>
              <a:t> = σ / √N</a:t>
            </a:r>
            <a:endParaRPr lang="en-US" sz="1800" dirty="0"/>
          </a:p>
        </p:txBody>
      </p:sp>
      <p:sp>
        <p:nvSpPr>
          <p:cNvPr id="7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One tag: 12.9 mrad × 0.51 m = 6.6 mm. Four-tag board: 1.3 mrad × 0.51 m = 0.68 mm. 91–97 % of slack readings resolved (sim).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EVIDENCE SO FAR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Measured, calculated, simulated, planned: the test that decides the rest.</a:t>
            </a:r>
            <a:endParaRPr lang="en-US" sz="3000" dirty="0"/>
          </a:p>
        </p:txBody>
      </p:sp>
      <p:graphicFrame>
        <p:nvGraphicFramePr>
          <p:cNvPr id="17" name="evidence_table"/>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773604"/>
                <a:gridCol w="2773604"/>
                <a:gridCol w="2773604"/>
                <a:gridCol w="2773604"/>
              </a:tblGrid>
              <a:tr h="384048">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MEASURED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CALCULATED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SIMULATED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PLANNED, with pass limits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r>
              <a:tr h="2926080">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Vref cap 0.75–0.85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One motor on all four driver channels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18 V on the meter at the supply</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Buck output 5.00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fits the motor</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Logic rail 1.14 V (the fault)</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Cable statics, 32 to 4.6 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Gear stress (Lewis)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efficiency, 74 % to 37 %</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Wire drop, 0.51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Grip force per jaw</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Control system and sync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Startup calibration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Camera view vs tube length</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Jaw force, four-bar model</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Hold test: motor case below 60 °C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Station pull test, empty and full spool</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SolidWorks station study: SF 3 at 34 N, 1.5 at 68 N, ≤ 0.5 mm</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 lb, four stations, 300 mm at 50 mm/s: ≤ 2 mm per cable</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5" name="first_test_card"/>
          <p:cNvSpPr/>
          <p:nvPr/>
        </p:nvSpPr>
        <p:spPr>
          <a:xfrm>
            <a:off x="548640" y="5349240"/>
            <a:ext cx="11094415" cy="777240"/>
          </a:xfrm>
          <a:prstGeom prst="rect">
            <a:avLst/>
          </a:prstGeom>
          <a:solidFill>
            <a:schemeClr val="accent5"/>
          </a:solidFill>
          <a:ln w="19050">
            <a:solidFill>
              <a:schemeClr val="accent1"/>
            </a:solidFill>
            <a:prstDash val="solid"/>
          </a:ln>
        </p:spPr>
      </p:sp>
      <p:sp>
        <p:nvSpPr>
          <p:cNvPr id="6" name="Text 3"/>
          <p:cNvSpPr txBox="1"/>
          <p:nvPr/>
        </p:nvSpPr>
        <p:spPr>
          <a:xfrm>
            <a:off x="777240" y="5486400"/>
            <a:ext cx="274320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FIRST TEST</a:t>
            </a:r>
            <a:endParaRPr lang="en-US" sz="1100" dirty="0"/>
          </a:p>
        </p:txBody>
      </p:sp>
      <p:sp>
        <p:nvSpPr>
          <p:cNvPr id="7" name="Text 4"/>
          <p:cNvSpPr txBox="1"/>
          <p:nvPr/>
        </p:nvSpPr>
        <p:spPr>
          <a:xfrm>
            <a:off x="777240" y="5715000"/>
            <a:ext cx="10637215" cy="320040"/>
          </a:xfrm>
          <a:prstGeom prst="rect">
            <a:avLst/>
          </a:prstGeom>
          <a:noFill/>
          <a:ln/>
        </p:spPr>
        <p:txBody>
          <a:bodyPr wrap="square" lIns="0" tIns="0" rIns="0" bIns="0" rtlCol="0" anchor="ctr"/>
          <a:lstStyle/>
          <a:p>
            <a:pPr indent="0" marL="0">
              <a:buNone/>
            </a:pPr>
            <a:r>
              <a:rPr lang="en-US" sz="1600" dirty="0">
                <a:solidFill>
                  <a:schemeClr val="tx1"/>
                </a:solidFill>
              </a:rPr>
              <a:t>Luggage-scale pull at 1.06 A, empty and full spool. Under 25 N at a full spool means a 3:1 reduction.</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lIns="0" tIns="0" rIns="0" bIns="0" rtlCol="0"/>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WHAT I DELETED, WHAT I LEARNED</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lIns="0" tIns="0" rIns="0" bIns="0" rtlCol="0" anchor="t"/>
          <a:lstStyle/>
          <a:p>
            <a:pPr algn="l" indent="0" marL="0">
              <a:buNone/>
            </a:pPr>
            <a:r>
              <a:rPr lang="en-US" sz="3600" b="1" dirty="0">
                <a:solidFill>
                  <a:schemeClr val="bg1"/>
                </a:solidFill>
              </a:rPr>
              <a:t>My best decisions were deletions.</a:t>
            </a:r>
            <a:endParaRPr lang="en-US" sz="3600" dirty="0"/>
          </a:p>
        </p:txBody>
      </p:sp>
      <p:sp>
        <p:nvSpPr>
          <p:cNvPr id="4" name="Text 2"/>
          <p:cNvSpPr txBox="1"/>
          <p:nvPr/>
        </p:nvSpPr>
        <p:spPr>
          <a:xfrm>
            <a:off x="5486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DELETED</a:t>
            </a:r>
            <a:endParaRPr lang="en-US" sz="1100" dirty="0"/>
          </a:p>
        </p:txBody>
      </p:sp>
      <p:sp>
        <p:nvSpPr>
          <p:cNvPr id="5" name="Text 3"/>
          <p:cNvSpPr txBox="1"/>
          <p:nvPr/>
        </p:nvSpPr>
        <p:spPr>
          <a:xfrm>
            <a:off x="548640" y="2697480"/>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6" name="Text 4"/>
          <p:cNvSpPr txBox="1"/>
          <p:nvPr/>
        </p:nvSpPr>
        <p:spPr>
          <a:xfrm>
            <a:off x="914400" y="2697480"/>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IMU</a:t>
            </a:r>
            <a:endParaRPr lang="en-US" sz="1700" dirty="0"/>
          </a:p>
        </p:txBody>
      </p:sp>
      <p:sp>
        <p:nvSpPr>
          <p:cNvPr id="7" name="Text 5"/>
          <p:cNvSpPr txBox="1"/>
          <p:nvPr/>
        </p:nvSpPr>
        <p:spPr>
          <a:xfrm>
            <a:off x="548640" y="3172968"/>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8" name="Text 6"/>
          <p:cNvSpPr txBox="1"/>
          <p:nvPr/>
        </p:nvSpPr>
        <p:spPr>
          <a:xfrm>
            <a:off x="914400" y="3172968"/>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yaw guard</a:t>
            </a:r>
            <a:endParaRPr lang="en-US" sz="1700" dirty="0"/>
          </a:p>
        </p:txBody>
      </p:sp>
      <p:sp>
        <p:nvSpPr>
          <p:cNvPr id="9" name="Text 7"/>
          <p:cNvSpPr txBox="1"/>
          <p:nvPr/>
        </p:nvSpPr>
        <p:spPr>
          <a:xfrm>
            <a:off x="548640" y="3648456"/>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0" name="Text 8"/>
          <p:cNvSpPr txBox="1"/>
          <p:nvPr/>
        </p:nvSpPr>
        <p:spPr>
          <a:xfrm>
            <a:off x="914400" y="3648456"/>
            <a:ext cx="5120640" cy="411480"/>
          </a:xfrm>
          <a:prstGeom prst="rect">
            <a:avLst/>
          </a:prstGeom>
          <a:noFill/>
          <a:ln/>
        </p:spPr>
        <p:txBody>
          <a:bodyPr wrap="square" lIns="0" tIns="0" rIns="0" bIns="0" rtlCol="0" anchor="ctr"/>
          <a:lstStyle/>
          <a:p>
            <a:pPr indent="0" marL="0">
              <a:buNone/>
            </a:pPr>
            <a:r>
              <a:rPr lang="en-US" sz="1700" dirty="0">
                <a:solidFill>
                  <a:schemeClr val="bg1"/>
                </a:solidFill>
              </a:rPr>
              <a:t>Five fingers, now two jaws</a:t>
            </a:r>
            <a:endParaRPr lang="en-US" sz="1700" dirty="0"/>
          </a:p>
        </p:txBody>
      </p:sp>
      <p:sp>
        <p:nvSpPr>
          <p:cNvPr id="11" name="Text 9"/>
          <p:cNvSpPr txBox="1"/>
          <p:nvPr/>
        </p:nvSpPr>
        <p:spPr>
          <a:xfrm>
            <a:off x="548640" y="4123944"/>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914400" y="4123944"/>
            <a:ext cx="5120640" cy="411480"/>
          </a:xfrm>
          <a:prstGeom prst="rect">
            <a:avLst/>
          </a:prstGeom>
          <a:noFill/>
          <a:ln/>
        </p:spPr>
        <p:txBody>
          <a:bodyPr wrap="square" lIns="0" tIns="0" rIns="0" bIns="0" rtlCol="0" anchor="ctr"/>
          <a:lstStyle/>
          <a:p>
            <a:pPr indent="0" marL="0">
              <a:buNone/>
            </a:pPr>
            <a:r>
              <a:rPr lang="en-US" sz="1700" dirty="0">
                <a:solidFill>
                  <a:schemeClr val="bg1"/>
                </a:solidFill>
              </a:rPr>
              <a:t>50 mm of tube</a:t>
            </a:r>
            <a:endParaRPr lang="en-US" sz="1700" dirty="0"/>
          </a:p>
        </p:txBody>
      </p:sp>
      <p:sp>
        <p:nvSpPr>
          <p:cNvPr id="13" name="Text 11"/>
          <p:cNvSpPr txBox="1"/>
          <p:nvPr/>
        </p:nvSpPr>
        <p:spPr>
          <a:xfrm>
            <a:off x="548640" y="4599432"/>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914400" y="4599432"/>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housing block, now an open frame (−600 g)</a:t>
            </a:r>
            <a:endParaRPr lang="en-US" sz="1700" dirty="0"/>
          </a:p>
        </p:txBody>
      </p:sp>
      <p:sp>
        <p:nvSpPr>
          <p:cNvPr id="15" name="Text 13"/>
          <p:cNvSpPr txBox="1"/>
          <p:nvPr/>
        </p:nvSpPr>
        <p:spPr>
          <a:xfrm>
            <a:off x="548640" y="5074920"/>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6" name="Text 14"/>
          <p:cNvSpPr txBox="1"/>
          <p:nvPr/>
        </p:nvSpPr>
        <p:spPr>
          <a:xfrm>
            <a:off x="914400" y="5074920"/>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5 lb reserve: a 1 lb gate first</a:t>
            </a:r>
            <a:endParaRPr lang="en-US" sz="1700" dirty="0"/>
          </a:p>
        </p:txBody>
      </p:sp>
      <p:sp>
        <p:nvSpPr>
          <p:cNvPr id="17" name="Text 15"/>
          <p:cNvSpPr txBox="1"/>
          <p:nvPr/>
        </p:nvSpPr>
        <p:spPr>
          <a:xfrm>
            <a:off x="64922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THREE LESSONS</a:t>
            </a:r>
            <a:endParaRPr lang="en-US" sz="1100" dirty="0"/>
          </a:p>
        </p:txBody>
      </p:sp>
      <p:sp>
        <p:nvSpPr>
          <p:cNvPr id="18" name="Text 16"/>
          <p:cNvSpPr txBox="1"/>
          <p:nvPr/>
        </p:nvSpPr>
        <p:spPr>
          <a:xfrm>
            <a:off x="6492240" y="2697480"/>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01</a:t>
            </a:r>
            <a:endParaRPr lang="en-US" sz="2800" dirty="0"/>
          </a:p>
        </p:txBody>
      </p:sp>
      <p:sp>
        <p:nvSpPr>
          <p:cNvPr id="19" name="Text 17"/>
          <p:cNvSpPr txBox="1"/>
          <p:nvPr/>
        </p:nvSpPr>
        <p:spPr>
          <a:xfrm>
            <a:off x="7269480" y="2697480"/>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Measure before you trust a margin</a:t>
            </a:r>
            <a:endParaRPr lang="en-US" sz="1900" dirty="0"/>
          </a:p>
        </p:txBody>
      </p:sp>
      <p:sp>
        <p:nvSpPr>
          <p:cNvPr id="20" name="Text 18"/>
          <p:cNvSpPr txBox="1"/>
          <p:nvPr/>
        </p:nvSpPr>
        <p:spPr>
          <a:xfrm>
            <a:off x="7269480" y="3108960"/>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0.85 V Vref cap and the 1.14 V rail</a:t>
            </a:r>
            <a:endParaRPr lang="en-US" sz="1400" dirty="0"/>
          </a:p>
        </p:txBody>
      </p:sp>
      <p:sp>
        <p:nvSpPr>
          <p:cNvPr id="21" name="Text 19"/>
          <p:cNvSpPr txBox="1"/>
          <p:nvPr/>
        </p:nvSpPr>
        <p:spPr>
          <a:xfrm>
            <a:off x="6492240" y="3721608"/>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02</a:t>
            </a:r>
            <a:endParaRPr lang="en-US" sz="2800" dirty="0"/>
          </a:p>
        </p:txBody>
      </p:sp>
      <p:sp>
        <p:nvSpPr>
          <p:cNvPr id="22" name="Text 20"/>
          <p:cNvSpPr txBox="1"/>
          <p:nvPr/>
        </p:nvSpPr>
        <p:spPr>
          <a:xfrm>
            <a:off x="7269480" y="3721608"/>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Print the coupon before the part</a:t>
            </a:r>
            <a:endParaRPr lang="en-US" sz="1900" dirty="0"/>
          </a:p>
        </p:txBody>
      </p:sp>
      <p:sp>
        <p:nvSpPr>
          <p:cNvPr id="23" name="Text 21"/>
          <p:cNvSpPr txBox="1"/>
          <p:nvPr/>
        </p:nvSpPr>
        <p:spPr>
          <a:xfrm>
            <a:off x="7269480" y="4133088"/>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spool bore: Ø5.2 became Ø5.45</a:t>
            </a:r>
            <a:endParaRPr lang="en-US" sz="1400" dirty="0"/>
          </a:p>
        </p:txBody>
      </p:sp>
      <p:sp>
        <p:nvSpPr>
          <p:cNvPr id="24" name="Text 22"/>
          <p:cNvSpPr txBox="1"/>
          <p:nvPr/>
        </p:nvSpPr>
        <p:spPr>
          <a:xfrm>
            <a:off x="6492240" y="4745736"/>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03</a:t>
            </a:r>
            <a:endParaRPr lang="en-US" sz="2800" dirty="0"/>
          </a:p>
        </p:txBody>
      </p:sp>
      <p:sp>
        <p:nvSpPr>
          <p:cNvPr id="25" name="Text 23"/>
          <p:cNvSpPr txBox="1"/>
          <p:nvPr/>
        </p:nvSpPr>
        <p:spPr>
          <a:xfrm>
            <a:off x="7269480" y="4745736"/>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Stall is the design case</a:t>
            </a:r>
            <a:endParaRPr lang="en-US" sz="1900" dirty="0"/>
          </a:p>
        </p:txBody>
      </p:sp>
      <p:sp>
        <p:nvSpPr>
          <p:cNvPr id="26" name="Text 24"/>
          <p:cNvSpPr txBox="1"/>
          <p:nvPr/>
        </p:nvSpPr>
        <p:spPr>
          <a:xfrm>
            <a:off x="7269480" y="5157216"/>
            <a:ext cx="4373575" cy="365760"/>
          </a:xfrm>
          <a:prstGeom prst="rect">
            <a:avLst/>
          </a:prstGeom>
          <a:noFill/>
          <a:ln/>
        </p:spPr>
        <p:txBody>
          <a:bodyPr wrap="square" lIns="0" tIns="0" rIns="0" bIns="0" rtlCol="0" anchor="t"/>
          <a:lstStyle/>
          <a:p>
            <a:pPr indent="0" marL="0">
              <a:buNone/>
            </a:pPr>
            <a:r>
              <a:rPr lang="en-US" sz="1400" dirty="0">
                <a:solidFill>
                  <a:srgbClr val="A9B0B8"/>
                </a:solidFill>
              </a:rPr>
              <a:t>Gear stall and motor holding heat, not the average</a:t>
            </a:r>
            <a:endParaRPr lang="en-US" sz="1400" dirty="0"/>
          </a:p>
        </p:txBody>
      </p:sp>
      <p:sp>
        <p:nvSpPr>
          <p:cNvPr id="27" name="Text 25"/>
          <p:cNvSpPr txBox="1"/>
          <p:nvPr/>
        </p:nvSpPr>
        <p:spPr>
          <a:xfrm>
            <a:off x="548640" y="5715000"/>
            <a:ext cx="10515600" cy="365760"/>
          </a:xfrm>
          <a:prstGeom prst="rect">
            <a:avLst/>
          </a:prstGeom>
          <a:noFill/>
          <a:ln/>
        </p:spPr>
        <p:txBody>
          <a:bodyPr wrap="square" lIns="0" tIns="0" rIns="0" bIns="0" rtlCol="0" anchor="ctr"/>
          <a:lstStyle/>
          <a:p>
            <a:pPr indent="0" marL="0">
              <a:buNone/>
            </a:pPr>
            <a:r>
              <a:rPr lang="en-US" sz="1500" dirty="0">
                <a:solidFill>
                  <a:srgbClr val="A9B0B8"/>
                </a:solidFill>
              </a:rPr>
              <a:t>With half the time again: buy pulleys and couplers sooner, and build one station to test before four.</a:t>
            </a:r>
            <a:endParaRPr lang="en-US" sz="1500" dirty="0"/>
          </a:p>
        </p:txBody>
      </p:sp>
      <p:sp>
        <p:nvSpPr>
          <p:cNvPr id="28" name="Text 26"/>
          <p:cNvSpPr txBox="1"/>
          <p:nvPr/>
        </p:nvSpPr>
        <p:spPr>
          <a:xfrm>
            <a:off x="548640" y="6217920"/>
            <a:ext cx="5486400" cy="274320"/>
          </a:xfrm>
          <a:prstGeom prst="rect">
            <a:avLst/>
          </a:prstGeom>
          <a:noFill/>
          <a:ln/>
        </p:spPr>
        <p:txBody>
          <a:bodyPr wrap="square" lIns="0" tIns="0" rIns="0" bIns="0" rtlCol="0" anchor="ctr"/>
          <a:lstStyle/>
          <a:p>
            <a:pPr indent="0" marL="0">
              <a:buNone/>
            </a:pPr>
            <a:r>
              <a:rPr lang="en-US" sz="1200" dirty="0">
                <a:solidFill>
                  <a:schemeClr val="tx2"/>
                </a:solidFill>
              </a:rPr>
              <a:t>jasper_buntinx@tamu.edu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B1 · JAW KINEMATICS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Jaw force is lowest closed and over 3× higher near full open.</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6" name="Chart 0" descr=""/>
          <p:cNvGraphicFramePr/>
          <p:nvPr/>
        </p:nvGraphicFramePr>
        <p:xfrm>
          <a:off x="548640" y="1783080"/>
          <a:ext cx="7040880" cy="3017520"/>
        </p:xfrm>
        <a:graphic xmlns:a="http://schemas.openxmlformats.org/drawingml/2006/main">
          <a:graphicData uri="http://schemas.openxmlformats.org/drawingml/2006/chart">
            <c:chart xmlns:c="http://schemas.openxmlformats.org/drawingml/2006/chart" r:id="rId1"/>
          </a:graphicData>
        </a:graphic>
      </p:graphicFrame>
      <p:sp>
        <p:nvSpPr>
          <p:cNvPr id="7" name="limit_17.7 N: jeans, μ 0.3_17.7"/>
          <p:cNvSpPr/>
          <p:nvPr/>
        </p:nvSpPr>
        <p:spPr>
          <a:xfrm>
            <a:off x="1252728" y="3298479"/>
            <a:ext cx="6055157" cy="0"/>
          </a:xfrm>
          <a:prstGeom prst="line">
            <a:avLst/>
          </a:prstGeom>
          <a:noFill/>
          <a:ln w="15875">
            <a:solidFill>
              <a:schemeClr val="tx1"/>
            </a:solidFill>
            <a:prstDash val="dash"/>
          </a:ln>
        </p:spPr>
      </p:sp>
      <p:sp>
        <p:nvSpPr>
          <p:cNvPr id="8" name="limit_label_17.7 N: jeans, μ 0.3"/>
          <p:cNvSpPr txBox="1"/>
          <p:nvPr/>
        </p:nvSpPr>
        <p:spPr>
          <a:xfrm>
            <a:off x="1298448" y="3051591"/>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17.7 N: jeans, μ 0.3</a:t>
            </a:r>
            <a:endParaRPr lang="en-US" sz="1100" dirty="0"/>
          </a:p>
        </p:txBody>
      </p:sp>
      <p:sp>
        <p:nvSpPr>
          <p:cNvPr id="9" name="limit_8.9 N: 1 lb, μ 0.3_8.9"/>
          <p:cNvSpPr/>
          <p:nvPr/>
        </p:nvSpPr>
        <p:spPr>
          <a:xfrm>
            <a:off x="1252728" y="3670237"/>
            <a:ext cx="6055157" cy="0"/>
          </a:xfrm>
          <a:prstGeom prst="line">
            <a:avLst/>
          </a:prstGeom>
          <a:noFill/>
          <a:ln w="15875">
            <a:solidFill>
              <a:schemeClr val="tx1"/>
            </a:solidFill>
            <a:prstDash val="dash"/>
          </a:ln>
        </p:spPr>
      </p:sp>
      <p:sp>
        <p:nvSpPr>
          <p:cNvPr id="10" name="limit_label_8.9 N: 1 lb, μ 0.3"/>
          <p:cNvSpPr txBox="1"/>
          <p:nvPr/>
        </p:nvSpPr>
        <p:spPr>
          <a:xfrm>
            <a:off x="1298448" y="3697669"/>
            <a:ext cx="1673352"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8.9 N: 1 lb, μ 0.3</a:t>
            </a:r>
            <a:endParaRPr lang="en-US" sz="1100" dirty="0"/>
          </a:p>
        </p:txBody>
      </p:sp>
      <p:sp>
        <p:nvSpPr>
          <p:cNvPr id="11" name="Text 8"/>
          <p:cNvSpPr txBox="1"/>
          <p:nvPr/>
        </p:nvSpPr>
        <p:spPr>
          <a:xfrm>
            <a:off x="548640" y="4846320"/>
            <a:ext cx="7040880" cy="457200"/>
          </a:xfrm>
          <a:prstGeom prst="rect">
            <a:avLst/>
          </a:prstGeom>
          <a:noFill/>
          <a:ln/>
        </p:spPr>
        <p:txBody>
          <a:bodyPr wrap="square" lIns="0" tIns="0" rIns="0" bIns="0" rtlCol="0" anchor="t"/>
          <a:lstStyle/>
          <a:p>
            <a:pPr indent="0" marL="0">
              <a:buNone/>
            </a:pPr>
            <a:r>
              <a:rPr lang="en-US" sz="1100" i="1" dirty="0">
                <a:solidFill>
                  <a:schemeClr val="tx2"/>
                </a:solidFill>
              </a:rPr>
              <a:t>Near full open the four-bar nears toggle: the effective lever arm shrinks (59 mm at a 10 mm gap, 33 mm at 70 mm) and force rises. No toggle inside the stroke.</a:t>
            </a:r>
            <a:endParaRPr lang="en-US" sz="1100" dirty="0"/>
          </a:p>
        </p:txBody>
      </p:sp>
      <p:sp>
        <p:nvSpPr>
          <p:cNvPr id="12" name="stat_tile"/>
          <p:cNvSpPr/>
          <p:nvPr/>
        </p:nvSpPr>
        <p:spPr>
          <a:xfrm>
            <a:off x="7955280" y="1783080"/>
            <a:ext cx="3687775" cy="914400"/>
          </a:xfrm>
          <a:prstGeom prst="rect">
            <a:avLst/>
          </a:prstGeom>
          <a:solidFill>
            <a:schemeClr val="bg2"/>
          </a:solidFill>
          <a:ln w="6350">
            <a:solidFill>
              <a:schemeClr val="bg2"/>
            </a:solidFill>
            <a:prstDash val="solid"/>
          </a:ln>
        </p:spPr>
      </p:sp>
      <p:sp>
        <p:nvSpPr>
          <p:cNvPr id="13" name="Text 10"/>
          <p:cNvSpPr txBox="1"/>
          <p:nvPr/>
        </p:nvSpPr>
        <p:spPr>
          <a:xfrm>
            <a:off x="8138160" y="185623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76.5°</a:t>
            </a:r>
            <a:endParaRPr lang="en-US" sz="2600" dirty="0"/>
          </a:p>
        </p:txBody>
      </p:sp>
      <p:sp>
        <p:nvSpPr>
          <p:cNvPr id="14" name="Text 11"/>
          <p:cNvSpPr txBox="1"/>
          <p:nvPr/>
        </p:nvSpPr>
        <p:spPr>
          <a:xfrm>
            <a:off x="8138160" y="228600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stroke from a 153° servo (2:1)</a:t>
            </a:r>
            <a:endParaRPr lang="en-US" sz="1200" dirty="0"/>
          </a:p>
        </p:txBody>
      </p:sp>
      <p:sp>
        <p:nvSpPr>
          <p:cNvPr id="15" name="stat_tile"/>
          <p:cNvSpPr/>
          <p:nvPr/>
        </p:nvSpPr>
        <p:spPr>
          <a:xfrm>
            <a:off x="7955280" y="2834640"/>
            <a:ext cx="3687775" cy="914400"/>
          </a:xfrm>
          <a:prstGeom prst="rect">
            <a:avLst/>
          </a:prstGeom>
          <a:solidFill>
            <a:schemeClr val="bg2"/>
          </a:solidFill>
          <a:ln w="6350">
            <a:solidFill>
              <a:schemeClr val="bg2"/>
            </a:solidFill>
            <a:prstDash val="solid"/>
          </a:ln>
        </p:spPr>
      </p:sp>
      <p:sp>
        <p:nvSpPr>
          <p:cNvPr id="16" name="Text 13"/>
          <p:cNvSpPr txBox="1"/>
          <p:nvPr/>
        </p:nvSpPr>
        <p:spPr>
          <a:xfrm>
            <a:off x="8138160" y="290779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91.6 mm</a:t>
            </a:r>
            <a:endParaRPr lang="en-US" sz="2600" dirty="0"/>
          </a:p>
        </p:txBody>
      </p:sp>
      <p:sp>
        <p:nvSpPr>
          <p:cNvPr id="17" name="Text 14"/>
          <p:cNvSpPr txBox="1"/>
          <p:nvPr/>
        </p:nvSpPr>
        <p:spPr>
          <a:xfrm>
            <a:off x="8138160" y="3337560"/>
            <a:ext cx="3322015" cy="365760"/>
          </a:xfrm>
          <a:prstGeom prst="rect">
            <a:avLst/>
          </a:prstGeom>
          <a:noFill/>
          <a:ln/>
        </p:spPr>
        <p:txBody>
          <a:bodyPr wrap="square" lIns="0" tIns="0" rIns="0" bIns="0" rtlCol="0" anchor="t"/>
          <a:lstStyle/>
          <a:p>
            <a:pPr indent="0" marL="0">
              <a:buNone/>
            </a:pPr>
            <a:r>
              <a:rPr lang="en-US" sz="1200" dirty="0">
                <a:solidFill>
                  <a:schemeClr val="tx2"/>
                </a:solidFill>
              </a:rPr>
              <a:t>open gap, closed gap 0.000 mm</a:t>
            </a:r>
            <a:endParaRPr lang="en-US" sz="1200" dirty="0"/>
          </a:p>
        </p:txBody>
      </p:sp>
      <p:sp>
        <p:nvSpPr>
          <p:cNvPr id="18" name="stat_tile"/>
          <p:cNvSpPr/>
          <p:nvPr/>
        </p:nvSpPr>
        <p:spPr>
          <a:xfrm>
            <a:off x="7955280" y="3886200"/>
            <a:ext cx="3687775" cy="914400"/>
          </a:xfrm>
          <a:prstGeom prst="rect">
            <a:avLst/>
          </a:prstGeom>
          <a:solidFill>
            <a:schemeClr val="bg2"/>
          </a:solidFill>
          <a:ln w="6350">
            <a:solidFill>
              <a:schemeClr val="bg2"/>
            </a:solidFill>
            <a:prstDash val="solid"/>
          </a:ln>
        </p:spPr>
      </p:sp>
      <p:sp>
        <p:nvSpPr>
          <p:cNvPr id="19" name="Text 16"/>
          <p:cNvSpPr txBox="1"/>
          <p:nvPr/>
        </p:nvSpPr>
        <p:spPr>
          <a:xfrm>
            <a:off x="8138160" y="395935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0.83 N·m</a:t>
            </a:r>
            <a:endParaRPr lang="en-US" sz="2600" dirty="0"/>
          </a:p>
        </p:txBody>
      </p:sp>
      <p:sp>
        <p:nvSpPr>
          <p:cNvPr id="20" name="Text 17"/>
          <p:cNvSpPr txBox="1"/>
          <p:nvPr/>
        </p:nvSpPr>
        <p:spPr>
          <a:xfrm>
            <a:off x="8138160" y="438912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torque at 4.8 V stall</a:t>
            </a:r>
            <a:endParaRPr lang="en-US" sz="1200" dirty="0"/>
          </a:p>
        </p:txBody>
      </p:sp>
      <p:sp>
        <p:nvSpPr>
          <p:cNvPr id="21" name="fund_box"/>
          <p:cNvSpPr/>
          <p:nvPr/>
        </p:nvSpPr>
        <p:spPr>
          <a:xfrm>
            <a:off x="548640" y="5349240"/>
            <a:ext cx="11094415" cy="914400"/>
          </a:xfrm>
          <a:prstGeom prst="rect">
            <a:avLst/>
          </a:prstGeom>
          <a:solidFill>
            <a:schemeClr val="bg2"/>
          </a:solidFill>
          <a:ln w="6350">
            <a:solidFill>
              <a:schemeClr val="bg2"/>
            </a:solidFill>
            <a:prstDash val="solid"/>
          </a:ln>
        </p:spPr>
      </p:sp>
      <p:sp>
        <p:nvSpPr>
          <p:cNvPr id="22" name="Text 19"/>
          <p:cNvSpPr txBox="1"/>
          <p:nvPr/>
        </p:nvSpPr>
        <p:spPr>
          <a:xfrm>
            <a:off x="731520" y="54406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23" name="fund_eq"/>
          <p:cNvSpPr txBox="1"/>
          <p:nvPr/>
        </p:nvSpPr>
        <p:spPr>
          <a:xfrm>
            <a:off x="731520" y="562356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F</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eff</a:t>
            </a:r>
            <a:pPr indent="0" marL="0">
              <a:buNone/>
            </a:pPr>
            <a:r>
              <a:rPr lang="en-US" sz="1600" dirty="0">
                <a:solidFill>
                  <a:schemeClr val="tx1"/>
                </a:solidFill>
                <a:latin typeface="Cambria" pitchFamily="34" charset="0"/>
                <a:ea typeface="Cambria" pitchFamily="34" charset="-122"/>
                <a:cs typeface="Cambria" pitchFamily="34" charset="-120"/>
              </a:rPr>
              <a:t>;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N·τ</a:t>
            </a:r>
            <a:pPr indent="0" marL="0">
              <a:buNone/>
            </a:pPr>
            <a:r>
              <a:rPr lang="en-US" sz="1600" baseline="-40000" dirty="0">
                <a:solidFill>
                  <a:schemeClr val="tx1"/>
                </a:solidFill>
                <a:latin typeface="Cambria" pitchFamily="34" charset="0"/>
                <a:ea typeface="Cambria" pitchFamily="34" charset="-122"/>
                <a:cs typeface="Cambria" pitchFamily="34" charset="-120"/>
              </a:rPr>
              <a:t>in</a:t>
            </a:r>
            <a:pPr indent="0" marL="0">
              <a:buNone/>
            </a:pPr>
            <a:r>
              <a:rPr lang="en-US" sz="1600" dirty="0">
                <a:solidFill>
                  <a:schemeClr val="tx1"/>
                </a:solidFill>
                <a:latin typeface="Cambria" pitchFamily="34" charset="0"/>
                <a:ea typeface="Cambria" pitchFamily="34" charset="-122"/>
                <a:cs typeface="Cambria" pitchFamily="34" charset="-120"/>
              </a:rPr>
              <a:t>·η² / 2</a:t>
            </a:r>
            <a:endParaRPr lang="en-US" sz="1600" dirty="0"/>
          </a:p>
        </p:txBody>
      </p:sp>
      <p:sp>
        <p:nvSpPr>
          <p:cNvPr id="24" name="fund_sub"/>
          <p:cNvSpPr txBox="1"/>
          <p:nvPr/>
        </p:nvSpPr>
        <p:spPr>
          <a:xfrm>
            <a:off x="731520" y="6007608"/>
            <a:ext cx="10728655" cy="2011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τ</a:t>
            </a:r>
            <a:pPr indent="0" marL="0">
              <a:buNone/>
            </a:pPr>
            <a:r>
              <a:rPr lang="en-US" sz="1300" baseline="-40000" dirty="0">
                <a:solidFill>
                  <a:schemeClr val="tx1"/>
                </a:solidFill>
                <a:latin typeface="Cambria" pitchFamily="34" charset="0"/>
                <a:ea typeface="Cambria" pitchFamily="34" charset="-122"/>
                <a:cs typeface="Cambria" pitchFamily="34" charset="-120"/>
              </a:rPr>
              <a:t>jaw</a:t>
            </a:r>
            <a:pPr indent="0" marL="0">
              <a:buNone/>
            </a:pPr>
            <a:r>
              <a:rPr lang="en-US" sz="1300" dirty="0">
                <a:solidFill>
                  <a:schemeClr val="tx1"/>
                </a:solidFill>
                <a:latin typeface="Cambria" pitchFamily="34" charset="0"/>
                <a:ea typeface="Cambria" pitchFamily="34" charset="-122"/>
                <a:cs typeface="Cambria" pitchFamily="34" charset="-120"/>
              </a:rPr>
              <a:t> = 2 × 0.922 N·m × 0.95² / 2 = 0.83 N·m. r</a:t>
            </a:r>
            <a:pPr indent="0" marL="0">
              <a:buNone/>
            </a:pPr>
            <a:r>
              <a:rPr lang="en-US" sz="1300" baseline="-40000" dirty="0">
                <a:solidFill>
                  <a:schemeClr val="tx1"/>
                </a:solidFill>
                <a:latin typeface="Cambria" pitchFamily="34" charset="0"/>
                <a:ea typeface="Cambria" pitchFamily="34" charset="-122"/>
                <a:cs typeface="Cambria" pitchFamily="34" charset="-120"/>
              </a:rPr>
              <a:t>eff</a:t>
            </a:r>
            <a:pPr indent="0" marL="0">
              <a:buNone/>
            </a:pPr>
            <a:r>
              <a:rPr lang="en-US" sz="1300" dirty="0">
                <a:solidFill>
                  <a:schemeClr val="tx1"/>
                </a:solidFill>
                <a:latin typeface="Cambria" pitchFamily="34" charset="0"/>
                <a:ea typeface="Cambria" pitchFamily="34" charset="-122"/>
                <a:cs typeface="Cambria" pitchFamily="34" charset="-120"/>
              </a:rPr>
              <a:t> = 59, 48, 33 mm at 10, 40, 70 mm gap, so F = 14.1, 17.2, 25.0 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B2 · CONTROL ARCHITECTURE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host plans; each station executes, and stop never disables.</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host_box"/>
          <p:cNvSpPr/>
          <p:nvPr/>
        </p:nvSpPr>
        <p:spPr>
          <a:xfrm>
            <a:off x="548640" y="1874520"/>
            <a:ext cx="2286000" cy="2148840"/>
          </a:xfrm>
          <a:prstGeom prst="rect">
            <a:avLst/>
          </a:prstGeom>
          <a:solidFill>
            <a:schemeClr val="tx1"/>
          </a:solidFill>
          <a:ln w="6350">
            <a:solidFill>
              <a:schemeClr val="tx1"/>
            </a:solidFill>
            <a:prstDash val="solid"/>
          </a:ln>
        </p:spPr>
      </p:sp>
      <p:sp>
        <p:nvSpPr>
          <p:cNvPr id="6" name="Text 4"/>
          <p:cNvSpPr txBox="1"/>
          <p:nvPr/>
        </p:nvSpPr>
        <p:spPr>
          <a:xfrm>
            <a:off x="777240" y="2057400"/>
            <a:ext cx="1828800" cy="228600"/>
          </a:xfrm>
          <a:prstGeom prst="rect">
            <a:avLst/>
          </a:prstGeom>
          <a:noFill/>
          <a:ln/>
        </p:spPr>
        <p:txBody>
          <a:bodyPr wrap="square" lIns="0" tIns="0" rIns="0" bIns="0" rtlCol="0" anchor="ctr"/>
          <a:lstStyle/>
          <a:p>
            <a:pPr indent="0" marL="0">
              <a:buNone/>
            </a:pPr>
            <a:r>
              <a:rPr lang="en-US" sz="1100" b="1" spc="150" kern="0" dirty="0">
                <a:solidFill>
                  <a:srgbClr val="A9B0B8"/>
                </a:solidFill>
                <a:latin typeface="Arial" pitchFamily="34" charset="0"/>
                <a:ea typeface="Arial" pitchFamily="34" charset="-122"/>
                <a:cs typeface="Arial" pitchFamily="34" charset="-120"/>
              </a:rPr>
              <a:t>HOST</a:t>
            </a:r>
            <a:endParaRPr lang="en-US" sz="1100" dirty="0"/>
          </a:p>
        </p:txBody>
      </p:sp>
      <p:sp>
        <p:nvSpPr>
          <p:cNvPr id="7" name="Text 5"/>
          <p:cNvSpPr txBox="1"/>
          <p:nvPr/>
        </p:nvSpPr>
        <p:spPr>
          <a:xfrm>
            <a:off x="777240" y="2377440"/>
            <a:ext cx="1828800" cy="457200"/>
          </a:xfrm>
          <a:prstGeom prst="rect">
            <a:avLst/>
          </a:prstGeom>
          <a:noFill/>
          <a:ln/>
        </p:spPr>
        <p:txBody>
          <a:bodyPr wrap="square" lIns="0" tIns="0" rIns="0" bIns="0" rtlCol="0" anchor="ctr"/>
          <a:lstStyle/>
          <a:p>
            <a:pPr indent="0" marL="0">
              <a:buNone/>
            </a:pPr>
            <a:r>
              <a:rPr lang="en-US" sz="2400" b="1" dirty="0">
                <a:solidFill>
                  <a:schemeClr val="bg1"/>
                </a:solidFill>
                <a:latin typeface="Arial" pitchFamily="34" charset="0"/>
                <a:ea typeface="Arial" pitchFamily="34" charset="-122"/>
                <a:cs typeface="Arial" pitchFamily="34" charset="-120"/>
              </a:rPr>
              <a:t>Planner</a:t>
            </a:r>
            <a:endParaRPr lang="en-US" sz="2400" dirty="0"/>
          </a:p>
        </p:txBody>
      </p:sp>
      <p:sp>
        <p:nvSpPr>
          <p:cNvPr id="8" name="Text 6"/>
          <p:cNvSpPr txBox="1"/>
          <p:nvPr/>
        </p:nvSpPr>
        <p:spPr>
          <a:xfrm>
            <a:off x="777240" y="2926080"/>
            <a:ext cx="1828800" cy="822960"/>
          </a:xfrm>
          <a:prstGeom prst="rect">
            <a:avLst/>
          </a:prstGeom>
          <a:noFill/>
          <a:ln/>
        </p:spPr>
        <p:txBody>
          <a:bodyPr wrap="square" lIns="0" tIns="0" rIns="0" bIns="0" rtlCol="0" anchor="t"/>
          <a:lstStyle/>
          <a:p>
            <a:pPr indent="0" marL="0">
              <a:buNone/>
            </a:pPr>
            <a:r>
              <a:rPr lang="en-US" sz="1400" dirty="0">
                <a:solidFill>
                  <a:srgbClr val="A9B0B8"/>
                </a:solidFill>
              </a:rPr>
              <a:t>Plans the path and sends timed segments</a:t>
            </a:r>
            <a:endParaRPr lang="en-US" sz="1400" dirty="0"/>
          </a:p>
        </p:txBody>
      </p:sp>
      <p:sp>
        <p:nvSpPr>
          <p:cNvPr id="9" name="arrow_segments"/>
          <p:cNvSpPr/>
          <p:nvPr/>
        </p:nvSpPr>
        <p:spPr>
          <a:xfrm>
            <a:off x="2834640" y="2953512"/>
            <a:ext cx="1051560" cy="0"/>
          </a:xfrm>
          <a:prstGeom prst="line">
            <a:avLst/>
          </a:prstGeom>
          <a:noFill/>
          <a:ln w="19050">
            <a:solidFill>
              <a:schemeClr val="tx1"/>
            </a:solidFill>
            <a:prstDash val="solid"/>
            <a:tailEnd type="triangle"/>
          </a:ln>
        </p:spPr>
      </p:sp>
      <p:sp>
        <p:nvSpPr>
          <p:cNvPr id="10" name="Text 8"/>
          <p:cNvSpPr txBox="1"/>
          <p:nvPr/>
        </p:nvSpPr>
        <p:spPr>
          <a:xfrm>
            <a:off x="2880360" y="2423160"/>
            <a:ext cx="960120" cy="457200"/>
          </a:xfrm>
          <a:prstGeom prst="rect">
            <a:avLst/>
          </a:prstGeom>
          <a:noFill/>
          <a:ln/>
        </p:spPr>
        <p:txBody>
          <a:bodyPr wrap="square" lIns="0" tIns="0" rIns="0" bIns="0" rtlCol="0" anchor="ctr"/>
          <a:lstStyle/>
          <a:p>
            <a:pPr algn="ctr" indent="0" marL="0">
              <a:buNone/>
            </a:pPr>
            <a:r>
              <a:rPr lang="en-US" sz="1100" b="1" dirty="0">
                <a:solidFill>
                  <a:schemeClr val="tx2"/>
                </a:solidFill>
                <a:latin typeface="Arial" pitchFamily="34" charset="0"/>
                <a:ea typeface="Arial" pitchFamily="34" charset="-122"/>
                <a:cs typeface="Arial" pitchFamily="34" charset="-120"/>
              </a:rPr>
              <a:t>timed</a:t>
            </a:r>
            <a:endParaRPr lang="en-US" sz="1100" dirty="0"/>
          </a:p>
          <a:p>
            <a:pPr algn="ctr" indent="0" marL="0">
              <a:buNone/>
            </a:pPr>
            <a:r>
              <a:rPr lang="en-US" sz="1100" b="1" dirty="0">
                <a:solidFill>
                  <a:schemeClr val="tx2"/>
                </a:solidFill>
                <a:latin typeface="Arial" pitchFamily="34" charset="0"/>
                <a:ea typeface="Arial" pitchFamily="34" charset="-122"/>
                <a:cs typeface="Arial" pitchFamily="34" charset="-120"/>
              </a:rPr>
              <a:t>segments</a:t>
            </a:r>
            <a:endParaRPr lang="en-US" sz="1100" dirty="0"/>
          </a:p>
        </p:txBody>
      </p:sp>
      <p:sp>
        <p:nvSpPr>
          <p:cNvPr id="11" name="station_1"/>
          <p:cNvSpPr/>
          <p:nvPr/>
        </p:nvSpPr>
        <p:spPr>
          <a:xfrm>
            <a:off x="4023360" y="1874520"/>
            <a:ext cx="1965960" cy="1005840"/>
          </a:xfrm>
          <a:prstGeom prst="rect">
            <a:avLst/>
          </a:prstGeom>
          <a:solidFill>
            <a:schemeClr val="bg2"/>
          </a:solidFill>
          <a:ln w="6350">
            <a:solidFill>
              <a:schemeClr val="bg2"/>
            </a:solidFill>
            <a:prstDash val="solid"/>
          </a:ln>
        </p:spPr>
      </p:sp>
      <p:sp>
        <p:nvSpPr>
          <p:cNvPr id="12" name="Text 10"/>
          <p:cNvSpPr txBox="1"/>
          <p:nvPr/>
        </p:nvSpPr>
        <p:spPr>
          <a:xfrm>
            <a:off x="420624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1</a:t>
            </a:r>
            <a:endParaRPr lang="en-US" sz="1100" dirty="0"/>
          </a:p>
        </p:txBody>
      </p:sp>
      <p:sp>
        <p:nvSpPr>
          <p:cNvPr id="13" name="Text 11"/>
          <p:cNvSpPr txBox="1"/>
          <p:nvPr/>
        </p:nvSpPr>
        <p:spPr>
          <a:xfrm>
            <a:off x="420624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4" name="Text 12"/>
          <p:cNvSpPr txBox="1"/>
          <p:nvPr/>
        </p:nvSpPr>
        <p:spPr>
          <a:xfrm>
            <a:off x="420624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5" name="station_2"/>
          <p:cNvSpPr/>
          <p:nvPr/>
        </p:nvSpPr>
        <p:spPr>
          <a:xfrm>
            <a:off x="6172200" y="1874520"/>
            <a:ext cx="1965960" cy="1005840"/>
          </a:xfrm>
          <a:prstGeom prst="rect">
            <a:avLst/>
          </a:prstGeom>
          <a:solidFill>
            <a:schemeClr val="bg2"/>
          </a:solidFill>
          <a:ln w="6350">
            <a:solidFill>
              <a:schemeClr val="bg2"/>
            </a:solidFill>
            <a:prstDash val="solid"/>
          </a:ln>
        </p:spPr>
      </p:sp>
      <p:sp>
        <p:nvSpPr>
          <p:cNvPr id="16" name="Text 14"/>
          <p:cNvSpPr txBox="1"/>
          <p:nvPr/>
        </p:nvSpPr>
        <p:spPr>
          <a:xfrm>
            <a:off x="635508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2</a:t>
            </a:r>
            <a:endParaRPr lang="en-US" sz="1100" dirty="0"/>
          </a:p>
        </p:txBody>
      </p:sp>
      <p:sp>
        <p:nvSpPr>
          <p:cNvPr id="17" name="Text 15"/>
          <p:cNvSpPr txBox="1"/>
          <p:nvPr/>
        </p:nvSpPr>
        <p:spPr>
          <a:xfrm>
            <a:off x="635508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8" name="Text 16"/>
          <p:cNvSpPr txBox="1"/>
          <p:nvPr/>
        </p:nvSpPr>
        <p:spPr>
          <a:xfrm>
            <a:off x="635508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9" name="station_3"/>
          <p:cNvSpPr/>
          <p:nvPr/>
        </p:nvSpPr>
        <p:spPr>
          <a:xfrm>
            <a:off x="4023360" y="3063240"/>
            <a:ext cx="1965960" cy="1005840"/>
          </a:xfrm>
          <a:prstGeom prst="rect">
            <a:avLst/>
          </a:prstGeom>
          <a:solidFill>
            <a:schemeClr val="bg2"/>
          </a:solidFill>
          <a:ln w="6350">
            <a:solidFill>
              <a:schemeClr val="bg2"/>
            </a:solidFill>
            <a:prstDash val="solid"/>
          </a:ln>
        </p:spPr>
      </p:sp>
      <p:sp>
        <p:nvSpPr>
          <p:cNvPr id="20" name="Text 18"/>
          <p:cNvSpPr txBox="1"/>
          <p:nvPr/>
        </p:nvSpPr>
        <p:spPr>
          <a:xfrm>
            <a:off x="420624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3</a:t>
            </a:r>
            <a:endParaRPr lang="en-US" sz="1100" dirty="0"/>
          </a:p>
        </p:txBody>
      </p:sp>
      <p:sp>
        <p:nvSpPr>
          <p:cNvPr id="21" name="Text 19"/>
          <p:cNvSpPr txBox="1"/>
          <p:nvPr/>
        </p:nvSpPr>
        <p:spPr>
          <a:xfrm>
            <a:off x="420624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2" name="Text 20"/>
          <p:cNvSpPr txBox="1"/>
          <p:nvPr/>
        </p:nvSpPr>
        <p:spPr>
          <a:xfrm>
            <a:off x="420624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3" name="station_4"/>
          <p:cNvSpPr/>
          <p:nvPr/>
        </p:nvSpPr>
        <p:spPr>
          <a:xfrm>
            <a:off x="6172200" y="3063240"/>
            <a:ext cx="1965960" cy="1005840"/>
          </a:xfrm>
          <a:prstGeom prst="rect">
            <a:avLst/>
          </a:prstGeom>
          <a:solidFill>
            <a:schemeClr val="bg2"/>
          </a:solidFill>
          <a:ln w="6350">
            <a:solidFill>
              <a:schemeClr val="bg2"/>
            </a:solidFill>
            <a:prstDash val="solid"/>
          </a:ln>
        </p:spPr>
      </p:sp>
      <p:sp>
        <p:nvSpPr>
          <p:cNvPr id="24" name="Text 22"/>
          <p:cNvSpPr txBox="1"/>
          <p:nvPr/>
        </p:nvSpPr>
        <p:spPr>
          <a:xfrm>
            <a:off x="635508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4</a:t>
            </a:r>
            <a:endParaRPr lang="en-US" sz="1100" dirty="0"/>
          </a:p>
        </p:txBody>
      </p:sp>
      <p:sp>
        <p:nvSpPr>
          <p:cNvPr id="25" name="Text 23"/>
          <p:cNvSpPr txBox="1"/>
          <p:nvPr/>
        </p:nvSpPr>
        <p:spPr>
          <a:xfrm>
            <a:off x="635508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6" name="Text 24"/>
          <p:cNvSpPr txBox="1"/>
          <p:nvPr/>
        </p:nvSpPr>
        <p:spPr>
          <a:xfrm>
            <a:off x="635508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7" name="stat_tile"/>
          <p:cNvSpPr/>
          <p:nvPr/>
        </p:nvSpPr>
        <p:spPr>
          <a:xfrm>
            <a:off x="8686800" y="1874520"/>
            <a:ext cx="2956255" cy="1005840"/>
          </a:xfrm>
          <a:prstGeom prst="rect">
            <a:avLst/>
          </a:prstGeom>
          <a:solidFill>
            <a:schemeClr val="bg2"/>
          </a:solidFill>
          <a:ln w="6350">
            <a:solidFill>
              <a:schemeClr val="bg2"/>
            </a:solidFill>
            <a:prstDash val="solid"/>
          </a:ln>
        </p:spPr>
      </p:sp>
      <p:sp>
        <p:nvSpPr>
          <p:cNvPr id="28" name="Text 26"/>
          <p:cNvSpPr txBox="1"/>
          <p:nvPr/>
        </p:nvSpPr>
        <p:spPr>
          <a:xfrm>
            <a:off x="8869680" y="1947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 18 ms</a:t>
            </a:r>
            <a:endParaRPr lang="en-US" sz="2600" dirty="0"/>
          </a:p>
        </p:txBody>
      </p:sp>
      <p:sp>
        <p:nvSpPr>
          <p:cNvPr id="29" name="Text 27"/>
          <p:cNvSpPr txBox="1"/>
          <p:nvPr/>
        </p:nvSpPr>
        <p:spPr>
          <a:xfrm>
            <a:off x="8869680" y="2427732"/>
            <a:ext cx="2590495" cy="402336"/>
          </a:xfrm>
          <a:prstGeom prst="rect">
            <a:avLst/>
          </a:prstGeom>
          <a:noFill/>
          <a:ln/>
        </p:spPr>
        <p:txBody>
          <a:bodyPr wrap="square" lIns="0" tIns="0" rIns="0" bIns="0" rtlCol="0" anchor="t"/>
          <a:lstStyle/>
          <a:p>
            <a:pPr indent="0" marL="0">
              <a:buNone/>
            </a:pPr>
            <a:r>
              <a:rPr lang="en-US" sz="1200" dirty="0">
                <a:solidFill>
                  <a:schemeClr val="tx2"/>
                </a:solidFill>
              </a:rPr>
              <a:t>stop spread across stations (simulated)</a:t>
            </a:r>
            <a:endParaRPr lang="en-US" sz="1200" dirty="0"/>
          </a:p>
        </p:txBody>
      </p:sp>
      <p:sp>
        <p:nvSpPr>
          <p:cNvPr id="30" name="stat_tile"/>
          <p:cNvSpPr/>
          <p:nvPr/>
        </p:nvSpPr>
        <p:spPr>
          <a:xfrm>
            <a:off x="8686800" y="3017520"/>
            <a:ext cx="2956255" cy="1005840"/>
          </a:xfrm>
          <a:prstGeom prst="rect">
            <a:avLst/>
          </a:prstGeom>
          <a:solidFill>
            <a:schemeClr val="bg2"/>
          </a:solidFill>
          <a:ln w="6350">
            <a:solidFill>
              <a:schemeClr val="bg2"/>
            </a:solidFill>
            <a:prstDash val="solid"/>
          </a:ln>
        </p:spPr>
      </p:sp>
      <p:sp>
        <p:nvSpPr>
          <p:cNvPr id="31" name="Text 29"/>
          <p:cNvSpPr txBox="1"/>
          <p:nvPr/>
        </p:nvSpPr>
        <p:spPr>
          <a:xfrm>
            <a:off x="8869680" y="3090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10 / 10</a:t>
            </a:r>
            <a:endParaRPr lang="en-US" sz="2600" dirty="0"/>
          </a:p>
        </p:txBody>
      </p:sp>
      <p:sp>
        <p:nvSpPr>
          <p:cNvPr id="32" name="Text 30"/>
          <p:cNvSpPr txBox="1"/>
          <p:nvPr/>
        </p:nvSpPr>
        <p:spPr>
          <a:xfrm>
            <a:off x="8869680" y="3570732"/>
            <a:ext cx="2590495" cy="402336"/>
          </a:xfrm>
          <a:prstGeom prst="rect">
            <a:avLst/>
          </a:prstGeom>
          <a:noFill/>
          <a:ln/>
        </p:spPr>
        <p:txBody>
          <a:bodyPr wrap="square" lIns="0" tIns="0" rIns="0" bIns="0" rtlCol="0" anchor="t"/>
          <a:lstStyle/>
          <a:p>
            <a:pPr indent="0" marL="0">
              <a:buNone/>
            </a:pPr>
            <a:r>
              <a:rPr lang="en-US" sz="1200" dirty="0">
                <a:solidFill>
                  <a:schemeClr val="tx2"/>
                </a:solidFill>
              </a:rPr>
              <a:t>lossy motions completed at 2–5 % packet loss (sim)</a:t>
            </a:r>
            <a:endParaRPr lang="en-US" sz="1200" dirty="0"/>
          </a:p>
        </p:txBody>
      </p:sp>
      <p:sp>
        <p:nvSpPr>
          <p:cNvPr id="33" name="rule_card_1"/>
          <p:cNvSpPr/>
          <p:nvPr/>
        </p:nvSpPr>
        <p:spPr>
          <a:xfrm>
            <a:off x="548640" y="4526280"/>
            <a:ext cx="3545738" cy="1463040"/>
          </a:xfrm>
          <a:prstGeom prst="rect">
            <a:avLst/>
          </a:prstGeom>
          <a:solidFill>
            <a:schemeClr val="bg2"/>
          </a:solidFill>
          <a:ln w="6350">
            <a:solidFill>
              <a:schemeClr val="bg2"/>
            </a:solidFill>
            <a:prstDash val="solid"/>
          </a:ln>
        </p:spPr>
      </p:sp>
      <p:sp>
        <p:nvSpPr>
          <p:cNvPr id="34" name="Text 32"/>
          <p:cNvSpPr txBox="1"/>
          <p:nvPr/>
        </p:nvSpPr>
        <p:spPr>
          <a:xfrm>
            <a:off x="777240"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Feed-hold in path time</a:t>
            </a:r>
            <a:endParaRPr lang="en-US" sz="1800" dirty="0"/>
          </a:p>
        </p:txBody>
      </p:sp>
      <p:sp>
        <p:nvSpPr>
          <p:cNvPr id="35" name="Text 33"/>
          <p:cNvSpPr txBox="1"/>
          <p:nvPr/>
        </p:nvSpPr>
        <p:spPr>
          <a:xfrm>
            <a:off x="777240"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All four stations ramp to zero along the same geometric path.</a:t>
            </a:r>
            <a:endParaRPr lang="en-US" sz="1500" dirty="0"/>
          </a:p>
        </p:txBody>
      </p:sp>
      <p:sp>
        <p:nvSpPr>
          <p:cNvPr id="36" name="rule_card_2"/>
          <p:cNvSpPr/>
          <p:nvPr/>
        </p:nvSpPr>
        <p:spPr>
          <a:xfrm>
            <a:off x="4322978" y="4526280"/>
            <a:ext cx="3545738" cy="1463040"/>
          </a:xfrm>
          <a:prstGeom prst="rect">
            <a:avLst/>
          </a:prstGeom>
          <a:solidFill>
            <a:schemeClr val="bg2"/>
          </a:solidFill>
          <a:ln w="6350">
            <a:solidFill>
              <a:schemeClr val="bg2"/>
            </a:solidFill>
            <a:prstDash val="solid"/>
          </a:ln>
        </p:spPr>
      </p:sp>
      <p:sp>
        <p:nvSpPr>
          <p:cNvPr id="37" name="Text 35"/>
          <p:cNvSpPr txBox="1"/>
          <p:nvPr/>
        </p:nvSpPr>
        <p:spPr>
          <a:xfrm>
            <a:off x="4551578"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Lease</a:t>
            </a:r>
            <a:endParaRPr lang="en-US" sz="1800" dirty="0"/>
          </a:p>
        </p:txBody>
      </p:sp>
      <p:sp>
        <p:nvSpPr>
          <p:cNvPr id="38" name="Text 36"/>
          <p:cNvSpPr txBox="1"/>
          <p:nvPr/>
        </p:nvSpPr>
        <p:spPr>
          <a:xfrm>
            <a:off x="4551578"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No valid host message in time: the station holds and tells its peers.</a:t>
            </a:r>
            <a:endParaRPr lang="en-US" sz="1500" dirty="0"/>
          </a:p>
        </p:txBody>
      </p:sp>
      <p:sp>
        <p:nvSpPr>
          <p:cNvPr id="39" name="rule_card_3"/>
          <p:cNvSpPr/>
          <p:nvPr/>
        </p:nvSpPr>
        <p:spPr>
          <a:xfrm>
            <a:off x="8097317" y="4526280"/>
            <a:ext cx="3545738" cy="1463040"/>
          </a:xfrm>
          <a:prstGeom prst="rect">
            <a:avLst/>
          </a:prstGeom>
          <a:solidFill>
            <a:schemeClr val="accent5"/>
          </a:solidFill>
          <a:ln w="19050">
            <a:solidFill>
              <a:schemeClr val="accent1"/>
            </a:solidFill>
            <a:prstDash val="solid"/>
          </a:ln>
        </p:spPr>
      </p:sp>
      <p:sp>
        <p:nvSpPr>
          <p:cNvPr id="40" name="Text 38"/>
          <p:cNvSpPr txBox="1"/>
          <p:nvPr/>
        </p:nvSpPr>
        <p:spPr>
          <a:xfrm>
            <a:off x="8325917"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Stop never disables</a:t>
            </a:r>
            <a:endParaRPr lang="en-US" sz="1800" dirty="0"/>
          </a:p>
        </p:txBody>
      </p:sp>
      <p:sp>
        <p:nvSpPr>
          <p:cNvPr id="41" name="Text 39"/>
          <p:cNvSpPr txBox="1"/>
          <p:nvPr/>
        </p:nvSpPr>
        <p:spPr>
          <a:xfrm>
            <a:off x="8325917"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Faults and pause hold torque. Only a confirmed disarm releases the load.</a:t>
            </a:r>
            <a:endParaRPr lang="en-US" sz="15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B3 · REV D STATION BOARD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Rev D: soldered 3.3 V, driver boots disabled, no USB-buck fight.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pic>
        <p:nvPicPr>
          <p:cNvPr id="6" name="perfboard_layout" descr="Rev D perfboard layout, component side">    </p:cNvPr>
          <p:cNvPicPr>
            <a:picLocks noChangeAspect="1"/>
          </p:cNvPicPr>
          <p:nvPr/>
        </p:nvPicPr>
        <p:blipFill>
          <a:blip r:embed="rId1"/>
          <a:stretch>
            <a:fillRect/>
          </a:stretch>
        </p:blipFill>
        <p:spPr>
          <a:xfrm>
            <a:off x="548640" y="1783080"/>
            <a:ext cx="5674596" cy="4480560"/>
          </a:xfrm>
          <a:prstGeom prst="rect">
            <a:avLst/>
          </a:prstGeom>
        </p:spPr>
      </p:pic>
      <p:sp>
        <p:nvSpPr>
          <p:cNvPr id="7" name="callout_line_JP1 link"/>
          <p:cNvSpPr/>
          <p:nvPr/>
        </p:nvSpPr>
        <p:spPr>
          <a:xfrm>
            <a:off x="4558309" y="4182868"/>
            <a:ext cx="416515" cy="400562"/>
          </a:xfrm>
          <a:prstGeom prst="line">
            <a:avLst/>
          </a:prstGeom>
          <a:noFill/>
          <a:ln w="12700">
            <a:solidFill>
              <a:schemeClr val="tx1"/>
            </a:solidFill>
            <a:prstDash val="solid"/>
          </a:ln>
        </p:spPr>
      </p:sp>
      <p:sp>
        <p:nvSpPr>
          <p:cNvPr id="8" name="callout_dot_JP1 link"/>
          <p:cNvSpPr/>
          <p:nvPr/>
        </p:nvSpPr>
        <p:spPr>
          <a:xfrm>
            <a:off x="4503445" y="4128004"/>
            <a:ext cx="109728" cy="109728"/>
          </a:xfrm>
          <a:prstGeom prst="ellipse">
            <a:avLst/>
          </a:prstGeom>
          <a:solidFill>
            <a:schemeClr val="accent1"/>
          </a:solidFill>
          <a:ln w="12700">
            <a:solidFill>
              <a:schemeClr val="bg1"/>
            </a:solidFill>
            <a:prstDash val="solid"/>
          </a:ln>
        </p:spPr>
      </p:sp>
      <p:sp>
        <p:nvSpPr>
          <p:cNvPr id="9" name="callout_label_JP1 link"/>
          <p:cNvSpPr txBox="1"/>
          <p:nvPr/>
        </p:nvSpPr>
        <p:spPr>
          <a:xfrm>
            <a:off x="5020545" y="4437126"/>
            <a:ext cx="94488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JP1 link</a:t>
            </a:r>
            <a:endParaRPr lang="en-US" sz="1100" dirty="0"/>
          </a:p>
        </p:txBody>
      </p:sp>
      <p:sp>
        <p:nvSpPr>
          <p:cNvPr id="10" name="callout_line_R1 pull-up"/>
          <p:cNvSpPr/>
          <p:nvPr/>
        </p:nvSpPr>
        <p:spPr>
          <a:xfrm flipV="1">
            <a:off x="1116100" y="4285473"/>
            <a:ext cx="857999" cy="477180"/>
          </a:xfrm>
          <a:prstGeom prst="line">
            <a:avLst/>
          </a:prstGeom>
          <a:noFill/>
          <a:ln w="12700">
            <a:solidFill>
              <a:schemeClr val="tx1"/>
            </a:solidFill>
            <a:prstDash val="solid"/>
          </a:ln>
        </p:spPr>
      </p:sp>
      <p:sp>
        <p:nvSpPr>
          <p:cNvPr id="11" name="callout_dot_R1 pull-up"/>
          <p:cNvSpPr/>
          <p:nvPr/>
        </p:nvSpPr>
        <p:spPr>
          <a:xfrm>
            <a:off x="1919234" y="4230609"/>
            <a:ext cx="109728" cy="109728"/>
          </a:xfrm>
          <a:prstGeom prst="ellipse">
            <a:avLst/>
          </a:prstGeom>
          <a:solidFill>
            <a:schemeClr val="accent1"/>
          </a:solidFill>
          <a:ln w="12700">
            <a:solidFill>
              <a:schemeClr val="bg1"/>
            </a:solidFill>
            <a:prstDash val="solid"/>
          </a:ln>
        </p:spPr>
      </p:sp>
      <p:sp>
        <p:nvSpPr>
          <p:cNvPr id="12" name="callout_label_R1 pull-up"/>
          <p:cNvSpPr txBox="1"/>
          <p:nvPr/>
        </p:nvSpPr>
        <p:spPr>
          <a:xfrm>
            <a:off x="1161820" y="4616348"/>
            <a:ext cx="111252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R1 pull-up</a:t>
            </a:r>
            <a:endParaRPr lang="en-US" sz="1100" dirty="0"/>
          </a:p>
        </p:txBody>
      </p:sp>
      <p:sp>
        <p:nvSpPr>
          <p:cNvPr id="13" name="callout_line_3V3 bus"/>
          <p:cNvSpPr/>
          <p:nvPr/>
        </p:nvSpPr>
        <p:spPr>
          <a:xfrm flipV="1">
            <a:off x="3215700" y="4563267"/>
            <a:ext cx="54476" cy="356205"/>
          </a:xfrm>
          <a:prstGeom prst="line">
            <a:avLst/>
          </a:prstGeom>
          <a:noFill/>
          <a:ln w="12700">
            <a:solidFill>
              <a:schemeClr val="tx1"/>
            </a:solidFill>
            <a:prstDash val="solid"/>
          </a:ln>
        </p:spPr>
      </p:sp>
      <p:sp>
        <p:nvSpPr>
          <p:cNvPr id="14" name="callout_dot_3V3 bus"/>
          <p:cNvSpPr/>
          <p:nvPr/>
        </p:nvSpPr>
        <p:spPr>
          <a:xfrm>
            <a:off x="3215312" y="4508403"/>
            <a:ext cx="109728" cy="109728"/>
          </a:xfrm>
          <a:prstGeom prst="ellipse">
            <a:avLst/>
          </a:prstGeom>
          <a:solidFill>
            <a:schemeClr val="accent1"/>
          </a:solidFill>
          <a:ln w="12700">
            <a:solidFill>
              <a:schemeClr val="bg1"/>
            </a:solidFill>
            <a:prstDash val="solid"/>
          </a:ln>
        </p:spPr>
      </p:sp>
      <p:sp>
        <p:nvSpPr>
          <p:cNvPr id="15" name="callout_label_3V3 bus"/>
          <p:cNvSpPr txBox="1"/>
          <p:nvPr/>
        </p:nvSpPr>
        <p:spPr>
          <a:xfrm>
            <a:off x="3261420" y="4773168"/>
            <a:ext cx="86106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3V3 bus</a:t>
            </a:r>
            <a:endParaRPr lang="en-US" sz="1100" dirty="0"/>
          </a:p>
        </p:txBody>
      </p:sp>
      <p:sp>
        <p:nvSpPr>
          <p:cNvPr id="16" name="Text 13"/>
          <p:cNvSpPr txBox="1"/>
          <p:nvPr/>
        </p:nvSpPr>
        <p:spPr>
          <a:xfrm>
            <a:off x="6588996" y="1783080"/>
            <a:ext cx="50540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WHAT REV D CHANGED</a:t>
            </a:r>
            <a:endParaRPr lang="en-US" sz="1100" dirty="0"/>
          </a:p>
        </p:txBody>
      </p:sp>
      <p:sp>
        <p:nvSpPr>
          <p:cNvPr id="17" name="Text 14"/>
          <p:cNvSpPr txBox="1"/>
          <p:nvPr/>
        </p:nvSpPr>
        <p:spPr>
          <a:xfrm>
            <a:off x="6588996" y="2103120"/>
            <a:ext cx="5054060" cy="2651760"/>
          </a:xfrm>
          <a:prstGeom prst="rect">
            <a:avLst/>
          </a:prstGeom>
          <a:noFill/>
          <a:ln/>
        </p:spPr>
        <p:txBody>
          <a:bodyPr wrap="square" lIns="0" tIns="0" rIns="0" bIns="0" rtlCol="0" anchor="t"/>
          <a:lstStyle/>
          <a:p>
            <a:pPr indent="0" marL="0">
              <a:spcAft>
                <a:spcPts val="1000"/>
              </a:spcAft>
              <a:buNone/>
            </a:pPr>
            <a:r>
              <a:rPr lang="en-US" sz="1500" dirty="0">
                <a:solidFill>
                  <a:schemeClr val="tx1"/>
                </a:solidFill>
              </a:rPr>
              <a:t>3.3 V soldered, not jumpered.</a:t>
            </a:r>
            <a:endParaRPr lang="en-US" sz="1500" dirty="0"/>
          </a:p>
          <a:p>
            <a:pPr indent="0" marL="0">
              <a:spcAft>
                <a:spcPts val="1000"/>
              </a:spcAft>
              <a:buNone/>
            </a:pPr>
            <a:r>
              <a:rPr lang="en-US" sz="1500" dirty="0">
                <a:solidFill>
                  <a:schemeClr val="tx1"/>
                </a:solidFill>
              </a:rPr>
              <a:t>10 k pull resistors: the driver boots disabled.</a:t>
            </a:r>
            <a:endParaRPr lang="en-US" sz="1500" dirty="0"/>
          </a:p>
          <a:p>
            <a:pPr indent="0" marL="0">
              <a:spcAft>
                <a:spcPts val="1000"/>
              </a:spcAft>
              <a:buNone/>
            </a:pPr>
            <a:r>
              <a:rPr lang="en-US" sz="1500" dirty="0">
                <a:solidFill>
                  <a:schemeClr val="tx1"/>
                </a:solidFill>
              </a:rPr>
              <a:t>JP1 and diode D1: USB and the buck never fight.</a:t>
            </a:r>
            <a:endParaRPr lang="en-US" sz="1500" dirty="0"/>
          </a:p>
          <a:p>
            <a:pPr indent="0" marL="0">
              <a:spcAft>
                <a:spcPts val="1000"/>
              </a:spcAft>
              <a:buNone/>
            </a:pPr>
            <a:r>
              <a:rPr lang="en-US" sz="1500" dirty="0">
                <a:solidFill>
                  <a:schemeClr val="tx1"/>
                </a:solidFill>
              </a:rPr>
              <a:t>Net-checked: every hole has one net, every net is connected.</a:t>
            </a:r>
            <a:endParaRPr lang="en-US" sz="1500" dirty="0"/>
          </a:p>
        </p:txBody>
      </p:sp>
      <p:sp>
        <p:nvSpPr>
          <p:cNvPr id="18" name="planned_card"/>
          <p:cNvSpPr/>
          <p:nvPr/>
        </p:nvSpPr>
        <p:spPr>
          <a:xfrm>
            <a:off x="6588996" y="5394960"/>
            <a:ext cx="5054060" cy="868680"/>
          </a:xfrm>
          <a:prstGeom prst="rect">
            <a:avLst/>
          </a:prstGeom>
          <a:solidFill>
            <a:schemeClr val="bg2"/>
          </a:solidFill>
          <a:ln w="12700">
            <a:solidFill>
              <a:schemeClr val="tx2"/>
            </a:solidFill>
            <a:prstDash val="dash"/>
          </a:ln>
        </p:spPr>
      </p:sp>
      <p:sp>
        <p:nvSpPr>
          <p:cNvPr id="19" name="planned_head"/>
          <p:cNvSpPr txBox="1"/>
          <p:nvPr/>
        </p:nvSpPr>
        <p:spPr>
          <a:xfrm>
            <a:off x="6771876" y="5458968"/>
            <a:ext cx="46883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20" name="planned_text"/>
          <p:cNvSpPr txBox="1"/>
          <p:nvPr/>
        </p:nvSpPr>
        <p:spPr>
          <a:xfrm>
            <a:off x="6771876" y="5733288"/>
            <a:ext cx="4688300" cy="484632"/>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buck output.</a:t>
            </a:r>
            <a:endParaRPr lang="en-US" sz="12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B4 · FLOOR-BOARD ATTITUDE STUDY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floor board cuts tilt noise 10×; hanging tilt still reaches 13–21°.</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53949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HANGING TILT AT GRID POINTS (°)</a:t>
            </a:r>
            <a:endParaRPr lang="en-US" sz="1100" dirty="0"/>
          </a:p>
        </p:txBody>
      </p:sp>
      <p:graphicFrame>
        <p:nvGraphicFramePr>
          <p:cNvPr id="7" name="Chart 0" descr=""/>
          <p:cNvGraphicFramePr/>
          <p:nvPr/>
        </p:nvGraphicFramePr>
        <p:xfrm>
          <a:off x="548640" y="201168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245352" y="1783080"/>
            <a:ext cx="5397703"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TILT NOISE, ONE TAG, VS RANGE (mrad)</a:t>
            </a:r>
            <a:endParaRPr lang="en-US" sz="1100" dirty="0"/>
          </a:p>
        </p:txBody>
      </p:sp>
      <p:graphicFrame>
        <p:nvGraphicFramePr>
          <p:cNvPr id="9" name="Chart 1" descr=""/>
          <p:cNvGraphicFramePr/>
          <p:nvPr/>
        </p:nvGraphicFramePr>
        <p:xfrm>
          <a:off x="6245352" y="2011680"/>
          <a:ext cx="5397703" cy="3108960"/>
        </p:xfrm>
        <a:graphic xmlns:a="http://schemas.openxmlformats.org/drawingml/2006/main">
          <a:graphicData uri="http://schemas.openxmlformats.org/drawingml/2006/chart">
            <c:chart xmlns:c="http://schemas.openxmlformats.org/drawingml/2006/chart" r:id="rId2"/>
          </a:graphicData>
        </a:graphic>
      </p:graphicFrame>
      <p:sp>
        <p:nvSpPr>
          <p:cNvPr id="10" name="limit_Four-tag board: 1.3 mrad_1.32375221376"/>
          <p:cNvSpPr/>
          <p:nvPr/>
        </p:nvSpPr>
        <p:spPr>
          <a:xfrm>
            <a:off x="6839099" y="4143367"/>
            <a:ext cx="4588048" cy="0"/>
          </a:xfrm>
          <a:prstGeom prst="line">
            <a:avLst/>
          </a:prstGeom>
          <a:noFill/>
          <a:ln w="15875">
            <a:solidFill>
              <a:schemeClr val="tx1"/>
            </a:solidFill>
            <a:prstDash val="dash"/>
          </a:ln>
        </p:spPr>
      </p:sp>
      <p:sp>
        <p:nvSpPr>
          <p:cNvPr id="11" name="limit_label_Four-tag board: 1.3 mrad"/>
          <p:cNvSpPr txBox="1"/>
          <p:nvPr/>
        </p:nvSpPr>
        <p:spPr>
          <a:xfrm>
            <a:off x="9388035" y="3896479"/>
            <a:ext cx="2011680"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Four-tag board: 1.3 mrad</a:t>
            </a:r>
            <a:endParaRPr lang="en-US" sz="1100" dirty="0"/>
          </a:p>
        </p:txBody>
      </p:sp>
      <p:sp>
        <p:nvSpPr>
          <p:cNvPr id="12"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3" name="Text 9"/>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4"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θ ≈ M</a:t>
            </a:r>
            <a:pPr indent="0" marL="0">
              <a:buNone/>
            </a:pPr>
            <a:r>
              <a:rPr lang="en-US" sz="1800" baseline="-40000" dirty="0">
                <a:solidFill>
                  <a:schemeClr val="tx1"/>
                </a:solidFill>
                <a:latin typeface="Cambria" pitchFamily="34" charset="0"/>
                <a:ea typeface="Cambria" pitchFamily="34" charset="-122"/>
                <a:cs typeface="Cambria" pitchFamily="34" charset="-120"/>
              </a:rPr>
              <a:t>v</a:t>
            </a:r>
            <a:pPr indent="0" marL="0">
              <a:buNone/>
            </a:pPr>
            <a:r>
              <a:rPr lang="en-US" sz="1800" dirty="0">
                <a:solidFill>
                  <a:schemeClr val="tx1"/>
                </a:solidFill>
                <a:latin typeface="Cambria" pitchFamily="34" charset="0"/>
                <a:ea typeface="Cambria" pitchFamily="34" charset="-122"/>
                <a:cs typeface="Cambria" pitchFamily="34" charset="-120"/>
              </a:rPr>
              <a:t> / (W·L);   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a:t>
            </a:r>
            <a:endParaRPr lang="en-US" sz="1800" dirty="0"/>
          </a:p>
        </p:txBody>
      </p:sp>
      <p:sp>
        <p:nvSpPr>
          <p:cNvPr id="15"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Corner tilt grows 1.61× when L falls from 0.196 to 0.116 m (1/L law: 1.70×); 83 % then 92 % of grid points exceed 5°. Board: 0.68 mm vs 6.6 mm for one tag.</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B5 · THERMAL NETWORK</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fin is a parallel heat path; PETG alone can't carry it.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6" name="node_MOTOR CASE"/>
          <p:cNvSpPr/>
          <p:nvPr/>
        </p:nvSpPr>
        <p:spPr>
          <a:xfrm>
            <a:off x="548640" y="1920240"/>
            <a:ext cx="1920240" cy="1051560"/>
          </a:xfrm>
          <a:prstGeom prst="rect">
            <a:avLst/>
          </a:prstGeom>
          <a:solidFill>
            <a:schemeClr val="accent5"/>
          </a:solidFill>
          <a:ln w="19050">
            <a:solidFill>
              <a:schemeClr val="accent1"/>
            </a:solidFill>
            <a:prstDash val="solid"/>
          </a:ln>
        </p:spPr>
      </p:sp>
      <p:sp>
        <p:nvSpPr>
          <p:cNvPr id="7" name="Text 5"/>
          <p:cNvSpPr txBox="1"/>
          <p:nvPr/>
        </p:nvSpPr>
        <p:spPr>
          <a:xfrm>
            <a:off x="68580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MOTOR CASE</a:t>
            </a:r>
            <a:endParaRPr lang="en-US" sz="1100" dirty="0"/>
          </a:p>
        </p:txBody>
      </p:sp>
      <p:sp>
        <p:nvSpPr>
          <p:cNvPr id="8" name="Text 6"/>
          <p:cNvSpPr txBox="1"/>
          <p:nvPr/>
        </p:nvSpPr>
        <p:spPr>
          <a:xfrm>
            <a:off x="68580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2.0 W of coil heat</a:t>
            </a:r>
            <a:endParaRPr lang="en-US" sz="1400" dirty="0"/>
          </a:p>
        </p:txBody>
      </p:sp>
      <p:sp>
        <p:nvSpPr>
          <p:cNvPr id="9" name="node_SHELL INTERIOR"/>
          <p:cNvSpPr/>
          <p:nvPr/>
        </p:nvSpPr>
        <p:spPr>
          <a:xfrm>
            <a:off x="3200400" y="1920240"/>
            <a:ext cx="1920240" cy="1051560"/>
          </a:xfrm>
          <a:prstGeom prst="rect">
            <a:avLst/>
          </a:prstGeom>
          <a:solidFill>
            <a:schemeClr val="bg2"/>
          </a:solidFill>
          <a:ln w="6350">
            <a:solidFill>
              <a:schemeClr val="bg2"/>
            </a:solidFill>
            <a:prstDash val="solid"/>
          </a:ln>
        </p:spPr>
      </p:sp>
      <p:sp>
        <p:nvSpPr>
          <p:cNvPr id="10" name="Text 8"/>
          <p:cNvSpPr txBox="1"/>
          <p:nvPr/>
        </p:nvSpPr>
        <p:spPr>
          <a:xfrm>
            <a:off x="333756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SHELL INTERIOR</a:t>
            </a:r>
            <a:endParaRPr lang="en-US" sz="1100" dirty="0"/>
          </a:p>
        </p:txBody>
      </p:sp>
      <p:sp>
        <p:nvSpPr>
          <p:cNvPr id="11" name="Text 9"/>
          <p:cNvSpPr txBox="1"/>
          <p:nvPr/>
        </p:nvSpPr>
        <p:spPr>
          <a:xfrm>
            <a:off x="333756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+ 1.5 W electronics</a:t>
            </a:r>
            <a:endParaRPr lang="en-US" sz="1400" dirty="0"/>
          </a:p>
        </p:txBody>
      </p:sp>
      <p:sp>
        <p:nvSpPr>
          <p:cNvPr id="12" name="node_ROOM AIR"/>
          <p:cNvSpPr/>
          <p:nvPr/>
        </p:nvSpPr>
        <p:spPr>
          <a:xfrm>
            <a:off x="5852160" y="1920240"/>
            <a:ext cx="1828800" cy="1051560"/>
          </a:xfrm>
          <a:prstGeom prst="rect">
            <a:avLst/>
          </a:prstGeom>
          <a:solidFill>
            <a:schemeClr val="bg2"/>
          </a:solidFill>
          <a:ln w="6350">
            <a:solidFill>
              <a:schemeClr val="bg2"/>
            </a:solidFill>
            <a:prstDash val="solid"/>
          </a:ln>
        </p:spPr>
      </p:sp>
      <p:sp>
        <p:nvSpPr>
          <p:cNvPr id="13" name="Text 11"/>
          <p:cNvSpPr txBox="1"/>
          <p:nvPr/>
        </p:nvSpPr>
        <p:spPr>
          <a:xfrm>
            <a:off x="5989320" y="2029968"/>
            <a:ext cx="155448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ROOM AIR</a:t>
            </a:r>
            <a:endParaRPr lang="en-US" sz="1100" dirty="0"/>
          </a:p>
        </p:txBody>
      </p:sp>
      <p:sp>
        <p:nvSpPr>
          <p:cNvPr id="14" name="Text 12"/>
          <p:cNvSpPr txBox="1"/>
          <p:nvPr/>
        </p:nvSpPr>
        <p:spPr>
          <a:xfrm>
            <a:off x="5989320" y="2286000"/>
            <a:ext cx="1554480" cy="594360"/>
          </a:xfrm>
          <a:prstGeom prst="rect">
            <a:avLst/>
          </a:prstGeom>
          <a:noFill/>
          <a:ln/>
        </p:spPr>
        <p:txBody>
          <a:bodyPr wrap="square" lIns="0" tIns="0" rIns="0" bIns="0" rtlCol="0" anchor="t"/>
          <a:lstStyle/>
          <a:p>
            <a:pPr indent="0" marL="0">
              <a:buNone/>
            </a:pPr>
            <a:r>
              <a:rPr lang="en-US" sz="1400" dirty="0">
                <a:solidFill>
                  <a:schemeClr val="tx1"/>
                </a:solidFill>
              </a:rPr>
              <a:t>23 °C near the ceiling</a:t>
            </a:r>
            <a:endParaRPr lang="en-US" sz="1400" dirty="0"/>
          </a:p>
        </p:txBody>
      </p:sp>
      <p:sp>
        <p:nvSpPr>
          <p:cNvPr id="15" name="r_12 K/W"/>
          <p:cNvSpPr/>
          <p:nvPr/>
        </p:nvSpPr>
        <p:spPr>
          <a:xfrm>
            <a:off x="2468880" y="2446020"/>
            <a:ext cx="731520" cy="0"/>
          </a:xfrm>
          <a:prstGeom prst="line">
            <a:avLst/>
          </a:prstGeom>
          <a:noFill/>
          <a:ln w="19050">
            <a:solidFill>
              <a:schemeClr val="tx1"/>
            </a:solidFill>
            <a:prstDash val="solid"/>
          </a:ln>
        </p:spPr>
      </p:sp>
      <p:sp>
        <p:nvSpPr>
          <p:cNvPr id="16" name="Text 14"/>
          <p:cNvSpPr txBox="1"/>
          <p:nvPr/>
        </p:nvSpPr>
        <p:spPr>
          <a:xfrm>
            <a:off x="237744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12 K/W</a:t>
            </a:r>
            <a:endParaRPr lang="en-US" sz="1200" dirty="0"/>
          </a:p>
        </p:txBody>
      </p:sp>
      <p:sp>
        <p:nvSpPr>
          <p:cNvPr id="17" name="r_3.5 K/W sealed"/>
          <p:cNvSpPr/>
          <p:nvPr/>
        </p:nvSpPr>
        <p:spPr>
          <a:xfrm>
            <a:off x="5120640" y="2446020"/>
            <a:ext cx="731520" cy="0"/>
          </a:xfrm>
          <a:prstGeom prst="line">
            <a:avLst/>
          </a:prstGeom>
          <a:noFill/>
          <a:ln w="19050">
            <a:solidFill>
              <a:schemeClr val="tx1"/>
            </a:solidFill>
            <a:prstDash val="solid"/>
          </a:ln>
        </p:spPr>
      </p:sp>
      <p:sp>
        <p:nvSpPr>
          <p:cNvPr id="18" name="Text 16"/>
          <p:cNvSpPr txBox="1"/>
          <p:nvPr/>
        </p:nvSpPr>
        <p:spPr>
          <a:xfrm>
            <a:off x="502920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3.5 K/W sealed</a:t>
            </a:r>
            <a:endParaRPr lang="en-US" sz="1200" dirty="0"/>
          </a:p>
        </p:txBody>
      </p:sp>
      <p:sp>
        <p:nvSpPr>
          <p:cNvPr id="19" name="fin_down"/>
          <p:cNvSpPr/>
          <p:nvPr/>
        </p:nvSpPr>
        <p:spPr>
          <a:xfrm>
            <a:off x="1508760" y="2971800"/>
            <a:ext cx="0" cy="731520"/>
          </a:xfrm>
          <a:prstGeom prst="line">
            <a:avLst/>
          </a:prstGeom>
          <a:noFill/>
          <a:ln w="31750">
            <a:solidFill>
              <a:schemeClr val="accent1"/>
            </a:solidFill>
            <a:prstDash val="solid"/>
          </a:ln>
        </p:spPr>
      </p:sp>
      <p:sp>
        <p:nvSpPr>
          <p:cNvPr id="20" name="fin_across"/>
          <p:cNvSpPr/>
          <p:nvPr/>
        </p:nvSpPr>
        <p:spPr>
          <a:xfrm>
            <a:off x="1508760" y="3703320"/>
            <a:ext cx="5257800" cy="0"/>
          </a:xfrm>
          <a:prstGeom prst="line">
            <a:avLst/>
          </a:prstGeom>
          <a:noFill/>
          <a:ln w="31750">
            <a:solidFill>
              <a:schemeClr val="accent1"/>
            </a:solidFill>
            <a:prstDash val="solid"/>
          </a:ln>
        </p:spPr>
      </p:sp>
      <p:sp>
        <p:nvSpPr>
          <p:cNvPr id="21" name="fin_up"/>
          <p:cNvSpPr/>
          <p:nvPr/>
        </p:nvSpPr>
        <p:spPr>
          <a:xfrm flipV="1">
            <a:off x="6766560" y="3703320"/>
            <a:ext cx="0" cy="-731520"/>
          </a:xfrm>
          <a:prstGeom prst="line">
            <a:avLst/>
          </a:prstGeom>
          <a:noFill/>
          <a:ln w="31750">
            <a:solidFill>
              <a:schemeClr val="accent1"/>
            </a:solidFill>
            <a:prstDash val="solid"/>
            <a:tailEnd type="triangle"/>
          </a:ln>
        </p:spPr>
      </p:sp>
      <p:sp>
        <p:nvSpPr>
          <p:cNvPr id="22" name="Text 20"/>
          <p:cNvSpPr txBox="1"/>
          <p:nvPr/>
        </p:nvSpPr>
        <p:spPr>
          <a:xfrm>
            <a:off x="1828800" y="3776472"/>
            <a:ext cx="5669280" cy="274320"/>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Aluminium fin: 22.1 K/W as built, 10.9 K/W as drawn</a:t>
            </a:r>
            <a:endParaRPr lang="en-US" sz="1300" dirty="0"/>
          </a:p>
        </p:txBody>
      </p:sp>
      <p:sp>
        <p:nvSpPr>
          <p:cNvPr id="23" name="Text 21"/>
          <p:cNvSpPr txBox="1"/>
          <p:nvPr/>
        </p:nvSpPr>
        <p:spPr>
          <a:xfrm>
            <a:off x="548640" y="4206240"/>
            <a:ext cx="7132320" cy="548640"/>
          </a:xfrm>
          <a:prstGeom prst="rect">
            <a:avLst/>
          </a:prstGeom>
          <a:noFill/>
          <a:ln/>
        </p:spPr>
        <p:txBody>
          <a:bodyPr wrap="square" lIns="0" tIns="0" rIns="0" bIns="0" rtlCol="0" anchor="t"/>
          <a:lstStyle/>
          <a:p>
            <a:pPr indent="0" marL="0">
              <a:buNone/>
            </a:pPr>
            <a:r>
              <a:rPr lang="en-US" sz="1400" dirty="0">
                <a:solidFill>
                  <a:schemeClr val="tx1"/>
                </a:solidFill>
              </a:rPr>
              <a:t>Sealed shell, 1.06 A: 64 °C with no fin, 46 °C with the as-built fin, 40 °C with the drawn 1/8 in fin.</a:t>
            </a:r>
            <a:endParaRPr lang="en-US" sz="1400" dirty="0"/>
          </a:p>
        </p:txBody>
      </p:sp>
      <p:sp>
        <p:nvSpPr>
          <p:cNvPr id="24" name="Text 22"/>
          <p:cNvSpPr txBox="1"/>
          <p:nvPr/>
        </p:nvSpPr>
        <p:spPr>
          <a:xfrm>
            <a:off x="8229600" y="1920240"/>
            <a:ext cx="341345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PETG VS ALUMINIUM</a:t>
            </a:r>
            <a:endParaRPr lang="en-US" sz="1100" dirty="0"/>
          </a:p>
        </p:txBody>
      </p:sp>
      <p:graphicFrame>
        <p:nvGraphicFramePr>
          <p:cNvPr id="23" name="material_table"/>
          <p:cNvGraphicFramePr>
            <a:graphicFrameLocks noGrp="1"/>
          </p:cNvGraphicFramePr>
          <p:nvPr>
            <p:extLst>
              <p:ext uri="{D42A27DB-BD31-4B8C-83A1-F6EECF244321}">
                <p14:modId xmlns:p14="http://schemas.microsoft.com/office/powerpoint/2010/main" val="1579011935"/>
              </p:ext>
            </p:extLst>
          </p:nvPr>
        </p:nvGraphicFramePr>
        <p:xfrm>
          <a:off x="8229600" y="2240280"/>
          <a:ext cx="3413455" cy="914400"/>
        </p:xfrm>
        <a:graphic>
          <a:graphicData uri="http://schemas.openxmlformats.org/drawingml/2006/table">
            <a:tbl>
              <a:tblPr/>
              <a:tblGrid>
                <a:gridCol w="1417320"/>
                <a:gridCol w="1143000"/>
                <a:gridCol w="853135"/>
              </a:tblGrid>
              <a:tr h="329184">
                <a:tc>
                  <a:txBody>
                    <a:bodyPr/>
                    <a:lstStyle/>
                    <a:p>
                      <a:pPr algn="l" indent="0" marL="0">
                        <a:buNone/>
                      </a:pP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Aluminium</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PETG</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k, W/m·K</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160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Flange path, K/W</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0.011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Heat spreads, mm</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26" name="planned_card"/>
          <p:cNvSpPr/>
          <p:nvPr/>
        </p:nvSpPr>
        <p:spPr>
          <a:xfrm>
            <a:off x="8229600" y="3840480"/>
            <a:ext cx="3413455" cy="914400"/>
          </a:xfrm>
          <a:prstGeom prst="rect">
            <a:avLst/>
          </a:prstGeom>
          <a:solidFill>
            <a:schemeClr val="bg2"/>
          </a:solidFill>
          <a:ln w="12700">
            <a:solidFill>
              <a:schemeClr val="tx2"/>
            </a:solidFill>
            <a:prstDash val="dash"/>
          </a:ln>
        </p:spPr>
      </p:sp>
      <p:sp>
        <p:nvSpPr>
          <p:cNvPr id="27" name="planned_head"/>
          <p:cNvSpPr txBox="1"/>
          <p:nvPr/>
        </p:nvSpPr>
        <p:spPr>
          <a:xfrm>
            <a:off x="8412480" y="3904488"/>
            <a:ext cx="3047695"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28" name="planned_text"/>
          <p:cNvSpPr txBox="1"/>
          <p:nvPr/>
        </p:nvSpPr>
        <p:spPr>
          <a:xfrm>
            <a:off x="8412480" y="4178808"/>
            <a:ext cx="3047695" cy="530352"/>
          </a:xfrm>
          <a:prstGeom prst="rect">
            <a:avLst/>
          </a:prstGeom>
          <a:noFill/>
          <a:ln/>
        </p:spPr>
        <p:txBody>
          <a:bodyPr wrap="square" lIns="0" tIns="0" rIns="0" bIns="0" rtlCol="0" anchor="t"/>
          <a:lstStyle/>
          <a:p>
            <a:pPr indent="0" marL="0">
              <a:buNone/>
            </a:pPr>
            <a:r>
              <a:rPr lang="en-US" sz="1200" dirty="0">
                <a:solidFill>
                  <a:schemeClr val="tx1"/>
                </a:solidFill>
              </a:rPr>
              <a:t>Fin FEA after the SolidWorks study; the hold test replaces the lumped model.</a:t>
            </a:r>
            <a:endParaRPr lang="en-US" sz="1200" dirty="0"/>
          </a:p>
        </p:txBody>
      </p:sp>
      <p:sp>
        <p:nvSpPr>
          <p:cNvPr id="29" name="fund_box"/>
          <p:cNvSpPr/>
          <p:nvPr/>
        </p:nvSpPr>
        <p:spPr>
          <a:xfrm>
            <a:off x="548640" y="5212080"/>
            <a:ext cx="11094415" cy="1051560"/>
          </a:xfrm>
          <a:prstGeom prst="rect">
            <a:avLst/>
          </a:prstGeom>
          <a:solidFill>
            <a:schemeClr val="bg2"/>
          </a:solidFill>
          <a:ln w="6350">
            <a:solidFill>
              <a:schemeClr val="bg2"/>
            </a:solidFill>
            <a:prstDash val="solid"/>
          </a:ln>
        </p:spPr>
      </p:sp>
      <p:sp>
        <p:nvSpPr>
          <p:cNvPr id="30" name="Text 27"/>
          <p:cNvSpPr txBox="1"/>
          <p:nvPr/>
        </p:nvSpPr>
        <p:spPr>
          <a:xfrm>
            <a:off x="731520" y="530352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1" name="fund_eq"/>
          <p:cNvSpPr txBox="1"/>
          <p:nvPr/>
        </p:nvSpPr>
        <p:spPr>
          <a:xfrm>
            <a:off x="731520" y="548640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room</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fin</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shell</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ma</a:t>
            </a:r>
            <a:endParaRPr lang="en-US" sz="1600" dirty="0"/>
          </a:p>
        </p:txBody>
      </p:sp>
      <p:sp>
        <p:nvSpPr>
          <p:cNvPr id="32" name="fund_sub"/>
          <p:cNvSpPr txBox="1"/>
          <p:nvPr/>
        </p:nvSpPr>
        <p:spPr>
          <a:xfrm>
            <a:off x="731520" y="5870448"/>
            <a:ext cx="10728655" cy="33832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Aluminium 160 vs PETG 0.2 W/m·K gives √(160 / 0.2) = 28× at equal geometry; the flange path alone is 1260× worse. Sealed-shell time constant 35 min.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B6 · V7 OPEN-FRAME GEARBOX</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Open-frame v7 gearbox holds SF of about 2 or better at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2286000" cy="3337560"/>
          </a:xfrm>
          <a:prstGeom prst="rect">
            <a:avLst/>
          </a:prstGeom>
          <a:solidFill>
            <a:schemeClr val="bg2"/>
          </a:solidFill>
          <a:ln w="6350">
            <a:solidFill>
              <a:schemeClr val="bg2"/>
            </a:solidFill>
            <a:prstDash val="solid"/>
          </a:ln>
        </p:spPr>
      </p:sp>
      <p:pic>
        <p:nvPicPr>
          <p:cNvPr id="7" name="gripper_v7_render" descr="gripper_v7_render">    </p:cNvPr>
          <p:cNvPicPr>
            <a:picLocks noChangeAspect="1"/>
          </p:cNvPicPr>
          <p:nvPr/>
        </p:nvPicPr>
        <p:blipFill>
          <a:blip r:embed="rId1"/>
          <a:stretch>
            <a:fillRect/>
          </a:stretch>
        </p:blipFill>
        <p:spPr>
          <a:xfrm>
            <a:off x="1146361" y="1920240"/>
            <a:ext cx="1090558" cy="3063240"/>
          </a:xfrm>
          <a:prstGeom prst="rect">
            <a:avLst/>
          </a:prstGeom>
        </p:spPr>
      </p:pic>
      <p:graphicFrame>
        <p:nvGraphicFramePr>
          <p:cNvPr id="8" name="Chart 0" descr=""/>
          <p:cNvGraphicFramePr/>
          <p:nvPr/>
        </p:nvGraphicFramePr>
        <p:xfrm>
          <a:off x="3108960" y="1783080"/>
          <a:ext cx="5212080" cy="3337560"/>
        </p:xfrm>
        <a:graphic xmlns:a="http://schemas.openxmlformats.org/drawingml/2006/main">
          <a:graphicData uri="http://schemas.openxmlformats.org/drawingml/2006/chart">
            <c:chart xmlns:c="http://schemas.openxmlformats.org/drawingml/2006/chart" r:id="rId2"/>
          </a:graphicData>
        </a:graphic>
      </p:graphicFrame>
      <p:sp>
        <p:nvSpPr>
          <p:cNvPr id="9" name="limit_line_2"/>
          <p:cNvSpPr/>
          <p:nvPr/>
        </p:nvSpPr>
        <p:spPr>
          <a:xfrm>
            <a:off x="3630168" y="2922618"/>
            <a:ext cx="4586630" cy="0"/>
          </a:xfrm>
          <a:prstGeom prst="line">
            <a:avLst/>
          </a:prstGeom>
          <a:noFill/>
          <a:ln w="15875">
            <a:solidFill>
              <a:schemeClr val="tx1"/>
            </a:solidFill>
            <a:prstDash val="dash"/>
          </a:ln>
        </p:spPr>
      </p:sp>
      <p:sp>
        <p:nvSpPr>
          <p:cNvPr id="10" name="Text 6"/>
          <p:cNvSpPr txBox="1"/>
          <p:nvPr/>
        </p:nvSpPr>
        <p:spPr>
          <a:xfrm>
            <a:off x="8595360" y="1783080"/>
            <a:ext cx="304769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VERIFIED (REV 2)</a:t>
            </a:r>
            <a:endParaRPr lang="en-US" sz="1100" dirty="0"/>
          </a:p>
        </p:txBody>
      </p:sp>
      <p:sp>
        <p:nvSpPr>
          <p:cNvPr id="11" name="Text 7"/>
          <p:cNvSpPr txBox="1"/>
          <p:nvPr/>
        </p:nvSpPr>
        <p:spPr>
          <a:xfrm>
            <a:off x="8595360" y="2103120"/>
            <a:ext cx="3047695" cy="29260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Frame 143.5 g (limit 150 g).</a:t>
            </a:r>
            <a:endParaRPr lang="en-US" sz="1400" dirty="0"/>
          </a:p>
          <a:p>
            <a:pPr indent="0" marL="0">
              <a:spcAft>
                <a:spcPts val="1000"/>
              </a:spcAft>
              <a:buNone/>
            </a:pPr>
            <a:r>
              <a:rPr lang="en-US" sz="1400" dirty="0">
                <a:solidFill>
                  <a:schemeClr val="tx1"/>
                </a:solidFill>
              </a:rPr>
              <a:t>Printed total 332 g; head 481 g.</a:t>
            </a:r>
            <a:endParaRPr lang="en-US" sz="1400" dirty="0"/>
          </a:p>
          <a:p>
            <a:pPr indent="0" marL="0">
              <a:spcAft>
                <a:spcPts val="1000"/>
              </a:spcAft>
              <a:buNone/>
            </a:pPr>
            <a:r>
              <a:rPr lang="en-US" sz="1400" dirty="0">
                <a:solidFill>
                  <a:schemeClr val="tx1"/>
                </a:solidFill>
              </a:rPr>
              <a:t>72 checks pass; no interference over the sweep.</a:t>
            </a:r>
            <a:endParaRPr lang="en-US" sz="1400" dirty="0"/>
          </a:p>
          <a:p>
            <a:pPr indent="0" marL="0">
              <a:spcAft>
                <a:spcPts val="1000"/>
              </a:spcAft>
              <a:buNone/>
            </a:pPr>
            <a:r>
              <a:rPr lang="en-US" sz="1400" dirty="0">
                <a:solidFill>
                  <a:schemeClr val="tx1"/>
                </a:solidFill>
              </a:rPr>
              <a:t>Open: servo ear pitch 47.0 vs 48.3 mm.</a:t>
            </a:r>
            <a:endParaRPr lang="en-US" sz="1400" dirty="0"/>
          </a:p>
        </p:txBody>
      </p:sp>
      <p:sp>
        <p:nvSpPr>
          <p:cNvPr id="12"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3" name="Text 9"/>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4"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SF = σ</a:t>
            </a:r>
            <a:pPr indent="0" marL="0">
              <a:buNone/>
            </a:pPr>
            <a:r>
              <a:rPr lang="en-US" sz="1800" baseline="-40000" dirty="0">
                <a:solidFill>
                  <a:schemeClr val="tx1"/>
                </a:solidFill>
                <a:latin typeface="Cambria" pitchFamily="34" charset="0"/>
                <a:ea typeface="Cambria" pitchFamily="34" charset="-122"/>
                <a:cs typeface="Cambria" pitchFamily="34" charset="-120"/>
              </a:rPr>
              <a:t>allow</a:t>
            </a:r>
            <a:pPr indent="0" marL="0">
              <a:buNone/>
            </a:pPr>
            <a:r>
              <a:rPr lang="en-US" sz="1800" dirty="0">
                <a:solidFill>
                  <a:schemeClr val="tx1"/>
                </a:solidFill>
                <a:latin typeface="Cambria" pitchFamily="34" charset="0"/>
                <a:ea typeface="Cambria" pitchFamily="34" charset="-122"/>
                <a:cs typeface="Cambria" pitchFamily="34" charset="-120"/>
              </a:rPr>
              <a:t> / σ;   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a:t>
            </a:r>
            <a:endParaRPr lang="en-US" sz="1800" dirty="0"/>
          </a:p>
        </p:txBody>
      </p:sp>
      <p:sp>
        <p:nvSpPr>
          <p:cNvPr id="15"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σ</a:t>
            </a:r>
            <a:pPr indent="0" marL="0">
              <a:buNone/>
            </a:pPr>
            <a:r>
              <a:rPr lang="en-US" sz="1300" baseline="-40000" dirty="0">
                <a:solidFill>
                  <a:schemeClr val="tx1"/>
                </a:solidFill>
                <a:latin typeface="Cambria" pitchFamily="34" charset="0"/>
                <a:ea typeface="Cambria" pitchFamily="34" charset="-122"/>
                <a:cs typeface="Cambria" pitchFamily="34" charset="-120"/>
              </a:rPr>
              <a:t>allow</a:t>
            </a:r>
            <a:pPr indent="0" marL="0">
              <a:buNone/>
            </a:pPr>
            <a:r>
              <a:rPr lang="en-US" sz="1300" dirty="0">
                <a:solidFill>
                  <a:schemeClr val="tx1"/>
                </a:solidFill>
                <a:latin typeface="Cambria" pitchFamily="34" charset="0"/>
                <a:ea typeface="Cambria" pitchFamily="34" charset="-122"/>
                <a:cs typeface="Cambria" pitchFamily="34" charset="-120"/>
              </a:rPr>
              <a:t> = 22.5 MPa. At 6 V stall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79.9 N: pinion 11.0 MPa, SF 2.05. Sync gear, one jaw takes 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113.9 N, SF 1.997.</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B7 · SAFETY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Safety: one hard stop, studs only, nobody underneath.</a:t>
            </a:r>
            <a:endParaRPr lang="en-US" sz="3000" dirty="0"/>
          </a:p>
        </p:txBody>
      </p:sp>
      <p:sp>
        <p:nvSpPr>
          <p:cNvPr id="4" name="safety_card_1"/>
          <p:cNvSpPr/>
          <p:nvPr/>
        </p:nvSpPr>
        <p:spPr>
          <a:xfrm>
            <a:off x="548640" y="1920240"/>
            <a:ext cx="2602154" cy="3108960"/>
          </a:xfrm>
          <a:prstGeom prst="rect">
            <a:avLst/>
          </a:prstGeom>
          <a:solidFill>
            <a:schemeClr val="accent5"/>
          </a:solidFill>
          <a:ln w="19050">
            <a:solidFill>
              <a:schemeClr val="accent1"/>
            </a:solidFill>
            <a:prstDash val="solid"/>
          </a:ln>
        </p:spPr>
      </p:sp>
      <p:pic>
        <p:nvPicPr>
          <p:cNvPr id="5" name="safety_icon_1" descr="One hard stop">    </p:cNvPr>
          <p:cNvPicPr>
            <a:picLocks noChangeAspect="1"/>
          </p:cNvPicPr>
          <p:nvPr/>
        </p:nvPicPr>
        <p:blipFill>
          <a:blip r:embed="rId1"/>
          <a:stretch>
            <a:fillRect/>
          </a:stretch>
        </p:blipFill>
        <p:spPr>
          <a:xfrm>
            <a:off x="822960" y="2194560"/>
            <a:ext cx="640080" cy="640080"/>
          </a:xfrm>
          <a:prstGeom prst="rect">
            <a:avLst/>
          </a:prstGeom>
        </p:spPr>
      </p:pic>
      <p:sp>
        <p:nvSpPr>
          <p:cNvPr id="6" name="Text 3"/>
          <p:cNvSpPr txBox="1"/>
          <p:nvPr/>
        </p:nvSpPr>
        <p:spPr>
          <a:xfrm>
            <a:off x="822960"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One hard stop</a:t>
            </a:r>
            <a:endParaRPr lang="en-US" sz="1900" dirty="0"/>
          </a:p>
        </p:txBody>
      </p:sp>
      <p:sp>
        <p:nvSpPr>
          <p:cNvPr id="7" name="Text 4"/>
          <p:cNvSpPr txBox="1"/>
          <p:nvPr/>
        </p:nvSpPr>
        <p:spPr>
          <a:xfrm>
            <a:off x="822960"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The switched power strip is the only stop. Faults and pause hold torque.</a:t>
            </a:r>
            <a:endParaRPr lang="en-US" sz="1500" dirty="0"/>
          </a:p>
        </p:txBody>
      </p:sp>
      <p:sp>
        <p:nvSpPr>
          <p:cNvPr id="8" name="safety_card_2"/>
          <p:cNvSpPr/>
          <p:nvPr/>
        </p:nvSpPr>
        <p:spPr>
          <a:xfrm>
            <a:off x="3379394" y="1920240"/>
            <a:ext cx="2602154" cy="3108960"/>
          </a:xfrm>
          <a:prstGeom prst="rect">
            <a:avLst/>
          </a:prstGeom>
          <a:solidFill>
            <a:schemeClr val="bg2"/>
          </a:solidFill>
          <a:ln w="6350">
            <a:solidFill>
              <a:schemeClr val="bg2"/>
            </a:solidFill>
            <a:prstDash val="solid"/>
          </a:ln>
        </p:spPr>
      </p:sp>
      <p:pic>
        <p:nvPicPr>
          <p:cNvPr id="9" name="safety_icon_2" descr="Studs only">    </p:cNvPr>
          <p:cNvPicPr>
            <a:picLocks noChangeAspect="1"/>
          </p:cNvPicPr>
          <p:nvPr/>
        </p:nvPicPr>
        <p:blipFill>
          <a:blip r:embed="rId2"/>
          <a:stretch>
            <a:fillRect/>
          </a:stretch>
        </p:blipFill>
        <p:spPr>
          <a:xfrm>
            <a:off x="3653714" y="2194560"/>
            <a:ext cx="640080" cy="640080"/>
          </a:xfrm>
          <a:prstGeom prst="rect">
            <a:avLst/>
          </a:prstGeom>
        </p:spPr>
      </p:pic>
      <p:sp>
        <p:nvSpPr>
          <p:cNvPr id="10" name="Text 6"/>
          <p:cNvSpPr txBox="1"/>
          <p:nvPr/>
        </p:nvSpPr>
        <p:spPr>
          <a:xfrm>
            <a:off x="3653714"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Studs only</a:t>
            </a:r>
            <a:endParaRPr lang="en-US" sz="1900" dirty="0"/>
          </a:p>
        </p:txBody>
      </p:sp>
      <p:sp>
        <p:nvSpPr>
          <p:cNvPr id="11" name="Text 7"/>
          <p:cNvSpPr txBox="1"/>
          <p:nvPr/>
        </p:nvSpPr>
        <p:spPr>
          <a:xfrm>
            <a:off x="3653714"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Stations anchor into wall studs; the line pulls them off the wall, so screws see pull-out.</a:t>
            </a:r>
            <a:endParaRPr lang="en-US" sz="1500" dirty="0"/>
          </a:p>
        </p:txBody>
      </p:sp>
      <p:sp>
        <p:nvSpPr>
          <p:cNvPr id="12" name="safety_card_3"/>
          <p:cNvSpPr/>
          <p:nvPr/>
        </p:nvSpPr>
        <p:spPr>
          <a:xfrm>
            <a:off x="6210148" y="1920240"/>
            <a:ext cx="2602154" cy="3108960"/>
          </a:xfrm>
          <a:prstGeom prst="rect">
            <a:avLst/>
          </a:prstGeom>
          <a:solidFill>
            <a:schemeClr val="bg2"/>
          </a:solidFill>
          <a:ln w="6350">
            <a:solidFill>
              <a:schemeClr val="bg2"/>
            </a:solidFill>
            <a:prstDash val="solid"/>
          </a:ln>
        </p:spPr>
      </p:sp>
      <p:pic>
        <p:nvPicPr>
          <p:cNvPr id="13" name="safety_icon_3" descr="Nobody under it">    </p:cNvPr>
          <p:cNvPicPr>
            <a:picLocks noChangeAspect="1"/>
          </p:cNvPicPr>
          <p:nvPr/>
        </p:nvPicPr>
        <p:blipFill>
          <a:blip r:embed="rId3"/>
          <a:stretch>
            <a:fillRect/>
          </a:stretch>
        </p:blipFill>
        <p:spPr>
          <a:xfrm>
            <a:off x="6484468" y="2194560"/>
            <a:ext cx="640080" cy="640080"/>
          </a:xfrm>
          <a:prstGeom prst="rect">
            <a:avLst/>
          </a:prstGeom>
        </p:spPr>
      </p:pic>
      <p:sp>
        <p:nvSpPr>
          <p:cNvPr id="14" name="Text 9"/>
          <p:cNvSpPr txBox="1"/>
          <p:nvPr/>
        </p:nvSpPr>
        <p:spPr>
          <a:xfrm>
            <a:off x="6484468"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Nobody under it</a:t>
            </a:r>
            <a:endParaRPr lang="en-US" sz="1900" dirty="0"/>
          </a:p>
        </p:txBody>
      </p:sp>
      <p:sp>
        <p:nvSpPr>
          <p:cNvPr id="15" name="Text 10"/>
          <p:cNvSpPr txBox="1"/>
          <p:nvPr/>
        </p:nvSpPr>
        <p:spPr>
          <a:xfrm>
            <a:off x="6484468"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Nobody stands under the robot while it moves.</a:t>
            </a:r>
            <a:endParaRPr lang="en-US" sz="1500" dirty="0"/>
          </a:p>
        </p:txBody>
      </p:sp>
      <p:sp>
        <p:nvSpPr>
          <p:cNvPr id="16" name="safety_card_4"/>
          <p:cNvSpPr/>
          <p:nvPr/>
        </p:nvSpPr>
        <p:spPr>
          <a:xfrm>
            <a:off x="9040901" y="1920240"/>
            <a:ext cx="2602154" cy="3108960"/>
          </a:xfrm>
          <a:prstGeom prst="rect">
            <a:avLst/>
          </a:prstGeom>
          <a:solidFill>
            <a:schemeClr val="bg2"/>
          </a:solidFill>
          <a:ln w="6350">
            <a:solidFill>
              <a:schemeClr val="bg2"/>
            </a:solidFill>
            <a:prstDash val="solid"/>
          </a:ln>
        </p:spPr>
      </p:sp>
      <p:pic>
        <p:nvPicPr>
          <p:cNvPr id="17" name="safety_icon_4" descr="Balance charging">    </p:cNvPr>
          <p:cNvPicPr>
            <a:picLocks noChangeAspect="1"/>
          </p:cNvPicPr>
          <p:nvPr/>
        </p:nvPicPr>
        <p:blipFill>
          <a:blip r:embed="rId4"/>
          <a:stretch>
            <a:fillRect/>
          </a:stretch>
        </p:blipFill>
        <p:spPr>
          <a:xfrm>
            <a:off x="9315221" y="2194560"/>
            <a:ext cx="640080" cy="640080"/>
          </a:xfrm>
          <a:prstGeom prst="rect">
            <a:avLst/>
          </a:prstGeom>
        </p:spPr>
      </p:pic>
      <p:sp>
        <p:nvSpPr>
          <p:cNvPr id="18" name="Text 12"/>
          <p:cNvSpPr txBox="1"/>
          <p:nvPr/>
        </p:nvSpPr>
        <p:spPr>
          <a:xfrm>
            <a:off x="9315221"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Balance charging</a:t>
            </a:r>
            <a:endParaRPr lang="en-US" sz="1900" dirty="0"/>
          </a:p>
        </p:txBody>
      </p:sp>
      <p:sp>
        <p:nvSpPr>
          <p:cNvPr id="19" name="Text 13"/>
          <p:cNvSpPr txBox="1"/>
          <p:nvPr/>
        </p:nvSpPr>
        <p:spPr>
          <a:xfrm>
            <a:off x="9315221"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Charge the 2S LiPo with a matched balance charger, pack off the robot.</a:t>
            </a:r>
            <a:endParaRPr lang="en-US" sz="1500" dirty="0"/>
          </a:p>
        </p:txBody>
      </p:sp>
      <p:sp>
        <p:nvSpPr>
          <p:cNvPr id="20" name="Text 14"/>
          <p:cNvSpPr txBox="1"/>
          <p:nvPr/>
        </p:nvSpPr>
        <p:spPr>
          <a:xfrm>
            <a:off x="548640" y="5349240"/>
            <a:ext cx="11094415" cy="365760"/>
          </a:xfrm>
          <a:prstGeom prst="rect">
            <a:avLst/>
          </a:prstGeom>
          <a:noFill/>
          <a:ln/>
        </p:spPr>
        <p:txBody>
          <a:bodyPr wrap="square" lIns="0" tIns="0" rIns="0" bIns="0" rtlCol="0" anchor="ctr"/>
          <a:lstStyle/>
          <a:p>
            <a:pPr indent="0" marL="0">
              <a:buNone/>
            </a:pPr>
            <a:r>
              <a:rPr lang="en-US" sz="1400" dirty="0">
                <a:solidFill>
                  <a:schemeClr val="tx2"/>
                </a:solidFill>
              </a:rPr>
              <a:t>No safety-rated function is claimed (ISO 13849 and IEC 61508 are not claimed).</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Flight Test Report">
  <a:themeElements>
    <a:clrScheme name="Flight Test Report">
      <a:dk1>
        <a:srgbClr val="0E1116"/>
      </a:dk1>
      <a:lt1>
        <a:srgbClr val="FFFFFF"/>
      </a:lt1>
      <a:dk2>
        <a:srgbClr val="6B7480"/>
      </a:dk2>
      <a:lt2>
        <a:srgbClr val="E9ECEF"/>
      </a:lt2>
      <a:accent1>
        <a:srgbClr val="FF6A13"/>
      </a:accent1>
      <a:accent2>
        <a:srgbClr val="6B7480"/>
      </a:accent2>
      <a:accent3>
        <a:srgbClr val="0E1116"/>
      </a:accent3>
      <a:accent4>
        <a:srgbClr val="A9B0B8"/>
      </a:accent4>
      <a:accent5>
        <a:srgbClr val="FFE6D6"/>
      </a:accent5>
      <a:accent6>
        <a:srgbClr val="3A414B"/>
      </a:accent6>
      <a:hlink>
        <a:srgbClr val="FF6A13"/>
      </a:hlink>
      <a:folHlink>
        <a:srgbClr val="6B7480"/>
      </a:folHlink>
    </a:clrScheme>
    <a:fontScheme name="Flight Test Repor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 — technical presentation (draft)</dc:title>
  <dc:subject>PptxGenJS Presentation</dc:subject>
  <dc:creator>Jasper Buntinx</dc:creator>
  <cp:lastModifiedBy>Jasper Buntinx</cp:lastModifiedBy>
  <cp:revision>1</cp:revision>
  <dcterms:created xsi:type="dcterms:W3CDTF">2026-10-21T12:29:05Z</dcterms:created>
  <dcterms:modified xsi:type="dcterms:W3CDTF">2026-10-21T12:29:05Z</dcterms:modified>
</cp:coreProperties>
</file>