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0f2414f0-ad0f-4d15-30c7-176af8c9bc37}">
          <p14:sldIdLst>
            <p14:sldId id="256"/>
            <p14:sldId id="257"/>
            <p14:sldId id="258"/>
          </p14:sldIdLst>
        </p14:section>
        <p14:section name="Act 1 · Physics sets the limits" id="{e776fdcd-9f38-e101-2b0a-995e2272a6d9}">
          <p14:sldIdLst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4"/>
          <c:y val="0.04"/>
          <c:w val="0.82"/>
          <c:h val="0.6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Static: 1 lb + 0.45 kg claw</c:v>
                </c:pt>
              </c:strCache>
            </c:strRef>
          </c:tx>
          <c:spPr>
            <a:solidFill>
              <a:srgbClr val="FF6A13"/>
            </a:solidFill>
            <a:ln w="38100" cap="flat">
              <a:solidFill>
                <a:srgbClr val="FF6A1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E111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A13"/>
              </a:solidFill>
              <a:ln w="9525" cap="flat">
                <a:solidFill>
                  <a:srgbClr val="FF6A1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0.15</c:v>
                  </c:pt>
                  <c:pt idx="1">
                    <c:v>0.20</c:v>
                  </c:pt>
                  <c:pt idx="2">
                    <c:v>0.25</c:v>
                  </c:pt>
                  <c:pt idx="3">
                    <c:v>0.30</c:v>
                  </c:pt>
                  <c:pt idx="4">
                    <c:v>0.35</c:v>
                  </c:pt>
                  <c:pt idx="5">
                    <c:v>0.40</c:v>
                  </c:pt>
                  <c:pt idx="6">
                    <c:v>0.45</c:v>
                  </c:pt>
                  <c:pt idx="7">
                    <c:v>0.50</c:v>
                  </c:pt>
                  <c:pt idx="8">
                    <c:v>0.55</c:v>
                  </c:pt>
                  <c:pt idx="9">
                    <c:v>0.60</c:v>
                  </c:pt>
                  <c:pt idx="10">
                    <c:v>0.65</c:v>
                  </c:pt>
                  <c:pt idx="11">
                    <c:v>0.70</c:v>
                  </c:pt>
                  <c:pt idx="12">
                    <c:v>0.75</c:v>
                  </c:pt>
                  <c:pt idx="13">
                    <c:v>0.80</c:v>
                  </c:pt>
                  <c:pt idx="14">
                    <c:v>0.85</c:v>
                  </c:pt>
                  <c:pt idx="15">
                    <c:v>0.90</c:v>
                  </c:pt>
                  <c:pt idx="16">
                    <c:v>0.95</c:v>
                  </c:pt>
                  <c:pt idx="17">
                    <c:v>1.00</c:v>
                  </c:pt>
                  <c:pt idx="18">
                    <c:v>1.05</c:v>
                  </c:pt>
                  <c:pt idx="19">
                    <c:v>1.10</c:v>
                  </c:pt>
                  <c:pt idx="20">
                    <c:v>1.15</c:v>
                  </c:pt>
                  <c:pt idx="21">
                    <c:v>1.20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32.1</c:v>
                </c:pt>
                <c:pt idx="1">
                  <c:v>24.1</c:v>
                </c:pt>
                <c:pt idx="2">
                  <c:v>19.3</c:v>
                </c:pt>
                <c:pt idx="3">
                  <c:v>16.2</c:v>
                </c:pt>
                <c:pt idx="4">
                  <c:v>13.9</c:v>
                </c:pt>
                <c:pt idx="5">
                  <c:v>12.2</c:v>
                </c:pt>
                <c:pt idx="6">
                  <c:v>10.9</c:v>
                </c:pt>
                <c:pt idx="7">
                  <c:v>9.9</c:v>
                </c:pt>
                <c:pt idx="8">
                  <c:v>9</c:v>
                </c:pt>
                <c:pt idx="9">
                  <c:v>8.3</c:v>
                </c:pt>
                <c:pt idx="10">
                  <c:v>7.7</c:v>
                </c:pt>
                <c:pt idx="11">
                  <c:v>7.2</c:v>
                </c:pt>
                <c:pt idx="12">
                  <c:v>6.8</c:v>
                </c:pt>
                <c:pt idx="13">
                  <c:v>6.4</c:v>
                </c:pt>
                <c:pt idx="14">
                  <c:v>6.1</c:v>
                </c:pt>
                <c:pt idx="15">
                  <c:v>5.8</c:v>
                </c:pt>
                <c:pt idx="16">
                  <c:v>5.5</c:v>
                </c:pt>
                <c:pt idx="17">
                  <c:v>5.3</c:v>
                </c:pt>
                <c:pt idx="18">
                  <c:v>5.1</c:v>
                </c:pt>
                <c:pt idx="19">
                  <c:v>4.9</c:v>
                </c:pt>
                <c:pt idx="20">
                  <c:v>4.7</c:v>
                </c:pt>
                <c:pt idx="21">
                  <c:v>4.6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+2 m/s²</c:v>
                </c:pt>
              </c:strCache>
            </c:strRef>
          </c:tx>
          <c:spPr>
            <a:solidFill>
              <a:srgbClr val="6B7480"/>
            </a:solidFill>
            <a:ln w="38100" cap="flat">
              <a:solidFill>
                <a:srgbClr val="6B748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E111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B7480"/>
              </a:solidFill>
              <a:ln w="9525" cap="flat">
                <a:solidFill>
                  <a:srgbClr val="6B748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0.15</c:v>
                  </c:pt>
                  <c:pt idx="1">
                    <c:v>0.20</c:v>
                  </c:pt>
                  <c:pt idx="2">
                    <c:v>0.25</c:v>
                  </c:pt>
                  <c:pt idx="3">
                    <c:v>0.30</c:v>
                  </c:pt>
                  <c:pt idx="4">
                    <c:v>0.35</c:v>
                  </c:pt>
                  <c:pt idx="5">
                    <c:v>0.40</c:v>
                  </c:pt>
                  <c:pt idx="6">
                    <c:v>0.45</c:v>
                  </c:pt>
                  <c:pt idx="7">
                    <c:v>0.50</c:v>
                  </c:pt>
                  <c:pt idx="8">
                    <c:v>0.55</c:v>
                  </c:pt>
                  <c:pt idx="9">
                    <c:v>0.60</c:v>
                  </c:pt>
                  <c:pt idx="10">
                    <c:v>0.65</c:v>
                  </c:pt>
                  <c:pt idx="11">
                    <c:v>0.70</c:v>
                  </c:pt>
                  <c:pt idx="12">
                    <c:v>0.75</c:v>
                  </c:pt>
                  <c:pt idx="13">
                    <c:v>0.80</c:v>
                  </c:pt>
                  <c:pt idx="14">
                    <c:v>0.85</c:v>
                  </c:pt>
                  <c:pt idx="15">
                    <c:v>0.90</c:v>
                  </c:pt>
                  <c:pt idx="16">
                    <c:v>0.95</c:v>
                  </c:pt>
                  <c:pt idx="17">
                    <c:v>1.00</c:v>
                  </c:pt>
                  <c:pt idx="18">
                    <c:v>1.05</c:v>
                  </c:pt>
                  <c:pt idx="19">
                    <c:v>1.10</c:v>
                  </c:pt>
                  <c:pt idx="20">
                    <c:v>1.15</c:v>
                  </c:pt>
                  <c:pt idx="21">
                    <c:v>1.20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38.6</c:v>
                </c:pt>
                <c:pt idx="1">
                  <c:v>29</c:v>
                </c:pt>
                <c:pt idx="2">
                  <c:v>23.3</c:v>
                </c:pt>
                <c:pt idx="3">
                  <c:v>19.4</c:v>
                </c:pt>
                <c:pt idx="4">
                  <c:v>16.7</c:v>
                </c:pt>
                <c:pt idx="5">
                  <c:v>14.7</c:v>
                </c:pt>
                <c:pt idx="6">
                  <c:v>13.1</c:v>
                </c:pt>
                <c:pt idx="7">
                  <c:v>11.9</c:v>
                </c:pt>
                <c:pt idx="8">
                  <c:v>10.8</c:v>
                </c:pt>
                <c:pt idx="9">
                  <c:v>10</c:v>
                </c:pt>
                <c:pt idx="10">
                  <c:v>9.3</c:v>
                </c:pt>
                <c:pt idx="11">
                  <c:v>8.7</c:v>
                </c:pt>
                <c:pt idx="12">
                  <c:v>8.2</c:v>
                </c:pt>
                <c:pt idx="13">
                  <c:v>7.7</c:v>
                </c:pt>
                <c:pt idx="14">
                  <c:v>7.3</c:v>
                </c:pt>
                <c:pt idx="15">
                  <c:v>7</c:v>
                </c:pt>
                <c:pt idx="16">
                  <c:v>6.6</c:v>
                </c:pt>
                <c:pt idx="17">
                  <c:v>6.4</c:v>
                </c:pt>
                <c:pt idx="18">
                  <c:v>6.1</c:v>
                </c:pt>
                <c:pt idx="19">
                  <c:v>5.9</c:v>
                </c:pt>
                <c:pt idx="20">
                  <c:v>5.7</c:v>
                </c:pt>
                <c:pt idx="21">
                  <c:v>5.5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E111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B7480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6B7480"/>
                    </a:solidFill>
                    <a:latin typeface="+mn-lt"/>
                  </a:rPr>
                  <a:t>Depth below the anchors (m)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9B0B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4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9525" cap="flat">
              <a:solidFill>
                <a:srgbClr val="E9EC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B7480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6B7480"/>
                    </a:solidFill>
                    <a:latin typeface="+mn-lt"/>
                  </a:rPr>
                  <a:t>Tension per cable (N)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E111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1"/>
          <c:w val="0.84"/>
          <c:h val="0.5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claw that still lifts 0.9 kg jeans (g)</c:v>
                </c:pt>
              </c:strCache>
            </c:strRef>
          </c:tx>
          <c:spPr>
            <a:solidFill>
              <a:srgbClr val="6B7480"/>
            </a:solidFill>
            <a:effectLst/>
          </c:spPr>
          <c:invertIfNegative val="0"/>
          <c:dLbls>
            <c:numFmt formatCode="#,##0&quot; g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E11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4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48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A1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B748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Ø15 mm
11.9 N</c:v>
                  </c:pt>
                  <c:pt idx="1">
                    <c:v>Ø12 mm
14.0 N</c:v>
                  </c:pt>
                  <c:pt idx="2">
                    <c:v>Ø10 mm
14.9 N</c:v>
                  </c:pt>
                  <c:pt idx="3">
                    <c:v>Ø8 mm
15.9 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202</c:v>
                </c:pt>
                <c:pt idx="1">
                  <c:v>397</c:v>
                </c:pt>
                <c:pt idx="2">
                  <c:v>478</c:v>
                </c:pt>
                <c:pt idx="3">
                  <c:v>570</c:v>
                </c:pt>
              </c:numCache>
            </c:numRef>
          </c:val>
        </c:ser>
        <c:dLbls>
          <c:numFmt formatCode="#,##0&quot; g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E111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B7480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6B7480"/>
                    </a:solidFill>
                    <a:latin typeface="+mn-lt"/>
                  </a:rPr>
                  <a:t>Spool core and design force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9B0B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4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"/>
          <c:min val="0"/>
        </c:scaling>
        <c:delete val="0"/>
        <c:axPos val="l"/>
        <c:majorGridlines>
          <c:spPr>
            <a:ln w="9525" cap="flat">
              <a:solidFill>
                <a:srgbClr val="E9EC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B7480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6B7480"/>
                    </a:solidFill>
                    <a:latin typeface="+mn-lt"/>
                  </a:rPr>
                  <a:t>Largest claw (g)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84"/>
          <c:h val="0.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fin</c:v>
                </c:pt>
              </c:strCache>
            </c:strRef>
          </c:tx>
          <c:spPr>
            <a:solidFill>
              <a:srgbClr val="6B748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E11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 air</c:v>
                  </c:pt>
                  <c:pt idx="1">
                    <c:v>Vented shell</c:v>
                  </c:pt>
                  <c:pt idx="2">
                    <c:v>Sealed shell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47</c:v>
                </c:pt>
                <c:pt idx="1">
                  <c:v>51</c:v>
                </c:pt>
                <c:pt idx="2">
                  <c:v>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As-built fin, 0.019 in</c:v>
                </c:pt>
              </c:strCache>
            </c:strRef>
          </c:tx>
          <c:spPr>
            <a:solidFill>
              <a:srgbClr val="FF6A1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E11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 air</c:v>
                  </c:pt>
                  <c:pt idx="1">
                    <c:v>Vented shell</c:v>
                  </c:pt>
                  <c:pt idx="2">
                    <c:v>Sealed shell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39</c:v>
                </c:pt>
                <c:pt idx="1">
                  <c:v>41</c:v>
                </c:pt>
                <c:pt idx="2">
                  <c:v>46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Drawn fin, 1/8 in</c:v>
                </c:pt>
              </c:strCache>
            </c:strRef>
          </c:tx>
          <c:spPr>
            <a:solidFill>
              <a:srgbClr val="A9B0B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E11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 air</c:v>
                  </c:pt>
                  <c:pt idx="1">
                    <c:v>Vented shell</c:v>
                  </c:pt>
                  <c:pt idx="2">
                    <c:v>Sealed shell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35</c:v>
                </c:pt>
                <c:pt idx="1">
                  <c:v>36</c:v>
                </c:pt>
                <c:pt idx="2">
                  <c:v>40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100" u="none">
                  <a:solidFill>
                    <a:srgbClr val="0E111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9B0B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4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9525" cap="flat">
              <a:solidFill>
                <a:srgbClr val="E9EC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B7480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6B7480"/>
                    </a:solidFill>
                    <a:latin typeface="+mn-lt"/>
                  </a:rPr>
                  <a:t>Motor case temperature (°C)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E111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4"/>
          <c:y val="0.04"/>
          <c:w val="0.92"/>
          <c:h val="0.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 efficiency (%)</c:v>
                </c:pt>
              </c:strCache>
            </c:strRef>
          </c:tx>
          <c:spPr>
            <a:solidFill>
              <a:srgbClr val="6B748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E11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4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6A1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Drawn 1/8 in</c:v>
                  </c:pt>
                  <c:pt idx="1">
                    <c:v>Built 0.019 in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74</c:v>
                </c:pt>
                <c:pt idx="1">
                  <c:v>37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E111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9B0B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I set out to build a ceiling robot that picks laundry off my floor; every time a measurement disagreed with my plan I changed the design, and every change traces back to a first-principles equation.
NUMBERS: Four wall winch stations, one claw on four cables. Target payload 0.9 kg of jeans (provisional screening reference). About 30 minutes of content, 12 decision slides (4 to 15), 7 backups.
LIKELY QUESTION: Give me the 30-second version.
ANSWER: Four wall-mounted winch stations hold a claw on four cables. The claw descends onto the laundry, closes its jaws with one servo, carries the load and releases it over a hamper. I will show twelve decisions where a calculation or a measurement forced me to change the plan, including the ones that did not work out.
NEED FROM JASPER: Confirm the title wording and the panel date (Tue Oct 27). Photo 13 is the gen-1 station lifting the test weight (no weight, duration or result is recorded, so the slide makes no claim about it).
SOURCE: docs/presentation/DECK_STORYLINE.md slide 1; photo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This is a solo build over about three months: I bought a few modules and designed, printed, machined and wired everything else.
NUMBERS: Jul 16 first commit (simulator, BOM, first CAD); Aug gen-1 printed plate and bench; Oct 7 SolidWorks gen-2 station; Oct 20 gripper v6; Oct 27 panel. Purchased: A4988 driver, ESP32, DROK buck, MG996R servo. Tags: MEASURED = instrument on hardware, CALCULATED = hand calculation, SIMULATED = ran in a model, PLANNED = not done yet.
LIKELY QUESTION: What did you actually do yourself?
ANSWER: I drew the parts, printed them (PETG structural, TPU 95A fingers), sheared and drilled the aluminium fins on a manual mill, wired the bench and perfboard electronics, and wrote the control logic. The purchased modules are the driver, the ESP32, the buck converter and the servo.
NEED FROM JASPER: Confirm the true start date (git says Jul 16; the older outline said Aug 6) and the printer and filament used for fit-critical parts (K1 or K1 Max, brand).
SOURCE: DECK_STORYLINE.md slide 2; DECISION_STORIES.md section 4 item 1 and Q20.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Done means a pair of jeans, about 0.9 kg, goes from anywhere on the floor into the hamper with nobody touching it.
NUMBERS: Payload 0.9 kg (provisional screening reference for jeans) plus 2 m/s² vertical acceleration; first test load 1 lb (0.454 kg). Claw mass budget 0.45 kg (requirement R7; the printed claw is estimated at 1.05 to 1.25 kg and has not been weighed). Four stations screwed into studs. The switched power strip is the only stop (decision D21; no safety-rated function is claimed). Nobody under the robot.
LIKELY QUESTION: Why 0.9 kg?
ANSWER: It is a provisional screening reference for a pair of jeans, not a measured garment; the first physical test load is 1 lb. Weighing a representative pair is on my list.
NEED FROM JASPER: Weigh a representative pair of jeans. Decide which claw mass you want to defend: the 450 g requirement against the unweighed 1.05 to 1.25 kg estimate (slide 5 depends on it).
SOURCE: REQUIREMENTS.md R1, R7; DECISIONS.md D21; FUNDAMENTALS.md section 5 and the note on the 0.45 kg input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Cable tension scales as one over the sine of the cable angle, so the room's limits come from cable geometry and the claw's own weight, not from the payload.
NUMBERS: Equal share, claw centred: W = (0.454 + 0.45) kg x 9.81 = 8.86 N; D_h = 2.17 m. T = 32.1 / 16.2 / 8.3 / 4.6 N per cable at 0.15 / 0.30 / 0.60 / 1.20 m below the anchors; with +2 m/s² 38.6 / 19.4 / 10.0 / 5.5 N. Winch design force 11.9 N (17.9 N running at a full spool, divided by a 1.5 skip margin, slide 5). Shallowest centred depth the winches can hold: 0.27 m static, 0.33 m with +2 m/s², 0.50 m with the 1.5 margin. Whole-room worst case (best split by linear program, 0.2 m wall margin, 1.06 A, 1.5 margin): largest tension 1.10 x total weight at the highest task pose (0.99 m below the anchors), holding 1.10 kg total.
LIKELY QUESTION 1: What about off-centre?
ANSWER: The four-cable split is statically indeterminate (four cables, three force equations), so I find the best split by a linear program that minimises the largest tension. The worst spot is high against the middle of a long wall; the equal-share table is a lower bound for any pose off the centre.
LIKELY QUESTION 2: Why a 0.4 m ceiling margin if the corner binds?
ANSWER: Tension doubles each time the depth halves, so the planner never lets the claw closer than 0.4 m to the anchors; at that limit the same linear program only allows 0.50 kg total (2.42 x weight), so the margin is a floor, not a comfortable value.
CHECK BEFORE SAYING: Say 'at task heights' when you say the corner binds. At the 0.4 m ceiling limit the capacity is lower (2.42 x weight, 0.50 kg), so 'the walls bind before the ceiling' only holds for task poses (highest task pose 0.99 m below the anchors).
NEED FROM JASPER: A weighed claw mass: every capacity number uses the 0.45 kg budget, which has not been weighed.
SOURCE: FUNDAMENTALS.md section 1; docs/decisions/WINCH_CAPACITY_20261021.md.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My own numbers told me my claw outgrew my winches: the driver board caps the current at 1.06 A, so I am buying the pull back with geometry instead of hacking the driver.
NUMBERS: Vref pot maximum 0.85 V (MEASURED on the red R100 boards, 3.3 V logic; an earlier entry says 0.79 V, which gives 0.99 A, so there is a 7 % spread). I = Vref / (8 Rs) = 0.85 / 0.8 = 1.06 A. Holding torque 0.36 N·m x 1.0625 / 1.5 = 0.255 N·m; running torque 0.7 x holding = 0.179 N·m (the 0.7 is assumed). Pull T = tau / r: 23.8 N at the 7.5 mm core, 17.9 N at a full 10 mm spool; design force (divided by 1.5) 15.9 N and 11.9 N; snag case 34 N. Largest claw that still lifts 0.9 kg of jeans at the highest task pose: 202 g (Ø15 core, 1.10 kg held), 397 g (Ø12), 478 g (Ø10, +25 %), 570 g (Ø8, which fails the 20:1 bend ratio and the tie-off). Needed: 0.45 kg claw + 0.9 kg = 1.35 kg, which is 1.22 x what the Ø15 spool can hold. Printed claw estimate 1.05 to 1.25 kg (unweighed) gives 2.0 to 2.2 kg with jeans. A 3:1 reduction at each winch buys about 2.7 x (2.98 to 3.09 kg held at a 0.2 m wall margin).
LIKELY QUESTION 1: Why not raise Vref or run 5 V logic?
ANSWER: I do not want to modify the driver, and a 3.3 V GPIO cannot guarantee a HIGH into a 5 V-logic input. So I run at the board maximum and recover pull mechanically: T = tau / r, so a smaller core gives more tension.
LIKELY QUESTION 2: Is the 0.7 running-torque factor right?
ANSWER: It is assumed (an earlier table used 0.5). A 15-minute luggage-scale pull test at 1.06 A, empty and full spool, replaces it with a number. If the full-spool pull is under about 25 N, which is likely, the memo recommends a 3:1 reduction for gen 3 and a lighter payload for the demo.
CHECK BEFORE SAYING: Do not quote the old '43 N', '34 N per cable' or '750 g claw budget' (D29/D30): they used holding torque, not running pull. Three different things are called tension: running pull (23.8 / 17.9 N), derated design value (11.9 N), snag load (34 N).
NEED FROM JASPER: Decision D31: 3:1 reduction, Ø10 core with a lighter claw, or a lighter payload for the demo. The pull-test readings. A weighed claw.
SOURCE: FUNDAMENTALS.md section 2; docs/decisions/WINCH_CAPACITY_20261021.md.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Sealing the station in PETG meant the motor's only way out for heat was through plastic that conducts about one eight-hundredth as well as aluminium, so the mount that carries the cable load would run hot; I put a fin through the shell.
NUMBERS: A holding stepper dissipates P = I²R continuously: 1.0625² x 1.8 Ω = 2.0 W (coil resistance 1.8 Ω is ASSUMED; measure it with a meter). Conductivity: aluminium 160 vs PETG 0.2 W/m·K (800 x). Conduction resistance through the flange contact (42.3 mm square): 0.011 K/W aluminium vs 14.0 K/W PETG (1260 x). Two-node model at 23 °C ceiling air, h = 7 W/m²·K: sealed shell 64 °C with no fin, 46 °C with the as-built fin (carries 50 % of the heat), 40 °C with the drawn 1/8 in fin (68 %); vented 51 / 41 / 36 °C; open 47 / 39 / 35 °C. The sealed as-built case spans 45 to 49 °C over the h and conductivity ranges. Sealed-shell time constant 35 min.
LIKELY QUESTION 1: How do you know the fin works without a thermometer?
ANSWER: I do not yet: these are CALCULATED values from a lumped model with an assumed coil resistance, film coefficient and shell resistances. The hold test is planned: thermometers on the motor case, the fin and the PETG tab at 1.06 A, pass limit below 60 °C.
LIKELY QUESTION 2: Why a fin and not a TMC2209 or lower current?
ANSWER: I weighed seven options (vents, aluminium fin, clip-on sink, TMC2209 drivers, ASA shell, thermistor park, lower current). The fin plus vents is the biggest gain with no new electronics; lower current costs pull, which is exactly the thing slide 5 is short of.
CHECK BEFORE SAYING: Hold-test length: the storyline says 60 minutes, FUNDAMENTALS section 3 says 90 minutes (covers 92 % of the final rise; 60 minutes covers about 82 % with the 35-minute time constant). Decide before the test. The storyline's '70 to 100 °C' for the PETG joint is not in the fundamentals sheet (the model says 64 °C sealed, no fin); do not quote it unless you have a source.
NEED FROM JASPER: What first made you suspect heat (warm motor, soft PETG, a calculation); which other options you actually considered and why each lost; any thermometer reading; coil resistance measured with a meter.
SOURCE: FUNDAMENTALS.md section 3; DECK_STORYLINE.md slide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sheet I could shear and drill on the bench was 0.019 inch, not the 1/8 inch I drew, so before accepting it I re-ran the fin equation: efficiency drops from 74 to 37 percent but the fin still carries about half of the motor's heat.
NUMBERS: Fin parameter m = sqrt(2h/(k t)) with h = 7 W/m²·K, k = 160, L = 200 mm exposed. As built t = 0.483 mm: m = 13.5 /m, mL = 2.69, efficiency 37 % (33 to 43 % over h = 9 to 5), R_fin 22.1 K/W. Drawn t = 3.175 mm: m = 5.25, mL = 1.05, efficiency 74 % (70 to 80 %), R_fin 10.9 K/W. Sealed shell at 1.06 A: 46 °C (fin share 50 %) vs 40 °C (68 %) for the drawn plate: the thin fin costs about 6 K. Fit: 7/8 in (22.225 mm) centre hole over the 22.0 mm motor pilot boss, about 0.1 mm per side. Screws now reach 3.175 - 0.483 = 2.7 mm deeper into the motor.
LIKELY QUESTION 1: Why does a thinner fin still work?
ANSWER: The exposed area is the same, so the fin still carries about half the heat; the efficiency halves, so the sealed motor runs about 6 K hotter than with the drawn plate. I checked that before accepting the sheet.
LIKELY QUESTION 2: What tolerance did you reach?
ANSWER: The drawing called for positions within 0.1 mm of each other in one setup; I have not caliper-checked the as-built part (need from me).
CHECK BEFORE SAYING: Drawing notes (DECISION_STORIES story 1) give a Ø22.5 pilot hole; the as-built part uses a 7/8 in (22.225 mm) hole per the storyline and photo README. Confirm which is on the part. Say 'about 74 %' (the storyline's 'about 75 %' is the same number rounded).
NEED FROM JASPER: Photo of the fin installed in the station; hole-position tolerance (calipers); time per fin and any scrap; how the dimensions moved from 100 x 100 to 44 x 150 to 44 x 250 and why 1/8 in stock; where you sourced it and how many fins you made. Photo 03 (mill set-up with the printed drawing) is not on this slide: use it if you want the drawing shown.
SOURCE: FUNDAMENTALS.md section 3; DECK_STORYLINE.md slide 7; photos 06, 01,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51206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Title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49377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A9B0B8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A9B0B8"/>
                </a:solidFill>
              </a:rPr>
              <a:t>Subtitle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5852160"/>
            <a:ext cx="49377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Name · date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371600"/>
            <a:ext cx="3657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566160"/>
            <a:ext cx="8229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Section claim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84632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A9B0B8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A9B0B8"/>
                </a:solidFill>
              </a:rPr>
              <a:t>One line on what this act covers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EYEBROW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935705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Claim title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tx2"/>
                </a:solidFill>
              </a:rPr>
              <a:t>ROOMCLEANER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731520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EYEBROW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Closing claim</a:t>
            </a: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RoomCleaner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9B0B8"/>
                </a:solidFill>
              </a:rPr>
              <a:t>A four-cable ceiling robot that picks laundry off the floor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5852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Jasper Buntinx · Technical presentation · Oct 27, 2026</a:t>
            </a:r>
            <a:endParaRPr lang="en-US" sz="1200" dirty="0"/>
          </a:p>
        </p:txBody>
      </p:sp>
      <p:pic>
        <p:nvPicPr>
          <p:cNvPr id="5" name="hero_photo" descr="hero_photo">    </p:cNvPr>
          <p:cNvPicPr>
            <a:picLocks noChangeAspect="1"/>
          </p:cNvPicPr>
          <p:nvPr/>
        </p:nvPicPr>
        <p:blipFill>
          <a:blip r:embed="rId1"/>
          <a:srcRect l="0" r="0" t="11647" b="11647"/>
          <a:stretch/>
        </p:blipFill>
        <p:spPr>
          <a:xfrm>
            <a:off x="5486263" y="0"/>
            <a:ext cx="670543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BUILT · HOW I WORKED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Solo build: four winch stations, a camera claw, and the software.</a:t>
            </a:r>
            <a:endParaRPr lang="en-US" sz="3000" dirty="0"/>
          </a:p>
        </p:txBody>
      </p:sp>
      <p:sp>
        <p:nvSpPr>
          <p:cNvPr id="4" name="timeline_axis"/>
          <p:cNvSpPr/>
          <p:nvPr/>
        </p:nvSpPr>
        <p:spPr>
          <a:xfrm>
            <a:off x="1371600" y="2697480"/>
            <a:ext cx="944849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5" name="tl_node_1"/>
          <p:cNvSpPr/>
          <p:nvPr/>
        </p:nvSpPr>
        <p:spPr>
          <a:xfrm>
            <a:off x="1271016" y="2596896"/>
            <a:ext cx="201168" cy="201168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16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32644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Simulator, BOM, first CAD</a:t>
            </a:r>
            <a:endParaRPr lang="en-US" sz="1300" dirty="0"/>
          </a:p>
        </p:txBody>
      </p:sp>
      <p:sp>
        <p:nvSpPr>
          <p:cNvPr id="9" name="tl_node_2"/>
          <p:cNvSpPr/>
          <p:nvPr/>
        </p:nvSpPr>
        <p:spPr>
          <a:xfrm>
            <a:off x="3633140" y="2596896"/>
            <a:ext cx="201168" cy="201168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10764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27884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Gen-1 bench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27884" y="32644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Printed plate, test weight</a:t>
            </a:r>
            <a:endParaRPr lang="en-US" sz="1300" dirty="0"/>
          </a:p>
        </p:txBody>
      </p:sp>
      <p:sp>
        <p:nvSpPr>
          <p:cNvPr id="13" name="tl_node_3"/>
          <p:cNvSpPr/>
          <p:nvPr/>
        </p:nvSpPr>
        <p:spPr>
          <a:xfrm>
            <a:off x="5995264" y="2596896"/>
            <a:ext cx="201168" cy="201168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72888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90008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SolidWorks gen-2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90008" y="32644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Station v1 to v3</a:t>
            </a:r>
            <a:endParaRPr lang="en-US" sz="1300" dirty="0"/>
          </a:p>
        </p:txBody>
      </p:sp>
      <p:sp>
        <p:nvSpPr>
          <p:cNvPr id="17" name="tl_node_4"/>
          <p:cNvSpPr/>
          <p:nvPr/>
        </p:nvSpPr>
        <p:spPr>
          <a:xfrm>
            <a:off x="8357387" y="259689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011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452131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Gripper v6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452131" y="32644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Geared jaws</a:t>
            </a:r>
            <a:endParaRPr lang="en-US" sz="1300" dirty="0"/>
          </a:p>
        </p:txBody>
      </p:sp>
      <p:sp>
        <p:nvSpPr>
          <p:cNvPr id="21" name="tl_node_5"/>
          <p:cNvSpPr/>
          <p:nvPr/>
        </p:nvSpPr>
        <p:spPr>
          <a:xfrm>
            <a:off x="10719511" y="2596896"/>
            <a:ext cx="201168" cy="20116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997135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27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814255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14255" y="32644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Today's talk</a:t>
            </a:r>
            <a:endParaRPr lang="en-US" sz="1300" dirty="0"/>
          </a:p>
        </p:txBody>
      </p:sp>
      <p:sp>
        <p:nvSpPr>
          <p:cNvPr id="25" name="card_1"/>
          <p:cNvSpPr/>
          <p:nvPr/>
        </p:nvSpPr>
        <p:spPr>
          <a:xfrm>
            <a:off x="548640" y="4251960"/>
            <a:ext cx="3246120" cy="1600200"/>
          </a:xfrm>
          <a:prstGeom prst="rect">
            <a:avLst/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44805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BOUGHT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493776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A4988 driver, ESP32, DROK buck, MG996R servo.</a:t>
            </a:r>
            <a:endParaRPr lang="en-US" sz="1800" dirty="0"/>
          </a:p>
        </p:txBody>
      </p:sp>
      <p:sp>
        <p:nvSpPr>
          <p:cNvPr id="28" name="card_2"/>
          <p:cNvSpPr/>
          <p:nvPr/>
        </p:nvSpPr>
        <p:spPr>
          <a:xfrm>
            <a:off x="4023360" y="4251960"/>
            <a:ext cx="3246120" cy="1600200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251960" y="44805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DESIGNED, PRINTED, MACHINED, WIRED BY ME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251960" y="493776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Everything else.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818120" y="4270248"/>
            <a:ext cx="38249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THE TAGS</a:t>
            </a:r>
            <a:endParaRPr lang="en-US" sz="1000" dirty="0"/>
          </a:p>
        </p:txBody>
      </p:sp>
      <p:sp>
        <p:nvSpPr>
          <p:cNvPr id="32" name="tag_MEASURED"/>
          <p:cNvSpPr txBox="1"/>
          <p:nvPr/>
        </p:nvSpPr>
        <p:spPr>
          <a:xfrm>
            <a:off x="7818120" y="4617720"/>
            <a:ext cx="1325880" cy="25603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26880" y="4599432"/>
            <a:ext cx="2316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 hardware, with an instrument</a:t>
            </a:r>
            <a:endParaRPr lang="en-US" sz="1300" dirty="0"/>
          </a:p>
        </p:txBody>
      </p:sp>
      <p:sp>
        <p:nvSpPr>
          <p:cNvPr id="34" name="tag_CALCULATED"/>
          <p:cNvSpPr txBox="1"/>
          <p:nvPr/>
        </p:nvSpPr>
        <p:spPr>
          <a:xfrm>
            <a:off x="7818120" y="4983480"/>
            <a:ext cx="1325880" cy="25603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9326880" y="4965192"/>
            <a:ext cx="2316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Hand calculation, stated inputs</a:t>
            </a:r>
            <a:endParaRPr lang="en-US" sz="1300" dirty="0"/>
          </a:p>
        </p:txBody>
      </p:sp>
      <p:sp>
        <p:nvSpPr>
          <p:cNvPr id="36" name="tag_SIMULATED"/>
          <p:cNvSpPr txBox="1"/>
          <p:nvPr/>
        </p:nvSpPr>
        <p:spPr>
          <a:xfrm>
            <a:off x="7818120" y="5349240"/>
            <a:ext cx="1325880" cy="25603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326880" y="5330952"/>
            <a:ext cx="2316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in a model or simulator</a:t>
            </a:r>
            <a:endParaRPr lang="en-US" sz="1300" dirty="0"/>
          </a:p>
        </p:txBody>
      </p:sp>
      <p:sp>
        <p:nvSpPr>
          <p:cNvPr id="38" name="tag_PLANNED"/>
          <p:cNvSpPr txBox="1"/>
          <p:nvPr/>
        </p:nvSpPr>
        <p:spPr>
          <a:xfrm>
            <a:off x="7818120" y="5715000"/>
            <a:ext cx="1325880" cy="25603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326880" y="5696712"/>
            <a:ext cx="2316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Not done yet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· WHAT DONE MEANS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Done means jeans from anywhere on the floor into the hamper.</a:t>
            </a:r>
            <a:endParaRPr lang="en-US" sz="3000" dirty="0"/>
          </a:p>
        </p:txBody>
      </p:sp>
      <p:sp>
        <p:nvSpPr>
          <p:cNvPr id="4" name="render_mat"/>
          <p:cNvSpPr/>
          <p:nvPr/>
        </p:nvSpPr>
        <p:spPr>
          <a:xfrm>
            <a:off x="548640" y="1828800"/>
            <a:ext cx="4297680" cy="4434840"/>
          </a:xfrm>
          <a:prstGeom prst="rect">
            <a:avLst/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pic>
        <p:nvPicPr>
          <p:cNvPr id="5" name="claw_render" descr="claw_ren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57400"/>
            <a:ext cx="1291861" cy="3749040"/>
          </a:xfrm>
          <a:prstGeom prst="rect">
            <a:avLst/>
          </a:prstGeom>
        </p:spPr>
      </p:pic>
      <p:pic>
        <p:nvPicPr>
          <p:cNvPr id="6" name="station_render" descr="station_ren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1708" y="2331720"/>
            <a:ext cx="2057725" cy="2651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5897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Claw v6 with camera bay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2405988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Winch station v3</a:t>
            </a:r>
            <a:endParaRPr lang="en-US" sz="1100" dirty="0"/>
          </a:p>
        </p:txBody>
      </p:sp>
      <p:sp>
        <p:nvSpPr>
          <p:cNvPr id="9" name="req_card_1"/>
          <p:cNvSpPr/>
          <p:nvPr/>
        </p:nvSpPr>
        <p:spPr>
          <a:xfrm>
            <a:off x="5120640" y="1828800"/>
            <a:ext cx="6522415" cy="786384"/>
          </a:xfrm>
          <a:prstGeom prst="rect">
            <a:avLst/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req_big_1"/>
          <p:cNvSpPr txBox="1"/>
          <p:nvPr/>
        </p:nvSpPr>
        <p:spPr>
          <a:xfrm>
            <a:off x="5349240" y="1828800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 kg</a:t>
            </a:r>
            <a:endParaRPr lang="en-US" sz="2800" dirty="0"/>
          </a:p>
        </p:txBody>
      </p:sp>
      <p:sp>
        <p:nvSpPr>
          <p:cNvPr id="11" name="req_label_1"/>
          <p:cNvSpPr txBox="1"/>
          <p:nvPr/>
        </p:nvSpPr>
        <p:spPr>
          <a:xfrm>
            <a:off x="7543800" y="1828800"/>
            <a:ext cx="39163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Payload of jeans, plus 2 m/s² acceleration</a:t>
            </a:r>
            <a:endParaRPr lang="en-US" sz="1600" dirty="0"/>
          </a:p>
        </p:txBody>
      </p:sp>
      <p:sp>
        <p:nvSpPr>
          <p:cNvPr id="12" name="req_card_2"/>
          <p:cNvSpPr/>
          <p:nvPr/>
        </p:nvSpPr>
        <p:spPr>
          <a:xfrm>
            <a:off x="5120640" y="2743200"/>
            <a:ext cx="6522415" cy="786384"/>
          </a:xfrm>
          <a:prstGeom prst="rect">
            <a:avLst/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req_big_2"/>
          <p:cNvSpPr txBox="1"/>
          <p:nvPr/>
        </p:nvSpPr>
        <p:spPr>
          <a:xfrm>
            <a:off x="5349240" y="2743200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450 g</a:t>
            </a:r>
            <a:endParaRPr lang="en-US" sz="2800" dirty="0"/>
          </a:p>
        </p:txBody>
      </p:sp>
      <p:sp>
        <p:nvSpPr>
          <p:cNvPr id="14" name="req_label_2"/>
          <p:cNvSpPr txBox="1"/>
          <p:nvPr/>
        </p:nvSpPr>
        <p:spPr>
          <a:xfrm>
            <a:off x="7543800" y="2743200"/>
            <a:ext cx="39163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Claw mass budget</a:t>
            </a:r>
            <a:endParaRPr lang="en-US" sz="1600" dirty="0"/>
          </a:p>
        </p:txBody>
      </p:sp>
      <p:sp>
        <p:nvSpPr>
          <p:cNvPr id="15" name="req_card_3"/>
          <p:cNvSpPr/>
          <p:nvPr/>
        </p:nvSpPr>
        <p:spPr>
          <a:xfrm>
            <a:off x="5120640" y="3657600"/>
            <a:ext cx="6522415" cy="786384"/>
          </a:xfrm>
          <a:prstGeom prst="rect">
            <a:avLst/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req_big_3"/>
          <p:cNvSpPr txBox="1"/>
          <p:nvPr/>
        </p:nvSpPr>
        <p:spPr>
          <a:xfrm>
            <a:off x="5349240" y="3657600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studs</a:t>
            </a:r>
            <a:endParaRPr lang="en-US" sz="2800" dirty="0"/>
          </a:p>
        </p:txBody>
      </p:sp>
      <p:sp>
        <p:nvSpPr>
          <p:cNvPr id="17" name="req_label_3"/>
          <p:cNvSpPr txBox="1"/>
          <p:nvPr/>
        </p:nvSpPr>
        <p:spPr>
          <a:xfrm>
            <a:off x="7543800" y="3657600"/>
            <a:ext cx="39163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Winch stations screwed into wall studs</a:t>
            </a:r>
            <a:endParaRPr lang="en-US" sz="1600" dirty="0"/>
          </a:p>
        </p:txBody>
      </p:sp>
      <p:sp>
        <p:nvSpPr>
          <p:cNvPr id="18" name="req_card_4"/>
          <p:cNvSpPr/>
          <p:nvPr/>
        </p:nvSpPr>
        <p:spPr>
          <a:xfrm>
            <a:off x="5120640" y="4572000"/>
            <a:ext cx="6522415" cy="786384"/>
          </a:xfrm>
          <a:prstGeom prst="rect">
            <a:avLst/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9" name="req_big_4"/>
          <p:cNvSpPr txBox="1"/>
          <p:nvPr/>
        </p:nvSpPr>
        <p:spPr>
          <a:xfrm>
            <a:off x="5349240" y="4572000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switch</a:t>
            </a:r>
            <a:endParaRPr lang="en-US" sz="2800" dirty="0"/>
          </a:p>
        </p:txBody>
      </p:sp>
      <p:sp>
        <p:nvSpPr>
          <p:cNvPr id="20" name="req_label_4"/>
          <p:cNvSpPr txBox="1"/>
          <p:nvPr/>
        </p:nvSpPr>
        <p:spPr>
          <a:xfrm>
            <a:off x="7543800" y="4572000"/>
            <a:ext cx="39163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switched power strip is the only kill switch</a:t>
            </a:r>
            <a:endParaRPr lang="en-US" sz="1600" dirty="0"/>
          </a:p>
        </p:txBody>
      </p:sp>
      <p:sp>
        <p:nvSpPr>
          <p:cNvPr id="21" name="req_card_5"/>
          <p:cNvSpPr/>
          <p:nvPr/>
        </p:nvSpPr>
        <p:spPr>
          <a:xfrm>
            <a:off x="5120640" y="5486400"/>
            <a:ext cx="6522415" cy="786384"/>
          </a:xfrm>
          <a:prstGeom prst="rect">
            <a:avLst/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2" name="req_big_5"/>
          <p:cNvSpPr txBox="1"/>
          <p:nvPr/>
        </p:nvSpPr>
        <p:spPr>
          <a:xfrm>
            <a:off x="5349240" y="5486400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people</a:t>
            </a:r>
            <a:endParaRPr lang="en-US" sz="2800" dirty="0"/>
          </a:p>
        </p:txBody>
      </p:sp>
      <p:sp>
        <p:nvSpPr>
          <p:cNvPr id="23" name="req_label_5"/>
          <p:cNvSpPr txBox="1"/>
          <p:nvPr/>
        </p:nvSpPr>
        <p:spPr>
          <a:xfrm>
            <a:off x="7543800" y="5486400"/>
            <a:ext cx="39163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Nobody under the robot while it moves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04 · CABLE STATICS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Cable angle, not payload, sets the limits; walls bind before the ceiling.</a:t>
            </a:r>
            <a:endParaRPr lang="en-US" sz="3000" dirty="0"/>
          </a:p>
        </p:txBody>
      </p:sp>
      <p:sp>
        <p:nvSpPr>
          <p:cNvPr id="4" name="tag_CALCULATED"/>
          <p:cNvSpPr txBox="1"/>
          <p:nvPr/>
        </p:nvSpPr>
        <p:spPr>
          <a:xfrm>
            <a:off x="10317175" y="429768"/>
            <a:ext cx="1325880" cy="25603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4937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limit_11.9 N winch design force"/>
          <p:cNvSpPr/>
          <p:nvPr/>
        </p:nvSpPr>
        <p:spPr>
          <a:xfrm>
            <a:off x="1239926" y="4102666"/>
            <a:ext cx="4048963" cy="0"/>
          </a:xfrm>
          <a:prstGeom prst="line">
            <a:avLst/>
          </a:prstGeom>
          <a:noFill/>
          <a:ln w="15875">
            <a:solidFill>
              <a:srgbClr val="0E1116"/>
            </a:solidFill>
            <a:prstDash val="dash"/>
          </a:ln>
        </p:spPr>
      </p:sp>
      <p:sp>
        <p:nvSpPr>
          <p:cNvPr id="7" name="limit_label_11.9 N winch design force"/>
          <p:cNvSpPr txBox="1"/>
          <p:nvPr/>
        </p:nvSpPr>
        <p:spPr>
          <a:xfrm>
            <a:off x="3044038" y="3855778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 N winch design force</a:t>
            </a:r>
            <a:endParaRPr lang="en-US" sz="1100" dirty="0"/>
          </a:p>
        </p:txBody>
      </p:sp>
      <p:sp>
        <p:nvSpPr>
          <p:cNvPr id="8" name="railv_line"/>
          <p:cNvSpPr/>
          <p:nvPr/>
        </p:nvSpPr>
        <p:spPr>
          <a:xfrm>
            <a:off x="5980176" y="2103120"/>
            <a:ext cx="0" cy="2560320"/>
          </a:xfrm>
          <a:prstGeom prst="line">
            <a:avLst/>
          </a:prstGeom>
          <a:noFill/>
          <a:ln w="25400">
            <a:solidFill>
              <a:schemeClr val="bg2"/>
            </a:solidFill>
            <a:prstDash val="solid"/>
          </a:ln>
        </p:spPr>
      </p:sp>
      <p:sp>
        <p:nvSpPr>
          <p:cNvPr id="9" name="rail_dot_1"/>
          <p:cNvSpPr txBox="1"/>
          <p:nvPr/>
        </p:nvSpPr>
        <p:spPr>
          <a:xfrm>
            <a:off x="5852160" y="1975104"/>
            <a:ext cx="256032" cy="25603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rail_label_1"/>
          <p:cNvSpPr txBox="1"/>
          <p:nvPr/>
        </p:nvSpPr>
        <p:spPr>
          <a:xfrm>
            <a:off x="6236208" y="17830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WANTED</a:t>
            </a:r>
            <a:endParaRPr lang="en-US" sz="1000" dirty="0"/>
          </a:p>
        </p:txBody>
      </p:sp>
      <p:sp>
        <p:nvSpPr>
          <p:cNvPr id="11" name="rail_text_1"/>
          <p:cNvSpPr txBox="1"/>
          <p:nvPr/>
        </p:nvSpPr>
        <p:spPr>
          <a:xfrm>
            <a:off x="7315200" y="178308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Use the whole room.</a:t>
            </a:r>
            <a:endParaRPr lang="en-US" sz="1500" dirty="0"/>
          </a:p>
        </p:txBody>
      </p:sp>
      <p:sp>
        <p:nvSpPr>
          <p:cNvPr id="12" name="railv_sep_1"/>
          <p:cNvSpPr/>
          <p:nvPr/>
        </p:nvSpPr>
        <p:spPr>
          <a:xfrm>
            <a:off x="6236208" y="242316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13" name="rail_dot_2"/>
          <p:cNvSpPr txBox="1"/>
          <p:nvPr/>
        </p:nvSpPr>
        <p:spPr>
          <a:xfrm>
            <a:off x="5852160" y="2615184"/>
            <a:ext cx="256032" cy="25603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rail_label_2"/>
          <p:cNvSpPr txBox="1"/>
          <p:nvPr/>
        </p:nvSpPr>
        <p:spPr>
          <a:xfrm>
            <a:off x="6236208" y="24231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REALIZED</a:t>
            </a:r>
            <a:endParaRPr lang="en-US" sz="1000" dirty="0"/>
          </a:p>
        </p:txBody>
      </p:sp>
      <p:sp>
        <p:nvSpPr>
          <p:cNvPr id="15" name="rail_text_2"/>
          <p:cNvSpPr txBox="1"/>
          <p:nvPr/>
        </p:nvSpPr>
        <p:spPr>
          <a:xfrm>
            <a:off x="7315200" y="242316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Tension: 32 N at 0.15 m depth, 8.3 N at 0.6 m.</a:t>
            </a:r>
            <a:endParaRPr lang="en-US" sz="1500" dirty="0"/>
          </a:p>
        </p:txBody>
      </p:sp>
      <p:sp>
        <p:nvSpPr>
          <p:cNvPr id="16" name="railv_sep_2"/>
          <p:cNvSpPr/>
          <p:nvPr/>
        </p:nvSpPr>
        <p:spPr>
          <a:xfrm>
            <a:off x="6236208" y="306324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17" name="rail_dot_3"/>
          <p:cNvSpPr txBox="1"/>
          <p:nvPr/>
        </p:nvSpPr>
        <p:spPr>
          <a:xfrm>
            <a:off x="5852160" y="3255264"/>
            <a:ext cx="256032" cy="256032"/>
          </a:xfrm>
          <a:prstGeom prst="ellipse">
            <a:avLst/>
          </a:prstGeom>
          <a:solidFill>
            <a:schemeClr val="bg2"/>
          </a:solidFill>
          <a:ln w="9525"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rail_label_3"/>
          <p:cNvSpPr txBox="1"/>
          <p:nvPr/>
        </p:nvSpPr>
        <p:spPr>
          <a:xfrm>
            <a:off x="6236208" y="30632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DECIDED</a:t>
            </a:r>
            <a:endParaRPr lang="en-US" sz="1000" dirty="0"/>
          </a:p>
        </p:txBody>
      </p:sp>
      <p:sp>
        <p:nvSpPr>
          <p:cNvPr id="19" name="rail_text_3"/>
          <p:cNvSpPr txBox="1"/>
          <p:nvPr/>
        </p:nvSpPr>
        <p:spPr>
          <a:xfrm>
            <a:off x="7315200" y="306324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Keep a 0.4 m ceiling margin plus a wall margin.</a:t>
            </a:r>
            <a:endParaRPr lang="en-US" sz="1500" dirty="0"/>
          </a:p>
        </p:txBody>
      </p:sp>
      <p:sp>
        <p:nvSpPr>
          <p:cNvPr id="20" name="railv_sep_3"/>
          <p:cNvSpPr/>
          <p:nvPr/>
        </p:nvSpPr>
        <p:spPr>
          <a:xfrm>
            <a:off x="6236208" y="370332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21" name="rail_dot_4"/>
          <p:cNvSpPr txBox="1"/>
          <p:nvPr/>
        </p:nvSpPr>
        <p:spPr>
          <a:xfrm>
            <a:off x="5852160" y="3895344"/>
            <a:ext cx="256032" cy="256032"/>
          </a:xfrm>
          <a:prstGeom prst="ellipse">
            <a:avLst/>
          </a:prstGeom>
          <a:solidFill>
            <a:schemeClr val="bg2"/>
          </a:solidFill>
          <a:ln w="9525"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rail_label_4"/>
          <p:cNvSpPr txBox="1"/>
          <p:nvPr/>
        </p:nvSpPr>
        <p:spPr>
          <a:xfrm>
            <a:off x="6236208" y="37033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000" dirty="0"/>
          </a:p>
        </p:txBody>
      </p:sp>
      <p:sp>
        <p:nvSpPr>
          <p:cNvPr id="23" name="rail_text_4"/>
          <p:cNvSpPr txBox="1"/>
          <p:nvPr/>
        </p:nvSpPr>
        <p:spPr>
          <a:xfrm>
            <a:off x="7315200" y="370332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 task heights, corners bind: 1.1 × total weight.</a:t>
            </a:r>
            <a:endParaRPr lang="en-US" sz="1500" dirty="0"/>
          </a:p>
        </p:txBody>
      </p:sp>
      <p:sp>
        <p:nvSpPr>
          <p:cNvPr id="24" name="railv_sep_4"/>
          <p:cNvSpPr/>
          <p:nvPr/>
        </p:nvSpPr>
        <p:spPr>
          <a:xfrm>
            <a:off x="6236208" y="434340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25" name="rail_dot_5"/>
          <p:cNvSpPr txBox="1"/>
          <p:nvPr/>
        </p:nvSpPr>
        <p:spPr>
          <a:xfrm>
            <a:off x="5852160" y="4535424"/>
            <a:ext cx="256032" cy="256032"/>
          </a:xfrm>
          <a:prstGeom prst="ellipse">
            <a:avLst/>
          </a:prstGeom>
          <a:solidFill>
            <a:schemeClr val="bg2"/>
          </a:solidFill>
          <a:ln w="9525"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6" name="rail_label_5"/>
          <p:cNvSpPr txBox="1"/>
          <p:nvPr/>
        </p:nvSpPr>
        <p:spPr>
          <a:xfrm>
            <a:off x="6236208" y="43434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</a:t>
            </a:r>
            <a:endParaRPr lang="en-US" sz="1000" dirty="0"/>
          </a:p>
        </p:txBody>
      </p:sp>
      <p:sp>
        <p:nvSpPr>
          <p:cNvPr id="27" name="rail_text_5"/>
          <p:cNvSpPr txBox="1"/>
          <p:nvPr/>
        </p:nvSpPr>
        <p:spPr>
          <a:xfrm>
            <a:off x="7315200" y="434340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claw's own mass counts exactly like payload.</a:t>
            </a:r>
            <a:endParaRPr lang="en-US" sz="1500" dirty="0"/>
          </a:p>
        </p:txBody>
      </p:sp>
      <p:sp>
        <p:nvSpPr>
          <p:cNvPr id="28" name="fund_box"/>
          <p:cNvSpPr/>
          <p:nvPr/>
        </p:nvSpPr>
        <p:spPr>
          <a:xfrm>
            <a:off x="5852160" y="5120640"/>
            <a:ext cx="5790895" cy="1143000"/>
          </a:xfrm>
          <a:prstGeom prst="rect">
            <a:avLst/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35040" y="52120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FUNDAMENTALS</a:t>
            </a:r>
            <a:endParaRPr lang="en-US" sz="1000" dirty="0"/>
          </a:p>
        </p:txBody>
      </p:sp>
      <p:sp>
        <p:nvSpPr>
          <p:cNvPr id="30" name="fund_eq"/>
          <p:cNvSpPr txBox="1"/>
          <p:nvPr/>
        </p:nvSpPr>
        <p:spPr>
          <a:xfrm>
            <a:off x="6035040" y="5394960"/>
            <a:ext cx="542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W / (4 sin φ),  sin φ = d / √(d² + D_h²)</a:t>
            </a:r>
            <a:endParaRPr lang="en-US" sz="1800" dirty="0"/>
          </a:p>
        </p:txBody>
      </p:sp>
      <p:sp>
        <p:nvSpPr>
          <p:cNvPr id="31" name="fund_sub"/>
          <p:cNvSpPr txBox="1"/>
          <p:nvPr/>
        </p:nvSpPr>
        <p:spPr>
          <a:xfrm>
            <a:off x="6035040" y="5779008"/>
            <a:ext cx="542513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= 8.86 N (1 lb + 0.45 kg claw), D_h = 2.17 m: T = 32.1 N at d = 0.15 m, 8.3 N at d = 0.60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05 · DRIVE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driver, not the motor, capped my pull; geometry buys it back.</a:t>
            </a:r>
            <a:endParaRPr lang="en-US" sz="3000" dirty="0"/>
          </a:p>
        </p:txBody>
      </p:sp>
      <p:sp>
        <p:nvSpPr>
          <p:cNvPr id="4" name="tag_MEASURED"/>
          <p:cNvSpPr txBox="1"/>
          <p:nvPr/>
        </p:nvSpPr>
        <p:spPr>
          <a:xfrm>
            <a:off x="10317175" y="429768"/>
            <a:ext cx="1325880" cy="25603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900" dirty="0"/>
          </a:p>
        </p:txBody>
      </p:sp>
      <p:sp>
        <p:nvSpPr>
          <p:cNvPr id="5" name="tag_CALCULATED"/>
          <p:cNvSpPr txBox="1"/>
          <p:nvPr/>
        </p:nvSpPr>
        <p:spPr>
          <a:xfrm>
            <a:off x="10317175" y="758952"/>
            <a:ext cx="1325880" cy="25603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</a:t>
            </a:r>
            <a:endParaRPr lang="en-US" sz="900" dirty="0"/>
          </a:p>
        </p:txBody>
      </p:sp>
      <p:sp>
        <p:nvSpPr>
          <p:cNvPr id="6" name="big_number"/>
          <p:cNvSpPr txBox="1"/>
          <p:nvPr/>
        </p:nvSpPr>
        <p:spPr>
          <a:xfrm>
            <a:off x="548640" y="176479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 V → 1.06 A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317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Vref cap on my A4988 boards, and the current it allows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4937760" cy="27614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claw_estimate_band"/>
          <p:cNvSpPr/>
          <p:nvPr/>
        </p:nvSpPr>
        <p:spPr>
          <a:xfrm>
            <a:off x="1190549" y="2927909"/>
            <a:ext cx="4147718" cy="247429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10" name="claw_estimate_label"/>
          <p:cNvSpPr txBox="1"/>
          <p:nvPr/>
        </p:nvSpPr>
        <p:spPr>
          <a:xfrm>
            <a:off x="1281989" y="2927909"/>
            <a:ext cx="3964838" cy="247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claw estimate 1,050–1,250 g (unweighed)</a:t>
            </a:r>
            <a:endParaRPr lang="en-US" sz="1100" dirty="0"/>
          </a:p>
        </p:txBody>
      </p:sp>
      <p:sp>
        <p:nvSpPr>
          <p:cNvPr id="11" name="limit_450 g budget"/>
          <p:cNvSpPr/>
          <p:nvPr/>
        </p:nvSpPr>
        <p:spPr>
          <a:xfrm>
            <a:off x="1190549" y="3917626"/>
            <a:ext cx="414771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dash"/>
          </a:ln>
        </p:spPr>
      </p:sp>
      <p:sp>
        <p:nvSpPr>
          <p:cNvPr id="12" name="limit_label_450 g budget"/>
          <p:cNvSpPr txBox="1"/>
          <p:nvPr/>
        </p:nvSpPr>
        <p:spPr>
          <a:xfrm>
            <a:off x="1236269" y="367073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g budget</a:t>
            </a:r>
            <a:endParaRPr lang="en-US" sz="1100" dirty="0"/>
          </a:p>
        </p:txBody>
      </p:sp>
      <p:sp>
        <p:nvSpPr>
          <p:cNvPr id="13" name="planned_card"/>
          <p:cNvSpPr/>
          <p:nvPr/>
        </p:nvSpPr>
        <p:spPr>
          <a:xfrm>
            <a:off x="548640" y="5550408"/>
            <a:ext cx="493776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14" name="planned_head"/>
          <p:cNvSpPr txBox="1"/>
          <p:nvPr/>
        </p:nvSpPr>
        <p:spPr>
          <a:xfrm>
            <a:off x="731520" y="56144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— result after the Oct 22 test</a:t>
            </a:r>
            <a:endParaRPr lang="en-US" sz="1200" dirty="0"/>
          </a:p>
        </p:txBody>
      </p:sp>
      <p:sp>
        <p:nvSpPr>
          <p:cNvPr id="15" name="planned_text"/>
          <p:cNvSpPr txBox="1"/>
          <p:nvPr/>
        </p:nvSpPr>
        <p:spPr>
          <a:xfrm>
            <a:off x="731520" y="58887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Luggage-scale pull at 1.06 A, empty and full spool; replaces the assumed 0.7 running-torque factor.</a:t>
            </a:r>
            <a:endParaRPr lang="en-US" sz="1200" dirty="0"/>
          </a:p>
        </p:txBody>
      </p:sp>
      <p:sp>
        <p:nvSpPr>
          <p:cNvPr id="16" name="railv_line"/>
          <p:cNvSpPr/>
          <p:nvPr/>
        </p:nvSpPr>
        <p:spPr>
          <a:xfrm>
            <a:off x="5980176" y="2103120"/>
            <a:ext cx="0" cy="2560320"/>
          </a:xfrm>
          <a:prstGeom prst="line">
            <a:avLst/>
          </a:prstGeom>
          <a:noFill/>
          <a:ln w="25400">
            <a:solidFill>
              <a:schemeClr val="bg2"/>
            </a:solidFill>
            <a:prstDash val="solid"/>
          </a:ln>
        </p:spPr>
      </p:sp>
      <p:sp>
        <p:nvSpPr>
          <p:cNvPr id="17" name="rail_dot_1"/>
          <p:cNvSpPr txBox="1"/>
          <p:nvPr/>
        </p:nvSpPr>
        <p:spPr>
          <a:xfrm>
            <a:off x="5852160" y="1975104"/>
            <a:ext cx="256032" cy="25603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rail_label_1"/>
          <p:cNvSpPr txBox="1"/>
          <p:nvPr/>
        </p:nvSpPr>
        <p:spPr>
          <a:xfrm>
            <a:off x="6236208" y="17830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WANTED</a:t>
            </a:r>
            <a:endParaRPr lang="en-US" sz="1000" dirty="0"/>
          </a:p>
        </p:txBody>
      </p:sp>
      <p:sp>
        <p:nvSpPr>
          <p:cNvPr id="19" name="rail_text_1"/>
          <p:cNvSpPr txBox="1"/>
          <p:nvPr/>
        </p:nvSpPr>
        <p:spPr>
          <a:xfrm>
            <a:off x="7315200" y="178308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Raise drive current from 1.0 to 1.35 A for more pull.</a:t>
            </a:r>
            <a:endParaRPr lang="en-US" sz="1500" dirty="0"/>
          </a:p>
        </p:txBody>
      </p:sp>
      <p:sp>
        <p:nvSpPr>
          <p:cNvPr id="20" name="railv_sep_1"/>
          <p:cNvSpPr/>
          <p:nvPr/>
        </p:nvSpPr>
        <p:spPr>
          <a:xfrm>
            <a:off x="6236208" y="242316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21" name="rail_dot_2"/>
          <p:cNvSpPr txBox="1"/>
          <p:nvPr/>
        </p:nvSpPr>
        <p:spPr>
          <a:xfrm>
            <a:off x="5852160" y="2615184"/>
            <a:ext cx="256032" cy="25603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rail_label_2"/>
          <p:cNvSpPr txBox="1"/>
          <p:nvPr/>
        </p:nvSpPr>
        <p:spPr>
          <a:xfrm>
            <a:off x="6236208" y="24231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REALIZED</a:t>
            </a:r>
            <a:endParaRPr lang="en-US" sz="1000" dirty="0"/>
          </a:p>
        </p:txBody>
      </p:sp>
      <p:sp>
        <p:nvSpPr>
          <p:cNvPr id="23" name="rail_text_2"/>
          <p:cNvSpPr txBox="1"/>
          <p:nvPr/>
        </p:nvSpPr>
        <p:spPr>
          <a:xfrm>
            <a:off x="7315200" y="242316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Vref pot maxes at 0.85 V: current caps at 1.06 A.</a:t>
            </a:r>
            <a:endParaRPr lang="en-US" sz="1500" dirty="0"/>
          </a:p>
        </p:txBody>
      </p:sp>
      <p:sp>
        <p:nvSpPr>
          <p:cNvPr id="24" name="railv_sep_2"/>
          <p:cNvSpPr/>
          <p:nvPr/>
        </p:nvSpPr>
        <p:spPr>
          <a:xfrm>
            <a:off x="6236208" y="306324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25" name="rail_dot_3"/>
          <p:cNvSpPr txBox="1"/>
          <p:nvPr/>
        </p:nvSpPr>
        <p:spPr>
          <a:xfrm>
            <a:off x="5852160" y="3255264"/>
            <a:ext cx="256032" cy="256032"/>
          </a:xfrm>
          <a:prstGeom prst="ellipse">
            <a:avLst/>
          </a:prstGeom>
          <a:solidFill>
            <a:schemeClr val="bg2"/>
          </a:solidFill>
          <a:ln w="9525"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rail_label_3"/>
          <p:cNvSpPr txBox="1"/>
          <p:nvPr/>
        </p:nvSpPr>
        <p:spPr>
          <a:xfrm>
            <a:off x="6236208" y="30632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DECIDED</a:t>
            </a:r>
            <a:endParaRPr lang="en-US" sz="1000" dirty="0"/>
          </a:p>
        </p:txBody>
      </p:sp>
      <p:sp>
        <p:nvSpPr>
          <p:cNvPr id="27" name="rail_text_3"/>
          <p:cNvSpPr txBox="1"/>
          <p:nvPr/>
        </p:nvSpPr>
        <p:spPr>
          <a:xfrm>
            <a:off x="7315200" y="306324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Run at the cap; recover pull with a smaller spool core.</a:t>
            </a:r>
            <a:endParaRPr lang="en-US" sz="1500" dirty="0"/>
          </a:p>
        </p:txBody>
      </p:sp>
      <p:sp>
        <p:nvSpPr>
          <p:cNvPr id="28" name="railv_sep_3"/>
          <p:cNvSpPr/>
          <p:nvPr/>
        </p:nvSpPr>
        <p:spPr>
          <a:xfrm>
            <a:off x="6236208" y="370332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29" name="rail_dot_4"/>
          <p:cNvSpPr txBox="1"/>
          <p:nvPr/>
        </p:nvSpPr>
        <p:spPr>
          <a:xfrm>
            <a:off x="5852160" y="3895344"/>
            <a:ext cx="256032" cy="256032"/>
          </a:xfrm>
          <a:prstGeom prst="ellipse">
            <a:avLst/>
          </a:prstGeom>
          <a:solidFill>
            <a:schemeClr val="bg2"/>
          </a:solidFill>
          <a:ln w="9525"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0" name="rail_label_4"/>
          <p:cNvSpPr txBox="1"/>
          <p:nvPr/>
        </p:nvSpPr>
        <p:spPr>
          <a:xfrm>
            <a:off x="6236208" y="37033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000" dirty="0"/>
          </a:p>
        </p:txBody>
      </p:sp>
      <p:sp>
        <p:nvSpPr>
          <p:cNvPr id="31" name="rail_text_4"/>
          <p:cNvSpPr txBox="1"/>
          <p:nvPr/>
        </p:nvSpPr>
        <p:spPr>
          <a:xfrm>
            <a:off x="7315200" y="370332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Winches hold about 1.1 kg; claw plus jeans is about 2 kg.</a:t>
            </a:r>
            <a:endParaRPr lang="en-US" sz="1500" dirty="0"/>
          </a:p>
        </p:txBody>
      </p:sp>
      <p:sp>
        <p:nvSpPr>
          <p:cNvPr id="32" name="railv_sep_4"/>
          <p:cNvSpPr/>
          <p:nvPr/>
        </p:nvSpPr>
        <p:spPr>
          <a:xfrm>
            <a:off x="6236208" y="434340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33" name="rail_dot_5"/>
          <p:cNvSpPr txBox="1"/>
          <p:nvPr/>
        </p:nvSpPr>
        <p:spPr>
          <a:xfrm>
            <a:off x="5852160" y="4535424"/>
            <a:ext cx="256032" cy="256032"/>
          </a:xfrm>
          <a:prstGeom prst="ellipse">
            <a:avLst/>
          </a:prstGeom>
          <a:solidFill>
            <a:schemeClr val="bg2"/>
          </a:solidFill>
          <a:ln w="9525"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rail_label_5"/>
          <p:cNvSpPr txBox="1"/>
          <p:nvPr/>
        </p:nvSpPr>
        <p:spPr>
          <a:xfrm>
            <a:off x="6236208" y="43434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</a:t>
            </a:r>
            <a:endParaRPr lang="en-US" sz="1000" dirty="0"/>
          </a:p>
        </p:txBody>
      </p:sp>
      <p:sp>
        <p:nvSpPr>
          <p:cNvPr id="35" name="rail_text_5"/>
          <p:cNvSpPr txBox="1"/>
          <p:nvPr/>
        </p:nvSpPr>
        <p:spPr>
          <a:xfrm>
            <a:off x="7315200" y="434340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0.7 running-torque factor is assumed; a pull test decides.</a:t>
            </a:r>
            <a:endParaRPr lang="en-US" sz="1500" dirty="0"/>
          </a:p>
        </p:txBody>
      </p:sp>
      <p:sp>
        <p:nvSpPr>
          <p:cNvPr id="36" name="fund_box"/>
          <p:cNvSpPr/>
          <p:nvPr/>
        </p:nvSpPr>
        <p:spPr>
          <a:xfrm>
            <a:off x="5852160" y="5120640"/>
            <a:ext cx="5790895" cy="1143000"/>
          </a:xfrm>
          <a:prstGeom prst="rect">
            <a:avLst/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035040" y="52120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FUNDAMENTALS</a:t>
            </a:r>
            <a:endParaRPr lang="en-US" sz="1000" dirty="0"/>
          </a:p>
        </p:txBody>
      </p:sp>
      <p:sp>
        <p:nvSpPr>
          <p:cNvPr id="38" name="fund_eq"/>
          <p:cNvSpPr txBox="1"/>
          <p:nvPr/>
        </p:nvSpPr>
        <p:spPr>
          <a:xfrm>
            <a:off x="6035040" y="5394960"/>
            <a:ext cx="542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= Vref / (8·R_s) = 0.85 V / 0.8 Ω = 1.06 A</a:t>
            </a:r>
            <a:endParaRPr lang="en-US" sz="1800" dirty="0"/>
          </a:p>
        </p:txBody>
      </p:sp>
      <p:sp>
        <p:nvSpPr>
          <p:cNvPr id="39" name="fund_sub"/>
          <p:cNvSpPr txBox="1"/>
          <p:nvPr/>
        </p:nvSpPr>
        <p:spPr>
          <a:xfrm>
            <a:off x="6035040" y="5779008"/>
            <a:ext cx="542513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 / r: τ_run = 0.7 × 0.255 N·m = 0.179 N·m → 23.8 N at r = 7.5 mm, 17.9 N at a full spool (r = 10 mm).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06 · HEAT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Sealing the station made the motor mount its hottest, most loaded joint.</a:t>
            </a:r>
            <a:endParaRPr lang="en-US" sz="3000" dirty="0"/>
          </a:p>
        </p:txBody>
      </p:sp>
      <p:sp>
        <p:nvSpPr>
          <p:cNvPr id="4" name="tag_CALCULATED"/>
          <p:cNvSpPr txBox="1"/>
          <p:nvPr/>
        </p:nvSpPr>
        <p:spPr>
          <a:xfrm>
            <a:off x="10317175" y="429768"/>
            <a:ext cx="1325880" cy="25603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4937760" cy="36301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limit_60 °C target"/>
          <p:cNvSpPr/>
          <p:nvPr/>
        </p:nvSpPr>
        <p:spPr>
          <a:xfrm>
            <a:off x="1190549" y="2286118"/>
            <a:ext cx="414771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dash"/>
          </a:ln>
        </p:spPr>
      </p:sp>
      <p:sp>
        <p:nvSpPr>
          <p:cNvPr id="7" name="limit_label_60 °C target"/>
          <p:cNvSpPr txBox="1"/>
          <p:nvPr/>
        </p:nvSpPr>
        <p:spPr>
          <a:xfrm>
            <a:off x="1236269" y="2039230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°C target</a:t>
            </a:r>
            <a:endParaRPr lang="en-US" sz="1100" dirty="0"/>
          </a:p>
        </p:txBody>
      </p:sp>
      <p:sp>
        <p:nvSpPr>
          <p:cNvPr id="8" name="planned_card"/>
          <p:cNvSpPr/>
          <p:nvPr/>
        </p:nvSpPr>
        <p:spPr>
          <a:xfrm>
            <a:off x="548640" y="5550408"/>
            <a:ext cx="493776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9" name="planned_head"/>
          <p:cNvSpPr txBox="1"/>
          <p:nvPr/>
        </p:nvSpPr>
        <p:spPr>
          <a:xfrm>
            <a:off x="731520" y="56144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— result after the Oct 22 test</a:t>
            </a:r>
            <a:endParaRPr lang="en-US" sz="1200" dirty="0"/>
          </a:p>
        </p:txBody>
      </p:sp>
      <p:sp>
        <p:nvSpPr>
          <p:cNvPr id="10" name="planned_text"/>
          <p:cNvSpPr txBox="1"/>
          <p:nvPr/>
        </p:nvSpPr>
        <p:spPr>
          <a:xfrm>
            <a:off x="731520" y="58887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Hold test at 1.06 A with thermometers on the motor case, fin and PETG tab; pass limit below 60 °C.</a:t>
            </a:r>
            <a:endParaRPr lang="en-US" sz="1200" dirty="0"/>
          </a:p>
        </p:txBody>
      </p:sp>
      <p:sp>
        <p:nvSpPr>
          <p:cNvPr id="11" name="railv_line"/>
          <p:cNvSpPr/>
          <p:nvPr/>
        </p:nvSpPr>
        <p:spPr>
          <a:xfrm>
            <a:off x="5980176" y="2103120"/>
            <a:ext cx="0" cy="2560320"/>
          </a:xfrm>
          <a:prstGeom prst="line">
            <a:avLst/>
          </a:prstGeom>
          <a:noFill/>
          <a:ln w="25400">
            <a:solidFill>
              <a:schemeClr val="bg2"/>
            </a:solidFill>
            <a:prstDash val="solid"/>
          </a:ln>
        </p:spPr>
      </p:sp>
      <p:sp>
        <p:nvSpPr>
          <p:cNvPr id="12" name="rail_dot_1"/>
          <p:cNvSpPr txBox="1"/>
          <p:nvPr/>
        </p:nvSpPr>
        <p:spPr>
          <a:xfrm>
            <a:off x="5852160" y="1975104"/>
            <a:ext cx="256032" cy="25603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rail_label_1"/>
          <p:cNvSpPr txBox="1"/>
          <p:nvPr/>
        </p:nvSpPr>
        <p:spPr>
          <a:xfrm>
            <a:off x="6236208" y="17830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WANTED</a:t>
            </a:r>
            <a:endParaRPr lang="en-US" sz="1000" dirty="0"/>
          </a:p>
        </p:txBody>
      </p:sp>
      <p:sp>
        <p:nvSpPr>
          <p:cNvPr id="14" name="rail_text_1"/>
          <p:cNvSpPr txBox="1"/>
          <p:nvPr/>
        </p:nvSpPr>
        <p:spPr>
          <a:xfrm>
            <a:off x="7315200" y="178308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clean, closed printed shell around each winch.</a:t>
            </a:r>
            <a:endParaRPr lang="en-US" sz="1500" dirty="0"/>
          </a:p>
        </p:txBody>
      </p:sp>
      <p:sp>
        <p:nvSpPr>
          <p:cNvPr id="15" name="railv_sep_1"/>
          <p:cNvSpPr/>
          <p:nvPr/>
        </p:nvSpPr>
        <p:spPr>
          <a:xfrm>
            <a:off x="6236208" y="242316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16" name="rail_dot_2"/>
          <p:cNvSpPr txBox="1"/>
          <p:nvPr/>
        </p:nvSpPr>
        <p:spPr>
          <a:xfrm>
            <a:off x="5852160" y="2615184"/>
            <a:ext cx="256032" cy="25603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rail_label_2"/>
          <p:cNvSpPr txBox="1"/>
          <p:nvPr/>
        </p:nvSpPr>
        <p:spPr>
          <a:xfrm>
            <a:off x="6236208" y="24231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REALIZED</a:t>
            </a:r>
            <a:endParaRPr lang="en-US" sz="1000" dirty="0"/>
          </a:p>
        </p:txBody>
      </p:sp>
      <p:sp>
        <p:nvSpPr>
          <p:cNvPr id="18" name="rail_text_2"/>
          <p:cNvSpPr txBox="1"/>
          <p:nvPr/>
        </p:nvSpPr>
        <p:spPr>
          <a:xfrm>
            <a:off x="7315200" y="242316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holding stepper dissipates I²R; PETG conducts 1/800 as well as aluminium.</a:t>
            </a:r>
            <a:endParaRPr lang="en-US" sz="1500" dirty="0"/>
          </a:p>
        </p:txBody>
      </p:sp>
      <p:sp>
        <p:nvSpPr>
          <p:cNvPr id="19" name="railv_sep_2"/>
          <p:cNvSpPr/>
          <p:nvPr/>
        </p:nvSpPr>
        <p:spPr>
          <a:xfrm>
            <a:off x="6236208" y="306324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20" name="rail_dot_3"/>
          <p:cNvSpPr txBox="1"/>
          <p:nvPr/>
        </p:nvSpPr>
        <p:spPr>
          <a:xfrm>
            <a:off x="5852160" y="3255264"/>
            <a:ext cx="256032" cy="25603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rail_label_3"/>
          <p:cNvSpPr txBox="1"/>
          <p:nvPr/>
        </p:nvSpPr>
        <p:spPr>
          <a:xfrm>
            <a:off x="6236208" y="30632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DECIDED</a:t>
            </a:r>
            <a:endParaRPr lang="en-US" sz="1000" dirty="0"/>
          </a:p>
        </p:txBody>
      </p:sp>
      <p:sp>
        <p:nvSpPr>
          <p:cNvPr id="22" name="rail_text_3"/>
          <p:cNvSpPr txBox="1"/>
          <p:nvPr/>
        </p:nvSpPr>
        <p:spPr>
          <a:xfrm>
            <a:off x="7315200" y="306324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Vents plus an aluminium fin through the shell.</a:t>
            </a:r>
            <a:endParaRPr lang="en-US" sz="1500" dirty="0"/>
          </a:p>
        </p:txBody>
      </p:sp>
      <p:sp>
        <p:nvSpPr>
          <p:cNvPr id="23" name="railv_sep_3"/>
          <p:cNvSpPr/>
          <p:nvPr/>
        </p:nvSpPr>
        <p:spPr>
          <a:xfrm>
            <a:off x="6236208" y="370332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24" name="rail_dot_4"/>
          <p:cNvSpPr txBox="1"/>
          <p:nvPr/>
        </p:nvSpPr>
        <p:spPr>
          <a:xfrm>
            <a:off x="5852160" y="3895344"/>
            <a:ext cx="256032" cy="25603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rail_label_4"/>
          <p:cNvSpPr txBox="1"/>
          <p:nvPr/>
        </p:nvSpPr>
        <p:spPr>
          <a:xfrm>
            <a:off x="6236208" y="37033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000" dirty="0"/>
          </a:p>
        </p:txBody>
      </p:sp>
      <p:sp>
        <p:nvSpPr>
          <p:cNvPr id="26" name="rail_text_4"/>
          <p:cNvSpPr txBox="1"/>
          <p:nvPr/>
        </p:nvSpPr>
        <p:spPr>
          <a:xfrm>
            <a:off x="7315200" y="370332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Sealed, 1.06 A: 64 °C bare, 46 °C with the fin.</a:t>
            </a:r>
            <a:endParaRPr lang="en-US" sz="1500" dirty="0"/>
          </a:p>
        </p:txBody>
      </p:sp>
      <p:sp>
        <p:nvSpPr>
          <p:cNvPr id="27" name="railv_sep_4"/>
          <p:cNvSpPr/>
          <p:nvPr/>
        </p:nvSpPr>
        <p:spPr>
          <a:xfrm>
            <a:off x="6236208" y="434340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28" name="rail_dot_5"/>
          <p:cNvSpPr txBox="1"/>
          <p:nvPr/>
        </p:nvSpPr>
        <p:spPr>
          <a:xfrm>
            <a:off x="5852160" y="4535424"/>
            <a:ext cx="256032" cy="256032"/>
          </a:xfrm>
          <a:prstGeom prst="ellipse">
            <a:avLst/>
          </a:prstGeom>
          <a:solidFill>
            <a:schemeClr val="bg2"/>
          </a:solidFill>
          <a:ln w="9525"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rail_label_5"/>
          <p:cNvSpPr txBox="1"/>
          <p:nvPr/>
        </p:nvSpPr>
        <p:spPr>
          <a:xfrm>
            <a:off x="6236208" y="43434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</a:t>
            </a:r>
            <a:endParaRPr lang="en-US" sz="1000" dirty="0"/>
          </a:p>
        </p:txBody>
      </p:sp>
      <p:sp>
        <p:nvSpPr>
          <p:cNvPr id="30" name="rail_text_5"/>
          <p:cNvSpPr txBox="1"/>
          <p:nvPr/>
        </p:nvSpPr>
        <p:spPr>
          <a:xfrm>
            <a:off x="7315200" y="434340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thermometer reading yet; the hold test is planned.</a:t>
            </a:r>
            <a:endParaRPr lang="en-US" sz="1500" dirty="0"/>
          </a:p>
        </p:txBody>
      </p:sp>
      <p:sp>
        <p:nvSpPr>
          <p:cNvPr id="31" name="fund_box"/>
          <p:cNvSpPr/>
          <p:nvPr/>
        </p:nvSpPr>
        <p:spPr>
          <a:xfrm>
            <a:off x="5852160" y="5120640"/>
            <a:ext cx="5790895" cy="1143000"/>
          </a:xfrm>
          <a:prstGeom prst="rect">
            <a:avLst/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35040" y="52120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FUNDAMENTALS</a:t>
            </a:r>
            <a:endParaRPr lang="en-US" sz="1000" dirty="0"/>
          </a:p>
        </p:txBody>
      </p:sp>
      <p:sp>
        <p:nvSpPr>
          <p:cNvPr id="33" name="fund_eq"/>
          <p:cNvSpPr txBox="1"/>
          <p:nvPr/>
        </p:nvSpPr>
        <p:spPr>
          <a:xfrm>
            <a:off x="6035040" y="5394960"/>
            <a:ext cx="542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I²R;   R_cond = L / (k A);   R_conv = 1 / (h A)</a:t>
            </a:r>
            <a:endParaRPr lang="en-US" sz="1600" dirty="0"/>
          </a:p>
        </p:txBody>
      </p:sp>
      <p:sp>
        <p:nvSpPr>
          <p:cNvPr id="34" name="fund_sub"/>
          <p:cNvSpPr txBox="1"/>
          <p:nvPr/>
        </p:nvSpPr>
        <p:spPr>
          <a:xfrm>
            <a:off x="6035040" y="5779008"/>
            <a:ext cx="542513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1.06² A² × 1.8 Ω = 2.0 W (R assumed). Flange path: PETG 14 K/W vs aluminium 0.011 K/W, 1260 × worse.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07 · BUILDING THE FIN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 drew 1/8-inch, built 0.019-inch, then re-checked the physics.</a:t>
            </a:r>
            <a:endParaRPr lang="en-US" sz="3000" dirty="0"/>
          </a:p>
        </p:txBody>
      </p:sp>
      <p:sp>
        <p:nvSpPr>
          <p:cNvPr id="4" name="tag_MEASURED"/>
          <p:cNvSpPr txBox="1"/>
          <p:nvPr/>
        </p:nvSpPr>
        <p:spPr>
          <a:xfrm>
            <a:off x="10317175" y="429768"/>
            <a:ext cx="1325880" cy="25603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900" dirty="0"/>
          </a:p>
        </p:txBody>
      </p:sp>
      <p:sp>
        <p:nvSpPr>
          <p:cNvPr id="5" name="tag_CALCULATED"/>
          <p:cNvSpPr txBox="1"/>
          <p:nvPr/>
        </p:nvSpPr>
        <p:spPr>
          <a:xfrm>
            <a:off x="10317175" y="758952"/>
            <a:ext cx="1325880" cy="25603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</a:t>
            </a:r>
            <a:endParaRPr lang="en-US" sz="900" dirty="0"/>
          </a:p>
        </p:txBody>
      </p:sp>
      <p:pic>
        <p:nvPicPr>
          <p:cNvPr id="6" name="spread_1" descr="spread_1">    </p:cNvPr>
          <p:cNvPicPr>
            <a:picLocks noChangeAspect="1"/>
          </p:cNvPicPr>
          <p:nvPr/>
        </p:nvPicPr>
        <p:blipFill>
          <a:blip r:embed="rId1"/>
          <a:srcRect l="0" r="0" t="13965" b="3965"/>
          <a:stretch/>
        </p:blipFill>
        <p:spPr>
          <a:xfrm>
            <a:off x="548640" y="1783080"/>
            <a:ext cx="2414016" cy="1485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30555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1  Sheared blanks beside my drawing</a:t>
            </a:r>
            <a:endParaRPr lang="en-US" sz="1100" dirty="0"/>
          </a:p>
        </p:txBody>
      </p:sp>
      <p:pic>
        <p:nvPicPr>
          <p:cNvPr id="8" name="spread_2" descr="spread_2">    </p:cNvPr>
          <p:cNvPicPr>
            <a:picLocks noChangeAspect="1"/>
          </p:cNvPicPr>
          <p:nvPr/>
        </p:nvPicPr>
        <p:blipFill>
          <a:blip r:embed="rId2"/>
          <a:srcRect l="0" r="0" t="12918" b="40918"/>
          <a:stretch/>
        </p:blipFill>
        <p:spPr>
          <a:xfrm>
            <a:off x="3072384" y="1783080"/>
            <a:ext cx="2414016" cy="1485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072384" y="330555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2  Drilling the holes on the mill</a:t>
            </a:r>
            <a:endParaRPr lang="en-US" sz="1100" dirty="0"/>
          </a:p>
        </p:txBody>
      </p:sp>
      <p:pic>
        <p:nvPicPr>
          <p:cNvPr id="10" name="spread_3" descr="spread_3">    </p:cNvPr>
          <p:cNvPicPr>
            <a:picLocks noChangeAspect="1"/>
          </p:cNvPicPr>
          <p:nvPr/>
        </p:nvPicPr>
        <p:blipFill>
          <a:blip r:embed="rId3"/>
          <a:srcRect l="0" r="0" t="38918" b="14918"/>
          <a:stretch/>
        </p:blipFill>
        <p:spPr>
          <a:xfrm>
            <a:off x="548640" y="3653028"/>
            <a:ext cx="2414016" cy="14859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5175504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3  Fitted: boss centred, 4 holes line up</a:t>
            </a:r>
            <a:endParaRPr lang="en-US" sz="1100" dirty="0"/>
          </a:p>
        </p:txBody>
      </p:sp>
      <p:sp>
        <p:nvSpPr>
          <p:cNvPr id="12" name="callout_line_7/8 in hole"/>
          <p:cNvSpPr/>
          <p:nvPr/>
        </p:nvSpPr>
        <p:spPr>
          <a:xfrm flipV="1">
            <a:off x="1695298" y="3927348"/>
            <a:ext cx="1194206" cy="291602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3" name="callout_dot_7/8 in hole"/>
          <p:cNvSpPr/>
          <p:nvPr/>
        </p:nvSpPr>
        <p:spPr>
          <a:xfrm>
            <a:off x="1640434" y="4164086"/>
            <a:ext cx="109728" cy="1097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callout_label_7/8 in hole"/>
          <p:cNvSpPr txBox="1"/>
          <p:nvPr/>
        </p:nvSpPr>
        <p:spPr>
          <a:xfrm>
            <a:off x="1563624" y="3781044"/>
            <a:ext cx="1280160" cy="29260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 in hole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3072384" y="3653028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efficiency η, %</a:t>
            </a:r>
            <a:endParaRPr lang="en-US" sz="11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3072384" y="3872484"/>
          <a:ext cx="2414016" cy="15407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7" name="planned_card"/>
          <p:cNvSpPr/>
          <p:nvPr/>
        </p:nvSpPr>
        <p:spPr>
          <a:xfrm>
            <a:off x="548640" y="5550408"/>
            <a:ext cx="493776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18" name="planned_head"/>
          <p:cNvSpPr txBox="1"/>
          <p:nvPr/>
        </p:nvSpPr>
        <p:spPr>
          <a:xfrm>
            <a:off x="731520" y="56144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— result after the Oct 22 test</a:t>
            </a:r>
            <a:endParaRPr lang="en-US" sz="1200" dirty="0"/>
          </a:p>
        </p:txBody>
      </p:sp>
      <p:sp>
        <p:nvSpPr>
          <p:cNvPr id="19" name="planned_text"/>
          <p:cNvSpPr txBox="1"/>
          <p:nvPr/>
        </p:nvSpPr>
        <p:spPr>
          <a:xfrm>
            <a:off x="731520" y="58887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Hold test: does the thin sheet bow or buzz, and are the screw threads deep enough?</a:t>
            </a:r>
            <a:endParaRPr lang="en-US" sz="1200" dirty="0"/>
          </a:p>
        </p:txBody>
      </p:sp>
      <p:sp>
        <p:nvSpPr>
          <p:cNvPr id="20" name="railv_line"/>
          <p:cNvSpPr/>
          <p:nvPr/>
        </p:nvSpPr>
        <p:spPr>
          <a:xfrm>
            <a:off x="5980176" y="2103120"/>
            <a:ext cx="0" cy="2560320"/>
          </a:xfrm>
          <a:prstGeom prst="line">
            <a:avLst/>
          </a:prstGeom>
          <a:noFill/>
          <a:ln w="25400">
            <a:solidFill>
              <a:schemeClr val="bg2"/>
            </a:solidFill>
            <a:prstDash val="solid"/>
          </a:ln>
        </p:spPr>
      </p:sp>
      <p:sp>
        <p:nvSpPr>
          <p:cNvPr id="21" name="rail_dot_1"/>
          <p:cNvSpPr txBox="1"/>
          <p:nvPr/>
        </p:nvSpPr>
        <p:spPr>
          <a:xfrm>
            <a:off x="5852160" y="1975104"/>
            <a:ext cx="256032" cy="25603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rail_label_1"/>
          <p:cNvSpPr txBox="1"/>
          <p:nvPr/>
        </p:nvSpPr>
        <p:spPr>
          <a:xfrm>
            <a:off x="6236208" y="17830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WANTED</a:t>
            </a:r>
            <a:endParaRPr lang="en-US" sz="1000" dirty="0"/>
          </a:p>
        </p:txBody>
      </p:sp>
      <p:sp>
        <p:nvSpPr>
          <p:cNvPr id="23" name="rail_text_1"/>
          <p:cNvSpPr txBox="1"/>
          <p:nvPr/>
        </p:nvSpPr>
        <p:spPr>
          <a:xfrm>
            <a:off x="7315200" y="178308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drawn 1/8 in plate: fin efficiency about 74 %.</a:t>
            </a:r>
            <a:endParaRPr lang="en-US" sz="1500" dirty="0"/>
          </a:p>
        </p:txBody>
      </p:sp>
      <p:sp>
        <p:nvSpPr>
          <p:cNvPr id="24" name="railv_sep_1"/>
          <p:cNvSpPr/>
          <p:nvPr/>
        </p:nvSpPr>
        <p:spPr>
          <a:xfrm>
            <a:off x="6236208" y="242316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25" name="rail_dot_2"/>
          <p:cNvSpPr txBox="1"/>
          <p:nvPr/>
        </p:nvSpPr>
        <p:spPr>
          <a:xfrm>
            <a:off x="5852160" y="2615184"/>
            <a:ext cx="256032" cy="25603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6" name="rail_label_2"/>
          <p:cNvSpPr txBox="1"/>
          <p:nvPr/>
        </p:nvSpPr>
        <p:spPr>
          <a:xfrm>
            <a:off x="6236208" y="24231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REALIZED</a:t>
            </a:r>
            <a:endParaRPr lang="en-US" sz="1000" dirty="0"/>
          </a:p>
        </p:txBody>
      </p:sp>
      <p:sp>
        <p:nvSpPr>
          <p:cNvPr id="27" name="rail_text_2"/>
          <p:cNvSpPr txBox="1"/>
          <p:nvPr/>
        </p:nvSpPr>
        <p:spPr>
          <a:xfrm>
            <a:off x="7315200" y="242316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sheet I could shear and drill was 0.019 in.</a:t>
            </a:r>
            <a:endParaRPr lang="en-US" sz="1500" dirty="0"/>
          </a:p>
        </p:txBody>
      </p:sp>
      <p:sp>
        <p:nvSpPr>
          <p:cNvPr id="28" name="railv_sep_2"/>
          <p:cNvSpPr/>
          <p:nvPr/>
        </p:nvSpPr>
        <p:spPr>
          <a:xfrm>
            <a:off x="6236208" y="306324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29" name="rail_dot_3"/>
          <p:cNvSpPr txBox="1"/>
          <p:nvPr/>
        </p:nvSpPr>
        <p:spPr>
          <a:xfrm>
            <a:off x="5852160" y="3255264"/>
            <a:ext cx="256032" cy="25603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rail_label_3"/>
          <p:cNvSpPr txBox="1"/>
          <p:nvPr/>
        </p:nvSpPr>
        <p:spPr>
          <a:xfrm>
            <a:off x="6236208" y="30632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DECIDED</a:t>
            </a:r>
            <a:endParaRPr lang="en-US" sz="1000" dirty="0"/>
          </a:p>
        </p:txBody>
      </p:sp>
      <p:sp>
        <p:nvSpPr>
          <p:cNvPr id="31" name="rail_text_3"/>
          <p:cNvSpPr txBox="1"/>
          <p:nvPr/>
        </p:nvSpPr>
        <p:spPr>
          <a:xfrm>
            <a:off x="7315200" y="306324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Re-run the fin equation first: efficiency falls 74 % to 37 %.</a:t>
            </a:r>
            <a:endParaRPr lang="en-US" sz="1500" dirty="0"/>
          </a:p>
        </p:txBody>
      </p:sp>
      <p:sp>
        <p:nvSpPr>
          <p:cNvPr id="32" name="railv_sep_3"/>
          <p:cNvSpPr/>
          <p:nvPr/>
        </p:nvSpPr>
        <p:spPr>
          <a:xfrm>
            <a:off x="6236208" y="370332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33" name="rail_dot_4"/>
          <p:cNvSpPr txBox="1"/>
          <p:nvPr/>
        </p:nvSpPr>
        <p:spPr>
          <a:xfrm>
            <a:off x="5852160" y="3895344"/>
            <a:ext cx="256032" cy="256032"/>
          </a:xfrm>
          <a:prstGeom prst="ellipse">
            <a:avLst/>
          </a:prstGeom>
          <a:solidFill>
            <a:schemeClr val="bg2"/>
          </a:solidFill>
          <a:ln w="9525"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rail_label_4"/>
          <p:cNvSpPr txBox="1"/>
          <p:nvPr/>
        </p:nvSpPr>
        <p:spPr>
          <a:xfrm>
            <a:off x="6236208" y="37033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000" dirty="0"/>
          </a:p>
        </p:txBody>
      </p:sp>
      <p:sp>
        <p:nvSpPr>
          <p:cNvPr id="35" name="rail_text_4"/>
          <p:cNvSpPr txBox="1"/>
          <p:nvPr/>
        </p:nvSpPr>
        <p:spPr>
          <a:xfrm>
            <a:off x="7315200" y="370332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 still carries about half the heat: 46 °C sealed.</a:t>
            </a:r>
            <a:endParaRPr lang="en-US" sz="1500" dirty="0"/>
          </a:p>
        </p:txBody>
      </p:sp>
      <p:sp>
        <p:nvSpPr>
          <p:cNvPr id="36" name="railv_sep_4"/>
          <p:cNvSpPr/>
          <p:nvPr/>
        </p:nvSpPr>
        <p:spPr>
          <a:xfrm>
            <a:off x="6236208" y="4343400"/>
            <a:ext cx="5406847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solid"/>
          </a:ln>
        </p:spPr>
      </p:sp>
      <p:sp>
        <p:nvSpPr>
          <p:cNvPr id="37" name="rail_dot_5"/>
          <p:cNvSpPr txBox="1"/>
          <p:nvPr/>
        </p:nvSpPr>
        <p:spPr>
          <a:xfrm>
            <a:off x="5852160" y="4535424"/>
            <a:ext cx="256032" cy="256032"/>
          </a:xfrm>
          <a:prstGeom prst="ellipse">
            <a:avLst/>
          </a:prstGeom>
          <a:solidFill>
            <a:schemeClr val="bg2"/>
          </a:solidFill>
          <a:ln w="9525"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8" name="rail_label_5"/>
          <p:cNvSpPr txBox="1"/>
          <p:nvPr/>
        </p:nvSpPr>
        <p:spPr>
          <a:xfrm>
            <a:off x="6236208" y="43434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</a:t>
            </a:r>
            <a:endParaRPr lang="en-US" sz="1000" dirty="0"/>
          </a:p>
        </p:txBody>
      </p:sp>
      <p:sp>
        <p:nvSpPr>
          <p:cNvPr id="39" name="rail_text_5"/>
          <p:cNvSpPr txBox="1"/>
          <p:nvPr/>
        </p:nvSpPr>
        <p:spPr>
          <a:xfrm>
            <a:off x="7315200" y="4343400"/>
            <a:ext cx="4327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 sheet may buzz; screws reach 2.7 mm deeper, so check threads.</a:t>
            </a:r>
            <a:endParaRPr lang="en-US" sz="1500" dirty="0"/>
          </a:p>
        </p:txBody>
      </p:sp>
      <p:sp>
        <p:nvSpPr>
          <p:cNvPr id="40" name="fund_box"/>
          <p:cNvSpPr/>
          <p:nvPr/>
        </p:nvSpPr>
        <p:spPr>
          <a:xfrm>
            <a:off x="5852160" y="5120640"/>
            <a:ext cx="5790895" cy="1143000"/>
          </a:xfrm>
          <a:prstGeom prst="rect">
            <a:avLst/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035040" y="52120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FUNDAMENTALS</a:t>
            </a:r>
            <a:endParaRPr lang="en-US" sz="1000" dirty="0"/>
          </a:p>
        </p:txBody>
      </p:sp>
      <p:sp>
        <p:nvSpPr>
          <p:cNvPr id="42" name="fund_eq"/>
          <p:cNvSpPr txBox="1"/>
          <p:nvPr/>
        </p:nvSpPr>
        <p:spPr>
          <a:xfrm>
            <a:off x="6035040" y="5394960"/>
            <a:ext cx="542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= tanh(mL) / (mL),   m = √(2h / (k t))</a:t>
            </a:r>
            <a:endParaRPr lang="en-US" sz="1800" dirty="0"/>
          </a:p>
        </p:txBody>
      </p:sp>
      <p:sp>
        <p:nvSpPr>
          <p:cNvPr id="43" name="fund_sub"/>
          <p:cNvSpPr txBox="1"/>
          <p:nvPr/>
        </p:nvSpPr>
        <p:spPr>
          <a:xfrm>
            <a:off x="6035040" y="5779008"/>
            <a:ext cx="542513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0.483 mm: m = 13.5 /m, mL = 2.69, η = 37 %, R_fin 10.9 → 22 K/W. Drawn 1/8 in: mL = 1.05, η = 74 %.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ight Test Report">
  <a:themeElements>
    <a:clrScheme name="Flight Test Report">
      <a:dk1>
        <a:srgbClr val="0E1116"/>
      </a:dk1>
      <a:lt1>
        <a:srgbClr val="FFFFFF"/>
      </a:lt1>
      <a:dk2>
        <a:srgbClr val="6B7480"/>
      </a:dk2>
      <a:lt2>
        <a:srgbClr val="E9ECEF"/>
      </a:lt2>
      <a:accent1>
        <a:srgbClr val="FF6A13"/>
      </a:accent1>
      <a:accent2>
        <a:srgbClr val="6B7480"/>
      </a:accent2>
      <a:accent3>
        <a:srgbClr val="0E1116"/>
      </a:accent3>
      <a:accent4>
        <a:srgbClr val="A9B0B8"/>
      </a:accent4>
      <a:accent5>
        <a:srgbClr val="FFE6D6"/>
      </a:accent5>
      <a:accent6>
        <a:srgbClr val="3A414B"/>
      </a:accent6>
      <a:hlink>
        <a:srgbClr val="FF6A13"/>
      </a:hlink>
      <a:folHlink>
        <a:srgbClr val="6B7480"/>
      </a:folHlink>
    </a:clrScheme>
    <a:fontScheme name="Flight Test Repor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 — technical presentation (draft)</dc:title>
  <dc:subject>PptxGenJS Presentation</dc:subject>
  <dc:creator>Jasper Buntinx</dc:creator>
  <cp:lastModifiedBy>Jasper Buntinx</cp:lastModifiedBy>
  <cp:revision>1</cp:revision>
  <dcterms:created xsi:type="dcterms:W3CDTF">2026-10-21T11:44:01Z</dcterms:created>
  <dcterms:modified xsi:type="dcterms:W3CDTF">2026-10-21T11:44:01Z</dcterms:modified>
</cp:coreProperties>
</file>