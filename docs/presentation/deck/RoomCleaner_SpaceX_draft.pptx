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3c58187-4779-a2f0-8bf6-0a423bdec367}">
          <p14:sldIdLst>
            <p14:sldId id="256"/>
            <p14:sldId id="257"/>
            <p14:sldId id="258"/>
          </p14:sldIdLst>
        </p14:section>
        <p14:section name="Act 1 · Physics sets the limits" id="{bf9ac247-30c1-ec93-6bc2-ec4761b0e891}">
          <p14:sldIdLst>
            <p14:sldId id="259"/>
            <p14:sldId id="260"/>
            <p14:sldId id="261"/>
            <p14:sldId id="262"/>
          </p14:sldIdLst>
        </p14:section>
        <p14:section name="Act 2 · Making it buildable" id="{6eb9fdfd-c5c9-b22e-2524-20a1b6f694e9}">
          <p14:sldIdLst>
            <p14:sldId id="263"/>
            <p14:sldId id="264"/>
            <p14:sldId id="265"/>
            <p14:sldId id="266"/>
            <p14:sldId id="267"/>
          </p14:sldIdLst>
        </p14:section>
        <p14:section name="Act 3 · Electronics and debugging" id="{7c07635c-73e2-4995-d6e3-47326375ea29}">
          <p14:sldIdLst>
            <p14:sldId id="268"/>
            <p14:sldId id="269"/>
            <p14:sldId id="270"/>
          </p14:sldIdLst>
        </p14:section>
        <p14:section name="Close" id="{06d6b360-5767-5d7c-1e0e-305325ebc1fa}">
          <p14:sldIdLst>
            <p14:sldId id="271"/>
            <p14:sldId id="272"/>
          </p14:sldIdLst>
        </p14:section>
        <p14:section name="Backups" id="{dd995d03-b8bc-a3d5-439a-b7f2b159d099}">
          <p14:sldIdLst>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Sheet1!$B$2:$B$4</c:f>
              <c:numCache>
                <c:formatCode>General</c:formatCode>
                <c:ptCount val="3"/>
                <c:pt idx="0">
                  <c:v>47</c:v>
                </c:pt>
                <c:pt idx="1">
                  <c:v>51</c:v>
                </c:pt>
                <c:pt idx="2">
                  <c:v>64</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Sheet1!$C$2:$C$4</c:f>
              <c:numCache>
                <c:formatCode>General</c:formatCode>
                <c:ptCount val="3"/>
                <c:pt idx="0">
                  <c:v>39</c:v>
                </c:pt>
                <c:pt idx="1">
                  <c:v>41</c:v>
                </c:pt>
                <c:pt idx="2">
                  <c:v>46</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Sheet1!$D$2:$D$4</c:f>
              <c:numCache>
                <c:formatCode>General</c:formatCode>
                <c:ptCount val="3"/>
                <c:pt idx="0">
                  <c:v>35</c:v>
                </c:pt>
                <c:pt idx="1">
                  <c:v>36</c:v>
                </c:pt>
                <c:pt idx="2">
                  <c:v>40</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About 30 minutes of content, 12 decision slides (4 to 15), 7 backups.
LIKELY QUESTION: Give me the 30-second version.
ANSWER: Four wall-mounted winch stations hold a claw on four cables. The claw descends onto the laundry, closes its jaws with one servo, carries the load and releases it over a hamper. I will show twelve decisions where a calculation or a measurement forced me to change the plan, including the ones that did not work out.
NEED FROM JASPER: Confirm the title wording and the panel date (Tue Oct 27). Photo 13 is the gen-1 station lifting the test weight (no weight, duration or result is recorded, so the slide makes no claim about it).
SOURCE: docs/presentation/DECK_STORYLINE.md slide 1; photo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build over about three months: I bought a few modules and designed, printed, machined and wired everything else.
NUMBERS: Jul 16 first commit (simulator, BOM, first CAD); Aug gen-1 printed plate and bench; Oct 7 SolidWorks gen-2 station; Oct 20 gripper v6; Oct 27 panel. Purchased: A4988 driver, ESP32, DROK buck, MG996R servo. Tags: MEASURED = instrument on hardware, CALCULATED = hand calculation, SIMULATED = ran in a model, PLANNED = not done yet.
LIKELY QUESTION: What did you actually do yourself?
ANSWER: I drew the parts, printed them (PETG structural, TPU 95A fingers), sheared and drilled the aluminium fins on a manual mill, wired the bench and perfboard electronics, and wrote the control logic. The purchased modules are the driver, the ESP32, the buck converter and the servo.
NEED FROM JASPER: Confirm the true start date (git says Jul 16; the older outline said Aug 6) and the printer and filament used for fit-critical parts (K1 or K1 Max, brand).
SOURCE: DECK_STORYLINE.md slide 2; DECISION_STORIES.md section 4 item 1 and Q20.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about 0.9 kg, goes from anywhere on the floor into the hamper with nobody touching it.
NUMBERS: Payload 0.9 kg (provisional screening reference for jeans) plus 2 m/s² vertical acceleration; first test load 1 lb (0.454 kg). Claw mass budget 0.45 kg (requirement R7; the printed claw is estimated at 1.05 to 1.25 kg and has not been weighed). Four stations screwed into studs. The switched power strip is the only stop (decision D21; no safety-rated function is claimed). Nobody under the robot.
LIKELY QUESTION: Why 0.9 kg?
ANSWER: It is a provisional screening reference for a pair of jeans, not a measured garment; the first physical test load is 1 lb. Weighing a representative pair is on my list.
NEED FROM JASPER: Weigh a representative pair of jeans. Decide which claw mass you want to defend: the 450 g requirement against the unweighed 1.05 to 1.25 kg estimate (slide 5 depends on it).
SOURCE: REQUIREMENTS.md R1, R7; DECISIONS.md D21; FUNDAMENTALS.md section 5 and the note on the 0.45 kg input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room's limits come from cable geometry and the claw's own weight, not from the payload.
NUMBERS: Equal share, claw centred: W = (0.454 + 0.45) kg x 9.81 = 8.86 N; D_h = 2.17 m. T = 32.1 / 16.2 / 8.3 / 4.6 N per cable at 0.15 / 0.30 / 0.60 / 1.20 m below the anchors; with +2 m/s² 38.6 / 19.4 / 10.0 / 5.5 N. Winch design force 11.9 N (17.9 N running at a full spool, divided by a 1.5 skip margin, slide 5). Shallowest centred depth the winches can hold: 0.27 m static, 0.33 m with +2 m/s², 0.50 m with the 1.5 margin. Whole-room worst case (best split by linear program, 0.2 m wall margin, 1.06 A, 1.5 margin): largest tension 1.10 x total weight at the highest task pose (0.99 m below the anchors), holding 1.10 kg total.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if the corner binds?
ANSWER: Tension doubles each time the depth halves, so the planner never lets the claw closer than 0.4 m to the anchors; at that limit the same linear program only allows 0.50 kg total (2.42 x weight), so the margin is a floor, not a comfortable value.
CHECK BEFORE SAYING: Say 'at task heights' when you say the corner binds. At the 0.4 m ceiling limit the capacity is lower (2.42 x weight, 0.50 kg), so 'the walls bind before the ceiling' only holds for task poses (highest task pose 0.99 m below the anchors).
NEED FROM JASPER: A weighed claw mass: every capacity number uses the 0.45 kg budget, which has not been weighed.
SOURCE: FUNDAMENTALS.md section 1;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so I am buying the pull back with geometry instead of hacking the driver.
NUMBERS: Vref pot maximum 0.85 V (MEASURED on the red R100 boards, 3.3 V logic; an earlier entry says 0.79 V, which gives 0.99 A, so there is a 7 % spread). I = Vref / (8 Rs) = 0.85 / 0.8 = 1.06 A. Holding torque 0.36 N·m x 1.0625 / 1.5 = 0.255 N·m; running torque 0.7 x holding = 0.179 N·m (the 0.7 is assumed). Pull T = tau / r: 23.8 N at the 7.5 mm core, 17.9 N at a full 10 mm spool; design force (divided by 1.5) 15.9 N and 11.9 N; snag case 34 N. Largest claw that still lifts 0.9 kg of jeans at the highest task pose: 202 g (Ø15 core, 1.10 kg held), 397 g (Ø12), 478 g (Ø10, +25 %), 570 g (Ø8, which fails the 20:1 bend ratio and the tie-off). Needed: 0.45 kg claw + 0.9 kg = 1.35 kg, which is 1.22 x what the Ø15 spool can hold. Printed claw estimate 1.05 to 1.25 kg (unweighed) gives 2.0 to 2.2 kg with jeans. A 3:1 reduction at each winch buys about 2.7 x (2.98 to 3.09 kg held at a 0.2 m wall margin).
LIKELY QUESTION 1: Why not raise Vref or run 5 V logic?
ANSWER: I do not want to modify the driver, and a 3.3 V GPIO cannot guarantee a HIGH into a 5 V-logic input. So I run at the board maximum and recover pull mechanically: T = tau / r, so a smaller core gives more tension.
LIKELY QUESTION 2: Is the 0.7 running-torque factor right?
ANSWER: It is assumed (an earlier table used 0.5). A 15-minute luggage-scale pull test at 1.06 A, empty and full spool, replaces it with a number. Procedure: docs/tests/WINCH_PULL_TEST.md (holding peak by hand, running pull before the motor skips, at 100 / 200 / 400 steps/s, on the core and on a full spool). If the running pull at a full spool is 25 N or more, the direct drive might carry a lighter claw; under 25 N (expected about 18 N) go to the 3:1 reduction (memo option 1), with a lighter payload for the demo.
CHECK BEFORE SAYING: Do not quote the old '43 N', '34 N per cable' or '750 g claw budget' (D29/D30): they used holding torque, not running pull. Three different things are called tension: running pull (23.8 / 17.9 N), derated design value (11.9 N), snag load (34 N).
NEED FROM JASPER: Decision D31: 3:1 reduction, Ø10 core with a lighter claw, or a lighter payload for the demo. The pull-test readings. A weighed claw.
SOURCE: FUNDAMENTALS.md section 2;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Sealing the station in PETG meant the motor's only way out for heat was through plastic that conducts about one eight-hundredth as well as aluminium, so the mount that carries the cable load would run hot; I put a fin through the shell.
NUMBERS: A holding stepper dissipates P = I²R continuously: 1.0625² x 1.8 Ω = 2.0 W (coil resistance 1.8 Ω is ASSUMED; measure it with a meter). Conductivity: aluminium 160 vs PETG 0.2 W/m·K (800 x). Conduction resistance through the flange contact (42.3 mm square): 0.011 K/W aluminium vs 14.0 K/W PETG (1260 x).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
LIKELY QUESTION 1: How do you know the fin works without a thermometer?
ANSWER: I do not yet: these are CALCULATED values from a lumped model with an assumed coil resistance, film coefficient and shell resistances. The hold test is planned: thermometers on the motor case, the fin and the PETG tab at 1.06 A, pass limit below 60 °C.
LIKELY QUESTION 2: Why a fin and not a TMC2209 or lower current?
ANSWER: I weighed seven options (vents, aluminium fin, clip-on sink, TMC2209 drivers, ASA shell, thermistor park, lower current). The fin plus vents is the biggest gain with no new electronics; lower current costs pull, which is exactly the thing slide 5 is short of.
CHECK BEFORE SAYING: Hold-test length: the storyline and docs/simulation/SW_THERMAL_HEAT_FIN.md section 8 say 60 minutes (D29), on a vented shell with two thermocouples and the fin flattened; FUNDAMENTALS section 3 assumes 90 minutes. Per the thermal manual, 60 minutes reads about 94 % of the steady value for a vented shell but a sealed shell takes about 104 minutes, so a 60-minute reading is compared with 0.94 x the prediction, or run 90 minutes. The planned test is therefore on the vented shell (predicted 41 °C with the as-built fin); the 46 °C sealed figure on this slide is not what it will read. The storyline's '70 to 100 °C' for the PETG joint is not in the fundamentals sheet (the model says 64 °C sealed, no fin); do not quote it unless you have a source.
NEED FROM JASPER: What first made you suspect heat (warm motor, soft PETG, a calculation); which other options you actually considered and why each lost; any thermometer reading; coil resistance measured with a meter.
SOURCE: FUNDAMENTALS.md section 3; DECK_STORYLINE.md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sheet I could shear and drill on the bench was 0.019 inch, not the 1/8 inch I drew, so before accepting it I re-ran the fin equation: efficiency drops from 74 to 37 percent but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the thin fin costs about 6 K.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called for positions within 0.1 mm of each other in one setup; I have not caliper-checked the as-built part (need from me).
CHECK BEFORE SAYING: Drawing notes (DECISION_STORIES story 1) give a Ø22.5 pilot hole; the as-built part uses a 7/8 in (22.225 mm) hole per the storyline and photo README. Confirm which is on the part. Say 'about 74 %' (the storyline's 'about 75 %' is the same number rounded).
NEED FROM JASPER: Photo of the fin installed in the station; hole-position tolerance (calipers); time per fin and any scrap; how the dimensions moved from 100 x 100 to 44 x 150 to 44 x 250 and why 1/8 in stock; where you sourced it and how many fins you made. Photo 03 (mill set-up with the printed drawing) is not on this slide: use it if you want the drawing shown.
SOURCE: FUNDAMENTALS.md section 3; DECK_STORYLINE.md slide 7; photos 06, 01,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first spool stuck out about 14.5 millimetres past the end of the motor shaft, and fixing that changed the layer count, the line force and the line paid out per revolution, so the controller has to model radius against wound length.
NUMBERS: Gen-1 spool: Ø20 core x 26 mm winding x 32 mm overall. Spool v3 (from the STEP): Ø36 flanges, Ø15 core (r = 7.5 mm), 16 mm drum, 22 mm overall, bore Ø5.45 with a 0.5 mm D-flat on the Ø5 shaft. 20 ft (6.096 m) of 0.5 mm line at 85 % packing gives 5 layers and a full radius of 10 mm. Line force falls 23.8 to 17.9 N;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-0.10 to +0.30 mm in 0.05 steps at Ø5, Ø7, Ø14, vertical and horizontal) is PLANNED; none has been printed.
LIKELY QUESTION 1: Why not a level-wind?
ANSWER: I need your answer here (see need list).
LIKELY QUESTION 2: How does the controller cope with the changing radius?
ANSWER: It uses radius as a function of wound length, r(n) = r0 + n d p, so the line paid out per step stays right as the spool fills; line per revolution changes by 33 % between the core layer and a full spool.
CHECK BEFORE SAYING: The 'about 14.5 mm' is derived from the 2026-10-06 dimension note (shaft projection 24 mm, winding from X = 4.5 for 32 mm overall), not from your own measurement. Say it as a derived number unless you measured it.
NEED FROM JASPER: v2 and v3 printed bore caliper readings; what you measured on the shaft (engagement length, flat depth); why the core went Ø20 to Ø15 and the drum 26 to 16 mm; line diameter (the record says 0.5, 0.6 and 1.0 mm in different files); whether you considered a level-wind; printer and filament.
SOURCE: DECK_STORYLINE.md slide 8; FUNDAMENTALS.md sections 2 and 12; DECISION_STORIES.md T23, T24.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I moved the switch to a drop arm under it; my first version of that missed the line by 5 millimetres and rev D lands the roller on it.
NUMBERS: Rev C: roller at X = 70.0 against the line at 65.0, so 5.0 mm off in X and 10.5 mm off in Y (no contact) against a 1.5 mm overlap requirement. Rev D: X error 0 at the nominal 20 mm pulley, 1.0 mm untuned at 18 and 22 mm (limit 1.0), 0 after the ±2 mm slot tune; Y: roller 1.0 mm, overlap (2.5 + 2.25) - 1.0 = 3.75 mm on a 5 mm bead (limit 2.0 mm). Roller envelope clear of the pulley and of printed material (0.000 mm³ interference).
LIKELY QUESTION 1: How do you know it will trip?
ANSWER: I do not yet: rev D passes the geometric checks in CAD, but I have not run a bead past a printed arm on real line. That trip test is the open item.
LIKELY QUESTION 2: What did you notice that showed the problem?
ANSWER: I need your answer here (see need list).
NEED FROM JASPER: What you actually noticed about the bead riding over the groove (this was your find); whether rev D was printed and a bead trip-tested; the real bead diameter. Photo 09 is a bench microswitch on the perfboard, not the rev D arm.
SOURCE: DECK_STORYLINE.md slide 9; verification/corner_mount_revD_report.md; DECISION_STORIES.md T16, section 4 item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I am stress-testing the slide-in.
NUMBERS: PLANNED, no results yet: SolidWorks linear static study of the station mount, reporting peak stress, safety factor and deflection at the cable exit. Pass limits: SF at least 3 on derated PETG; deflection at most 0.5 mm. The line pulls the station away from the wall, so the stud screws see pull-out rather than shear. Load basis: slip-limit tension x a dynamic factor. Linear statics cannot see creep or layer-adhesion weakness, so a physical pull test closes the gap.
LIKELY QUESTION 1: What retains the slide-in, and what load did you check it against?
ANSWER: I need your answer here (see need list). The design intent is positive retention sized for the slip-limit tension times a dynamic factor.
LIKELY QUESTION 2: Why not keep the screwed-down anchor?
ANSWER: A hook or loose anchor wanders and that error goes 1:1 into claw position; I bolted the corner down first, then service needs forced removable stations without re-calibrating the room, so the anchor moved onto a fixed frame and the housing slides in.
CHECK BEFORE SAYING: Do not show any stress or safety-factor result until the study is run. The study manual docs/simulation/SW_STATIC_STATION_MOUNT.md (it was not in the repository when this deck was started; it arrived in commit 7135d7c) gives the answer sheet: P1 peak von Mises at the 34.0 N slip-limit load at most 8.33 MPa (SF 3 on 25 MPa), P4 cable-exit displacement at most 0.50 mm, plus P2, P3, P5 to P7. Its hand estimates (about 3 to 14 MPa at the motor-tab root) are expectations, not results.
NEED FROM JASPER: SolidWorks results (peak stress, SF, deflection) after the study tomorrow; what the gen-1 plate tests (photos 05 and 13) showed; the slide retention mechanism and the load you checked it against; the study document.
SOURCE: DECK_STORYLINE.md slide 10; DECISION_STORIES.md T06, T25.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and I sized the teeth for that moment, then rebuilt the train at 2:1 when the claw turned out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As built (module 1.5, 16 mm face, 18 / 36 / 24 / 24 teeth): pinion SF 2.40 / 2.05, 36T gear 2.93 / 2.50, sync gear 2.34 / 2.00 at 4.8 / 6.0 V (the 24T sync gear at 6 V is 1.997, accepted as inside the precision of the assumed stall torque). Ratio 2:1: jaw torque 0.83 N·m, stroke 76.5 degrees; 3:1 would give 1.25 N·m, 51 degrees and a sync-gear SF of 1.56 (1.33 at 6 V). The v6 inspection found the gripper at about 2.06 kg against the 450 g budget (4.6 x), so I rebuilt my own gears at 2:1 with a 36T gear instead of 54T and an R53 crank instead of R75, kept my press-fit bearing pockets (Ø14.075 with a Ø14.000 lead-in lip) and added 0.42 mm backlash and a 0.3 mm axial relief; gear set 157 g to 96 g (CAD), all features identical to my originals except the intended changes at 257 checks.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From the storyline: the 7-hole web is SF about 1.7; 6 holes would give 3.75.
LIKELY QUESTION 1: Is the jaw force measured?
ANSWER: No. It is simulated from the four-bar model (efficiency 0.95 per mesh, no pivot friction); there is no force gauge reading and no printed gear has been stalled. Pad-to-cloth friction has never been measured, which is why TPU pads are on the claw and a pull test is the first thing to run.
LIKELY QUESTION 2: Why 2:1 instead of 3:1?
ANSWER: Mass and the sync gear: 3:1 loads the sync gear to a margin of 1.3 to 1.6, and the v6 gripper was 4.6 x over the mass budget.
CHECK BEFORE SAYING: An earlier design review quoted a 2.8 x grip margin for 1 lb; that came from an earlier gearbox estimate (20.8 N). The as-built four-bar gives 1.5 x at the weakest point. Say 1.5 x.
NEED FROM JASPER: When and why you chose module 1.5 with 16 and 20 mm faces; whether you ran strength numbers or printed a test gear before the Oct 19 review; the weighed or sliced claw mass and the new budget; why a 12 in aluminium tube.
SOURCE: FUNDAMENTALS.md sections 4 and 5; verification/gripper_v7_verification.md; DECK_STORYLINE.md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I cut 50 millimetres of tube and added a short visual correction step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(32.5 g for 50 mm); the tube can be cut up to 206 mm before the hub meets the head plates. In the 140 mm hover view the grasp zone is 100 % visible and the claw blocks 9.2 % of the 4:3 view with open jaws (7.6 % closed).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LIKELY QUESTION 1: Why not cut 100 mm?
ANSWER: We can always cut more; a cut cannot be undone. 50 mm already brings the hover from 171 to 140 mm and saves 33 g. A shorter tube also shrinks the view and lowers the cable tie-offs toward furniture.
LIKELY QUESTION 2: What about a pile of laundry?
ANSWER: A pile raises the floor, so the required hover rises by the pile height; the model assumes a flat bare floor and a claw hanging still.
CHECK BEFORE SAYING: The tube wall (3 mm in CAD, 28.54 mm OD) and alloy are unmeasured; the figures that depend on them are labelled CALCULATED. Closed-form 171.1 / 139.6 mm vs ray-cast 172 / 140 mm: the scan reports the first whole millimetre, so they agree.
NEED FROM JASPER: Confirm why a 12 in aluminium tube (your reason: creep, so the camera stays registered to the jaws); tube wall thickness and alloy; a re-extracted centre-of-mass depth.
SOURCE: FUNDAMENTALS.md sections 6 and 11; renders/claw_tube_length_view/c050_Dstar140.png; DECISION_STORIES.md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I kept one controller so synchronised motion came for free; in October long harnesses pushed me to one controller per winch, and I priced what that costs: every millisecond of skew becomes force on four over-constrained cables.
NUMBERS: Skew: 50 mm/s x 50 ms = 2.5 mm of length error; with an assumed line stiffness of 3 N/mm (E A / L over a 3 m run), F = 7.5 N, about 90 % of the static tension at 0.6 m depth (8.3 N). The 2 mm pass criterion is 6 N, which a 40 ms skew at full speed produces. Wire: 32 ft (9.75 m) one way, 12 V label, 2 A: 18 AWG drops 0.82 V (6.8 %), 16 AWG 0.51 V (4.3 %); 16 AWG chosen for the long run. Architecture (simulated): the host plans; stations execute Hermite segments on their own clocks with path-time feed-hold and leases; stop never disables (D21), no automatic resume (D25). Simulated: lease-aligned stop spread about 18 ms; 10/10 lossy motions completed at 2 to 5 % packet loss.
LIKELY QUESTION 1: Why not keep the central controller for the 1 lb demo?
ANSWER: I need your answer here (see need list): whether a central-stepping fallback is still planned.
LIKELY QUESTION 2: What is feed-hold?
ANSWER: A coordinated stop in path time: all four stations ramp their path rate to zero along the same geometric path, so the claw decelerates along the path instead of one winch stopping first.
CHECK BEFORE SAYING: The 3 N/mm stiffness and the 50 ms Wi-Fi skew are assumptions. Everything on the control side is SIMULATED; nothing has run on four stations.
NEED FROM JASPER: What bothered you most about the central controller in October (harness length numbers, the one-plug goal); whether a hybrid fallback exists for the 1 lb demo.
SOURCE: FUNDAMENTALS.md sections 9 and 10; docs/CONTROL_SYSTEM_V1.md; DECISIONS.md D20, D21, D25.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Oct 21: the same habit caught a second limit, the Vref pot maxing at 0.85 V (1.06 A). Rev D fixes: 3.3 V soldered rather than jumpered; 10 k pull resistors (R1 EN pull-up so the A4988 boots disabled; R2 and R3 STEP and DIR pull-downs); JP1 link with diode D1 (1N5819) so USB and the buck never fight; a measure-VDD step in the bring-up procedure; 100 µF bulk capacitor on VMOT. The perfboard layout is net-checked by script: every hole has exactly one net and every net is connected. Buck output checked at 5.00 V before connecting loads.
LIKELY QUESTION 1: What did you try before the meter?
ANSWER: I need your answer here (see need list).
LIKELY QUESTION 2: Is the supply safe for the buck?
ANSWER: The bench reading was 18 V while the brick label says 12 V and the DROK input limit is 20 V; whether that was an open-circuit reading is still to be answered (T15).
CHECK BEFORE SAYING: Show only the 1.14 V and 3.3 V figures; the photo does not show the meter reading.
NEED FROM JASPER: Exact readings and dates (VDD, SLEEP, ENABLE) and VDD after the repair; what the bad connection physically was; what you tried first; whether the XIAO that heated and lost USB is quarantined; a photo of the built perfboard (the layout image is B3).
SOURCE: DECK_STORYLINE.md slide 14; DESIGN_STATE.md; docs/electrical/station_revD_20261021/PERFBOARD_LAYOUT.md; DECISION_STORIES.md T29, 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four-tag board (150 mm tags, 0.25 m pitch) with at least two tags in view: 1.3 mrad, 0.68 mm (about 10 x better). Simulated: 6/6 startups, 91 to 97 % of slack readings resolved, predicted sigma 12 to 16 mm, 3 of 6 runs reach full-room trust. Calibration sigma stayed above the 12 mm bead overtravel; decisions D26 (margins carry the safety, reel each cable in turn: no motion means slack) and D27 (no IMU on the claw). A converged optimiser is not acceptance: in the one-cable toy both fits had a whitened residual near 1.0, yet the anchor range and length offset were 9 x less identifiable in the small excitation box.
LIKELY QUESTION 1: What prompted the margins decision?
ANSWER: I need your answer here (see need list).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
CHECK BEFORE SAYING: The storyline says 'about 13°'; that uses the stale centre-of-mass depth. The slide says 13 to 21° so both numbers are covered. Re-extract the centre of mass from the CAD before quoting either as final.
NEED FROM JASPER: What observation led to D26 and the slide probe; any hardware test planned before the panel; the re-extracted centre-of-mass depth.
SOURCE: FUNDAMENTALS.md sections 7 and 8; DECISIONS.md D26, D27; docs/STARTUP_CALIBRATION_V1_20261016.md.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0.75 to 0.85 V; one motor turned on all four driver channels; 18 V on the meter; buck 5.00 V; fin fit; logic rail 1.14 V fault. Calculated: statics, Lewis, fin, wire drop, grip force. Simulated: control system, calibration, camera view, four-bar jaw force. Planned: hold test (motor case below 60 °C); station pull test; SolidWorks station study (SF at least 3, deflection at most 0.5 mm); 1 lb on four stations, 300 mm at 50 mm/s, within 2 mm per cable.
LIKELY QUESTION 1: What is the first test you would run?
ANSWER: The 15-minute luggage-scale pull test at 1.06 A, empty and full spool (docs/tests/WINCH_PULL_TEST.md), because it replaces the assumed 0.7 running-torque factor: a running pull of 25 N or more at a full spool means the direct drive might carry a lighter claw, under 25 N (expected about 18 N) means the 3:1 reduction; then the hold test.
LIKELY QUESTION 2: Which number are you least sure of?
ANSWER: The claw mass: the budget is 0.45 kg but the printed claw is estimated at 1.05 to 1.25 kg and has not been weighed, and every capacity number rests on it.
NEED FROM JASPER: Anything measured since Oct 20 (move it left); confirm each pass limit; hold-test length (60 minutes in the storyline, 90 in the fundamentals sheet).
SOURCE: DECK_STORYLINE.md slide 16; FUNDAMENTALS.md 'What must still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(D27); the yaw guard; five fingers became two jaws; 50 mm of tube (32.5 g); the housing block replaced by an open frame (-600 g, per the storyline); a contactor e-stop replaced by the switched power strip as the only stop (D21). Lessons: measure before you trust a margin (Vref 0.85 V,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
NEED FROM JASPER: Confirm what the 'yaw guard' was and the source of the -600 g open-frame figure (storyline only); say whether you want the contact line left on the slide.
SOURCE: DECK_STORYLINE.md slide 17; DECISIONS.md D21, D27.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
SOURCE: FUNDAMENTALS.md sections 4 and 5; verification/gripper_v7_verification.md claims 4a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(D21). The power strip is the only category-0 stop and no safety-rated function is claimed.
CHECK BEFORE SAYING: Everything on this slide is simulated or by design; nothing has run on four stations yet.
SOURCE: docs/CONTROL_SYSTEM_V1.md sections on clocks, feed-hold and lease; DECISIONS.md D20, D21, D25; FUNDAMENTALS.md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(E10-E13) so the A4988 boots disabled; R2 10 k STEP pull-down; R3 10 k DIR pull-down; R4 10 k switch pull-up. JP1 (R11-S11) with D1 1N5819 between the XIAO 5 V side and the buck output. DROK buck standing on its 5-pin header: select 5 V by bridging its 5V pad and check 5.00 V before connecting loads. 3V3 bus row 13, GND bus row 11. C1 100 µF/50 V across VMOT. J1 12 V in, J2 motor, J3 switch, J5 encoder. Layout generated and net-checked by perfboard_layout.py.
LIKELY QUESTION: Where is the schematic?
ANSWER: The layout drawing is net-checked, but this backup shows the layout only; add the schematic image if you want it on the slide.
CHECK BEFORE SAYING: The as-built board still needs its meter checklist; the layout is a drawing, not a measurement.
NEED FROM JASPER: Schematic image (if wanted) and a photo of the built perfboard.
SOURCE: docs/electrical/station_revD_20261021/PERFBOARD_LAYOUT.md and perfboard_layout.png; docs/LOCAL_STATION_CONTROL_20261004.md.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about ten times, but the hanging claw still tilts between 13 and 21 degrees near the corners because of where its centre of mass sits.
NUMBERS: Tilt noise for one 152.4 mm tag at 0.46 / 0.6 / 0.8 / 1.0 m: 10.5 / 17.9 / 31.8 / 49.7 mrad (matches the project's Monte Carlo). Four-tag board with the camera centred over them: 1.3 mrad, 0.68 mm lever-arm error at 0.51 m (9.8 x better than 12.9 mrad, 6.6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Which depth should I quote?
ANSWER: Neither as final: the recorded 0.196 m belongs to the superseded v6 head; the 0.116 m estimate is a rough lumped figure. Re-extract the centre of mass from the CAD and rerun.
CHECK BEFORE SAYING: Tilt noise assumes independent Gaussian corner noise (0.3 px), fronto-parallel tags and a 520 px focal length (a camera guess); real corner noise is unmeasured.
SOURCE: FUNDAMENTALS.md sections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sealed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PETG; long-fin resistance 22 K/W (0.48 mm Al) vs 182 K/W (5 mm PETG). Shell time constant 35 min: a 90-minute hold covers 92 % of the rise.
LIKELY QUESTION: Why not let the PETG mount sink the heat?
ANSWER: At equal geometry aluminium conducts 28 x better (the square root of 160 / 0.2), and through the flange contact the PETG path is 14.0 K/W against 0.011 K/W (1260 x). Heat in PETG dies out within a few millimetres of the motor, so the PETG around the motor bolts climbs toward the motor temperature while it carries the cable load.
CHECK BEFORE SAYING: Coil resistance (1.8 Ω), film coefficient and shell resistances are assumptions; the fin FEA and hold test are not done.
NEED FROM JASPER: Fin FEA results after the SolidWorks study (this slide shows none).
SOURCE: FUNDAMENTALS.md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 2 re-verification: 72 tests pass; interference over the full sweep 0.000 mm³; jaw travel 76.5°.
LIKELY QUESTION: What is still open?
ANSWER: Servo ear pitch (47.0 mm in the plate vs 48.3 mm in interfaces.py) must be measured on hardware; the Ø9.7 race ring and the Ø3.3 insert hole cannot be checked from CAD; purchased fastener masses are assumed; flank clearance 0.1994 / 0.1997 mm and the 1.997 sync SF are accepted conditions.
CHECK BEFORE SAYING: The gripper_v7 render in the asset folder is marked work in progress (re-render once verified); swap in the final render if one exists. Verdict is PASS WITH CONDITIONS.
SOURCE: verification/gripper_v7_verification.md (revision 2); FUNDAMENTALS.md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go only into studs; nobody stands under the robot; and the LiPo is balance-charged off the robot.
NUMBERS: D21: every fault and pause holds torque; only a disarm confirmed with the claw supported removes it; the power strip is the only category-0 stop; no safety-rated function is claimed (ISO 13849 / IEC 61508 not claimed). Stations: the line pulls the station away from the wall, so the stud screws see pull-out, not shear; SolidWorks study and pull test PLANNED (slide 10). No AC mains inside printed housings (CR9). Claw battery: 2S LiPo, charged with the matched external 2S balance charger with the pack removed from the robot; a protection board is not a charger.
LIKELY QUESTION: Is this a safety-rated system?
ANSWER: No. It is a hobby prototype with a single hard stop (the strip) and a rule that nobody is under it; load-bearing, high-speed or energy-storage parts need qualified supervision and controlled testing before use.
NEED FROM JASPER: Confirm the stud anchoring and charging statements match what you actually do, and which charger you use.
SOURCE: DECISIONS.md D21; REQUIREMENTS.md CR9; docs/CLAW_ELECTRICAL_REVA_20261012.md; DECK_STORYLINE.md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that picks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build: four winch stations, a camera claw, and the software.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251960"/>
            <a:ext cx="3246120" cy="1600200"/>
          </a:xfrm>
          <a:prstGeom prst="rect">
            <a:avLst/>
          </a:prstGeom>
          <a:solidFill>
            <a:schemeClr val="bg2"/>
          </a:solidFill>
          <a:ln w="9525">
            <a:solidFill>
              <a:schemeClr val="bg2"/>
            </a:solidFill>
            <a:prstDash val="solid"/>
          </a:ln>
        </p:spPr>
      </p:sp>
      <p:sp>
        <p:nvSpPr>
          <p:cNvPr id="26" name="Text 24"/>
          <p:cNvSpPr txBox="1"/>
          <p:nvPr/>
        </p:nvSpPr>
        <p:spPr>
          <a:xfrm>
            <a:off x="77724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A4988 driver, ESP32, DROK buck, MG996R servo.</a:t>
            </a:r>
            <a:endParaRPr lang="en-US" sz="1800" dirty="0"/>
          </a:p>
        </p:txBody>
      </p:sp>
      <p:sp>
        <p:nvSpPr>
          <p:cNvPr id="28" name="card_2"/>
          <p:cNvSpPr/>
          <p:nvPr/>
        </p:nvSpPr>
        <p:spPr>
          <a:xfrm>
            <a:off x="4023360" y="4251960"/>
            <a:ext cx="3246120" cy="1600200"/>
          </a:xfrm>
          <a:prstGeom prst="rect">
            <a:avLst/>
          </a:prstGeom>
          <a:solidFill>
            <a:schemeClr val="accent5"/>
          </a:solidFill>
          <a:ln w="19050">
            <a:solidFill>
              <a:schemeClr val="accent1"/>
            </a:solidFill>
            <a:prstDash val="solid"/>
          </a:ln>
        </p:spPr>
      </p:sp>
      <p:sp>
        <p:nvSpPr>
          <p:cNvPr id="29" name="Text 27"/>
          <p:cNvSpPr txBox="1"/>
          <p:nvPr/>
        </p:nvSpPr>
        <p:spPr>
          <a:xfrm>
            <a:off x="425196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25196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Everything else: designed, printed, machined and wired.</a:t>
            </a:r>
            <a:endParaRPr lang="en-US" sz="1800" dirty="0"/>
          </a:p>
        </p:txBody>
      </p:sp>
      <p:sp>
        <p:nvSpPr>
          <p:cNvPr id="31" name="Text 29"/>
          <p:cNvSpPr txBox="1"/>
          <p:nvPr/>
        </p:nvSpPr>
        <p:spPr>
          <a:xfrm>
            <a:off x="7818120" y="427024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61772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59943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98348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96519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calculation, stated inputs</a:t>
            </a:r>
            <a:endParaRPr lang="en-US" sz="1300" dirty="0"/>
          </a:p>
        </p:txBody>
      </p:sp>
      <p:sp>
        <p:nvSpPr>
          <p:cNvPr id="36" name="tag_SIMULATED"/>
          <p:cNvSpPr txBox="1"/>
          <p:nvPr/>
        </p:nvSpPr>
        <p:spPr>
          <a:xfrm>
            <a:off x="7818120" y="534924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33095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71500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69671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Payload of jeans, plus 2 m/s² acceleration</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Winch stations screwed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not payload, sets the limits; walls bind before the ceiling.</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11.9 N winch design force_11.9"/>
          <p:cNvSpPr/>
          <p:nvPr/>
        </p:nvSpPr>
        <p:spPr>
          <a:xfrm>
            <a:off x="1239926" y="4102666"/>
            <a:ext cx="4048963" cy="0"/>
          </a:xfrm>
          <a:prstGeom prst="line">
            <a:avLst/>
          </a:prstGeom>
          <a:noFill/>
          <a:ln w="15875">
            <a:solidFill>
              <a:srgbClr val="0E1116"/>
            </a:solidFill>
            <a:prstDash val="dash"/>
          </a:ln>
        </p:spPr>
      </p:sp>
      <p:sp>
        <p:nvSpPr>
          <p:cNvPr id="7" name="limit_label_11.9 N winch design force"/>
          <p:cNvSpPr txBox="1"/>
          <p:nvPr/>
        </p:nvSpPr>
        <p:spPr>
          <a:xfrm>
            <a:off x="3044038" y="3855778"/>
            <a:ext cx="2217420"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11.9 N winch design force</a:t>
            </a:r>
            <a:endParaRPr lang="en-US" sz="1100" dirty="0"/>
          </a:p>
        </p:txBody>
      </p:sp>
      <p:sp>
        <p:nvSpPr>
          <p:cNvPr id="8" name="railv_line"/>
          <p:cNvSpPr/>
          <p:nvPr/>
        </p:nvSpPr>
        <p:spPr>
          <a:xfrm>
            <a:off x="5980176" y="2103120"/>
            <a:ext cx="0" cy="2560320"/>
          </a:xfrm>
          <a:prstGeom prst="line">
            <a:avLst/>
          </a:prstGeom>
          <a:noFill/>
          <a:ln w="25400">
            <a:solidFill>
              <a:schemeClr val="bg2"/>
            </a:solidFill>
            <a:prstDash val="solid"/>
          </a:ln>
        </p:spPr>
      </p:sp>
      <p:sp>
        <p:nvSpPr>
          <p:cNvPr id="9"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0"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1"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2" name="railv_sep_1"/>
          <p:cNvSpPr/>
          <p:nvPr/>
        </p:nvSpPr>
        <p:spPr>
          <a:xfrm>
            <a:off x="6236208" y="2423160"/>
            <a:ext cx="5406847" cy="0"/>
          </a:xfrm>
          <a:prstGeom prst="line">
            <a:avLst/>
          </a:prstGeom>
          <a:noFill/>
          <a:ln w="9525">
            <a:solidFill>
              <a:schemeClr val="bg2"/>
            </a:solidFill>
            <a:prstDash val="solid"/>
          </a:ln>
        </p:spPr>
      </p:sp>
      <p:sp>
        <p:nvSpPr>
          <p:cNvPr id="13"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4"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5"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6" name="railv_sep_2"/>
          <p:cNvSpPr/>
          <p:nvPr/>
        </p:nvSpPr>
        <p:spPr>
          <a:xfrm>
            <a:off x="6236208" y="3063240"/>
            <a:ext cx="5406847" cy="0"/>
          </a:xfrm>
          <a:prstGeom prst="line">
            <a:avLst/>
          </a:prstGeom>
          <a:noFill/>
          <a:ln w="9525">
            <a:solidFill>
              <a:schemeClr val="bg2"/>
            </a:solidFill>
            <a:prstDash val="solid"/>
          </a:ln>
        </p:spPr>
      </p:sp>
      <p:sp>
        <p:nvSpPr>
          <p:cNvPr id="17"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8"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19"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0" name="railv_sep_3"/>
          <p:cNvSpPr/>
          <p:nvPr/>
        </p:nvSpPr>
        <p:spPr>
          <a:xfrm>
            <a:off x="6236208" y="3703320"/>
            <a:ext cx="5406847" cy="0"/>
          </a:xfrm>
          <a:prstGeom prst="line">
            <a:avLst/>
          </a:prstGeom>
          <a:noFill/>
          <a:ln w="9525">
            <a:solidFill>
              <a:schemeClr val="bg2"/>
            </a:solidFill>
            <a:prstDash val="solid"/>
          </a:ln>
        </p:spPr>
      </p:sp>
      <p:sp>
        <p:nvSpPr>
          <p:cNvPr id="21"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2"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3"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task heights, corners bind (1.1 × weight).</a:t>
            </a:r>
            <a:endParaRPr lang="en-US" sz="1500" dirty="0"/>
          </a:p>
        </p:txBody>
      </p:sp>
      <p:sp>
        <p:nvSpPr>
          <p:cNvPr id="24" name="railv_sep_4"/>
          <p:cNvSpPr/>
          <p:nvPr/>
        </p:nvSpPr>
        <p:spPr>
          <a:xfrm>
            <a:off x="6236208" y="4343400"/>
            <a:ext cx="5406847" cy="0"/>
          </a:xfrm>
          <a:prstGeom prst="line">
            <a:avLst/>
          </a:prstGeom>
          <a:noFill/>
          <a:ln w="9525">
            <a:solidFill>
              <a:schemeClr val="bg2"/>
            </a:solidFill>
            <a:prstDash val="solid"/>
          </a:ln>
        </p:spPr>
      </p:sp>
      <p:sp>
        <p:nvSpPr>
          <p:cNvPr id="25"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6"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7"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a:t>
            </a:r>
            <a:endParaRPr lang="en-US" sz="1500" dirty="0"/>
          </a:p>
        </p:txBody>
      </p:sp>
      <p:sp>
        <p:nvSpPr>
          <p:cNvPr id="28"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29" name="Text 26"/>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0"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sin φ = d / √(d² + D</a:t>
            </a:r>
            <a:pPr indent="0" marL="0">
              <a:buNone/>
            </a:pPr>
            <a:r>
              <a:rPr lang="en-US" sz="1600" baseline="-40000" dirty="0">
                <a:solidFill>
                  <a:schemeClr val="tx1"/>
                </a:solidFill>
                <a:latin typeface="Cambria" pitchFamily="34" charset="0"/>
                <a:ea typeface="Cambria" pitchFamily="34" charset="-122"/>
                <a:cs typeface="Cambria" pitchFamily="34" charset="-120"/>
              </a:rPr>
              <a:t>h</a:t>
            </a:r>
            <a:pPr indent="0" marL="0">
              <a:buNone/>
            </a:pPr>
            <a:r>
              <a:rPr lang="en-US" sz="1600" dirty="0">
                <a:solidFill>
                  <a:schemeClr val="tx1"/>
                </a:solidFill>
                <a:latin typeface="Cambria" pitchFamily="34" charset="0"/>
                <a:ea typeface="Cambria" pitchFamily="34" charset="-122"/>
                <a:cs typeface="Cambria" pitchFamily="34" charset="-120"/>
              </a:rPr>
              <a:t>²)</a:t>
            </a:r>
            <a:endParaRPr lang="en-US" sz="1600" dirty="0"/>
          </a:p>
        </p:txBody>
      </p:sp>
      <p:sp>
        <p:nvSpPr>
          <p:cNvPr id="31"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W = 8.86 N (1 lb + 0.45 kg claw),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T = 32.1 N at d = 0.15 m, 8.3 N at 0.60 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geometry buys it back.</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0.85 V → 1.06 A</a:t>
            </a:r>
            <a:endParaRPr lang="en-US" sz="38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cap on my A4988 boards,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replaces the assumed 0.7 running-torque factor.</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shrink the spool core.</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Torque factor 0.7 assumed;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τ / r: 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 0.255 N·m = 0.179 N·m, so T = 23.8 N at r = 7.5 mm and 17.9 N at a full spool (r = 10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Sealing the station made the motor mount its hottest,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1236269" y="202909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at 1.06 A with thermometers on the motor case, fin and PETG tab; pass limit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1.06 A: 64 °C bare, 46 °C finned.</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A² × 1.8 Ω = 2.0 W (R assumed). Flange path: PETG 14 K/W vs aluminium 0.011 K/W, 1260 × worse.</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drew 1/8-inch, built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beside my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Drawn: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The sheet I could drill was 0.019 in.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Stuck out 14.5 mm past the 24 mm shaft.</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bore never calipered.</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0.5 mm line on the Ø15 core: 5 layers, r = 7.5 to 10 mm, T = 23.8 to 17.9 N,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never cross the pulley; rev C missed by 5 mm.</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Switch roller"/>
          <p:cNvSpPr/>
          <p:nvPr/>
        </p:nvSpPr>
        <p:spPr>
          <a:xfrm flipV="1">
            <a:off x="1239926" y="3883091"/>
            <a:ext cx="1005840" cy="685800"/>
          </a:xfrm>
          <a:prstGeom prst="line">
            <a:avLst/>
          </a:prstGeom>
          <a:noFill/>
          <a:ln w="12700">
            <a:solidFill>
              <a:schemeClr val="tx1"/>
            </a:solidFill>
            <a:prstDash val="solid"/>
          </a:ln>
        </p:spPr>
      </p:sp>
      <p:sp>
        <p:nvSpPr>
          <p:cNvPr id="7" name="callout_dot_Switch roller"/>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Switch roller"/>
          <p:cNvSpPr txBox="1"/>
          <p:nvPr/>
        </p:nvSpPr>
        <p:spPr>
          <a:xfrm>
            <a:off x="2291486" y="3736787"/>
            <a:ext cx="14630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Switch roller</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a 5 mm bead on real line against the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by 5 mm;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X error ≤ 1.0 mm across 18 to 22 mm pulleys, 0 after the ±2 mm slot.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5"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6"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7"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8" name="Text 4"/>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9" name="Text 5"/>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physical station pull test.</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plus slide-in housing, SF ≥ 3.</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SolidWorks static study pending.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Pass limits at the 34 N slip-limit load: peak σ ≤ 8.33 MPa (SF ≥ 3 on 25 MPa derated yield), deflection ≤ 0.5 mm at the cable exit.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so I sized for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my own 36T gear.</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16 mm face: SF 2.0–2.5.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mm);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c = 50 mm gives 140 mm; each mm cut lowers D* by 0.63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fixed the wiring and priced sync error.</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JULY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OCTOBER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3 N/mm × 2.5 mm = 7.5 N. 16 AWG, 32 ft, 2 A: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the meter</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Rev D board, net-checked; motion after repair.</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3520440" y="4983480"/>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 2 tags in view</a:t>
            </a:r>
            <a:endParaRPr lang="en-US" sz="1200" dirty="0"/>
          </a:p>
        </p:txBody>
      </p:sp>
      <p:sp>
        <p:nvSpPr>
          <p:cNvPr id="47" name="big_number"/>
          <p:cNvSpPr txBox="1"/>
          <p:nvPr/>
        </p:nvSpPr>
        <p:spPr>
          <a:xfrm>
            <a:off x="777240" y="53492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852160"/>
            <a:ext cx="4480560" cy="274320"/>
          </a:xfrm>
          <a:prstGeom prst="rect">
            <a:avLst/>
          </a:prstGeom>
          <a:noFill/>
          <a:ln/>
        </p:spPr>
        <p:txBody>
          <a:bodyPr wrap="square" lIns="0" tIns="0" rIns="0" bIns="0" rtlCol="0" anchor="t"/>
          <a:lstStyle/>
          <a:p>
            <a:pPr indent="0" marL="0">
              <a:buNone/>
            </a:pPr>
            <a:r>
              <a:rPr lang="en-US" sz="1200" dirty="0">
                <a:solidFill>
                  <a:schemeClr val="tx2"/>
                </a:solidFill>
              </a:rPr>
              <a:t>lever-arm error per frame at 0.51 m: one tag vs the four-tag board</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 σ &gt; 12 mm overtravel.</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Four-tag board: 1.3 mrad × 0.51 m = 0.68 mm. 91–97 % of slack readings resolved (sim).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92608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cap 0.75–0.85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on the meter at the supply</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fits the motor</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 pull test,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 3,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49240"/>
            <a:ext cx="11094415" cy="777240"/>
          </a:xfrm>
          <a:prstGeom prst="rect">
            <a:avLst/>
          </a:prstGeom>
          <a:solidFill>
            <a:schemeClr val="accent5"/>
          </a:solidFill>
          <a:ln w="19050">
            <a:solidFill>
              <a:schemeClr val="accent1"/>
            </a:solidFill>
            <a:prstDash val="solid"/>
          </a:ln>
        </p:spPr>
      </p:sp>
      <p:sp>
        <p:nvSpPr>
          <p:cNvPr id="6" name="Text 3"/>
          <p:cNvSpPr txBox="1"/>
          <p:nvPr/>
        </p:nvSpPr>
        <p:spPr>
          <a:xfrm>
            <a:off x="777240" y="5486400"/>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715000"/>
            <a:ext cx="10637215" cy="320040"/>
          </a:xfrm>
          <a:prstGeom prst="rect">
            <a:avLst/>
          </a:prstGeom>
          <a:noFill/>
          <a:ln/>
        </p:spPr>
        <p:txBody>
          <a:bodyPr wrap="square" lIns="0" tIns="0" rIns="0" bIns="0" rtlCol="0" anchor="ctr"/>
          <a:lstStyle/>
          <a:p>
            <a:pPr indent="0" marL="0">
              <a:buNone/>
            </a:pPr>
            <a:r>
              <a:rPr lang="en-US" sz="1600" dirty="0">
                <a:solidFill>
                  <a:schemeClr val="tx1"/>
                </a:solidFill>
              </a:rPr>
              <a:t>Luggage-scale pull at 1.06 A, empty and full spool. Under 25 N at a full spool means a 3:1 reduction.</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yaw guard</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(−600 g)</a:t>
            </a:r>
            <a:endParaRPr lang="en-US" sz="1700" dirty="0"/>
          </a:p>
        </p:txBody>
      </p:sp>
      <p:sp>
        <p:nvSpPr>
          <p:cNvPr id="15" name="Text 13"/>
          <p:cNvSpPr txBox="1"/>
          <p:nvPr/>
        </p:nvSpPr>
        <p:spPr>
          <a:xfrm>
            <a:off x="548640" y="507492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6" name="Text 14"/>
          <p:cNvSpPr txBox="1"/>
          <p:nvPr/>
        </p:nvSpPr>
        <p:spPr>
          <a:xfrm>
            <a:off x="914400" y="507492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contactor e-stop</a:t>
            </a:r>
            <a:endParaRPr lang="en-US" sz="1700" dirty="0"/>
          </a:p>
        </p:txBody>
      </p:sp>
      <p:sp>
        <p:nvSpPr>
          <p:cNvPr id="17" name="Text 15"/>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8" name="Text 16"/>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9" name="Text 17"/>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20" name="Text 18"/>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21" name="Text 19"/>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2" name="Text 20"/>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3" name="Text 21"/>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4" name="Text 22"/>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5" name="Text 23"/>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6" name="Text 24"/>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7" name="Text 25"/>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8" name="Text 26"/>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6"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7" name="callout_line_JP1 link"/>
          <p:cNvSpPr/>
          <p:nvPr/>
        </p:nvSpPr>
        <p:spPr>
          <a:xfrm>
            <a:off x="4558309" y="4182868"/>
            <a:ext cx="416515" cy="400562"/>
          </a:xfrm>
          <a:prstGeom prst="line">
            <a:avLst/>
          </a:prstGeom>
          <a:noFill/>
          <a:ln w="12700">
            <a:solidFill>
              <a:schemeClr val="tx1"/>
            </a:solidFill>
            <a:prstDash val="solid"/>
          </a:ln>
        </p:spPr>
      </p:sp>
      <p:sp>
        <p:nvSpPr>
          <p:cNvPr id="8"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9"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10" name="callout_line_R1 pull-up"/>
          <p:cNvSpPr/>
          <p:nvPr/>
        </p:nvSpPr>
        <p:spPr>
          <a:xfrm flipV="1">
            <a:off x="1116100" y="4285473"/>
            <a:ext cx="857999" cy="477180"/>
          </a:xfrm>
          <a:prstGeom prst="line">
            <a:avLst/>
          </a:prstGeom>
          <a:noFill/>
          <a:ln w="12700">
            <a:solidFill>
              <a:schemeClr val="tx1"/>
            </a:solidFill>
            <a:prstDash val="solid"/>
          </a:ln>
        </p:spPr>
      </p:sp>
      <p:sp>
        <p:nvSpPr>
          <p:cNvPr id="11"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2"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3" name="callout_line_3V3 bus"/>
          <p:cNvSpPr/>
          <p:nvPr/>
        </p:nvSpPr>
        <p:spPr>
          <a:xfrm flipV="1">
            <a:off x="3215700" y="4563267"/>
            <a:ext cx="54476" cy="356205"/>
          </a:xfrm>
          <a:prstGeom prst="line">
            <a:avLst/>
          </a:prstGeom>
          <a:noFill/>
          <a:ln w="12700">
            <a:solidFill>
              <a:schemeClr val="tx1"/>
            </a:solidFill>
            <a:prstDash val="solid"/>
          </a:ln>
        </p:spPr>
      </p:sp>
      <p:sp>
        <p:nvSpPr>
          <p:cNvPr id="14"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5"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6" name="Text 13"/>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7" name="Text 14"/>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8"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9"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0"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floor board cuts tilt noise 10×; hanging tilt still reaches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Four-tag board: 1.3 mrad_1.32375221376"/>
          <p:cNvSpPr/>
          <p:nvPr/>
        </p:nvSpPr>
        <p:spPr>
          <a:xfrm>
            <a:off x="6839099" y="4143367"/>
            <a:ext cx="4588048" cy="0"/>
          </a:xfrm>
          <a:prstGeom prst="line">
            <a:avLst/>
          </a:prstGeom>
          <a:noFill/>
          <a:ln w="15875">
            <a:solidFill>
              <a:schemeClr val="tx1"/>
            </a:solidFill>
            <a:prstDash val="dash"/>
          </a:ln>
        </p:spPr>
      </p:sp>
      <p:sp>
        <p:nvSpPr>
          <p:cNvPr id="11" name="limit_label_Four-tag board: 1.3 mrad"/>
          <p:cNvSpPr txBox="1"/>
          <p:nvPr/>
        </p:nvSpPr>
        <p:spPr>
          <a:xfrm>
            <a:off x="9388035" y="3896479"/>
            <a:ext cx="201168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Four-tag board: 1.3 mrad</a:t>
            </a:r>
            <a:endParaRPr lang="en-US" sz="11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(1/L law: 1.70×); 83 % then 92 % of grid points exceed 5°. Board: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417320"/>
                <a:gridCol w="1143000"/>
                <a:gridCol w="85313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Heat spreads,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212080"/>
            <a:ext cx="11094415" cy="1051560"/>
          </a:xfrm>
          <a:prstGeom prst="rect">
            <a:avLst/>
          </a:prstGeom>
          <a:solidFill>
            <a:schemeClr val="bg2"/>
          </a:solidFill>
          <a:ln w="6350">
            <a:solidFill>
              <a:schemeClr val="bg2"/>
            </a:solidFill>
            <a:prstDash val="solid"/>
          </a:ln>
        </p:spPr>
      </p:sp>
      <p:sp>
        <p:nvSpPr>
          <p:cNvPr id="30" name="Text 27"/>
          <p:cNvSpPr txBox="1"/>
          <p:nvPr/>
        </p:nvSpPr>
        <p:spPr>
          <a:xfrm>
            <a:off x="731520" y="530352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48640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870448"/>
            <a:ext cx="10728655" cy="33832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Aluminium 160 vs PETG 0.2 W/m·K gives √(160 / 0.2) = 28× at equal geometry; the flange path alone is 1260× worse. Sealed-shell time constant 35 min.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332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studs only, nobody underneath.</a:t>
            </a:r>
            <a:endParaRPr lang="en-US" sz="3000" dirty="0"/>
          </a:p>
        </p:txBody>
      </p:sp>
      <p:sp>
        <p:nvSpPr>
          <p:cNvPr id="4" name="safety_card_1"/>
          <p:cNvSpPr/>
          <p:nvPr/>
        </p:nvSpPr>
        <p:spPr>
          <a:xfrm>
            <a:off x="548640" y="1920240"/>
            <a:ext cx="2602154" cy="310896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The switched power strip is the only stop. Faults and pause hold torque.</a:t>
            </a:r>
            <a:endParaRPr lang="en-US" sz="1500" dirty="0"/>
          </a:p>
        </p:txBody>
      </p:sp>
      <p:sp>
        <p:nvSpPr>
          <p:cNvPr id="8" name="safety_card_2"/>
          <p:cNvSpPr/>
          <p:nvPr/>
        </p:nvSpPr>
        <p:spPr>
          <a:xfrm>
            <a:off x="3379394" y="1920240"/>
            <a:ext cx="2602154" cy="3108960"/>
          </a:xfrm>
          <a:prstGeom prst="rect">
            <a:avLst/>
          </a:prstGeom>
          <a:solidFill>
            <a:schemeClr val="bg2"/>
          </a:solidFill>
          <a:ln w="6350">
            <a:solidFill>
              <a:schemeClr val="bg2"/>
            </a:solidFill>
            <a:prstDash val="solid"/>
          </a:ln>
        </p:spPr>
      </p:sp>
      <p:pic>
        <p:nvPicPr>
          <p:cNvPr id="9" name="safety_icon_2" descr="Studs only">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Studs only</a:t>
            </a:r>
            <a:endParaRPr lang="en-US" sz="1900" dirty="0"/>
          </a:p>
        </p:txBody>
      </p:sp>
      <p:sp>
        <p:nvSpPr>
          <p:cNvPr id="11" name="Text 7"/>
          <p:cNvSpPr txBox="1"/>
          <p:nvPr/>
        </p:nvSpPr>
        <p:spPr>
          <a:xfrm>
            <a:off x="3653714"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Stations anchor into wall studs; the line pulls them off the wall, so screws see pull-out.</a:t>
            </a:r>
            <a:endParaRPr lang="en-US" sz="1500" dirty="0"/>
          </a:p>
        </p:txBody>
      </p:sp>
      <p:sp>
        <p:nvSpPr>
          <p:cNvPr id="12" name="safety_card_3"/>
          <p:cNvSpPr/>
          <p:nvPr/>
        </p:nvSpPr>
        <p:spPr>
          <a:xfrm>
            <a:off x="6210148" y="1920240"/>
            <a:ext cx="2602154" cy="310896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Nobody stands under the robot while it moves.</a:t>
            </a:r>
            <a:endParaRPr lang="en-US" sz="1500" dirty="0"/>
          </a:p>
        </p:txBody>
      </p:sp>
      <p:sp>
        <p:nvSpPr>
          <p:cNvPr id="16" name="safety_card_4"/>
          <p:cNvSpPr/>
          <p:nvPr/>
        </p:nvSpPr>
        <p:spPr>
          <a:xfrm>
            <a:off x="9040901" y="1920240"/>
            <a:ext cx="2602154" cy="3108960"/>
          </a:xfrm>
          <a:prstGeom prst="rect">
            <a:avLst/>
          </a:prstGeom>
          <a:solidFill>
            <a:schemeClr val="bg2"/>
          </a:solidFill>
          <a:ln w="6350">
            <a:solidFill>
              <a:schemeClr val="bg2"/>
            </a:solidFill>
            <a:prstDash val="solid"/>
          </a:ln>
        </p:spPr>
      </p:sp>
      <p:pic>
        <p:nvPicPr>
          <p:cNvPr id="17" name="safety_icon_4" descr="Balance charging">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Balance charging</a:t>
            </a:r>
            <a:endParaRPr lang="en-US" sz="1900" dirty="0"/>
          </a:p>
        </p:txBody>
      </p:sp>
      <p:sp>
        <p:nvSpPr>
          <p:cNvPr id="19" name="Text 13"/>
          <p:cNvSpPr txBox="1"/>
          <p:nvPr/>
        </p:nvSpPr>
        <p:spPr>
          <a:xfrm>
            <a:off x="9315221"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Charge the 2S LiPo with a matched balance charger, pack off the robot.</a:t>
            </a:r>
            <a:endParaRPr lang="en-US" sz="1500" dirty="0"/>
          </a:p>
        </p:txBody>
      </p:sp>
      <p:sp>
        <p:nvSpPr>
          <p:cNvPr id="20" name="Text 14"/>
          <p:cNvSpPr txBox="1"/>
          <p:nvPr/>
        </p:nvSpPr>
        <p:spPr>
          <a:xfrm>
            <a:off x="548640" y="534924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2026-10-21T11:57:50Z</dcterms:created>
  <dcterms:modified xsi:type="dcterms:W3CDTF">2026-10-21T11:57:50Z</dcterms:modified>
</cp:coreProperties>
</file>