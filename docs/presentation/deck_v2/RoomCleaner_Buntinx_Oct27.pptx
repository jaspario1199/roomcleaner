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f85fa94-d002-c161-f924-b1f132516fa5}">
          <p14:sldIdLst>
            <p14:sldId id="256"/>
            <p14:sldId id="257"/>
            <p14:sldId id="258"/>
          </p14:sldIdLst>
        </p14:section>
        <p14:section name="How a cable robot works" id="{dd887810-c88c-edaf-7a65-b129f3e0d598}">
          <p14:sldIdLst>
            <p14:sldId id="259"/>
            <p14:sldId id="260"/>
            <p14:sldId id="261"/>
            <p14:sldId id="262"/>
          </p14:sldIdLst>
        </p14:section>
        <p14:section name="From one box to modular stations" id="{0d367cc6-d63b-9206-6cc6-28c9751b6ed0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Homing and calibration" id="{5ff800e3-8e36-033a-f1a5-f4ac53562c22}">
          <p14:sldIdLst>
            <p14:sldId id="272"/>
            <p14:sldId id="273"/>
            <p14:sldId id="274"/>
            <p14:sldId id="275"/>
            <p14:sldId id="276"/>
          </p14:sldIdLst>
        </p14:section>
        <p14:section name="The claw" id="{34245864-35a3-3260-08a4-8e44920a791d}">
          <p14:sldIdLst>
            <p14:sldId id="277"/>
            <p14:sldId id="278"/>
            <p14:sldId id="279"/>
            <p14:sldId id="280"/>
            <p14:sldId id="281"/>
          </p14:sldIdLst>
        </p14:section>
        <p14:section name="Electronics and software" id="{f16364d6-1382-1b8b-7462-88a8696b3e48}">
          <p14:sldIdLst>
            <p14:sldId id="282"/>
            <p14:sldId id="283"/>
            <p14:sldId id="284"/>
            <p14:sldId id="285"/>
          </p14:sldIdLst>
        </p14:section>
        <p14:section name="Status and next steps" id="{c9b233bb-e37c-b650-ea4c-cc9ad314d7e0}">
          <p14:sldIdLst>
            <p14:sldId id="286"/>
            <p14:sldId id="287"/>
            <p14:sldId id="288"/>
          </p14:sldIdLst>
        </p14:section>
        <p14:section name="Close" id="{9404fd68-1e65-5cf1-ad27-db6c51ef450e}">
          <p14:sldIdLst>
            <p14:sldId id="289"/>
          </p14:sldIdLst>
        </p14:section>
        <p14:section name="Backup" id="{51a38bd9-24fd-ac0c-19f0-ee2408e282e7}">
          <p14:sldIdLst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Tension per cable vs depth below the anchors (centred claw)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0.15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0.40</c:v>
                  </c:pt>
                  <c:pt idx="4">
                    <c:v>0.50</c:v>
                  </c:pt>
                  <c:pt idx="5">
                    <c:v>0.60</c:v>
                  </c:pt>
                  <c:pt idx="6">
                    <c:v>0.80</c:v>
                  </c:pt>
                  <c:pt idx="7">
                    <c:v>1.00</c:v>
                  </c:pt>
                  <c:pt idx="8">
                    <c:v>1.20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32.1</c:v>
                </c:pt>
                <c:pt idx="1">
                  <c:v>24.1</c:v>
                </c:pt>
                <c:pt idx="2">
                  <c:v>16.2</c:v>
                </c:pt>
                <c:pt idx="3">
                  <c:v>12.2</c:v>
                </c:pt>
                <c:pt idx="4">
                  <c:v>9.9</c:v>
                </c:pt>
                <c:pt idx="5">
                  <c:v>8.3</c:v>
                </c:pt>
                <c:pt idx="6">
                  <c:v>6.4</c:v>
                </c:pt>
                <c:pt idx="7">
                  <c:v>5.3</c:v>
                </c:pt>
                <c:pt idx="8">
                  <c:v>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+2 m/s²</c:v>
                </c:pt>
              </c:strCache>
            </c:strRef>
          </c:tx>
          <c:spPr>
            <a:solidFill>
              <a:srgbClr val="4F6D8F"/>
            </a:solidFill>
            <a:ln w="31750" cap="flat">
              <a:solidFill>
                <a:srgbClr val="4F6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6D8F"/>
              </a:solidFill>
              <a:ln w="9525" cap="flat">
                <a:solidFill>
                  <a:srgbClr val="4F6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0.15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0.40</c:v>
                  </c:pt>
                  <c:pt idx="4">
                    <c:v>0.50</c:v>
                  </c:pt>
                  <c:pt idx="5">
                    <c:v>0.60</c:v>
                  </c:pt>
                  <c:pt idx="6">
                    <c:v>0.80</c:v>
                  </c:pt>
                  <c:pt idx="7">
                    <c:v>1.00</c:v>
                  </c:pt>
                  <c:pt idx="8">
                    <c:v>1.20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38.7</c:v>
                </c:pt>
                <c:pt idx="1">
                  <c:v>29.1</c:v>
                </c:pt>
                <c:pt idx="2">
                  <c:v>19.5</c:v>
                </c:pt>
                <c:pt idx="3">
                  <c:v>14.7</c:v>
                </c:pt>
                <c:pt idx="4">
                  <c:v>11.9</c:v>
                </c:pt>
                <c:pt idx="5">
                  <c:v>10</c:v>
                </c:pt>
                <c:pt idx="6">
                  <c:v>7.7</c:v>
                </c:pt>
                <c:pt idx="7">
                  <c:v>6.4</c:v>
                </c:pt>
                <c:pt idx="8">
                  <c:v>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Winch design force 11.9 N</c:v>
                </c:pt>
              </c:strCache>
            </c:strRef>
          </c:tx>
          <c:spPr>
            <a:solidFill>
              <a:srgbClr val="B23A2E"/>
            </a:solidFill>
            <a:ln w="31750" cap="flat">
              <a:solidFill>
                <a:srgbClr val="B2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3A2E"/>
              </a:solidFill>
              <a:ln w="9525" cap="flat">
                <a:solidFill>
                  <a:srgbClr val="B2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0.15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0.40</c:v>
                  </c:pt>
                  <c:pt idx="4">
                    <c:v>0.50</c:v>
                  </c:pt>
                  <c:pt idx="5">
                    <c:v>0.60</c:v>
                  </c:pt>
                  <c:pt idx="6">
                    <c:v>0.80</c:v>
                  </c:pt>
                  <c:pt idx="7">
                    <c:v>1.00</c:v>
                  </c:pt>
                  <c:pt idx="8">
                    <c:v>1.20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11.9</c:v>
                </c:pt>
                <c:pt idx="1">
                  <c:v>11.9</c:v>
                </c:pt>
                <c:pt idx="2">
                  <c:v>11.9</c:v>
                </c:pt>
                <c:pt idx="3">
                  <c:v>11.9</c:v>
                </c:pt>
                <c:pt idx="4">
                  <c:v>11.9</c:v>
                </c:pt>
                <c:pt idx="5">
                  <c:v>11.9</c:v>
                </c:pt>
                <c:pt idx="6">
                  <c:v>11.9</c:v>
                </c:pt>
                <c:pt idx="7">
                  <c:v>11.9</c:v>
                </c:pt>
                <c:pt idx="8">
                  <c:v>11.9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+mn-lt"/>
                  </a:rPr>
                  <a:t>depth below anchors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+mn-lt"/>
                  </a:rPr>
                  <a:t>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Motor case temperature at 1.06 A, 23 °C room (°C, calculated)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fin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Vented shell</c:v>
                  </c:pt>
                  <c:pt idx="1">
                    <c:v>Sealed shell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0.019 in fin (built)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Vented shell</c:v>
                  </c:pt>
                  <c:pt idx="1">
                    <c:v>Sealed shell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</c:v>
                </c:pt>
                <c:pt idx="1">
                  <c:v>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1/8 in fin (drawn)</c:v>
                </c:pt>
              </c:strCache>
            </c:strRef>
          </c:tx>
          <c:spPr>
            <a:solidFill>
              <a:srgbClr val="8FA6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Vented shell</c:v>
                  </c:pt>
                  <c:pt idx="1">
                    <c:v>Sealed shell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36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Lever-arm position error per frame at 0.51 m (mm, calculated)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error per frame (mm)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One tag</c:v>
                  </c:pt>
                  <c:pt idx="1">
                    <c:v>Two tags</c:v>
                  </c:pt>
                  <c:pt idx="2">
                    <c:v>Four tags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</c:v>
                </c:pt>
                <c:pt idx="1">
                  <c:v>2.5</c:v>
                </c:pt>
                <c:pt idx="2">
                  <c:v>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Mass the four winches can hold vs what they must hold (kg)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F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Lift capacity, worst point</c:v>
                  </c:pt>
                  <c:pt idx="1">
                    <c:v>Claw (CAD, printed est.) + battery</c:v>
                  </c:pt>
                  <c:pt idx="2">
                    <c:v>Claw + battery + jeans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0.9</c:v>
                </c:pt>
                <c:pt idx="2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b"/>
        <c:majorGridlines>
          <c:spPr>
            <a:ln w="9525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 cable robot whose four winches sit in the ceiling corners and move one claw anywhere over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first: where it works, what it lifts, what it costs, and how it stays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follows the order the problems appeared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cables, one point, and the vectors that connect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Inverse kinematics of a cable robot is just vector subtraction and a norm, done for each cable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W = (0.454 + 0.45) kg × 9.81 = 8.86 N, D_h = 2.17 m from the room centre to a corner. The tension doubles each time the depth halves near the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torque is lower than holding torque; the pull test will measure the real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adding safety features changed the whole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and synchronised by design. It only stopped working once I wanted more than a motor at each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wire count, not the motors, was the problem. 16 AWG over 32 ft at 2 A drops 0.51 V; 18 AWG 0.82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moved from wiring into software: time-stamped segments and a host that keeps every station's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there are electronics in every corner, the wall plate becomes a product housing.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N is the snag case: holding torque at the empty spool. The study checks stress below 8.3 MPa (derated PETG / 3) and deflection at the cable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so far; the hardware run comes after the four-station lift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Unplugging a motor from an energised A4988 can kill the driver, so the plug carries only 12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carries about half the heat in the sealed case. 60 °C is the limit used for loaded printed parts; PETG softens near 80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first homing plan limited the robot, and what replaced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was a cheap absolute reference per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Calculated over the working volume with 0.2 m wall and 0.4 m ceiling margins. This tradeoff is physical: software cannot remove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robot only unlocks the full workspace when k × σ fits inside the margin; otherwise it stays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tags: 4.85 mrad → 2.5 mm. Noise model: 0.3 px corner noise, 520 px focal length (camera not yet calibrated).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fingers to a parallel-jaw gripper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drove most of the changes; every gram of claw is a gram of laundry the winches cannot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Four-bar: ground 36.5, crank 53, rocker 50, coupler 34.7 mm. Lewis: σ = F_t / (b m 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Lens position kept from the studied design, so the view study still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the numbers say the current claw plus jeans is too heavy. The pull test turns the 0.7 running-torque assumption into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station board, a bring-up lesson, and how the robot is controlled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check: 0 errors. 16 nets, 55 pins match the perfboard.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Lesson: measure before trusting the software's view of the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software was built against a simulator first, so faults like lost messages and reboots were exercised before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and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is calculated or simulated is called that; the test list is what turns it into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did it again: buy the pulleys and couplers sooner, and build one complete station to test before building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Backups follow: schematics, gear strength, thermal network,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 0 errors; 9 nets match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Stall torque 1.08 N·m at 6 V (servo rating, not measured).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RoomCleaner  |  Jasper Buntinx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jpg"/><Relationship Id="rId3" Type="http://schemas.openxmlformats.org/officeDocument/2006/relationships/image" Target="../media/image-16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RoomCleaner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four-cable ceiling robot that picks laundry off the floor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Buntinx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October 27, 2026</a:t>
            </a:r>
            <a:endParaRPr lang="en-US" sz="1400" dirty="0"/>
          </a:p>
        </p:txBody>
      </p:sp>
      <p:pic>
        <p:nvPicPr>
          <p:cNvPr id="6" name="Final claw: electronics housing with cam" descr="Final claw: electronics housing with camera bay, tube and gri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5955" y="365760"/>
            <a:ext cx="1686971" cy="6126480"/>
          </a:xfrm>
          <a:prstGeom prst="rect">
            <a:avLst/>
          </a:prstGeom>
        </p:spPr>
      </p:pic>
      <p:pic>
        <p:nvPicPr>
          <p:cNvPr id="7" name="Gen-1 winch station lifting a test weigh" descr="Gen-1 winch station lifting a test we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56360"/>
            <a:ext cx="310896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constraints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clothes off the floor and drop them in a hamper, from anywhere in the room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winches near the ceiling corners hold one claw on four cables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11 × 9 ft with a 9 ft ceiling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load: a pair of jeans (0.9 kg) with 2 m/s² of acceleration; first test load 1 lb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in PETG on a hobby budget, from parts I can buy and fix myself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anchors in studs, one hard stop (the switched power strip), nobody under the robot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Winch station assembly" descr="Winch station assemb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299" y="1536192"/>
            <a:ext cx="3398794" cy="4379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four winch stations (CAD)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904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3794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vectors, statics, the winch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677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1518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a controller per winch, the slide-in housing, plug-in power, cooling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44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924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 homing, why it limited the motion, the camera-based method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22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6966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evolution, the four-bar hands, the camera, weight vs lift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599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469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board, bring-up, control and the phone app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3766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72414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built, what is tested next, what I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cables, one point, and the vectors that connect them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vectors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6029993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frame at a floor corner; anchor i (the pulley exit) at position vector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claw at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vector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length 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‖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‖, direction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move: for every point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on the path, compute the four lengths 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turn: Δθ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ΔL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r, with r the spool radius including the wound line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form: no iteration is needed to command a move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90113" y="1463040"/>
            <a:ext cx="4652943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Position vectors from four anchors to th" descr="Position vectors from four anchors to the cl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2438" y="1536192"/>
            <a:ext cx="4068292" cy="43799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Statics: why cable angle matters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balance on the claw: Σ T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m(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0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only pull, so every T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stay positive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claw, equal share: T = W / (4 sin φ), φ = cable angle above horizontal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lb + 0.45 kg claw: 32.1 N per cable 0.15 m below the anchors, 8.3 N at 0.6 m, 4.6 N at 1.2 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cables near the ceiling or a wall need large tension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robot keeps margins: 0.4 m below the anchors, 0.2 m from the walls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46336" y="1463040"/>
          <a:ext cx="5096719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CABLE ROBOT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winch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17 stepper, printed spool and a bearing pulley at the outlet, one per corner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torque: T = τ / r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spool radius → more pull per amp, more turns per metre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v1 → v3: Ø20 → Ø15 core with a 16 mm drum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print's bore was too tight on the shaft: opened from Ø5.2 to Ø5.45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open loop; an encoder at the spool checks for lost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1607466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Spool v1, v2, v3" descr="Spool v1, v2, v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988868"/>
            <a:ext cx="1461162" cy="14746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90962" y="1463040"/>
            <a:ext cx="1607466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Spool v1, v2, v3" descr="Spool v1, v2, v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114" y="3041290"/>
            <a:ext cx="1461162" cy="13697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035589" y="1463040"/>
            <a:ext cx="1607466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Spool v1, v2, v3" descr="Spool v1, v2, v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741" y="2989385"/>
            <a:ext cx="1461162" cy="147358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 v1, v2, v3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adding safety features changed the whole architecture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idea: one central controller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Arduino Uno and a CNC shield with four A4988 drivers, in a single box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sends moves; the shield steps all four motors from one clock, so sync is free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motor gets a long 4-wire cable from the box to its corner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 on the bench: a gen-1 station lifted a test weight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170530"/>
            <a:ext cx="2333476" cy="31113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170530"/>
            <a:ext cx="2333476" cy="311130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1: central shield with four drivers; spool plate on the wall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did not scale: the wiring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031495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more safety: a homing switch and an encoder at every winch, plus fault detection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corner: motor 4 + switch 2 + encoder 4 =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conductors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4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cable routes are 6, 21, 23 and 32 ft (82 ft)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820 ft of conductor, against ≈ 164 ft for power only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encoder's I²C bus is meant for centimetres, not 10 m runs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phase currents in long cables also radiate noise into the sensor lines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1615" y="1463040"/>
            <a:ext cx="565144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entral box vs controller per station wi" descr="Central box vs controller per station w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767" y="2346354"/>
            <a:ext cx="5505136" cy="27596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 controller in every winch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station: XIAO ESP32-C3 + A4988 driver + 5 V buck; only 12 V power travels, on 2 wires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and encoder wires stay inside the station, a few centimetres long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computer plans the path and sends each station timed segments over Wi-Fi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runs its segments on its own clock; any lost link → hold position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 50 ms timing skew at 50 mm/s is 2.5 mm of cable mismatch, so segments are time-stamped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about 5× less wire, and every station can be built and tested alone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170530"/>
            <a:ext cx="2333476" cy="31113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170530"/>
            <a:ext cx="2333476" cy="311130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2: the station carries its own controller, driver and buck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units modular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 was a plate screwed into the wall: fine for a bare motor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corner now carries a controller, driver, buck, switch and encoder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protection, a clean look and a path for heat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each station became a housing: motor, spool, pulley and electronics in one unit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 in all four corners: build one, test one, copy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920033"/>
            <a:ext cx="2333476" cy="16122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450926"/>
            <a:ext cx="2333476" cy="25505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Gen-1 corner plate (left) vs the gen-2 station housing (right)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Slide-in mount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 stations down often: to test, rework, repair or modify them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in and out each time damages the wall and moves the anchor point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wall frame goes into a stud once; the station slides in and locks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out, rework it, slide it back: the frame keeps the anchor position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the line pulls the station away from the wall (pull-out and prying)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target: safety factor 3 at 34 N; SolidWorks static study planned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Wall frame and slide-in piece" descr="Wall frame and slide-in 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7414" y="1536192"/>
            <a:ext cx="2157624" cy="4379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Wall frame and slide-in piece" descr="Wall frame and slide-in 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177217"/>
            <a:ext cx="2333476" cy="30979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wall frame (left) and the slide-in piece (right)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Self-calibration: set it up anywhere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 stations go back up, the robot measures its own geometry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tape measure, no numbers typed in, nothing for a user to get wrong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camera reads a printed floor board (a grid of tags) to get the claw's pose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moves through a set of poses and fits the anchor positions and cable lengths by least squares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room the cables can reach, so it can become a consumer product</a:t>
            </a:r>
            <a:endParaRPr lang="en-US" sz="2000" dirty="0"/>
          </a:p>
        </p:txBody>
      </p:sp>
      <p:pic>
        <p:nvPicPr>
          <p:cNvPr id="5" name="Calibration loop" descr="Calibration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781565"/>
            <a:ext cx="5096719" cy="14660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46336" y="3611880"/>
            <a:ext cx="5096719" cy="237744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7" name="Claw with camera bay" descr="Claw with camera b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552" y="3703320"/>
            <a:ext cx="604288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calibration loop; the claw camera looks straight down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power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has one cable: a 16 AWG pair from a fused 12 V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to use; unplug and store the cables when the robot is not needed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slide off the wall frames if wanted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cut at 9, 24, 26 and 35 ft (94 ft of a 100 ft roll), a fuse per branch at the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stays wired inside the station, so it is never unplugged under power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switched power strip is the one hard stop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Power-only wiring to each station" descr="Power-only wiring to each s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485391"/>
            <a:ext cx="4950415" cy="24815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power reaches the stations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BOX TO MODULAR STATIONS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sealed printed housing the motor's heat has nowhere to go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PETG next to the loaded motor mount softens and creeps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aluminium fin from the motor face up through the shell, plus vents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efficiency η = tanh(mL) / (mL), with m = √(2h / (k t))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0.019 in sheet: η ≈ 37 % (74 % for the 1/8 in plate drawn)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at 1.06 A: sealed 64 °C without the fin, 46 °C with it; a 90-min hold test is planned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46336" y="1463040"/>
          <a:ext cx="5096719" cy="28062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46336" y="4450385"/>
            <a:ext cx="2479780" cy="1538935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7" name="Heat fin photo" descr="Heat fin ph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415" y="4496105"/>
            <a:ext cx="1085621" cy="1447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63276" y="4450385"/>
            <a:ext cx="2479780" cy="1538935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9" name="Heat fin photo" descr="Heat fin ph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355" y="4496105"/>
            <a:ext cx="1085621" cy="1447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 as built and on the motor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first homing plan limited the robot, and what replaced it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plan: bead homing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 on each cable trips a switch at the outlet → a known cable length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zeroes itself from that: set it up anywhere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expected that to be enough, possibly even without encoders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fixed early: the switch moved below the pulley, so the bead never rides over the pulley groove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Homing switch on the bench" descr="Homing switch on the 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205" y="1536192"/>
            <a:ext cx="3284982" cy="4379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KW12-3 homing switch on the bench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beads limit the motion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920551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 cannot pass the outlet, so a cable can never be shorter than its homing length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home all four at one point, each bead sits at that point's length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claw can never move closer to any anchor than from that point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at the room centre 1 m up → about 5 % of the working volume reachable; 2 m up → about 29 %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vision alone knows cable length to ~20–25 mm, while a bead allows ~12 mm of overtravel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 search was not safe either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80671" y="1463040"/>
            <a:ext cx="5762384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Reachable region with beads set at a cen" descr="Reachable region with beads set at a centre homing 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823" y="2326938"/>
            <a:ext cx="5616080" cy="27984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calibration: camera, floor board and margins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364328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take up slack one cable at a time, lift, then look at the floor board from several poses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fit of the anchor positions and cable zero lengths; held-out poses check the fit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comes from margins, not precision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m below the anchors and 0.2 m inside the walls unless the error bars allow more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 stay as end-of-travel safety switches; encoders watch for lost steps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so far; the hardware run follows the four-station lift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531860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alibration loop" descr="Calibration lo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7600" y="2982274"/>
            <a:ext cx="5172304" cy="14878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AND CALIBRATION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floor board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error becomes position error through the lever arm: δx = σ_θ · L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tag: 12.9 mrad × 0.51 m ≈ 6.6 mm per frame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tags in view: about 0.7 mm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a printed grid at 250 mm pitch: cheap, and it works in any room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frames helps only with random noise, not with a fixed bias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46336" y="1737360"/>
          <a:ext cx="5096719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fingers to a parallel-jaw gripper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evolution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698663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tendon-driven TPU fingers → a geared clamp → a lighter open frame → the final parallel-jaw gripper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fixed a problem I found: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clamp's jaws could not pinch thin fabric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v6 clamp was about 4.6× its mass budget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cut the gearbox frame to 143 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my gear housing and arms, with hands designed to fit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58783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generations" descr="Claw gen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935" y="2824838"/>
            <a:ext cx="1246894" cy="18026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89141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Claw generations" descr="Claw gene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293" y="1707642"/>
            <a:ext cx="1246894" cy="40370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719499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Claw generations" descr="Claw gener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651" y="1974996"/>
            <a:ext cx="1246894" cy="35023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249857" y="1463040"/>
            <a:ext cx="139319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2" name="Claw generations" descr="Claw gener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009" y="2653904"/>
            <a:ext cx="1246894" cy="214455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658783" y="6062472"/>
            <a:ext cx="59842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Fingers, v6 clamp, v7 open frame, final gripper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gripper: gears and four-bar hands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809607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→ 18T pinion → 36T/24T compound (2:1) → 24T sync gear: the jaws move as mirror images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 joins a gear crank (53 mm) to a swing arm (50 mm): a near-parallelogram four-bar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jaws stay parallel within about 1° over the stroke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mm opening; closing also moves the tips down ~38 mm, a scoop that lifts fabric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teeth checked with the Lewis equation: safety factor about 2 at servo stall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motion swept in CAD: no collisions from open to closed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9727" y="1463040"/>
            <a:ext cx="5873328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Hands on the four-bar at open, mid and c" descr="Hands on the four-bar at open, mid and clo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879" y="2351694"/>
            <a:ext cx="5727024" cy="27489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69727" y="6062472"/>
            <a:ext cx="587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the linkage: open, mid, closed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 the claw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ESP32-S3 Sense camera in a bay built into the electronics housing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straight down along the tube at the grasp spot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spot from about 17 cm above it; at contact the jaws hide it, so the last view guides the final approach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camera reads the floor board for calibration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printed part: the bay is part of the housing, with a screwed cover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with camera bay" descr="Claw with camera b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1666" y="1536192"/>
            <a:ext cx="1206058" cy="4379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bay on the electronics housing (cover in navy)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vs lift: where it stands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boards top out at Vref 0.85 V → about 1.06 A per motor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pull ≈ 18–24 N per winch (full vs empty spool)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1.1 kg total lift at the worst point in the room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claw is not weighed yet: CAD says ~0.8 kg printed (1.2 kg solid), plus a 0.1 kg battery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jeans that is above the capacity today: this is the open problem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lighten the claw, a 3:1 winch reduction (~2.7× pull), or a lighter demo load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luggage-scale pull test on one station decides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46336" y="1645920"/>
          <a:ext cx="5096719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 board, a bring-up lesson, and how the robot is controlled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board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698663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boots disabled (EN pull-up): a reset never steps the motor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and the 5 V buck cannot back-feed each other: a link jumper plus a Schottky diode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µF at the driver's motor supply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for the motor, homing switch, encoder and 12 V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KiCad schematic is generated from the soldered board's net list, so the two cannot disagree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58783" y="1463040"/>
            <a:ext cx="5984273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Station schematic" descr="Station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935" y="1661709"/>
            <a:ext cx="5837969" cy="41289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58783" y="6062472"/>
            <a:ext cx="59842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schematic (KiCad), checked net by net against the 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 that would not move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said it was stepping; the shaft did not turn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 said the logic rail was 1.14 V instead of 3.3 V: a bad connection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 it moved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then: a meter checklist before any code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VDD, SLEEP, ENABLE and the buck output, every new 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Bench wiring and bring-up" descr="Bench wiring and bring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170530"/>
            <a:ext cx="2333476" cy="31113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Bench wiring and bring-up" descr="Bench wiring and bring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170530"/>
            <a:ext cx="2333476" cy="311130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wiring and bring-up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software and phone app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142439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plans paths; the stations execute timed segments; a lost link means hold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never disables: there is no brake, so faults and pause keep holding torque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over home Wi-Fi: robot status, live claw camera, guided setup, chat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moves the robot asks “yes” first; pause runs at once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a full simulator of the four stations and the claw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02559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Phone app screens" descr="Phone app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5711" y="1985064"/>
            <a:ext cx="1609088" cy="34822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95111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Phone app screens" descr="Phone app scre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63" y="1985064"/>
            <a:ext cx="1609088" cy="348223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887663" y="1463040"/>
            <a:ext cx="1755392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10" name="Phone app screens" descr="Phone app scre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815" y="1985064"/>
            <a:ext cx="1609088" cy="348223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02559" y="6062472"/>
            <a:ext cx="5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app: home, camera, chat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stations, station boards, heat fins, gripper parts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checked in CAD: the hands and the camera housing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control: simulated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tests, with pass limits written first: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winch pull test (decides the capacity fix)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hold test: motor and printed mount under 60 °C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static and thermal studies of the station</a:t>
            </a:r>
            <a:endParaRPr lang="en-US" sz="20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four-station lift: 1 lb, 300 mm at 50 mm/s, within 2 mm per cable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Gen-2 station shells" descr="Gen-2 station sh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205" y="1536192"/>
            <a:ext cx="3284982" cy="4379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Gen-2 station shells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trusting a margin: the driver limit and the 1.14 V rail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test coupon before the part: the spool bore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worst case: stall, the corner of the room, the hottest hour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paid for itself: every station can be pulled, fixed and put back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each requirement and delete parts: the IMU, the five-finger hand (now two jaws), the long motor harnesses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Final gripper head" descr="Final gripper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1384" y="1536192"/>
            <a:ext cx="2546624" cy="43799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Buntinx  ·  jasper_buntinx@tamu.edu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claw electrical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447677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protected 2S pack (7.4 V, 2200 mAh), 5 A fuse, main switch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 regulator for the servo only; separate 5 V buck and Schottky diode for the controller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read through 200k / 100k: 8.4 V → 2.80 V at the ADC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≈ 2.8–3.1 A against a ≈ 3 A pack rating: stalls must stay short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the claw only with the switch off, attended, at ≤ 1 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36894" y="1463040"/>
            <a:ext cx="6206161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law schematic" descr="Claw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046" y="1583243"/>
            <a:ext cx="6059857" cy="42858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gear strength (Lewis)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5586216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F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(b m Y), F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2τ / 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1.5, PETG allowable 22.5 MPa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V servo stall: pinion SF 2.05, 36T gear 2.50, sync gear 2.00 (one jaw carrying the load)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was screened first: SF 0.35–0.41, so the module went 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6" name="Compound and follower gears" descr="Compound and follower ge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488" y="2454074"/>
            <a:ext cx="2333476" cy="25442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pic>
        <p:nvPicPr>
          <p:cNvPr id="8" name="Compound and follower gears" descr="Compound and follower 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28" y="2728334"/>
            <a:ext cx="2333476" cy="19956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safety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548640" y="1463040"/>
            <a:ext cx="9802094" cy="47548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 stop: the switched power strip; faults and pause hold torque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anchor into studs; the line load is mostly pull-out and prying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stands under the robot while it moves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 battery: protected pack, charged with the switch off and attended</a:t>
            </a:r>
            <a:endParaRPr lang="en-US" sz="20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safety-rated function is claimed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mCleaner v2">
  <a:themeElements>
    <a:clrScheme name="RoomCleaner v2">
      <a:dk1>
        <a:srgbClr val="1A1A1A"/>
      </a:dk1>
      <a:lt1>
        <a:srgbClr val="FFFFFF"/>
      </a:lt1>
      <a:dk2>
        <a:srgbClr val="1F3A5F"/>
      </a:dk2>
      <a:lt2>
        <a:srgbClr val="F2F2F4"/>
      </a:lt2>
      <a:accent1>
        <a:srgbClr val="1F3A5F"/>
      </a:accent1>
      <a:accent2>
        <a:srgbClr val="8A8F98"/>
      </a:accent2>
      <a:accent3>
        <a:srgbClr val="B23A2E"/>
      </a:accent3>
      <a:accent4>
        <a:srgbClr val="4F6D8F"/>
      </a:accent4>
      <a:accent5>
        <a:srgbClr val="D9DEE5"/>
      </a:accent5>
      <a:accent6>
        <a:srgbClr val="5B6470"/>
      </a:accent6>
      <a:hlink>
        <a:srgbClr val="1F3A5F"/>
      </a:hlink>
      <a:folHlink>
        <a:srgbClr val="4F6D8F"/>
      </a:folHlink>
    </a:clrScheme>
    <a:fontScheme name="RoomCleaner v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RoomCleaner</dc:title>
  <dc:subject>PptxGenJS Presentation</dc:subject>
  <dc:creator>Jasper Buntinx</dc:creator>
  <cp:lastModifiedBy>Jasper Buntinx</cp:lastModifiedBy>
  <cp:revision>1</cp:revision>
  <dcterms:created xsi:type="dcterms:W3CDTF">2026-10-21T19:52:22Z</dcterms:created>
  <dcterms:modified xsi:type="dcterms:W3CDTF">2026-10-21T19:52:22Z</dcterms:modified>
</cp:coreProperties>
</file>