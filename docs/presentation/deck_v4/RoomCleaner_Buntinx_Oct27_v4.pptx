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notesMasterIdLst>
    <p:notesMasterId r:id="rId5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5ac70952-e730-e6e0-6e4d-3d2adb7abe07}">
          <p14:sldIdLst>
            <p14:sldId id="256"/>
            <p14:sldId id="257"/>
            <p14:sldId id="258"/>
          </p14:sldIdLst>
        </p14:section>
        <p14:section name="How a cable robot works" id="{e3e6f941-f8c5-3093-c522-819162bef290}">
          <p14:sldIdLst>
            <p14:sldId id="259"/>
            <p14:sldId id="260"/>
            <p14:sldId id="261"/>
            <p14:sldId id="262"/>
          </p14:sldIdLst>
        </p14:section>
        <p14:section name="From one box to modular stations" id="{24a3f111-bf28-1ccc-5490-49b5075e71b0}">
          <p14:sldIdLst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</p14:sldIdLst>
        </p14:section>
        <p14:section name="Homing and calibration" id="{8e25615f-3c6d-419c-a0f3-e5529a04ac42}">
          <p14:sldIdLst>
            <p14:sldId id="274"/>
            <p14:sldId id="275"/>
            <p14:sldId id="276"/>
            <p14:sldId id="277"/>
            <p14:sldId id="278"/>
          </p14:sldIdLst>
        </p14:section>
        <p14:section name="The claw" id="{3efc107f-369e-db68-0f98-7582f15f944d}">
          <p14:sldIdLst>
            <p14:sldId id="279"/>
            <p14:sldId id="280"/>
            <p14:sldId id="281"/>
            <p14:sldId id="282"/>
            <p14:sldId id="283"/>
            <p14:sldId id="284"/>
          </p14:sldIdLst>
        </p14:section>
        <p14:section name="Manufacturing" id="{3950d5bc-a40e-e775-447c-d92cfb8c4d38}">
          <p14:sldIdLst>
            <p14:sldId id="285"/>
            <p14:sldId id="286"/>
            <p14:sldId id="287"/>
            <p14:sldId id="288"/>
          </p14:sldIdLst>
        </p14:section>
        <p14:section name="Electronics" id="{2fb5a2ba-3450-1044-2d03-653b0fcee6b8}">
          <p14:sldIdLst>
            <p14:sldId id="289"/>
            <p14:sldId id="290"/>
            <p14:sldId id="291"/>
          </p14:sldIdLst>
        </p14:section>
        <p14:section name="Control logic" id="{f8a34b4d-a95d-4256-c661-c954ccb5906c}">
          <p14:sldIdLst>
            <p14:sldId id="292"/>
            <p14:sldId id="293"/>
            <p14:sldId id="294"/>
            <p14:sldId id="295"/>
            <p14:sldId id="296"/>
            <p14:sldId id="297"/>
          </p14:sldIdLst>
        </p14:section>
        <p14:section name="Status and next steps" id="{f43f01a0-320f-1348-de35-1a32baeed2fa}">
          <p14:sldIdLst>
            <p14:sldId id="298"/>
            <p14:sldId id="299"/>
            <p14:sldId id="300"/>
            <p14:sldId id="301"/>
          </p14:sldIdLst>
        </p14:section>
        <p14:section name="Close" id="{234c7301-f7da-4e9b-5e8f-be4981738a32}">
          <p14:sldIdLst>
            <p14:sldId id="302"/>
          </p14:sldIdLst>
        </p14:section>
        <p14:section name="Backup" id="{e119952c-f317-65dd-0b6e-f30bbf438679}">
          <p14:sldIdLst>
            <p14:sldId id="303"/>
            <p14:sldId id="304"/>
            <p14:sldId id="305"/>
            <p14:sldId id="30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notesMaster" Target="notesMasters/notesMaster1.xml"/><Relationship Id="rId54" Type="http://schemas.openxmlformats.org/officeDocument/2006/relationships/presProps" Target="presProps.xml"/><Relationship Id="rId55" Type="http://schemas.openxmlformats.org/officeDocument/2006/relationships/viewProps" Target="viewProps.xml"/><Relationship Id="rId56" Type="http://schemas.openxmlformats.org/officeDocument/2006/relationships/theme" Target="theme/theme1.xml"/><Relationship Id="rId5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sentence: a cable robot whose four winches sit in the ceiling corners and move one claw anywhere over the floor.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Requirements first: where it works, what it lifts, what it costs, and how it stays safe.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talk follows the order the problems appeared 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cables, one point, and the vectors that connect them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Inverse kinematics of a cable robot is vector subtraction and a norm, done for each cable at every step.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D_h = 2.17 m from the room centre to a corner. The tension doubles each time the depth halves near the ceiling; the ceiling margin is set by tension, not by collision.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force = full-spool pull / 1.5 skip margin. The pull test turns the 0.7 ratio into a measurement.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adding safety features changed the whole architecture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Simple and synchronised by design. It only stopped working once I wanted more than a motor at each corner.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wire count, not the motors, was the problem. 18 AWG on the same run drops 0.82 V.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Sync moved from wiring into software: time-stamped segments and a host that keeps every station's clock.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Once there are electronics in every corner, the wall plate becomes a product housing.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34 N is the snag case: holding torque at the empty spool. The study checks stress below 8.3 MPa (derated PETG / 3) and deflection at the cable exit.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Simulated so far; the hardware run is the first test.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Unplugging a motor from an energised A4988 can kill the driver, so the plug carries only 12 V.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fin carries about half the heat in the sealed case. PETG softens near 80 °C. Inputs are assumptions until the hold test: 1.8 Ω per phase, 1.5 W of electronics.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Background (not on the slide): Taylor's goat experiments found a dense blood supply under the horn sheath and estimated horns carry 1-15 % of the animal's heat loss; Picard et al. found climate-dependent horn structure in bovids. The next slide sizes the length.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Efficiency at the built length: 37 % (sheet) vs 74 % (plate); fin resistance 22.1 vs 10.9 K/W. The 200 mm length was sized for the 1/8 in plate; the thin sheet would do the same job at about 140 mm.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the first homing plan limited the robot, and what replaced it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idea was a cheap absolute reference per cable.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Calculated over the working volume with 0.2 m wall and 0.4 m ceiling margins. This tradeoff is physical: software cannot remove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robot only unlocks the full workspace when k × σ fits inside the margin; otherwise it stays local. Simulated so far.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tags: 4.85 mrad → 2.5 mm. Noise model: 0.3 px corner noise, 520 px focal length (camera not yet calibrated).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From fingers to a parallel-jaw gripper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Mass drove most of the changes; every gram of claw is a gram of laundry the winches cannot lift.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Four-bar: ground 36.5, crank 53, rocker 50, coupler 34.7 mm. Lewis: module 1.5, PETG allowable 22.5 MPa.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Gen 1 found laundry from above and mapped it to the floor; the claw only had to go there.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Sees the grasp spot from about 17 cm; at contact the jaws hide it, so the last view guides the final approach. The gen-1 camera case and its software are kept in the repository.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Honest status: the numbers say the current claw plus jeans is too heavy. The pull test turns the 0.7 running-torque assumption into a measurement.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Printed PETG parts, and a heat fin cut and drilled on a manual mill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printed interface is chosen for how it prints and how I can measure it, not just how it looks in CAD.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bore fit only locates the spool; torque goes through the set screw on the flat.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setup from the same two edges means hole-to-hole errors do not stack, so the fin bolts on without reaming.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station board and a bring-up lesson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Rules check: 0 errors. 16 nets, 55 pins match the perfboard.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Lesson: measure before trusting the software's view of the hardware.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From the first simulator loop to the logic that runs the robot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robot, different stance: gen 1 assumed, the final logic verifies. The detector and the kinematics carried over unchanged.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Zoomed out: phone, supervisor, startup and tasks, planner and coordinator, stations. The claw is a sensor plus a gripper that obeys.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whole operating logic on one slide. Startup is the calibration from section 3. Find and pick-and-deliver repeat per item, nearest first. Grips wait until the claw stops swinging (pendulum dwell). Lowering ends with a vision floor check, and disarm needs both a typed confirmation and a fresh floor check, because releasing torque drops a hanging claw. Simulated end to end; the first hardware test runs the startup and a short move only.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software was built against a simulator first, so faults like lost messages and reboots were exercised before hardware.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Gen 1 had the same idea for the ceiling fan. Next steps: skip an unreachable item instead of stopping, keep-out zones drawn in the app, and furniture footprints mapped from the claw camera's scans.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Status and next steps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Placeholder: replace the box with the first-test photo and the measured numbers (calibration error bars, cable error over the 300 mm move).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that is calculated or simulated is called that; the test list is what turns it into measurements.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I did it again: buy the pulleys and couplers sooner, and build one complete station to test before building four.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Backups follow: schematics, gear strength, safety, calculations and sources.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Rules check 0 errors; 9 nets match the specification.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Stall torque 1.08 N·m at 6 V (servo rating, not measured).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0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RoomCleaner  |  Jasper Buntinx  |  October 27,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jp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jpg"/><Relationship Id="rId2" Type="http://schemas.openxmlformats.org/officeDocument/2006/relationships/image" Target="../media/image-31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image" Target="../media/image-3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jpg"/><Relationship Id="rId2" Type="http://schemas.openxmlformats.org/officeDocument/2006/relationships/image" Target="../media/image-33-2.jpg"/><Relationship Id="rId3" Type="http://schemas.openxmlformats.org/officeDocument/2006/relationships/image" Target="../media/image-33-3.jpg"/><Relationship Id="rId4" Type="http://schemas.openxmlformats.org/officeDocument/2006/relationships/image" Target="../media/image-33-4.jp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jpg"/><Relationship Id="rId2" Type="http://schemas.openxmlformats.org/officeDocument/2006/relationships/image" Target="../media/image-36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image" Target="../media/image-4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image" Target="../media/image-49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hyperlink" Target="https://docs.google.com/spreadsheets/d/1UGFnkL1v305WnDYj5aj5zBtgxnxmGP7_TVRN0afZTGs/edit" TargetMode="Externa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120640" cy="685800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210312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RoomCleaner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06324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9DE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four-cable ceiling robot that picks laundry off the floor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548640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9DE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D9DE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presentation  ·  October 27, 2026</a:t>
            </a:r>
            <a:endParaRPr lang="en-US" sz="1400" dirty="0"/>
          </a:p>
        </p:txBody>
      </p:sp>
      <p:pic>
        <p:nvPicPr>
          <p:cNvPr id="6" name="Final claw: electronics housing with cam" descr="Final claw: electronics housing with camera bay, tube and gripp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05955" y="365760"/>
            <a:ext cx="1686971" cy="6126480"/>
          </a:xfrm>
          <a:prstGeom prst="rect">
            <a:avLst/>
          </a:prstGeom>
        </p:spPr>
      </p:pic>
      <p:pic>
        <p:nvPicPr>
          <p:cNvPr id="7" name="Gen-1 winch station lifting a test weigh" descr="Gen-1 winch station lifting a test weigh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0" y="1356360"/>
            <a:ext cx="3108960" cy="41452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Goal: pick laundry off the floor anywhere in an 11 × 9 ft room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586216" cy="4736592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clothes off the floor and drop them in a hamper, from anywhere in the room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winches near the ceiling corners hold one claw on four cables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Room 11 × 9 ft with a 9 ft ceiling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 load: a pair of jeans (0.9 kg) with 2 m/s² of acceleration; first test load 1 lb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3D-printed in PETG on a hobby budget, from parts I can buy and fix myself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Safety: anchors in studs, one hard stop (the switched power strip), nobody under the robot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546336" y="1463040"/>
            <a:ext cx="5096719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6" name="Winch station assembly" descr="Winch station assembl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81108" y="1517904"/>
            <a:ext cx="3427176" cy="4416552"/>
          </a:xfrm>
          <a:prstGeom prst="rect">
            <a:avLst/>
          </a:prstGeom>
        </p:spPr>
      </p:pic>
      <p:sp>
        <p:nvSpPr>
          <p:cNvPr id="7" name="caption"/>
          <p:cNvSpPr txBox="1"/>
          <p:nvPr/>
        </p:nvSpPr>
        <p:spPr>
          <a:xfrm>
            <a:off x="6546336" y="6062472"/>
            <a:ext cx="50967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of the four winch stations (CAD)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Outline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417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1399032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a cable robot works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728216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 vectors, statics, the winch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0208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2002536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one box to modular stations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233172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Wiring, a controller per winch, the slide-in housing, plug-in power, cooling and the horn-inspired fin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262432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606040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Homing and calibration</a:t>
            </a:r>
            <a:endParaRPr lang="en-US" sz="2100" dirty="0"/>
          </a:p>
        </p:txBody>
      </p:sp>
      <p:sp>
        <p:nvSpPr>
          <p:cNvPr id="12" name="Text 10"/>
          <p:cNvSpPr txBox="1"/>
          <p:nvPr/>
        </p:nvSpPr>
        <p:spPr>
          <a:xfrm>
            <a:off x="1188720" y="2935224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Bead homing, why it limited the motion, the camera-based method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322783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3209544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claw</a:t>
            </a:r>
            <a:endParaRPr lang="en-US" sz="210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353872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Gripper evolution, the four-bar hands, overhead camera to claw camera, weight vs lift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383133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1188720" y="3813048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Manufacturing</a:t>
            </a:r>
            <a:endParaRPr lang="en-US" sz="21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4142232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Printed PETG parts, and a heat fin cut and drilled on a manual mill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4434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400" dirty="0"/>
          </a:p>
        </p:txBody>
      </p:sp>
      <p:sp>
        <p:nvSpPr>
          <p:cNvPr id="20" name="Text 18"/>
          <p:cNvSpPr txBox="1"/>
          <p:nvPr/>
        </p:nvSpPr>
        <p:spPr>
          <a:xfrm>
            <a:off x="1188720" y="4416552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Electronics</a:t>
            </a:r>
            <a:endParaRPr lang="en-US" sz="2100" dirty="0"/>
          </a:p>
        </p:txBody>
      </p:sp>
      <p:sp>
        <p:nvSpPr>
          <p:cNvPr id="21" name="Text 19"/>
          <p:cNvSpPr txBox="1"/>
          <p:nvPr/>
        </p:nvSpPr>
        <p:spPr>
          <a:xfrm>
            <a:off x="1188720" y="4745736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board and a bring-up lesson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503834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240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5020056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 logic</a:t>
            </a:r>
            <a:endParaRPr lang="en-US" sz="2100" dirty="0"/>
          </a:p>
        </p:txBody>
      </p:sp>
      <p:sp>
        <p:nvSpPr>
          <p:cNvPr id="24" name="Text 22"/>
          <p:cNvSpPr txBox="1"/>
          <p:nvPr/>
        </p:nvSpPr>
        <p:spPr>
          <a:xfrm>
            <a:off x="1188720" y="534924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logic vs final logic, one run end to end, the phone app, obstacles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56418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2400" dirty="0"/>
          </a:p>
        </p:txBody>
      </p:sp>
      <p:sp>
        <p:nvSpPr>
          <p:cNvPr id="26" name="Text 24"/>
          <p:cNvSpPr txBox="1"/>
          <p:nvPr/>
        </p:nvSpPr>
        <p:spPr>
          <a:xfrm>
            <a:off x="1188720" y="5623560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and next steps</a:t>
            </a:r>
            <a:endParaRPr lang="en-US" sz="2100" dirty="0"/>
          </a:p>
        </p:txBody>
      </p:sp>
      <p:sp>
        <p:nvSpPr>
          <p:cNvPr id="27" name="Text 25"/>
          <p:cNvSpPr txBox="1"/>
          <p:nvPr/>
        </p:nvSpPr>
        <p:spPr>
          <a:xfrm>
            <a:off x="1188720" y="5952744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test, what is built, what I learned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011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8FA6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0632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a cable robot works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9776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9DE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cables, one point, and the vectors that connect them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cable length is the distance from its anchor to the claw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6029993" cy="3264408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Room frame at a floor corner: anchor i (the pulley exit) at </a:t>
            </a:r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the claw at </a:t>
            </a:r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cable is the vector from the claw to its anchor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Its length is the distance between those two points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move, compute the four lengths at every point on the path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spool turns by the change in length over its radius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Closed form: no iteration is needed to command a move</a:t>
            </a:r>
            <a:endParaRPr lang="en-US" sz="1800" dirty="0"/>
          </a:p>
        </p:txBody>
      </p:sp>
      <p:sp>
        <p:nvSpPr>
          <p:cNvPr id="5" name="equation box"/>
          <p:cNvSpPr/>
          <p:nvPr/>
        </p:nvSpPr>
        <p:spPr>
          <a:xfrm>
            <a:off x="548640" y="4928616"/>
            <a:ext cx="6029993" cy="1335024"/>
          </a:xfrm>
          <a:prstGeom prst="rect">
            <a:avLst/>
          </a:prstGeom>
          <a:solidFill>
            <a:srgbClr val="F2F2F2"/>
          </a:solidFill>
          <a:ln w="6350">
            <a:solidFill>
              <a:srgbClr val="F2F2F2"/>
            </a:solidFill>
            <a:prstDash val="solid"/>
          </a:ln>
        </p:spPr>
      </p:sp>
      <p:sp>
        <p:nvSpPr>
          <p:cNvPr id="6" name="equation label"/>
          <p:cNvSpPr txBox="1"/>
          <p:nvPr/>
        </p:nvSpPr>
        <p:spPr>
          <a:xfrm>
            <a:off x="713232" y="5010912"/>
            <a:ext cx="570080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equations</a:t>
            </a:r>
            <a:endParaRPr lang="en-US" sz="1100" dirty="0"/>
          </a:p>
        </p:txBody>
      </p:sp>
      <p:sp>
        <p:nvSpPr>
          <p:cNvPr id="7" name="equations"/>
          <p:cNvSpPr txBox="1"/>
          <p:nvPr/>
        </p:nvSpPr>
        <p:spPr>
          <a:xfrm>
            <a:off x="713232" y="5257800"/>
            <a:ext cx="5700809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−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 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/ L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‖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−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‖ = √((a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ix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− p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)² + (a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iy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− p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)² + (a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iz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− p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)²)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Δθ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ΔL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/ r   (r = spool radius with the wound line)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990113" y="1463040"/>
            <a:ext cx="4652943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9" name="Position vectors from four anchors to th" descr="Position vectors from four anchors to the cla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08308" y="1517904"/>
            <a:ext cx="4416552" cy="441655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Cables only pull, so tension climbs as they flatten near the ceiling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586216" cy="3264408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Force balance: the cable pulls and the weight sum to zero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Cables only pull: every tension must stay positive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Centred claw, equal shares: tension rises as the cables flatten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 N per cable 0.15 m below the anchors; 8.3 N at 0.6 m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0.4 m: 12.2 N, right at the 11.9 N design force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the robot keeps 0.4 m below the anchors, 0.2 m from the walls</a:t>
            </a:r>
            <a:endParaRPr lang="en-US" sz="1800" dirty="0"/>
          </a:p>
        </p:txBody>
      </p:sp>
      <p:sp>
        <p:nvSpPr>
          <p:cNvPr id="5" name="equation box"/>
          <p:cNvSpPr/>
          <p:nvPr/>
        </p:nvSpPr>
        <p:spPr>
          <a:xfrm>
            <a:off x="548640" y="4928616"/>
            <a:ext cx="5586216" cy="1335024"/>
          </a:xfrm>
          <a:prstGeom prst="rect">
            <a:avLst/>
          </a:prstGeom>
          <a:solidFill>
            <a:srgbClr val="F2F2F2"/>
          </a:solidFill>
          <a:ln w="6350">
            <a:solidFill>
              <a:srgbClr val="F2F2F2"/>
            </a:solidFill>
            <a:prstDash val="solid"/>
          </a:ln>
        </p:spPr>
      </p:sp>
      <p:sp>
        <p:nvSpPr>
          <p:cNvPr id="6" name="equation label"/>
          <p:cNvSpPr txBox="1"/>
          <p:nvPr/>
        </p:nvSpPr>
        <p:spPr>
          <a:xfrm>
            <a:off x="713232" y="5010912"/>
            <a:ext cx="5257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equations</a:t>
            </a:r>
            <a:endParaRPr lang="en-US" sz="1100" dirty="0"/>
          </a:p>
        </p:txBody>
      </p:sp>
      <p:sp>
        <p:nvSpPr>
          <p:cNvPr id="7" name="equations"/>
          <p:cNvSpPr txBox="1"/>
          <p:nvPr/>
        </p:nvSpPr>
        <p:spPr>
          <a:xfrm>
            <a:off x="713232" y="5257800"/>
            <a:ext cx="525703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Σ T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+ m(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+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 =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  T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&gt; 0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 = W / (4 sin φ),   sin φ = d / √(d² + D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²)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 = (0.45 + 0.454) kg × 9.81 m/s² = 8.87 N</a:t>
            </a:r>
            <a:endParaRPr lang="en-US" sz="1500" dirty="0"/>
          </a:p>
        </p:txBody>
      </p:sp>
      <p:pic>
        <p:nvPicPr>
          <p:cNvPr id="8" name="Chart from the calculation sheet: Cable " descr="Chart from the calculation sheet: Cable tens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46336" y="1554480"/>
            <a:ext cx="5096719" cy="3508274"/>
          </a:xfrm>
          <a:prstGeom prst="rect">
            <a:avLst/>
          </a:prstGeom>
        </p:spPr>
      </p:pic>
      <p:sp>
        <p:nvSpPr>
          <p:cNvPr id="9" name="chart frame"/>
          <p:cNvSpPr/>
          <p:nvPr/>
        </p:nvSpPr>
        <p:spPr>
          <a:xfrm>
            <a:off x="6546336" y="1554480"/>
            <a:ext cx="5096719" cy="3508274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10" name="caption"/>
          <p:cNvSpPr txBox="1"/>
          <p:nvPr/>
        </p:nvSpPr>
        <p:spPr>
          <a:xfrm>
            <a:off x="6546336" y="5135906"/>
            <a:ext cx="50967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calculation sheet (Google Sheets), “Cable tension” tab. Calculated, not measured.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the driver's 1.06 A limit, each winch pulls 18 to 24 N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586216" cy="3026664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NEMA 17 stepper, printed spool, outlet pulley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limit set by the driver's reference voltage: 0.85 V → 1.06 A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Running torque &lt; holding torque: 0.7 assumed, the pull test measures it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Smaller spool: more pull per amp, more turns per metre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v3 spool: 24 N empty, 18 N full → 11.9 N design (÷ 1.5)</a:t>
            </a:r>
            <a:endParaRPr lang="en-US" sz="1800" dirty="0"/>
          </a:p>
        </p:txBody>
      </p:sp>
      <p:sp>
        <p:nvSpPr>
          <p:cNvPr id="5" name="equation box"/>
          <p:cNvSpPr/>
          <p:nvPr/>
        </p:nvSpPr>
        <p:spPr>
          <a:xfrm>
            <a:off x="548640" y="4690872"/>
            <a:ext cx="5586216" cy="1572768"/>
          </a:xfrm>
          <a:prstGeom prst="rect">
            <a:avLst/>
          </a:prstGeom>
          <a:solidFill>
            <a:srgbClr val="F2F2F2"/>
          </a:solidFill>
          <a:ln w="6350">
            <a:solidFill>
              <a:srgbClr val="F2F2F2"/>
            </a:solidFill>
            <a:prstDash val="solid"/>
          </a:ln>
        </p:spPr>
      </p:sp>
      <p:sp>
        <p:nvSpPr>
          <p:cNvPr id="6" name="equation label"/>
          <p:cNvSpPr txBox="1"/>
          <p:nvPr/>
        </p:nvSpPr>
        <p:spPr>
          <a:xfrm>
            <a:off x="713232" y="4773168"/>
            <a:ext cx="5257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equations</a:t>
            </a:r>
            <a:endParaRPr lang="en-US" sz="1100" dirty="0"/>
          </a:p>
        </p:txBody>
      </p:sp>
      <p:sp>
        <p:nvSpPr>
          <p:cNvPr id="7" name="equations"/>
          <p:cNvSpPr txBox="1"/>
          <p:nvPr/>
        </p:nvSpPr>
        <p:spPr>
          <a:xfrm>
            <a:off x="713232" y="5020056"/>
            <a:ext cx="525703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 = V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/ (8 R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 = 0.85 V / (8 × 0.1 Ω) = 1.06 A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τ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0.7 · τ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hold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· I / I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rated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0.7 × 0.36 × 1.06 / 1.5 = 0.18 N·m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 = τ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/ r:   23.8 N at r = 7.5 mm,   17.9 N at r = 10 mm</a:t>
            </a:r>
            <a:endParaRPr lang="en-US" sz="1500" dirty="0"/>
          </a:p>
        </p:txBody>
      </p:sp>
      <p:sp>
        <p:nvSpPr>
          <p:cNvPr id="8" name="equation source"/>
          <p:cNvSpPr txBox="1"/>
          <p:nvPr/>
        </p:nvSpPr>
        <p:spPr>
          <a:xfrm>
            <a:off x="713232" y="5961888"/>
            <a:ext cx="5257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limit: Allegro MicroSystems, A4988 datasheet</a:t>
            </a:r>
            <a:endParaRPr lang="en-US" sz="1050" dirty="0"/>
          </a:p>
        </p:txBody>
      </p:sp>
      <p:pic>
        <p:nvPicPr>
          <p:cNvPr id="9" name="Chart from the calculation sheet: Winch " descr="Chart from the calculation sheet: Winch pu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46336" y="1554480"/>
            <a:ext cx="5096719" cy="3507863"/>
          </a:xfrm>
          <a:prstGeom prst="rect">
            <a:avLst/>
          </a:prstGeom>
        </p:spPr>
      </p:pic>
      <p:sp>
        <p:nvSpPr>
          <p:cNvPr id="10" name="chart frame"/>
          <p:cNvSpPr/>
          <p:nvPr/>
        </p:nvSpPr>
        <p:spPr>
          <a:xfrm>
            <a:off x="6546336" y="1554480"/>
            <a:ext cx="5096719" cy="3507863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11" name="caption"/>
          <p:cNvSpPr txBox="1"/>
          <p:nvPr/>
        </p:nvSpPr>
        <p:spPr>
          <a:xfrm>
            <a:off x="6546336" y="5135495"/>
            <a:ext cx="50967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calculation sheet (Google Sheets), “Winch pull” tab. Calculated, not measured.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011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8FA6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0632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one box to modular stations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9776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9DE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adding safety features changed the whole architecture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first design drove all four motors from one central controller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586216" cy="4736592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Arduino Uno and a CNC shield with four A4988 drivers, in a single box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computer sends moves; the shield steps all four motors from one clock, so sync is free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motor gets a long 4-wire cable from the box to its corner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worked on the bench: a gen-1 station lifted a test weight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546336" y="1463040"/>
            <a:ext cx="2479780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6" name="Gen-1 CNC shield and spool plate" descr="Gen-1 CNC shield and spool pla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01200" y="2146146"/>
            <a:ext cx="2370052" cy="3160069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9163276" y="1463040"/>
            <a:ext cx="2479780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8" name="Gen-1 CNC shield and spool plate" descr="Gen-1 CNC shield and spool plat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18140" y="2146146"/>
            <a:ext cx="2370052" cy="3160069"/>
          </a:xfrm>
          <a:prstGeom prst="rect">
            <a:avLst/>
          </a:prstGeom>
        </p:spPr>
      </p:pic>
      <p:sp>
        <p:nvSpPr>
          <p:cNvPr id="9" name="caption"/>
          <p:cNvSpPr txBox="1"/>
          <p:nvPr/>
        </p:nvSpPr>
        <p:spPr>
          <a:xfrm>
            <a:off x="6546336" y="6062472"/>
            <a:ext cx="50967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 1: central shield with four drivers; spool plate on the wall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Sensors at every winch made central wiring five times longer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586216" cy="333756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wanted more safety: a homing switch and an encoder at every winch, plus fault detection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corner: motor 4 + switch 2 + encoder 4 = </a:t>
            </a:r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conductors</a:t>
            </a:r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not 4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cable routes are 6, 21, 23 and 32 ft (82 ft)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encoder's I²C bus is meant for centimetres, not 10 m runs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Motor phase currents in long cables also radiate noise into the sensor lines</a:t>
            </a:r>
            <a:endParaRPr lang="en-US" sz="1800" dirty="0"/>
          </a:p>
        </p:txBody>
      </p:sp>
      <p:sp>
        <p:nvSpPr>
          <p:cNvPr id="5" name="equation box"/>
          <p:cNvSpPr/>
          <p:nvPr/>
        </p:nvSpPr>
        <p:spPr>
          <a:xfrm>
            <a:off x="548640" y="5001768"/>
            <a:ext cx="5586216" cy="1261872"/>
          </a:xfrm>
          <a:prstGeom prst="rect">
            <a:avLst/>
          </a:prstGeom>
          <a:solidFill>
            <a:srgbClr val="F2F2F2"/>
          </a:solidFill>
          <a:ln w="6350">
            <a:solidFill>
              <a:srgbClr val="F2F2F2"/>
            </a:solidFill>
            <a:prstDash val="solid"/>
          </a:ln>
        </p:spPr>
      </p:sp>
      <p:sp>
        <p:nvSpPr>
          <p:cNvPr id="6" name="equation label"/>
          <p:cNvSpPr txBox="1"/>
          <p:nvPr/>
        </p:nvSpPr>
        <p:spPr>
          <a:xfrm>
            <a:off x="713232" y="5084064"/>
            <a:ext cx="5257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equations</a:t>
            </a:r>
            <a:endParaRPr lang="en-US" sz="1100" dirty="0"/>
          </a:p>
        </p:txBody>
      </p:sp>
      <p:sp>
        <p:nvSpPr>
          <p:cNvPr id="7" name="equations"/>
          <p:cNvSpPr txBox="1"/>
          <p:nvPr/>
        </p:nvSpPr>
        <p:spPr>
          <a:xfrm>
            <a:off x="713232" y="5330952"/>
            <a:ext cx="5257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Conductor = n · ΣL:   10 × 82 ft = 820 ft   vs   2 × 82 ft = 164 ft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ΔV = I · R′ · 2L = 2 A × 4.016 mΩ/ft × 64 ft = 0.51 V</a:t>
            </a:r>
            <a:endParaRPr lang="en-US" sz="1500" dirty="0"/>
          </a:p>
        </p:txBody>
      </p:sp>
      <p:sp>
        <p:nvSpPr>
          <p:cNvPr id="8" name="equation source"/>
          <p:cNvSpPr txBox="1"/>
          <p:nvPr/>
        </p:nvSpPr>
        <p:spPr>
          <a:xfrm>
            <a:off x="713232" y="5961888"/>
            <a:ext cx="5257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AWG on the longest run (32 ft); 2 A is illustrative</a:t>
            </a:r>
            <a:endParaRPr lang="en-US" sz="1050" dirty="0"/>
          </a:p>
        </p:txBody>
      </p:sp>
      <p:pic>
        <p:nvPicPr>
          <p:cNvPr id="9" name="Chart from the calculation sheet: Wiring" descr="Chart from the calculation sheet: Wir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46336" y="1554480"/>
            <a:ext cx="5096719" cy="3507863"/>
          </a:xfrm>
          <a:prstGeom prst="rect">
            <a:avLst/>
          </a:prstGeom>
        </p:spPr>
      </p:pic>
      <p:sp>
        <p:nvSpPr>
          <p:cNvPr id="10" name="chart frame"/>
          <p:cNvSpPr/>
          <p:nvPr/>
        </p:nvSpPr>
        <p:spPr>
          <a:xfrm>
            <a:off x="6546336" y="1554480"/>
            <a:ext cx="5096719" cy="3507863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11" name="caption"/>
          <p:cNvSpPr txBox="1"/>
          <p:nvPr/>
        </p:nvSpPr>
        <p:spPr>
          <a:xfrm>
            <a:off x="6546336" y="5135495"/>
            <a:ext cx="50967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calculation sheet (Google Sheets), “Wiring” tab. Calculated, not measured.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controller in every winch cut the wiring to one power pair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586216" cy="388620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station: XIAO ESP32-C3 + A4988 driver + 5 V buck; only 12 V power travels, on 2 wires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Switch and encoder wires stay inside the station, a few centimetres long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host computer plans the path and sends each station timed segments over Wi-Fi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station runs its segments on its own clock; any lost link → hold position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Cost: timing skew between stations becomes cable mismatch, so segments are time-stamped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Benefit: about 5× less wire, and every station can be built and tested alone</a:t>
            </a:r>
            <a:endParaRPr lang="en-US" sz="1800" dirty="0"/>
          </a:p>
        </p:txBody>
      </p:sp>
      <p:sp>
        <p:nvSpPr>
          <p:cNvPr id="5" name="equation box"/>
          <p:cNvSpPr/>
          <p:nvPr/>
        </p:nvSpPr>
        <p:spPr>
          <a:xfrm>
            <a:off x="548640" y="5550408"/>
            <a:ext cx="5586216" cy="713232"/>
          </a:xfrm>
          <a:prstGeom prst="rect">
            <a:avLst/>
          </a:prstGeom>
          <a:solidFill>
            <a:srgbClr val="F2F2F2"/>
          </a:solidFill>
          <a:ln w="6350">
            <a:solidFill>
              <a:srgbClr val="F2F2F2"/>
            </a:solidFill>
            <a:prstDash val="solid"/>
          </a:ln>
        </p:spPr>
      </p:sp>
      <p:sp>
        <p:nvSpPr>
          <p:cNvPr id="6" name="equation label"/>
          <p:cNvSpPr txBox="1"/>
          <p:nvPr/>
        </p:nvSpPr>
        <p:spPr>
          <a:xfrm>
            <a:off x="713232" y="5632704"/>
            <a:ext cx="5257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equations</a:t>
            </a:r>
            <a:endParaRPr lang="en-US" sz="1100" dirty="0"/>
          </a:p>
        </p:txBody>
      </p:sp>
      <p:sp>
        <p:nvSpPr>
          <p:cNvPr id="7" name="equations"/>
          <p:cNvSpPr txBox="1"/>
          <p:nvPr/>
        </p:nvSpPr>
        <p:spPr>
          <a:xfrm>
            <a:off x="713232" y="5879592"/>
            <a:ext cx="5257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Δx = v · Δt = 50 mm/s × 50 ms = 2.5 mm of cable mismatch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546336" y="1463040"/>
            <a:ext cx="2479780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9" name="Gen-2 station and its electronics" descr="Gen-2 station and its electronic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01200" y="2146146"/>
            <a:ext cx="2370052" cy="3160069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163276" y="1463040"/>
            <a:ext cx="2479780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11" name="Gen-2 station and its electronics" descr="Gen-2 station and its electronic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18140" y="2146146"/>
            <a:ext cx="2370052" cy="3160069"/>
          </a:xfrm>
          <a:prstGeom prst="rect">
            <a:avLst/>
          </a:prstGeom>
        </p:spPr>
      </p:pic>
      <p:sp>
        <p:nvSpPr>
          <p:cNvPr id="12" name="caption"/>
          <p:cNvSpPr txBox="1"/>
          <p:nvPr/>
        </p:nvSpPr>
        <p:spPr>
          <a:xfrm>
            <a:off x="6546336" y="6062472"/>
            <a:ext cx="50967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 2: the station carries its own controller, driver and buck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Electronics at every corner turned the wall plate into a housing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586216" cy="4736592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 1 was a plate screwed into the wall: fine for a bare motor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corner now carries a controller, driver, buck, switch and encoder</a:t>
            </a:r>
            <a:endParaRPr lang="en-US" sz="18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need protection, a clean look and a path for heat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each station became a housing: motor, spool, pulley and electronics in one unit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unit in all four corners: build one, test one, copy it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546336" y="1463040"/>
            <a:ext cx="2479780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6" name="Gen-1 corner plate vs gen-2 housing" descr="Gen-1 corner plate vs gen-2 hous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01200" y="2907397"/>
            <a:ext cx="2370052" cy="1637567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9163276" y="1463040"/>
            <a:ext cx="2479780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8" name="Gen-1 corner plate vs gen-2 housing" descr="Gen-1 corner plate vs gen-2 hous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18140" y="2430937"/>
            <a:ext cx="2370052" cy="2590485"/>
          </a:xfrm>
          <a:prstGeom prst="rect">
            <a:avLst/>
          </a:prstGeom>
        </p:spPr>
      </p:pic>
      <p:sp>
        <p:nvSpPr>
          <p:cNvPr id="9" name="caption"/>
          <p:cNvSpPr txBox="1"/>
          <p:nvPr/>
        </p:nvSpPr>
        <p:spPr>
          <a:xfrm>
            <a:off x="6546336" y="6062472"/>
            <a:ext cx="50967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Gen-1 corner plate (left) vs the gen-2 station housing (right)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slide-in mount lets a station come off without moving its anchor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586216" cy="3648456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take stations down often: to test, rework, repair or modify them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Drilling in and out each time damages the wall and moves the anchor point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fixed wall frame goes into a stud once; the station slides in and locks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Pull it out, rework it, slide it back: the frame keeps the anchor position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Load: the line pulls the station away from the wall (pull-out and prying)</a:t>
            </a:r>
            <a:endParaRPr lang="en-US" sz="18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target: SF 3 at 34 N; SolidWorks study planned</a:t>
            </a:r>
            <a:endParaRPr lang="en-US" sz="1800" dirty="0"/>
          </a:p>
        </p:txBody>
      </p:sp>
      <p:sp>
        <p:nvSpPr>
          <p:cNvPr id="5" name="equation box"/>
          <p:cNvSpPr/>
          <p:nvPr/>
        </p:nvSpPr>
        <p:spPr>
          <a:xfrm>
            <a:off x="548640" y="5312664"/>
            <a:ext cx="5586216" cy="950976"/>
          </a:xfrm>
          <a:prstGeom prst="rect">
            <a:avLst/>
          </a:prstGeom>
          <a:solidFill>
            <a:srgbClr val="F2F2F2"/>
          </a:solidFill>
          <a:ln w="6350">
            <a:solidFill>
              <a:srgbClr val="F2F2F2"/>
            </a:solidFill>
            <a:prstDash val="solid"/>
          </a:ln>
        </p:spPr>
      </p:sp>
      <p:sp>
        <p:nvSpPr>
          <p:cNvPr id="6" name="equation label"/>
          <p:cNvSpPr txBox="1"/>
          <p:nvPr/>
        </p:nvSpPr>
        <p:spPr>
          <a:xfrm>
            <a:off x="713232" y="5394960"/>
            <a:ext cx="5257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equations</a:t>
            </a:r>
            <a:endParaRPr lang="en-US" sz="1100" dirty="0"/>
          </a:p>
        </p:txBody>
      </p:sp>
      <p:sp>
        <p:nvSpPr>
          <p:cNvPr id="7" name="equations"/>
          <p:cNvSpPr txBox="1"/>
          <p:nvPr/>
        </p:nvSpPr>
        <p:spPr>
          <a:xfrm>
            <a:off x="713232" y="5641848"/>
            <a:ext cx="5257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SF = σ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allow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/ σ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max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≥ 3  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σ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max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≤ 25 MPa / 3 = 8.3 MPa</a:t>
            </a:r>
            <a:endParaRPr lang="en-US" sz="1500" dirty="0"/>
          </a:p>
        </p:txBody>
      </p:sp>
      <p:sp>
        <p:nvSpPr>
          <p:cNvPr id="8" name="equation source"/>
          <p:cNvSpPr txBox="1"/>
          <p:nvPr/>
        </p:nvSpPr>
        <p:spPr>
          <a:xfrm>
            <a:off x="713232" y="5961888"/>
            <a:ext cx="5257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Allowable: derated PETG yield, 25 MPa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546336" y="1463040"/>
            <a:ext cx="2479780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10" name="Wall frame and slide-in piece" descr="Wall frame and slide-in pie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98405" y="1517904"/>
            <a:ext cx="2175641" cy="4416552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9163276" y="1463040"/>
            <a:ext cx="2479780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12" name="Wall frame and slide-in piece" descr="Wall frame and slide-in pie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18140" y="2152938"/>
            <a:ext cx="2370052" cy="3146485"/>
          </a:xfrm>
          <a:prstGeom prst="rect">
            <a:avLst/>
          </a:prstGeom>
        </p:spPr>
      </p:pic>
      <p:sp>
        <p:nvSpPr>
          <p:cNvPr id="13" name="caption"/>
          <p:cNvSpPr txBox="1"/>
          <p:nvPr/>
        </p:nvSpPr>
        <p:spPr>
          <a:xfrm>
            <a:off x="6546336" y="6062472"/>
            <a:ext cx="50967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Fixed wall frame (left) and the slide-in piece (right)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robot measures its own geometry every time it is set up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586216" cy="4736592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time the stations go back up, the robot measures its own geometry</a:t>
            </a:r>
            <a:endParaRPr lang="en-US" sz="18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tape measure, no numbers typed in, nothing for a user to get wrong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claw camera reads a printed floor board (a grid of tags) to get the claw's pose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robot moves through a set of poses and fits the anchor positions and cable lengths by least squares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 in any room the cables can reach, so it can become a consumer product</a:t>
            </a:r>
            <a:endParaRPr lang="en-US" sz="1800" dirty="0"/>
          </a:p>
        </p:txBody>
      </p:sp>
      <p:sp>
        <p:nvSpPr>
          <p:cNvPr id="5" name="calibration step 1"/>
          <p:cNvSpPr/>
          <p:nvPr/>
        </p:nvSpPr>
        <p:spPr>
          <a:xfrm>
            <a:off x="6546336" y="1554480"/>
            <a:ext cx="1491642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619488" y="1554480"/>
            <a:ext cx="134533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</a:t>
            </a:r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 up slack, one cable at a time</a:t>
            </a:r>
            <a:endParaRPr lang="en-US" sz="1400" dirty="0"/>
          </a:p>
        </p:txBody>
      </p:sp>
      <p:sp>
        <p:nvSpPr>
          <p:cNvPr id="7" name="calibration step 2"/>
          <p:cNvSpPr/>
          <p:nvPr/>
        </p:nvSpPr>
        <p:spPr>
          <a:xfrm>
            <a:off x="8348874" y="1554480"/>
            <a:ext cx="1491642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422026" y="1554480"/>
            <a:ext cx="134533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</a:t>
            </a:r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Lift the claw off the floor</a:t>
            </a:r>
            <a:endParaRPr lang="en-US" sz="1400" dirty="0"/>
          </a:p>
        </p:txBody>
      </p:sp>
      <p:sp>
        <p:nvSpPr>
          <p:cNvPr id="9" name="calibration step 3"/>
          <p:cNvSpPr/>
          <p:nvPr/>
        </p:nvSpPr>
        <p:spPr>
          <a:xfrm>
            <a:off x="10151413" y="1554480"/>
            <a:ext cx="1491642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224565" y="1554480"/>
            <a:ext cx="134533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 </a:t>
            </a:r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reads the floor board</a:t>
            </a:r>
            <a:endParaRPr lang="en-US" sz="1400" dirty="0"/>
          </a:p>
        </p:txBody>
      </p:sp>
      <p:sp>
        <p:nvSpPr>
          <p:cNvPr id="11" name="calibration step 4"/>
          <p:cNvSpPr/>
          <p:nvPr/>
        </p:nvSpPr>
        <p:spPr>
          <a:xfrm>
            <a:off x="10151413" y="2761488"/>
            <a:ext cx="1491642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224565" y="2761488"/>
            <a:ext cx="134533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 </a:t>
            </a:r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Fit anchors and cable lengths</a:t>
            </a:r>
            <a:endParaRPr lang="en-US" sz="1400" dirty="0"/>
          </a:p>
        </p:txBody>
      </p:sp>
      <p:sp>
        <p:nvSpPr>
          <p:cNvPr id="13" name="calibration step 5"/>
          <p:cNvSpPr/>
          <p:nvPr/>
        </p:nvSpPr>
        <p:spPr>
          <a:xfrm>
            <a:off x="8348874" y="2761488"/>
            <a:ext cx="1491642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422026" y="2761488"/>
            <a:ext cx="134533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 </a:t>
            </a:r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on held-out poses</a:t>
            </a:r>
            <a:endParaRPr lang="en-US" sz="1400" dirty="0"/>
          </a:p>
        </p:txBody>
      </p:sp>
      <p:sp>
        <p:nvSpPr>
          <p:cNvPr id="15" name="calibration step 6"/>
          <p:cNvSpPr/>
          <p:nvPr/>
        </p:nvSpPr>
        <p:spPr>
          <a:xfrm>
            <a:off x="6546336" y="2761488"/>
            <a:ext cx="1491642" cy="896112"/>
          </a:xfrm>
          <a:prstGeom prst="roundRect">
            <a:avLst>
              <a:gd name="adj" fmla="val 8163"/>
            </a:avLst>
          </a:prstGeom>
          <a:solidFill>
            <a:srgbClr val="1F3A5F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619488" y="2761488"/>
            <a:ext cx="134533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 </a:t>
            </a:r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Ready, inside the safe margins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083698" y="2002536"/>
            <a:ext cx="219456" cy="0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9886237" y="2002536"/>
            <a:ext cx="219456" cy="0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10897234" y="2496312"/>
            <a:ext cx="0" cy="219456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 flipH="1">
            <a:off x="9886237" y="3209544"/>
            <a:ext cx="219456" cy="0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 flipH="1">
            <a:off x="8083698" y="3209544"/>
            <a:ext cx="219456" cy="0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6546336" y="3931920"/>
            <a:ext cx="5096719" cy="205740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23" name="Claw with camera bay" descr="Claw with camera ba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26543" y="3986784"/>
            <a:ext cx="536306" cy="1947672"/>
          </a:xfrm>
          <a:prstGeom prst="rect">
            <a:avLst/>
          </a:prstGeom>
        </p:spPr>
      </p:pic>
      <p:sp>
        <p:nvSpPr>
          <p:cNvPr id="24" name="caption"/>
          <p:cNvSpPr txBox="1"/>
          <p:nvPr/>
        </p:nvSpPr>
        <p:spPr>
          <a:xfrm>
            <a:off x="6546336" y="6035040"/>
            <a:ext cx="50967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Startup calibration; the claw camera looks straight down at the board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station needs only one 12 V cable, so it unplugs cleanly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586216" cy="4736592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station has one cable: a 16 AWG pair from a fused 12 V supply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Plug in to use; unplug and store the cables when the robot is not needed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Stations slide off the wall frames if wanted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cut at 9, 24, 26 and 35 ft (94 ft of a 100 ft roll), a fuse per branch at the supply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motor stays wired inside the station, so it is never unplugged under power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switched power strip is the one hard stop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546336" y="1463040"/>
            <a:ext cx="2479780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6" name="Station power wiring" descr="Station power wir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01200" y="2146146"/>
            <a:ext cx="2370052" cy="3160069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9163276" y="1463040"/>
            <a:ext cx="2479780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8" name="Station power wiring" descr="Station power wir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18140" y="2146146"/>
            <a:ext cx="2370052" cy="3160069"/>
          </a:xfrm>
          <a:prstGeom prst="rect">
            <a:avLst/>
          </a:prstGeom>
        </p:spPr>
      </p:pic>
      <p:sp>
        <p:nvSpPr>
          <p:cNvPr id="9" name="caption"/>
          <p:cNvSpPr txBox="1"/>
          <p:nvPr/>
        </p:nvSpPr>
        <p:spPr>
          <a:xfrm>
            <a:off x="6546336" y="6062472"/>
            <a:ext cx="50967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Inside a station: the buck converter and its wiring; only 12 V comes in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Without the fin, a sealed housing would push the motor past 60 °C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586216" cy="3264408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sealed printed housing traps the motor's heat</a:t>
            </a:r>
            <a:endParaRPr lang="en-US" sz="18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PETG at the loaded motor mount softens and creeps: 60 °C limit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Fix: vents, plus an aluminium fin straight up through the shell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Model: motor → shell air → room, the fin a second path out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1.06 A: sealed 64 °C without the fin, 46 °C with it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90-min hold test will measure it</a:t>
            </a:r>
            <a:endParaRPr lang="en-US" sz="1800" dirty="0"/>
          </a:p>
        </p:txBody>
      </p:sp>
      <p:sp>
        <p:nvSpPr>
          <p:cNvPr id="5" name="equation box"/>
          <p:cNvSpPr/>
          <p:nvPr/>
        </p:nvSpPr>
        <p:spPr>
          <a:xfrm>
            <a:off x="548640" y="4928616"/>
            <a:ext cx="5586216" cy="1335024"/>
          </a:xfrm>
          <a:prstGeom prst="rect">
            <a:avLst/>
          </a:prstGeom>
          <a:solidFill>
            <a:srgbClr val="F2F2F2"/>
          </a:solidFill>
          <a:ln w="6350">
            <a:solidFill>
              <a:srgbClr val="F2F2F2"/>
            </a:solidFill>
            <a:prstDash val="solid"/>
          </a:ln>
        </p:spPr>
      </p:sp>
      <p:sp>
        <p:nvSpPr>
          <p:cNvPr id="6" name="equation label"/>
          <p:cNvSpPr txBox="1"/>
          <p:nvPr/>
        </p:nvSpPr>
        <p:spPr>
          <a:xfrm>
            <a:off x="713232" y="5010912"/>
            <a:ext cx="5257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equations</a:t>
            </a:r>
            <a:endParaRPr lang="en-US" sz="1100" dirty="0"/>
          </a:p>
        </p:txBody>
      </p:sp>
      <p:sp>
        <p:nvSpPr>
          <p:cNvPr id="7" name="equations"/>
          <p:cNvSpPr txBox="1"/>
          <p:nvPr/>
        </p:nvSpPr>
        <p:spPr>
          <a:xfrm>
            <a:off x="713232" y="5257800"/>
            <a:ext cx="525703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I² R = (1.06 A)² × 1.8 Ω = 2.0 W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ΔT = q · R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(heat flow × thermal resistance)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 in parallel with the shell:  1/R = 1/R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shell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+ 1/R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</a:t>
            </a:r>
            <a:endParaRPr lang="en-US" sz="1500" dirty="0"/>
          </a:p>
        </p:txBody>
      </p:sp>
      <p:pic>
        <p:nvPicPr>
          <p:cNvPr id="8" name="Chart from the calculation sheet: Motor " descr="Chart from the calculation sheet: Motor temperatu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46336" y="1554480"/>
            <a:ext cx="5096719" cy="3502517"/>
          </a:xfrm>
          <a:prstGeom prst="rect">
            <a:avLst/>
          </a:prstGeom>
        </p:spPr>
      </p:pic>
      <p:sp>
        <p:nvSpPr>
          <p:cNvPr id="9" name="chart frame"/>
          <p:cNvSpPr/>
          <p:nvPr/>
        </p:nvSpPr>
        <p:spPr>
          <a:xfrm>
            <a:off x="6546336" y="1554480"/>
            <a:ext cx="5096719" cy="3502517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10" name="caption"/>
          <p:cNvSpPr txBox="1"/>
          <p:nvPr/>
        </p:nvSpPr>
        <p:spPr>
          <a:xfrm>
            <a:off x="6546336" y="5130149"/>
            <a:ext cx="50967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calculation sheet (Google Sheets), “Motor temperature” tab. Calculated, not measured.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fin copies an antelope horn: a thin blade that sheds heat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586216" cy="3575304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 from my bio-inspired design class: antelope horns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horn is a heat exchanger: warm blood flows into its core, heat leaves through the surface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fin copies that: one tall, thin blade rising straight up from the heat source</a:t>
            </a:r>
            <a:endParaRPr lang="en-US" sz="18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heat conducts up from the motor and leaves along the length; the tip runs cooler, like a horn's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Vertical, so warm air rises freely off both faces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Motor width (44 mm): adds height, not width, to the station</a:t>
            </a:r>
            <a:endParaRPr lang="en-US" sz="1800" dirty="0"/>
          </a:p>
        </p:txBody>
      </p:sp>
      <p:sp>
        <p:nvSpPr>
          <p:cNvPr id="5" name="equation box"/>
          <p:cNvSpPr/>
          <p:nvPr/>
        </p:nvSpPr>
        <p:spPr>
          <a:xfrm>
            <a:off x="548640" y="5239512"/>
            <a:ext cx="5586216" cy="1024128"/>
          </a:xfrm>
          <a:prstGeom prst="rect">
            <a:avLst/>
          </a:prstGeom>
          <a:solidFill>
            <a:srgbClr val="F2F2F2"/>
          </a:solidFill>
          <a:ln w="6350">
            <a:solidFill>
              <a:srgbClr val="F2F2F2"/>
            </a:solidFill>
            <a:prstDash val="solid"/>
          </a:ln>
        </p:spPr>
      </p:sp>
      <p:sp>
        <p:nvSpPr>
          <p:cNvPr id="6" name="equation label"/>
          <p:cNvSpPr txBox="1"/>
          <p:nvPr/>
        </p:nvSpPr>
        <p:spPr>
          <a:xfrm>
            <a:off x="713232" y="5321808"/>
            <a:ext cx="5257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equations</a:t>
            </a:r>
            <a:endParaRPr lang="en-US" sz="1100" dirty="0"/>
          </a:p>
        </p:txBody>
      </p:sp>
      <p:sp>
        <p:nvSpPr>
          <p:cNvPr id="7" name="equations"/>
          <p:cNvSpPr txBox="1"/>
          <p:nvPr/>
        </p:nvSpPr>
        <p:spPr>
          <a:xfrm>
            <a:off x="713232" y="5568696"/>
            <a:ext cx="5257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Horn and fin both shed heat by convection:  q = h · A · (T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− T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∞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Tall and thin: large area for little mass,  A = 2 w L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546336" y="1463040"/>
            <a:ext cx="2479780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9" name="Heat fin on the motor" descr="Heat fin on the mot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01200" y="2146146"/>
            <a:ext cx="2370052" cy="3160069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163276" y="1463040"/>
            <a:ext cx="2479780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11" name="Heat fin on the motor" descr="Heat fin on the moto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18140" y="2146146"/>
            <a:ext cx="2370052" cy="3160069"/>
          </a:xfrm>
          <a:prstGeom prst="rect">
            <a:avLst/>
          </a:prstGeom>
        </p:spPr>
      </p:pic>
      <p:sp>
        <p:nvSpPr>
          <p:cNvPr id="12" name="caption"/>
          <p:cNvSpPr txBox="1"/>
          <p:nvPr/>
        </p:nvSpPr>
        <p:spPr>
          <a:xfrm>
            <a:off x="6546336" y="6062472"/>
            <a:ext cx="50967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fin on the motor: one tall blade rising from the heat source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Past 136 mm, the thin fin adds less than 5 % more cooling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586216" cy="3026664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far end runs cooler, so each extra mm does less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0.019 in sheet (built):</a:t>
            </a:r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95 % of a long fin's heat by </a:t>
            </a:r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136 mm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1/8 in plate (drawn):</a:t>
            </a:r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95 % by </a:t>
            </a:r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349 mm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200 mm above the cover: past 136 mm the sheet adds &lt; 5 %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Looks: horn-like, motor width (44 mm), matte black to radiate more</a:t>
            </a:r>
            <a:endParaRPr lang="en-US" sz="1800" dirty="0"/>
          </a:p>
        </p:txBody>
      </p:sp>
      <p:sp>
        <p:nvSpPr>
          <p:cNvPr id="5" name="equation box"/>
          <p:cNvSpPr/>
          <p:nvPr/>
        </p:nvSpPr>
        <p:spPr>
          <a:xfrm>
            <a:off x="548640" y="4690872"/>
            <a:ext cx="5586216" cy="1572768"/>
          </a:xfrm>
          <a:prstGeom prst="rect">
            <a:avLst/>
          </a:prstGeom>
          <a:solidFill>
            <a:srgbClr val="F2F2F2"/>
          </a:solidFill>
          <a:ln w="6350">
            <a:solidFill>
              <a:srgbClr val="F2F2F2"/>
            </a:solidFill>
            <a:prstDash val="solid"/>
          </a:ln>
        </p:spPr>
      </p:sp>
      <p:sp>
        <p:nvSpPr>
          <p:cNvPr id="6" name="equation label"/>
          <p:cNvSpPr txBox="1"/>
          <p:nvPr/>
        </p:nvSpPr>
        <p:spPr>
          <a:xfrm>
            <a:off x="713232" y="4773168"/>
            <a:ext cx="5257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equations</a:t>
            </a:r>
            <a:endParaRPr lang="en-US" sz="1100" dirty="0"/>
          </a:p>
        </p:txBody>
      </p:sp>
      <p:sp>
        <p:nvSpPr>
          <p:cNvPr id="7" name="equations"/>
          <p:cNvSpPr txBox="1"/>
          <p:nvPr/>
        </p:nvSpPr>
        <p:spPr>
          <a:xfrm>
            <a:off x="713232" y="5020056"/>
            <a:ext cx="525703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 = √(2h / (k t)),   η = tanh(mL) / (mL)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95 % length:  tanh(mL) = 0.95  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L = 1.83 / m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 = 160 W/m·K, h = 7 W/m²·K, t = 0.48 mm 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136 mm</a:t>
            </a:r>
            <a:endParaRPr lang="en-US" sz="1500" dirty="0"/>
          </a:p>
        </p:txBody>
      </p:sp>
      <p:sp>
        <p:nvSpPr>
          <p:cNvPr id="8" name="equation source"/>
          <p:cNvSpPr txBox="1"/>
          <p:nvPr/>
        </p:nvSpPr>
        <p:spPr>
          <a:xfrm>
            <a:off x="713232" y="5961888"/>
            <a:ext cx="5257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 equations: Incropera et al., Fundamentals of Heat and Mass Transfer, ch. 3</a:t>
            </a:r>
            <a:endParaRPr lang="en-US" sz="1050" dirty="0"/>
          </a:p>
        </p:txBody>
      </p:sp>
      <p:pic>
        <p:nvPicPr>
          <p:cNvPr id="9" name="Chart from the calculation sheet: Heat f" descr="Chart from the calculation sheet: Heat f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46336" y="1554480"/>
            <a:ext cx="5096719" cy="3502434"/>
          </a:xfrm>
          <a:prstGeom prst="rect">
            <a:avLst/>
          </a:prstGeom>
        </p:spPr>
      </p:pic>
      <p:sp>
        <p:nvSpPr>
          <p:cNvPr id="10" name="chart frame"/>
          <p:cNvSpPr/>
          <p:nvPr/>
        </p:nvSpPr>
        <p:spPr>
          <a:xfrm>
            <a:off x="6546336" y="1554480"/>
            <a:ext cx="5096719" cy="3502434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11" name="caption"/>
          <p:cNvSpPr txBox="1"/>
          <p:nvPr/>
        </p:nvSpPr>
        <p:spPr>
          <a:xfrm>
            <a:off x="6546336" y="5130066"/>
            <a:ext cx="50967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calculation sheet (Google Sheets), “Heat fin” tab. Calculated, not measured.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011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8FA6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0632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Homing and calibration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9776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9DE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the first homing plan limited the robot, and what replaced it</a:t>
            </a:r>
            <a:endParaRPr lang="en-US" sz="2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first plan homed each cable with a bead and a switch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586216" cy="4736592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bead on each cable trips a switch at the outlet → a known cable length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robot zeroes itself from that: set it up anywhere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expected that to be enough, possibly even without encoders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 fixed early: the switch moved below the pulley, so the bead never rides over the pulley groove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546336" y="1463040"/>
            <a:ext cx="5096719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6" name="Homing switch on the bench" descr="Homing switch on the ben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38489" y="1517904"/>
            <a:ext cx="3312414" cy="4416552"/>
          </a:xfrm>
          <a:prstGeom prst="rect">
            <a:avLst/>
          </a:prstGeom>
        </p:spPr>
      </p:pic>
      <p:sp>
        <p:nvSpPr>
          <p:cNvPr id="7" name="caption"/>
          <p:cNvSpPr txBox="1"/>
          <p:nvPr/>
        </p:nvSpPr>
        <p:spPr>
          <a:xfrm>
            <a:off x="6546336" y="6062472"/>
            <a:ext cx="50967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KW12-3 homing switch on the bench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Bead homing at one point leaves under a third of the room reachable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586216" cy="3575304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bead cannot pass the outlet, so a cable can never be shorter than its homing length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home all four at one point, each bead sits at that point's length</a:t>
            </a:r>
            <a:endParaRPr lang="en-US" sz="18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the claw can never get closer to any anchor than from that point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Homing at the room centre 1 m up → about 5 % of the working volume reachable; 2 m up → about 29 %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vision alone knows cable length to ~20–25 mm, while a bead allows ~12 mm of overtravel: a bead search was not safe either</a:t>
            </a:r>
            <a:endParaRPr lang="en-US" sz="1800" dirty="0"/>
          </a:p>
        </p:txBody>
      </p:sp>
      <p:sp>
        <p:nvSpPr>
          <p:cNvPr id="5" name="equation box"/>
          <p:cNvSpPr/>
          <p:nvPr/>
        </p:nvSpPr>
        <p:spPr>
          <a:xfrm>
            <a:off x="548640" y="5239512"/>
            <a:ext cx="5586216" cy="1024128"/>
          </a:xfrm>
          <a:prstGeom prst="rect">
            <a:avLst/>
          </a:prstGeom>
          <a:solidFill>
            <a:srgbClr val="F2F2F2"/>
          </a:solidFill>
          <a:ln w="6350">
            <a:solidFill>
              <a:srgbClr val="F2F2F2"/>
            </a:solidFill>
            <a:prstDash val="solid"/>
          </a:ln>
        </p:spPr>
      </p:sp>
      <p:sp>
        <p:nvSpPr>
          <p:cNvPr id="6" name="equation label"/>
          <p:cNvSpPr txBox="1"/>
          <p:nvPr/>
        </p:nvSpPr>
        <p:spPr>
          <a:xfrm>
            <a:off x="713232" y="5321808"/>
            <a:ext cx="5257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equations</a:t>
            </a:r>
            <a:endParaRPr lang="en-US" sz="1100" dirty="0"/>
          </a:p>
        </p:txBody>
      </p:sp>
      <p:sp>
        <p:nvSpPr>
          <p:cNvPr id="7" name="equations"/>
          <p:cNvSpPr txBox="1"/>
          <p:nvPr/>
        </p:nvSpPr>
        <p:spPr>
          <a:xfrm>
            <a:off x="713232" y="5568696"/>
            <a:ext cx="5257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 ≥ L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i,home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‖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−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home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‖   for every cable i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Reachable: every cable at or above its homing length</a:t>
            </a:r>
            <a:endParaRPr lang="en-US" sz="1500" dirty="0"/>
          </a:p>
        </p:txBody>
      </p:sp>
      <p:pic>
        <p:nvPicPr>
          <p:cNvPr id="8" name="Chart from the calculation sheet: Bead h" descr="Chart from the calculation sheet: Bead hom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46336" y="1554480"/>
            <a:ext cx="5096719" cy="3509137"/>
          </a:xfrm>
          <a:prstGeom prst="rect">
            <a:avLst/>
          </a:prstGeom>
        </p:spPr>
      </p:pic>
      <p:sp>
        <p:nvSpPr>
          <p:cNvPr id="9" name="chart frame"/>
          <p:cNvSpPr/>
          <p:nvPr/>
        </p:nvSpPr>
        <p:spPr>
          <a:xfrm>
            <a:off x="6546336" y="1554480"/>
            <a:ext cx="5096719" cy="3509137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10" name="caption"/>
          <p:cNvSpPr txBox="1"/>
          <p:nvPr/>
        </p:nvSpPr>
        <p:spPr>
          <a:xfrm>
            <a:off x="6546336" y="5136769"/>
            <a:ext cx="50967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calculation sheet (Google Sheets), “Bead homing” tab. Calculated, not measured.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poses fit the geometry, and safety margins cover the error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586216" cy="333756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Startup: take up slack one cable at a time, lift, then look at the floor board from several poses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Least-squares fit of the anchor positions and cable zero lengths; held-out poses check the fit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 comes from margins, not precision</a:t>
            </a:r>
            <a:endParaRPr lang="en-US" sz="18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0.4 m below the anchors and 0.2 m inside the walls unless the error bars allow more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Beads stay as end-of-travel safety switches; encoders watch for lost steps</a:t>
            </a:r>
            <a:endParaRPr lang="en-US" sz="1800" dirty="0"/>
          </a:p>
        </p:txBody>
      </p:sp>
      <p:sp>
        <p:nvSpPr>
          <p:cNvPr id="5" name="equation box"/>
          <p:cNvSpPr/>
          <p:nvPr/>
        </p:nvSpPr>
        <p:spPr>
          <a:xfrm>
            <a:off x="548640" y="5001768"/>
            <a:ext cx="5586216" cy="1261872"/>
          </a:xfrm>
          <a:prstGeom prst="rect">
            <a:avLst/>
          </a:prstGeom>
          <a:solidFill>
            <a:srgbClr val="F2F2F2"/>
          </a:solidFill>
          <a:ln w="6350">
            <a:solidFill>
              <a:srgbClr val="F2F2F2"/>
            </a:solidFill>
            <a:prstDash val="solid"/>
          </a:ln>
        </p:spPr>
      </p:sp>
      <p:sp>
        <p:nvSpPr>
          <p:cNvPr id="6" name="equation label"/>
          <p:cNvSpPr txBox="1"/>
          <p:nvPr/>
        </p:nvSpPr>
        <p:spPr>
          <a:xfrm>
            <a:off x="713232" y="5084064"/>
            <a:ext cx="5257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equations</a:t>
            </a:r>
            <a:endParaRPr lang="en-US" sz="1100" dirty="0"/>
          </a:p>
        </p:txBody>
      </p:sp>
      <p:sp>
        <p:nvSpPr>
          <p:cNvPr id="7" name="equations"/>
          <p:cNvSpPr txBox="1"/>
          <p:nvPr/>
        </p:nvSpPr>
        <p:spPr>
          <a:xfrm>
            <a:off x="713232" y="5330952"/>
            <a:ext cx="5257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 over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L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i0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:   Σ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Σ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( L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i0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+ d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ik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− ‖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−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‖ )²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Full workspace only if k · σ ≤ margin</a:t>
            </a:r>
            <a:endParaRPr lang="en-US" sz="1500" dirty="0"/>
          </a:p>
        </p:txBody>
      </p:sp>
      <p:sp>
        <p:nvSpPr>
          <p:cNvPr id="8" name="equation source"/>
          <p:cNvSpPr txBox="1"/>
          <p:nvPr/>
        </p:nvSpPr>
        <p:spPr>
          <a:xfrm>
            <a:off x="713232" y="5961888"/>
            <a:ext cx="5257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d: cable paid out at pose k (encoder);  p: claw position from the camera</a:t>
            </a:r>
            <a:endParaRPr lang="en-US" sz="1050" dirty="0"/>
          </a:p>
        </p:txBody>
      </p:sp>
      <p:sp>
        <p:nvSpPr>
          <p:cNvPr id="9" name="calibration step 1"/>
          <p:cNvSpPr/>
          <p:nvPr/>
        </p:nvSpPr>
        <p:spPr>
          <a:xfrm>
            <a:off x="6546336" y="1737360"/>
            <a:ext cx="1491642" cy="1307592"/>
          </a:xfrm>
          <a:prstGeom prst="roundRect">
            <a:avLst>
              <a:gd name="adj" fmla="val 5594"/>
            </a:avLst>
          </a:prstGeom>
          <a:solidFill>
            <a:srgbClr val="FFFFFF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619488" y="1737360"/>
            <a:ext cx="134533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</a:t>
            </a:r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 up slack, one cable at a time</a:t>
            </a:r>
            <a:endParaRPr lang="en-US" sz="1400" dirty="0"/>
          </a:p>
        </p:txBody>
      </p:sp>
      <p:sp>
        <p:nvSpPr>
          <p:cNvPr id="11" name="calibration step 2"/>
          <p:cNvSpPr/>
          <p:nvPr/>
        </p:nvSpPr>
        <p:spPr>
          <a:xfrm>
            <a:off x="8348874" y="1737360"/>
            <a:ext cx="1491642" cy="1307592"/>
          </a:xfrm>
          <a:prstGeom prst="roundRect">
            <a:avLst>
              <a:gd name="adj" fmla="val 5594"/>
            </a:avLst>
          </a:prstGeom>
          <a:solidFill>
            <a:srgbClr val="FFFFFF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422026" y="1737360"/>
            <a:ext cx="134533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</a:t>
            </a:r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Lift the claw off the floor</a:t>
            </a:r>
            <a:endParaRPr lang="en-US" sz="1400" dirty="0"/>
          </a:p>
        </p:txBody>
      </p:sp>
      <p:sp>
        <p:nvSpPr>
          <p:cNvPr id="13" name="calibration step 3"/>
          <p:cNvSpPr/>
          <p:nvPr/>
        </p:nvSpPr>
        <p:spPr>
          <a:xfrm>
            <a:off x="10151413" y="1737360"/>
            <a:ext cx="1491642" cy="1307592"/>
          </a:xfrm>
          <a:prstGeom prst="roundRect">
            <a:avLst>
              <a:gd name="adj" fmla="val 5594"/>
            </a:avLst>
          </a:prstGeom>
          <a:solidFill>
            <a:srgbClr val="FFFFFF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224565" y="1737360"/>
            <a:ext cx="134533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 </a:t>
            </a:r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reads the floor board</a:t>
            </a:r>
            <a:endParaRPr lang="en-US" sz="1400" dirty="0"/>
          </a:p>
        </p:txBody>
      </p:sp>
      <p:sp>
        <p:nvSpPr>
          <p:cNvPr id="15" name="calibration step 4"/>
          <p:cNvSpPr/>
          <p:nvPr/>
        </p:nvSpPr>
        <p:spPr>
          <a:xfrm>
            <a:off x="10151413" y="3355848"/>
            <a:ext cx="1491642" cy="1307592"/>
          </a:xfrm>
          <a:prstGeom prst="roundRect">
            <a:avLst>
              <a:gd name="adj" fmla="val 5594"/>
            </a:avLst>
          </a:prstGeom>
          <a:solidFill>
            <a:srgbClr val="FFFFFF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224565" y="3355848"/>
            <a:ext cx="134533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 </a:t>
            </a:r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Fit anchors and cable lengths</a:t>
            </a:r>
            <a:endParaRPr lang="en-US" sz="1400" dirty="0"/>
          </a:p>
        </p:txBody>
      </p:sp>
      <p:sp>
        <p:nvSpPr>
          <p:cNvPr id="17" name="calibration step 5"/>
          <p:cNvSpPr/>
          <p:nvPr/>
        </p:nvSpPr>
        <p:spPr>
          <a:xfrm>
            <a:off x="8348874" y="3355848"/>
            <a:ext cx="1491642" cy="1307592"/>
          </a:xfrm>
          <a:prstGeom prst="roundRect">
            <a:avLst>
              <a:gd name="adj" fmla="val 5594"/>
            </a:avLst>
          </a:prstGeom>
          <a:solidFill>
            <a:srgbClr val="FFFFFF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422026" y="3355848"/>
            <a:ext cx="134533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 </a:t>
            </a:r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on held-out poses</a:t>
            </a:r>
            <a:endParaRPr lang="en-US" sz="1400" dirty="0"/>
          </a:p>
        </p:txBody>
      </p:sp>
      <p:sp>
        <p:nvSpPr>
          <p:cNvPr id="19" name="calibration step 6"/>
          <p:cNvSpPr/>
          <p:nvPr/>
        </p:nvSpPr>
        <p:spPr>
          <a:xfrm>
            <a:off x="6546336" y="3355848"/>
            <a:ext cx="1491642" cy="1307592"/>
          </a:xfrm>
          <a:prstGeom prst="roundRect">
            <a:avLst>
              <a:gd name="adj" fmla="val 5594"/>
            </a:avLst>
          </a:prstGeom>
          <a:solidFill>
            <a:srgbClr val="1F3A5F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619488" y="3355848"/>
            <a:ext cx="134533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 </a:t>
            </a:r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Ready, inside the safe margins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8083698" y="2391156"/>
            <a:ext cx="219456" cy="0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9886237" y="2391156"/>
            <a:ext cx="219456" cy="0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10897234" y="3090672"/>
            <a:ext cx="0" cy="219456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 flipH="1">
            <a:off x="9886237" y="4009644"/>
            <a:ext cx="219456" cy="0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 flipH="1">
            <a:off x="8083698" y="4009644"/>
            <a:ext cx="219456" cy="0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6546336" y="4846320"/>
            <a:ext cx="509671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the fit is not good enough: more poses, then fit again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Seeing four tags instead of one cuts position error from 6.6 to 0.7 mm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586216" cy="388620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Angle error becomes position error through the lever arm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tag: 12.9 mrad × 0.51 m ≈ 6.6 mm per frame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tags in view: about 0.7 mm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board is a printed grid at 250 mm pitch: cheap, and it works in any room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Averaging frames helps only with random noise, not with a fixed bias</a:t>
            </a:r>
            <a:endParaRPr lang="en-US" sz="1800" dirty="0"/>
          </a:p>
        </p:txBody>
      </p:sp>
      <p:sp>
        <p:nvSpPr>
          <p:cNvPr id="5" name="equation box"/>
          <p:cNvSpPr/>
          <p:nvPr/>
        </p:nvSpPr>
        <p:spPr>
          <a:xfrm>
            <a:off x="548640" y="5550408"/>
            <a:ext cx="5586216" cy="713232"/>
          </a:xfrm>
          <a:prstGeom prst="rect">
            <a:avLst/>
          </a:prstGeom>
          <a:solidFill>
            <a:srgbClr val="F2F2F2"/>
          </a:solidFill>
          <a:ln w="6350">
            <a:solidFill>
              <a:srgbClr val="F2F2F2"/>
            </a:solidFill>
            <a:prstDash val="solid"/>
          </a:ln>
        </p:spPr>
      </p:sp>
      <p:sp>
        <p:nvSpPr>
          <p:cNvPr id="6" name="equation label"/>
          <p:cNvSpPr txBox="1"/>
          <p:nvPr/>
        </p:nvSpPr>
        <p:spPr>
          <a:xfrm>
            <a:off x="713232" y="5632704"/>
            <a:ext cx="5257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equations</a:t>
            </a:r>
            <a:endParaRPr lang="en-US" sz="1100" dirty="0"/>
          </a:p>
        </p:txBody>
      </p:sp>
      <p:sp>
        <p:nvSpPr>
          <p:cNvPr id="7" name="equations"/>
          <p:cNvSpPr txBox="1"/>
          <p:nvPr/>
        </p:nvSpPr>
        <p:spPr>
          <a:xfrm>
            <a:off x="713232" y="5879592"/>
            <a:ext cx="5257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δx = σ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θ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· L = 12.9 mrad × 0.51 m = 6.6 mm</a:t>
            </a:r>
            <a:endParaRPr lang="en-US" sz="1500" dirty="0"/>
          </a:p>
        </p:txBody>
      </p:sp>
      <p:pic>
        <p:nvPicPr>
          <p:cNvPr id="8" name="Chart from the calculation sheet: Floor " descr="Chart from the calculation sheet: Floor 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46336" y="1554480"/>
            <a:ext cx="5096719" cy="3507863"/>
          </a:xfrm>
          <a:prstGeom prst="rect">
            <a:avLst/>
          </a:prstGeom>
        </p:spPr>
      </p:pic>
      <p:sp>
        <p:nvSpPr>
          <p:cNvPr id="9" name="chart frame"/>
          <p:cNvSpPr/>
          <p:nvPr/>
        </p:nvSpPr>
        <p:spPr>
          <a:xfrm>
            <a:off x="6546336" y="1554480"/>
            <a:ext cx="5096719" cy="3507863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10" name="caption"/>
          <p:cNvSpPr txBox="1"/>
          <p:nvPr/>
        </p:nvSpPr>
        <p:spPr>
          <a:xfrm>
            <a:off x="6546336" y="5135495"/>
            <a:ext cx="50967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calculation sheet (Google Sheets), “Floor board” tab. Calculated, not measured.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011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8FA6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0632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claw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9776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9DE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fingers to a parallel-jaw gripper</a:t>
            </a:r>
            <a:endParaRPr lang="en-US" sz="2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claw generation fixed a problem found in the one before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4698663" cy="4736592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tendon-driven TPU fingers → a geared clamp → a lighter open frame → the final parallel-jaw gripper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step fixed a problem I found:</a:t>
            </a:r>
            <a:endParaRPr lang="en-US" sz="18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first clamp's jaws could not pinch thin fabric</a:t>
            </a:r>
            <a:endParaRPr lang="en-US" sz="18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v6 clamp was about 4.6× its mass budget</a:t>
            </a:r>
            <a:endParaRPr lang="en-US" sz="18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v7 cut the gearbox frame to 143 g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Final: my gear housing and arms, with hands designed to fit them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658783" y="1463040"/>
            <a:ext cx="1393198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6" name="Claw generations" descr="Claw generation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13647" y="2798398"/>
            <a:ext cx="1283470" cy="1855564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189141" y="1463040"/>
            <a:ext cx="1393198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8" name="Claw generations" descr="Claw generation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4005" y="1648431"/>
            <a:ext cx="1283470" cy="4155498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8719499" y="1463040"/>
            <a:ext cx="1393198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10" name="Claw generations" descr="Claw generation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4363" y="1923627"/>
            <a:ext cx="1283470" cy="3605106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10249857" y="1463040"/>
            <a:ext cx="1393198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12" name="Claw generations" descr="Claw generation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04721" y="2622450"/>
            <a:ext cx="1283470" cy="2207459"/>
          </a:xfrm>
          <a:prstGeom prst="rect">
            <a:avLst/>
          </a:prstGeom>
        </p:spPr>
      </p:pic>
      <p:sp>
        <p:nvSpPr>
          <p:cNvPr id="13" name="caption"/>
          <p:cNvSpPr txBox="1"/>
          <p:nvPr/>
        </p:nvSpPr>
        <p:spPr>
          <a:xfrm>
            <a:off x="5658783" y="6062472"/>
            <a:ext cx="598427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Fingers, v6 clamp, v7 open frame, final gripper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geared four-bar keeps the jaws parallel through a 53 mm stroke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364328" cy="3264408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Servo → 18T pinion → 36T/24T compound → 24T sync gear: mirror-image jaws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hand: gear crank (53 mm) + swing arm (50 mm), a near-parallelogram four-bar</a:t>
            </a:r>
            <a:endParaRPr lang="en-US" sz="18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jaws stay parallel within about 1° over the stroke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 mm opening; closing drops the tips ~38 mm: a scoop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Gear teeth at servo stall: safety factor about 2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Swept in CAD: no collisions from open to closed</a:t>
            </a:r>
            <a:endParaRPr lang="en-US" sz="1800" dirty="0"/>
          </a:p>
        </p:txBody>
      </p:sp>
      <p:sp>
        <p:nvSpPr>
          <p:cNvPr id="5" name="equation box"/>
          <p:cNvSpPr/>
          <p:nvPr/>
        </p:nvSpPr>
        <p:spPr>
          <a:xfrm>
            <a:off x="548640" y="4928616"/>
            <a:ext cx="5364328" cy="1335024"/>
          </a:xfrm>
          <a:prstGeom prst="rect">
            <a:avLst/>
          </a:prstGeom>
          <a:solidFill>
            <a:srgbClr val="F2F2F2"/>
          </a:solidFill>
          <a:ln w="6350">
            <a:solidFill>
              <a:srgbClr val="F2F2F2"/>
            </a:solidFill>
            <a:prstDash val="solid"/>
          </a:ln>
        </p:spPr>
      </p:sp>
      <p:sp>
        <p:nvSpPr>
          <p:cNvPr id="6" name="equation label"/>
          <p:cNvSpPr txBox="1"/>
          <p:nvPr/>
        </p:nvSpPr>
        <p:spPr>
          <a:xfrm>
            <a:off x="713232" y="5010912"/>
            <a:ext cx="5035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equations</a:t>
            </a:r>
            <a:endParaRPr lang="en-US" sz="1100" dirty="0"/>
          </a:p>
        </p:txBody>
      </p:sp>
      <p:sp>
        <p:nvSpPr>
          <p:cNvPr id="7" name="equations"/>
          <p:cNvSpPr txBox="1"/>
          <p:nvPr/>
        </p:nvSpPr>
        <p:spPr>
          <a:xfrm>
            <a:off x="713232" y="5257800"/>
            <a:ext cx="503514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Gear ratio i = 36 / 18 = 2   (servo 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crank)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Grip: 2 μ N ≥ m g  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N ≥ 7.4 N per jaw   (1 lb, μ = 0.3)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Lewis: σ = F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/ (b m Y),   F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2τ / d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324448" y="1463040"/>
            <a:ext cx="5318608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9" name="Hands on the four-bar at open, mid and c" descr="Hands on the four-bar at open, mid and close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79312" y="2476049"/>
            <a:ext cx="5208880" cy="2500262"/>
          </a:xfrm>
          <a:prstGeom prst="rect">
            <a:avLst/>
          </a:prstGeom>
        </p:spPr>
      </p:pic>
      <p:sp>
        <p:nvSpPr>
          <p:cNvPr id="10" name="caption"/>
          <p:cNvSpPr txBox="1"/>
          <p:nvPr/>
        </p:nvSpPr>
        <p:spPr>
          <a:xfrm>
            <a:off x="6324448" y="6062472"/>
            <a:ext cx="531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Hands on the linkage: open, mid, closed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first setup found laundry with one camera on the ceiling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586216" cy="333756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camera on the ceiling, looking straight down and framing the whole floor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detector that works from words (YOLO-World) finds “sock”, “towel”, “t-shirt” with no training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item's bottom-centre pixel, where it meets the floor, becomes a floor position</a:t>
            </a:r>
            <a:endParaRPr lang="en-US" sz="18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straight-down camera: scale by the room size; tilted camera: a homography from four taped floor points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claw then flies to that point and grabs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camera board sat in a printed ceiling case: shell plus a screw-on lens bezel</a:t>
            </a:r>
            <a:endParaRPr lang="en-US" sz="1800" dirty="0"/>
          </a:p>
        </p:txBody>
      </p:sp>
      <p:sp>
        <p:nvSpPr>
          <p:cNvPr id="5" name="equation box"/>
          <p:cNvSpPr/>
          <p:nvPr/>
        </p:nvSpPr>
        <p:spPr>
          <a:xfrm>
            <a:off x="548640" y="5001768"/>
            <a:ext cx="5586216" cy="1261872"/>
          </a:xfrm>
          <a:prstGeom prst="rect">
            <a:avLst/>
          </a:prstGeom>
          <a:solidFill>
            <a:srgbClr val="F2F2F2"/>
          </a:solidFill>
          <a:ln w="6350">
            <a:solidFill>
              <a:srgbClr val="F2F2F2"/>
            </a:solidFill>
            <a:prstDash val="solid"/>
          </a:ln>
        </p:spPr>
      </p:sp>
      <p:sp>
        <p:nvSpPr>
          <p:cNvPr id="6" name="equation label"/>
          <p:cNvSpPr txBox="1"/>
          <p:nvPr/>
        </p:nvSpPr>
        <p:spPr>
          <a:xfrm>
            <a:off x="713232" y="5084064"/>
            <a:ext cx="5257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equations</a:t>
            </a:r>
            <a:endParaRPr lang="en-US" sz="1100" dirty="0"/>
          </a:p>
        </p:txBody>
      </p:sp>
      <p:sp>
        <p:nvSpPr>
          <p:cNvPr id="7" name="equations"/>
          <p:cNvSpPr txBox="1"/>
          <p:nvPr/>
        </p:nvSpPr>
        <p:spPr>
          <a:xfrm>
            <a:off x="713232" y="5330952"/>
            <a:ext cx="5257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Straight down:  x = u · W / w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img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  y = v · D / h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img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Tilted:  (x, y, 1) ∝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· (u, v, 1),  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fitted from 4 floor points</a:t>
            </a:r>
            <a:endParaRPr lang="en-US" sz="1500" dirty="0"/>
          </a:p>
        </p:txBody>
      </p:sp>
      <p:sp>
        <p:nvSpPr>
          <p:cNvPr id="8" name="equation source"/>
          <p:cNvSpPr txBox="1"/>
          <p:nvPr/>
        </p:nvSpPr>
        <p:spPr>
          <a:xfrm>
            <a:off x="713232" y="5961888"/>
            <a:ext cx="5257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u, v: pixel;  W × D: floor size;  w × h: image size in pixels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546336" y="1463040"/>
            <a:ext cx="5096719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10" name="Gen-1 overhead camera case" descr="Gen-1 overhead camera ca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01200" y="1558497"/>
            <a:ext cx="4986991" cy="4335366"/>
          </a:xfrm>
          <a:prstGeom prst="rect">
            <a:avLst/>
          </a:prstGeom>
        </p:spPr>
      </p:pic>
      <p:sp>
        <p:nvSpPr>
          <p:cNvPr id="11" name="caption"/>
          <p:cNvSpPr txBox="1"/>
          <p:nvPr/>
        </p:nvSpPr>
        <p:spPr>
          <a:xfrm>
            <a:off x="6546336" y="6062472"/>
            <a:ext cx="50967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Gen-1 ceiling camera case: shell and lens bezel (45 g PETG)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camera moved from the ceiling to the claw, right at the grasp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586216" cy="4736592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overhead camera was one more device to mount, wire and calibrate in every room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claw and cables hide the spot right where it grasps: it cannot see the grip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Its floor map assumes a flat floor, but a pile of clothes has height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Now: a XIAO ESP32-S3 Sense camera in a bay in the claw's housing, looking straight down the tube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camera, two jobs: it guides the grasp up close and reads the floor board for calibration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Cost: it sees less of the room at once, so the robot scans by moving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546336" y="1463040"/>
            <a:ext cx="5096719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6" name="Claw with camera bay" descr="Claw with camera ba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86631" y="1517904"/>
            <a:ext cx="1216130" cy="4416552"/>
          </a:xfrm>
          <a:prstGeom prst="rect">
            <a:avLst/>
          </a:prstGeom>
        </p:spPr>
      </p:pic>
      <p:sp>
        <p:nvSpPr>
          <p:cNvPr id="7" name="caption"/>
          <p:cNvSpPr txBox="1"/>
          <p:nvPr/>
        </p:nvSpPr>
        <p:spPr>
          <a:xfrm>
            <a:off x="6546336" y="6062472"/>
            <a:ext cx="50967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bay on the electronics housing (cover in navy)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 the claw plus jeans is heavier than the winches can lift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586216" cy="3575304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Driver limit 1.06 A → running pull ≈ 18–24 N per winch (full vs empty spool)</a:t>
            </a:r>
            <a:endParaRPr lang="en-US" sz="18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about 1.1 kg total lift at the worst point in the room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claw is not weighed yet: CAD says ~0.76 kg printed, plus a 0.1 kg battery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jeans that is above the capacity today: this is the open problem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Options: lighten the claw, a 3:1 winch reduction (~2.7× pull), or a lighter demo load</a:t>
            </a:r>
            <a:endParaRPr lang="en-US" sz="18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step: a luggage-scale pull test on one station decides</a:t>
            </a:r>
            <a:endParaRPr lang="en-US" sz="1800" dirty="0"/>
          </a:p>
        </p:txBody>
      </p:sp>
      <p:sp>
        <p:nvSpPr>
          <p:cNvPr id="5" name="equation box"/>
          <p:cNvSpPr/>
          <p:nvPr/>
        </p:nvSpPr>
        <p:spPr>
          <a:xfrm>
            <a:off x="548640" y="5239512"/>
            <a:ext cx="5586216" cy="1024128"/>
          </a:xfrm>
          <a:prstGeom prst="rect">
            <a:avLst/>
          </a:prstGeom>
          <a:solidFill>
            <a:srgbClr val="F2F2F2"/>
          </a:solidFill>
          <a:ln w="6350">
            <a:solidFill>
              <a:srgbClr val="F2F2F2"/>
            </a:solidFill>
            <a:prstDash val="solid"/>
          </a:ln>
        </p:spPr>
      </p:sp>
      <p:sp>
        <p:nvSpPr>
          <p:cNvPr id="6" name="equation label"/>
          <p:cNvSpPr txBox="1"/>
          <p:nvPr/>
        </p:nvSpPr>
        <p:spPr>
          <a:xfrm>
            <a:off x="713232" y="5321808"/>
            <a:ext cx="5257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equations</a:t>
            </a:r>
            <a:endParaRPr lang="en-US" sz="1100" dirty="0"/>
          </a:p>
        </p:txBody>
      </p:sp>
      <p:sp>
        <p:nvSpPr>
          <p:cNvPr id="7" name="equations"/>
          <p:cNvSpPr txBox="1"/>
          <p:nvPr/>
        </p:nvSpPr>
        <p:spPr>
          <a:xfrm>
            <a:off x="713232" y="5568696"/>
            <a:ext cx="5257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Σ T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u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iz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m (g + a),   0 &lt; T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≤ 11.9 N   (worst point in the room)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claw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≈ f ρ V + m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tube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+ m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servo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0.55 × 927 g + 198 g + 55 g ≈ 0.76 kg</a:t>
            </a:r>
            <a:endParaRPr lang="en-US" sz="1500" dirty="0"/>
          </a:p>
        </p:txBody>
      </p:sp>
      <p:pic>
        <p:nvPicPr>
          <p:cNvPr id="8" name="Chart from the calculation sheet: Lift b" descr="Chart from the calculation sheet: Lift budge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46336" y="1554480"/>
            <a:ext cx="5096719" cy="3507863"/>
          </a:xfrm>
          <a:prstGeom prst="rect">
            <a:avLst/>
          </a:prstGeom>
        </p:spPr>
      </p:pic>
      <p:sp>
        <p:nvSpPr>
          <p:cNvPr id="9" name="chart frame"/>
          <p:cNvSpPr/>
          <p:nvPr/>
        </p:nvSpPr>
        <p:spPr>
          <a:xfrm>
            <a:off x="6546336" y="1554480"/>
            <a:ext cx="5096719" cy="3507863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10" name="caption"/>
          <p:cNvSpPr txBox="1"/>
          <p:nvPr/>
        </p:nvSpPr>
        <p:spPr>
          <a:xfrm>
            <a:off x="6546336" y="5135495"/>
            <a:ext cx="50967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calculation sheet (Google Sheets), “Lift budget” tab. Calculated, not measured.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011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8FA6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0632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Manufacturing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9776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9DE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Printed PETG parts, and a heat fin cut and drilled on a manual mill</a:t>
            </a:r>
            <a:endParaRPr lang="en-US" sz="2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printed fit is designed for how FDM prints, then measured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6029993" cy="3575304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PETG on a Creality K1 (0.4 mm nozzle, 0.2 mm layers); PLA creeps under load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Orientation: flat face on the bed, loads along the layers, no supports on mating faces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Printed holes come out undersize (bead rounding, shrink, first-layer squash)</a:t>
            </a:r>
            <a:endParaRPr lang="en-US" sz="18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fits get a lead-in: 687 bearing pocket Ø14.075 with a Ø14.000 entry lip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Heat-set M3 inserts where screws are reused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Fewer parts: camera bay printed into the housing</a:t>
            </a:r>
            <a:endParaRPr lang="en-US" sz="1800" dirty="0"/>
          </a:p>
        </p:txBody>
      </p:sp>
      <p:sp>
        <p:nvSpPr>
          <p:cNvPr id="5" name="equation box"/>
          <p:cNvSpPr/>
          <p:nvPr/>
        </p:nvSpPr>
        <p:spPr>
          <a:xfrm>
            <a:off x="548640" y="5239512"/>
            <a:ext cx="6029993" cy="1024128"/>
          </a:xfrm>
          <a:prstGeom prst="rect">
            <a:avLst/>
          </a:prstGeom>
          <a:solidFill>
            <a:srgbClr val="F2F2F2"/>
          </a:solidFill>
          <a:ln w="6350">
            <a:solidFill>
              <a:srgbClr val="F2F2F2"/>
            </a:solidFill>
            <a:prstDash val="solid"/>
          </a:ln>
        </p:spPr>
      </p:sp>
      <p:sp>
        <p:nvSpPr>
          <p:cNvPr id="6" name="equation label"/>
          <p:cNvSpPr txBox="1"/>
          <p:nvPr/>
        </p:nvSpPr>
        <p:spPr>
          <a:xfrm>
            <a:off x="713232" y="5321808"/>
            <a:ext cx="570080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equations</a:t>
            </a:r>
            <a:endParaRPr lang="en-US" sz="1100" dirty="0"/>
          </a:p>
        </p:txBody>
      </p:sp>
      <p:sp>
        <p:nvSpPr>
          <p:cNvPr id="7" name="equations"/>
          <p:cNvSpPr txBox="1"/>
          <p:nvPr/>
        </p:nvSpPr>
        <p:spPr>
          <a:xfrm>
            <a:off x="713232" y="5568696"/>
            <a:ext cx="570080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Clearance c = (D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hole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− u) − D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shaft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  u = printer undersize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Spool: Ø5.2 too tight 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u ≥ 0.2 mm, so Ø5.45 gives c ≈ 0.25 mm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990113" y="1463040"/>
            <a:ext cx="2257891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9" name="Printed shells and the slicer" descr="Printed shells and the slic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4977" y="2294071"/>
            <a:ext cx="2148163" cy="2864218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385164" y="1463040"/>
            <a:ext cx="2257891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11" name="Printed shells and the slicer" descr="Printed shells and the slic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40028" y="2294071"/>
            <a:ext cx="2148163" cy="2864218"/>
          </a:xfrm>
          <a:prstGeom prst="rect">
            <a:avLst/>
          </a:prstGeom>
        </p:spPr>
      </p:pic>
      <p:sp>
        <p:nvSpPr>
          <p:cNvPr id="12" name="caption"/>
          <p:cNvSpPr txBox="1"/>
          <p:nvPr/>
        </p:nvSpPr>
        <p:spPr>
          <a:xfrm>
            <a:off x="6990113" y="6062472"/>
            <a:ext cx="465294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Printed PETG station shells; slicing the plate for the K1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spool took three prints to fit the shaft and carry the torque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364328" cy="4736592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v1: longer than the motor shaft could engage, so it was shortened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v2: the Ø5.2 bore printed too tight on the 5 mm shaft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v3: bore opened to Ø5.45 with a D-flat; the set screw on the flat carries the torque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Ø15 core and 16 mm drum: 20 ft of line in 5 layers with 8 mm of flange margin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Next: a fit coupon before every new interface, measured with calipers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324448" y="1463040"/>
            <a:ext cx="1681429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6" name="Spool v1, v2, v3" descr="Spool v1, v2, v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79312" y="2933089"/>
            <a:ext cx="1571701" cy="158618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143037" y="1463040"/>
            <a:ext cx="1681429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8" name="Spool v1, v2, v3" descr="Spool v1, v2, v3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7901" y="2989477"/>
            <a:ext cx="1571701" cy="1473405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9961626" y="1463040"/>
            <a:ext cx="1681429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10" name="Spool v1, v2, v3" descr="Spool v1, v2, v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16490" y="2933646"/>
            <a:ext cx="1571701" cy="1585068"/>
          </a:xfrm>
          <a:prstGeom prst="rect">
            <a:avLst/>
          </a:prstGeom>
        </p:spPr>
      </p:pic>
      <p:sp>
        <p:nvSpPr>
          <p:cNvPr id="11" name="caption"/>
          <p:cNvSpPr txBox="1"/>
          <p:nvPr/>
        </p:nvSpPr>
        <p:spPr>
          <a:xfrm>
            <a:off x="6324448" y="6062472"/>
            <a:ext cx="531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Spool v1, v2, v3 (CAD)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fin was sheared and drilled in one mill setup to hold ±0.1 mm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364328" cy="4736592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Shop drawing first: a 1:1 US Letter print with a hole template and inch dimensions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Sheared the blank from 0.019 in aluminium sheet: 44 × 250 mm (±0.5)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 mill, one setup: all five holes located from the bottom and left edges</a:t>
            </a:r>
            <a:endParaRPr lang="en-US" sz="18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7/8 in pilot for the motor boss and 4 × Ø3.4 on the 31 mm motor square, ±0.1 mm to each other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Deburred, then matte black paint except the motor contact square; thermal paste there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fit on the NEMA 17: boss centred, all four screws lined up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324448" y="1463040"/>
            <a:ext cx="2604440" cy="216255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6" name="Fin manufacturing photos" descr="Fin manufacturing phot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79312" y="1608801"/>
            <a:ext cx="2494712" cy="1871034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9038615" y="1463040"/>
            <a:ext cx="2604440" cy="216255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8" name="Fin manufacturing photos" descr="Fin manufacturing photo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71025" y="1517904"/>
            <a:ext cx="1539621" cy="2052828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6324448" y="3735324"/>
            <a:ext cx="2604440" cy="216255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10" name="Fin manufacturing photos" descr="Fin manufacturing photo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6857" y="3790188"/>
            <a:ext cx="1539621" cy="2052828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9038615" y="3735324"/>
            <a:ext cx="2604440" cy="216255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12" name="Fin manufacturing photos" descr="Fin manufacturing photo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71025" y="3790188"/>
            <a:ext cx="1539621" cy="2052828"/>
          </a:xfrm>
          <a:prstGeom prst="rect">
            <a:avLst/>
          </a:prstGeom>
        </p:spPr>
      </p:pic>
      <p:sp>
        <p:nvSpPr>
          <p:cNvPr id="13" name="caption"/>
          <p:cNvSpPr txBox="1"/>
          <p:nvPr/>
        </p:nvSpPr>
        <p:spPr>
          <a:xfrm>
            <a:off x="6324448" y="5971032"/>
            <a:ext cx="531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Shear and blanks, mill setup with the drawing, drilling, the finished fin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011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8FA6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0632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Electronics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9776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9DE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station board and a bring-up lesson</a:t>
            </a:r>
            <a:endParaRPr lang="en-US" sz="2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station board boots safe, and its schematic matches it net for net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4476774" cy="4736592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driver boots disabled (EN pull-up): a reset never steps the motor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USB and the 5 V buck cannot back-feed each other: a link jumper plus a Schottky diode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µF at the driver's motor supply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Connectors for the motor, homing switch, encoder and 12 V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KiCad schematic is generated from the soldered board's net list, so the two cannot disagree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36894" y="1463040"/>
            <a:ext cx="3034500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6" name="Station schematic and the soldered board" descr="Station schematic and the soldered 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91758" y="2691898"/>
            <a:ext cx="2924772" cy="2068565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608555" y="1463040"/>
            <a:ext cx="3034500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8" name="Station schematic and the soldered board" descr="Station schematic and the soldered boa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63419" y="1776332"/>
            <a:ext cx="2924772" cy="3899697"/>
          </a:xfrm>
          <a:prstGeom prst="rect">
            <a:avLst/>
          </a:prstGeom>
        </p:spPr>
      </p:pic>
      <p:sp>
        <p:nvSpPr>
          <p:cNvPr id="9" name="caption"/>
          <p:cNvSpPr txBox="1"/>
          <p:nvPr/>
        </p:nvSpPr>
        <p:spPr>
          <a:xfrm>
            <a:off x="5436894" y="6062472"/>
            <a:ext cx="620616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KiCad schematic (left), checked net by net against the soldered perfboard (right)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1.14 V logic rail, not the code, kept the first motor still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586216" cy="4736592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log said it was stepping; the shaft did not turn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meter said the logic rail was 1.14 V instead of 3.3 V: a bad connection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the fix it moved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Since then: a meter checklist before any code</a:t>
            </a:r>
            <a:endParaRPr lang="en-US" sz="18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VDD, SLEEP, ENABLE and the buck output, every new board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546336" y="1463040"/>
            <a:ext cx="2479780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6" name="Bench wiring and bring-up" descr="Bench wiring and bring-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01200" y="2146146"/>
            <a:ext cx="2370052" cy="3160069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9163276" y="1463040"/>
            <a:ext cx="2479780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8" name="Bench wiring and bring-up" descr="Bench wiring and bring-u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18140" y="2146146"/>
            <a:ext cx="2370052" cy="3160069"/>
          </a:xfrm>
          <a:prstGeom prst="rect">
            <a:avLst/>
          </a:prstGeom>
        </p:spPr>
      </p:pic>
      <p:sp>
        <p:nvSpPr>
          <p:cNvPr id="9" name="caption"/>
          <p:cNvSpPr txBox="1"/>
          <p:nvPr/>
        </p:nvSpPr>
        <p:spPr>
          <a:xfrm>
            <a:off x="6546336" y="6062472"/>
            <a:ext cx="50967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 wiring and bring-up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011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8FA6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0632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 logic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9776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9DE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the first simulator loop to the logic that runs the robot</a:t>
            </a:r>
            <a:endParaRPr lang="en-US" sz="2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first logic trusted its model; the final logic measures, then checks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4032998" cy="4736592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 1 was written against a simulator: the claw was wherever the cables were told to put it</a:t>
            </a:r>
            <a:endParaRPr lang="en-US" sz="17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hardware breaks that: lines stretch, pulleys stick, a stepper can skip, anchors are never where the tape says</a:t>
            </a:r>
            <a:endParaRPr lang="en-US" sz="17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the final logic measures before it trusts and checks after it acts</a:t>
            </a:r>
            <a:endParaRPr lang="en-US" sz="17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row on the right came from a problem earlier in this talk: wiring, homing, the camera</a:t>
            </a:r>
            <a:endParaRPr lang="en-US" sz="17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Kept from gen 1: the cable maths, the state-machine idea, the YOLO-World detector</a:t>
            </a:r>
            <a:endParaRPr lang="en-US" sz="1700" dirty="0"/>
          </a:p>
        </p:txBody>
      </p:sp>
      <p:graphicFrame>
        <p:nvGraphicFramePr>
          <p:cNvPr id="39" name="gen-1 vs final logic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93118" y="1508760"/>
          <a:ext cx="6649937" cy="914400"/>
        </p:xfrm>
        <a:graphic>
          <a:graphicData uri="http://schemas.openxmlformats.org/drawingml/2006/table">
            <a:tbl>
              <a:tblPr/>
              <a:tblGrid>
                <a:gridCol w="1462986"/>
                <a:gridCol w="2393977"/>
                <a:gridCol w="2792974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First logic (gen 1)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Final logic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Where is the claw?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040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Assumed: where the cables were told to put it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Measured: claw camera on the floor board, refit at every startup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Room geometry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040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Point mass; anchors from a tape measure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Rigid claw; anchors and cable lengths fitted, with error bars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Who runs the motors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040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central board steps all four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Each station runs time-stamped segments; the host coordinates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Finding laundry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040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Ceiling camera, pixel to floor map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Claw camera, ray from the claw's pose to the floor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Did the grab work?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040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Assumed once the claw closed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 checks pickup and delivery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Faults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040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E-stop only; no fault states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Supervisor: stop keeps torque, nothing restarts by itself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Where it may move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040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Anywhere the cables can hold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Only where the calibration earned trust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layers run the robot, and only the bottom one turns a motor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4698663" cy="333756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layer talks only to the layers next to it</a:t>
            </a:r>
            <a:endParaRPr lang="en-US" sz="17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phone never moves a motor: it asks the supervisor</a:t>
            </a:r>
            <a:endParaRPr lang="en-US" sz="17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supervisor holds the one robot state and refuses commands that do not fit it</a:t>
            </a:r>
            <a:endParaRPr lang="en-US" sz="17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Startup and tasks decide what to do; the planner checks whether it is safe to do it</a:t>
            </a:r>
            <a:endParaRPr lang="en-US" sz="17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Stations run the motion on their own clocks and stop together if the host goes quiet</a:t>
            </a:r>
            <a:endParaRPr lang="en-US" sz="17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claw obeys: it grips only when the host approves</a:t>
            </a:r>
            <a:endParaRPr lang="en-US" sz="1700" dirty="0"/>
          </a:p>
        </p:txBody>
      </p:sp>
      <p:sp>
        <p:nvSpPr>
          <p:cNvPr id="5" name="equation box"/>
          <p:cNvSpPr/>
          <p:nvPr/>
        </p:nvSpPr>
        <p:spPr>
          <a:xfrm>
            <a:off x="548640" y="5001768"/>
            <a:ext cx="4698663" cy="1261872"/>
          </a:xfrm>
          <a:prstGeom prst="rect">
            <a:avLst/>
          </a:prstGeom>
          <a:solidFill>
            <a:srgbClr val="F2F2F2"/>
          </a:solidFill>
          <a:ln w="6350">
            <a:solidFill>
              <a:srgbClr val="F2F2F2"/>
            </a:solidFill>
            <a:prstDash val="solid"/>
          </a:ln>
        </p:spPr>
      </p:sp>
      <p:sp>
        <p:nvSpPr>
          <p:cNvPr id="6" name="equation label"/>
          <p:cNvSpPr txBox="1"/>
          <p:nvPr/>
        </p:nvSpPr>
        <p:spPr>
          <a:xfrm>
            <a:off x="713232" y="5084064"/>
            <a:ext cx="4369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equations</a:t>
            </a:r>
            <a:endParaRPr lang="en-US" sz="1100" dirty="0"/>
          </a:p>
        </p:txBody>
      </p:sp>
      <p:sp>
        <p:nvSpPr>
          <p:cNvPr id="7" name="equations"/>
          <p:cNvSpPr txBox="1"/>
          <p:nvPr/>
        </p:nvSpPr>
        <p:spPr>
          <a:xfrm>
            <a:off x="713232" y="5330952"/>
            <a:ext cx="436947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path point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:  L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‖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−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‖,   T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≤ T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≤ T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max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host message for t &gt; t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lease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coordinated hold</a:t>
            </a:r>
            <a:endParaRPr lang="en-US" sz="1500" dirty="0"/>
          </a:p>
        </p:txBody>
      </p:sp>
      <p:sp>
        <p:nvSpPr>
          <p:cNvPr id="8" name="equation source"/>
          <p:cNvSpPr txBox="1"/>
          <p:nvPr/>
        </p:nvSpPr>
        <p:spPr>
          <a:xfrm>
            <a:off x="713232" y="5961888"/>
            <a:ext cx="4369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Tension includes the claw, the 0.9 kg payload and 2 m/s²; lease 0.3 s in simulation</a:t>
            </a:r>
            <a:endParaRPr lang="en-US" sz="1050" dirty="0"/>
          </a:p>
        </p:txBody>
      </p:sp>
      <p:sp>
        <p:nvSpPr>
          <p:cNvPr id="9" name="layer 1"/>
          <p:cNvSpPr/>
          <p:nvPr/>
        </p:nvSpPr>
        <p:spPr>
          <a:xfrm>
            <a:off x="5658783" y="1463040"/>
            <a:ext cx="3972593" cy="716890"/>
          </a:xfrm>
          <a:prstGeom prst="rect">
            <a:avLst/>
          </a:prstGeom>
          <a:solidFill>
            <a:srgbClr val="FFFFFF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795943" y="1463040"/>
            <a:ext cx="3698273" cy="7168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Phone app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Start, PAUSE, and a “yes” before every move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645079" y="2198218"/>
            <a:ext cx="0" cy="164592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2" name="layer 2"/>
          <p:cNvSpPr/>
          <p:nvPr/>
        </p:nvSpPr>
        <p:spPr>
          <a:xfrm>
            <a:off x="5658783" y="2381098"/>
            <a:ext cx="3972593" cy="716890"/>
          </a:xfrm>
          <a:prstGeom prst="rect">
            <a:avLst/>
          </a:prstGeom>
          <a:solidFill>
            <a:srgbClr val="F2F2F4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795943" y="2381098"/>
            <a:ext cx="3698273" cy="7168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Supervisor  ·  host PC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robot state; refuses commands that do not fit it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645079" y="3116275"/>
            <a:ext cx="0" cy="164592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5" name="layer 3"/>
          <p:cNvSpPr/>
          <p:nvPr/>
        </p:nvSpPr>
        <p:spPr>
          <a:xfrm>
            <a:off x="5658783" y="3299155"/>
            <a:ext cx="3972593" cy="716890"/>
          </a:xfrm>
          <a:prstGeom prst="rect">
            <a:avLst/>
          </a:prstGeom>
          <a:solidFill>
            <a:srgbClr val="F2F2F4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795943" y="3299155"/>
            <a:ext cx="3698273" cy="7168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Startup and tasks  ·  host PC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Calibrate; then scan, grip, check, deliver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645079" y="4034333"/>
            <a:ext cx="0" cy="164592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8" name="layer 4"/>
          <p:cNvSpPr/>
          <p:nvPr/>
        </p:nvSpPr>
        <p:spPr>
          <a:xfrm>
            <a:off x="5658783" y="4217213"/>
            <a:ext cx="3972593" cy="716890"/>
          </a:xfrm>
          <a:prstGeom prst="rect">
            <a:avLst/>
          </a:prstGeom>
          <a:solidFill>
            <a:srgbClr val="F2F2F4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795943" y="4217213"/>
            <a:ext cx="3698273" cy="7168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Planner and coordinator  ·  host PC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Checks every path point, then streams time-stamped segments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7645079" y="4952390"/>
            <a:ext cx="0" cy="164592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1" name="layer 5"/>
          <p:cNvSpPr/>
          <p:nvPr/>
        </p:nvSpPr>
        <p:spPr>
          <a:xfrm>
            <a:off x="5658783" y="5135270"/>
            <a:ext cx="3972593" cy="716890"/>
          </a:xfrm>
          <a:prstGeom prst="rect">
            <a:avLst/>
          </a:prstGeom>
          <a:solidFill>
            <a:srgbClr val="FFFFFF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795943" y="5135270"/>
            <a:ext cx="3698273" cy="7168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Stations × 4  ·  a controller in each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the motor, watch the encoder, hold if the link drops</a:t>
            </a:r>
            <a:endParaRPr lang="en-US" sz="1400" dirty="0"/>
          </a:p>
        </p:txBody>
      </p:sp>
      <p:sp>
        <p:nvSpPr>
          <p:cNvPr id="23" name="claw"/>
          <p:cNvSpPr/>
          <p:nvPr/>
        </p:nvSpPr>
        <p:spPr>
          <a:xfrm>
            <a:off x="10042855" y="3207715"/>
            <a:ext cx="1600200" cy="899770"/>
          </a:xfrm>
          <a:prstGeom prst="rect">
            <a:avLst/>
          </a:prstGeom>
          <a:solidFill>
            <a:srgbClr val="FFFFFF"/>
          </a:solidFill>
          <a:ln w="15875">
            <a:solidFill>
              <a:srgbClr val="1F3A5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0134295" y="3207715"/>
            <a:ext cx="1417320" cy="899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Claw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sends frames; grips only when approved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9667951" y="3657600"/>
            <a:ext cx="338328" cy="0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  <a:headEnd type="triangle"/>
            <a:tailEnd type="triangle"/>
          </a:ln>
        </p:spPr>
      </p:sp>
      <p:sp>
        <p:nvSpPr>
          <p:cNvPr id="26" name="layer note"/>
          <p:cNvSpPr txBox="1"/>
          <p:nvPr/>
        </p:nvSpPr>
        <p:spPr>
          <a:xfrm>
            <a:off x="5658783" y="5943600"/>
            <a:ext cx="598427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Commands flow down; status and camera frames flow back up.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run: start up and calibrate, then pick, check and deliver each item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stage 1"/>
          <p:cNvSpPr/>
          <p:nvPr/>
        </p:nvSpPr>
        <p:spPr>
          <a:xfrm>
            <a:off x="548640" y="1481328"/>
            <a:ext cx="2554148" cy="45720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5" name="label"/>
          <p:cNvSpPr txBox="1"/>
          <p:nvPr/>
        </p:nvSpPr>
        <p:spPr>
          <a:xfrm>
            <a:off x="658368" y="1481328"/>
            <a:ext cx="23346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Start up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1938528"/>
            <a:ext cx="2554148" cy="2313432"/>
          </a:xfrm>
          <a:prstGeom prst="rect">
            <a:avLst/>
          </a:prstGeom>
          <a:solidFill>
            <a:srgbClr val="FFFFF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7" name="stage 1 steps"/>
          <p:cNvSpPr txBox="1"/>
          <p:nvPr/>
        </p:nvSpPr>
        <p:spPr>
          <a:xfrm>
            <a:off x="621792" y="2029968"/>
            <a:ext cx="24078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Self-check: stations, claw, camera</a:t>
            </a:r>
            <a:endParaRPr lang="en-US" sz="14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 up slack, one cable at a time</a:t>
            </a:r>
            <a:endParaRPr lang="en-US" sz="14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Lift a few centimetres</a:t>
            </a:r>
            <a:endParaRPr lang="en-US" sz="14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Calibrate from floor-board poses</a:t>
            </a:r>
            <a:endParaRPr lang="en-US" sz="14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the trust level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139364" y="1709928"/>
            <a:ext cx="219456" cy="0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9" name="stage 2"/>
          <p:cNvSpPr/>
          <p:nvPr/>
        </p:nvSpPr>
        <p:spPr>
          <a:xfrm>
            <a:off x="3395396" y="1481328"/>
            <a:ext cx="2554148" cy="45720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10" name="label"/>
          <p:cNvSpPr txBox="1"/>
          <p:nvPr/>
        </p:nvSpPr>
        <p:spPr>
          <a:xfrm>
            <a:off x="3505124" y="1481328"/>
            <a:ext cx="23346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Find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395396" y="1938528"/>
            <a:ext cx="2554148" cy="2313432"/>
          </a:xfrm>
          <a:prstGeom prst="rect">
            <a:avLst/>
          </a:prstGeom>
          <a:solidFill>
            <a:srgbClr val="FFFFF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12" name="stage 2 steps"/>
          <p:cNvSpPr txBox="1"/>
          <p:nvPr/>
        </p:nvSpPr>
        <p:spPr>
          <a:xfrm>
            <a:off x="3468548" y="2029968"/>
            <a:ext cx="24078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Rise to scan height</a:t>
            </a:r>
            <a:endParaRPr lang="en-US" sz="14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Claw camera and detector list the items</a:t>
            </a:r>
            <a:endParaRPr lang="en-US" sz="14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 each item to the floor</a:t>
            </a:r>
            <a:endParaRPr lang="en-US" sz="14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the nearest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986120" y="1709928"/>
            <a:ext cx="219456" cy="0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4" name="stage 3"/>
          <p:cNvSpPr/>
          <p:nvPr/>
        </p:nvSpPr>
        <p:spPr>
          <a:xfrm>
            <a:off x="6242152" y="1481328"/>
            <a:ext cx="2554148" cy="45720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15" name="label"/>
          <p:cNvSpPr txBox="1"/>
          <p:nvPr/>
        </p:nvSpPr>
        <p:spPr>
          <a:xfrm>
            <a:off x="6351880" y="1481328"/>
            <a:ext cx="23346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 Pick and deliver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242152" y="1938528"/>
            <a:ext cx="2554148" cy="2313432"/>
          </a:xfrm>
          <a:prstGeom prst="rect">
            <a:avLst/>
          </a:prstGeom>
          <a:solidFill>
            <a:srgbClr val="FFFFF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17" name="stage 3 steps"/>
          <p:cNvSpPr txBox="1"/>
          <p:nvPr/>
        </p:nvSpPr>
        <p:spPr>
          <a:xfrm>
            <a:off x="6315304" y="2029968"/>
            <a:ext cx="24078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Hover; wait until the claw is still</a:t>
            </a:r>
            <a:endParaRPr lang="en-US" sz="14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Descend straight down, close</a:t>
            </a:r>
            <a:endParaRPr lang="en-US" sz="14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Lift: camera checks it is held</a:t>
            </a:r>
            <a:endParaRPr lang="en-US" sz="14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Fly to the hamper, release</a:t>
            </a:r>
            <a:endParaRPr lang="en-US" sz="14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checks it is in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8832875" y="1709928"/>
            <a:ext cx="219456" cy="0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9" name="stage 4"/>
          <p:cNvSpPr/>
          <p:nvPr/>
        </p:nvSpPr>
        <p:spPr>
          <a:xfrm>
            <a:off x="9088907" y="1481328"/>
            <a:ext cx="2554148" cy="45720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20" name="label"/>
          <p:cNvSpPr txBox="1"/>
          <p:nvPr/>
        </p:nvSpPr>
        <p:spPr>
          <a:xfrm>
            <a:off x="9198635" y="1481328"/>
            <a:ext cx="23346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 Put away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9088907" y="1938528"/>
            <a:ext cx="2554148" cy="2313432"/>
          </a:xfrm>
          <a:prstGeom prst="rect">
            <a:avLst/>
          </a:prstGeom>
          <a:solidFill>
            <a:srgbClr val="FFFFF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22" name="stage 4 steps"/>
          <p:cNvSpPr txBox="1"/>
          <p:nvPr/>
        </p:nvSpPr>
        <p:spPr>
          <a:xfrm>
            <a:off x="9162059" y="2029968"/>
            <a:ext cx="24078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Lower over the floor board</a:t>
            </a:r>
            <a:endParaRPr lang="en-US" sz="14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confirms the floor</a:t>
            </a:r>
            <a:endParaRPr lang="en-US" sz="14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Disarm only after a typed confirm and a fresh floor check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7519226" y="4251960"/>
            <a:ext cx="0" cy="256032"/>
          </a:xfrm>
          <a:prstGeom prst="line">
            <a:avLst/>
          </a:prstGeom>
          <a:noFill/>
          <a:ln w="19050">
            <a:solidFill>
              <a:srgbClr val="4F6D8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H="1">
            <a:off x="4672470" y="4507992"/>
            <a:ext cx="2846756" cy="0"/>
          </a:xfrm>
          <a:prstGeom prst="line">
            <a:avLst/>
          </a:prstGeom>
          <a:noFill/>
          <a:ln w="19050">
            <a:solidFill>
              <a:srgbClr val="4F6D8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4672470" y="4270248"/>
            <a:ext cx="0" cy="237744"/>
          </a:xfrm>
          <a:prstGeom prst="line">
            <a:avLst/>
          </a:prstGeom>
          <a:noFill/>
          <a:ln w="19050">
            <a:solidFill>
              <a:srgbClr val="4F6D8F"/>
            </a:solidFill>
            <a:prstDash val="solid"/>
            <a:tailEnd type="triangle"/>
          </a:ln>
        </p:spPr>
      </p:sp>
      <p:sp>
        <p:nvSpPr>
          <p:cNvPr id="26" name="label"/>
          <p:cNvSpPr txBox="1"/>
          <p:nvPr/>
        </p:nvSpPr>
        <p:spPr>
          <a:xfrm>
            <a:off x="3395396" y="4526280"/>
            <a:ext cx="5400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F6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item; 3 failures in a row → pause for the operator</a:t>
            </a:r>
            <a:endParaRPr lang="en-US" sz="1150" dirty="0"/>
          </a:p>
        </p:txBody>
      </p:sp>
      <p:sp>
        <p:nvSpPr>
          <p:cNvPr id="27" name="stop rule"/>
          <p:cNvSpPr/>
          <p:nvPr/>
        </p:nvSpPr>
        <p:spPr>
          <a:xfrm>
            <a:off x="548640" y="4846320"/>
            <a:ext cx="11094415" cy="548640"/>
          </a:xfrm>
          <a:prstGeom prst="rect">
            <a:avLst/>
          </a:prstGeom>
          <a:solidFill>
            <a:srgbClr val="FFFFFF"/>
          </a:solidFill>
          <a:ln w="19050">
            <a:solidFill>
              <a:srgbClr val="B23A2E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85800" y="4846320"/>
            <a:ext cx="108200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3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any point:  </a:t>
            </a:r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 or a fault stops every station on the same point of the path, still holding. Nothing restarts by itself; the operator lowers or recovers.</a:t>
            </a:r>
            <a:endParaRPr lang="en-US" sz="1300" dirty="0"/>
          </a:p>
        </p:txBody>
      </p:sp>
      <p:sp>
        <p:nvSpPr>
          <p:cNvPr id="29" name="bullets"/>
          <p:cNvSpPr txBox="1"/>
          <p:nvPr/>
        </p:nvSpPr>
        <p:spPr>
          <a:xfrm>
            <a:off x="548640" y="5486400"/>
            <a:ext cx="11094415" cy="82296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step has a limit and a check; a check that fails stops the run instead of guessing</a:t>
            </a:r>
            <a:endParaRPr lang="en-US" sz="16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servo command proves nothing: the camera confirms both the pickup and the delivery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phone is the operator's only control, and every move asks first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142439" cy="4736592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Phone app over home Wi-Fi: robot status, live claw camera, guided setup, chat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Anything that moves the robot asks “yes” first; PAUSE runs at once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 holds position; the switched power strip is the one hard stop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reboot never resumes a task: the operator starts again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Tested in a full simulator of the stations and the claw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102559" y="1463040"/>
            <a:ext cx="1755392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6" name="Phone app screens" descr="Phone app screen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57423" y="1945487"/>
            <a:ext cx="1645664" cy="356138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995111" y="1463040"/>
            <a:ext cx="1755392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8" name="Phone app screens" descr="Phone app screen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9975" y="1945487"/>
            <a:ext cx="1645664" cy="3561386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9887663" y="1463040"/>
            <a:ext cx="1755392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10" name="Phone app screens" descr="Phone app screen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42527" y="1945487"/>
            <a:ext cx="1645664" cy="3561386"/>
          </a:xfrm>
          <a:prstGeom prst="rect">
            <a:avLst/>
          </a:prstGeom>
        </p:spPr>
      </p:pic>
      <p:sp>
        <p:nvSpPr>
          <p:cNvPr id="11" name="caption"/>
          <p:cNvSpPr txBox="1"/>
          <p:nvPr/>
        </p:nvSpPr>
        <p:spPr>
          <a:xfrm>
            <a:off x="6102559" y="6062472"/>
            <a:ext cx="5540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Phone app: home, camera, chat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plans around known obstacles but cannot yet detect new ones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364328" cy="333756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Known obstacles (shelf, lamp, ceiling fan) are entered as keep-out cylinders</a:t>
            </a:r>
            <a:endParaRPr lang="en-US" sz="16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any motion, every path point is checked: each cable line against each cylinder</a:t>
            </a:r>
            <a:endParaRPr lang="en-US" sz="16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plus walls 0.2 m, pulleys 0.4 m, task height 1.6 m, cable tension</a:t>
            </a:r>
            <a:endParaRPr lang="en-US" sz="16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path that fails is refused before the robot moves; it is not re-routed yet</a:t>
            </a:r>
            <a:endParaRPr lang="en-US" sz="16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While moving it detects a jammed or stalled cable (encoder) and a failed grip (camera)</a:t>
            </a:r>
            <a:endParaRPr lang="en-US" sz="16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cannot yet see a person, a pet or a moved chair: the camera looks down and has no depth</a:t>
            </a:r>
            <a:endParaRPr lang="en-US" sz="16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so: nobody under the robot, PAUSE, and the power strip</a:t>
            </a:r>
            <a:endParaRPr lang="en-US" sz="1600" dirty="0"/>
          </a:p>
        </p:txBody>
      </p:sp>
      <p:sp>
        <p:nvSpPr>
          <p:cNvPr id="5" name="equation box"/>
          <p:cNvSpPr/>
          <p:nvPr/>
        </p:nvSpPr>
        <p:spPr>
          <a:xfrm>
            <a:off x="548640" y="5001768"/>
            <a:ext cx="5364328" cy="1261872"/>
          </a:xfrm>
          <a:prstGeom prst="rect">
            <a:avLst/>
          </a:prstGeom>
          <a:solidFill>
            <a:srgbClr val="F2F2F2"/>
          </a:solidFill>
          <a:ln w="6350">
            <a:solidFill>
              <a:srgbClr val="F2F2F2"/>
            </a:solidFill>
            <a:prstDash val="solid"/>
          </a:ln>
        </p:spPr>
      </p:sp>
      <p:sp>
        <p:nvSpPr>
          <p:cNvPr id="6" name="equation label"/>
          <p:cNvSpPr txBox="1"/>
          <p:nvPr/>
        </p:nvSpPr>
        <p:spPr>
          <a:xfrm>
            <a:off x="713232" y="5084064"/>
            <a:ext cx="5035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equations</a:t>
            </a:r>
            <a:endParaRPr lang="en-US" sz="1100" dirty="0"/>
          </a:p>
        </p:txBody>
      </p:sp>
      <p:sp>
        <p:nvSpPr>
          <p:cNvPr id="7" name="equations"/>
          <p:cNvSpPr txBox="1"/>
          <p:nvPr/>
        </p:nvSpPr>
        <p:spPr>
          <a:xfrm>
            <a:off x="713232" y="5330952"/>
            <a:ext cx="5035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Cable i: 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(s) =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+ s (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− </a:t>
            </a:r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),   0 ≤ s ≤ 1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Hit if  z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≤ q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≤ z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high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and  (q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− x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)² + (q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− y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)² ≤ r²</a:t>
            </a:r>
            <a:endParaRPr lang="en-US" sz="1500" dirty="0"/>
          </a:p>
        </p:txBody>
      </p:sp>
      <p:sp>
        <p:nvSpPr>
          <p:cNvPr id="8" name="equation source"/>
          <p:cNvSpPr txBox="1"/>
          <p:nvPr/>
        </p:nvSpPr>
        <p:spPr>
          <a:xfrm>
            <a:off x="713232" y="5961888"/>
            <a:ext cx="5035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a: pulley exit;  b: the cable's hole on the claw;  checked at points along each cable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415888" y="4958647"/>
            <a:ext cx="5135728" cy="0"/>
          </a:xfrm>
          <a:prstGeom prst="line">
            <a:avLst/>
          </a:prstGeom>
          <a:noFill/>
          <a:ln w="15875">
            <a:solidFill>
              <a:srgbClr val="00000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15888" y="1600200"/>
            <a:ext cx="513572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11" name="label"/>
          <p:cNvSpPr txBox="1"/>
          <p:nvPr/>
        </p:nvSpPr>
        <p:spPr>
          <a:xfrm>
            <a:off x="11002975" y="4986079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floor</a:t>
            </a:r>
            <a:endParaRPr lang="en-US" sz="1000" dirty="0"/>
          </a:p>
        </p:txBody>
      </p:sp>
      <p:sp>
        <p:nvSpPr>
          <p:cNvPr id="12" name="label"/>
          <p:cNvSpPr txBox="1"/>
          <p:nvPr/>
        </p:nvSpPr>
        <p:spPr>
          <a:xfrm>
            <a:off x="8617991" y="137160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ceiling</a:t>
            </a:r>
            <a:endParaRPr lang="en-US" sz="1000" dirty="0"/>
          </a:p>
        </p:txBody>
      </p:sp>
      <p:sp>
        <p:nvSpPr>
          <p:cNvPr id="13" name="keep-out cylinder (shelf)"/>
          <p:cNvSpPr/>
          <p:nvPr/>
        </p:nvSpPr>
        <p:spPr>
          <a:xfrm>
            <a:off x="7396456" y="2629797"/>
            <a:ext cx="490284" cy="2328850"/>
          </a:xfrm>
          <a:prstGeom prst="rect">
            <a:avLst/>
          </a:prstGeom>
          <a:solidFill>
            <a:srgbClr val="D9DEE5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14" name="label"/>
          <p:cNvSpPr txBox="1"/>
          <p:nvPr/>
        </p:nvSpPr>
        <p:spPr>
          <a:xfrm>
            <a:off x="6390616" y="3487794"/>
            <a:ext cx="9509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keep-out</a:t>
            </a:r>
            <a:endParaRPr lang="en-US" sz="1100" dirty="0"/>
          </a:p>
          <a:p>
            <a:pPr algn="r" indent="0" marL="0">
              <a:buNone/>
            </a:pPr>
            <a:r>
              <a:rPr lang="en-US" sz="11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cylinder:</a:t>
            </a:r>
            <a:endParaRPr lang="en-US" sz="1100" dirty="0"/>
          </a:p>
          <a:p>
            <a:pPr algn="r" indent="0" marL="0">
              <a:buNone/>
            </a:pPr>
            <a:r>
              <a:rPr lang="en-US" sz="11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shelf, 0–1.9 m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15888" y="1784057"/>
            <a:ext cx="2573992" cy="1336025"/>
          </a:xfrm>
          <a:prstGeom prst="line">
            <a:avLst/>
          </a:prstGeom>
          <a:noFill/>
          <a:ln w="25400">
            <a:solidFill>
              <a:srgbClr val="1F3A5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H="1">
            <a:off x="8989880" y="1784057"/>
            <a:ext cx="2561735" cy="1336025"/>
          </a:xfrm>
          <a:prstGeom prst="line">
            <a:avLst/>
          </a:prstGeom>
          <a:noFill/>
          <a:ln w="25400">
            <a:solidFill>
              <a:srgbClr val="1F3A5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15888" y="1784057"/>
            <a:ext cx="2573992" cy="2194022"/>
          </a:xfrm>
          <a:prstGeom prst="line">
            <a:avLst/>
          </a:prstGeom>
          <a:noFill/>
          <a:ln w="25400">
            <a:solidFill>
              <a:srgbClr val="B23A2E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 flipH="1">
            <a:off x="8989880" y="1784057"/>
            <a:ext cx="2561735" cy="2194022"/>
          </a:xfrm>
          <a:prstGeom prst="line">
            <a:avLst/>
          </a:prstGeom>
          <a:noFill/>
          <a:ln w="25400">
            <a:solidFill>
              <a:srgbClr val="B23A2E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6351880" y="1720049"/>
            <a:ext cx="128016" cy="128016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0" name="label"/>
          <p:cNvSpPr txBox="1"/>
          <p:nvPr/>
        </p:nvSpPr>
        <p:spPr>
          <a:xfrm>
            <a:off x="6370168" y="1325880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anchor A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1487607" y="1720049"/>
            <a:ext cx="128016" cy="128016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2" name="label"/>
          <p:cNvSpPr txBox="1"/>
          <p:nvPr/>
        </p:nvSpPr>
        <p:spPr>
          <a:xfrm>
            <a:off x="10637215" y="1325880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anchor C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907584" y="3037785"/>
            <a:ext cx="164592" cy="164592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24" name="label"/>
          <p:cNvSpPr txBox="1"/>
          <p:nvPr/>
        </p:nvSpPr>
        <p:spPr>
          <a:xfrm>
            <a:off x="8304080" y="3238953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 m: clear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907584" y="3895783"/>
            <a:ext cx="164592" cy="164592"/>
          </a:xfrm>
          <a:prstGeom prst="rect">
            <a:avLst/>
          </a:prstGeom>
          <a:solidFill>
            <a:srgbClr val="B23A2E"/>
          </a:solidFill>
          <a:ln w="12700">
            <a:solidFill>
              <a:srgbClr val="B23A2E"/>
            </a:solidFill>
            <a:prstDash val="solid"/>
          </a:ln>
        </p:spPr>
      </p:sp>
      <p:sp>
        <p:nvSpPr>
          <p:cNvPr id="26" name="label"/>
          <p:cNvSpPr txBox="1"/>
          <p:nvPr/>
        </p:nvSpPr>
        <p:spPr>
          <a:xfrm>
            <a:off x="7984040" y="4096951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23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 m: refused,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B23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cable A crosses the shelf</a:t>
            </a:r>
            <a:endParaRPr lang="en-US" sz="1200" dirty="0"/>
          </a:p>
        </p:txBody>
      </p:sp>
      <p:sp>
        <p:nvSpPr>
          <p:cNvPr id="27" name="caption"/>
          <p:cNvSpPr txBox="1"/>
          <p:nvPr/>
        </p:nvSpPr>
        <p:spPr>
          <a:xfrm>
            <a:off x="6324448" y="5760720"/>
            <a:ext cx="531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Side view along the A–C diagonal; same floor spot (room centre), two heights. Example obstacle, checked with the planner's own test.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011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8FA6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0632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and next steps</a:t>
            </a:r>
            <a:endParaRPr lang="en-US" sz="40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test: self-calibration and a short move on the real hardware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586216" cy="4736592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Stations up in studs, powered from the switched power strip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Self-calibration on the real hardware: slack take-up, lift, floor-board poses, fit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a short lift and a 300 mm move at 50 mm/s with the 1 lb test load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Logged: cable lengths, encoder counts, motor temperatures and the fit's error bars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 limits written before the run</a:t>
            </a:r>
            <a:endParaRPr lang="en-US" sz="1800" dirty="0"/>
          </a:p>
        </p:txBody>
      </p:sp>
      <p:sp>
        <p:nvSpPr>
          <p:cNvPr id="5" name="first test photo placeholder"/>
          <p:cNvSpPr/>
          <p:nvPr/>
        </p:nvSpPr>
        <p:spPr>
          <a:xfrm>
            <a:off x="6546336" y="1463040"/>
            <a:ext cx="5096719" cy="4434840"/>
          </a:xfrm>
          <a:prstGeom prst="rect">
            <a:avLst/>
          </a:prstGeom>
          <a:solidFill>
            <a:srgbClr val="F2F2F2"/>
          </a:solidFill>
          <a:ln w="12700">
            <a:solidFill>
              <a:srgbClr val="7F7F7F"/>
            </a:solidFill>
            <a:prstDash val="dash"/>
          </a:ln>
        </p:spPr>
      </p:sp>
      <p:sp>
        <p:nvSpPr>
          <p:cNvPr id="6" name="placeholder text"/>
          <p:cNvSpPr txBox="1"/>
          <p:nvPr/>
        </p:nvSpPr>
        <p:spPr>
          <a:xfrm>
            <a:off x="6546336" y="3406140"/>
            <a:ext cx="509671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 / video from the first test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and simulated; the next tests turn estimates into measurements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586216" cy="4736592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Built: stations, station boards, heat fins, gripper parts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Designed and checked in CAD: the hands and the camera housing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Calibration and control: simulated, then the first test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tests, with pass limits written first:</a:t>
            </a:r>
            <a:endParaRPr lang="en-US" sz="18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winch pull test (decides the capacity fix)</a:t>
            </a:r>
            <a:endParaRPr lang="en-US" sz="18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90-min hold test: motor and printed mount under 60 °C</a:t>
            </a:r>
            <a:endParaRPr lang="en-US" sz="18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SolidWorks static and thermal studies of the station</a:t>
            </a:r>
            <a:endParaRPr lang="en-US" sz="18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four-station lift: 1 lb, 300 mm at 50 mm/s, within 2 mm per cable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546336" y="1463040"/>
            <a:ext cx="5096719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6" name="Heat fin on the motor" descr="Heat fin on the mot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38489" y="1517904"/>
            <a:ext cx="3312414" cy="4416552"/>
          </a:xfrm>
          <a:prstGeom prst="rect">
            <a:avLst/>
          </a:prstGeom>
        </p:spPr>
      </p:pic>
      <p:sp>
        <p:nvSpPr>
          <p:cNvPr id="7" name="caption"/>
          <p:cNvSpPr txBox="1"/>
          <p:nvPr/>
        </p:nvSpPr>
        <p:spPr>
          <a:xfrm>
            <a:off x="6546336" y="6062472"/>
            <a:ext cx="50967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Built: the heat fin test-fitted on the motor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 early, print test coupons first, and design for the worst case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586216" cy="4736592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 before trusting a margin: the driver limit and the 1.14 V rail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Print the test coupon before the part: the spool bore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Hold tolerance where it matters: one mill setup for the fin's holes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for the worst case: stall, the corner of the room, the hottest hour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Modularity paid for itself: every station can be pulled, fixed and put back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each requirement and delete parts: the IMU, the overhead camera, the five-finger hand, the long motor harnesses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546336" y="1463040"/>
            <a:ext cx="5096719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6" name="Final gripper head" descr="Final gripper hea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10751" y="1517904"/>
            <a:ext cx="2567890" cy="441655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56032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5661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9DE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Jasper Buntinx  ·  jasper_buntinx@tamu.edu</a:t>
            </a:r>
            <a:endParaRPr lang="en-US" sz="20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Backup: claw electrical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4476774" cy="4736592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protected 2S pack (7.4 V, 2200 mAh), 5 A fuse, main switch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V regulator for the servo only; separate 5 V buck and Schottky diode for the controller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Battery read through 200k / 100k: 8.4 V → 2.80 V at the ADC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Peak ≈ 2.8–3.1 A against a ≈ 3 A pack rating: stalls must stay short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Charged on the claw only with the switch off, attended, at ≤ 1 A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36894" y="1463040"/>
            <a:ext cx="6206161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6" name="Claw schematic" descr="Claw schematic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91758" y="1570308"/>
            <a:ext cx="6096433" cy="4311743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Backup: gear strength (Lewis)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5586216" cy="3886200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1.5, PETG allowable 22.5 MPa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6 V servo stall: pinion SF 2.05, 36T gear 2.50, sync gear 2.00 (one jaw carrying the load)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1 was screened first: SF 0.35–0.41, so the module went up</a:t>
            </a:r>
            <a:endParaRPr lang="en-US" sz="1800" dirty="0"/>
          </a:p>
        </p:txBody>
      </p:sp>
      <p:sp>
        <p:nvSpPr>
          <p:cNvPr id="5" name="equation box"/>
          <p:cNvSpPr/>
          <p:nvPr/>
        </p:nvSpPr>
        <p:spPr>
          <a:xfrm>
            <a:off x="548640" y="5550408"/>
            <a:ext cx="5586216" cy="713232"/>
          </a:xfrm>
          <a:prstGeom prst="rect">
            <a:avLst/>
          </a:prstGeom>
          <a:solidFill>
            <a:srgbClr val="F2F2F2"/>
          </a:solidFill>
          <a:ln w="6350">
            <a:solidFill>
              <a:srgbClr val="F2F2F2"/>
            </a:solidFill>
            <a:prstDash val="solid"/>
          </a:ln>
        </p:spPr>
      </p:sp>
      <p:sp>
        <p:nvSpPr>
          <p:cNvPr id="6" name="equation label"/>
          <p:cNvSpPr txBox="1"/>
          <p:nvPr/>
        </p:nvSpPr>
        <p:spPr>
          <a:xfrm>
            <a:off x="713232" y="5632704"/>
            <a:ext cx="5257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equations</a:t>
            </a:r>
            <a:endParaRPr lang="en-US" sz="1100" dirty="0"/>
          </a:p>
        </p:txBody>
      </p:sp>
      <p:sp>
        <p:nvSpPr>
          <p:cNvPr id="7" name="equations"/>
          <p:cNvSpPr txBox="1"/>
          <p:nvPr/>
        </p:nvSpPr>
        <p:spPr>
          <a:xfrm>
            <a:off x="713232" y="5879592"/>
            <a:ext cx="5257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σ = F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/ (b m Y),   F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2τ / d,   SF = σ</a:t>
            </a:r>
            <a:pPr algn="l" indent="0" marL="0">
              <a:spcAft>
                <a:spcPts val="400"/>
              </a:spcAft>
              <a:buNone/>
            </a:pPr>
            <a:r>
              <a:rPr lang="en-US" sz="1500" baseline="-400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allow</a:t>
            </a:r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/ σ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546336" y="1463040"/>
            <a:ext cx="2479780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9" name="Compound and follower gears" descr="Compound and follower gea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01200" y="2434134"/>
            <a:ext cx="2370052" cy="2584092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163276" y="1463040"/>
            <a:ext cx="2479780" cy="45262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pic>
        <p:nvPicPr>
          <p:cNvPr id="11" name="Compound and follower gears" descr="Compound and follower gear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18140" y="2712693"/>
            <a:ext cx="2370052" cy="202697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Backup: safety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9802094" cy="4736592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hard stop: the switched power strip; faults and pause hold torque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Stations anchor into studs; the line load is mostly pull-out and prying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Nobody stands under the robot while it moves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Claw battery: protected pack, charged with the switch off and attended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safety-rated function is claimed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line"/>
          <p:cNvSpPr txBox="1"/>
          <p:nvPr/>
        </p:nvSpPr>
        <p:spPr>
          <a:xfrm>
            <a:off x="548640" y="329184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Backup: calculations and sources</a:t>
            </a:r>
            <a:endParaRPr lang="en-US" sz="2600" dirty="0"/>
          </a:p>
        </p:txBody>
      </p:sp>
      <p:sp>
        <p:nvSpPr>
          <p:cNvPr id="3" name="headline rule"/>
          <p:cNvSpPr/>
          <p:nvPr/>
        </p:nvSpPr>
        <p:spPr>
          <a:xfrm>
            <a:off x="548640" y="1316736"/>
            <a:ext cx="11094415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4" name="bullets"/>
          <p:cNvSpPr txBox="1"/>
          <p:nvPr/>
        </p:nvSpPr>
        <p:spPr>
          <a:xfrm>
            <a:off x="548640" y="1481328"/>
            <a:ext cx="9802094" cy="4736592"/>
          </a:xfrm>
          <a:prstGeom prst="rect">
            <a:avLst/>
          </a:prstGeom>
          <a:noFill/>
          <a:ln/>
        </p:spPr>
        <p:txBody>
          <a:bodyPr wrap="square" lIns="25400" tIns="0" rIns="50800" bIns="25400" rtlCol="0" anchor="t"/>
          <a:lstStyle/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chart comes from my calculation sheet in Google Sheets, one tab per topic</a:t>
            </a:r>
            <a:endParaRPr lang="en-US" sz="18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cable tension, winch pull, heat fin, motor temperature, wiring, bead homing, floor board, lift budget, gears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result is a formula on its inputs; inputs are marked, with their source or assumption</a:t>
            </a:r>
            <a:endParaRPr lang="en-US" sz="1800" dirty="0"/>
          </a:p>
          <a:p>
            <a:pPr algn="l" marL="254000" indent="-2540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References used:</a:t>
            </a:r>
            <a:endParaRPr lang="en-US" sz="18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Incropera, DeWitt, Bergman, Lavine: Fundamentals of Heat and Mass Transfer, ch. 3 (extended surfaces)</a:t>
            </a:r>
            <a:endParaRPr lang="en-US" sz="1800" dirty="0"/>
          </a:p>
          <a:p>
            <a:pPr algn="l" lvl="1" marL="457200" indent="-2286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Allegro MicroSystems: A4988 datasheet (current limit)</a:t>
            </a:r>
            <a:endParaRPr lang="en-US" sz="1800" dirty="0"/>
          </a:p>
        </p:txBody>
      </p:sp>
      <p:sp>
        <p:nvSpPr>
          <p:cNvPr id="6" name="sheet link"/>
          <p:cNvSpPr txBox="1"/>
          <p:nvPr/>
        </p:nvSpPr>
        <p:spPr>
          <a:xfrm>
            <a:off x="548640" y="57150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u="sng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Open the calculation sheet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RoomCleaner engineering calculations (Google Sheets)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oomCleaner v4">
  <a:themeElements>
    <a:clrScheme name="RoomCleaner v4">
      <a:dk1>
        <a:srgbClr val="1A1A1A"/>
      </a:dk1>
      <a:lt1>
        <a:srgbClr val="FFFFFF"/>
      </a:lt1>
      <a:dk2>
        <a:srgbClr val="1F3A5F"/>
      </a:dk2>
      <a:lt2>
        <a:srgbClr val="F2F2F4"/>
      </a:lt2>
      <a:accent1>
        <a:srgbClr val="1F3A5F"/>
      </a:accent1>
      <a:accent2>
        <a:srgbClr val="8A8F98"/>
      </a:accent2>
      <a:accent3>
        <a:srgbClr val="B23A2E"/>
      </a:accent3>
      <a:accent4>
        <a:srgbClr val="4F6D8F"/>
      </a:accent4>
      <a:accent5>
        <a:srgbClr val="D9DEE5"/>
      </a:accent5>
      <a:accent6>
        <a:srgbClr val="5B6470"/>
      </a:accent6>
      <a:hlink>
        <a:srgbClr val="1F3A5F"/>
      </a:hlink>
      <a:folHlink>
        <a:srgbClr val="4F6D8F"/>
      </a:folHlink>
    </a:clrScheme>
    <a:fontScheme name="RoomCleaner v4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51</Slides>
  <Notes>51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5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RoomCleaner</dc:title>
  <dc:subject>PptxGenJS Presentation</dc:subject>
  <dc:creator>Jasper Buntinx</dc:creator>
  <cp:lastModifiedBy>Jasper Buntinx</cp:lastModifiedBy>
  <cp:revision>1</cp:revision>
  <dcterms:created xsi:type="dcterms:W3CDTF">2026-10-21T23:30:42Z</dcterms:created>
  <dcterms:modified xsi:type="dcterms:W3CDTF">2026-10-21T23:30:42Z</dcterms:modified>
</cp:coreProperties>
</file>