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bd699b5-a059-59d5-6018-65f34a4ce954}">
          <p14:sldIdLst>
            <p14:sldId id="256"/>
            <p14:sldId id="257"/>
            <p14:sldId id="258"/>
            <p14:sldId id="259"/>
          </p14:sldIdLst>
        </p14:section>
        <p14:section name="How a cable robot works" id="{008be908-d536-8b5c-fe6f-a29a87626a94}">
          <p14:sldIdLst>
            <p14:sldId id="260"/>
            <p14:sldId id="261"/>
            <p14:sldId id="262"/>
            <p14:sldId id="263"/>
          </p14:sldIdLst>
        </p14:section>
        <p14:section name="From one box to modular stations" id="{1fc5b20b-134b-b382-5138-3dcde5e87c30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Homing and calibration" id="{e4fdc73f-96e6-cdff-5684-871e3395cc97}">
          <p14:sldIdLst>
            <p14:sldId id="275"/>
            <p14:sldId id="276"/>
            <p14:sldId id="277"/>
            <p14:sldId id="278"/>
            <p14:sldId id="279"/>
          </p14:sldIdLst>
        </p14:section>
        <p14:section name="The claw" id="{e4270585-47ab-d5bb-01c2-95b8fc370c75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Manufacturing" id="{3724efe5-974d-5421-4270-5e2650a6958e}">
          <p14:sldIdLst>
            <p14:sldId id="286"/>
            <p14:sldId id="287"/>
            <p14:sldId id="288"/>
            <p14:sldId id="289"/>
          </p14:sldIdLst>
        </p14:section>
        <p14:section name="Electronics" id="{e1c7d9fd-f184-180c-ac14-086014b44ed4}">
          <p14:sldIdLst>
            <p14:sldId id="290"/>
            <p14:sldId id="291"/>
            <p14:sldId id="292"/>
          </p14:sldIdLst>
        </p14:section>
        <p14:section name="Control logic" id="{4c0c309f-09f2-eccd-b363-e90b0b4cff23}">
          <p14:sldIdLst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Status and next steps" id="{63747638-882d-a731-ffa7-48c10b771aa1}">
          <p14:sldIdLst>
            <p14:sldId id="299"/>
            <p14:sldId id="300"/>
            <p14:sldId id="301"/>
            <p14:sldId id="302"/>
          </p14:sldIdLst>
        </p14:section>
        <p14:section name="Close" id="{ad25d413-a2a7-c3d7-eb73-767069ed4206}">
          <p14:sldIdLst>
            <p14:sldId id="303"/>
          </p14:sldIdLst>
        </p14:section>
        <p14:section name="Backup" id="{fb988caf-75ed-b3b0-939d-ee2ff3c0ceac}">
          <p14:sldIdLst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a cable robot whose four winches sit in the ceiling corners and move one claw anywhere over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first: where it works, what it lifts, what it costs, and how it stays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finished design first, so every later decision has a place to land. Station: wall frame, slide-in mount, shell, motor, spool, heat fin, encoder. Claw: housing with the camera bay, 10.5 in tube, geared head, four-bar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follows the order the problems appeared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cables, one point, and the vectors that connect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Inverse kinematics of a cable robot is vector subtraction and a norm, done for each cable at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D_h = 2.17 m from the room centre to a corner. The tension doubles each time the depth halves near the ceiling; the ceiling margin is set by tension, not by collision.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force = full-spool pull / 1.5 skip margin. The pull test turns the 0.7 ratio into a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adding safety features changed the whole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and synchronised by design. It only stopped working once I wanted more than a motor at each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wire count, not the motors, was the problem. 18 AWG on the same run drops 0.82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 moved from wiring into software: time-stamped segments and a host that keeps every station's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there are electronics in every corner, the wall plate becomes a product housing.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N is the snag case: holding torque at the empty spool. The study checks stress below 8.3 MPa (derated PETG / 3) and deflection at the cable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Simulated so far; the hardware run is the first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Unplugging a motor from an energised A4988 can kill the driver, so the plug carries only 12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 carries about half the heat in the sealed case. PETG softens near 80 °C. Inputs are assumptions until the hold test: 1.8 Ω per phase, 1.5 W of electronics.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 (not on the slide): Taylor's goat experiments found a dense blood supply under the horn sheath and estimated horns carry 1-15 % of the animal's heat loss; Picard et al. found climate-dependent horn structure in bovids. The next slide sizes the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at the built length: 37 % (sheet) vs 74 % (plate); fin resistance 22.1 vs 10.9 K/W. The 200 mm length was sized for the 1/8 in plate; the thin sheet would do the same job at about 140 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first homing plan limited the robot, and what replaced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 was a cheap absolute reference per 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Calculated over the working volume with 0.2 m wall and 0.4 m ceiling margins. This tradeoff is physical: software cannot remove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robot only unlocks the full workspace when k × σ fits inside the margin; otherwise it stays local. Simulated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tags: 4.85 mrad → 2.5 mm. Noise model: 0.3 px corner noise, 520 px focal length (camera not yet calibrated).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fingers to a parallel-jaw gripper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 drove most of the changes; every gram of claw is a gram of laundry the winches cannot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Four-bar: ground 36.5, crank 53, rocker 50, coupler 34.7 mm. Lewis: module 1.5, PETG allowable 22.5 MPa.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 1 found laundry from above and mapped it to the floor; the claw only had to go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Sees the grasp spot from about 17 cm; at contact the jaws hide it, so the last view guides the final approach. The gen-1 camera case and its software are kept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status: the numbers say the current claw plus jeans is too heavy. The pull test turns the 0.7 running-torque assumption into a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PETG parts, and a heat fin cut and drilled on a manual mill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printed interface is chosen for how it prints and how I can measure it, not just how it looks in CAD.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bore fit only locates the spool; torque goes through the set screw on the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setup from the same two edges means hole-to-hole errors do not stack, so the fin bolts on without reaming.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station board and a bring-up lesson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check: 0 errors. 16 nets, 55 pins match the perfboard.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Lesson: measure before trusting the software's view of the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first simulator loop to the logic that runs the robot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robot, different stance: gen 1 assumed, the final logic verifies. The detector and the kinematics carried over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Zoomed out: phone, supervisor, startup and tasks, planner and coordinator, stations. The claw is a sensor plus a gripper that obeys.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operating logic on one slide. Startup is the calibration from section 3. Find and pick-and-deliver repeat per item, nearest first. Grips wait until the claw stops swinging (pendulum dwell). Lowering ends with a vision floor check, and disarm needs both a typed confirmation and a fresh floor check, because releasing torque drops a hanging claw. Simulated end to end; the first hardware test runs the startup and a short move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software was built against a simulator first, so faults like lost messages and reboots were exercised before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 1 had the same idea for the ceiling fan. Next steps: skip an unreachable item instead of stopping, keep-out zones drawn in the app, and furniture footprints mapped from the claw camera's scans.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and next 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replace the box with the first-test photo and the measured numbers (calibration error bars, cable error over the 300 mm move).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that is calculated or simulated is called that; the test list is what turns it into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 did it again: buy the pulleys and couplers sooner, and build one complete station to test before building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Backups follow: schematics, gear strength, safety, calculations and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check 0 errors; 9 nets match the specification.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Stall torque 1.08 N·m at 6 V (servo rating, not measured).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RoomCleaner  |  Jasper Buntinx  |  October 27,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image" Target="../media/image-34-3.jpg"/><Relationship Id="rId4" Type="http://schemas.openxmlformats.org/officeDocument/2006/relationships/image" Target="../media/image-3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spreadsheets/d/1UGFnkL1v305WnDYj5aj5zBtgxnxmGP7_TVRN0afZTGs/edi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RoomCleaner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four-cable ceiling robot that picks laundry off the floor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presentation  ·  October 27, 2026</a:t>
            </a:r>
            <a:endParaRPr lang="en-US" sz="1400" dirty="0"/>
          </a:p>
        </p:txBody>
      </p:sp>
      <p:pic>
        <p:nvPicPr>
          <p:cNvPr id="6" name="Final claw: electronics housing with cam" descr="Final claw: electronics housing with camera bay, tube and grip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5955" y="365760"/>
            <a:ext cx="1686971" cy="6126480"/>
          </a:xfrm>
          <a:prstGeom prst="rect">
            <a:avLst/>
          </a:prstGeom>
        </p:spPr>
      </p:pic>
      <p:pic>
        <p:nvPicPr>
          <p:cNvPr id="7" name="Gen-1 winch station lifting a test weigh" descr="Gen-1 winch station lifting a test we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56360"/>
            <a:ext cx="3108960" cy="4145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pick laundry off the floor anywhere in an 11 × 9 ft room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clothes off the floor and drop them in a hamper, from anywhere in the room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winches near the ceiling corners hold one claw on four cables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11 × 9 ft with a 9 ft ceiling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load: a pair of jeans (0.9 kg) with 2 m/s² of acceleration; first test load 1 lb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3D-printed in PETG on a hobby budget, from parts I can buy and fix myself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anchors in studs, one hard stop (the switched power strip), nobody under the robot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Winch station assembly" descr="Winch station assemb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108" y="1517904"/>
            <a:ext cx="3427176" cy="441655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four winch stations (CAD)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design: four wall stations hold one claw on four lines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364328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identical wall stations, one near each ceiling corner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17 winch and printed spool, its own ESP32 controller, a spool encoder, and the horn-inspired heat fin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slides onto a wall frame screwed into a stud; one 12 V cable each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claw on four Dyneema lines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Geared four-bar gripper, camera in the housing, 10.5 in aluminium tube, 2S LiPo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from a laptop and a phone app over Wi-Fi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of this talk is how each part got to this point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24448" y="1463040"/>
            <a:ext cx="2590724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Final wall station and claw" descr="Final wall station and cl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312" y="2217075"/>
            <a:ext cx="2480996" cy="30182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052331" y="1463040"/>
            <a:ext cx="2590724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Final wall station and claw" descr="Final wall station and cla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973" y="1517904"/>
            <a:ext cx="1293441" cy="4416552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324448" y="6062472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CAD: a wall station (Oct 21 assembly, with the heat fin) and the claw as built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990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cable robot works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282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vectors, statics, the winch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0253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box to modular stations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317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Wiring, a controller per winch, the slide-in housing, plug-in power, cooling and the horn-inspired fin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060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Homing and calibration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3522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Bead homing, why it limited the motion, the camera-based method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0954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claw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5387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Gripper evolution, the four-bar hands, overhead camera to claw camera, weight vs lift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130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42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PETG parts, and a heat fin cut and drilled on a manual mill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4165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74573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board and a bring-up lesson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02005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logic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349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logic vs final logic, one run end to end, the phone app, obstacles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41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6235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and next steps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9527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test, what is built, what I learned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cable robot works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cables, one point, and the vectors that connect them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cable length is the distance from its anchor to the claw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6029993" cy="326440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frame at a floor corner: anchor i (the pulley exit) at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claw at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cable is the vector from the claw to its anchor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length is the distance between those two points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move, compute the four lengths at every point on the path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spool turns by the change in length over its radius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form: no iteration is needed to command a move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928616"/>
            <a:ext cx="6029993" cy="1335024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10912"/>
            <a:ext cx="57008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257800"/>
            <a:ext cx="570080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‖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= √((a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+ (a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iy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+ (a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Δθ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ΔL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   (r = spool radius with the wound line)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90113" y="1463040"/>
            <a:ext cx="4652943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9" name="Position vectors from four anchors to th" descr="Position vectors from four anchors to the cl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308" y="1517904"/>
            <a:ext cx="4416552" cy="44165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 only pull, so tension climbs as they flatten near the ceiling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26440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balance: the cable pulls and the weight sum to zero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 only pull: every tension must stay positive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Centred claw, equal shares: tension rises as the cables flatten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N per cable 0.15 m below the anchors; 8.3 N at 0.6 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0.4 m: 12.2 N, right at the 11.9 N design force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robot keeps 0.4 m below the anchors, 0.2 m from the walls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928616"/>
            <a:ext cx="5586216" cy="1335024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10912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257800"/>
            <a:ext cx="5257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m(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&gt; 0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W / (4 sin φ),   sin φ = d / √(d² + D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²)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(0.45 + 0.454) kg × 9.81 m/s² = 8.87 N</a:t>
            </a:r>
            <a:endParaRPr lang="en-US" sz="1500" dirty="0"/>
          </a:p>
        </p:txBody>
      </p:sp>
      <p:pic>
        <p:nvPicPr>
          <p:cNvPr id="8" name="Chart from the calculation sheet: Cable " descr="Chart from the calculation sheet: Cable ten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8274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827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5906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calculation sheet (Google Sheets), “Cable tension” tab. Calculated, not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driver's 1.06 A limit, each winch pulls 18 to 24 N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026664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17 stepper, printed spool, outlet pulley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 set by the driver's reference voltage: 0.85 V → 1.06 A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torque &lt; holding torque: 0.7 assumed, the pull test measures 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spool: more pull per amp, more turns per metre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spool: 24 N empty, 18 N full → 11.9 N design (÷ 1.5)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690872"/>
            <a:ext cx="5586216" cy="157276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477316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020056"/>
            <a:ext cx="5257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V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(8 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0.85 V / (8 × 0.1 Ω) = 1.06 A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0.7 · τ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I / I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rated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0.7 × 0.36 × 1.06 / 1.5 = 0.18 N·m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τ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r:   23.8 N at r = 7.5 mm,   17.9 N at r = 10 mm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limit: Allegro MicroSystems, A4988 datasheet</a:t>
            </a:r>
            <a:endParaRPr lang="en-US" sz="1050" dirty="0"/>
          </a:p>
        </p:txBody>
      </p:sp>
      <p:pic>
        <p:nvPicPr>
          <p:cNvPr id="9" name="Chart from the calculation sheet: Winch " descr="Chart from the calculation sheet: Winch p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7863"/>
          </a:xfrm>
          <a:prstGeom prst="rect">
            <a:avLst/>
          </a:prstGeom>
        </p:spPr>
      </p:pic>
      <p:sp>
        <p:nvSpPr>
          <p:cNvPr id="10" name="chart frame"/>
          <p:cNvSpPr/>
          <p:nvPr/>
        </p:nvSpPr>
        <p:spPr>
          <a:xfrm>
            <a:off x="6546336" y="1554480"/>
            <a:ext cx="5096719" cy="3507863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caption"/>
          <p:cNvSpPr txBox="1"/>
          <p:nvPr/>
        </p:nvSpPr>
        <p:spPr>
          <a:xfrm>
            <a:off x="6546336" y="5135495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calculation sheet (Google Sheets), “Winch pull” tab. Calculated, not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box to modular stations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adding safety features changed the whole architecture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design drove all four motors from one central controller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Arduino Uno and a CNC shield with four A4988 drivers, in a single box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computer sends moves; the shield steps all four motors from one clock, so sync is free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motor gets a long 4-wire cable from the box to its corner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worked on the bench: a gen-1 station lifted a test weight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Gen-1 CNC shield and spool plate" descr="Gen-1 CNC shield and spool 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Gen-1 CNC shield and spool plate" descr="Gen-1 CNC shield and spool p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1: central shield with four drivers; spool plate on the wall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at every winch made central wiring five times longer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3375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wanted more safety: a homing switch and an encoder at every winch, plus fault detection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corner: motor 4 + switch 2 + encoder 4 =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conductors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4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cable routes are 6, 21, 23 and 32 ft (82 ft)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encoder's I²C bus is meant for centimetres, not 10 m runs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phase currents in long cables also radiate noise into the sensor lines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001768"/>
            <a:ext cx="5586216" cy="126187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84064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330952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Conductor = n · ΣL:   10 × 82 ft = 820 ft   vs   2 × 82 ft = 164 ft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ΔV = I · R′ · 2L = 2 A × 4.016 mΩ/ft × 64 ft = 0.51 V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AWG on the longest run (32 ft); 2 A is illustrative</a:t>
            </a:r>
            <a:endParaRPr lang="en-US" sz="1050" dirty="0"/>
          </a:p>
        </p:txBody>
      </p:sp>
      <p:pic>
        <p:nvPicPr>
          <p:cNvPr id="9" name="Chart from the calculation sheet: Wiring" descr="Chart from the calculation sheet: Wi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7863"/>
          </a:xfrm>
          <a:prstGeom prst="rect">
            <a:avLst/>
          </a:prstGeom>
        </p:spPr>
      </p:pic>
      <p:sp>
        <p:nvSpPr>
          <p:cNvPr id="10" name="chart frame"/>
          <p:cNvSpPr/>
          <p:nvPr/>
        </p:nvSpPr>
        <p:spPr>
          <a:xfrm>
            <a:off x="6546336" y="1554480"/>
            <a:ext cx="5096719" cy="3507863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caption"/>
          <p:cNvSpPr txBox="1"/>
          <p:nvPr/>
        </p:nvSpPr>
        <p:spPr>
          <a:xfrm>
            <a:off x="6546336" y="5135495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calculation sheet (Google Sheets), “Wiring” tab. Calculated, not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controller in every winch cut the wiring to one power pair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88620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station: XIAO ESP32-C3 + A4988 driver + 5 V buck; only 12 V power travels, on 2 wires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and encoder wires stay inside the station, a few centimetres long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computer plans the path and sends each station timed segments over Wi-Fi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station runs its segments on its own clock; any lost link → hold position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timing skew between stations becomes cable mismatch, so segments are time-stamped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Benefit: about 5× less wire, and every station can be built and tested alone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550408"/>
            <a:ext cx="5586216" cy="71323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632704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879592"/>
            <a:ext cx="5257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Δx = v · Δt = 50 mm/s × 50 ms = 2.5 mm of cable mismatch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9" name="Gen-2 station and its electronics" descr="Gen-2 station and its electron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1" name="Gen-2 station and its electronics" descr="Gen-2 station and its electron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2: the station carries its own controller, driver and buck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at every corner turned the wall plate into a housing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 was a plate screwed into the wall: fine for a bare motor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corner now carries a controller, driver, buck, switch and encoder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need protection, a clean look and a path for heat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each station became a housing: motor, spool, pulley and electronics in one unit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unit in all four corners: build one, test one, copy 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Gen-1 corner plate vs gen-2 housing" descr="Gen-1 corner plate vs gen-2 hou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907397"/>
            <a:ext cx="2370052" cy="16375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Gen-1 corner plate vs gen-2 housing" descr="Gen-1 corner plate vs gen-2 hous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430937"/>
            <a:ext cx="2370052" cy="2590485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Gen-1 corner plate (left) vs the gen-2 station housing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slide-in mount lets a station come off without moving its anchor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648456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take stations down often: to test, rework, repair or modify them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 in and out each time damages the wall and moves the anchor point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wall frame goes into a stud once; the station slides in and locks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it out, rework it, slide it back: the frame keeps the anchor position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Load: the line pulls the station away from the wall (pull-out and prying)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target: SF 3 at 34 N; SolidWorks study planned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312664"/>
            <a:ext cx="5586216" cy="950976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394960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641848"/>
            <a:ext cx="5257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 =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≥ 3 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25 MPa / 3 = 8.3 MPa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Allowable: derated PETG yield, 25 MPa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0" name="Wall frame and slide-in piece" descr="Wall frame and slide-in pie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8405" y="1517904"/>
            <a:ext cx="2175641" cy="441655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2" name="Wall frame and slide-in piece" descr="Wall frame and slide-in 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52938"/>
            <a:ext cx="2370052" cy="3146485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wall frame (left) and the slide-in piece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measures its own geometry every time it is set up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the stations go back up, the robot measures its own geometry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tape measure, no numbers typed in, nothing for a user to get wrong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claw camera reads a printed floor board (a grid of tags) to get the claw's pose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moves through a set of poses and fits the anchor positions and cable lengths by least squares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any room the cables can reach, so it can become a consumer product</a:t>
            </a:r>
            <a:endParaRPr lang="en-US" sz="1800" dirty="0"/>
          </a:p>
        </p:txBody>
      </p:sp>
      <p:sp>
        <p:nvSpPr>
          <p:cNvPr id="5" name="calibration step 1"/>
          <p:cNvSpPr/>
          <p:nvPr/>
        </p:nvSpPr>
        <p:spPr>
          <a:xfrm>
            <a:off x="6546336" y="1554480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19488" y="1554480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up slack, one cable at a time</a:t>
            </a:r>
            <a:endParaRPr lang="en-US" sz="1400" dirty="0"/>
          </a:p>
        </p:txBody>
      </p:sp>
      <p:sp>
        <p:nvSpPr>
          <p:cNvPr id="7" name="calibration step 2"/>
          <p:cNvSpPr/>
          <p:nvPr/>
        </p:nvSpPr>
        <p:spPr>
          <a:xfrm>
            <a:off x="8348874" y="1554480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22026" y="1554480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the claw off the floor</a:t>
            </a:r>
            <a:endParaRPr lang="en-US" sz="1400" dirty="0"/>
          </a:p>
        </p:txBody>
      </p:sp>
      <p:sp>
        <p:nvSpPr>
          <p:cNvPr id="9" name="calibration step 3"/>
          <p:cNvSpPr/>
          <p:nvPr/>
        </p:nvSpPr>
        <p:spPr>
          <a:xfrm>
            <a:off x="10151413" y="1554480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24565" y="1554480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reads the floor board</a:t>
            </a:r>
            <a:endParaRPr lang="en-US" sz="1400" dirty="0"/>
          </a:p>
        </p:txBody>
      </p:sp>
      <p:sp>
        <p:nvSpPr>
          <p:cNvPr id="11" name="calibration step 4"/>
          <p:cNvSpPr/>
          <p:nvPr/>
        </p:nvSpPr>
        <p:spPr>
          <a:xfrm>
            <a:off x="10151413" y="2761488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24565" y="2761488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anchors and cable lengths</a:t>
            </a:r>
            <a:endParaRPr lang="en-US" sz="1400" dirty="0"/>
          </a:p>
        </p:txBody>
      </p:sp>
      <p:sp>
        <p:nvSpPr>
          <p:cNvPr id="13" name="calibration step 5"/>
          <p:cNvSpPr/>
          <p:nvPr/>
        </p:nvSpPr>
        <p:spPr>
          <a:xfrm>
            <a:off x="8348874" y="2761488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22026" y="2761488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on held-out poses</a:t>
            </a:r>
            <a:endParaRPr lang="en-US" sz="1400" dirty="0"/>
          </a:p>
        </p:txBody>
      </p:sp>
      <p:sp>
        <p:nvSpPr>
          <p:cNvPr id="15" name="calibration step 6"/>
          <p:cNvSpPr/>
          <p:nvPr/>
        </p:nvSpPr>
        <p:spPr>
          <a:xfrm>
            <a:off x="6546336" y="2761488"/>
            <a:ext cx="1491642" cy="896112"/>
          </a:xfrm>
          <a:prstGeom prst="roundRect">
            <a:avLst>
              <a:gd name="adj" fmla="val 8163"/>
            </a:avLst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19488" y="2761488"/>
            <a:ext cx="134533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Ready, inside the safe margins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83698" y="2002536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86237" y="2002536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897234" y="2496312"/>
            <a:ext cx="0" cy="219456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9886237" y="3209544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8083698" y="3209544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46336" y="3931920"/>
            <a:ext cx="5096719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23" name="Claw with camera bay" descr="Claw with camera b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43" y="3986784"/>
            <a:ext cx="536306" cy="1947672"/>
          </a:xfrm>
          <a:prstGeom prst="rect">
            <a:avLst/>
          </a:prstGeom>
        </p:spPr>
      </p:pic>
      <p:sp>
        <p:nvSpPr>
          <p:cNvPr id="24" name="caption"/>
          <p:cNvSpPr txBox="1"/>
          <p:nvPr/>
        </p:nvSpPr>
        <p:spPr>
          <a:xfrm>
            <a:off x="6546336" y="6035040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calibration; the claw camera looks straight down at the 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station needs only one 12 V cable, so it unplugs cleanly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station has one cable: a 16 AWG pair from a fused 12 V supply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in to use; unplug and store the cables when the robot is not needed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 slide off the wall frames if wanted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cut at 9, 24, 26 and 35 ft (94 ft of a 100 ft roll), a fuse per branch at the supply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motor stays wired inside the station, so it is never unplugged under power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switched power strip is the one hard stop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Station power wiring" descr="Station power wi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Station power wiring" descr="Station power wi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station: the buck converter and its wiring; only 12 V comes 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fin, a sealed housing would push the motor past 60 °C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26440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sealed printed housing traps the motor's heat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PETG at the loaded motor mount softens and creeps: 60 °C limit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vents, plus an aluminium fin straight up through the shell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motor → shell air → room, the fin a second path out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1.06 A: sealed 64 °C without the fin, 46 °C with 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90-min hold test will measure it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928616"/>
            <a:ext cx="5586216" cy="1335024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10912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257800"/>
            <a:ext cx="5257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I² R = (1.06 A)² × 1.8 Ω = 2.0 W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ΔT = q · 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(heat flow × thermal resistance)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in parallel with the shell:  1/R = 1/R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+ 1/R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</a:t>
            </a:r>
            <a:endParaRPr lang="en-US" sz="1500" dirty="0"/>
          </a:p>
        </p:txBody>
      </p:sp>
      <p:pic>
        <p:nvPicPr>
          <p:cNvPr id="8" name="Chart from the calculation sheet: Motor " descr="Chart from the calculation sheet: Motor temper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2517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2517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0149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calculation sheet (Google Sheets), “Motor temperature” tab. Calculated, not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 copies an antelope horn: a thin blade that sheds heat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575304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from my bio-inspired design class: antelope horns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horn is a heat exchanger: warm blood flows into its core, heat leaves through the surface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 copies that: one tall, thin blade rising straight up from the heat source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conducts up from the motor and leaves along the length; the tip runs cooler, like a horn's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Vertical, so warm air rises freely off both faces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width (44 mm): adds height, not width, to the station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239512"/>
            <a:ext cx="5586216" cy="102412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32180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568696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Horn and fin both shed heat by convection:  q = h · A · (T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 and thin: large area for little mass,  A = 2 w 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9" name="Heat fin on the motor" descr="Heat fin on the mo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1" name="Heat fin on the motor" descr="Heat fin on the mo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 on the motor: one tall blade rising from the heat source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136 mm, the thin fin adds less than 5 % more cooling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026664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 end runs cooler, so each extra mm does less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0.019 in sheet (built):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95 % of a long fin's heat by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mm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1/8 in plate (drawn):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95 % by </a:t>
            </a:r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349 mm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200 mm above the cover: past 136 mm the sheet adds &lt; 5 %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Looks: horn-like, motor width (44 mm), matte black to radiate more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690872"/>
            <a:ext cx="5586216" cy="157276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477316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020056"/>
            <a:ext cx="5257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√(2h / (k t)),   η = tanh(mL) / (mL)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95 % length:  tanh(mL) = 0.95 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L = 1.83 / m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160 W/m·K, h = 7 W/m²·K, t = 0.48 mm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136 mm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equations: Incropera et al., Fundamentals of Heat and Mass Transfer, ch. 3</a:t>
            </a:r>
            <a:endParaRPr lang="en-US" sz="1050" dirty="0"/>
          </a:p>
        </p:txBody>
      </p:sp>
      <p:pic>
        <p:nvPicPr>
          <p:cNvPr id="9" name="Chart from the calculation sheet: Heat f" descr="Chart from the calculation sheet: Heat f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2434"/>
          </a:xfrm>
          <a:prstGeom prst="rect">
            <a:avLst/>
          </a:prstGeom>
        </p:spPr>
      </p:pic>
      <p:sp>
        <p:nvSpPr>
          <p:cNvPr id="10" name="chart frame"/>
          <p:cNvSpPr/>
          <p:nvPr/>
        </p:nvSpPr>
        <p:spPr>
          <a:xfrm>
            <a:off x="6546336" y="1554480"/>
            <a:ext cx="5096719" cy="350243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caption"/>
          <p:cNvSpPr txBox="1"/>
          <p:nvPr/>
        </p:nvSpPr>
        <p:spPr>
          <a:xfrm>
            <a:off x="6546336" y="5130066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calculation sheet (Google Sheets), “Heat fin” tab. Calculated, not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Homing and calibration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first homing plan limited the robot, and what replaced it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plan homed each cable with a bead and a switch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bead on each cable trips a switch at the outlet → a known cable length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zeroes itself from that: set it up anywhere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expected that to be enough, possibly even without encoders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fixed early: the switch moved below the pulley, so the bead never rides over the pulley groove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Homing switch on the bench" descr="Homing switch on the 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8489" y="1517904"/>
            <a:ext cx="3312414" cy="441655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KW12-3 homing switch on the bench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Bead homing at one point leaves under a third of the room reachable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575304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bead cannot pass the outlet, so a cable can never be shorter than its homing length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home all four at one point, each bead sits at that point's length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claw can never get closer to any anchor than from that point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Homing at the room centre 1 m up → about 5 % of the working volume reachable; 2 m up → about 29 %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vision alone knows cable length to ~20–25 mm, while a bead allows ~12 mm of overtravel: a bead search was not safe either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239512"/>
            <a:ext cx="5586216" cy="102412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32180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568696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≥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i,home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‖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  for every cable i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Reachable: every cable at or above its homing length</a:t>
            </a:r>
            <a:endParaRPr lang="en-US" sz="1500" dirty="0"/>
          </a:p>
        </p:txBody>
      </p:sp>
      <p:pic>
        <p:nvPicPr>
          <p:cNvPr id="8" name="Chart from the calculation sheet: Bead h" descr="Chart from the calculation sheet: Bead hom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9137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9137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6769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calculation sheet (Google Sheets), “Bead homing” tab. Calculated, not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poses fit the geometry, and safety margins cover the error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3375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Startup: take up slack one cable at a time, lift, then look at the floor board from several poses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Least-squares fit of the anchor positions and cable zero lengths; held-out poses check the fit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comes from margins, not precision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 m below the anchors and 0.2 m inside the walls unless the error bars allow more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Beads stay as end-of-travel safety switches; encoders watch for lost steps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001768"/>
            <a:ext cx="5586216" cy="126187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84064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330952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over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i0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 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i0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d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‖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)²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workspace only if k · σ ≤ margin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cable paid out at pose k (encoder);  p: claw position from the camera</a:t>
            </a:r>
            <a:endParaRPr lang="en-US" sz="1050" dirty="0"/>
          </a:p>
        </p:txBody>
      </p:sp>
      <p:sp>
        <p:nvSpPr>
          <p:cNvPr id="9" name="calibration step 1"/>
          <p:cNvSpPr/>
          <p:nvPr/>
        </p:nvSpPr>
        <p:spPr>
          <a:xfrm>
            <a:off x="6546336" y="1737360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19488" y="1737360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up slack, one cable at a time</a:t>
            </a:r>
            <a:endParaRPr lang="en-US" sz="1400" dirty="0"/>
          </a:p>
        </p:txBody>
      </p:sp>
      <p:sp>
        <p:nvSpPr>
          <p:cNvPr id="11" name="calibration step 2"/>
          <p:cNvSpPr/>
          <p:nvPr/>
        </p:nvSpPr>
        <p:spPr>
          <a:xfrm>
            <a:off x="8348874" y="1737360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22026" y="1737360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the claw off the floor</a:t>
            </a:r>
            <a:endParaRPr lang="en-US" sz="1400" dirty="0"/>
          </a:p>
        </p:txBody>
      </p:sp>
      <p:sp>
        <p:nvSpPr>
          <p:cNvPr id="13" name="calibration step 3"/>
          <p:cNvSpPr/>
          <p:nvPr/>
        </p:nvSpPr>
        <p:spPr>
          <a:xfrm>
            <a:off x="10151413" y="1737360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24565" y="1737360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reads the floor board</a:t>
            </a:r>
            <a:endParaRPr lang="en-US" sz="1400" dirty="0"/>
          </a:p>
        </p:txBody>
      </p:sp>
      <p:sp>
        <p:nvSpPr>
          <p:cNvPr id="15" name="calibration step 4"/>
          <p:cNvSpPr/>
          <p:nvPr/>
        </p:nvSpPr>
        <p:spPr>
          <a:xfrm>
            <a:off x="10151413" y="3355848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24565" y="3355848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anchors and cable lengths</a:t>
            </a:r>
            <a:endParaRPr lang="en-US" sz="1400" dirty="0"/>
          </a:p>
        </p:txBody>
      </p:sp>
      <p:sp>
        <p:nvSpPr>
          <p:cNvPr id="17" name="calibration step 5"/>
          <p:cNvSpPr/>
          <p:nvPr/>
        </p:nvSpPr>
        <p:spPr>
          <a:xfrm>
            <a:off x="8348874" y="3355848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22026" y="3355848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on held-out poses</a:t>
            </a:r>
            <a:endParaRPr lang="en-US" sz="1400" dirty="0"/>
          </a:p>
        </p:txBody>
      </p:sp>
      <p:sp>
        <p:nvSpPr>
          <p:cNvPr id="19" name="calibration step 6"/>
          <p:cNvSpPr/>
          <p:nvPr/>
        </p:nvSpPr>
        <p:spPr>
          <a:xfrm>
            <a:off x="6546336" y="3355848"/>
            <a:ext cx="1491642" cy="1307592"/>
          </a:xfrm>
          <a:prstGeom prst="roundRect">
            <a:avLst>
              <a:gd name="adj" fmla="val 5594"/>
            </a:avLst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19488" y="3355848"/>
            <a:ext cx="134533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Ready, inside the safe margins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83698" y="2391156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86237" y="2391156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897234" y="3090672"/>
            <a:ext cx="0" cy="219456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9886237" y="4009644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8083698" y="4009644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546336" y="4846320"/>
            <a:ext cx="50967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fit is not good enough: more poses, then fit again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four tags instead of one cuts position error from 6.6 to 0.7 mm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88620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error becomes position error through the lever arm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tag: 12.9 mrad × 0.51 m ≈ 6.6 mm per frame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tags in view: about 0.7 mm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is a printed grid at 250 mm pitch: cheap, and it works in any room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frames helps only with random noise, not with a fixed bias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550408"/>
            <a:ext cx="5586216" cy="71323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632704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879592"/>
            <a:ext cx="5257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δx =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L = 12.9 mrad × 0.51 m = 6.6 mm</a:t>
            </a:r>
            <a:endParaRPr lang="en-US" sz="1500" dirty="0"/>
          </a:p>
        </p:txBody>
      </p:sp>
      <p:pic>
        <p:nvPicPr>
          <p:cNvPr id="8" name="Chart from the calculation sheet: Floor " descr="Chart from the calculation sheet: Floor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7863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7863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5495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calculation sheet (Google Sheets), “Floor board” tab. Calculated, not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fingers to a parallel-jaw gripper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claw generation fixed a problem found in the one before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4698663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tendon-driven TPU fingers → a geared clamp → a lighter open frame → the final parallel-jaw gripper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fixed a problem I found: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clamp's jaws could not pinch thin fabric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v6 clamp was about 4.6× its mass budget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 cut the gearbox frame to 143 g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Final: my gear housing and arms, with hands designed to fit them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58783" y="1463040"/>
            <a:ext cx="1393198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Claw generations" descr="Claw gene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47" y="2798398"/>
            <a:ext cx="1283470" cy="18555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89141" y="1463040"/>
            <a:ext cx="1393198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Claw generations" descr="Claw gener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05" y="1648431"/>
            <a:ext cx="1283470" cy="415549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719499" y="1463040"/>
            <a:ext cx="1393198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0" name="Claw generations" descr="Claw genera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363" y="1923627"/>
            <a:ext cx="1283470" cy="360510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0249857" y="1463040"/>
            <a:ext cx="1393198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2" name="Claw generations" descr="Claw gener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721" y="2622450"/>
            <a:ext cx="1283470" cy="2207459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5658783" y="6062472"/>
            <a:ext cx="59842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Fingers, v6 clamp, v7 open frame, final gripper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geared four-bar keeps the jaws parallel through a 53 mm stroke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364328" cy="326440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 → 18T pinion → 36T/24T compound → 24T sync gear: mirror-image jaws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hand: gear crank (53 mm) + swing arm (50 mm), a near-parallelogram four-bar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jaws stay parallel within about 1° over the stroke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mm opening; closing drops the tips ~38 mm: a scoop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 teeth at servo stall: safety factor about 2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Swept in CAD: no collisions from open to closed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4928616"/>
            <a:ext cx="5364328" cy="1335024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10912"/>
            <a:ext cx="503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257800"/>
            <a:ext cx="5035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Gear ratio i = 36 / 18 = 2   (servo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crank)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Grip: 2 μ N ≥ m g 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N ≥ 7.4 N per jaw   (1 lb, μ = 0.3)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Lewis: σ = F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(b m Y),   F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2τ / 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1463040"/>
            <a:ext cx="5318608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9" name="Hands on the four-bar at open, mid and c" descr="Hands on the four-bar at open, mid and clo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312" y="2476049"/>
            <a:ext cx="5208880" cy="2500262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324448" y="6062472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on the linkage: open, mid, closed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setup found laundry with one camera on the ceiling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3375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camera on the ceiling, looking straight down and framing the whole floor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detector that works from words (YOLO-World) finds “sock”, “towel”, “t-shirt” with no training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item's bottom-centre pixel, where it meets the floor, becomes a floor position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straight-down camera: scale by the room size; tilted camera: a homography from four taped floor points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claw then flies to that point and grabs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board sat in a printed ceiling case: shell plus a screw-on lens bezel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001768"/>
            <a:ext cx="5586216" cy="126187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84064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330952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 down:  x = u · W / w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img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y = v · D / h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img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Tilted:  (x, y, 1) ∝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(u, v, 1),  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fitted from 4 floor points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u, v: pixel;  W × D: floor size;  w × h: image size in pixels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0" name="Gen-1 overhead camera case" descr="Gen-1 overhead camera c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1558497"/>
            <a:ext cx="4986991" cy="4335366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Gen-1 ceiling camera case: shell and lens bezel (45 g PETG)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moved from the ceiling to the claw, right at the grasp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overhead camera was one more device to mount, wire and calibrate in every room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claw and cables hide the spot right where it grasps: it cannot see the grip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floor map assumes a flat floor, but a pile of clothes has height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a XIAO ESP32-S3 Sense camera in a bay in the claw's housing, looking straight down the tube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camera, two jobs: it guides the grasp up close and reads the floor board for calibration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it sees less of the room at once, so the robot scans by moving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Claw with camera bay" descr="Claw with camera b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6631" y="1517904"/>
            <a:ext cx="1216130" cy="441655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bay on the electronics housing (cover in navy)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the claw plus jeans is heavier than the winches can lift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575304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limit 1.06 A → running pull ≈ 18–24 N per winch (full vs empty spool)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1.1 kg total lift at the worst point in the room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claw is not weighed yet: CAD says ~0.76 kg printed, plus a 0.1 kg battery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jeans that is above the capacity today: this is the open problem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lighten the claw, a 3:1 winch reduction (~2.7× pull), or a lighter demo load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 luggage-scale pull test on one station decides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239512"/>
            <a:ext cx="5586216" cy="102412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321808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568696"/>
            <a:ext cx="5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m (g + a),   0 &lt;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11.9 N   (worst point in the room)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claw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≈ f ρ V + m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tube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m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servo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0.55 × 927 g + 198 g + 55 g ≈ 0.76 kg</a:t>
            </a:r>
            <a:endParaRPr lang="en-US" sz="1500" dirty="0"/>
          </a:p>
        </p:txBody>
      </p:sp>
      <p:pic>
        <p:nvPicPr>
          <p:cNvPr id="8" name="Chart from the calculation sheet: Lift b" descr="Chart from the calculation sheet: Lift bu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336" y="1554480"/>
            <a:ext cx="5096719" cy="3507863"/>
          </a:xfrm>
          <a:prstGeom prst="rect">
            <a:avLst/>
          </a:prstGeom>
        </p:spPr>
      </p:pic>
      <p:sp>
        <p:nvSpPr>
          <p:cNvPr id="9" name="chart frame"/>
          <p:cNvSpPr/>
          <p:nvPr/>
        </p:nvSpPr>
        <p:spPr>
          <a:xfrm>
            <a:off x="6546336" y="1554480"/>
            <a:ext cx="5096719" cy="3507863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0" name="caption"/>
          <p:cNvSpPr txBox="1"/>
          <p:nvPr/>
        </p:nvSpPr>
        <p:spPr>
          <a:xfrm>
            <a:off x="6546336" y="5135495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calculation sheet (Google Sheets), “Lift budget” tab. Calculated, not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PETG parts, and a heat fin cut and drilled on a manual mill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printed fit is designed for how FDM prints, then measured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6029993" cy="3575304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PETG on a Creality K1 (0.4 mm nozzle, 0.2 mm layers); PLA creeps under load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Orientation: flat face on the bed, loads along the layers, no supports on mating faces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holes come out undersize (bead rounding, shrink, first-layer squash)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fits get a lead-in: 687 bearing pocket Ø14.075 with a Ø14.000 entry lip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Heat-set M3 inserts where screws are reused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parts: camera bay printed into the housing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239512"/>
            <a:ext cx="6029993" cy="1024128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321808"/>
            <a:ext cx="57008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568696"/>
            <a:ext cx="570080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Clearance c = (D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hole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u) − D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shaft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u = printer undersize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Spool: Ø5.2 too tight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 ≥ 0.2 mm, so Ø5.45 gives c ≈ 0.25 mm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90113" y="1463040"/>
            <a:ext cx="2257891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9" name="Printed shells and the slicer" descr="Printed shells and the slic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4977" y="2294071"/>
            <a:ext cx="2148163" cy="286421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385164" y="1463040"/>
            <a:ext cx="2257891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1" name="Printed shells and the slicer" descr="Printed shells and the slic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028" y="2294071"/>
            <a:ext cx="2148163" cy="2864218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6990113" y="6062472"/>
            <a:ext cx="4652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PETG station shells; slicing the plate for the K1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spool took three prints to fit the shaft and carry the torque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364328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v1: longer than the motor shaft could engage, so it was shortened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v2: the Ø5.2 bore printed too tight on the 5 mm shaft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v3: bore opened to Ø5.45 with a D-flat; the set screw on the flat carries the torque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Ø15 core and 16 mm drum: 20 ft of line in 5 layers with 8 mm of flange margin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 fit coupon before every new interface, measured with calipers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24448" y="1463040"/>
            <a:ext cx="1681429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Spool v1, v2, v3" descr="Spool v1, v2, v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312" y="2933089"/>
            <a:ext cx="1571701" cy="15861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43037" y="1463040"/>
            <a:ext cx="1681429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Spool v1, v2, v3" descr="Spool v1, v2, v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901" y="2989477"/>
            <a:ext cx="1571701" cy="14734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961626" y="1463040"/>
            <a:ext cx="1681429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0" name="Spool v1, v2, v3" descr="Spool v1, v2, v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490" y="2933646"/>
            <a:ext cx="1571701" cy="1585068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324448" y="6062472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Spool v1, v2, v3 (CAD)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 was sheared and drilled in one mill setup to hold ±0.1 mm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364328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first: a 1:1 US Letter print with a hole template and inch dimensions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Sheared the blank from 0.019 in aluminium sheet: 44 × 250 mm (±0.5)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mill, one setup: all five holes located from the bottom and left edges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7/8 in pilot for the motor boss and 4 × Ø3.4 on the 31 mm motor square, ±0.1 mm to each other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Deburred, then matte black paint except the motor contact square; thermal paste there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fit on the NEMA 17: boss centred, all four screws lined up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24448" y="1463040"/>
            <a:ext cx="2604440" cy="21625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Fin manufacturing photos" descr="Fin manufacturing pho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312" y="1608801"/>
            <a:ext cx="2494712" cy="18710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038615" y="1463040"/>
            <a:ext cx="2604440" cy="21625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Fin manufacturing photos" descr="Fin manufacturing pho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025" y="1517904"/>
            <a:ext cx="1539621" cy="20528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24448" y="3735324"/>
            <a:ext cx="2604440" cy="21625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0" name="Fin manufacturing photos" descr="Fin manufacturing phot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857" y="3790188"/>
            <a:ext cx="1539621" cy="20528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038615" y="3735324"/>
            <a:ext cx="2604440" cy="21625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2" name="Fin manufacturing photos" descr="Fin manufacturing phot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1025" y="3790188"/>
            <a:ext cx="1539621" cy="2052828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6324448" y="5971032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Shear and blanks, mill setup with the drawing, drilling, the finished fin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station board and a bring-up lesson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station board boots safe, and its schematic matches it net for net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4476774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driver boots disabled (EN pull-up): a reset never steps the motor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and the 5 V buck cannot back-feed each other: a link jumper plus a Schottky diode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µF at the driver's motor supply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for the motor, homing switch, encoder and 12 V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KiCad schematic is generated from the soldered board's net list, so the two cannot disagree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36894" y="1463040"/>
            <a:ext cx="303450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Station schematic and the soldered board" descr="Station schematic and the soldered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1758" y="2691898"/>
            <a:ext cx="2924772" cy="20685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08555" y="1463040"/>
            <a:ext cx="303450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Station schematic and the soldered board" descr="Station schematic and the soldered 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419" y="1776332"/>
            <a:ext cx="2924772" cy="389969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5436894" y="6062472"/>
            <a:ext cx="62061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KiCad schematic (left), checked net by net against the soldered perfboard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1.14 V logic rail, not the code, kept the first motor still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said it was stepping; the shaft did not turn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meter said the logic rail was 1.14 V instead of 3.3 V: a bad connection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fix it moved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then: a meter checklist before any code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VDD, SLEEP, ENABLE and the buck output, every new 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Bench wiring and bring-up" descr="Bench wiring and bring-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Bench wiring and bring-up" descr="Bench wiring and bring-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wiring and bring-up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logic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first simulator loop to the logic that runs the robot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logic trusted its model; the final logic measures, then checks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4032998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 was written against a simulator: the claw was wherever the cables were told to put it</a:t>
            </a:r>
            <a:endParaRPr lang="en-US" sz="17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hardware breaks that: lines stretch, pulleys stick, a stepper can skip, anchors are never where the tape says</a:t>
            </a:r>
            <a:endParaRPr lang="en-US" sz="17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final logic measures before it trusts and checks after it acts</a:t>
            </a:r>
            <a:endParaRPr lang="en-US" sz="17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on the right came from a problem earlier in this talk: wiring, homing, the camera</a:t>
            </a:r>
            <a:endParaRPr lang="en-US" sz="17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from gen 1: the cable maths, the state-machine idea, the YOLO-World detector</a:t>
            </a:r>
            <a:endParaRPr lang="en-US" sz="1700" dirty="0"/>
          </a:p>
        </p:txBody>
      </p:sp>
      <p:graphicFrame>
        <p:nvGraphicFramePr>
          <p:cNvPr id="40" name="gen-1 vs final log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93118" y="1508760"/>
          <a:ext cx="6649937" cy="914400"/>
        </p:xfrm>
        <a:graphic>
          <a:graphicData uri="http://schemas.openxmlformats.org/drawingml/2006/table">
            <a:tbl>
              <a:tblPr/>
              <a:tblGrid>
                <a:gridCol w="1462986"/>
                <a:gridCol w="2393977"/>
                <a:gridCol w="279297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logic (gen 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logic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is the claw?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Assumed: where the cables were told to put 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Measured: claw camera on the floor board, refit at every startup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 geometry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mass; anchors from a tape measure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Rigid claw; anchors and cable lengths fitted, with error bars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runs the motors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central board steps all four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station runs time-stamped segments; the host coordinates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 laundry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Ceiling camera, pixel to floor map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Claw camera, ray from the claw's pose to the floor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Did the grab work?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Assumed once the claw closed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checks pickup and delivery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E-stop only; no fault states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Supervisor: stop keeps torque, nothing restarts by itself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 may move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Anywhere the cables can hold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where the calibration earned trust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 run the robot, and only the bottom one turns a motor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4698663" cy="33375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talks only to the layers next to it</a:t>
            </a:r>
            <a:endParaRPr lang="en-US" sz="17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never moves a motor: it asks the supervisor</a:t>
            </a:r>
            <a:endParaRPr lang="en-US" sz="17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supervisor holds the one robot state and refuses commands that do not fit it</a:t>
            </a:r>
            <a:endParaRPr lang="en-US" sz="17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and tasks decide what to do; the planner checks whether it is safe to do it</a:t>
            </a:r>
            <a:endParaRPr lang="en-US" sz="17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 run the motion on their own clocks and stop together if the host goes quiet</a:t>
            </a:r>
            <a:endParaRPr lang="en-US" sz="17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claw obeys: it grips only when the host approves</a:t>
            </a:r>
            <a:endParaRPr lang="en-US" sz="17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001768"/>
            <a:ext cx="4698663" cy="126187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84064"/>
            <a:ext cx="4369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330952"/>
            <a:ext cx="43694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path point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‖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‖,  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host message for t &gt; t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lease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coordinated hold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4369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 includes the claw, the 0.9 kg payload and 2 m/s²; lease 0.3 s in simulation</a:t>
            </a:r>
            <a:endParaRPr lang="en-US" sz="1050" dirty="0"/>
          </a:p>
        </p:txBody>
      </p:sp>
      <p:sp>
        <p:nvSpPr>
          <p:cNvPr id="9" name="layer 1"/>
          <p:cNvSpPr/>
          <p:nvPr/>
        </p:nvSpPr>
        <p:spPr>
          <a:xfrm>
            <a:off x="5658783" y="1463040"/>
            <a:ext cx="3972593" cy="71689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95943" y="1463040"/>
            <a:ext cx="3698273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app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Start, PAUSE, and a “yes” before every move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45079" y="2198218"/>
            <a:ext cx="0" cy="164592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2" name="layer 2"/>
          <p:cNvSpPr/>
          <p:nvPr/>
        </p:nvSpPr>
        <p:spPr>
          <a:xfrm>
            <a:off x="5658783" y="2381098"/>
            <a:ext cx="3972593" cy="716890"/>
          </a:xfrm>
          <a:prstGeom prst="rect">
            <a:avLst/>
          </a:prstGeom>
          <a:solidFill>
            <a:srgbClr val="F2F2F4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95943" y="2381098"/>
            <a:ext cx="3698273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 ·  host PC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robot state; refuses commands that do not fit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45079" y="3116275"/>
            <a:ext cx="0" cy="164592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5" name="layer 3"/>
          <p:cNvSpPr/>
          <p:nvPr/>
        </p:nvSpPr>
        <p:spPr>
          <a:xfrm>
            <a:off x="5658783" y="3299155"/>
            <a:ext cx="3972593" cy="716890"/>
          </a:xfrm>
          <a:prstGeom prst="rect">
            <a:avLst/>
          </a:prstGeom>
          <a:solidFill>
            <a:srgbClr val="F2F2F4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95943" y="3299155"/>
            <a:ext cx="3698273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and tasks  ·  host PC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Calibrate; then scan, grip, check, deliver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45079" y="4034333"/>
            <a:ext cx="0" cy="164592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layer 4"/>
          <p:cNvSpPr/>
          <p:nvPr/>
        </p:nvSpPr>
        <p:spPr>
          <a:xfrm>
            <a:off x="5658783" y="4217213"/>
            <a:ext cx="3972593" cy="716890"/>
          </a:xfrm>
          <a:prstGeom prst="rect">
            <a:avLst/>
          </a:prstGeom>
          <a:solidFill>
            <a:srgbClr val="F2F2F4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95943" y="4217213"/>
            <a:ext cx="3698273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and coordinator  ·  host PC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every path point, then streams time-stamped segments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45079" y="4952390"/>
            <a:ext cx="0" cy="164592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1" name="layer 5"/>
          <p:cNvSpPr/>
          <p:nvPr/>
        </p:nvSpPr>
        <p:spPr>
          <a:xfrm>
            <a:off x="5658783" y="5135270"/>
            <a:ext cx="3972593" cy="71689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95943" y="5135270"/>
            <a:ext cx="3698273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 × 4  ·  a controller in each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the motor, watch the encoder, hold if the link drops</a:t>
            </a:r>
            <a:endParaRPr lang="en-US" sz="1400" dirty="0"/>
          </a:p>
        </p:txBody>
      </p:sp>
      <p:sp>
        <p:nvSpPr>
          <p:cNvPr id="23" name="claw"/>
          <p:cNvSpPr/>
          <p:nvPr/>
        </p:nvSpPr>
        <p:spPr>
          <a:xfrm>
            <a:off x="10042855" y="3207715"/>
            <a:ext cx="1600200" cy="89977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34295" y="3207715"/>
            <a:ext cx="1417320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frames; grips only when approved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67951" y="3657600"/>
            <a:ext cx="338328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headEnd type="triangle"/>
            <a:tailEnd type="triangle"/>
          </a:ln>
        </p:spPr>
      </p:sp>
      <p:sp>
        <p:nvSpPr>
          <p:cNvPr id="26" name="layer note"/>
          <p:cNvSpPr txBox="1"/>
          <p:nvPr/>
        </p:nvSpPr>
        <p:spPr>
          <a:xfrm>
            <a:off x="5658783" y="5943600"/>
            <a:ext cx="59842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flow down; status and camera frames flow back 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run: start up and calibrate, then pick, check and deliver each item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stage 1"/>
          <p:cNvSpPr/>
          <p:nvPr/>
        </p:nvSpPr>
        <p:spPr>
          <a:xfrm>
            <a:off x="548640" y="1481328"/>
            <a:ext cx="2554148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label"/>
          <p:cNvSpPr txBox="1"/>
          <p:nvPr/>
        </p:nvSpPr>
        <p:spPr>
          <a:xfrm>
            <a:off x="658368" y="1481328"/>
            <a:ext cx="2334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Start up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2554148" cy="2313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stage 1 steps"/>
          <p:cNvSpPr txBox="1"/>
          <p:nvPr/>
        </p:nvSpPr>
        <p:spPr>
          <a:xfrm>
            <a:off x="621792" y="2029968"/>
            <a:ext cx="24078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Self-check: stations, claw, camera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up slack, one cable at a time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a few centimetres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from floor-board poses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trust level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39364" y="1709928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9" name="stage 2"/>
          <p:cNvSpPr/>
          <p:nvPr/>
        </p:nvSpPr>
        <p:spPr>
          <a:xfrm>
            <a:off x="3395396" y="1481328"/>
            <a:ext cx="2554148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3505124" y="1481328"/>
            <a:ext cx="2334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Find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95396" y="1938528"/>
            <a:ext cx="2554148" cy="2313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stage 2 steps"/>
          <p:cNvSpPr txBox="1"/>
          <p:nvPr/>
        </p:nvSpPr>
        <p:spPr>
          <a:xfrm>
            <a:off x="3468548" y="2029968"/>
            <a:ext cx="24078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to scan height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 camera and detector list the items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each item to the floor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nearest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6120" y="1709928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tage 3"/>
          <p:cNvSpPr/>
          <p:nvPr/>
        </p:nvSpPr>
        <p:spPr>
          <a:xfrm>
            <a:off x="6242152" y="1481328"/>
            <a:ext cx="2554148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6351880" y="1481328"/>
            <a:ext cx="2334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Pick and deliver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2152" y="1938528"/>
            <a:ext cx="2554148" cy="2313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stage 3 steps"/>
          <p:cNvSpPr txBox="1"/>
          <p:nvPr/>
        </p:nvSpPr>
        <p:spPr>
          <a:xfrm>
            <a:off x="6315304" y="2029968"/>
            <a:ext cx="24078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Hover; wait until the claw is still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Descend straight down, close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Lift: camera checks it is held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to the hamper, release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checks it is 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32875" y="1709928"/>
            <a:ext cx="219456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9" name="stage 4"/>
          <p:cNvSpPr/>
          <p:nvPr/>
        </p:nvSpPr>
        <p:spPr>
          <a:xfrm>
            <a:off x="9088907" y="1481328"/>
            <a:ext cx="2554148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label"/>
          <p:cNvSpPr txBox="1"/>
          <p:nvPr/>
        </p:nvSpPr>
        <p:spPr>
          <a:xfrm>
            <a:off x="9198635" y="1481328"/>
            <a:ext cx="2334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Put away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88907" y="1938528"/>
            <a:ext cx="2554148" cy="2313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stage 4 steps"/>
          <p:cNvSpPr txBox="1"/>
          <p:nvPr/>
        </p:nvSpPr>
        <p:spPr>
          <a:xfrm>
            <a:off x="9162059" y="2029968"/>
            <a:ext cx="24078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over the floor board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confirms the floor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Disarm only after a typed confirm and a fresh floor check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19226" y="4251960"/>
            <a:ext cx="0" cy="256032"/>
          </a:xfrm>
          <a:prstGeom prst="line">
            <a:avLst/>
          </a:prstGeom>
          <a:noFill/>
          <a:ln w="19050">
            <a:solidFill>
              <a:srgbClr val="4F6D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4672470" y="4507992"/>
            <a:ext cx="2846756" cy="0"/>
          </a:xfrm>
          <a:prstGeom prst="line">
            <a:avLst/>
          </a:prstGeom>
          <a:noFill/>
          <a:ln w="19050">
            <a:solidFill>
              <a:srgbClr val="4F6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672470" y="4270248"/>
            <a:ext cx="0" cy="237744"/>
          </a:xfrm>
          <a:prstGeom prst="line">
            <a:avLst/>
          </a:prstGeom>
          <a:noFill/>
          <a:ln w="19050">
            <a:solidFill>
              <a:srgbClr val="4F6D8F"/>
            </a:solidFill>
            <a:prstDash val="solid"/>
            <a:tailEnd type="triangle"/>
          </a:ln>
        </p:spPr>
      </p:sp>
      <p:sp>
        <p:nvSpPr>
          <p:cNvPr id="26" name="label"/>
          <p:cNvSpPr txBox="1"/>
          <p:nvPr/>
        </p:nvSpPr>
        <p:spPr>
          <a:xfrm>
            <a:off x="3395396" y="4526280"/>
            <a:ext cx="540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6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item; 3 failures in a row → pause for the operator</a:t>
            </a:r>
            <a:endParaRPr lang="en-US" sz="1150" dirty="0"/>
          </a:p>
        </p:txBody>
      </p:sp>
      <p:sp>
        <p:nvSpPr>
          <p:cNvPr id="27" name="stop rule"/>
          <p:cNvSpPr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23A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8463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any point: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or a fault stops every station on the same point of the path, still holding. Nothing restarts by itself; the operator lowers or recovers.</a:t>
            </a:r>
            <a:endParaRPr lang="en-US" sz="1300" dirty="0"/>
          </a:p>
        </p:txBody>
      </p:sp>
      <p:sp>
        <p:nvSpPr>
          <p:cNvPr id="29" name="bullets"/>
          <p:cNvSpPr txBox="1"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has a limit and a check; a check that fails stops the run instead of guessing</a:t>
            </a: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servo command proves nothing: the camera confirms both the pickup and the delivery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is the operator's only control, and every move asks first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142439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app over home Wi-Fi: robot status, live claw camera, guided setup, chat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moves the robot asks “yes” first; PAUSE runs at once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holds position; the switched power strip is the one hard stop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reboot never resumes a task: the operator starts again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in a full simulator of the stations and the claw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02559" y="1463040"/>
            <a:ext cx="1755392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Phone app screens" descr="Phone app scre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7423" y="1945487"/>
            <a:ext cx="1645664" cy="35613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95111" y="1463040"/>
            <a:ext cx="1755392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Phone app screens" descr="Phone app scree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975" y="1945487"/>
            <a:ext cx="1645664" cy="356138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887663" y="1463040"/>
            <a:ext cx="1755392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0" name="Phone app screens" descr="Phone app scree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527" y="1945487"/>
            <a:ext cx="1645664" cy="3561386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102559" y="6062472"/>
            <a:ext cx="5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app: home, camera, chat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plans around known obstacles but cannot yet detect new ones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364328" cy="33375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obstacles (shelf, lamp, ceiling fan) are entered as keep-out cylinders</a:t>
            </a: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motion, every path point is checked: each cable line against each cylinder</a:t>
            </a:r>
            <a:endParaRPr lang="en-US" sz="16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walls 0.2 m, pulleys 0.4 m, task height 1.6 m, cable tension</a:t>
            </a: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path that fails is refused before the robot moves; it is not re-routed yet</a:t>
            </a: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moving it detects a jammed or stalled cable (encoder) and a failed grip (camera)</a:t>
            </a:r>
            <a:endParaRPr lang="en-US" sz="16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yet see a person, a pet or a moved chair: the camera looks down and has no depth</a:t>
            </a:r>
            <a:endParaRPr lang="en-US" sz="16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 nobody under the robot, PAUSE, and the power strip</a:t>
            </a:r>
            <a:endParaRPr lang="en-US" sz="16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001768"/>
            <a:ext cx="5364328" cy="126187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084064"/>
            <a:ext cx="503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330952"/>
            <a:ext cx="503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Cable i: 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(s) =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s (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),   0 ≤ s ≤ 1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if  z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q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z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and  (q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x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+ (q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y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≤ r²</a:t>
            </a:r>
            <a:endParaRPr lang="en-US" sz="1500" dirty="0"/>
          </a:p>
        </p:txBody>
      </p:sp>
      <p:sp>
        <p:nvSpPr>
          <p:cNvPr id="8" name="equation source"/>
          <p:cNvSpPr txBox="1"/>
          <p:nvPr/>
        </p:nvSpPr>
        <p:spPr>
          <a:xfrm>
            <a:off x="713232" y="5961888"/>
            <a:ext cx="503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pulley exit;  b: the cable's hole on the claw;  checked at points along each cable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15888" y="4958647"/>
            <a:ext cx="513572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5888" y="1600200"/>
            <a:ext cx="513572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1" name="label"/>
          <p:cNvSpPr txBox="1"/>
          <p:nvPr/>
        </p:nvSpPr>
        <p:spPr>
          <a:xfrm>
            <a:off x="11002975" y="4986079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</a:t>
            </a:r>
            <a:endParaRPr lang="en-US" sz="1000" dirty="0"/>
          </a:p>
        </p:txBody>
      </p:sp>
      <p:sp>
        <p:nvSpPr>
          <p:cNvPr id="12" name="label"/>
          <p:cNvSpPr txBox="1"/>
          <p:nvPr/>
        </p:nvSpPr>
        <p:spPr>
          <a:xfrm>
            <a:off x="8617991" y="1371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</a:t>
            </a:r>
            <a:endParaRPr lang="en-US" sz="1000" dirty="0"/>
          </a:p>
        </p:txBody>
      </p:sp>
      <p:sp>
        <p:nvSpPr>
          <p:cNvPr id="13" name="keep-out cylinder (shelf)"/>
          <p:cNvSpPr/>
          <p:nvPr/>
        </p:nvSpPr>
        <p:spPr>
          <a:xfrm>
            <a:off x="7396456" y="2629797"/>
            <a:ext cx="490284" cy="2328850"/>
          </a:xfrm>
          <a:prstGeom prst="rect">
            <a:avLst/>
          </a:prstGeom>
          <a:solidFill>
            <a:srgbClr val="D9DEE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6390616" y="3487794"/>
            <a:ext cx="950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keep-out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cylinder: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shelf, 0–1.9 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15888" y="1784057"/>
            <a:ext cx="2573992" cy="1336025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8989880" y="1784057"/>
            <a:ext cx="2561735" cy="1336025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5888" y="1784057"/>
            <a:ext cx="2573992" cy="2194022"/>
          </a:xfrm>
          <a:prstGeom prst="line">
            <a:avLst/>
          </a:prstGeom>
          <a:noFill/>
          <a:ln w="25400">
            <a:solidFill>
              <a:srgbClr val="B23A2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H="1">
            <a:off x="8989880" y="1784057"/>
            <a:ext cx="2561735" cy="2194022"/>
          </a:xfrm>
          <a:prstGeom prst="line">
            <a:avLst/>
          </a:prstGeom>
          <a:noFill/>
          <a:ln w="25400">
            <a:solidFill>
              <a:srgbClr val="B23A2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51880" y="1720049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label"/>
          <p:cNvSpPr txBox="1"/>
          <p:nvPr/>
        </p:nvSpPr>
        <p:spPr>
          <a:xfrm>
            <a:off x="6370168" y="13258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87607" y="1720049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label"/>
          <p:cNvSpPr txBox="1"/>
          <p:nvPr/>
        </p:nvSpPr>
        <p:spPr>
          <a:xfrm>
            <a:off x="10637215" y="13258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07584" y="3037785"/>
            <a:ext cx="164592" cy="16459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4" name="label"/>
          <p:cNvSpPr txBox="1"/>
          <p:nvPr/>
        </p:nvSpPr>
        <p:spPr>
          <a:xfrm>
            <a:off x="8304080" y="323895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m: clear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07584" y="3895783"/>
            <a:ext cx="164592" cy="164592"/>
          </a:xfrm>
          <a:prstGeom prst="rect">
            <a:avLst/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26" name="label"/>
          <p:cNvSpPr txBox="1"/>
          <p:nvPr/>
        </p:nvSpPr>
        <p:spPr>
          <a:xfrm>
            <a:off x="7984040" y="4096951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m: refused,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 A crosses the shelf</a:t>
            </a:r>
            <a:endParaRPr lang="en-US" sz="1200" dirty="0"/>
          </a:p>
        </p:txBody>
      </p:sp>
      <p:sp>
        <p:nvSpPr>
          <p:cNvPr id="27" name="caption"/>
          <p:cNvSpPr txBox="1"/>
          <p:nvPr/>
        </p:nvSpPr>
        <p:spPr>
          <a:xfrm>
            <a:off x="6324448" y="57607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view along the A–C diagonal; same floor spot (room centre), two heights. Example obstacle, checked with the planner's own test.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and next steps</a:t>
            </a:r>
            <a:endParaRPr lang="en-US" sz="4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test: self-calibration and a short move on the real hardware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 up in studs, powered from the switched power strip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Self-calibration on the real hardware: slack take-up, lift, floor-board poses, fit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 short lift and a 300 mm move at 50 mm/s with the 1 lb test load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Logged: cable lengths, encoder counts, motor temperatures and the fit's error bars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limits written before the run</a:t>
            </a:r>
            <a:endParaRPr lang="en-US" sz="1800" dirty="0"/>
          </a:p>
        </p:txBody>
      </p:sp>
      <p:sp>
        <p:nvSpPr>
          <p:cNvPr id="5" name="first test photo placeholder"/>
          <p:cNvSpPr/>
          <p:nvPr/>
        </p:nvSpPr>
        <p:spPr>
          <a:xfrm>
            <a:off x="6546336" y="1463040"/>
            <a:ext cx="5096719" cy="443484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6" name="placeholder text"/>
          <p:cNvSpPr txBox="1"/>
          <p:nvPr/>
        </p:nvSpPr>
        <p:spPr>
          <a:xfrm>
            <a:off x="6546336" y="3406140"/>
            <a:ext cx="5096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/ video from the first test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simulated; the next tests turn estimates into measurements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Built: stations, station boards, heat fins, the claw body (tube, mount, servo in its gear housing)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and checked in CAD: the hands, the camera housing, the encoder casing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and control: simulated, then the first test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tests, with pass limits written first: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winch pull test (decides the capacity fix)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90-min hold test: motor and printed mount under 60 °C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SolidWorks static and thermal studies of the station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four-station lift: 1 lb, 300 mm at 50 mm/s, within 2 mm per cable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Heat fin on the motor and the printed cl" descr="Heat fin on the motor and the printed claw bod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146146"/>
            <a:ext cx="2370052" cy="31600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8" name="Heat fin on the motor and the printed cl" descr="Heat fin on the motor and the printed claw bod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146146"/>
            <a:ext cx="2370052" cy="316006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546336" y="6062472"/>
            <a:ext cx="5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Built: the heat fin on the motor (left); the printed claw body with its servo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early, print test coupons first, and design for the worst case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before trusting a margin: the driver limit and the 1.14 V rail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test coupon before the part: the spool bore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tolerance where it matters: one mill setup for the fin's holes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the worst case: stall, the corner of the room, the hottest hour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Modularity paid for itself: every station can be pulled, fixed and put back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each requirement and delete parts: the IMU, the overhead camera, the five-finger hand, the long motor harnesses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46336" y="1463040"/>
            <a:ext cx="5096719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Final gripper head" descr="Final gripper 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751" y="1517904"/>
            <a:ext cx="2567890" cy="44165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·  jasper_buntinx@tamu.edu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claw electrical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4476774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protected 2S pack (7.4 V, 2200 mAh), 5 A fuse, main switch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 regulator for the servo only; separate 5 V buck and Schottky diode for the controller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read through 200k / 100k: 8.4 V → 2.80 V at the ADC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≈ 2.8–3.1 A against a ≈ 3 A pack rating: stalls must stay short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on the claw only with the switch off, attended, at ≤ 1 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36894" y="1463040"/>
            <a:ext cx="6206161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Claw schematic" descr="Claw schema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1758" y="1570308"/>
            <a:ext cx="6096433" cy="43117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gear strength (Lewis)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5586216" cy="388620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1.5, PETG allowable 22.5 MPa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6 V servo stall: pinion SF 2.05, 36T gear 2.50, sync gear 2.00 (one jaw carrying the load)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was screened first: SF 0.35–0.41, so the module went up</a:t>
            </a:r>
            <a:endParaRPr lang="en-US" sz="1800" dirty="0"/>
          </a:p>
        </p:txBody>
      </p:sp>
      <p:sp>
        <p:nvSpPr>
          <p:cNvPr id="5" name="equation box"/>
          <p:cNvSpPr/>
          <p:nvPr/>
        </p:nvSpPr>
        <p:spPr>
          <a:xfrm>
            <a:off x="548640" y="5550408"/>
            <a:ext cx="5586216" cy="71323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equation label"/>
          <p:cNvSpPr txBox="1"/>
          <p:nvPr/>
        </p:nvSpPr>
        <p:spPr>
          <a:xfrm>
            <a:off x="713232" y="5632704"/>
            <a:ext cx="5257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7" name="equations"/>
          <p:cNvSpPr txBox="1"/>
          <p:nvPr/>
        </p:nvSpPr>
        <p:spPr>
          <a:xfrm>
            <a:off x="713232" y="5879592"/>
            <a:ext cx="5257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F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(b m Y),   F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2τ / d,   SF = σ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4633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9" name="Compound and follower gears" descr="Compound and follower ge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200" y="2434134"/>
            <a:ext cx="2370052" cy="25840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63276" y="1463040"/>
            <a:ext cx="247978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1" name="Compound and follower gears" descr="Compound and follower ge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0" y="2712693"/>
            <a:ext cx="2370052" cy="202697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safety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9802094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hard stop: the switched power strip; faults and pause hold torque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 anchor into studs; the line load is mostly pull-out and prying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stands under the robot while it moves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 battery: protected pack, charged with the switch off and attended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safety-rated function is claimed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8640" y="329184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calculations and sources</a:t>
            </a:r>
            <a:endParaRPr lang="en-US" sz="2600" dirty="0"/>
          </a:p>
        </p:txBody>
      </p:sp>
      <p:sp>
        <p:nvSpPr>
          <p:cNvPr id="3" name="headline rule"/>
          <p:cNvSpPr/>
          <p:nvPr/>
        </p:nvSpPr>
        <p:spPr>
          <a:xfrm>
            <a:off x="548640" y="1316736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481328"/>
            <a:ext cx="9802094" cy="4736592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chart comes from my calculation sheet in Google Sheets, one tab per topic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 tension, winch pull, heat fin, motor temperature, wiring, bead homing, floor board, lift budget, gears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is a formula on its inputs; inputs are marked, with their source or assumption</a:t>
            </a:r>
            <a:endParaRPr lang="en-US" sz="1800" dirty="0"/>
          </a:p>
          <a:p>
            <a:pPr algn="l"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used: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Incropera, DeWitt, Bergman, Lavine: Fundamentals of Heat and Mass Transfer, ch. 3 (extended surfaces)</a:t>
            </a:r>
            <a:endParaRPr lang="en-US" sz="1800" dirty="0"/>
          </a:p>
          <a:p>
            <a:pPr algn="l"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MicroSystems: A4988 datasheet (current limit)</a:t>
            </a:r>
            <a:endParaRPr lang="en-US" sz="1800" dirty="0"/>
          </a:p>
        </p:txBody>
      </p:sp>
      <p:sp>
        <p:nvSpPr>
          <p:cNvPr id="6" name="sheet link"/>
          <p:cNvSpPr txBox="1"/>
          <p:nvPr/>
        </p:nvSpPr>
        <p:spPr>
          <a:xfrm>
            <a:off x="54864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Open the calculation shee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RoomCleaner engineering calculations (Google Sheets)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omCleaner v4">
  <a:themeElements>
    <a:clrScheme name="RoomCleaner v4">
      <a:dk1>
        <a:srgbClr val="1A1A1A"/>
      </a:dk1>
      <a:lt1>
        <a:srgbClr val="FFFFFF"/>
      </a:lt1>
      <a:dk2>
        <a:srgbClr val="1F3A5F"/>
      </a:dk2>
      <a:lt2>
        <a:srgbClr val="F2F2F4"/>
      </a:lt2>
      <a:accent1>
        <a:srgbClr val="1F3A5F"/>
      </a:accent1>
      <a:accent2>
        <a:srgbClr val="8A8F98"/>
      </a:accent2>
      <a:accent3>
        <a:srgbClr val="B23A2E"/>
      </a:accent3>
      <a:accent4>
        <a:srgbClr val="4F6D8F"/>
      </a:accent4>
      <a:accent5>
        <a:srgbClr val="D9DEE5"/>
      </a:accent5>
      <a:accent6>
        <a:srgbClr val="5B6470"/>
      </a:accent6>
      <a:hlink>
        <a:srgbClr val="1F3A5F"/>
      </a:hlink>
      <a:folHlink>
        <a:srgbClr val="4F6D8F"/>
      </a:folHlink>
    </a:clrScheme>
    <a:fontScheme name="RoomCleaner v4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RoomCleaner</dc:title>
  <dc:subject>PptxGenJS Presentation</dc:subject>
  <dc:creator>Jasper Buntinx</dc:creator>
  <cp:lastModifiedBy>Jasper Buntinx</cp:lastModifiedBy>
  <cp:revision>1</cp:revision>
  <dcterms:created xsi:type="dcterms:W3CDTF">2026-10-22T03:19:05Z</dcterms:created>
  <dcterms:modified xsi:type="dcterms:W3CDTF">2026-10-22T03:19:05Z</dcterms:modified>
</cp:coreProperties>
</file>