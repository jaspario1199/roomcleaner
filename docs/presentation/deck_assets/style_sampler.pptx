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rchetypes" id="{5ad9997e-98a3-025f-d2d3-3900cb434a7f}">
          <p14:sldIdLst>
            <p14:sldId id="256"/>
            <p14:sldId id="257"/>
            <p14:sldId id="258"/>
            <p14:sldId id="259"/>
            <p14:sldId id="260"/>
            <p14:sldId id="261"/>
            <p14:sldId id="262"/>
            <p14:sldId id="263"/>
            <p14:sldId id="264"/>
            <p14:sldId id="265"/>
          </p14:sldIdLst>
        </p14:section>
        <p14:section name="Reference" id="{d76edb14-f1cc-4e42-855a-a1867c61c9b1}">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Fin efficiency (%)</c:v>
                </c:pt>
              </c:strCache>
            </c:strRef>
          </c:tx>
          <c:spPr>
            <a:solidFill>
              <a:srgbClr val="6B7480"/>
            </a:solidFill>
            <a:effectLst/>
          </c:spPr>
          <c:invertIfNegative val="0"/>
          <c:dLbls>
            <c:numFmt formatCode="#,##0" sourceLinked="0"/>
            <c:txPr>
              <a:bodyPr/>
              <a:lstStyle/>
              <a:p>
                <a:pPr>
                  <a:defRPr b="1" i="0" strike="noStrike" sz="1400" u="none">
                    <a:solidFill>
                      <a:srgbClr val="0E1116"/>
                    </a:solidFill>
                    <a:latin typeface="+mn-lt"/>
                  </a:defRPr>
                </a:pPr>
              </a:p>
            </c:txPr>
            <c:showLegendKey val="0"/>
            <c:showVal val="1"/>
            <c:showCatName val="0"/>
            <c:showSerName val="0"/>
            <c:showPercent val="0"/>
            <c:showBubbleSize val="0"/>
            <c:showLeaderLines val="0"/>
          </c:dLbls>
          <c:dPt>
            <c:idx val="0"/>
            <c:invertIfNegative val="0"/>
            <c:bubble3D val="0"/>
            <c:spPr>
              <a:solidFill>
                <a:srgbClr val="6B7480"/>
              </a:solidFill>
              <a:effectLst/>
            </c:spPr>
          </c:dPt>
          <c:dPt>
            <c:idx val="1"/>
            <c:invertIfNegative val="0"/>
            <c:bubble3D val="0"/>
            <c:spPr>
              <a:solidFill>
                <a:srgbClr val="FF6A13"/>
              </a:solidFill>
              <a:effectLst/>
            </c:spPr>
          </c:dPt>
          <c:dPt>
            <c:idx val="2"/>
            <c:invertIfNegative val="0"/>
            <c:bubble3D val="0"/>
            <c:spPr>
              <a:solidFill>
                <a:srgbClr val="6B7480"/>
              </a:solidFill>
              <a:effectLst/>
            </c:spPr>
          </c:dPt>
          <c:cat>
            <c:multiLvlStrRef>
              <c:f>Sheet1!$A$2:$A$4</c:f>
              <c:multiLvlStrCache>
                <c:ptCount val="3"/>
                <c:lvl>
                  <c:pt idx="0">
                    <c:v>1/16"</c:v>
                  </c:pt>
                  <c:pt idx="1">
                    <c:v>1/8"</c:v>
                  </c:pt>
                  <c:pt idx="2">
                    <c:v>1/4"</c:v>
                  </c:pt>
                </c:lvl>
              </c:multiLvlStrCache>
            </c:multiLvlStrRef>
          </c:cat>
          <c:val>
            <c:numRef>
              <c:f>Sheet1!$B$2:$B$4</c:f>
              <c:numCache>
                <c:formatCode>General</c:formatCode>
                <c:ptCount val="3"/>
                <c:pt idx="0">
                  <c:v>54</c:v>
                </c:pt>
                <c:pt idx="1">
                  <c:v>68</c:v>
                </c:pt>
                <c:pt idx="2">
                  <c:v>81</c:v>
                </c:pt>
              </c:numCache>
            </c:numRef>
          </c:val>
        </c:ser>
        <c:dLbls>
          <c:numFmt formatCode="#,##0" sourceLinked="0"/>
          <c:txPr>
            <a:bodyPr/>
            <a:lstStyle/>
            <a:p>
              <a:pPr>
                <a:defRPr b="1" i="0" strike="noStrike" sz="1400" u="none">
                  <a:solidFill>
                    <a:srgbClr val="0E111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6B7480"/>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l"/>
        <c:majorGridlines>
          <c:spPr>
            <a:ln w="9525" cap="flat">
              <a:solidFill>
                <a:srgbClr val="E9EC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SAMPLE — Archetype A. Dark title, full-bleed hero photo right 55%, nothing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SAMPLE — Archetype B. Giant Signal number, one-line section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SAMPLE — Archetype C, the core slide. Photo left with one callout, three labelled lines right, decision rail at the bottom with the current step in Signal. Example numbers are placeholders until the real story is 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SAMPLE — Archetype D. Rejected options in Fog, chosen option in Signal tint with a Signal outline and Signal number. Numbers are the real fin-efficiency calc.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SAMPLE — Archetype E. One number, its label, the equation that made it, the source, and the evidence tag.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SAMPLE — Archetype F. Native chart, focus bar in Signal, others Steel, no legend, light gridlines; takeaways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SAMPLE — Archetype G. Three photos, equal size, 0.15 in gaps, numbered captions. No frames or shadows.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SAMPLE — Archetype H. Dated nodes; the current milestone in Signal; future node hollow. Dates taken from the CAD archive folders.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SAMPLE — Render variant of archetype C. Transparent orthographic render, subject part in Signal, three callouts max.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SAMPLE — Archetype I. Dark, three numbered lessons, contact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sheet — not part of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5120640" cy="16459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r>
              <a:rPr lang="en-US" sz="4400" b="1" dirty="0">
                <a:solidFill>
                  <a:schemeClr val="bg1"/>
                </a:solidFill>
              </a:rPr>
              <a:t>Title</a:t>
            </a:r>
            <a:endParaRPr lang="en-US" sz="4400" dirty="0"/>
          </a:p>
        </p:txBody>
      </p:sp>
      <p:sp>
        <p:nvSpPr>
          <p:cNvPr id="3" name="Text 0"/>
          <p:cNvSpPr/>
          <p:nvPr>
            <p:ph idx="101" type="body" hasCustomPrompt="1"/>
          </p:nvPr>
        </p:nvSpPr>
        <p:spPr>
          <a:xfrm>
            <a:off x="548640" y="3886200"/>
            <a:ext cx="4937760" cy="914400"/>
          </a:xfrm>
          <a:prstGeom prst="rect">
            <a:avLst/>
          </a:prstGeom>
          <a:noFill/>
          <a:ln/>
        </p:spPr>
        <p:txBody>
          <a:bodyPr wrap="square" rtlCol="0"/>
          <a:lstStyle>
            <a:lvl1pPr algn="l" indent="0" marL="0">
              <a:buNone/>
              <a:defRPr lang="en-US" sz="1800" dirty="0">
                <a:solidFill>
                  <a:srgbClr val="A9B0B8"/>
                </a:solidFill>
              </a:defRPr>
            </a:lvl1pPr>
          </a:lstStyle>
          <a:p>
            <a:pPr algn="l" indent="0" marL="0">
              <a:buNone/>
            </a:pPr>
            <a:r>
              <a:rPr lang="en-US" sz="1800" dirty="0">
                <a:solidFill>
                  <a:srgbClr val="A9B0B8"/>
                </a:solidFill>
              </a:rPr>
              <a:t>Subtitle</a:t>
            </a:r>
            <a:endParaRPr lang="en-US" sz="1800" dirty="0"/>
          </a:p>
        </p:txBody>
      </p:sp>
      <p:sp>
        <p:nvSpPr>
          <p:cNvPr id="4" name="Text 0"/>
          <p:cNvSpPr/>
          <p:nvPr>
            <p:ph idx="102" type="body" hasCustomPrompt="1"/>
          </p:nvPr>
        </p:nvSpPr>
        <p:spPr>
          <a:xfrm>
            <a:off x="548640" y="5852160"/>
            <a:ext cx="4937760" cy="365760"/>
          </a:xfrm>
          <a:prstGeom prst="rect">
            <a:avLst/>
          </a:prstGeom>
          <a:noFill/>
          <a:ln/>
        </p:spPr>
        <p:txBody>
          <a:bodyPr wrap="square" rtlCol="0"/>
          <a:lstStyle>
            <a:lvl1pPr algn="l" indent="0" marL="0">
              <a:buNone/>
              <a:defRPr lang="en-US" sz="1200" dirty="0">
                <a:solidFill>
                  <a:schemeClr val="tx2"/>
                </a:solidFill>
              </a:defRPr>
            </a:lvl1pPr>
          </a:lstStyle>
          <a:p>
            <a:pPr algn="l" indent="0" marL="0">
              <a:buNone/>
            </a:pPr>
            <a:r>
              <a:rPr lang="en-US" sz="1200" dirty="0">
                <a:solidFill>
                  <a:schemeClr val="tx2"/>
                </a:solidFill>
              </a:rPr>
              <a:t>Name · date</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Section">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3657600" cy="2011680"/>
          </a:xfrm>
          <a:prstGeom prst="rect">
            <a:avLst/>
          </a:prstGeom>
          <a:noFill/>
          <a:ln/>
        </p:spPr>
        <p:txBody>
          <a:bodyPr wrap="square" rtlCol="0"/>
          <a:lstStyle>
            <a:lvl1pPr algn="l" indent="0" marL="0">
              <a:buNone/>
              <a:defRPr lang="en-US" sz="14000" b="1" dirty="0">
                <a:solidFill>
                  <a:schemeClr val="accent1"/>
                </a:solidFill>
                <a:latin typeface="Arial" pitchFamily="34" charset="0"/>
                <a:ea typeface="Arial" pitchFamily="34" charset="-122"/>
                <a:cs typeface="Arial" pitchFamily="34" charset="-120"/>
              </a:defRPr>
            </a:lvl1pPr>
          </a:lstStyle>
          <a:p>
            <a:pPr algn="l" indent="0" marL="0">
              <a:buNone/>
            </a:pPr>
            <a:r>
              <a:rPr lang="en-US" sz="14000" b="1" dirty="0">
                <a:solidFill>
                  <a:schemeClr val="accent1"/>
                </a:solidFill>
                <a:latin typeface="Arial" pitchFamily="34" charset="0"/>
                <a:ea typeface="Arial" pitchFamily="34" charset="-122"/>
                <a:cs typeface="Arial" pitchFamily="34" charset="-120"/>
              </a:rPr>
              <a:t>01</a:t>
            </a:r>
            <a:endParaRPr lang="en-US" sz="14000" dirty="0"/>
          </a:p>
        </p:txBody>
      </p:sp>
      <p:sp>
        <p:nvSpPr>
          <p:cNvPr id="3" name="Text 0"/>
          <p:cNvSpPr/>
          <p:nvPr>
            <p:ph idx="101" type="title" hasCustomPrompt="1"/>
          </p:nvPr>
        </p:nvSpPr>
        <p:spPr>
          <a:xfrm>
            <a:off x="548640" y="3566160"/>
            <a:ext cx="8229600" cy="109728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r>
              <a:rPr lang="en-US" sz="3600" b="1" dirty="0">
                <a:solidFill>
                  <a:schemeClr val="bg1"/>
                </a:solidFill>
              </a:rPr>
              <a:t>Section claim</a:t>
            </a:r>
            <a:endParaRPr lang="en-US" sz="3600" dirty="0"/>
          </a:p>
        </p:txBody>
      </p:sp>
      <p:sp>
        <p:nvSpPr>
          <p:cNvPr id="4" name="Text 0"/>
          <p:cNvSpPr/>
          <p:nvPr>
            <p:ph idx="102" type="body" hasCustomPrompt="1"/>
          </p:nvPr>
        </p:nvSpPr>
        <p:spPr>
          <a:xfrm>
            <a:off x="548640" y="4846320"/>
            <a:ext cx="7315200" cy="731520"/>
          </a:xfrm>
          <a:prstGeom prst="rect">
            <a:avLst/>
          </a:prstGeom>
          <a:noFill/>
          <a:ln/>
        </p:spPr>
        <p:txBody>
          <a:bodyPr wrap="square" rtlCol="0"/>
          <a:lstStyle>
            <a:lvl1pPr algn="l" indent="0" marL="0">
              <a:buNone/>
              <a:defRPr lang="en-US" sz="1600" dirty="0">
                <a:solidFill>
                  <a:srgbClr val="A9B0B8"/>
                </a:solidFill>
              </a:defRPr>
            </a:lvl1pPr>
          </a:lstStyle>
          <a:p>
            <a:pPr algn="l" indent="0" marL="0">
              <a:buNone/>
            </a:pPr>
            <a:r>
              <a:rPr lang="en-US" sz="1600" dirty="0">
                <a:solidFill>
                  <a:srgbClr val="A9B0B8"/>
                </a:solidFill>
              </a:rPr>
              <a:t>One line on what this act covers</a:t>
            </a:r>
            <a:endParaRPr lang="en-US" sz="1600" dirty="0"/>
          </a:p>
        </p:txBody>
      </p:sp>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7315200" cy="274320"/>
          </a:xfrm>
          <a:prstGeom prst="rect">
            <a:avLst/>
          </a:prstGeom>
          <a:noFill/>
          <a:ln/>
        </p:spPr>
        <p:txBody>
          <a:bodyPr wrap="square" rtlCol="0"/>
          <a:lstStyle>
            <a:lvl1pPr algn="l" indent="0" marL="0">
              <a:buNone/>
              <a:defRPr lang="en-US" sz="1100" b="1" spc="150" kern="0" dirty="0">
                <a:solidFill>
                  <a:schemeClr val="tx2"/>
                </a:solidFill>
                <a:latin typeface="Arial" pitchFamily="34" charset="0"/>
                <a:ea typeface="Arial" pitchFamily="34" charset="-122"/>
                <a:cs typeface="Arial" pitchFamily="34" charset="-120"/>
              </a:defRPr>
            </a:lvl1pPr>
          </a:lstStyle>
          <a:p>
            <a:pPr algn="l" indent="0" marL="0">
              <a:buNone/>
            </a:pPr>
            <a:r>
              <a:rPr lang="en-US" sz="1100" b="1" spc="150" kern="0" dirty="0">
                <a:solidFill>
                  <a:schemeClr val="tx2"/>
                </a:solidFill>
                <a:latin typeface="Arial" pitchFamily="34" charset="0"/>
                <a:ea typeface="Arial" pitchFamily="34" charset="-122"/>
                <a:cs typeface="Arial" pitchFamily="34" charset="-120"/>
              </a:rPr>
              <a:t>EYEBROW</a:t>
            </a:r>
            <a:endParaRPr lang="en-US" sz="1100" dirty="0"/>
          </a:p>
        </p:txBody>
      </p:sp>
      <p:sp>
        <p:nvSpPr>
          <p:cNvPr id="3" name="Text 0"/>
          <p:cNvSpPr/>
          <p:nvPr>
            <p:ph idx="101" type="title" hasCustomPrompt="1"/>
          </p:nvPr>
        </p:nvSpPr>
        <p:spPr>
          <a:xfrm>
            <a:off x="548640" y="731520"/>
            <a:ext cx="9357055" cy="9601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r>
              <a:rPr lang="en-US" sz="3000" b="1" dirty="0">
                <a:solidFill>
                  <a:schemeClr val="tx1"/>
                </a:solidFill>
              </a:rPr>
              <a:t>Claim title</a:t>
            </a:r>
            <a:endParaRPr lang="en-US" sz="3000" dirty="0"/>
          </a:p>
        </p:txBody>
      </p:sp>
      <p:sp>
        <p:nvSpPr>
          <p:cNvPr id="4" name="Text 0"/>
          <p:cNvSpPr/>
          <p:nvPr/>
        </p:nvSpPr>
        <p:spPr>
          <a:xfrm>
            <a:off x="548640" y="6446520"/>
            <a:ext cx="3657600" cy="274320"/>
          </a:xfrm>
          <a:prstGeom prst="rect">
            <a:avLst/>
          </a:prstGeom>
          <a:noFill/>
          <a:ln/>
        </p:spPr>
        <p:txBody>
          <a:bodyPr wrap="square" lIns="0" tIns="0" rIns="0" bIns="0" rtlCol="0" anchor="ctr"/>
          <a:lstStyle/>
          <a:p>
            <a:pPr indent="0" marL="0">
              <a:buNone/>
            </a:pPr>
            <a:r>
              <a:rPr lang="en-US" sz="900" b="1" spc="150" kern="0" dirty="0">
                <a:solidFill>
                  <a:schemeClr val="tx2"/>
                </a:solidFill>
              </a:rPr>
              <a:t>ROOMCLEANER</a:t>
            </a:r>
            <a:endParaRPr lang="en-US" sz="900" dirty="0"/>
          </a:p>
        </p:txBody>
      </p:sp>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 Closing">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731520"/>
            <a:ext cx="7315200" cy="274320"/>
          </a:xfrm>
          <a:prstGeom prst="rect">
            <a:avLst/>
          </a:prstGeom>
          <a:noFill/>
          <a:ln/>
        </p:spPr>
        <p:txBody>
          <a:bodyPr wrap="square" rtlCol="0"/>
          <a:lstStyle>
            <a:lvl1pPr algn="l" indent="0" marL="0">
              <a:buNone/>
              <a:defRPr lang="en-US" sz="1100" b="1" spc="150" kern="0" dirty="0">
                <a:solidFill>
                  <a:schemeClr val="accent1"/>
                </a:solidFill>
                <a:latin typeface="Arial" pitchFamily="34" charset="0"/>
                <a:ea typeface="Arial" pitchFamily="34" charset="-122"/>
                <a:cs typeface="Arial" pitchFamily="34" charset="-120"/>
              </a:defRPr>
            </a:lvl1pPr>
          </a:lstStyle>
          <a:p>
            <a:pPr algn="l" indent="0" marL="0">
              <a:buNone/>
            </a:pPr>
            <a:r>
              <a:rPr lang="en-US" sz="1100" b="1" spc="150" kern="0" dirty="0">
                <a:solidFill>
                  <a:schemeClr val="accent1"/>
                </a:solidFill>
                <a:latin typeface="Arial" pitchFamily="34" charset="0"/>
                <a:ea typeface="Arial" pitchFamily="34" charset="-122"/>
                <a:cs typeface="Arial" pitchFamily="34" charset="-120"/>
              </a:rPr>
              <a:t>EYEBROW</a:t>
            </a:r>
            <a:endParaRPr lang="en-US" sz="1100" dirty="0"/>
          </a:p>
        </p:txBody>
      </p:sp>
      <p:sp>
        <p:nvSpPr>
          <p:cNvPr id="3" name="Text 0"/>
          <p:cNvSpPr/>
          <p:nvPr>
            <p:ph idx="101" type="title" hasCustomPrompt="1"/>
          </p:nvPr>
        </p:nvSpPr>
        <p:spPr>
          <a:xfrm>
            <a:off x="548640" y="1097280"/>
            <a:ext cx="10058400" cy="9144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r>
              <a:rPr lang="en-US" sz="3600" b="1" dirty="0">
                <a:solidFill>
                  <a:schemeClr val="bg1"/>
                </a:solidFill>
              </a:rPr>
              <a:t>Closing claim</a:t>
            </a: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image" Target="../media/image-7-3.jp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5120640" cy="1645920"/>
          </a:xfrm>
          <a:prstGeom prst="rect">
            <a:avLst/>
          </a:prstGeom>
          <a:noFill/>
          <a:ln/>
        </p:spPr>
        <p:txBody>
          <a:bodyPr wrap="square" lIns="0" tIns="0" rIns="0" bIns="0" rtlCol="0" anchor="b"/>
          <a:lstStyle/>
          <a:p>
            <a:pPr algn="l" indent="0" marL="0">
              <a:buNone/>
            </a:pPr>
            <a:r>
              <a:rPr lang="en-US" sz="4400" b="1" dirty="0">
                <a:solidFill>
                  <a:schemeClr val="bg1"/>
                </a:solidFill>
              </a:rPr>
              <a:t>RoomCleaner</a:t>
            </a:r>
            <a:endParaRPr lang="en-US" sz="4400" dirty="0"/>
          </a:p>
        </p:txBody>
      </p:sp>
      <p:sp>
        <p:nvSpPr>
          <p:cNvPr id="3" name="Text 0"/>
          <p:cNvSpPr/>
          <p:nvPr>
            <p:ph idx="101" type="body" hasCustomPrompt="1"/>
          </p:nvPr>
        </p:nvSpPr>
        <p:spPr>
          <a:xfrm>
            <a:off x="548640" y="3886200"/>
            <a:ext cx="4937760" cy="914400"/>
          </a:xfrm>
          <a:prstGeom prst="rect">
            <a:avLst/>
          </a:prstGeom>
          <a:noFill/>
          <a:ln/>
        </p:spPr>
        <p:txBody>
          <a:bodyPr wrap="square" lIns="0" tIns="0" rIns="0" bIns="0" rtlCol="0" anchor="t"/>
          <a:lstStyle/>
          <a:p>
            <a:pPr algn="l" indent="0" marL="0">
              <a:buNone/>
            </a:pPr>
            <a:r>
              <a:rPr lang="en-US" sz="1800" dirty="0">
                <a:solidFill>
                  <a:srgbClr val="A9B0B8"/>
                </a:solidFill>
              </a:rPr>
              <a:t>A cable-driven robot that picks laundry off the floor</a:t>
            </a:r>
            <a:endParaRPr lang="en-US" sz="1800" dirty="0"/>
          </a:p>
        </p:txBody>
      </p:sp>
      <p:sp>
        <p:nvSpPr>
          <p:cNvPr id="4" name="Text 0"/>
          <p:cNvSpPr/>
          <p:nvPr>
            <p:ph idx="102" type="body" hasCustomPrompt="1"/>
          </p:nvPr>
        </p:nvSpPr>
        <p:spPr>
          <a:xfrm>
            <a:off x="548640" y="5852160"/>
            <a:ext cx="4937760" cy="365760"/>
          </a:xfrm>
          <a:prstGeom prst="rect">
            <a:avLst/>
          </a:prstGeom>
          <a:noFill/>
          <a:ln/>
        </p:spPr>
        <p:txBody>
          <a:bodyPr wrap="square" lIns="0" tIns="0" rIns="0" bIns="0" rtlCol="0"/>
          <a:lstStyle/>
          <a:p>
            <a:pPr algn="l" indent="0" marL="0">
              <a:buNone/>
            </a:pPr>
            <a:r>
              <a:rPr lang="en-US" sz="1200" dirty="0">
                <a:solidFill>
                  <a:schemeClr val="tx2"/>
                </a:solidFill>
              </a:rPr>
              <a:t>Jasper Buntinx · Technical presentation · Oct 27, 2026</a:t>
            </a:r>
            <a:endParaRPr lang="en-US" sz="1200" dirty="0"/>
          </a:p>
        </p:txBody>
      </p:sp>
      <p:pic>
        <p:nvPicPr>
          <p:cNvPr id="5" name="hero_photo" descr="hero_photo">    </p:cNvPr>
          <p:cNvPicPr>
            <a:picLocks noChangeAspect="1"/>
          </p:cNvPicPr>
          <p:nvPr/>
        </p:nvPicPr>
        <p:blipFill>
          <a:blip r:embed="rId1"/>
          <a:srcRect l="0" r="0" t="0" b="0"/>
          <a:stretch/>
        </p:blipFill>
        <p:spPr>
          <a:xfrm>
            <a:off x="5486263" y="0"/>
            <a:ext cx="670543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3657600" cy="2011680"/>
          </a:xfrm>
          <a:prstGeom prst="rect">
            <a:avLst/>
          </a:prstGeom>
          <a:noFill/>
          <a:ln/>
        </p:spPr>
        <p:txBody>
          <a:bodyPr wrap="square" lIns="0" tIns="0" rIns="0" bIns="0" rtlCol="0" anchor="b"/>
          <a:lstStyle/>
          <a:p>
            <a:pPr algn="l" indent="0" marL="0">
              <a:buNone/>
            </a:pPr>
            <a:r>
              <a:rPr lang="en-US" sz="14000" b="1" dirty="0">
                <a:solidFill>
                  <a:schemeClr val="accent1"/>
                </a:solidFill>
                <a:latin typeface="Arial" pitchFamily="34" charset="0"/>
                <a:ea typeface="Arial" pitchFamily="34" charset="-122"/>
                <a:cs typeface="Arial" pitchFamily="34" charset="-120"/>
              </a:rPr>
              <a:t>02</a:t>
            </a:r>
            <a:endParaRPr lang="en-US" sz="14000" dirty="0"/>
          </a:p>
        </p:txBody>
      </p:sp>
      <p:sp>
        <p:nvSpPr>
          <p:cNvPr id="3" name="Text 0"/>
          <p:cNvSpPr/>
          <p:nvPr>
            <p:ph idx="101" type="title" hasCustomPrompt="1"/>
          </p:nvPr>
        </p:nvSpPr>
        <p:spPr>
          <a:xfrm>
            <a:off x="548640" y="3566160"/>
            <a:ext cx="8229600" cy="1097280"/>
          </a:xfrm>
          <a:prstGeom prst="rect">
            <a:avLst/>
          </a:prstGeom>
          <a:noFill/>
          <a:ln/>
        </p:spPr>
        <p:txBody>
          <a:bodyPr wrap="square" lIns="0" tIns="0" rIns="0" bIns="0" rtlCol="0" anchor="t"/>
          <a:lstStyle/>
          <a:p>
            <a:pPr algn="l" indent="0" marL="0">
              <a:buNone/>
            </a:pPr>
            <a:r>
              <a:rPr lang="en-US" sz="3600" b="1" dirty="0">
                <a:solidFill>
                  <a:schemeClr val="bg1"/>
                </a:solidFill>
              </a:rPr>
              <a:t>The winch station had to survive its own motor</a:t>
            </a:r>
            <a:endParaRPr lang="en-US" sz="3600" dirty="0"/>
          </a:p>
        </p:txBody>
      </p:sp>
      <p:sp>
        <p:nvSpPr>
          <p:cNvPr id="4" name="Text 0"/>
          <p:cNvSpPr/>
          <p:nvPr>
            <p:ph idx="102" type="body" hasCustomPrompt="1"/>
          </p:nvPr>
        </p:nvSpPr>
        <p:spPr>
          <a:xfrm>
            <a:off x="548640" y="4846320"/>
            <a:ext cx="7315200" cy="731520"/>
          </a:xfrm>
          <a:prstGeom prst="rect">
            <a:avLst/>
          </a:prstGeom>
          <a:noFill/>
          <a:ln/>
        </p:spPr>
        <p:txBody>
          <a:bodyPr wrap="square" lIns="0" tIns="0" rIns="0" bIns="0" rtlCol="0" anchor="t"/>
          <a:lstStyle/>
          <a:p>
            <a:pPr algn="l" indent="0" marL="0">
              <a:buNone/>
            </a:pPr>
            <a:r>
              <a:rPr lang="en-US" sz="1600" dirty="0">
                <a:solidFill>
                  <a:srgbClr val="A9B0B8"/>
                </a:solidFill>
              </a:rPr>
              <a:t>Heat, torque and a spool that kept walking off its shaft</a:t>
            </a:r>
            <a:endParaRPr lang="en-US" sz="1600" dirty="0"/>
          </a:p>
        </p:txBody>
      </p:sp>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7315200" cy="274320"/>
          </a:xfrm>
          <a:prstGeom prst="rect">
            <a:avLst/>
          </a:prstGeom>
          <a:noFill/>
          <a:ln/>
        </p:spPr>
        <p:txBody>
          <a:bodyPr wrap="square" lIns="0" tIns="0" rIns="0" bIns="0" rtlCol="0"/>
          <a:lstStyle/>
          <a:p>
            <a:pPr algn="l" indent="0" marL="0">
              <a:buNone/>
            </a:pPr>
            <a:r>
              <a:rPr lang="en-US" sz="1100" b="1" spc="150" kern="0" dirty="0">
                <a:solidFill>
                  <a:schemeClr val="tx2"/>
                </a:solidFill>
                <a:latin typeface="Arial" pitchFamily="34" charset="0"/>
                <a:ea typeface="Arial" pitchFamily="34" charset="-122"/>
                <a:cs typeface="Arial" pitchFamily="34" charset="-120"/>
              </a:rPr>
              <a:t>DECISION 04 · HEAT</a:t>
            </a:r>
            <a:endParaRPr lang="en-US" sz="1100" dirty="0"/>
          </a:p>
        </p:txBody>
      </p:sp>
      <p:sp>
        <p:nvSpPr>
          <p:cNvPr id="3" name="Text 0"/>
          <p:cNvSpPr/>
          <p:nvPr>
            <p:ph idx="101" type="title" hasCustomPrompt="1"/>
          </p:nvPr>
        </p:nvSpPr>
        <p:spPr>
          <a:xfrm>
            <a:off x="548640" y="731520"/>
            <a:ext cx="9357055" cy="960120"/>
          </a:xfrm>
          <a:prstGeom prst="rect">
            <a:avLst/>
          </a:prstGeom>
          <a:noFill/>
          <a:ln/>
        </p:spPr>
        <p:txBody>
          <a:bodyPr wrap="square" lIns="0" tIns="0" rIns="0" bIns="0" rtlCol="0" anchor="t"/>
          <a:lstStyle/>
          <a:p>
            <a:pPr algn="l" indent="0" marL="0">
              <a:buNone/>
            </a:pPr>
            <a:r>
              <a:rPr lang="en-US" sz="3000" b="1" dirty="0">
                <a:solidFill>
                  <a:schemeClr val="tx1"/>
                </a:solidFill>
              </a:rPr>
              <a:t>An aluminium fin pulls heat out of a sealed printed shell</a:t>
            </a:r>
            <a:endParaRPr lang="en-US" sz="3000" dirty="0"/>
          </a:p>
        </p:txBody>
      </p:sp>
      <p:sp>
        <p:nvSpPr>
          <p:cNvPr id="4" name="tag_CALCULATED"/>
          <p:cNvSpPr txBox="1"/>
          <p:nvPr/>
        </p:nvSpPr>
        <p:spPr>
          <a:xfrm>
            <a:off x="10317175" y="429768"/>
            <a:ext cx="1325880" cy="256032"/>
          </a:xfrm>
          <a:prstGeom prst="roundRect">
            <a:avLst>
              <a:gd name="adj" fmla="val 50000"/>
            </a:avLst>
          </a:prstGeom>
          <a:solidFill>
            <a:schemeClr val="bg1"/>
          </a:solidFill>
          <a:ln w="12700">
            <a:solidFill>
              <a:schemeClr val="tx1"/>
            </a:solidFill>
          </a:ln>
        </p:spPr>
        <p:txBody>
          <a:bodyPr wrap="square" lIns="0" tIns="0" rIns="0" bIns="0" rtlCol="0" anchor="ctr"/>
          <a:lstStyle/>
          <a:p>
            <a:pPr algn="ctr" indent="0" marL="0">
              <a:buNone/>
            </a:pPr>
            <a:r>
              <a:rPr lang="en-US" sz="900" b="1" spc="120" kern="0" dirty="0">
                <a:solidFill>
                  <a:schemeClr val="tx1"/>
                </a:solidFill>
                <a:latin typeface="Arial" pitchFamily="34" charset="0"/>
                <a:ea typeface="Arial" pitchFamily="34" charset="-122"/>
                <a:cs typeface="Arial" pitchFamily="34" charset="-120"/>
              </a:rPr>
              <a:t>CALCULATED</a:t>
            </a:r>
            <a:endParaRPr lang="en-US" sz="900" dirty="0"/>
          </a:p>
        </p:txBody>
      </p:sp>
      <p:pic>
        <p:nvPicPr>
          <p:cNvPr id="5" name="decision_photo" descr="decision_photo">    </p:cNvPr>
          <p:cNvPicPr>
            <a:picLocks noChangeAspect="1"/>
          </p:cNvPicPr>
          <p:nvPr/>
        </p:nvPicPr>
        <p:blipFill>
          <a:blip r:embed="rId1"/>
          <a:srcRect l="0" r="0" t="0" b="0"/>
          <a:stretch/>
        </p:blipFill>
        <p:spPr>
          <a:xfrm>
            <a:off x="548640" y="1874520"/>
            <a:ext cx="4754880" cy="3794760"/>
          </a:xfrm>
          <a:prstGeom prst="rect">
            <a:avLst/>
          </a:prstGeom>
        </p:spPr>
      </p:pic>
      <p:sp>
        <p:nvSpPr>
          <p:cNvPr id="6" name="callout_line_#29 drill · Ø3.4"/>
          <p:cNvSpPr/>
          <p:nvPr/>
        </p:nvSpPr>
        <p:spPr>
          <a:xfrm flipH="1">
            <a:off x="2231136" y="2286000"/>
            <a:ext cx="786384" cy="822960"/>
          </a:xfrm>
          <a:prstGeom prst="line">
            <a:avLst/>
          </a:prstGeom>
          <a:noFill/>
          <a:ln w="12700">
            <a:solidFill>
              <a:schemeClr val="tx1"/>
            </a:solidFill>
            <a:prstDash val="solid"/>
          </a:ln>
        </p:spPr>
      </p:sp>
      <p:sp>
        <p:nvSpPr>
          <p:cNvPr id="7" name="callout_dot_#29 drill · Ø3.4"/>
          <p:cNvSpPr/>
          <p:nvPr/>
        </p:nvSpPr>
        <p:spPr>
          <a:xfrm>
            <a:off x="2176272" y="3054096"/>
            <a:ext cx="109728" cy="109728"/>
          </a:xfrm>
          <a:prstGeom prst="ellipse">
            <a:avLst/>
          </a:prstGeom>
          <a:solidFill>
            <a:schemeClr val="accent1"/>
          </a:solidFill>
          <a:ln w="12700">
            <a:solidFill>
              <a:schemeClr val="bg1"/>
            </a:solidFill>
            <a:prstDash val="solid"/>
          </a:ln>
        </p:spPr>
      </p:sp>
      <p:sp>
        <p:nvSpPr>
          <p:cNvPr id="8" name="callout_label_#29 drill · Ø3.4"/>
          <p:cNvSpPr txBox="1"/>
          <p:nvPr/>
        </p:nvSpPr>
        <p:spPr>
          <a:xfrm>
            <a:off x="3063240" y="2139696"/>
            <a:ext cx="1883664" cy="292608"/>
          </a:xfrm>
          <a:prstGeom prst="rect">
            <a:avLst/>
          </a:prstGeom>
          <a:solidFill>
            <a:schemeClr val="bg1"/>
          </a:solidFill>
          <a:ln/>
        </p:spPr>
        <p:txBody>
          <a:bodyPr wrap="square" lIns="0" tIns="0" rIns="0" bIns="0" rtlCol="0" anchor="ctr"/>
          <a:lstStyle/>
          <a:p>
            <a:pPr algn="ctr" indent="0" marL="0">
              <a:buNone/>
            </a:pPr>
            <a:r>
              <a:rPr lang="en-US" sz="1200" b="1" dirty="0">
                <a:solidFill>
                  <a:schemeClr val="tx1"/>
                </a:solidFill>
                <a:latin typeface="Arial" pitchFamily="34" charset="0"/>
                <a:ea typeface="Arial" pitchFamily="34" charset="-122"/>
                <a:cs typeface="Arial" pitchFamily="34" charset="-120"/>
              </a:rPr>
              <a:t>#29 drill · Ø3.4</a:t>
            </a:r>
            <a:endParaRPr lang="en-US" sz="1200" dirty="0"/>
          </a:p>
        </p:txBody>
      </p:sp>
      <p:sp>
        <p:nvSpPr>
          <p:cNvPr id="9" name="Text 6"/>
          <p:cNvSpPr txBox="1"/>
          <p:nvPr/>
        </p:nvSpPr>
        <p:spPr>
          <a:xfrm>
            <a:off x="5669280" y="1920240"/>
            <a:ext cx="5973775" cy="274320"/>
          </a:xfrm>
          <a:prstGeom prst="rect">
            <a:avLst/>
          </a:prstGeom>
          <a:noFill/>
          <a:ln/>
        </p:spPr>
        <p:txBody>
          <a:bodyPr wrap="square" lIns="0" tIns="0" rIns="0" bIns="0" rtlCol="0" anchor="ctr"/>
          <a:lstStyle/>
          <a:p>
            <a:pPr indent="0" marL="0">
              <a:buNone/>
            </a:pPr>
            <a:r>
              <a:rPr lang="en-US" sz="1100" b="1" spc="150" kern="0" dirty="0">
                <a:solidFill>
                  <a:schemeClr val="tx2"/>
                </a:solidFill>
                <a:latin typeface="Arial" pitchFamily="34" charset="0"/>
                <a:ea typeface="Arial" pitchFamily="34" charset="-122"/>
                <a:cs typeface="Arial" pitchFamily="34" charset="-120"/>
              </a:rPr>
              <a:t>TRIGGER</a:t>
            </a:r>
            <a:endParaRPr lang="en-US" sz="1100" dirty="0"/>
          </a:p>
        </p:txBody>
      </p:sp>
      <p:sp>
        <p:nvSpPr>
          <p:cNvPr id="10" name="Text 7"/>
          <p:cNvSpPr txBox="1"/>
          <p:nvPr/>
        </p:nvSpPr>
        <p:spPr>
          <a:xfrm>
            <a:off x="5669280" y="2212848"/>
            <a:ext cx="5973775" cy="731520"/>
          </a:xfrm>
          <a:prstGeom prst="rect">
            <a:avLst/>
          </a:prstGeom>
          <a:noFill/>
          <a:ln/>
        </p:spPr>
        <p:txBody>
          <a:bodyPr wrap="square" lIns="0" tIns="0" rIns="0" bIns="0" rtlCol="0" anchor="t"/>
          <a:lstStyle/>
          <a:p>
            <a:pPr indent="0" marL="0">
              <a:buNone/>
            </a:pPr>
            <a:r>
              <a:rPr lang="en-US" sz="1600" dirty="0">
                <a:solidFill>
                  <a:schemeClr val="tx1"/>
                </a:solidFill>
              </a:rPr>
              <a:t>Sealing the station in PETG made the motor mount its hottest, most loaded joint</a:t>
            </a:r>
            <a:endParaRPr lang="en-US" sz="1600" dirty="0"/>
          </a:p>
        </p:txBody>
      </p:sp>
      <p:sp>
        <p:nvSpPr>
          <p:cNvPr id="11" name="Text 8"/>
          <p:cNvSpPr txBox="1"/>
          <p:nvPr/>
        </p:nvSpPr>
        <p:spPr>
          <a:xfrm>
            <a:off x="5669280" y="3108960"/>
            <a:ext cx="5973775" cy="274320"/>
          </a:xfrm>
          <a:prstGeom prst="rect">
            <a:avLst/>
          </a:prstGeom>
          <a:noFill/>
          <a:ln/>
        </p:spPr>
        <p:txBody>
          <a:bodyPr wrap="square" lIns="0" tIns="0" rIns="0" bIns="0" rtlCol="0" anchor="ctr"/>
          <a:lstStyle/>
          <a:p>
            <a:pPr indent="0" marL="0">
              <a:buNone/>
            </a:pPr>
            <a:r>
              <a:rPr lang="en-US" sz="1100" b="1" spc="150" kern="0" dirty="0">
                <a:solidFill>
                  <a:schemeClr val="tx2"/>
                </a:solidFill>
                <a:latin typeface="Arial" pitchFamily="34" charset="0"/>
                <a:ea typeface="Arial" pitchFamily="34" charset="-122"/>
                <a:cs typeface="Arial" pitchFamily="34" charset="-120"/>
              </a:rPr>
              <a:t>OPTIONS</a:t>
            </a:r>
            <a:endParaRPr lang="en-US" sz="1100" dirty="0"/>
          </a:p>
        </p:txBody>
      </p:sp>
      <p:sp>
        <p:nvSpPr>
          <p:cNvPr id="12" name="Text 9"/>
          <p:cNvSpPr txBox="1"/>
          <p:nvPr/>
        </p:nvSpPr>
        <p:spPr>
          <a:xfrm>
            <a:off x="5669280" y="3401568"/>
            <a:ext cx="5973775" cy="731520"/>
          </a:xfrm>
          <a:prstGeom prst="rect">
            <a:avLst/>
          </a:prstGeom>
          <a:noFill/>
          <a:ln/>
        </p:spPr>
        <p:txBody>
          <a:bodyPr wrap="square" lIns="0" tIns="0" rIns="0" bIns="0" rtlCol="0" anchor="t"/>
          <a:lstStyle/>
          <a:p>
            <a:pPr indent="0" marL="0">
              <a:buNone/>
            </a:pPr>
            <a:r>
              <a:rPr lang="en-US" sz="1600" dirty="0">
                <a:solidFill>
                  <a:schemeClr val="tx1"/>
                </a:solidFill>
              </a:rPr>
              <a:t>Seven fixes weighed: vents, a cooler driver, ASA, a thermistor, a metal fin …</a:t>
            </a:r>
            <a:endParaRPr lang="en-US" sz="1600" dirty="0"/>
          </a:p>
        </p:txBody>
      </p:sp>
      <p:sp>
        <p:nvSpPr>
          <p:cNvPr id="13" name="Text 10"/>
          <p:cNvSpPr txBox="1"/>
          <p:nvPr/>
        </p:nvSpPr>
        <p:spPr>
          <a:xfrm>
            <a:off x="5669280" y="4297680"/>
            <a:ext cx="5973775" cy="274320"/>
          </a:xfrm>
          <a:prstGeom prst="rect">
            <a:avLst/>
          </a:prstGeom>
          <a:noFill/>
          <a:ln/>
        </p:spPr>
        <p:txBody>
          <a:bodyPr wrap="square" lIns="0" tIns="0" rIns="0" bIns="0" rtlCol="0" anchor="ctr"/>
          <a:lstStyle/>
          <a:p>
            <a:pPr indent="0" marL="0">
              <a:buNone/>
            </a:pPr>
            <a:r>
              <a:rPr lang="en-US" sz="1100" b="1" spc="150" kern="0" dirty="0">
                <a:solidFill>
                  <a:schemeClr val="accent1"/>
                </a:solidFill>
                <a:latin typeface="Arial" pitchFamily="34" charset="0"/>
                <a:ea typeface="Arial" pitchFamily="34" charset="-122"/>
                <a:cs typeface="Arial" pitchFamily="34" charset="-120"/>
              </a:rPr>
              <a:t>CHOICE</a:t>
            </a:r>
            <a:endParaRPr lang="en-US" sz="1100" dirty="0"/>
          </a:p>
        </p:txBody>
      </p:sp>
      <p:sp>
        <p:nvSpPr>
          <p:cNvPr id="14" name="Text 11"/>
          <p:cNvSpPr txBox="1"/>
          <p:nvPr/>
        </p:nvSpPr>
        <p:spPr>
          <a:xfrm>
            <a:off x="5669280" y="4590288"/>
            <a:ext cx="5973775" cy="731520"/>
          </a:xfrm>
          <a:prstGeom prst="rect">
            <a:avLst/>
          </a:prstGeom>
          <a:noFill/>
          <a:ln/>
        </p:spPr>
        <p:txBody>
          <a:bodyPr wrap="square" lIns="0" tIns="0" rIns="0" bIns="0" rtlCol="0" anchor="t"/>
          <a:lstStyle/>
          <a:p>
            <a:pPr indent="0" marL="0">
              <a:buNone/>
            </a:pPr>
            <a:r>
              <a:rPr lang="en-US" sz="1600" dirty="0">
                <a:solidFill>
                  <a:schemeClr val="tx1"/>
                </a:solidFill>
              </a:rPr>
              <a:t>A 1/8 in 6061 fin, narrowed to 44 × 250 mm to fit the station</a:t>
            </a:r>
            <a:endParaRPr lang="en-US" sz="1600" dirty="0"/>
          </a:p>
        </p:txBody>
      </p:sp>
      <p:sp>
        <p:nvSpPr>
          <p:cNvPr id="15" name="rail_line"/>
          <p:cNvSpPr/>
          <p:nvPr/>
        </p:nvSpPr>
        <p:spPr>
          <a:xfrm>
            <a:off x="676656" y="5934456"/>
            <a:ext cx="8875532" cy="0"/>
          </a:xfrm>
          <a:prstGeom prst="line">
            <a:avLst/>
          </a:prstGeom>
          <a:noFill/>
          <a:ln w="25400">
            <a:solidFill>
              <a:schemeClr val="bg2"/>
            </a:solidFill>
            <a:prstDash val="solid"/>
          </a:ln>
        </p:spPr>
      </p:sp>
      <p:sp>
        <p:nvSpPr>
          <p:cNvPr id="16" name="rail_dot_1"/>
          <p:cNvSpPr txBox="1"/>
          <p:nvPr/>
        </p:nvSpPr>
        <p:spPr>
          <a:xfrm>
            <a:off x="548640" y="5806440"/>
            <a:ext cx="256032" cy="256032"/>
          </a:xfrm>
          <a:prstGeom prst="ellipse">
            <a:avLst/>
          </a:prstGeom>
          <a:solidFill>
            <a:schemeClr val="tx1"/>
          </a:solidFill>
          <a:ln w="9525">
            <a:solidFill>
              <a:schemeClr val="tx1"/>
            </a:solidFill>
          </a:ln>
        </p:spPr>
        <p:txBody>
          <a:bodyPr wrap="square" lIns="0" tIns="0" rIns="0" bIns="0" rtlCol="0" anchor="ctr"/>
          <a:lstStyle/>
          <a:p>
            <a:pPr algn="ctr" indent="0" marL="0">
              <a:buNone/>
            </a:pPr>
            <a:r>
              <a:rPr lang="en-US" sz="900" b="1" dirty="0">
                <a:solidFill>
                  <a:schemeClr val="bg1"/>
                </a:solidFill>
                <a:latin typeface="Arial" pitchFamily="34" charset="0"/>
                <a:ea typeface="Arial" pitchFamily="34" charset="-122"/>
                <a:cs typeface="Arial" pitchFamily="34" charset="-120"/>
              </a:rPr>
              <a:t>1</a:t>
            </a:r>
            <a:endParaRPr lang="en-US" sz="900" dirty="0"/>
          </a:p>
        </p:txBody>
      </p:sp>
      <p:sp>
        <p:nvSpPr>
          <p:cNvPr id="17" name="rail_label_1"/>
          <p:cNvSpPr txBox="1"/>
          <p:nvPr/>
        </p:nvSpPr>
        <p:spPr>
          <a:xfrm>
            <a:off x="896112" y="5797296"/>
            <a:ext cx="1807403" cy="274320"/>
          </a:xfrm>
          <a:prstGeom prst="rect">
            <a:avLst/>
          </a:prstGeom>
          <a:noFill/>
          <a:ln/>
        </p:spPr>
        <p:txBody>
          <a:bodyPr wrap="square" lIns="0" tIns="0" rIns="0" bIns="0" rtlCol="0" anchor="ctr"/>
          <a:lstStyle/>
          <a:p>
            <a:pPr indent="0" marL="0">
              <a:buNone/>
            </a:pPr>
            <a:r>
              <a:rPr lang="en-US" sz="1000" b="1" spc="120" kern="0" dirty="0">
                <a:solidFill>
                  <a:schemeClr val="tx1"/>
                </a:solidFill>
                <a:latin typeface="Arial" pitchFamily="34" charset="0"/>
                <a:ea typeface="Arial" pitchFamily="34" charset="-122"/>
                <a:cs typeface="Arial" pitchFamily="34" charset="-120"/>
              </a:rPr>
              <a:t>TRIGGER</a:t>
            </a:r>
            <a:endParaRPr lang="en-US" sz="1000" dirty="0"/>
          </a:p>
        </p:txBody>
      </p:sp>
      <p:sp>
        <p:nvSpPr>
          <p:cNvPr id="18" name="rail_dot_2"/>
          <p:cNvSpPr txBox="1"/>
          <p:nvPr/>
        </p:nvSpPr>
        <p:spPr>
          <a:xfrm>
            <a:off x="2767523" y="5806440"/>
            <a:ext cx="256032" cy="256032"/>
          </a:xfrm>
          <a:prstGeom prst="ellipse">
            <a:avLst/>
          </a:prstGeom>
          <a:solidFill>
            <a:schemeClr val="tx1"/>
          </a:solidFill>
          <a:ln w="9525">
            <a:solidFill>
              <a:schemeClr val="tx1"/>
            </a:solidFill>
          </a:ln>
        </p:spPr>
        <p:txBody>
          <a:bodyPr wrap="square" lIns="0" tIns="0" rIns="0" bIns="0" rtlCol="0" anchor="ctr"/>
          <a:lstStyle/>
          <a:p>
            <a:pPr algn="ctr" indent="0" marL="0">
              <a:buNone/>
            </a:pPr>
            <a:r>
              <a:rPr lang="en-US" sz="900" b="1" dirty="0">
                <a:solidFill>
                  <a:schemeClr val="bg1"/>
                </a:solidFill>
                <a:latin typeface="Arial" pitchFamily="34" charset="0"/>
                <a:ea typeface="Arial" pitchFamily="34" charset="-122"/>
                <a:cs typeface="Arial" pitchFamily="34" charset="-120"/>
              </a:rPr>
              <a:t>2</a:t>
            </a:r>
            <a:endParaRPr lang="en-US" sz="900" dirty="0"/>
          </a:p>
        </p:txBody>
      </p:sp>
      <p:sp>
        <p:nvSpPr>
          <p:cNvPr id="19" name="rail_label_2"/>
          <p:cNvSpPr txBox="1"/>
          <p:nvPr/>
        </p:nvSpPr>
        <p:spPr>
          <a:xfrm>
            <a:off x="3114995" y="5797296"/>
            <a:ext cx="1807403" cy="274320"/>
          </a:xfrm>
          <a:prstGeom prst="rect">
            <a:avLst/>
          </a:prstGeom>
          <a:noFill/>
          <a:ln/>
        </p:spPr>
        <p:txBody>
          <a:bodyPr wrap="square" lIns="0" tIns="0" rIns="0" bIns="0" rtlCol="0" anchor="ctr"/>
          <a:lstStyle/>
          <a:p>
            <a:pPr indent="0" marL="0">
              <a:buNone/>
            </a:pPr>
            <a:r>
              <a:rPr lang="en-US" sz="1000" b="1" spc="120" kern="0" dirty="0">
                <a:solidFill>
                  <a:schemeClr val="tx1"/>
                </a:solidFill>
                <a:latin typeface="Arial" pitchFamily="34" charset="0"/>
                <a:ea typeface="Arial" pitchFamily="34" charset="-122"/>
                <a:cs typeface="Arial" pitchFamily="34" charset="-120"/>
              </a:rPr>
              <a:t>OPTIONS</a:t>
            </a:r>
            <a:endParaRPr lang="en-US" sz="1000" dirty="0"/>
          </a:p>
        </p:txBody>
      </p:sp>
      <p:sp>
        <p:nvSpPr>
          <p:cNvPr id="20" name="rail_dot_3"/>
          <p:cNvSpPr txBox="1"/>
          <p:nvPr/>
        </p:nvSpPr>
        <p:spPr>
          <a:xfrm>
            <a:off x="4986406" y="5806440"/>
            <a:ext cx="256032" cy="256032"/>
          </a:xfrm>
          <a:prstGeom prst="ellipse">
            <a:avLst/>
          </a:prstGeom>
          <a:solidFill>
            <a:schemeClr val="tx1"/>
          </a:solidFill>
          <a:ln w="9525">
            <a:solidFill>
              <a:schemeClr val="tx1"/>
            </a:solidFill>
          </a:ln>
        </p:spPr>
        <p:txBody>
          <a:bodyPr wrap="square" lIns="0" tIns="0" rIns="0" bIns="0" rtlCol="0" anchor="ctr"/>
          <a:lstStyle/>
          <a:p>
            <a:pPr algn="ctr" indent="0" marL="0">
              <a:buNone/>
            </a:pPr>
            <a:r>
              <a:rPr lang="en-US" sz="900" b="1" dirty="0">
                <a:solidFill>
                  <a:schemeClr val="bg1"/>
                </a:solidFill>
                <a:latin typeface="Arial" pitchFamily="34" charset="0"/>
                <a:ea typeface="Arial" pitchFamily="34" charset="-122"/>
                <a:cs typeface="Arial" pitchFamily="34" charset="-120"/>
              </a:rPr>
              <a:t>3</a:t>
            </a:r>
            <a:endParaRPr lang="en-US" sz="900" dirty="0"/>
          </a:p>
        </p:txBody>
      </p:sp>
      <p:sp>
        <p:nvSpPr>
          <p:cNvPr id="21" name="rail_label_3"/>
          <p:cNvSpPr txBox="1"/>
          <p:nvPr/>
        </p:nvSpPr>
        <p:spPr>
          <a:xfrm>
            <a:off x="5333878" y="5797296"/>
            <a:ext cx="1807403" cy="274320"/>
          </a:xfrm>
          <a:prstGeom prst="rect">
            <a:avLst/>
          </a:prstGeom>
          <a:noFill/>
          <a:ln/>
        </p:spPr>
        <p:txBody>
          <a:bodyPr wrap="square" lIns="0" tIns="0" rIns="0" bIns="0" rtlCol="0" anchor="ctr"/>
          <a:lstStyle/>
          <a:p>
            <a:pPr indent="0" marL="0">
              <a:buNone/>
            </a:pPr>
            <a:r>
              <a:rPr lang="en-US" sz="1000" b="1" spc="120" kern="0" dirty="0">
                <a:solidFill>
                  <a:schemeClr val="tx1"/>
                </a:solidFill>
                <a:latin typeface="Arial" pitchFamily="34" charset="0"/>
                <a:ea typeface="Arial" pitchFamily="34" charset="-122"/>
                <a:cs typeface="Arial" pitchFamily="34" charset="-120"/>
              </a:rPr>
              <a:t>CONSTRAINT</a:t>
            </a:r>
            <a:endParaRPr lang="en-US" sz="1000" dirty="0"/>
          </a:p>
        </p:txBody>
      </p:sp>
      <p:sp>
        <p:nvSpPr>
          <p:cNvPr id="22" name="rail_dot_4"/>
          <p:cNvSpPr txBox="1"/>
          <p:nvPr/>
        </p:nvSpPr>
        <p:spPr>
          <a:xfrm>
            <a:off x="7205289" y="5806440"/>
            <a:ext cx="256032" cy="256032"/>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900" b="1" dirty="0">
                <a:solidFill>
                  <a:schemeClr val="bg1"/>
                </a:solidFill>
                <a:latin typeface="Arial" pitchFamily="34" charset="0"/>
                <a:ea typeface="Arial" pitchFamily="34" charset="-122"/>
                <a:cs typeface="Arial" pitchFamily="34" charset="-120"/>
              </a:rPr>
              <a:t>4</a:t>
            </a:r>
            <a:endParaRPr lang="en-US" sz="900" dirty="0"/>
          </a:p>
        </p:txBody>
      </p:sp>
      <p:sp>
        <p:nvSpPr>
          <p:cNvPr id="23" name="rail_label_4"/>
          <p:cNvSpPr txBox="1"/>
          <p:nvPr/>
        </p:nvSpPr>
        <p:spPr>
          <a:xfrm>
            <a:off x="7552761" y="5797296"/>
            <a:ext cx="1807403" cy="274320"/>
          </a:xfrm>
          <a:prstGeom prst="rect">
            <a:avLst/>
          </a:prstGeom>
          <a:noFill/>
          <a:ln/>
        </p:spPr>
        <p:txBody>
          <a:bodyPr wrap="square" lIns="0" tIns="0" rIns="0" bIns="0" rtlCol="0" anchor="ctr"/>
          <a:lstStyle/>
          <a:p>
            <a:pPr indent="0" marL="0">
              <a:buNone/>
            </a:pPr>
            <a:r>
              <a:rPr lang="en-US" sz="1000" b="1" spc="120" kern="0" dirty="0">
                <a:solidFill>
                  <a:schemeClr val="accent1"/>
                </a:solidFill>
                <a:latin typeface="Arial" pitchFamily="34" charset="0"/>
                <a:ea typeface="Arial" pitchFamily="34" charset="-122"/>
                <a:cs typeface="Arial" pitchFamily="34" charset="-120"/>
              </a:rPr>
              <a:t>CHOICE</a:t>
            </a:r>
            <a:endParaRPr lang="en-US" sz="1000" dirty="0"/>
          </a:p>
        </p:txBody>
      </p:sp>
      <p:sp>
        <p:nvSpPr>
          <p:cNvPr id="24" name="rail_dot_5"/>
          <p:cNvSpPr txBox="1"/>
          <p:nvPr/>
        </p:nvSpPr>
        <p:spPr>
          <a:xfrm>
            <a:off x="9424172" y="5806440"/>
            <a:ext cx="256032" cy="256032"/>
          </a:xfrm>
          <a:prstGeom prst="ellipse">
            <a:avLst/>
          </a:prstGeom>
          <a:solidFill>
            <a:schemeClr val="bg2"/>
          </a:solidFill>
          <a:ln w="9525">
            <a:solidFill>
              <a:schemeClr val="bg2"/>
            </a:solidFill>
          </a:ln>
        </p:spPr>
        <p:txBody>
          <a:bodyPr wrap="square" lIns="0" tIns="0" rIns="0" bIns="0" rtlCol="0" anchor="ctr"/>
          <a:lstStyle/>
          <a:p>
            <a:pPr algn="ctr" indent="0" marL="0">
              <a:buNone/>
            </a:pPr>
            <a:r>
              <a:rPr lang="en-US" sz="900" b="1" dirty="0">
                <a:solidFill>
                  <a:schemeClr val="tx2"/>
                </a:solidFill>
                <a:latin typeface="Arial" pitchFamily="34" charset="0"/>
                <a:ea typeface="Arial" pitchFamily="34" charset="-122"/>
                <a:cs typeface="Arial" pitchFamily="34" charset="-120"/>
              </a:rPr>
              <a:t>5</a:t>
            </a:r>
            <a:endParaRPr lang="en-US" sz="900" dirty="0"/>
          </a:p>
        </p:txBody>
      </p:sp>
      <p:sp>
        <p:nvSpPr>
          <p:cNvPr id="25" name="rail_label_5"/>
          <p:cNvSpPr txBox="1"/>
          <p:nvPr/>
        </p:nvSpPr>
        <p:spPr>
          <a:xfrm>
            <a:off x="9771644" y="5797296"/>
            <a:ext cx="1807403" cy="274320"/>
          </a:xfrm>
          <a:prstGeom prst="rect">
            <a:avLst/>
          </a:prstGeom>
          <a:noFill/>
          <a:ln/>
        </p:spPr>
        <p:txBody>
          <a:bodyPr wrap="square" lIns="0" tIns="0" rIns="0" bIns="0" rtlCol="0" anchor="ctr"/>
          <a:lstStyle/>
          <a:p>
            <a:pPr indent="0" marL="0">
              <a:buNone/>
            </a:pPr>
            <a:r>
              <a:rPr lang="en-US" sz="1000" b="1" spc="120" kern="0" dirty="0">
                <a:solidFill>
                  <a:schemeClr val="tx2"/>
                </a:solidFill>
                <a:latin typeface="Arial" pitchFamily="34" charset="0"/>
                <a:ea typeface="Arial" pitchFamily="34" charset="-122"/>
                <a:cs typeface="Arial" pitchFamily="34" charset="-120"/>
              </a:rPr>
              <a:t>RESULT</a:t>
            </a:r>
            <a:endParaRPr lang="en-US" sz="1000" dirty="0"/>
          </a:p>
        </p:txBody>
      </p:sp>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7315200" cy="274320"/>
          </a:xfrm>
          <a:prstGeom prst="rect">
            <a:avLst/>
          </a:prstGeom>
          <a:noFill/>
          <a:ln/>
        </p:spPr>
        <p:txBody>
          <a:bodyPr wrap="square" lIns="0" tIns="0" rIns="0" bIns="0" rtlCol="0"/>
          <a:lstStyle/>
          <a:p>
            <a:pPr algn="l" indent="0" marL="0">
              <a:buNone/>
            </a:pPr>
            <a:r>
              <a:rPr lang="en-US" sz="1100" b="1" spc="150" kern="0" dirty="0">
                <a:solidFill>
                  <a:schemeClr val="tx2"/>
                </a:solidFill>
                <a:latin typeface="Arial" pitchFamily="34" charset="0"/>
                <a:ea typeface="Arial" pitchFamily="34" charset="-122"/>
                <a:cs typeface="Arial" pitchFamily="34" charset="-120"/>
              </a:rPr>
              <a:t>OPTIONS · FIN THICKNESS</a:t>
            </a:r>
            <a:endParaRPr lang="en-US" sz="1100" dirty="0"/>
          </a:p>
        </p:txBody>
      </p:sp>
      <p:sp>
        <p:nvSpPr>
          <p:cNvPr id="3" name="Text 0"/>
          <p:cNvSpPr/>
          <p:nvPr>
            <p:ph idx="101" type="title" hasCustomPrompt="1"/>
          </p:nvPr>
        </p:nvSpPr>
        <p:spPr>
          <a:xfrm>
            <a:off x="548640" y="731520"/>
            <a:ext cx="9357055" cy="960120"/>
          </a:xfrm>
          <a:prstGeom prst="rect">
            <a:avLst/>
          </a:prstGeom>
          <a:noFill/>
          <a:ln/>
        </p:spPr>
        <p:txBody>
          <a:bodyPr wrap="square" lIns="0" tIns="0" rIns="0" bIns="0" rtlCol="0" anchor="t"/>
          <a:lstStyle/>
          <a:p>
            <a:pPr algn="l" indent="0" marL="0">
              <a:buNone/>
            </a:pPr>
            <a:r>
              <a:rPr lang="en-US" sz="3000" b="1" dirty="0">
                <a:solidFill>
                  <a:schemeClr val="tx1"/>
                </a:solidFill>
              </a:rPr>
              <a:t>Thicker spreads heat better, but 1/8 in was the knee</a:t>
            </a:r>
            <a:endParaRPr lang="en-US" sz="3000" dirty="0"/>
          </a:p>
        </p:txBody>
      </p:sp>
      <p:sp>
        <p:nvSpPr>
          <p:cNvPr id="4" name="tag_CALCULATED"/>
          <p:cNvSpPr txBox="1"/>
          <p:nvPr/>
        </p:nvSpPr>
        <p:spPr>
          <a:xfrm>
            <a:off x="10317175" y="429768"/>
            <a:ext cx="1325880" cy="256032"/>
          </a:xfrm>
          <a:prstGeom prst="roundRect">
            <a:avLst>
              <a:gd name="adj" fmla="val 50000"/>
            </a:avLst>
          </a:prstGeom>
          <a:solidFill>
            <a:schemeClr val="bg1"/>
          </a:solidFill>
          <a:ln w="12700">
            <a:solidFill>
              <a:schemeClr val="tx1"/>
            </a:solidFill>
          </a:ln>
        </p:spPr>
        <p:txBody>
          <a:bodyPr wrap="square" lIns="0" tIns="0" rIns="0" bIns="0" rtlCol="0" anchor="ctr"/>
          <a:lstStyle/>
          <a:p>
            <a:pPr algn="ctr" indent="0" marL="0">
              <a:buNone/>
            </a:pPr>
            <a:r>
              <a:rPr lang="en-US" sz="900" b="1" spc="120" kern="0" dirty="0">
                <a:solidFill>
                  <a:schemeClr val="tx1"/>
                </a:solidFill>
                <a:latin typeface="Arial" pitchFamily="34" charset="0"/>
                <a:ea typeface="Arial" pitchFamily="34" charset="-122"/>
                <a:cs typeface="Arial" pitchFamily="34" charset="-120"/>
              </a:rPr>
              <a:t>CALCULATED</a:t>
            </a:r>
            <a:endParaRPr lang="en-US" sz="900" dirty="0"/>
          </a:p>
        </p:txBody>
      </p:sp>
      <p:sp>
        <p:nvSpPr>
          <p:cNvPr id="5" name="card_1"/>
          <p:cNvSpPr/>
          <p:nvPr/>
        </p:nvSpPr>
        <p:spPr>
          <a:xfrm>
            <a:off x="548640" y="1828800"/>
            <a:ext cx="3515258" cy="3931920"/>
          </a:xfrm>
          <a:prstGeom prst="rect">
            <a:avLst/>
          </a:prstGeom>
          <a:solidFill>
            <a:schemeClr val="bg2"/>
          </a:solidFill>
          <a:ln w="9525">
            <a:solidFill>
              <a:schemeClr val="bg2"/>
            </a:solidFill>
            <a:prstDash val="solid"/>
          </a:ln>
        </p:spPr>
      </p:sp>
      <p:sp>
        <p:nvSpPr>
          <p:cNvPr id="6" name="Text 4"/>
          <p:cNvSpPr txBox="1"/>
          <p:nvPr/>
        </p:nvSpPr>
        <p:spPr>
          <a:xfrm>
            <a:off x="822960" y="2103120"/>
            <a:ext cx="2966618" cy="411480"/>
          </a:xfrm>
          <a:prstGeom prst="rect">
            <a:avLst/>
          </a:prstGeom>
          <a:noFill/>
          <a:ln/>
        </p:spPr>
        <p:txBody>
          <a:bodyPr wrap="square" lIns="0" tIns="0" rIns="0" bIns="0" rtlCol="0" anchor="ctr"/>
          <a:lstStyle/>
          <a:p>
            <a:pPr indent="0" marL="0">
              <a:buNone/>
            </a:pPr>
            <a:r>
              <a:rPr lang="en-US" sz="2000" b="1" dirty="0">
                <a:solidFill>
                  <a:schemeClr val="tx1"/>
                </a:solidFill>
                <a:latin typeface="Arial" pitchFamily="34" charset="0"/>
                <a:ea typeface="Arial" pitchFamily="34" charset="-122"/>
                <a:cs typeface="Arial" pitchFamily="34" charset="-120"/>
              </a:rPr>
              <a:t>1/16 in</a:t>
            </a:r>
            <a:endParaRPr lang="en-US" sz="2000" dirty="0"/>
          </a:p>
        </p:txBody>
      </p:sp>
      <p:sp>
        <p:nvSpPr>
          <p:cNvPr id="7" name="Text 5"/>
          <p:cNvSpPr txBox="1"/>
          <p:nvPr/>
        </p:nvSpPr>
        <p:spPr>
          <a:xfrm>
            <a:off x="822960" y="2743200"/>
            <a:ext cx="2966618" cy="914400"/>
          </a:xfrm>
          <a:prstGeom prst="rect">
            <a:avLst/>
          </a:prstGeom>
          <a:noFill/>
          <a:ln/>
        </p:spPr>
        <p:txBody>
          <a:bodyPr wrap="square" lIns="0" tIns="0" rIns="0" bIns="0" rtlCol="0" anchor="ctr"/>
          <a:lstStyle/>
          <a:p>
            <a:pPr indent="0" marL="0">
              <a:buNone/>
            </a:pPr>
            <a:r>
              <a:rPr lang="en-US" sz="5400" b="1" dirty="0">
                <a:solidFill>
                  <a:schemeClr val="tx1"/>
                </a:solidFill>
                <a:latin typeface="Arial" pitchFamily="34" charset="0"/>
                <a:ea typeface="Arial" pitchFamily="34" charset="-122"/>
                <a:cs typeface="Arial" pitchFamily="34" charset="-120"/>
              </a:rPr>
              <a:t>54 %</a:t>
            </a:r>
            <a:endParaRPr lang="en-US" sz="5400" dirty="0"/>
          </a:p>
        </p:txBody>
      </p:sp>
      <p:sp>
        <p:nvSpPr>
          <p:cNvPr id="8" name="Text 6"/>
          <p:cNvSpPr txBox="1"/>
          <p:nvPr/>
        </p:nvSpPr>
        <p:spPr>
          <a:xfrm>
            <a:off x="822960" y="3657600"/>
            <a:ext cx="2966618" cy="274320"/>
          </a:xfrm>
          <a:prstGeom prst="rect">
            <a:avLst/>
          </a:prstGeom>
          <a:noFill/>
          <a:ln/>
        </p:spPr>
        <p:txBody>
          <a:bodyPr wrap="square" lIns="0" tIns="0" rIns="0" bIns="0" rtlCol="0" anchor="ctr"/>
          <a:lstStyle/>
          <a:p>
            <a:pPr indent="0" marL="0">
              <a:buNone/>
            </a:pPr>
            <a:r>
              <a:rPr lang="en-US" sz="1300" dirty="0">
                <a:solidFill>
                  <a:schemeClr val="tx2"/>
                </a:solidFill>
              </a:rPr>
              <a:t>Fin efficiency</a:t>
            </a:r>
            <a:endParaRPr lang="en-US" sz="1300" dirty="0"/>
          </a:p>
        </p:txBody>
      </p:sp>
      <p:sp>
        <p:nvSpPr>
          <p:cNvPr id="9" name="Text 7"/>
          <p:cNvSpPr txBox="1"/>
          <p:nvPr/>
        </p:nvSpPr>
        <p:spPr>
          <a:xfrm>
            <a:off x="822960" y="4114800"/>
            <a:ext cx="2966618" cy="1463040"/>
          </a:xfrm>
          <a:prstGeom prst="rect">
            <a:avLst/>
          </a:prstGeom>
          <a:noFill/>
          <a:ln/>
        </p:spPr>
        <p:txBody>
          <a:bodyPr wrap="square" lIns="0" tIns="0" rIns="0" bIns="0" rtlCol="0" anchor="t"/>
          <a:lstStyle/>
          <a:p>
            <a:pPr indent="0" marL="0">
              <a:buNone/>
            </a:pPr>
            <a:r>
              <a:rPr lang="en-US" sz="1400" dirty="0">
                <a:solidFill>
                  <a:schemeClr val="tx1"/>
                </a:solidFill>
              </a:rPr>
              <a:t>Lightest and easiest to cut, but gives up almost half of its fin effect.</a:t>
            </a:r>
            <a:endParaRPr lang="en-US" sz="1400" dirty="0"/>
          </a:p>
        </p:txBody>
      </p:sp>
      <p:sp>
        <p:nvSpPr>
          <p:cNvPr id="10" name="card_2"/>
          <p:cNvSpPr/>
          <p:nvPr/>
        </p:nvSpPr>
        <p:spPr>
          <a:xfrm>
            <a:off x="4338218" y="1828800"/>
            <a:ext cx="3515258" cy="3931920"/>
          </a:xfrm>
          <a:prstGeom prst="rect">
            <a:avLst/>
          </a:prstGeom>
          <a:solidFill>
            <a:schemeClr val="accent5"/>
          </a:solidFill>
          <a:ln w="19050">
            <a:solidFill>
              <a:schemeClr val="accent1"/>
            </a:solidFill>
            <a:prstDash val="solid"/>
          </a:ln>
        </p:spPr>
      </p:sp>
      <p:sp>
        <p:nvSpPr>
          <p:cNvPr id="11" name="Text 9"/>
          <p:cNvSpPr txBox="1"/>
          <p:nvPr/>
        </p:nvSpPr>
        <p:spPr>
          <a:xfrm>
            <a:off x="4612538" y="2103120"/>
            <a:ext cx="2966618" cy="411480"/>
          </a:xfrm>
          <a:prstGeom prst="rect">
            <a:avLst/>
          </a:prstGeom>
          <a:noFill/>
          <a:ln/>
        </p:spPr>
        <p:txBody>
          <a:bodyPr wrap="square" lIns="0" tIns="0" rIns="0" bIns="0" rtlCol="0" anchor="ctr"/>
          <a:lstStyle/>
          <a:p>
            <a:pPr indent="0" marL="0">
              <a:buNone/>
            </a:pPr>
            <a:r>
              <a:rPr lang="en-US" sz="2000" b="1" dirty="0">
                <a:solidFill>
                  <a:schemeClr val="tx1"/>
                </a:solidFill>
                <a:latin typeface="Arial" pitchFamily="34" charset="0"/>
                <a:ea typeface="Arial" pitchFamily="34" charset="-122"/>
                <a:cs typeface="Arial" pitchFamily="34" charset="-120"/>
              </a:rPr>
              <a:t>1/8 in</a:t>
            </a:r>
            <a:endParaRPr lang="en-US" sz="2000" dirty="0"/>
          </a:p>
        </p:txBody>
      </p:sp>
      <p:sp>
        <p:nvSpPr>
          <p:cNvPr id="12" name="chosen_pill"/>
          <p:cNvSpPr txBox="1"/>
          <p:nvPr/>
        </p:nvSpPr>
        <p:spPr>
          <a:xfrm>
            <a:off x="6436157" y="2130552"/>
            <a:ext cx="1143000" cy="256032"/>
          </a:xfrm>
          <a:prstGeom prst="roundRect">
            <a:avLst>
              <a:gd name="adj" fmla="val 50000"/>
            </a:avLst>
          </a:prstGeom>
          <a:solidFill>
            <a:schemeClr val="accent1"/>
          </a:solidFill>
          <a:ln w="12700">
            <a:solidFill>
              <a:schemeClr val="accent1"/>
            </a:solidFill>
          </a:ln>
        </p:spPr>
        <p:txBody>
          <a:bodyPr wrap="square" lIns="0" tIns="0" rIns="0" bIns="0" rtlCol="0" anchor="ctr"/>
          <a:lstStyle/>
          <a:p>
            <a:pPr algn="ctr" indent="0" marL="0">
              <a:buNone/>
            </a:pPr>
            <a:r>
              <a:rPr lang="en-US" sz="900" b="1" spc="120" kern="0" dirty="0">
                <a:solidFill>
                  <a:schemeClr val="bg1"/>
                </a:solidFill>
                <a:latin typeface="Arial" pitchFamily="34" charset="0"/>
                <a:ea typeface="Arial" pitchFamily="34" charset="-122"/>
                <a:cs typeface="Arial" pitchFamily="34" charset="-120"/>
              </a:rPr>
              <a:t>CHOSEN</a:t>
            </a:r>
            <a:endParaRPr lang="en-US" sz="900" dirty="0"/>
          </a:p>
        </p:txBody>
      </p:sp>
      <p:sp>
        <p:nvSpPr>
          <p:cNvPr id="13" name="Text 11"/>
          <p:cNvSpPr txBox="1"/>
          <p:nvPr/>
        </p:nvSpPr>
        <p:spPr>
          <a:xfrm>
            <a:off x="4612538" y="2743200"/>
            <a:ext cx="2966618" cy="914400"/>
          </a:xfrm>
          <a:prstGeom prst="rect">
            <a:avLst/>
          </a:prstGeom>
          <a:noFill/>
          <a:ln/>
        </p:spPr>
        <p:txBody>
          <a:bodyPr wrap="square" lIns="0" tIns="0" rIns="0" bIns="0" rtlCol="0" anchor="ctr"/>
          <a:lstStyle/>
          <a:p>
            <a:pPr indent="0" marL="0">
              <a:buNone/>
            </a:pPr>
            <a:r>
              <a:rPr lang="en-US" sz="5400" b="1" dirty="0">
                <a:solidFill>
                  <a:schemeClr val="accent1"/>
                </a:solidFill>
                <a:latin typeface="Arial" pitchFamily="34" charset="0"/>
                <a:ea typeface="Arial" pitchFamily="34" charset="-122"/>
                <a:cs typeface="Arial" pitchFamily="34" charset="-120"/>
              </a:rPr>
              <a:t>68 %</a:t>
            </a:r>
            <a:endParaRPr lang="en-US" sz="5400" dirty="0"/>
          </a:p>
        </p:txBody>
      </p:sp>
      <p:sp>
        <p:nvSpPr>
          <p:cNvPr id="14" name="Text 12"/>
          <p:cNvSpPr txBox="1"/>
          <p:nvPr/>
        </p:nvSpPr>
        <p:spPr>
          <a:xfrm>
            <a:off x="4612538" y="3657600"/>
            <a:ext cx="2966618" cy="274320"/>
          </a:xfrm>
          <a:prstGeom prst="rect">
            <a:avLst/>
          </a:prstGeom>
          <a:noFill/>
          <a:ln/>
        </p:spPr>
        <p:txBody>
          <a:bodyPr wrap="square" lIns="0" tIns="0" rIns="0" bIns="0" rtlCol="0" anchor="ctr"/>
          <a:lstStyle/>
          <a:p>
            <a:pPr indent="0" marL="0">
              <a:buNone/>
            </a:pPr>
            <a:r>
              <a:rPr lang="en-US" sz="1300" dirty="0">
                <a:solidFill>
                  <a:schemeClr val="tx2"/>
                </a:solidFill>
              </a:rPr>
              <a:t>Fin efficiency</a:t>
            </a:r>
            <a:endParaRPr lang="en-US" sz="1300" dirty="0"/>
          </a:p>
        </p:txBody>
      </p:sp>
      <p:sp>
        <p:nvSpPr>
          <p:cNvPr id="15" name="Text 13"/>
          <p:cNvSpPr txBox="1"/>
          <p:nvPr/>
        </p:nvSpPr>
        <p:spPr>
          <a:xfrm>
            <a:off x="4612538" y="4114800"/>
            <a:ext cx="2966618" cy="1463040"/>
          </a:xfrm>
          <a:prstGeom prst="rect">
            <a:avLst/>
          </a:prstGeom>
          <a:noFill/>
          <a:ln/>
        </p:spPr>
        <p:txBody>
          <a:bodyPr wrap="square" lIns="0" tIns="0" rIns="0" bIns="0" rtlCol="0" anchor="t"/>
          <a:lstStyle/>
          <a:p>
            <a:pPr indent="0" marL="0">
              <a:buNone/>
            </a:pPr>
            <a:r>
              <a:rPr lang="en-US" sz="1400" dirty="0">
                <a:solidFill>
                  <a:schemeClr val="tx1"/>
                </a:solidFill>
              </a:rPr>
              <a:t>Most of the gain at half the mass of 1/4 in. The stock I sheared and drilled.</a:t>
            </a:r>
            <a:endParaRPr lang="en-US" sz="1400" dirty="0"/>
          </a:p>
        </p:txBody>
      </p:sp>
      <p:sp>
        <p:nvSpPr>
          <p:cNvPr id="16" name="card_3"/>
          <p:cNvSpPr/>
          <p:nvPr/>
        </p:nvSpPr>
        <p:spPr>
          <a:xfrm>
            <a:off x="8127797" y="1828800"/>
            <a:ext cx="3515258" cy="3931920"/>
          </a:xfrm>
          <a:prstGeom prst="rect">
            <a:avLst/>
          </a:prstGeom>
          <a:solidFill>
            <a:schemeClr val="bg2"/>
          </a:solidFill>
          <a:ln w="9525">
            <a:solidFill>
              <a:schemeClr val="bg2"/>
            </a:solidFill>
            <a:prstDash val="solid"/>
          </a:ln>
        </p:spPr>
      </p:sp>
      <p:sp>
        <p:nvSpPr>
          <p:cNvPr id="17" name="Text 15"/>
          <p:cNvSpPr txBox="1"/>
          <p:nvPr/>
        </p:nvSpPr>
        <p:spPr>
          <a:xfrm>
            <a:off x="8402117" y="2103120"/>
            <a:ext cx="2966618" cy="411480"/>
          </a:xfrm>
          <a:prstGeom prst="rect">
            <a:avLst/>
          </a:prstGeom>
          <a:noFill/>
          <a:ln/>
        </p:spPr>
        <p:txBody>
          <a:bodyPr wrap="square" lIns="0" tIns="0" rIns="0" bIns="0" rtlCol="0" anchor="ctr"/>
          <a:lstStyle/>
          <a:p>
            <a:pPr indent="0" marL="0">
              <a:buNone/>
            </a:pPr>
            <a:r>
              <a:rPr lang="en-US" sz="2000" b="1" dirty="0">
                <a:solidFill>
                  <a:schemeClr val="tx1"/>
                </a:solidFill>
                <a:latin typeface="Arial" pitchFamily="34" charset="0"/>
                <a:ea typeface="Arial" pitchFamily="34" charset="-122"/>
                <a:cs typeface="Arial" pitchFamily="34" charset="-120"/>
              </a:rPr>
              <a:t>1/4 in</a:t>
            </a:r>
            <a:endParaRPr lang="en-US" sz="2000" dirty="0"/>
          </a:p>
        </p:txBody>
      </p:sp>
      <p:sp>
        <p:nvSpPr>
          <p:cNvPr id="18" name="Text 16"/>
          <p:cNvSpPr txBox="1"/>
          <p:nvPr/>
        </p:nvSpPr>
        <p:spPr>
          <a:xfrm>
            <a:off x="8402117" y="2743200"/>
            <a:ext cx="2966618" cy="914400"/>
          </a:xfrm>
          <a:prstGeom prst="rect">
            <a:avLst/>
          </a:prstGeom>
          <a:noFill/>
          <a:ln/>
        </p:spPr>
        <p:txBody>
          <a:bodyPr wrap="square" lIns="0" tIns="0" rIns="0" bIns="0" rtlCol="0" anchor="ctr"/>
          <a:lstStyle/>
          <a:p>
            <a:pPr indent="0" marL="0">
              <a:buNone/>
            </a:pPr>
            <a:r>
              <a:rPr lang="en-US" sz="5400" b="1" dirty="0">
                <a:solidFill>
                  <a:schemeClr val="tx1"/>
                </a:solidFill>
                <a:latin typeface="Arial" pitchFamily="34" charset="0"/>
                <a:ea typeface="Arial" pitchFamily="34" charset="-122"/>
                <a:cs typeface="Arial" pitchFamily="34" charset="-120"/>
              </a:rPr>
              <a:t>81 %</a:t>
            </a:r>
            <a:endParaRPr lang="en-US" sz="5400" dirty="0"/>
          </a:p>
        </p:txBody>
      </p:sp>
      <p:sp>
        <p:nvSpPr>
          <p:cNvPr id="19" name="Text 17"/>
          <p:cNvSpPr txBox="1"/>
          <p:nvPr/>
        </p:nvSpPr>
        <p:spPr>
          <a:xfrm>
            <a:off x="8402117" y="3657600"/>
            <a:ext cx="2966618" cy="274320"/>
          </a:xfrm>
          <a:prstGeom prst="rect">
            <a:avLst/>
          </a:prstGeom>
          <a:noFill/>
          <a:ln/>
        </p:spPr>
        <p:txBody>
          <a:bodyPr wrap="square" lIns="0" tIns="0" rIns="0" bIns="0" rtlCol="0" anchor="ctr"/>
          <a:lstStyle/>
          <a:p>
            <a:pPr indent="0" marL="0">
              <a:buNone/>
            </a:pPr>
            <a:r>
              <a:rPr lang="en-US" sz="1300" dirty="0">
                <a:solidFill>
                  <a:schemeClr val="tx2"/>
                </a:solidFill>
              </a:rPr>
              <a:t>Fin efficiency</a:t>
            </a:r>
            <a:endParaRPr lang="en-US" sz="1300" dirty="0"/>
          </a:p>
        </p:txBody>
      </p:sp>
      <p:sp>
        <p:nvSpPr>
          <p:cNvPr id="20" name="Text 18"/>
          <p:cNvSpPr txBox="1"/>
          <p:nvPr/>
        </p:nvSpPr>
        <p:spPr>
          <a:xfrm>
            <a:off x="8402117" y="4114800"/>
            <a:ext cx="2966618" cy="1463040"/>
          </a:xfrm>
          <a:prstGeom prst="rect">
            <a:avLst/>
          </a:prstGeom>
          <a:noFill/>
          <a:ln/>
        </p:spPr>
        <p:txBody>
          <a:bodyPr wrap="square" lIns="0" tIns="0" rIns="0" bIns="0" rtlCol="0" anchor="t"/>
          <a:lstStyle/>
          <a:p>
            <a:pPr indent="0" marL="0">
              <a:buNone/>
            </a:pPr>
            <a:r>
              <a:rPr lang="en-US" sz="1400" dirty="0">
                <a:solidFill>
                  <a:schemeClr val="tx1"/>
                </a:solidFill>
              </a:rPr>
              <a:t>Best spreading, but twice the aluminium hanging on a printed wall mount.</a:t>
            </a:r>
            <a:endParaRPr lang="en-US" sz="1400" dirty="0"/>
          </a:p>
        </p:txBody>
      </p:sp>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7315200" cy="274320"/>
          </a:xfrm>
          <a:prstGeom prst="rect">
            <a:avLst/>
          </a:prstGeom>
          <a:noFill/>
          <a:ln/>
        </p:spPr>
        <p:txBody>
          <a:bodyPr wrap="square" lIns="0" tIns="0" rIns="0" bIns="0" rtlCol="0"/>
          <a:lstStyle/>
          <a:p>
            <a:pPr algn="l" indent="0" marL="0">
              <a:buNone/>
            </a:pPr>
            <a:r>
              <a:rPr lang="en-US" sz="1100" b="1" spc="150" kern="0" dirty="0">
                <a:solidFill>
                  <a:schemeClr val="tx2"/>
                </a:solidFill>
                <a:latin typeface="Arial" pitchFamily="34" charset="0"/>
                <a:ea typeface="Arial" pitchFamily="34" charset="-122"/>
                <a:cs typeface="Arial" pitchFamily="34" charset="-120"/>
              </a:rPr>
              <a:t>RESULT · CLAW MASS</a:t>
            </a:r>
            <a:endParaRPr lang="en-US" sz="1100" dirty="0"/>
          </a:p>
        </p:txBody>
      </p:sp>
      <p:sp>
        <p:nvSpPr>
          <p:cNvPr id="3" name="Text 0"/>
          <p:cNvSpPr/>
          <p:nvPr>
            <p:ph idx="101" type="title" hasCustomPrompt="1"/>
          </p:nvPr>
        </p:nvSpPr>
        <p:spPr>
          <a:xfrm>
            <a:off x="548640" y="731520"/>
            <a:ext cx="9357055" cy="960120"/>
          </a:xfrm>
          <a:prstGeom prst="rect">
            <a:avLst/>
          </a:prstGeom>
          <a:noFill/>
          <a:ln/>
        </p:spPr>
        <p:txBody>
          <a:bodyPr wrap="square" lIns="0" tIns="0" rIns="0" bIns="0" rtlCol="0" anchor="t"/>
          <a:lstStyle/>
          <a:p>
            <a:pPr algn="l" indent="0" marL="0">
              <a:buNone/>
            </a:pPr>
            <a:r>
              <a:rPr lang="en-US" sz="3000" b="1" dirty="0">
                <a:solidFill>
                  <a:schemeClr val="tx1"/>
                </a:solidFill>
              </a:rPr>
              <a:t>My first full gripper was over four times its mass budget</a:t>
            </a:r>
            <a:endParaRPr lang="en-US" sz="3000" dirty="0"/>
          </a:p>
        </p:txBody>
      </p:sp>
      <p:sp>
        <p:nvSpPr>
          <p:cNvPr id="4" name="tag_CALCULATED"/>
          <p:cNvSpPr txBox="1"/>
          <p:nvPr/>
        </p:nvSpPr>
        <p:spPr>
          <a:xfrm>
            <a:off x="10317175" y="429768"/>
            <a:ext cx="1325880" cy="256032"/>
          </a:xfrm>
          <a:prstGeom prst="roundRect">
            <a:avLst>
              <a:gd name="adj" fmla="val 50000"/>
            </a:avLst>
          </a:prstGeom>
          <a:solidFill>
            <a:schemeClr val="bg1"/>
          </a:solidFill>
          <a:ln w="12700">
            <a:solidFill>
              <a:schemeClr val="tx1"/>
            </a:solidFill>
          </a:ln>
        </p:spPr>
        <p:txBody>
          <a:bodyPr wrap="square" lIns="0" tIns="0" rIns="0" bIns="0" rtlCol="0" anchor="ctr"/>
          <a:lstStyle/>
          <a:p>
            <a:pPr algn="ctr" indent="0" marL="0">
              <a:buNone/>
            </a:pPr>
            <a:r>
              <a:rPr lang="en-US" sz="900" b="1" spc="120" kern="0" dirty="0">
                <a:solidFill>
                  <a:schemeClr val="tx1"/>
                </a:solidFill>
                <a:latin typeface="Arial" pitchFamily="34" charset="0"/>
                <a:ea typeface="Arial" pitchFamily="34" charset="-122"/>
                <a:cs typeface="Arial" pitchFamily="34" charset="-120"/>
              </a:rPr>
              <a:t>CALCULATED</a:t>
            </a:r>
            <a:endParaRPr lang="en-US" sz="900" dirty="0"/>
          </a:p>
        </p:txBody>
      </p:sp>
      <p:sp>
        <p:nvSpPr>
          <p:cNvPr id="5" name="big_number"/>
          <p:cNvSpPr txBox="1"/>
          <p:nvPr/>
        </p:nvSpPr>
        <p:spPr>
          <a:xfrm>
            <a:off x="548640" y="2011680"/>
            <a:ext cx="5486400" cy="1280160"/>
          </a:xfrm>
          <a:prstGeom prst="rect">
            <a:avLst/>
          </a:prstGeom>
          <a:noFill/>
          <a:ln/>
        </p:spPr>
        <p:txBody>
          <a:bodyPr wrap="square" lIns="0" tIns="0" rIns="0" bIns="0" rtlCol="0" anchor="ctr"/>
          <a:lstStyle/>
          <a:p>
            <a:pPr indent="0" marL="0">
              <a:buNone/>
            </a:pPr>
            <a:r>
              <a:rPr lang="en-US" sz="9600" b="1" dirty="0">
                <a:solidFill>
                  <a:schemeClr val="accent1"/>
                </a:solidFill>
                <a:latin typeface="Arial" pitchFamily="34" charset="0"/>
                <a:ea typeface="Arial" pitchFamily="34" charset="-122"/>
                <a:cs typeface="Arial" pitchFamily="34" charset="-120"/>
              </a:rPr>
              <a:t>2.06 kg</a:t>
            </a:r>
            <a:endParaRPr lang="en-US" sz="9600" dirty="0"/>
          </a:p>
        </p:txBody>
      </p:sp>
      <p:sp>
        <p:nvSpPr>
          <p:cNvPr id="6" name="Text 4"/>
          <p:cNvSpPr txBox="1"/>
          <p:nvPr/>
        </p:nvSpPr>
        <p:spPr>
          <a:xfrm>
            <a:off x="548640" y="3337560"/>
            <a:ext cx="5486400" cy="365760"/>
          </a:xfrm>
          <a:prstGeom prst="rect">
            <a:avLst/>
          </a:prstGeom>
          <a:noFill/>
          <a:ln/>
        </p:spPr>
        <p:txBody>
          <a:bodyPr wrap="square" lIns="0" tIns="0" rIns="0" bIns="0" rtlCol="0" anchor="ctr"/>
          <a:lstStyle/>
          <a:p>
            <a:pPr indent="0" marL="0">
              <a:buNone/>
            </a:pPr>
            <a:r>
              <a:rPr lang="en-US" sz="1600" dirty="0">
                <a:solidFill>
                  <a:schemeClr val="tx2"/>
                </a:solidFill>
              </a:rPr>
              <a:t>upper-bound mass of gripper v6 against a 450 g budget</a:t>
            </a:r>
            <a:endParaRPr lang="en-US" sz="1600" dirty="0"/>
          </a:p>
        </p:txBody>
      </p:sp>
      <p:sp>
        <p:nvSpPr>
          <p:cNvPr id="7" name="equation"/>
          <p:cNvSpPr txBox="1"/>
          <p:nvPr/>
        </p:nvSpPr>
        <p:spPr>
          <a:xfrm>
            <a:off x="548640" y="4206240"/>
            <a:ext cx="5486400" cy="411480"/>
          </a:xfrm>
          <a:prstGeom prst="rect">
            <a:avLst/>
          </a:prstGeom>
          <a:noFill/>
          <a:ln/>
        </p:spPr>
        <p:txBody>
          <a:bodyPr wrap="square" lIns="0" tIns="0" rIns="0" bIns="0" rtlCol="0" anchor="ctr"/>
          <a:lstStyle/>
          <a:p>
            <a:pPr indent="0" marL="0">
              <a:buNone/>
            </a:pPr>
            <a:r>
              <a:rPr lang="en-US" sz="1800" dirty="0">
                <a:solidFill>
                  <a:schemeClr val="tx1"/>
                </a:solidFill>
                <a:latin typeface="Cambria" pitchFamily="34" charset="0"/>
                <a:ea typeface="Cambria" pitchFamily="34" charset="-122"/>
                <a:cs typeface="Cambria" pitchFamily="34" charset="-120"/>
              </a:rPr>
              <a:t>m = Σ ρ·V  ·  ρ(PETG) = 1.27 g/cm³, 100 % infill bound</a:t>
            </a:r>
            <a:endParaRPr lang="en-US" sz="1800" dirty="0"/>
          </a:p>
        </p:txBody>
      </p:sp>
      <p:sp>
        <p:nvSpPr>
          <p:cNvPr id="8" name="Text 6"/>
          <p:cNvSpPr txBox="1"/>
          <p:nvPr/>
        </p:nvSpPr>
        <p:spPr>
          <a:xfrm>
            <a:off x="548640" y="4709160"/>
            <a:ext cx="5486400" cy="274320"/>
          </a:xfrm>
          <a:prstGeom prst="rect">
            <a:avLst/>
          </a:prstGeom>
          <a:noFill/>
          <a:ln/>
        </p:spPr>
        <p:txBody>
          <a:bodyPr wrap="square" lIns="0" tIns="0" rIns="0" bIns="0" rtlCol="0" anchor="ctr"/>
          <a:lstStyle/>
          <a:p>
            <a:pPr indent="0" marL="0">
              <a:buNone/>
            </a:pPr>
            <a:r>
              <a:rPr lang="en-US" sz="1100" i="1" dirty="0">
                <a:solidFill>
                  <a:schemeClr val="tx2"/>
                </a:solidFill>
              </a:rPr>
              <a:t>Source: CAD volume of every body in the v6 STEP, solid PETG</a:t>
            </a:r>
            <a:endParaRPr lang="en-US" sz="1100" dirty="0"/>
          </a:p>
        </p:txBody>
      </p:sp>
      <p:pic>
        <p:nvPicPr>
          <p:cNvPr id="9" name="claw_render" descr="claw_render">    </p:cNvPr>
          <p:cNvPicPr>
            <a:picLocks noChangeAspect="1"/>
          </p:cNvPicPr>
          <p:nvPr/>
        </p:nvPicPr>
        <p:blipFill>
          <a:blip r:embed="rId1"/>
          <a:stretch>
            <a:fillRect/>
          </a:stretch>
        </p:blipFill>
        <p:spPr>
          <a:xfrm>
            <a:off x="8595360" y="1783080"/>
            <a:ext cx="1383869" cy="4480560"/>
          </a:xfrm>
          <a:prstGeom prst="rect">
            <a:avLst/>
          </a:prstGeom>
        </p:spPr>
      </p:pic>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7315200" cy="274320"/>
          </a:xfrm>
          <a:prstGeom prst="rect">
            <a:avLst/>
          </a:prstGeom>
          <a:noFill/>
          <a:ln/>
        </p:spPr>
        <p:txBody>
          <a:bodyPr wrap="square" lIns="0" tIns="0" rIns="0" bIns="0" rtlCol="0"/>
          <a:lstStyle/>
          <a:p>
            <a:pPr algn="l" indent="0" marL="0">
              <a:buNone/>
            </a:pPr>
            <a:r>
              <a:rPr lang="en-US" sz="1100" b="1" spc="150" kern="0" dirty="0">
                <a:solidFill>
                  <a:schemeClr val="tx2"/>
                </a:solidFill>
                <a:latin typeface="Arial" pitchFamily="34" charset="0"/>
                <a:ea typeface="Arial" pitchFamily="34" charset="-122"/>
                <a:cs typeface="Arial" pitchFamily="34" charset="-120"/>
              </a:rPr>
              <a:t>DATA · FIN EFFICIENCY</a:t>
            </a:r>
            <a:endParaRPr lang="en-US" sz="1100" dirty="0"/>
          </a:p>
        </p:txBody>
      </p:sp>
      <p:sp>
        <p:nvSpPr>
          <p:cNvPr id="3" name="Text 0"/>
          <p:cNvSpPr/>
          <p:nvPr>
            <p:ph idx="101" type="title" hasCustomPrompt="1"/>
          </p:nvPr>
        </p:nvSpPr>
        <p:spPr>
          <a:xfrm>
            <a:off x="548640" y="731520"/>
            <a:ext cx="9357055" cy="960120"/>
          </a:xfrm>
          <a:prstGeom prst="rect">
            <a:avLst/>
          </a:prstGeom>
          <a:noFill/>
          <a:ln/>
        </p:spPr>
        <p:txBody>
          <a:bodyPr wrap="square" lIns="0" tIns="0" rIns="0" bIns="0" rtlCol="0" anchor="t"/>
          <a:lstStyle/>
          <a:p>
            <a:pPr algn="l" indent="0" marL="0">
              <a:buNone/>
            </a:pPr>
            <a:r>
              <a:rPr lang="en-US" sz="3000" b="1" dirty="0">
                <a:solidFill>
                  <a:schemeClr val="tx1"/>
                </a:solidFill>
              </a:rPr>
              <a:t>Doubling the plate past 1/8 in buys only 13 more points</a:t>
            </a:r>
            <a:endParaRPr lang="en-US" sz="3000" dirty="0"/>
          </a:p>
        </p:txBody>
      </p:sp>
      <p:sp>
        <p:nvSpPr>
          <p:cNvPr id="4" name="tag_CALCULATED"/>
          <p:cNvSpPr txBox="1"/>
          <p:nvPr/>
        </p:nvSpPr>
        <p:spPr>
          <a:xfrm>
            <a:off x="10317175" y="429768"/>
            <a:ext cx="1325880" cy="256032"/>
          </a:xfrm>
          <a:prstGeom prst="roundRect">
            <a:avLst>
              <a:gd name="adj" fmla="val 50000"/>
            </a:avLst>
          </a:prstGeom>
          <a:solidFill>
            <a:schemeClr val="bg1"/>
          </a:solidFill>
          <a:ln w="12700">
            <a:solidFill>
              <a:schemeClr val="tx1"/>
            </a:solidFill>
          </a:ln>
        </p:spPr>
        <p:txBody>
          <a:bodyPr wrap="square" lIns="0" tIns="0" rIns="0" bIns="0" rtlCol="0" anchor="ctr"/>
          <a:lstStyle/>
          <a:p>
            <a:pPr algn="ctr" indent="0" marL="0">
              <a:buNone/>
            </a:pPr>
            <a:r>
              <a:rPr lang="en-US" sz="900" b="1" spc="120" kern="0" dirty="0">
                <a:solidFill>
                  <a:schemeClr val="tx1"/>
                </a:solidFill>
                <a:latin typeface="Arial" pitchFamily="34" charset="0"/>
                <a:ea typeface="Arial" pitchFamily="34" charset="-122"/>
                <a:cs typeface="Arial" pitchFamily="34" charset="-120"/>
              </a:rPr>
              <a:t>CALCULATED</a:t>
            </a:r>
            <a:endParaRPr lang="en-US" sz="900" dirty="0"/>
          </a:p>
        </p:txBody>
      </p:sp>
      <p:graphicFrame>
        <p:nvGraphicFramePr>
          <p:cNvPr id="5" name="Chart 0" descr=""/>
          <p:cNvGraphicFramePr/>
          <p:nvPr/>
        </p:nvGraphicFramePr>
        <p:xfrm>
          <a:off x="548640" y="1737360"/>
          <a:ext cx="6766560" cy="41148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7680960" y="1920240"/>
            <a:ext cx="3962095" cy="3291840"/>
          </a:xfrm>
          <a:prstGeom prst="rect">
            <a:avLst/>
          </a:prstGeom>
          <a:noFill/>
          <a:ln/>
        </p:spPr>
        <p:txBody>
          <a:bodyPr wrap="square" lIns="0" tIns="0" rIns="0" bIns="0" rtlCol="0" anchor="t"/>
          <a:lstStyle/>
          <a:p>
            <a:pPr indent="0" marL="0">
              <a:spcAft>
                <a:spcPts val="1000"/>
              </a:spcAft>
              <a:buNone/>
            </a:pPr>
            <a:r>
              <a:rPr lang="en-US" sz="1600" dirty="0">
                <a:solidFill>
                  <a:schemeClr val="tx1"/>
                </a:solidFill>
              </a:rPr>
              <a:t>Fin efficiency η = tanh(mL)/mL with m = √(2h/kt).</a:t>
            </a:r>
            <a:endParaRPr lang="en-US" sz="1600" dirty="0"/>
          </a:p>
          <a:p>
            <a:pPr indent="0" marL="0">
              <a:spcAft>
                <a:spcPts val="1000"/>
              </a:spcAft>
              <a:buNone/>
            </a:pPr>
            <a:r>
              <a:rPr lang="en-US" sz="1600" dirty="0">
                <a:solidFill>
                  <a:schemeClr val="tx1"/>
                </a:solidFill>
              </a:rPr>
              <a:t>1/8 in gets 68 % for half the aluminium of 1/4 in.</a:t>
            </a:r>
            <a:endParaRPr lang="en-US" sz="1600" dirty="0"/>
          </a:p>
          <a:p>
            <a:pPr indent="0" marL="0">
              <a:spcAft>
                <a:spcPts val="1000"/>
              </a:spcAft>
              <a:buNone/>
            </a:pPr>
            <a:r>
              <a:rPr lang="en-US" sz="1600" dirty="0">
                <a:solidFill>
                  <a:schemeClr val="tx1"/>
                </a:solidFill>
              </a:rPr>
              <a:t>That mass sits on a printed wall mount, so the knee wins.</a:t>
            </a:r>
            <a:endParaRPr lang="en-US" sz="1600" dirty="0"/>
          </a:p>
        </p:txBody>
      </p:sp>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7315200" cy="274320"/>
          </a:xfrm>
          <a:prstGeom prst="rect">
            <a:avLst/>
          </a:prstGeom>
          <a:noFill/>
          <a:ln/>
        </p:spPr>
        <p:txBody>
          <a:bodyPr wrap="square" lIns="0" tIns="0" rIns="0" bIns="0" rtlCol="0"/>
          <a:lstStyle/>
          <a:p>
            <a:pPr algn="l" indent="0" marL="0">
              <a:buNone/>
            </a:pPr>
            <a:r>
              <a:rPr lang="en-US" sz="1100" b="1" spc="150" kern="0" dirty="0">
                <a:solidFill>
                  <a:schemeClr val="tx2"/>
                </a:solidFill>
                <a:latin typeface="Arial" pitchFamily="34" charset="0"/>
                <a:ea typeface="Arial" pitchFamily="34" charset="-122"/>
                <a:cs typeface="Arial" pitchFamily="34" charset="-120"/>
              </a:rPr>
              <a:t>BUILD · HEAT FIN</a:t>
            </a:r>
            <a:endParaRPr lang="en-US" sz="1100" dirty="0"/>
          </a:p>
        </p:txBody>
      </p:sp>
      <p:sp>
        <p:nvSpPr>
          <p:cNvPr id="3" name="Text 0"/>
          <p:cNvSpPr/>
          <p:nvPr>
            <p:ph idx="101" type="title" hasCustomPrompt="1"/>
          </p:nvPr>
        </p:nvSpPr>
        <p:spPr>
          <a:xfrm>
            <a:off x="548640" y="731520"/>
            <a:ext cx="9357055" cy="960120"/>
          </a:xfrm>
          <a:prstGeom prst="rect">
            <a:avLst/>
          </a:prstGeom>
          <a:noFill/>
          <a:ln/>
        </p:spPr>
        <p:txBody>
          <a:bodyPr wrap="square" lIns="0" tIns="0" rIns="0" bIns="0" rtlCol="0" anchor="t"/>
          <a:lstStyle/>
          <a:p>
            <a:pPr algn="l" indent="0" marL="0">
              <a:buNone/>
            </a:pPr>
            <a:r>
              <a:rPr lang="en-US" sz="3000" b="1" dirty="0">
                <a:solidFill>
                  <a:schemeClr val="tx1"/>
                </a:solidFill>
              </a:rPr>
              <a:t>I sheared, laid out and drilled the fins myself</a:t>
            </a:r>
            <a:endParaRPr lang="en-US" sz="3000" dirty="0"/>
          </a:p>
        </p:txBody>
      </p:sp>
      <p:sp>
        <p:nvSpPr>
          <p:cNvPr id="4" name="tag_MEASURED"/>
          <p:cNvSpPr txBox="1"/>
          <p:nvPr/>
        </p:nvSpPr>
        <p:spPr>
          <a:xfrm>
            <a:off x="10317175" y="429768"/>
            <a:ext cx="1325880" cy="256032"/>
          </a:xfrm>
          <a:prstGeom prst="roundRect">
            <a:avLst>
              <a:gd name="adj" fmla="val 50000"/>
            </a:avLst>
          </a:prstGeom>
          <a:solidFill>
            <a:schemeClr val="tx1"/>
          </a:solidFill>
          <a:ln w="12700">
            <a:solidFill>
              <a:schemeClr val="tx1"/>
            </a:solidFill>
          </a:ln>
        </p:spPr>
        <p:txBody>
          <a:bodyPr wrap="square" lIns="0" tIns="0" rIns="0" bIns="0" rtlCol="0" anchor="ctr"/>
          <a:lstStyle/>
          <a:p>
            <a:pPr algn="ctr" indent="0" marL="0">
              <a:buNone/>
            </a:pPr>
            <a:r>
              <a:rPr lang="en-US" sz="900" b="1" spc="120" kern="0" dirty="0">
                <a:solidFill>
                  <a:schemeClr val="bg1"/>
                </a:solidFill>
                <a:latin typeface="Arial" pitchFamily="34" charset="0"/>
                <a:ea typeface="Arial" pitchFamily="34" charset="-122"/>
                <a:cs typeface="Arial" pitchFamily="34" charset="-120"/>
              </a:rPr>
              <a:t>MEASURED</a:t>
            </a:r>
            <a:endParaRPr lang="en-US" sz="900" dirty="0"/>
          </a:p>
        </p:txBody>
      </p:sp>
      <p:pic>
        <p:nvPicPr>
          <p:cNvPr id="5" name="spread_1" descr="spread_1">    </p:cNvPr>
          <p:cNvPicPr>
            <a:picLocks noChangeAspect="1"/>
          </p:cNvPicPr>
          <p:nvPr/>
        </p:nvPicPr>
        <p:blipFill>
          <a:blip r:embed="rId1"/>
          <a:srcRect l="0" r="0" t="0" b="0"/>
          <a:stretch/>
        </p:blipFill>
        <p:spPr>
          <a:xfrm>
            <a:off x="548640" y="1783080"/>
            <a:ext cx="3606698" cy="3749040"/>
          </a:xfrm>
          <a:prstGeom prst="rect">
            <a:avLst/>
          </a:prstGeom>
        </p:spPr>
      </p:pic>
      <p:sp>
        <p:nvSpPr>
          <p:cNvPr id="6" name="Text 3"/>
          <p:cNvSpPr txBox="1"/>
          <p:nvPr/>
        </p:nvSpPr>
        <p:spPr>
          <a:xfrm>
            <a:off x="548640" y="5623560"/>
            <a:ext cx="3606698" cy="274320"/>
          </a:xfrm>
          <a:prstGeom prst="rect">
            <a:avLst/>
          </a:prstGeom>
          <a:noFill/>
          <a:ln/>
        </p:spPr>
        <p:txBody>
          <a:bodyPr wrap="square" lIns="0" tIns="0" rIns="0" bIns="0" rtlCol="0" anchor="ctr"/>
          <a:lstStyle/>
          <a:p>
            <a:pPr indent="0" marL="0">
              <a:buNone/>
            </a:pPr>
            <a:r>
              <a:rPr lang="en-US" sz="1100" i="1" dirty="0">
                <a:solidFill>
                  <a:schemeClr val="tx2"/>
                </a:solidFill>
              </a:rPr>
              <a:t>1  Sheared blanks against the Letter drawing</a:t>
            </a:r>
            <a:endParaRPr lang="en-US" sz="1100" dirty="0"/>
          </a:p>
        </p:txBody>
      </p:sp>
      <p:pic>
        <p:nvPicPr>
          <p:cNvPr id="7" name="spread_2" descr="spread_2">    </p:cNvPr>
          <p:cNvPicPr>
            <a:picLocks noChangeAspect="1"/>
          </p:cNvPicPr>
          <p:nvPr/>
        </p:nvPicPr>
        <p:blipFill>
          <a:blip r:embed="rId2"/>
          <a:srcRect l="0" r="0" t="0" b="0"/>
          <a:stretch/>
        </p:blipFill>
        <p:spPr>
          <a:xfrm>
            <a:off x="4292498" y="1783080"/>
            <a:ext cx="3606698" cy="3749040"/>
          </a:xfrm>
          <a:prstGeom prst="rect">
            <a:avLst/>
          </a:prstGeom>
        </p:spPr>
      </p:pic>
      <p:sp>
        <p:nvSpPr>
          <p:cNvPr id="8" name="Text 4"/>
          <p:cNvSpPr txBox="1"/>
          <p:nvPr/>
        </p:nvSpPr>
        <p:spPr>
          <a:xfrm>
            <a:off x="4292498" y="5623560"/>
            <a:ext cx="3606698" cy="274320"/>
          </a:xfrm>
          <a:prstGeom prst="rect">
            <a:avLst/>
          </a:prstGeom>
          <a:noFill/>
          <a:ln/>
        </p:spPr>
        <p:txBody>
          <a:bodyPr wrap="square" lIns="0" tIns="0" rIns="0" bIns="0" rtlCol="0" anchor="ctr"/>
          <a:lstStyle/>
          <a:p>
            <a:pPr indent="0" marL="0">
              <a:buNone/>
            </a:pPr>
            <a:r>
              <a:rPr lang="en-US" sz="1100" i="1" dirty="0">
                <a:solidFill>
                  <a:schemeClr val="tx2"/>
                </a:solidFill>
              </a:rPr>
              <a:t>2  Mill set up from the inch drawing</a:t>
            </a:r>
            <a:endParaRPr lang="en-US" sz="1100" dirty="0"/>
          </a:p>
        </p:txBody>
      </p:sp>
      <p:pic>
        <p:nvPicPr>
          <p:cNvPr id="9" name="spread_3" descr="spread_3">    </p:cNvPr>
          <p:cNvPicPr>
            <a:picLocks noChangeAspect="1"/>
          </p:cNvPicPr>
          <p:nvPr/>
        </p:nvPicPr>
        <p:blipFill>
          <a:blip r:embed="rId3"/>
          <a:srcRect l="0" r="0" t="0" b="0"/>
          <a:stretch/>
        </p:blipFill>
        <p:spPr>
          <a:xfrm>
            <a:off x="8036357" y="1783080"/>
            <a:ext cx="3606698" cy="3749040"/>
          </a:xfrm>
          <a:prstGeom prst="rect">
            <a:avLst/>
          </a:prstGeom>
        </p:spPr>
      </p:pic>
      <p:sp>
        <p:nvSpPr>
          <p:cNvPr id="10" name="Text 5"/>
          <p:cNvSpPr txBox="1"/>
          <p:nvPr/>
        </p:nvSpPr>
        <p:spPr>
          <a:xfrm>
            <a:off x="8036357" y="5623560"/>
            <a:ext cx="3606698" cy="274320"/>
          </a:xfrm>
          <a:prstGeom prst="rect">
            <a:avLst/>
          </a:prstGeom>
          <a:noFill/>
          <a:ln/>
        </p:spPr>
        <p:txBody>
          <a:bodyPr wrap="square" lIns="0" tIns="0" rIns="0" bIns="0" rtlCol="0" anchor="ctr"/>
          <a:lstStyle/>
          <a:p>
            <a:pPr indent="0" marL="0">
              <a:buNone/>
            </a:pPr>
            <a:r>
              <a:rPr lang="en-US" sz="1100" i="1" dirty="0">
                <a:solidFill>
                  <a:schemeClr val="tx2"/>
                </a:solidFill>
              </a:rPr>
              <a:t>3  Drilling the Ø3.4 mounting holes</a:t>
            </a:r>
            <a:endParaRPr lang="en-US" sz="1100" dirty="0"/>
          </a:p>
        </p:txBody>
      </p:sp>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7315200" cy="274320"/>
          </a:xfrm>
          <a:prstGeom prst="rect">
            <a:avLst/>
          </a:prstGeom>
          <a:noFill/>
          <a:ln/>
        </p:spPr>
        <p:txBody>
          <a:bodyPr wrap="square" lIns="0" tIns="0" rIns="0" bIns="0" rtlCol="0"/>
          <a:lstStyle/>
          <a:p>
            <a:pPr algn="l" indent="0" marL="0">
              <a:buNone/>
            </a:pPr>
            <a:r>
              <a:rPr lang="en-US" sz="1100" b="1" spc="150" kern="0" dirty="0">
                <a:solidFill>
                  <a:schemeClr val="tx2"/>
                </a:solidFill>
                <a:latin typeface="Arial" pitchFamily="34" charset="0"/>
                <a:ea typeface="Arial" pitchFamily="34" charset="-122"/>
                <a:cs typeface="Arial" pitchFamily="34" charset="-120"/>
              </a:rPr>
              <a:t>PROJECT ARC</a:t>
            </a:r>
            <a:endParaRPr lang="en-US" sz="1100" dirty="0"/>
          </a:p>
        </p:txBody>
      </p:sp>
      <p:sp>
        <p:nvSpPr>
          <p:cNvPr id="3" name="Text 0"/>
          <p:cNvSpPr/>
          <p:nvPr>
            <p:ph idx="101" type="title" hasCustomPrompt="1"/>
          </p:nvPr>
        </p:nvSpPr>
        <p:spPr>
          <a:xfrm>
            <a:off x="548640" y="731520"/>
            <a:ext cx="9357055" cy="960120"/>
          </a:xfrm>
          <a:prstGeom prst="rect">
            <a:avLst/>
          </a:prstGeom>
          <a:noFill/>
          <a:ln/>
        </p:spPr>
        <p:txBody>
          <a:bodyPr wrap="square" lIns="0" tIns="0" rIns="0" bIns="0" rtlCol="0" anchor="t"/>
          <a:lstStyle/>
          <a:p>
            <a:pPr algn="l" indent="0" marL="0">
              <a:buNone/>
            </a:pPr>
            <a:r>
              <a:rPr lang="en-US" sz="3000" b="1" dirty="0">
                <a:solidFill>
                  <a:schemeClr val="tx1"/>
                </a:solidFill>
              </a:rPr>
              <a:t>Five design snapshots in two weeks</a:t>
            </a:r>
            <a:endParaRPr lang="en-US" sz="3000" dirty="0"/>
          </a:p>
        </p:txBody>
      </p:sp>
      <p:sp>
        <p:nvSpPr>
          <p:cNvPr id="4" name="tag_MEASURED"/>
          <p:cNvSpPr txBox="1"/>
          <p:nvPr/>
        </p:nvSpPr>
        <p:spPr>
          <a:xfrm>
            <a:off x="10317175" y="429768"/>
            <a:ext cx="1325880" cy="256032"/>
          </a:xfrm>
          <a:prstGeom prst="roundRect">
            <a:avLst>
              <a:gd name="adj" fmla="val 50000"/>
            </a:avLst>
          </a:prstGeom>
          <a:solidFill>
            <a:schemeClr val="tx1"/>
          </a:solidFill>
          <a:ln w="12700">
            <a:solidFill>
              <a:schemeClr val="tx1"/>
            </a:solidFill>
          </a:ln>
        </p:spPr>
        <p:txBody>
          <a:bodyPr wrap="square" lIns="0" tIns="0" rIns="0" bIns="0" rtlCol="0" anchor="ctr"/>
          <a:lstStyle/>
          <a:p>
            <a:pPr algn="ctr" indent="0" marL="0">
              <a:buNone/>
            </a:pPr>
            <a:r>
              <a:rPr lang="en-US" sz="900" b="1" spc="120" kern="0" dirty="0">
                <a:solidFill>
                  <a:schemeClr val="bg1"/>
                </a:solidFill>
                <a:latin typeface="Arial" pitchFamily="34" charset="0"/>
                <a:ea typeface="Arial" pitchFamily="34" charset="-122"/>
                <a:cs typeface="Arial" pitchFamily="34" charset="-120"/>
              </a:rPr>
              <a:t>MEASURED</a:t>
            </a:r>
            <a:endParaRPr lang="en-US" sz="900" dirty="0"/>
          </a:p>
        </p:txBody>
      </p:sp>
      <p:sp>
        <p:nvSpPr>
          <p:cNvPr id="5" name="timeline_axis"/>
          <p:cNvSpPr/>
          <p:nvPr/>
        </p:nvSpPr>
        <p:spPr>
          <a:xfrm>
            <a:off x="731520" y="3383280"/>
            <a:ext cx="10728655" cy="0"/>
          </a:xfrm>
          <a:prstGeom prst="line">
            <a:avLst/>
          </a:prstGeom>
          <a:noFill/>
          <a:ln w="19050">
            <a:solidFill>
              <a:schemeClr val="tx1"/>
            </a:solidFill>
            <a:prstDash val="solid"/>
          </a:ln>
        </p:spPr>
      </p:sp>
      <p:sp>
        <p:nvSpPr>
          <p:cNvPr id="6" name="tl_node_1"/>
          <p:cNvSpPr/>
          <p:nvPr/>
        </p:nvSpPr>
        <p:spPr>
          <a:xfrm>
            <a:off x="630936" y="3282696"/>
            <a:ext cx="201168" cy="201168"/>
          </a:xfrm>
          <a:prstGeom prst="ellipse">
            <a:avLst/>
          </a:prstGeom>
          <a:solidFill>
            <a:schemeClr val="tx1"/>
          </a:solidFill>
          <a:ln w="19050">
            <a:solidFill>
              <a:schemeClr val="tx1"/>
            </a:solidFill>
            <a:prstDash val="solid"/>
          </a:ln>
        </p:spPr>
      </p:sp>
      <p:sp>
        <p:nvSpPr>
          <p:cNvPr id="7" name="Text 5"/>
          <p:cNvSpPr txBox="1"/>
          <p:nvPr/>
        </p:nvSpPr>
        <p:spPr>
          <a:xfrm>
            <a:off x="-91440" y="2606040"/>
            <a:ext cx="1645920" cy="320040"/>
          </a:xfrm>
          <a:prstGeom prst="rect">
            <a:avLst/>
          </a:prstGeom>
          <a:noFill/>
          <a:ln/>
        </p:spPr>
        <p:txBody>
          <a:bodyPr wrap="square" lIns="0" tIns="0" rIns="0" bIns="0" rtlCol="0" anchor="ctr"/>
          <a:lstStyle/>
          <a:p>
            <a:pPr algn="ctr" indent="0" marL="0">
              <a:buNone/>
            </a:pPr>
            <a:r>
              <a:rPr lang="en-US" sz="1200" b="1" dirty="0">
                <a:solidFill>
                  <a:schemeClr val="tx2"/>
                </a:solidFill>
                <a:latin typeface="Arial" pitchFamily="34" charset="0"/>
                <a:ea typeface="Arial" pitchFamily="34" charset="-122"/>
                <a:cs typeface="Arial" pitchFamily="34" charset="-120"/>
              </a:rPr>
              <a:t>Oct 7</a:t>
            </a:r>
            <a:endParaRPr lang="en-US" sz="1200" dirty="0"/>
          </a:p>
        </p:txBody>
      </p:sp>
      <p:sp>
        <p:nvSpPr>
          <p:cNvPr id="8" name="Text 6"/>
          <p:cNvSpPr txBox="1"/>
          <p:nvPr/>
        </p:nvSpPr>
        <p:spPr>
          <a:xfrm>
            <a:off x="-137160" y="3657600"/>
            <a:ext cx="1737360" cy="320040"/>
          </a:xfrm>
          <a:prstGeom prst="rect">
            <a:avLst/>
          </a:prstGeom>
          <a:noFill/>
          <a:ln/>
        </p:spPr>
        <p:txBody>
          <a:bodyPr wrap="square" lIns="0" tIns="0" rIns="0" bIns="0" rtlCol="0" anchor="ctr"/>
          <a:lstStyle/>
          <a:p>
            <a:pPr algn="ctr" indent="0" marL="0">
              <a:buNone/>
            </a:pPr>
            <a:r>
              <a:rPr lang="en-US" sz="1500" b="1" dirty="0">
                <a:solidFill>
                  <a:schemeClr val="tx1"/>
                </a:solidFill>
                <a:latin typeface="Arial" pitchFamily="34" charset="0"/>
                <a:ea typeface="Arial" pitchFamily="34" charset="-122"/>
                <a:cs typeface="Arial" pitchFamily="34" charset="-120"/>
              </a:rPr>
              <a:t>Station v1</a:t>
            </a:r>
            <a:endParaRPr lang="en-US" sz="1500" dirty="0"/>
          </a:p>
        </p:txBody>
      </p:sp>
      <p:sp>
        <p:nvSpPr>
          <p:cNvPr id="9" name="Text 7"/>
          <p:cNvSpPr txBox="1"/>
          <p:nvPr/>
        </p:nvSpPr>
        <p:spPr>
          <a:xfrm>
            <a:off x="-137160" y="4005072"/>
            <a:ext cx="1737360" cy="548640"/>
          </a:xfrm>
          <a:prstGeom prst="rect">
            <a:avLst/>
          </a:prstGeom>
          <a:noFill/>
          <a:ln/>
        </p:spPr>
        <p:txBody>
          <a:bodyPr wrap="square" lIns="0" tIns="0" rIns="0" bIns="0" rtlCol="0" anchor="t"/>
          <a:lstStyle/>
          <a:p>
            <a:pPr algn="ctr" indent="0" marL="0">
              <a:buNone/>
            </a:pPr>
            <a:r>
              <a:rPr lang="en-US" sz="1200" dirty="0">
                <a:solidFill>
                  <a:schemeClr val="tx2"/>
                </a:solidFill>
              </a:rPr>
              <a:t>Spool + wall mount</a:t>
            </a:r>
            <a:endParaRPr lang="en-US" sz="1200" dirty="0"/>
          </a:p>
        </p:txBody>
      </p:sp>
      <p:sp>
        <p:nvSpPr>
          <p:cNvPr id="10" name="tl_node_2"/>
          <p:cNvSpPr/>
          <p:nvPr/>
        </p:nvSpPr>
        <p:spPr>
          <a:xfrm>
            <a:off x="2776667" y="3282696"/>
            <a:ext cx="201168" cy="201168"/>
          </a:xfrm>
          <a:prstGeom prst="ellipse">
            <a:avLst/>
          </a:prstGeom>
          <a:solidFill>
            <a:schemeClr val="tx1"/>
          </a:solidFill>
          <a:ln w="19050">
            <a:solidFill>
              <a:schemeClr val="tx1"/>
            </a:solidFill>
            <a:prstDash val="solid"/>
          </a:ln>
        </p:spPr>
      </p:sp>
      <p:sp>
        <p:nvSpPr>
          <p:cNvPr id="11" name="Text 9"/>
          <p:cNvSpPr txBox="1"/>
          <p:nvPr/>
        </p:nvSpPr>
        <p:spPr>
          <a:xfrm>
            <a:off x="2054291" y="2606040"/>
            <a:ext cx="1645920" cy="320040"/>
          </a:xfrm>
          <a:prstGeom prst="rect">
            <a:avLst/>
          </a:prstGeom>
          <a:noFill/>
          <a:ln/>
        </p:spPr>
        <p:txBody>
          <a:bodyPr wrap="square" lIns="0" tIns="0" rIns="0" bIns="0" rtlCol="0" anchor="ctr"/>
          <a:lstStyle/>
          <a:p>
            <a:pPr algn="ctr" indent="0" marL="0">
              <a:buNone/>
            </a:pPr>
            <a:r>
              <a:rPr lang="en-US" sz="1200" b="1" dirty="0">
                <a:solidFill>
                  <a:schemeClr val="tx2"/>
                </a:solidFill>
                <a:latin typeface="Arial" pitchFamily="34" charset="0"/>
                <a:ea typeface="Arial" pitchFamily="34" charset="-122"/>
                <a:cs typeface="Arial" pitchFamily="34" charset="-120"/>
              </a:rPr>
              <a:t>Oct 11</a:t>
            </a:r>
            <a:endParaRPr lang="en-US" sz="1200" dirty="0"/>
          </a:p>
        </p:txBody>
      </p:sp>
      <p:sp>
        <p:nvSpPr>
          <p:cNvPr id="12" name="Text 10"/>
          <p:cNvSpPr txBox="1"/>
          <p:nvPr/>
        </p:nvSpPr>
        <p:spPr>
          <a:xfrm>
            <a:off x="2008571" y="3657600"/>
            <a:ext cx="1737360" cy="320040"/>
          </a:xfrm>
          <a:prstGeom prst="rect">
            <a:avLst/>
          </a:prstGeom>
          <a:noFill/>
          <a:ln/>
        </p:spPr>
        <p:txBody>
          <a:bodyPr wrap="square" lIns="0" tIns="0" rIns="0" bIns="0" rtlCol="0" anchor="ctr"/>
          <a:lstStyle/>
          <a:p>
            <a:pPr algn="ctr" indent="0" marL="0">
              <a:buNone/>
            </a:pPr>
            <a:r>
              <a:rPr lang="en-US" sz="1500" b="1" dirty="0">
                <a:solidFill>
                  <a:schemeClr val="tx1"/>
                </a:solidFill>
                <a:latin typeface="Arial" pitchFamily="34" charset="0"/>
                <a:ea typeface="Arial" pitchFamily="34" charset="-122"/>
                <a:cs typeface="Arial" pitchFamily="34" charset="-120"/>
              </a:rPr>
              <a:t>Station v2</a:t>
            </a:r>
            <a:endParaRPr lang="en-US" sz="1500" dirty="0"/>
          </a:p>
        </p:txBody>
      </p:sp>
      <p:sp>
        <p:nvSpPr>
          <p:cNvPr id="13" name="Text 11"/>
          <p:cNvSpPr txBox="1"/>
          <p:nvPr/>
        </p:nvSpPr>
        <p:spPr>
          <a:xfrm>
            <a:off x="2008571" y="4005072"/>
            <a:ext cx="1737360" cy="548640"/>
          </a:xfrm>
          <a:prstGeom prst="rect">
            <a:avLst/>
          </a:prstGeom>
          <a:noFill/>
          <a:ln/>
        </p:spPr>
        <p:txBody>
          <a:bodyPr wrap="square" lIns="0" tIns="0" rIns="0" bIns="0" rtlCol="0" anchor="t"/>
          <a:lstStyle/>
          <a:p>
            <a:pPr algn="ctr" indent="0" marL="0">
              <a:buNone/>
            </a:pPr>
            <a:r>
              <a:rPr lang="en-US" sz="1200" dirty="0">
                <a:solidFill>
                  <a:schemeClr val="tx2"/>
                </a:solidFill>
              </a:rPr>
              <a:t>Slip-in mount</a:t>
            </a:r>
            <a:endParaRPr lang="en-US" sz="1200" dirty="0"/>
          </a:p>
        </p:txBody>
      </p:sp>
      <p:sp>
        <p:nvSpPr>
          <p:cNvPr id="14" name="tl_node_3"/>
          <p:cNvSpPr/>
          <p:nvPr/>
        </p:nvSpPr>
        <p:spPr>
          <a:xfrm>
            <a:off x="4922398" y="3282696"/>
            <a:ext cx="201168" cy="201168"/>
          </a:xfrm>
          <a:prstGeom prst="ellipse">
            <a:avLst/>
          </a:prstGeom>
          <a:solidFill>
            <a:schemeClr val="tx1"/>
          </a:solidFill>
          <a:ln w="19050">
            <a:solidFill>
              <a:schemeClr val="tx1"/>
            </a:solidFill>
            <a:prstDash val="solid"/>
          </a:ln>
        </p:spPr>
      </p:sp>
      <p:sp>
        <p:nvSpPr>
          <p:cNvPr id="15" name="Text 13"/>
          <p:cNvSpPr txBox="1"/>
          <p:nvPr/>
        </p:nvSpPr>
        <p:spPr>
          <a:xfrm>
            <a:off x="4200022" y="2606040"/>
            <a:ext cx="1645920" cy="320040"/>
          </a:xfrm>
          <a:prstGeom prst="rect">
            <a:avLst/>
          </a:prstGeom>
          <a:noFill/>
          <a:ln/>
        </p:spPr>
        <p:txBody>
          <a:bodyPr wrap="square" lIns="0" tIns="0" rIns="0" bIns="0" rtlCol="0" anchor="ctr"/>
          <a:lstStyle/>
          <a:p>
            <a:pPr algn="ctr" indent="0" marL="0">
              <a:buNone/>
            </a:pPr>
            <a:r>
              <a:rPr lang="en-US" sz="1200" b="1" dirty="0">
                <a:solidFill>
                  <a:schemeClr val="tx2"/>
                </a:solidFill>
                <a:latin typeface="Arial" pitchFamily="34" charset="0"/>
                <a:ea typeface="Arial" pitchFamily="34" charset="-122"/>
                <a:cs typeface="Arial" pitchFamily="34" charset="-120"/>
              </a:rPr>
              <a:t>Oct 18</a:t>
            </a:r>
            <a:endParaRPr lang="en-US" sz="1200" dirty="0"/>
          </a:p>
        </p:txBody>
      </p:sp>
      <p:sp>
        <p:nvSpPr>
          <p:cNvPr id="16" name="Text 14"/>
          <p:cNvSpPr txBox="1"/>
          <p:nvPr/>
        </p:nvSpPr>
        <p:spPr>
          <a:xfrm>
            <a:off x="4154302" y="3657600"/>
            <a:ext cx="1737360" cy="320040"/>
          </a:xfrm>
          <a:prstGeom prst="rect">
            <a:avLst/>
          </a:prstGeom>
          <a:noFill/>
          <a:ln/>
        </p:spPr>
        <p:txBody>
          <a:bodyPr wrap="square" lIns="0" tIns="0" rIns="0" bIns="0" rtlCol="0" anchor="ctr"/>
          <a:lstStyle/>
          <a:p>
            <a:pPr algn="ctr" indent="0" marL="0">
              <a:buNone/>
            </a:pPr>
            <a:r>
              <a:rPr lang="en-US" sz="1500" b="1" dirty="0">
                <a:solidFill>
                  <a:schemeClr val="tx1"/>
                </a:solidFill>
                <a:latin typeface="Arial" pitchFamily="34" charset="0"/>
                <a:ea typeface="Arial" pitchFamily="34" charset="-122"/>
                <a:cs typeface="Arial" pitchFamily="34" charset="-120"/>
              </a:rPr>
              <a:t>Station v3</a:t>
            </a:r>
            <a:endParaRPr lang="en-US" sz="1500" dirty="0"/>
          </a:p>
        </p:txBody>
      </p:sp>
      <p:sp>
        <p:nvSpPr>
          <p:cNvPr id="17" name="Text 15"/>
          <p:cNvSpPr txBox="1"/>
          <p:nvPr/>
        </p:nvSpPr>
        <p:spPr>
          <a:xfrm>
            <a:off x="4154302" y="4005072"/>
            <a:ext cx="1737360" cy="548640"/>
          </a:xfrm>
          <a:prstGeom prst="rect">
            <a:avLst/>
          </a:prstGeom>
          <a:noFill/>
          <a:ln/>
        </p:spPr>
        <p:txBody>
          <a:bodyPr wrap="square" lIns="0" tIns="0" rIns="0" bIns="0" rtlCol="0" anchor="t"/>
          <a:lstStyle/>
          <a:p>
            <a:pPr algn="ctr" indent="0" marL="0">
              <a:buNone/>
            </a:pPr>
            <a:r>
              <a:rPr lang="en-US" sz="1200" dirty="0">
                <a:solidFill>
                  <a:schemeClr val="tx2"/>
                </a:solidFill>
              </a:rPr>
              <a:t>Shell + spool v3</a:t>
            </a:r>
            <a:endParaRPr lang="en-US" sz="1200" dirty="0"/>
          </a:p>
        </p:txBody>
      </p:sp>
      <p:sp>
        <p:nvSpPr>
          <p:cNvPr id="18" name="tl_node_4"/>
          <p:cNvSpPr/>
          <p:nvPr/>
        </p:nvSpPr>
        <p:spPr>
          <a:xfrm>
            <a:off x="7068129" y="3282696"/>
            <a:ext cx="201168" cy="201168"/>
          </a:xfrm>
          <a:prstGeom prst="ellipse">
            <a:avLst/>
          </a:prstGeom>
          <a:solidFill>
            <a:schemeClr val="tx1"/>
          </a:solidFill>
          <a:ln w="19050">
            <a:solidFill>
              <a:schemeClr val="tx1"/>
            </a:solidFill>
            <a:prstDash val="solid"/>
          </a:ln>
        </p:spPr>
      </p:sp>
      <p:sp>
        <p:nvSpPr>
          <p:cNvPr id="19" name="Text 17"/>
          <p:cNvSpPr txBox="1"/>
          <p:nvPr/>
        </p:nvSpPr>
        <p:spPr>
          <a:xfrm>
            <a:off x="6345753" y="2606040"/>
            <a:ext cx="1645920" cy="320040"/>
          </a:xfrm>
          <a:prstGeom prst="rect">
            <a:avLst/>
          </a:prstGeom>
          <a:noFill/>
          <a:ln/>
        </p:spPr>
        <p:txBody>
          <a:bodyPr wrap="square" lIns="0" tIns="0" rIns="0" bIns="0" rtlCol="0" anchor="ctr"/>
          <a:lstStyle/>
          <a:p>
            <a:pPr algn="ctr" indent="0" marL="0">
              <a:buNone/>
            </a:pPr>
            <a:r>
              <a:rPr lang="en-US" sz="1200" b="1" dirty="0">
                <a:solidFill>
                  <a:schemeClr val="tx2"/>
                </a:solidFill>
                <a:latin typeface="Arial" pitchFamily="34" charset="0"/>
                <a:ea typeface="Arial" pitchFamily="34" charset="-122"/>
                <a:cs typeface="Arial" pitchFamily="34" charset="-120"/>
              </a:rPr>
              <a:t>Oct 19</a:t>
            </a:r>
            <a:endParaRPr lang="en-US" sz="1200" dirty="0"/>
          </a:p>
        </p:txBody>
      </p:sp>
      <p:sp>
        <p:nvSpPr>
          <p:cNvPr id="20" name="Text 18"/>
          <p:cNvSpPr txBox="1"/>
          <p:nvPr/>
        </p:nvSpPr>
        <p:spPr>
          <a:xfrm>
            <a:off x="6300033" y="3657600"/>
            <a:ext cx="1737360" cy="320040"/>
          </a:xfrm>
          <a:prstGeom prst="rect">
            <a:avLst/>
          </a:prstGeom>
          <a:noFill/>
          <a:ln/>
        </p:spPr>
        <p:txBody>
          <a:bodyPr wrap="square" lIns="0" tIns="0" rIns="0" bIns="0" rtlCol="0" anchor="ctr"/>
          <a:lstStyle/>
          <a:p>
            <a:pPr algn="ctr" indent="0" marL="0">
              <a:buNone/>
            </a:pPr>
            <a:r>
              <a:rPr lang="en-US" sz="1500" b="1" dirty="0">
                <a:solidFill>
                  <a:schemeClr val="tx1"/>
                </a:solidFill>
                <a:latin typeface="Arial" pitchFamily="34" charset="0"/>
                <a:ea typeface="Arial" pitchFamily="34" charset="-122"/>
                <a:cs typeface="Arial" pitchFamily="34" charset="-120"/>
              </a:rPr>
              <a:t>v3 assembly</a:t>
            </a:r>
            <a:endParaRPr lang="en-US" sz="1500" dirty="0"/>
          </a:p>
        </p:txBody>
      </p:sp>
      <p:sp>
        <p:nvSpPr>
          <p:cNvPr id="21" name="Text 19"/>
          <p:cNvSpPr txBox="1"/>
          <p:nvPr/>
        </p:nvSpPr>
        <p:spPr>
          <a:xfrm>
            <a:off x="6300033" y="4005072"/>
            <a:ext cx="1737360" cy="548640"/>
          </a:xfrm>
          <a:prstGeom prst="rect">
            <a:avLst/>
          </a:prstGeom>
          <a:noFill/>
          <a:ln/>
        </p:spPr>
        <p:txBody>
          <a:bodyPr wrap="square" lIns="0" tIns="0" rIns="0" bIns="0" rtlCol="0" anchor="t"/>
          <a:lstStyle/>
          <a:p>
            <a:pPr algn="ctr" indent="0" marL="0">
              <a:buNone/>
            </a:pPr>
            <a:r>
              <a:rPr lang="en-US" sz="1200" dirty="0">
                <a:solidFill>
                  <a:schemeClr val="tx2"/>
                </a:solidFill>
              </a:rPr>
              <a:t>Whole station in CAD</a:t>
            </a:r>
            <a:endParaRPr lang="en-US" sz="1200" dirty="0"/>
          </a:p>
        </p:txBody>
      </p:sp>
      <p:sp>
        <p:nvSpPr>
          <p:cNvPr id="22" name="tl_node_5"/>
          <p:cNvSpPr/>
          <p:nvPr/>
        </p:nvSpPr>
        <p:spPr>
          <a:xfrm>
            <a:off x="9213860" y="3282696"/>
            <a:ext cx="201168" cy="201168"/>
          </a:xfrm>
          <a:prstGeom prst="ellipse">
            <a:avLst/>
          </a:prstGeom>
          <a:solidFill>
            <a:schemeClr val="accent1"/>
          </a:solidFill>
          <a:ln w="19050">
            <a:solidFill>
              <a:schemeClr val="accent1"/>
            </a:solidFill>
            <a:prstDash val="solid"/>
          </a:ln>
        </p:spPr>
      </p:sp>
      <p:sp>
        <p:nvSpPr>
          <p:cNvPr id="23" name="Text 21"/>
          <p:cNvSpPr txBox="1"/>
          <p:nvPr/>
        </p:nvSpPr>
        <p:spPr>
          <a:xfrm>
            <a:off x="8491484" y="2606040"/>
            <a:ext cx="1645920" cy="320040"/>
          </a:xfrm>
          <a:prstGeom prst="rect">
            <a:avLst/>
          </a:prstGeom>
          <a:noFill/>
          <a:ln/>
        </p:spPr>
        <p:txBody>
          <a:bodyPr wrap="square" lIns="0" tIns="0" rIns="0" bIns="0" rtlCol="0" anchor="ctr"/>
          <a:lstStyle/>
          <a:p>
            <a:pPr algn="ctr" indent="0" marL="0">
              <a:buNone/>
            </a:pPr>
            <a:r>
              <a:rPr lang="en-US" sz="1200" b="1" dirty="0">
                <a:solidFill>
                  <a:schemeClr val="accent1"/>
                </a:solidFill>
                <a:latin typeface="Arial" pitchFamily="34" charset="0"/>
                <a:ea typeface="Arial" pitchFamily="34" charset="-122"/>
                <a:cs typeface="Arial" pitchFamily="34" charset="-120"/>
              </a:rPr>
              <a:t>Oct 20</a:t>
            </a:r>
            <a:endParaRPr lang="en-US" sz="1200" dirty="0"/>
          </a:p>
        </p:txBody>
      </p:sp>
      <p:sp>
        <p:nvSpPr>
          <p:cNvPr id="24" name="Text 22"/>
          <p:cNvSpPr txBox="1"/>
          <p:nvPr/>
        </p:nvSpPr>
        <p:spPr>
          <a:xfrm>
            <a:off x="8445764" y="3657600"/>
            <a:ext cx="1737360" cy="320040"/>
          </a:xfrm>
          <a:prstGeom prst="rect">
            <a:avLst/>
          </a:prstGeom>
          <a:noFill/>
          <a:ln/>
        </p:spPr>
        <p:txBody>
          <a:bodyPr wrap="square" lIns="0" tIns="0" rIns="0" bIns="0" rtlCol="0" anchor="ctr"/>
          <a:lstStyle/>
          <a:p>
            <a:pPr algn="ctr" indent="0" marL="0">
              <a:buNone/>
            </a:pPr>
            <a:r>
              <a:rPr lang="en-US" sz="1500" b="1" dirty="0">
                <a:solidFill>
                  <a:schemeClr val="tx1"/>
                </a:solidFill>
                <a:latin typeface="Arial" pitchFamily="34" charset="0"/>
                <a:ea typeface="Arial" pitchFamily="34" charset="-122"/>
                <a:cs typeface="Arial" pitchFamily="34" charset="-120"/>
              </a:rPr>
              <a:t>Gripper v6</a:t>
            </a:r>
            <a:endParaRPr lang="en-US" sz="1500" dirty="0"/>
          </a:p>
        </p:txBody>
      </p:sp>
      <p:sp>
        <p:nvSpPr>
          <p:cNvPr id="25" name="Text 23"/>
          <p:cNvSpPr txBox="1"/>
          <p:nvPr/>
        </p:nvSpPr>
        <p:spPr>
          <a:xfrm>
            <a:off x="8445764" y="4005072"/>
            <a:ext cx="1737360" cy="548640"/>
          </a:xfrm>
          <a:prstGeom prst="rect">
            <a:avLst/>
          </a:prstGeom>
          <a:noFill/>
          <a:ln/>
        </p:spPr>
        <p:txBody>
          <a:bodyPr wrap="square" lIns="0" tIns="0" rIns="0" bIns="0" rtlCol="0" anchor="t"/>
          <a:lstStyle/>
          <a:p>
            <a:pPr algn="ctr" indent="0" marL="0">
              <a:buNone/>
            </a:pPr>
            <a:r>
              <a:rPr lang="en-US" sz="1200" dirty="0">
                <a:solidFill>
                  <a:schemeClr val="tx2"/>
                </a:solidFill>
              </a:rPr>
              <a:t>Geared jaws</a:t>
            </a:r>
            <a:endParaRPr lang="en-US" sz="1200" dirty="0"/>
          </a:p>
        </p:txBody>
      </p:sp>
      <p:sp>
        <p:nvSpPr>
          <p:cNvPr id="26" name="tl_node_6"/>
          <p:cNvSpPr/>
          <p:nvPr/>
        </p:nvSpPr>
        <p:spPr>
          <a:xfrm>
            <a:off x="11359591" y="3282696"/>
            <a:ext cx="201168" cy="201168"/>
          </a:xfrm>
          <a:prstGeom prst="ellipse">
            <a:avLst/>
          </a:prstGeom>
          <a:solidFill>
            <a:schemeClr val="bg1"/>
          </a:solidFill>
          <a:ln w="19050">
            <a:solidFill>
              <a:schemeClr val="tx1"/>
            </a:solidFill>
            <a:prstDash val="solid"/>
          </a:ln>
        </p:spPr>
      </p:sp>
      <p:sp>
        <p:nvSpPr>
          <p:cNvPr id="27" name="Text 25"/>
          <p:cNvSpPr txBox="1"/>
          <p:nvPr/>
        </p:nvSpPr>
        <p:spPr>
          <a:xfrm>
            <a:off x="10637215" y="2606040"/>
            <a:ext cx="1645920" cy="320040"/>
          </a:xfrm>
          <a:prstGeom prst="rect">
            <a:avLst/>
          </a:prstGeom>
          <a:noFill/>
          <a:ln/>
        </p:spPr>
        <p:txBody>
          <a:bodyPr wrap="square" lIns="0" tIns="0" rIns="0" bIns="0" rtlCol="0" anchor="ctr"/>
          <a:lstStyle/>
          <a:p>
            <a:pPr algn="ctr" indent="0" marL="0">
              <a:buNone/>
            </a:pPr>
            <a:r>
              <a:rPr lang="en-US" sz="1200" b="1" dirty="0">
                <a:solidFill>
                  <a:schemeClr val="tx2"/>
                </a:solidFill>
                <a:latin typeface="Arial" pitchFamily="34" charset="0"/>
                <a:ea typeface="Arial" pitchFamily="34" charset="-122"/>
                <a:cs typeface="Arial" pitchFamily="34" charset="-120"/>
              </a:rPr>
              <a:t>Oct 27</a:t>
            </a:r>
            <a:endParaRPr lang="en-US" sz="1200" dirty="0"/>
          </a:p>
        </p:txBody>
      </p:sp>
      <p:sp>
        <p:nvSpPr>
          <p:cNvPr id="28" name="Text 26"/>
          <p:cNvSpPr txBox="1"/>
          <p:nvPr/>
        </p:nvSpPr>
        <p:spPr>
          <a:xfrm>
            <a:off x="10591495" y="3657600"/>
            <a:ext cx="1737360" cy="320040"/>
          </a:xfrm>
          <a:prstGeom prst="rect">
            <a:avLst/>
          </a:prstGeom>
          <a:noFill/>
          <a:ln/>
        </p:spPr>
        <p:txBody>
          <a:bodyPr wrap="square" lIns="0" tIns="0" rIns="0" bIns="0" rtlCol="0" anchor="ctr"/>
          <a:lstStyle/>
          <a:p>
            <a:pPr algn="ctr" indent="0" marL="0">
              <a:buNone/>
            </a:pPr>
            <a:r>
              <a:rPr lang="en-US" sz="1500" b="1" dirty="0">
                <a:solidFill>
                  <a:schemeClr val="tx1"/>
                </a:solidFill>
                <a:latin typeface="Arial" pitchFamily="34" charset="0"/>
                <a:ea typeface="Arial" pitchFamily="34" charset="-122"/>
                <a:cs typeface="Arial" pitchFamily="34" charset="-120"/>
              </a:rPr>
              <a:t>Panel</a:t>
            </a:r>
            <a:endParaRPr lang="en-US" sz="1500" dirty="0"/>
          </a:p>
        </p:txBody>
      </p:sp>
      <p:sp>
        <p:nvSpPr>
          <p:cNvPr id="29" name="Text 27"/>
          <p:cNvSpPr txBox="1"/>
          <p:nvPr/>
        </p:nvSpPr>
        <p:spPr>
          <a:xfrm>
            <a:off x="10591495" y="4005072"/>
            <a:ext cx="1737360" cy="548640"/>
          </a:xfrm>
          <a:prstGeom prst="rect">
            <a:avLst/>
          </a:prstGeom>
          <a:noFill/>
          <a:ln/>
        </p:spPr>
        <p:txBody>
          <a:bodyPr wrap="square" lIns="0" tIns="0" rIns="0" bIns="0" rtlCol="0" anchor="t"/>
          <a:lstStyle/>
          <a:p>
            <a:pPr algn="ctr" indent="0" marL="0">
              <a:buNone/>
            </a:pPr>
            <a:r>
              <a:rPr lang="en-US" sz="1200" dirty="0">
                <a:solidFill>
                  <a:schemeClr val="tx2"/>
                </a:solidFill>
              </a:rPr>
              <a:t>Today</a:t>
            </a:r>
            <a:endParaRPr lang="en-US" sz="1200" dirty="0"/>
          </a:p>
        </p:txBody>
      </p:sp>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7315200" cy="274320"/>
          </a:xfrm>
          <a:prstGeom prst="rect">
            <a:avLst/>
          </a:prstGeom>
          <a:noFill/>
          <a:ln/>
        </p:spPr>
        <p:txBody>
          <a:bodyPr wrap="square" lIns="0" tIns="0" rIns="0" bIns="0" rtlCol="0"/>
          <a:lstStyle/>
          <a:p>
            <a:pPr algn="l" indent="0" marL="0">
              <a:buNone/>
            </a:pPr>
            <a:r>
              <a:rPr lang="en-US" sz="1100" b="1" spc="150" kern="0" dirty="0">
                <a:solidFill>
                  <a:schemeClr val="tx2"/>
                </a:solidFill>
                <a:latin typeface="Arial" pitchFamily="34" charset="0"/>
                <a:ea typeface="Arial" pitchFamily="34" charset="-122"/>
                <a:cs typeface="Arial" pitchFamily="34" charset="-120"/>
              </a:rPr>
              <a:t>DECISION · VISION</a:t>
            </a:r>
            <a:endParaRPr lang="en-US" sz="1100" dirty="0"/>
          </a:p>
        </p:txBody>
      </p:sp>
      <p:sp>
        <p:nvSpPr>
          <p:cNvPr id="3" name="Text 0"/>
          <p:cNvSpPr/>
          <p:nvPr>
            <p:ph idx="101" type="title" hasCustomPrompt="1"/>
          </p:nvPr>
        </p:nvSpPr>
        <p:spPr>
          <a:xfrm>
            <a:off x="548640" y="731520"/>
            <a:ext cx="9357055" cy="960120"/>
          </a:xfrm>
          <a:prstGeom prst="rect">
            <a:avLst/>
          </a:prstGeom>
          <a:noFill/>
          <a:ln/>
        </p:spPr>
        <p:txBody>
          <a:bodyPr wrap="square" lIns="0" tIns="0" rIns="0" bIns="0" rtlCol="0" anchor="t"/>
          <a:lstStyle/>
          <a:p>
            <a:pPr algn="l" indent="0" marL="0">
              <a:buNone/>
            </a:pPr>
            <a:r>
              <a:rPr lang="en-US" sz="3000" b="1" dirty="0">
                <a:solidFill>
                  <a:schemeClr val="tx1"/>
                </a:solidFill>
              </a:rPr>
              <a:t>The camera rides on the narrow side so it can see the jaws' approach</a:t>
            </a:r>
            <a:endParaRPr lang="en-US" sz="3000" dirty="0"/>
          </a:p>
        </p:txBody>
      </p:sp>
      <p:sp>
        <p:nvSpPr>
          <p:cNvPr id="4" name="tag_SIMULATED"/>
          <p:cNvSpPr txBox="1"/>
          <p:nvPr/>
        </p:nvSpPr>
        <p:spPr>
          <a:xfrm>
            <a:off x="10317175" y="429768"/>
            <a:ext cx="1325880" cy="256032"/>
          </a:xfrm>
          <a:prstGeom prst="roundRect">
            <a:avLst>
              <a:gd name="adj" fmla="val 50000"/>
            </a:avLst>
          </a:prstGeom>
          <a:solidFill>
            <a:schemeClr val="bg1"/>
          </a:solidFill>
          <a:ln w="12700">
            <a:solidFill>
              <a:schemeClr val="tx2"/>
            </a:solidFill>
            <a:prstDash val="dash"/>
          </a:ln>
        </p:spPr>
        <p:txBody>
          <a:bodyPr wrap="square" lIns="0" tIns="0" rIns="0" bIns="0" rtlCol="0" anchor="ctr"/>
          <a:lstStyle/>
          <a:p>
            <a:pPr algn="ctr" indent="0" marL="0">
              <a:buNone/>
            </a:pPr>
            <a:r>
              <a:rPr lang="en-US" sz="900" b="1" spc="120" kern="0" dirty="0">
                <a:solidFill>
                  <a:schemeClr val="tx2"/>
                </a:solidFill>
                <a:latin typeface="Arial" pitchFamily="34" charset="0"/>
                <a:ea typeface="Arial" pitchFamily="34" charset="-122"/>
                <a:cs typeface="Arial" pitchFamily="34" charset="-120"/>
              </a:rPr>
              <a:t>SIMULATED</a:t>
            </a:r>
            <a:endParaRPr lang="en-US" sz="900" dirty="0"/>
          </a:p>
        </p:txBody>
      </p:sp>
      <p:pic>
        <p:nvPicPr>
          <p:cNvPr id="5" name="bay_render" descr="bay_render">    </p:cNvPr>
          <p:cNvPicPr>
            <a:picLocks noChangeAspect="1"/>
          </p:cNvPicPr>
          <p:nvPr/>
        </p:nvPicPr>
        <p:blipFill>
          <a:blip r:embed="rId1"/>
          <a:stretch>
            <a:fillRect/>
          </a:stretch>
        </p:blipFill>
        <p:spPr>
          <a:xfrm>
            <a:off x="1463040" y="1691640"/>
            <a:ext cx="1543932" cy="4480560"/>
          </a:xfrm>
          <a:prstGeom prst="rect">
            <a:avLst/>
          </a:prstGeom>
        </p:spPr>
      </p:pic>
      <p:sp>
        <p:nvSpPr>
          <p:cNvPr id="6" name="callout_line_Camera bay (new)"/>
          <p:cNvSpPr/>
          <p:nvPr/>
        </p:nvSpPr>
        <p:spPr>
          <a:xfrm>
            <a:off x="2788920" y="2121408"/>
            <a:ext cx="1417320" cy="0"/>
          </a:xfrm>
          <a:prstGeom prst="line">
            <a:avLst/>
          </a:prstGeom>
          <a:noFill/>
          <a:ln w="12700">
            <a:solidFill>
              <a:schemeClr val="tx1"/>
            </a:solidFill>
            <a:prstDash val="solid"/>
          </a:ln>
        </p:spPr>
      </p:sp>
      <p:sp>
        <p:nvSpPr>
          <p:cNvPr id="7" name="callout_dot_Camera bay (new)"/>
          <p:cNvSpPr/>
          <p:nvPr/>
        </p:nvSpPr>
        <p:spPr>
          <a:xfrm>
            <a:off x="2734056" y="2066544"/>
            <a:ext cx="109728" cy="109728"/>
          </a:xfrm>
          <a:prstGeom prst="ellipse">
            <a:avLst/>
          </a:prstGeom>
          <a:solidFill>
            <a:schemeClr val="accent1"/>
          </a:solidFill>
          <a:ln w="12700">
            <a:solidFill>
              <a:schemeClr val="bg1"/>
            </a:solidFill>
            <a:prstDash val="solid"/>
          </a:ln>
        </p:spPr>
      </p:sp>
      <p:sp>
        <p:nvSpPr>
          <p:cNvPr id="8" name="callout_label_Camera bay (new)"/>
          <p:cNvSpPr txBox="1"/>
          <p:nvPr/>
        </p:nvSpPr>
        <p:spPr>
          <a:xfrm>
            <a:off x="4251960" y="1975104"/>
            <a:ext cx="1883664" cy="292608"/>
          </a:xfrm>
          <a:prstGeom prst="rect">
            <a:avLst/>
          </a:prstGeom>
          <a:solidFill>
            <a:schemeClr val="bg1"/>
          </a:solidFill>
          <a:ln/>
        </p:spPr>
        <p:txBody>
          <a:bodyPr wrap="square" lIns="0" tIns="0" rIns="0" bIns="0" rtlCol="0" anchor="ctr"/>
          <a:lstStyle/>
          <a:p>
            <a:pPr algn="ctr" indent="0" marL="0">
              <a:buNone/>
            </a:pPr>
            <a:r>
              <a:rPr lang="en-US" sz="1200" b="1" dirty="0">
                <a:solidFill>
                  <a:schemeClr val="tx1"/>
                </a:solidFill>
                <a:latin typeface="Arial" pitchFamily="34" charset="0"/>
                <a:ea typeface="Arial" pitchFamily="34" charset="-122"/>
                <a:cs typeface="Arial" pitchFamily="34" charset="-120"/>
              </a:rPr>
              <a:t>Camera bay (new)</a:t>
            </a:r>
            <a:endParaRPr lang="en-US" sz="1200" dirty="0"/>
          </a:p>
        </p:txBody>
      </p:sp>
      <p:sp>
        <p:nvSpPr>
          <p:cNvPr id="9" name="callout_line_Line tie-offs at fillet holes"/>
          <p:cNvSpPr/>
          <p:nvPr/>
        </p:nvSpPr>
        <p:spPr>
          <a:xfrm>
            <a:off x="1828800" y="2468880"/>
            <a:ext cx="2377440" cy="365760"/>
          </a:xfrm>
          <a:prstGeom prst="line">
            <a:avLst/>
          </a:prstGeom>
          <a:noFill/>
          <a:ln w="12700">
            <a:solidFill>
              <a:schemeClr val="tx1"/>
            </a:solidFill>
            <a:prstDash val="solid"/>
          </a:ln>
        </p:spPr>
      </p:sp>
      <p:sp>
        <p:nvSpPr>
          <p:cNvPr id="10" name="callout_dot_Line tie-offs at fillet holes"/>
          <p:cNvSpPr/>
          <p:nvPr/>
        </p:nvSpPr>
        <p:spPr>
          <a:xfrm>
            <a:off x="1773936" y="2414016"/>
            <a:ext cx="109728" cy="109728"/>
          </a:xfrm>
          <a:prstGeom prst="ellipse">
            <a:avLst/>
          </a:prstGeom>
          <a:solidFill>
            <a:schemeClr val="accent1"/>
          </a:solidFill>
          <a:ln w="12700">
            <a:solidFill>
              <a:schemeClr val="bg1"/>
            </a:solidFill>
            <a:prstDash val="solid"/>
          </a:ln>
        </p:spPr>
      </p:sp>
      <p:sp>
        <p:nvSpPr>
          <p:cNvPr id="11" name="callout_label_Line tie-offs at fillet holes"/>
          <p:cNvSpPr txBox="1"/>
          <p:nvPr/>
        </p:nvSpPr>
        <p:spPr>
          <a:xfrm>
            <a:off x="4251960" y="2688336"/>
            <a:ext cx="3191256" cy="292608"/>
          </a:xfrm>
          <a:prstGeom prst="rect">
            <a:avLst/>
          </a:prstGeom>
          <a:solidFill>
            <a:schemeClr val="bg1"/>
          </a:solidFill>
          <a:ln/>
        </p:spPr>
        <p:txBody>
          <a:bodyPr wrap="square" lIns="0" tIns="0" rIns="0" bIns="0" rtlCol="0" anchor="ctr"/>
          <a:lstStyle/>
          <a:p>
            <a:pPr algn="ctr" indent="0" marL="0">
              <a:buNone/>
            </a:pPr>
            <a:r>
              <a:rPr lang="en-US" sz="1200" b="1" dirty="0">
                <a:solidFill>
                  <a:schemeClr val="tx1"/>
                </a:solidFill>
                <a:latin typeface="Arial" pitchFamily="34" charset="0"/>
                <a:ea typeface="Arial" pitchFamily="34" charset="-122"/>
                <a:cs typeface="Arial" pitchFamily="34" charset="-120"/>
              </a:rPr>
              <a:t>Line tie-offs at fillet holes</a:t>
            </a:r>
            <a:endParaRPr lang="en-US" sz="1200" dirty="0"/>
          </a:p>
        </p:txBody>
      </p:sp>
      <p:sp>
        <p:nvSpPr>
          <p:cNvPr id="12" name="callout_line_Jaws"/>
          <p:cNvSpPr/>
          <p:nvPr/>
        </p:nvSpPr>
        <p:spPr>
          <a:xfrm flipH="1">
            <a:off x="2194560" y="5120640"/>
            <a:ext cx="2011680" cy="365760"/>
          </a:xfrm>
          <a:prstGeom prst="line">
            <a:avLst/>
          </a:prstGeom>
          <a:noFill/>
          <a:ln w="12700">
            <a:solidFill>
              <a:schemeClr val="tx1"/>
            </a:solidFill>
            <a:prstDash val="solid"/>
          </a:ln>
        </p:spPr>
      </p:sp>
      <p:sp>
        <p:nvSpPr>
          <p:cNvPr id="13" name="callout_dot_Jaws"/>
          <p:cNvSpPr/>
          <p:nvPr/>
        </p:nvSpPr>
        <p:spPr>
          <a:xfrm>
            <a:off x="2139696" y="5431536"/>
            <a:ext cx="109728" cy="109728"/>
          </a:xfrm>
          <a:prstGeom prst="ellipse">
            <a:avLst/>
          </a:prstGeom>
          <a:solidFill>
            <a:schemeClr val="accent1"/>
          </a:solidFill>
          <a:ln w="12700">
            <a:solidFill>
              <a:schemeClr val="bg1"/>
            </a:solidFill>
            <a:prstDash val="solid"/>
          </a:ln>
        </p:spPr>
      </p:sp>
      <p:sp>
        <p:nvSpPr>
          <p:cNvPr id="14" name="callout_label_Jaws"/>
          <p:cNvSpPr txBox="1"/>
          <p:nvPr/>
        </p:nvSpPr>
        <p:spPr>
          <a:xfrm>
            <a:off x="4251960" y="4974336"/>
            <a:ext cx="676656" cy="292608"/>
          </a:xfrm>
          <a:prstGeom prst="rect">
            <a:avLst/>
          </a:prstGeom>
          <a:solidFill>
            <a:schemeClr val="bg1"/>
          </a:solidFill>
          <a:ln/>
        </p:spPr>
        <p:txBody>
          <a:bodyPr wrap="square" lIns="0" tIns="0" rIns="0" bIns="0" rtlCol="0" anchor="ctr"/>
          <a:lstStyle/>
          <a:p>
            <a:pPr algn="ctr" indent="0" marL="0">
              <a:buNone/>
            </a:pPr>
            <a:r>
              <a:rPr lang="en-US" sz="1200" b="1" dirty="0">
                <a:solidFill>
                  <a:schemeClr val="tx1"/>
                </a:solidFill>
                <a:latin typeface="Arial" pitchFamily="34" charset="0"/>
                <a:ea typeface="Arial" pitchFamily="34" charset="-122"/>
                <a:cs typeface="Arial" pitchFamily="34" charset="-120"/>
              </a:rPr>
              <a:t>Jaws</a:t>
            </a:r>
            <a:endParaRPr lang="en-US" sz="1200" dirty="0"/>
          </a:p>
        </p:txBody>
      </p:sp>
      <p:sp>
        <p:nvSpPr>
          <p:cNvPr id="15" name="Text 12"/>
          <p:cNvSpPr txBox="1"/>
          <p:nvPr/>
        </p:nvSpPr>
        <p:spPr>
          <a:xfrm>
            <a:off x="6949440" y="1920240"/>
            <a:ext cx="4693615" cy="3291840"/>
          </a:xfrm>
          <a:prstGeom prst="rect">
            <a:avLst/>
          </a:prstGeom>
          <a:noFill/>
          <a:ln/>
        </p:spPr>
        <p:txBody>
          <a:bodyPr wrap="square" lIns="0" tIns="0" rIns="0" bIns="0" rtlCol="0" anchor="t"/>
          <a:lstStyle/>
          <a:p>
            <a:pPr indent="0" marL="0">
              <a:spcAft>
                <a:spcPts val="1000"/>
              </a:spcAft>
              <a:buNone/>
            </a:pPr>
            <a:r>
              <a:rPr lang="en-US" sz="1600" dirty="0">
                <a:solidFill>
                  <a:schemeClr val="tx1"/>
                </a:solidFill>
              </a:rPr>
              <a:t>Lens 512 mm above the floor, looking straight down.</a:t>
            </a:r>
            <a:endParaRPr lang="en-US" sz="1600" dirty="0"/>
          </a:p>
          <a:p>
            <a:pPr indent="0" marL="0">
              <a:spcAft>
                <a:spcPts val="1000"/>
              </a:spcAft>
              <a:buNone/>
            </a:pPr>
            <a:r>
              <a:rPr lang="en-US" sz="1600" dirty="0">
                <a:solidFill>
                  <a:schemeClr val="tx1"/>
                </a:solidFill>
              </a:rPr>
              <a:t>12 % of the view is blocked by the claw itself.</a:t>
            </a:r>
            <a:endParaRPr lang="en-US" sz="1600" dirty="0"/>
          </a:p>
          <a:p>
            <a:pPr indent="0" marL="0">
              <a:spcAft>
                <a:spcPts val="1000"/>
              </a:spcAft>
              <a:buNone/>
            </a:pPr>
            <a:r>
              <a:rPr lang="en-US" sz="1600" dirty="0">
                <a:solidFill>
                  <a:schemeClr val="tx1"/>
                </a:solidFill>
              </a:rPr>
              <a:t>Lines can only touch the bay above 1.98 m at ≥ 30° yaw — so tasks are capped at 1.6 m.</a:t>
            </a:r>
            <a:endParaRPr lang="en-US" sz="1600" dirty="0"/>
          </a:p>
        </p:txBody>
      </p:sp>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731520"/>
            <a:ext cx="7315200" cy="274320"/>
          </a:xfrm>
          <a:prstGeom prst="rect">
            <a:avLst/>
          </a:prstGeom>
          <a:noFill/>
          <a:ln/>
        </p:spPr>
        <p:txBody>
          <a:bodyPr wrap="square" lIns="0" tIns="0" rIns="0" bIns="0" rtlCol="0"/>
          <a:lstStyle/>
          <a:p>
            <a:pPr algn="l" indent="0" marL="0">
              <a:buNone/>
            </a:pPr>
            <a:r>
              <a:rPr lang="en-US" sz="1100" b="1" spc="150" kern="0" dirty="0">
                <a:solidFill>
                  <a:schemeClr val="accent1"/>
                </a:solidFill>
                <a:latin typeface="Arial" pitchFamily="34" charset="0"/>
                <a:ea typeface="Arial" pitchFamily="34" charset="-122"/>
                <a:cs typeface="Arial" pitchFamily="34" charset="-120"/>
              </a:rPr>
              <a:t>WHAT I'D TELL MYSELF ON DAY ONE</a:t>
            </a:r>
            <a:endParaRPr lang="en-US" sz="1100" dirty="0"/>
          </a:p>
        </p:txBody>
      </p:sp>
      <p:sp>
        <p:nvSpPr>
          <p:cNvPr id="3" name="Text 0"/>
          <p:cNvSpPr/>
          <p:nvPr>
            <p:ph idx="101" type="title" hasCustomPrompt="1"/>
          </p:nvPr>
        </p:nvSpPr>
        <p:spPr>
          <a:xfrm>
            <a:off x="548640" y="1097280"/>
            <a:ext cx="10058400" cy="914400"/>
          </a:xfrm>
          <a:prstGeom prst="rect">
            <a:avLst/>
          </a:prstGeom>
          <a:noFill/>
          <a:ln/>
        </p:spPr>
        <p:txBody>
          <a:bodyPr wrap="square" lIns="0" tIns="0" rIns="0" bIns="0" rtlCol="0" anchor="t"/>
          <a:lstStyle/>
          <a:p>
            <a:pPr algn="l" indent="0" marL="0">
              <a:buNone/>
            </a:pPr>
            <a:r>
              <a:rPr lang="en-US" sz="3600" b="1" dirty="0">
                <a:solidFill>
                  <a:schemeClr val="bg1"/>
                </a:solidFill>
              </a:rPr>
              <a:t>Three things this robot taught me</a:t>
            </a:r>
            <a:endParaRPr lang="en-US" sz="3600" dirty="0"/>
          </a:p>
        </p:txBody>
      </p:sp>
      <p:sp>
        <p:nvSpPr>
          <p:cNvPr id="4" name="Text 2"/>
          <p:cNvSpPr txBox="1"/>
          <p:nvPr/>
        </p:nvSpPr>
        <p:spPr>
          <a:xfrm>
            <a:off x="548640" y="2743200"/>
            <a:ext cx="1371600" cy="731520"/>
          </a:xfrm>
          <a:prstGeom prst="rect">
            <a:avLst/>
          </a:prstGeom>
          <a:noFill/>
          <a:ln/>
        </p:spPr>
        <p:txBody>
          <a:bodyPr wrap="square" lIns="0" tIns="0" rIns="0" bIns="0" rtlCol="0" anchor="ctr"/>
          <a:lstStyle/>
          <a:p>
            <a:pPr indent="0" marL="0">
              <a:buNone/>
            </a:pPr>
            <a:r>
              <a:rPr lang="en-US" sz="4000" b="1" dirty="0">
                <a:solidFill>
                  <a:schemeClr val="accent1"/>
                </a:solidFill>
                <a:latin typeface="Arial" pitchFamily="34" charset="0"/>
                <a:ea typeface="Arial" pitchFamily="34" charset="-122"/>
                <a:cs typeface="Arial" pitchFamily="34" charset="-120"/>
              </a:rPr>
              <a:t>01</a:t>
            </a:r>
            <a:endParaRPr lang="en-US" sz="4000" dirty="0"/>
          </a:p>
        </p:txBody>
      </p:sp>
      <p:sp>
        <p:nvSpPr>
          <p:cNvPr id="5" name="Text 3"/>
          <p:cNvSpPr txBox="1"/>
          <p:nvPr/>
        </p:nvSpPr>
        <p:spPr>
          <a:xfrm>
            <a:off x="548640" y="3566160"/>
            <a:ext cx="3291840" cy="731520"/>
          </a:xfrm>
          <a:prstGeom prst="rect">
            <a:avLst/>
          </a:prstGeom>
          <a:noFill/>
          <a:ln/>
        </p:spPr>
        <p:txBody>
          <a:bodyPr wrap="square" lIns="0" tIns="0" rIns="0" bIns="0" rtlCol="0" anchor="t"/>
          <a:lstStyle/>
          <a:p>
            <a:pPr indent="0" marL="0">
              <a:buNone/>
            </a:pPr>
            <a:r>
              <a:rPr lang="en-US" sz="2000" b="1" dirty="0">
                <a:solidFill>
                  <a:schemeClr val="bg1"/>
                </a:solidFill>
                <a:latin typeface="Arial" pitchFamily="34" charset="0"/>
                <a:ea typeface="Arial" pitchFamily="34" charset="-122"/>
                <a:cs typeface="Arial" pitchFamily="34" charset="-120"/>
              </a:rPr>
              <a:t>Measure before you trust a margin</a:t>
            </a:r>
            <a:endParaRPr lang="en-US" sz="2000" dirty="0"/>
          </a:p>
        </p:txBody>
      </p:sp>
      <p:sp>
        <p:nvSpPr>
          <p:cNvPr id="6" name="Text 4"/>
          <p:cNvSpPr txBox="1"/>
          <p:nvPr/>
        </p:nvSpPr>
        <p:spPr>
          <a:xfrm>
            <a:off x="548640" y="4343400"/>
            <a:ext cx="3291840" cy="731520"/>
          </a:xfrm>
          <a:prstGeom prst="rect">
            <a:avLst/>
          </a:prstGeom>
          <a:noFill/>
          <a:ln/>
        </p:spPr>
        <p:txBody>
          <a:bodyPr wrap="square" lIns="0" tIns="0" rIns="0" bIns="0" rtlCol="0" anchor="t"/>
          <a:lstStyle/>
          <a:p>
            <a:pPr indent="0" marL="0">
              <a:buNone/>
            </a:pPr>
            <a:r>
              <a:rPr lang="en-US" sz="1400" dirty="0">
                <a:solidFill>
                  <a:srgbClr val="A9B0B8"/>
                </a:solidFill>
              </a:rPr>
              <a:t>Sample lesson text — one line, plain words.</a:t>
            </a:r>
            <a:endParaRPr lang="en-US" sz="1400" dirty="0"/>
          </a:p>
        </p:txBody>
      </p:sp>
      <p:sp>
        <p:nvSpPr>
          <p:cNvPr id="7" name="Text 5"/>
          <p:cNvSpPr txBox="1"/>
          <p:nvPr/>
        </p:nvSpPr>
        <p:spPr>
          <a:xfrm>
            <a:off x="4246778" y="2743200"/>
            <a:ext cx="1371600" cy="731520"/>
          </a:xfrm>
          <a:prstGeom prst="rect">
            <a:avLst/>
          </a:prstGeom>
          <a:noFill/>
          <a:ln/>
        </p:spPr>
        <p:txBody>
          <a:bodyPr wrap="square" lIns="0" tIns="0" rIns="0" bIns="0" rtlCol="0" anchor="ctr"/>
          <a:lstStyle/>
          <a:p>
            <a:pPr indent="0" marL="0">
              <a:buNone/>
            </a:pPr>
            <a:r>
              <a:rPr lang="en-US" sz="4000" b="1" dirty="0">
                <a:solidFill>
                  <a:schemeClr val="accent1"/>
                </a:solidFill>
                <a:latin typeface="Arial" pitchFamily="34" charset="0"/>
                <a:ea typeface="Arial" pitchFamily="34" charset="-122"/>
                <a:cs typeface="Arial" pitchFamily="34" charset="-120"/>
              </a:rPr>
              <a:t>02</a:t>
            </a:r>
            <a:endParaRPr lang="en-US" sz="4000" dirty="0"/>
          </a:p>
        </p:txBody>
      </p:sp>
      <p:sp>
        <p:nvSpPr>
          <p:cNvPr id="8" name="Text 6"/>
          <p:cNvSpPr txBox="1"/>
          <p:nvPr/>
        </p:nvSpPr>
        <p:spPr>
          <a:xfrm>
            <a:off x="4246778" y="3566160"/>
            <a:ext cx="3291840" cy="731520"/>
          </a:xfrm>
          <a:prstGeom prst="rect">
            <a:avLst/>
          </a:prstGeom>
          <a:noFill/>
          <a:ln/>
        </p:spPr>
        <p:txBody>
          <a:bodyPr wrap="square" lIns="0" tIns="0" rIns="0" bIns="0" rtlCol="0" anchor="t"/>
          <a:lstStyle/>
          <a:p>
            <a:pPr indent="0" marL="0">
              <a:buNone/>
            </a:pPr>
            <a:r>
              <a:rPr lang="en-US" sz="2000" b="1" dirty="0">
                <a:solidFill>
                  <a:schemeClr val="bg1"/>
                </a:solidFill>
                <a:latin typeface="Arial" pitchFamily="34" charset="0"/>
                <a:ea typeface="Arial" pitchFamily="34" charset="-122"/>
                <a:cs typeface="Arial" pitchFamily="34" charset="-120"/>
              </a:rPr>
              <a:t>Every interface is a decision</a:t>
            </a:r>
            <a:endParaRPr lang="en-US" sz="2000" dirty="0"/>
          </a:p>
        </p:txBody>
      </p:sp>
      <p:sp>
        <p:nvSpPr>
          <p:cNvPr id="9" name="Text 7"/>
          <p:cNvSpPr txBox="1"/>
          <p:nvPr/>
        </p:nvSpPr>
        <p:spPr>
          <a:xfrm>
            <a:off x="4246778" y="4343400"/>
            <a:ext cx="3291840" cy="731520"/>
          </a:xfrm>
          <a:prstGeom prst="rect">
            <a:avLst/>
          </a:prstGeom>
          <a:noFill/>
          <a:ln/>
        </p:spPr>
        <p:txBody>
          <a:bodyPr wrap="square" lIns="0" tIns="0" rIns="0" bIns="0" rtlCol="0" anchor="t"/>
          <a:lstStyle/>
          <a:p>
            <a:pPr indent="0" marL="0">
              <a:buNone/>
            </a:pPr>
            <a:r>
              <a:rPr lang="en-US" sz="1400" dirty="0">
                <a:solidFill>
                  <a:srgbClr val="A9B0B8"/>
                </a:solidFill>
              </a:rPr>
              <a:t>Sample lesson text — one line, plain words.</a:t>
            </a:r>
            <a:endParaRPr lang="en-US" sz="1400" dirty="0"/>
          </a:p>
        </p:txBody>
      </p:sp>
      <p:sp>
        <p:nvSpPr>
          <p:cNvPr id="10" name="Text 8"/>
          <p:cNvSpPr txBox="1"/>
          <p:nvPr/>
        </p:nvSpPr>
        <p:spPr>
          <a:xfrm>
            <a:off x="7944917" y="2743200"/>
            <a:ext cx="1371600" cy="731520"/>
          </a:xfrm>
          <a:prstGeom prst="rect">
            <a:avLst/>
          </a:prstGeom>
          <a:noFill/>
          <a:ln/>
        </p:spPr>
        <p:txBody>
          <a:bodyPr wrap="square" lIns="0" tIns="0" rIns="0" bIns="0" rtlCol="0" anchor="ctr"/>
          <a:lstStyle/>
          <a:p>
            <a:pPr indent="0" marL="0">
              <a:buNone/>
            </a:pPr>
            <a:r>
              <a:rPr lang="en-US" sz="4000" b="1" dirty="0">
                <a:solidFill>
                  <a:schemeClr val="accent1"/>
                </a:solidFill>
                <a:latin typeface="Arial" pitchFamily="34" charset="0"/>
                <a:ea typeface="Arial" pitchFamily="34" charset="-122"/>
                <a:cs typeface="Arial" pitchFamily="34" charset="-120"/>
              </a:rPr>
              <a:t>03</a:t>
            </a:r>
            <a:endParaRPr lang="en-US" sz="4000" dirty="0"/>
          </a:p>
        </p:txBody>
      </p:sp>
      <p:sp>
        <p:nvSpPr>
          <p:cNvPr id="11" name="Text 9"/>
          <p:cNvSpPr txBox="1"/>
          <p:nvPr/>
        </p:nvSpPr>
        <p:spPr>
          <a:xfrm>
            <a:off x="7944917" y="3566160"/>
            <a:ext cx="3291840" cy="731520"/>
          </a:xfrm>
          <a:prstGeom prst="rect">
            <a:avLst/>
          </a:prstGeom>
          <a:noFill/>
          <a:ln/>
        </p:spPr>
        <p:txBody>
          <a:bodyPr wrap="square" lIns="0" tIns="0" rIns="0" bIns="0" rtlCol="0" anchor="t"/>
          <a:lstStyle/>
          <a:p>
            <a:pPr indent="0" marL="0">
              <a:buNone/>
            </a:pPr>
            <a:r>
              <a:rPr lang="en-US" sz="2000" b="1" dirty="0">
                <a:solidFill>
                  <a:schemeClr val="bg1"/>
                </a:solidFill>
                <a:latin typeface="Arial" pitchFamily="34" charset="0"/>
                <a:ea typeface="Arial" pitchFamily="34" charset="-122"/>
                <a:cs typeface="Arial" pitchFamily="34" charset="-120"/>
              </a:rPr>
              <a:t>Make failure visible early</a:t>
            </a:r>
            <a:endParaRPr lang="en-US" sz="2000" dirty="0"/>
          </a:p>
        </p:txBody>
      </p:sp>
      <p:sp>
        <p:nvSpPr>
          <p:cNvPr id="12" name="Text 10"/>
          <p:cNvSpPr txBox="1"/>
          <p:nvPr/>
        </p:nvSpPr>
        <p:spPr>
          <a:xfrm>
            <a:off x="7944917" y="4343400"/>
            <a:ext cx="3291840" cy="731520"/>
          </a:xfrm>
          <a:prstGeom prst="rect">
            <a:avLst/>
          </a:prstGeom>
          <a:noFill/>
          <a:ln/>
        </p:spPr>
        <p:txBody>
          <a:bodyPr wrap="square" lIns="0" tIns="0" rIns="0" bIns="0" rtlCol="0" anchor="t"/>
          <a:lstStyle/>
          <a:p>
            <a:pPr indent="0" marL="0">
              <a:buNone/>
            </a:pPr>
            <a:r>
              <a:rPr lang="en-US" sz="1400" dirty="0">
                <a:solidFill>
                  <a:srgbClr val="A9B0B8"/>
                </a:solidFill>
              </a:rPr>
              <a:t>Sample lesson text — one line, plain words.</a:t>
            </a:r>
            <a:endParaRPr lang="en-US" sz="1400" dirty="0"/>
          </a:p>
        </p:txBody>
      </p:sp>
      <p:sp>
        <p:nvSpPr>
          <p:cNvPr id="13" name="Text 11"/>
          <p:cNvSpPr txBox="1"/>
          <p:nvPr/>
        </p:nvSpPr>
        <p:spPr>
          <a:xfrm>
            <a:off x="548640" y="5943600"/>
            <a:ext cx="5486400" cy="365760"/>
          </a:xfrm>
          <a:prstGeom prst="rect">
            <a:avLst/>
          </a:prstGeom>
          <a:noFill/>
          <a:ln/>
        </p:spPr>
        <p:txBody>
          <a:bodyPr wrap="square" lIns="0" tIns="0" rIns="0" bIns="0" rtlCol="0" anchor="ctr"/>
          <a:lstStyle/>
          <a:p>
            <a:pPr indent="0" marL="0">
              <a:buNone/>
            </a:pPr>
            <a:r>
              <a:rPr lang="en-US" sz="1200" dirty="0">
                <a:solidFill>
                  <a:schemeClr val="tx2"/>
                </a:solidFill>
              </a:rPr>
              <a:t>jasper_buntinx@tamu.edu</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7315200" cy="274320"/>
          </a:xfrm>
          <a:prstGeom prst="rect">
            <a:avLst/>
          </a:prstGeom>
          <a:noFill/>
          <a:ln/>
        </p:spPr>
        <p:txBody>
          <a:bodyPr wrap="square" lIns="0" tIns="0" rIns="0" bIns="0" rtlCol="0"/>
          <a:lstStyle/>
          <a:p>
            <a:pPr algn="l" indent="0" marL="0">
              <a:buNone/>
            </a:pPr>
            <a:r>
              <a:rPr lang="en-US" sz="1100" b="1" spc="150" kern="0" dirty="0">
                <a:solidFill>
                  <a:schemeClr val="tx2"/>
                </a:solidFill>
                <a:latin typeface="Arial" pitchFamily="34" charset="0"/>
                <a:ea typeface="Arial" pitchFamily="34" charset="-122"/>
                <a:cs typeface="Arial" pitchFamily="34" charset="-120"/>
              </a:rPr>
              <a:t>STYLE REFERENCE</a:t>
            </a:r>
            <a:endParaRPr lang="en-US" sz="1100" dirty="0"/>
          </a:p>
        </p:txBody>
      </p:sp>
      <p:sp>
        <p:nvSpPr>
          <p:cNvPr id="3" name="Text 0"/>
          <p:cNvSpPr/>
          <p:nvPr>
            <p:ph idx="101" type="title" hasCustomPrompt="1"/>
          </p:nvPr>
        </p:nvSpPr>
        <p:spPr>
          <a:xfrm>
            <a:off x="548640" y="731520"/>
            <a:ext cx="9357055" cy="960120"/>
          </a:xfrm>
          <a:prstGeom prst="rect">
            <a:avLst/>
          </a:prstGeom>
          <a:noFill/>
          <a:ln/>
        </p:spPr>
        <p:txBody>
          <a:bodyPr wrap="square" lIns="0" tIns="0" rIns="0" bIns="0" rtlCol="0" anchor="t"/>
          <a:lstStyle/>
          <a:p>
            <a:pPr algn="l" indent="0" marL="0">
              <a:buNone/>
            </a:pPr>
            <a:r>
              <a:rPr lang="en-US" sz="3000" b="1" dirty="0">
                <a:solidFill>
                  <a:schemeClr val="tx1"/>
                </a:solidFill>
              </a:rPr>
              <a:t>Palette, type and evidence tags</a:t>
            </a:r>
            <a:endParaRPr lang="en-US" sz="3000" dirty="0"/>
          </a:p>
        </p:txBody>
      </p:sp>
      <p:sp>
        <p:nvSpPr>
          <p:cNvPr id="4" name="swatch_Ink"/>
          <p:cNvSpPr/>
          <p:nvPr/>
        </p:nvSpPr>
        <p:spPr>
          <a:xfrm>
            <a:off x="548640" y="1828800"/>
            <a:ext cx="1600200" cy="1005840"/>
          </a:xfrm>
          <a:prstGeom prst="rect">
            <a:avLst/>
          </a:prstGeom>
          <a:solidFill>
            <a:schemeClr val="tx1"/>
          </a:solidFill>
          <a:ln w="9525">
            <a:solidFill>
              <a:schemeClr val="bg2"/>
            </a:solidFill>
            <a:prstDash val="solid"/>
          </a:ln>
        </p:spPr>
      </p:sp>
      <p:sp>
        <p:nvSpPr>
          <p:cNvPr id="5" name="Text 3"/>
          <p:cNvSpPr txBox="1"/>
          <p:nvPr/>
        </p:nvSpPr>
        <p:spPr>
          <a:xfrm>
            <a:off x="548640" y="2926080"/>
            <a:ext cx="1600200" cy="274320"/>
          </a:xfrm>
          <a:prstGeom prst="rect">
            <a:avLst/>
          </a:prstGeom>
          <a:noFill/>
          <a:ln/>
        </p:spPr>
        <p:txBody>
          <a:bodyPr wrap="square" lIns="0" tIns="0" rIns="0" bIns="0" rtlCol="0" anchor="ctr"/>
          <a:lstStyle/>
          <a:p>
            <a:pPr indent="0" marL="0">
              <a:buNone/>
            </a:pPr>
            <a:r>
              <a:rPr lang="en-US" sz="1300" b="1" dirty="0">
                <a:solidFill>
                  <a:schemeClr val="tx1"/>
                </a:solidFill>
                <a:latin typeface="Arial" pitchFamily="34" charset="0"/>
                <a:ea typeface="Arial" pitchFamily="34" charset="-122"/>
                <a:cs typeface="Arial" pitchFamily="34" charset="-120"/>
              </a:rPr>
              <a:t>Ink</a:t>
            </a:r>
            <a:endParaRPr lang="en-US" sz="1300" dirty="0"/>
          </a:p>
        </p:txBody>
      </p:sp>
      <p:sp>
        <p:nvSpPr>
          <p:cNvPr id="6" name="Text 4"/>
          <p:cNvSpPr txBox="1"/>
          <p:nvPr/>
        </p:nvSpPr>
        <p:spPr>
          <a:xfrm>
            <a:off x="548640" y="3200400"/>
            <a:ext cx="1691640" cy="274320"/>
          </a:xfrm>
          <a:prstGeom prst="rect">
            <a:avLst/>
          </a:prstGeom>
          <a:noFill/>
          <a:ln/>
        </p:spPr>
        <p:txBody>
          <a:bodyPr wrap="square" lIns="0" tIns="0" rIns="0" bIns="0" rtlCol="0" anchor="ctr"/>
          <a:lstStyle/>
          <a:p>
            <a:pPr indent="0" marL="0">
              <a:buNone/>
            </a:pPr>
            <a:r>
              <a:rPr lang="en-US" sz="1000" dirty="0">
                <a:solidFill>
                  <a:schemeClr val="tx2"/>
                </a:solidFill>
              </a:rPr>
              <a:t>0E1116 · Text, dark slides</a:t>
            </a:r>
            <a:endParaRPr lang="en-US" sz="1000" dirty="0"/>
          </a:p>
        </p:txBody>
      </p:sp>
      <p:sp>
        <p:nvSpPr>
          <p:cNvPr id="7" name="swatch_Paper"/>
          <p:cNvSpPr/>
          <p:nvPr/>
        </p:nvSpPr>
        <p:spPr>
          <a:xfrm>
            <a:off x="2331720" y="1828800"/>
            <a:ext cx="1600200" cy="1005840"/>
          </a:xfrm>
          <a:prstGeom prst="rect">
            <a:avLst/>
          </a:prstGeom>
          <a:solidFill>
            <a:schemeClr val="bg1"/>
          </a:solidFill>
          <a:ln w="9525">
            <a:solidFill>
              <a:schemeClr val="bg2"/>
            </a:solidFill>
            <a:prstDash val="solid"/>
          </a:ln>
        </p:spPr>
      </p:sp>
      <p:sp>
        <p:nvSpPr>
          <p:cNvPr id="8" name="Text 6"/>
          <p:cNvSpPr txBox="1"/>
          <p:nvPr/>
        </p:nvSpPr>
        <p:spPr>
          <a:xfrm>
            <a:off x="2331720" y="2926080"/>
            <a:ext cx="1600200" cy="274320"/>
          </a:xfrm>
          <a:prstGeom prst="rect">
            <a:avLst/>
          </a:prstGeom>
          <a:noFill/>
          <a:ln/>
        </p:spPr>
        <p:txBody>
          <a:bodyPr wrap="square" lIns="0" tIns="0" rIns="0" bIns="0" rtlCol="0" anchor="ctr"/>
          <a:lstStyle/>
          <a:p>
            <a:pPr indent="0" marL="0">
              <a:buNone/>
            </a:pPr>
            <a:r>
              <a:rPr lang="en-US" sz="1300" b="1" dirty="0">
                <a:solidFill>
                  <a:schemeClr val="tx1"/>
                </a:solidFill>
                <a:latin typeface="Arial" pitchFamily="34" charset="0"/>
                <a:ea typeface="Arial" pitchFamily="34" charset="-122"/>
                <a:cs typeface="Arial" pitchFamily="34" charset="-120"/>
              </a:rPr>
              <a:t>Paper</a:t>
            </a:r>
            <a:endParaRPr lang="en-US" sz="1300" dirty="0"/>
          </a:p>
        </p:txBody>
      </p:sp>
      <p:sp>
        <p:nvSpPr>
          <p:cNvPr id="9" name="Text 7"/>
          <p:cNvSpPr txBox="1"/>
          <p:nvPr/>
        </p:nvSpPr>
        <p:spPr>
          <a:xfrm>
            <a:off x="2331720" y="3200400"/>
            <a:ext cx="1691640" cy="274320"/>
          </a:xfrm>
          <a:prstGeom prst="rect">
            <a:avLst/>
          </a:prstGeom>
          <a:noFill/>
          <a:ln/>
        </p:spPr>
        <p:txBody>
          <a:bodyPr wrap="square" lIns="0" tIns="0" rIns="0" bIns="0" rtlCol="0" anchor="ctr"/>
          <a:lstStyle/>
          <a:p>
            <a:pPr indent="0" marL="0">
              <a:buNone/>
            </a:pPr>
            <a:r>
              <a:rPr lang="en-US" sz="1000" dirty="0">
                <a:solidFill>
                  <a:schemeClr val="tx2"/>
                </a:solidFill>
              </a:rPr>
              <a:t>FFFFFF · Content background</a:t>
            </a:r>
            <a:endParaRPr lang="en-US" sz="1000" dirty="0"/>
          </a:p>
        </p:txBody>
      </p:sp>
      <p:sp>
        <p:nvSpPr>
          <p:cNvPr id="10" name="swatch_Fog"/>
          <p:cNvSpPr/>
          <p:nvPr/>
        </p:nvSpPr>
        <p:spPr>
          <a:xfrm>
            <a:off x="4114800" y="1828800"/>
            <a:ext cx="1600200" cy="1005840"/>
          </a:xfrm>
          <a:prstGeom prst="rect">
            <a:avLst/>
          </a:prstGeom>
          <a:solidFill>
            <a:schemeClr val="bg2"/>
          </a:solidFill>
          <a:ln w="9525">
            <a:solidFill>
              <a:schemeClr val="bg2"/>
            </a:solidFill>
            <a:prstDash val="solid"/>
          </a:ln>
        </p:spPr>
      </p:sp>
      <p:sp>
        <p:nvSpPr>
          <p:cNvPr id="11" name="Text 9"/>
          <p:cNvSpPr txBox="1"/>
          <p:nvPr/>
        </p:nvSpPr>
        <p:spPr>
          <a:xfrm>
            <a:off x="4114800" y="2926080"/>
            <a:ext cx="1600200" cy="274320"/>
          </a:xfrm>
          <a:prstGeom prst="rect">
            <a:avLst/>
          </a:prstGeom>
          <a:noFill/>
          <a:ln/>
        </p:spPr>
        <p:txBody>
          <a:bodyPr wrap="square" lIns="0" tIns="0" rIns="0" bIns="0" rtlCol="0" anchor="ctr"/>
          <a:lstStyle/>
          <a:p>
            <a:pPr indent="0" marL="0">
              <a:buNone/>
            </a:pPr>
            <a:r>
              <a:rPr lang="en-US" sz="1300" b="1" dirty="0">
                <a:solidFill>
                  <a:schemeClr val="tx1"/>
                </a:solidFill>
                <a:latin typeface="Arial" pitchFamily="34" charset="0"/>
                <a:ea typeface="Arial" pitchFamily="34" charset="-122"/>
                <a:cs typeface="Arial" pitchFamily="34" charset="-120"/>
              </a:rPr>
              <a:t>Fog</a:t>
            </a:r>
            <a:endParaRPr lang="en-US" sz="1300" dirty="0"/>
          </a:p>
        </p:txBody>
      </p:sp>
      <p:sp>
        <p:nvSpPr>
          <p:cNvPr id="12" name="Text 10"/>
          <p:cNvSpPr txBox="1"/>
          <p:nvPr/>
        </p:nvSpPr>
        <p:spPr>
          <a:xfrm>
            <a:off x="4114800" y="3200400"/>
            <a:ext cx="1691640" cy="274320"/>
          </a:xfrm>
          <a:prstGeom prst="rect">
            <a:avLst/>
          </a:prstGeom>
          <a:noFill/>
          <a:ln/>
        </p:spPr>
        <p:txBody>
          <a:bodyPr wrap="square" lIns="0" tIns="0" rIns="0" bIns="0" rtlCol="0" anchor="ctr"/>
          <a:lstStyle/>
          <a:p>
            <a:pPr indent="0" marL="0">
              <a:buNone/>
            </a:pPr>
            <a:r>
              <a:rPr lang="en-US" sz="1000" dirty="0">
                <a:solidFill>
                  <a:schemeClr val="tx2"/>
                </a:solidFill>
              </a:rPr>
              <a:t>E9ECEF · Cards, mats</a:t>
            </a:r>
            <a:endParaRPr lang="en-US" sz="1000" dirty="0"/>
          </a:p>
        </p:txBody>
      </p:sp>
      <p:sp>
        <p:nvSpPr>
          <p:cNvPr id="13" name="swatch_Steel"/>
          <p:cNvSpPr/>
          <p:nvPr/>
        </p:nvSpPr>
        <p:spPr>
          <a:xfrm>
            <a:off x="5897880" y="1828800"/>
            <a:ext cx="1600200" cy="1005840"/>
          </a:xfrm>
          <a:prstGeom prst="rect">
            <a:avLst/>
          </a:prstGeom>
          <a:solidFill>
            <a:schemeClr val="tx2"/>
          </a:solidFill>
          <a:ln w="9525">
            <a:solidFill>
              <a:schemeClr val="bg2"/>
            </a:solidFill>
            <a:prstDash val="solid"/>
          </a:ln>
        </p:spPr>
      </p:sp>
      <p:sp>
        <p:nvSpPr>
          <p:cNvPr id="14" name="Text 12"/>
          <p:cNvSpPr txBox="1"/>
          <p:nvPr/>
        </p:nvSpPr>
        <p:spPr>
          <a:xfrm>
            <a:off x="5897880" y="2926080"/>
            <a:ext cx="1600200" cy="274320"/>
          </a:xfrm>
          <a:prstGeom prst="rect">
            <a:avLst/>
          </a:prstGeom>
          <a:noFill/>
          <a:ln/>
        </p:spPr>
        <p:txBody>
          <a:bodyPr wrap="square" lIns="0" tIns="0" rIns="0" bIns="0" rtlCol="0" anchor="ctr"/>
          <a:lstStyle/>
          <a:p>
            <a:pPr indent="0" marL="0">
              <a:buNone/>
            </a:pPr>
            <a:r>
              <a:rPr lang="en-US" sz="1300" b="1" dirty="0">
                <a:solidFill>
                  <a:schemeClr val="tx1"/>
                </a:solidFill>
                <a:latin typeface="Arial" pitchFamily="34" charset="0"/>
                <a:ea typeface="Arial" pitchFamily="34" charset="-122"/>
                <a:cs typeface="Arial" pitchFamily="34" charset="-120"/>
              </a:rPr>
              <a:t>Steel</a:t>
            </a:r>
            <a:endParaRPr lang="en-US" sz="1300" dirty="0"/>
          </a:p>
        </p:txBody>
      </p:sp>
      <p:sp>
        <p:nvSpPr>
          <p:cNvPr id="15" name="Text 13"/>
          <p:cNvSpPr txBox="1"/>
          <p:nvPr/>
        </p:nvSpPr>
        <p:spPr>
          <a:xfrm>
            <a:off x="5897880" y="3200400"/>
            <a:ext cx="1691640" cy="274320"/>
          </a:xfrm>
          <a:prstGeom prst="rect">
            <a:avLst/>
          </a:prstGeom>
          <a:noFill/>
          <a:ln/>
        </p:spPr>
        <p:txBody>
          <a:bodyPr wrap="square" lIns="0" tIns="0" rIns="0" bIns="0" rtlCol="0" anchor="ctr"/>
          <a:lstStyle/>
          <a:p>
            <a:pPr indent="0" marL="0">
              <a:buNone/>
            </a:pPr>
            <a:r>
              <a:rPr lang="en-US" sz="1000" dirty="0">
                <a:solidFill>
                  <a:schemeClr val="tx2"/>
                </a:solidFill>
              </a:rPr>
              <a:t>6B7480 · Secondary text</a:t>
            </a:r>
            <a:endParaRPr lang="en-US" sz="1000" dirty="0"/>
          </a:p>
        </p:txBody>
      </p:sp>
      <p:sp>
        <p:nvSpPr>
          <p:cNvPr id="16" name="swatch_Signal"/>
          <p:cNvSpPr/>
          <p:nvPr/>
        </p:nvSpPr>
        <p:spPr>
          <a:xfrm>
            <a:off x="7680960" y="1828800"/>
            <a:ext cx="1600200" cy="1005840"/>
          </a:xfrm>
          <a:prstGeom prst="rect">
            <a:avLst/>
          </a:prstGeom>
          <a:solidFill>
            <a:schemeClr val="accent1"/>
          </a:solidFill>
          <a:ln w="9525">
            <a:solidFill>
              <a:schemeClr val="bg2"/>
            </a:solidFill>
            <a:prstDash val="solid"/>
          </a:ln>
        </p:spPr>
      </p:sp>
      <p:sp>
        <p:nvSpPr>
          <p:cNvPr id="17" name="Text 15"/>
          <p:cNvSpPr txBox="1"/>
          <p:nvPr/>
        </p:nvSpPr>
        <p:spPr>
          <a:xfrm>
            <a:off x="7680960" y="2926080"/>
            <a:ext cx="1600200" cy="274320"/>
          </a:xfrm>
          <a:prstGeom prst="rect">
            <a:avLst/>
          </a:prstGeom>
          <a:noFill/>
          <a:ln/>
        </p:spPr>
        <p:txBody>
          <a:bodyPr wrap="square" lIns="0" tIns="0" rIns="0" bIns="0" rtlCol="0" anchor="ctr"/>
          <a:lstStyle/>
          <a:p>
            <a:pPr indent="0" marL="0">
              <a:buNone/>
            </a:pPr>
            <a:r>
              <a:rPr lang="en-US" sz="1300" b="1" dirty="0">
                <a:solidFill>
                  <a:schemeClr val="tx1"/>
                </a:solidFill>
                <a:latin typeface="Arial" pitchFamily="34" charset="0"/>
                <a:ea typeface="Arial" pitchFamily="34" charset="-122"/>
                <a:cs typeface="Arial" pitchFamily="34" charset="-120"/>
              </a:rPr>
              <a:t>Signal</a:t>
            </a:r>
            <a:endParaRPr lang="en-US" sz="1300" dirty="0"/>
          </a:p>
        </p:txBody>
      </p:sp>
      <p:sp>
        <p:nvSpPr>
          <p:cNvPr id="18" name="Text 16"/>
          <p:cNvSpPr txBox="1"/>
          <p:nvPr/>
        </p:nvSpPr>
        <p:spPr>
          <a:xfrm>
            <a:off x="7680960" y="3200400"/>
            <a:ext cx="1691640" cy="274320"/>
          </a:xfrm>
          <a:prstGeom prst="rect">
            <a:avLst/>
          </a:prstGeom>
          <a:noFill/>
          <a:ln/>
        </p:spPr>
        <p:txBody>
          <a:bodyPr wrap="square" lIns="0" tIns="0" rIns="0" bIns="0" rtlCol="0" anchor="ctr"/>
          <a:lstStyle/>
          <a:p>
            <a:pPr indent="0" marL="0">
              <a:buNone/>
            </a:pPr>
            <a:r>
              <a:rPr lang="en-US" sz="1000" dirty="0">
                <a:solidFill>
                  <a:schemeClr val="tx2"/>
                </a:solidFill>
              </a:rPr>
              <a:t>FF6A13 · The one thing to see</a:t>
            </a:r>
            <a:endParaRPr lang="en-US" sz="1000" dirty="0"/>
          </a:p>
        </p:txBody>
      </p:sp>
      <p:sp>
        <p:nvSpPr>
          <p:cNvPr id="19" name="swatch_Tint"/>
          <p:cNvSpPr/>
          <p:nvPr/>
        </p:nvSpPr>
        <p:spPr>
          <a:xfrm>
            <a:off x="9464040" y="1828800"/>
            <a:ext cx="1600200" cy="1005840"/>
          </a:xfrm>
          <a:prstGeom prst="rect">
            <a:avLst/>
          </a:prstGeom>
          <a:solidFill>
            <a:schemeClr val="accent5"/>
          </a:solidFill>
          <a:ln w="9525">
            <a:solidFill>
              <a:schemeClr val="bg2"/>
            </a:solidFill>
            <a:prstDash val="solid"/>
          </a:ln>
        </p:spPr>
      </p:sp>
      <p:sp>
        <p:nvSpPr>
          <p:cNvPr id="20" name="Text 18"/>
          <p:cNvSpPr txBox="1"/>
          <p:nvPr/>
        </p:nvSpPr>
        <p:spPr>
          <a:xfrm>
            <a:off x="9464040" y="2926080"/>
            <a:ext cx="1600200" cy="274320"/>
          </a:xfrm>
          <a:prstGeom prst="rect">
            <a:avLst/>
          </a:prstGeom>
          <a:noFill/>
          <a:ln/>
        </p:spPr>
        <p:txBody>
          <a:bodyPr wrap="square" lIns="0" tIns="0" rIns="0" bIns="0" rtlCol="0" anchor="ctr"/>
          <a:lstStyle/>
          <a:p>
            <a:pPr indent="0" marL="0">
              <a:buNone/>
            </a:pPr>
            <a:r>
              <a:rPr lang="en-US" sz="1300" b="1" dirty="0">
                <a:solidFill>
                  <a:schemeClr val="tx1"/>
                </a:solidFill>
                <a:latin typeface="Arial" pitchFamily="34" charset="0"/>
                <a:ea typeface="Arial" pitchFamily="34" charset="-122"/>
                <a:cs typeface="Arial" pitchFamily="34" charset="-120"/>
              </a:rPr>
              <a:t>Tint</a:t>
            </a:r>
            <a:endParaRPr lang="en-US" sz="1300" dirty="0"/>
          </a:p>
        </p:txBody>
      </p:sp>
      <p:sp>
        <p:nvSpPr>
          <p:cNvPr id="21" name="Text 19"/>
          <p:cNvSpPr txBox="1"/>
          <p:nvPr/>
        </p:nvSpPr>
        <p:spPr>
          <a:xfrm>
            <a:off x="9464040" y="3200400"/>
            <a:ext cx="1691640" cy="274320"/>
          </a:xfrm>
          <a:prstGeom prst="rect">
            <a:avLst/>
          </a:prstGeom>
          <a:noFill/>
          <a:ln/>
        </p:spPr>
        <p:txBody>
          <a:bodyPr wrap="square" lIns="0" tIns="0" rIns="0" bIns="0" rtlCol="0" anchor="ctr"/>
          <a:lstStyle/>
          <a:p>
            <a:pPr indent="0" marL="0">
              <a:buNone/>
            </a:pPr>
            <a:r>
              <a:rPr lang="en-US" sz="1000" dirty="0">
                <a:solidFill>
                  <a:schemeClr val="tx2"/>
                </a:solidFill>
              </a:rPr>
              <a:t>FFE6D6 · Chosen card only</a:t>
            </a:r>
            <a:endParaRPr lang="en-US" sz="1000" dirty="0"/>
          </a:p>
        </p:txBody>
      </p:sp>
      <p:sp>
        <p:nvSpPr>
          <p:cNvPr id="22" name="Text 20"/>
          <p:cNvSpPr txBox="1"/>
          <p:nvPr/>
        </p:nvSpPr>
        <p:spPr>
          <a:xfrm>
            <a:off x="548640" y="3886200"/>
            <a:ext cx="6400800" cy="457200"/>
          </a:xfrm>
          <a:prstGeom prst="rect">
            <a:avLst/>
          </a:prstGeom>
          <a:noFill/>
          <a:ln/>
        </p:spPr>
        <p:txBody>
          <a:bodyPr wrap="square" lIns="0" tIns="0" rIns="0" bIns="0" rtlCol="0" anchor="ctr"/>
          <a:lstStyle/>
          <a:p>
            <a:pPr indent="0" marL="0">
              <a:buNone/>
            </a:pPr>
            <a:r>
              <a:rPr lang="en-US" sz="3200" b="1" dirty="0">
                <a:solidFill>
                  <a:schemeClr val="tx1"/>
                </a:solidFill>
                <a:latin typeface="Arial" pitchFamily="34" charset="0"/>
                <a:ea typeface="Arial" pitchFamily="34" charset="-122"/>
                <a:cs typeface="Arial" pitchFamily="34" charset="-120"/>
              </a:rPr>
              <a:t>Claim title — Arial Bold 32</a:t>
            </a:r>
            <a:endParaRPr lang="en-US" sz="3200" dirty="0"/>
          </a:p>
        </p:txBody>
      </p:sp>
      <p:sp>
        <p:nvSpPr>
          <p:cNvPr id="23" name="Text 21"/>
          <p:cNvSpPr txBox="1"/>
          <p:nvPr/>
        </p:nvSpPr>
        <p:spPr>
          <a:xfrm>
            <a:off x="548640" y="4434840"/>
            <a:ext cx="6400800" cy="274320"/>
          </a:xfrm>
          <a:prstGeom prst="rect">
            <a:avLst/>
          </a:prstGeom>
          <a:noFill/>
          <a:ln/>
        </p:spPr>
        <p:txBody>
          <a:bodyPr wrap="square" lIns="0" tIns="0" rIns="0" bIns="0" rtlCol="0" anchor="ctr"/>
          <a:lstStyle/>
          <a:p>
            <a:pPr indent="0" marL="0">
              <a:buNone/>
            </a:pPr>
            <a:r>
              <a:rPr lang="en-US" sz="1100" b="1" spc="150" kern="0" dirty="0">
                <a:solidFill>
                  <a:schemeClr val="tx2"/>
                </a:solidFill>
                <a:latin typeface="Arial" pitchFamily="34" charset="0"/>
                <a:ea typeface="Arial" pitchFamily="34" charset="-122"/>
                <a:cs typeface="Arial" pitchFamily="34" charset="-120"/>
              </a:rPr>
              <a:t>EYEBROW — ARIAL BOLD 11, TRACKED</a:t>
            </a:r>
            <a:endParaRPr lang="en-US" sz="1100" dirty="0"/>
          </a:p>
        </p:txBody>
      </p:sp>
      <p:sp>
        <p:nvSpPr>
          <p:cNvPr id="24" name="Text 22"/>
          <p:cNvSpPr txBox="1"/>
          <p:nvPr/>
        </p:nvSpPr>
        <p:spPr>
          <a:xfrm>
            <a:off x="548640" y="4800600"/>
            <a:ext cx="6400800" cy="365760"/>
          </a:xfrm>
          <a:prstGeom prst="rect">
            <a:avLst/>
          </a:prstGeom>
          <a:noFill/>
          <a:ln/>
        </p:spPr>
        <p:txBody>
          <a:bodyPr wrap="square" lIns="0" tIns="0" rIns="0" bIns="0" rtlCol="0" anchor="ctr"/>
          <a:lstStyle/>
          <a:p>
            <a:pPr indent="0" marL="0">
              <a:buNone/>
            </a:pPr>
            <a:r>
              <a:rPr lang="en-US" sz="1600" dirty="0">
                <a:solidFill>
                  <a:schemeClr val="tx1"/>
                </a:solidFill>
              </a:rPr>
              <a:t>Body — Calibri 16. Left aligned, ≤ 30 words a slide, units on every number.</a:t>
            </a:r>
            <a:endParaRPr lang="en-US" sz="1600" dirty="0"/>
          </a:p>
        </p:txBody>
      </p:sp>
      <p:sp>
        <p:nvSpPr>
          <p:cNvPr id="25" name="Text 23"/>
          <p:cNvSpPr txBox="1"/>
          <p:nvPr/>
        </p:nvSpPr>
        <p:spPr>
          <a:xfrm>
            <a:off x="548640" y="5212080"/>
            <a:ext cx="6400800" cy="274320"/>
          </a:xfrm>
          <a:prstGeom prst="rect">
            <a:avLst/>
          </a:prstGeom>
          <a:noFill/>
          <a:ln/>
        </p:spPr>
        <p:txBody>
          <a:bodyPr wrap="square" lIns="0" tIns="0" rIns="0" bIns="0" rtlCol="0" anchor="ctr"/>
          <a:lstStyle/>
          <a:p>
            <a:pPr indent="0" marL="0">
              <a:buNone/>
            </a:pPr>
            <a:r>
              <a:rPr lang="en-US" sz="1100" i="1" dirty="0">
                <a:solidFill>
                  <a:schemeClr val="tx2"/>
                </a:solidFill>
              </a:rPr>
              <a:t>Caption / source — Calibri Italic 11</a:t>
            </a:r>
            <a:endParaRPr lang="en-US" sz="1100" dirty="0"/>
          </a:p>
        </p:txBody>
      </p:sp>
      <p:sp>
        <p:nvSpPr>
          <p:cNvPr id="26" name="tag_MEASURED"/>
          <p:cNvSpPr txBox="1"/>
          <p:nvPr/>
        </p:nvSpPr>
        <p:spPr>
          <a:xfrm>
            <a:off x="7863840" y="3977640"/>
            <a:ext cx="1463040" cy="256032"/>
          </a:xfrm>
          <a:prstGeom prst="roundRect">
            <a:avLst>
              <a:gd name="adj" fmla="val 50000"/>
            </a:avLst>
          </a:prstGeom>
          <a:solidFill>
            <a:schemeClr val="tx1"/>
          </a:solidFill>
          <a:ln w="12700">
            <a:solidFill>
              <a:schemeClr val="tx1"/>
            </a:solidFill>
          </a:ln>
        </p:spPr>
        <p:txBody>
          <a:bodyPr wrap="square" lIns="0" tIns="0" rIns="0" bIns="0" rtlCol="0" anchor="ctr"/>
          <a:lstStyle/>
          <a:p>
            <a:pPr algn="ctr" indent="0" marL="0">
              <a:buNone/>
            </a:pPr>
            <a:r>
              <a:rPr lang="en-US" sz="900" b="1" spc="120" kern="0" dirty="0">
                <a:solidFill>
                  <a:schemeClr val="bg1"/>
                </a:solidFill>
                <a:latin typeface="Arial" pitchFamily="34" charset="0"/>
                <a:ea typeface="Arial" pitchFamily="34" charset="-122"/>
                <a:cs typeface="Arial" pitchFamily="34" charset="-120"/>
              </a:rPr>
              <a:t>MEASURED</a:t>
            </a:r>
            <a:endParaRPr lang="en-US" sz="900" dirty="0"/>
          </a:p>
        </p:txBody>
      </p:sp>
      <p:sp>
        <p:nvSpPr>
          <p:cNvPr id="27" name="tag_CALCULATED"/>
          <p:cNvSpPr txBox="1"/>
          <p:nvPr/>
        </p:nvSpPr>
        <p:spPr>
          <a:xfrm>
            <a:off x="7863840" y="4361688"/>
            <a:ext cx="1463040" cy="256032"/>
          </a:xfrm>
          <a:prstGeom prst="roundRect">
            <a:avLst>
              <a:gd name="adj" fmla="val 50000"/>
            </a:avLst>
          </a:prstGeom>
          <a:solidFill>
            <a:schemeClr val="bg1"/>
          </a:solidFill>
          <a:ln w="12700">
            <a:solidFill>
              <a:schemeClr val="tx1"/>
            </a:solidFill>
          </a:ln>
        </p:spPr>
        <p:txBody>
          <a:bodyPr wrap="square" lIns="0" tIns="0" rIns="0" bIns="0" rtlCol="0" anchor="ctr"/>
          <a:lstStyle/>
          <a:p>
            <a:pPr algn="ctr" indent="0" marL="0">
              <a:buNone/>
            </a:pPr>
            <a:r>
              <a:rPr lang="en-US" sz="900" b="1" spc="120" kern="0" dirty="0">
                <a:solidFill>
                  <a:schemeClr val="tx1"/>
                </a:solidFill>
                <a:latin typeface="Arial" pitchFamily="34" charset="0"/>
                <a:ea typeface="Arial" pitchFamily="34" charset="-122"/>
                <a:cs typeface="Arial" pitchFamily="34" charset="-120"/>
              </a:rPr>
              <a:t>CALCULATED</a:t>
            </a:r>
            <a:endParaRPr lang="en-US" sz="900" dirty="0"/>
          </a:p>
        </p:txBody>
      </p:sp>
      <p:sp>
        <p:nvSpPr>
          <p:cNvPr id="28" name="tag_SIMULATED"/>
          <p:cNvSpPr txBox="1"/>
          <p:nvPr/>
        </p:nvSpPr>
        <p:spPr>
          <a:xfrm>
            <a:off x="7863840" y="4745736"/>
            <a:ext cx="1463040" cy="256032"/>
          </a:xfrm>
          <a:prstGeom prst="roundRect">
            <a:avLst>
              <a:gd name="adj" fmla="val 50000"/>
            </a:avLst>
          </a:prstGeom>
          <a:solidFill>
            <a:schemeClr val="bg1"/>
          </a:solidFill>
          <a:ln w="12700">
            <a:solidFill>
              <a:schemeClr val="tx2"/>
            </a:solidFill>
            <a:prstDash val="dash"/>
          </a:ln>
        </p:spPr>
        <p:txBody>
          <a:bodyPr wrap="square" lIns="0" tIns="0" rIns="0" bIns="0" rtlCol="0" anchor="ctr"/>
          <a:lstStyle/>
          <a:p>
            <a:pPr algn="ctr" indent="0" marL="0">
              <a:buNone/>
            </a:pPr>
            <a:r>
              <a:rPr lang="en-US" sz="900" b="1" spc="120" kern="0" dirty="0">
                <a:solidFill>
                  <a:schemeClr val="tx2"/>
                </a:solidFill>
                <a:latin typeface="Arial" pitchFamily="34" charset="0"/>
                <a:ea typeface="Arial" pitchFamily="34" charset="-122"/>
                <a:cs typeface="Arial" pitchFamily="34" charset="-120"/>
              </a:rPr>
              <a:t>SIMULATED</a:t>
            </a:r>
            <a:endParaRPr lang="en-US" sz="900" dirty="0"/>
          </a:p>
        </p:txBody>
      </p:sp>
      <p:sp>
        <p:nvSpPr>
          <p:cNvPr id="29" name="tag_PLANNED"/>
          <p:cNvSpPr txBox="1"/>
          <p:nvPr/>
        </p:nvSpPr>
        <p:spPr>
          <a:xfrm>
            <a:off x="7863840" y="5129784"/>
            <a:ext cx="1463040" cy="256032"/>
          </a:xfrm>
          <a:prstGeom prst="roundRect">
            <a:avLst>
              <a:gd name="adj" fmla="val 50000"/>
            </a:avLst>
          </a:prstGeom>
          <a:solidFill>
            <a:schemeClr val="bg2"/>
          </a:solidFill>
          <a:ln w="12700">
            <a:solidFill>
              <a:schemeClr val="bg2"/>
            </a:solidFill>
          </a:ln>
        </p:spPr>
        <p:txBody>
          <a:bodyPr wrap="square" lIns="0" tIns="0" rIns="0" bIns="0" rtlCol="0" anchor="ctr"/>
          <a:lstStyle/>
          <a:p>
            <a:pPr algn="ctr" indent="0" marL="0">
              <a:buNone/>
            </a:pPr>
            <a:r>
              <a:rPr lang="en-US" sz="900" b="1" spc="120" kern="0" dirty="0">
                <a:solidFill>
                  <a:schemeClr val="tx2"/>
                </a:solidFill>
                <a:latin typeface="Arial" pitchFamily="34" charset="0"/>
                <a:ea typeface="Arial" pitchFamily="34" charset="-122"/>
                <a:cs typeface="Arial" pitchFamily="34" charset="-120"/>
              </a:rPr>
              <a:t>PLANNED</a:t>
            </a:r>
            <a:endParaRPr lang="en-US" sz="900" dirty="0"/>
          </a:p>
        </p:txBody>
      </p:sp>
      <p:sp>
        <p:nvSpPr>
          <p:cNvPr id="25" name="Slide Number Placeholder 0"/>
          <p:cNvSpPr>
            <a:spLocks noGrp="1"/>
          </p:cNvSpPr>
          <p:nvPr>
            <p:ph type="sldNum" sz="quarter" idx="4294967295"/>
          </p:nvPr>
        </p:nvSpPr>
        <p:spPr>
          <a:xfrm>
            <a:off x="10728655" y="644652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Flight Test Report">
  <a:themeElements>
    <a:clrScheme name="Flight Test Report">
      <a:dk1>
        <a:srgbClr val="0E1116"/>
      </a:dk1>
      <a:lt1>
        <a:srgbClr val="FFFFFF"/>
      </a:lt1>
      <a:dk2>
        <a:srgbClr val="6B7480"/>
      </a:dk2>
      <a:lt2>
        <a:srgbClr val="E9ECEF"/>
      </a:lt2>
      <a:accent1>
        <a:srgbClr val="FF6A13"/>
      </a:accent1>
      <a:accent2>
        <a:srgbClr val="6B7480"/>
      </a:accent2>
      <a:accent3>
        <a:srgbClr val="0E1116"/>
      </a:accent3>
      <a:accent4>
        <a:srgbClr val="A9B0B8"/>
      </a:accent4>
      <a:accent5>
        <a:srgbClr val="FFE6D6"/>
      </a:accent5>
      <a:accent6>
        <a:srgbClr val="3A414B"/>
      </a:accent6>
      <a:hlink>
        <a:srgbClr val="FF6A13"/>
      </a:hlink>
      <a:folHlink>
        <a:srgbClr val="6B7480"/>
      </a:folHlink>
    </a:clrScheme>
    <a:fontScheme name="Flight Test Repor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RoomCleaner — deck style sampler</dc:title>
  <dc:subject>PptxGenJS Presentation</dc:subject>
  <dc:creator>Jasper Buntinx</dc:creator>
  <cp:lastModifiedBy>Jasper Buntinx</cp:lastModifiedBy>
  <cp:revision>1</cp:revision>
  <dcterms:created xsi:type="dcterms:W3CDTF">2026-10-20T19:33:39Z</dcterms:created>
  <dcterms:modified xsi:type="dcterms:W3CDTF">2026-10-20T19:33:39Z</dcterms:modified>
</cp:coreProperties>
</file>