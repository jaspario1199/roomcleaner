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5cd70d7-78b4-cbbc-2a40-859f5cf83949}">
          <p14:sldIdLst>
            <p14:sldId id="256"/>
            <p14:sldId id="257"/>
          </p14:sldIdLst>
        </p14:section>
        <p14:section name="Scope" id="{4e24e4cb-f561-4e1e-fe5a-f6bc53d593b4}">
          <p14:sldIdLst>
            <p14:sldId id="258"/>
          </p14:sldIdLst>
        </p14:section>
        <p14:section name="Fundamentals" id="{b1558783-2782-2eb1-4eb5-a596122e2d3f}">
          <p14:sldIdLst>
            <p14:sldId id="259"/>
          </p14:sldIdLst>
        </p14:section>
        <p14:section name="Generation 1" id="{45510e12-3f64-4a9e-f9de-e0bdb510b850}">
          <p14:sldIdLst>
            <p14:sldId id="260"/>
            <p14:sldId id="261"/>
          </p14:sldIdLst>
        </p14:section>
        <p14:section name="What a winch needs" id="{f418e4c6-13ae-821d-cb62-72bd9d919e47}">
          <p14:sldIdLst>
            <p14:sldId id="262"/>
          </p14:sldIdLst>
        </p14:section>
        <p14:section name="Modular box" id="{2e448635-374a-84a4-8d2f-39921f7720b4}">
          <p14:sldIdLst>
            <p14:sldId id="263"/>
            <p14:sldId id="264"/>
          </p14:sldIdLst>
        </p14:section>
        <p14:section name="Trade-offs" id="{ab6a51f7-6342-b23b-6390-ede5aa5392c6}">
          <p14:sldIdLst>
            <p14:sldId id="265"/>
          </p14:sldIdLst>
        </p14:section>
        <p14:section name="Mount assembly" id="{b44c2e1a-d92b-1706-691c-6d3f958dc6a2}">
          <p14:sldIdLst>
            <p14:sldId id="266"/>
            <p14:sldId id="267"/>
          </p14:sldIdLst>
        </p14:section>
        <p14:section name="Claw" id="{63b990c0-66af-c0f1-d104-afd63810d95e}">
          <p14:sldIdLst>
            <p14:sldId id="268"/>
          </p14:sldIdLst>
        </p14:section>
        <p14:section name="Electrical and testing" id="{87d43440-5cad-4502-1d00-3a78aecbf7dc}">
          <p14:sldIdLst>
            <p14:sldId id="269"/>
            <p14:sldId id="270"/>
          </p14:sldIdLst>
        </p14:section>
        <p14:section name="Calibration" id="{124b7640-039a-6049-b8eb-a1c90b17d7c1}">
          <p14:sldIdLst>
            <p14:sldId id="271"/>
          </p14:sldIdLst>
        </p14:section>
        <p14:section name="Next iteration" id="{817088ce-fc60-2fa9-1d6e-d4ce579cc94a}">
          <p14:sldIdLst>
            <p14:sldId id="272"/>
          </p14:sldIdLst>
        </p14:section>
        <p14:section name="Close" id="{0f4e598a-bc1c-8e04-acd4-e67cb4830aa4}">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47.1 to 62.8 mm on the O15 core as layers build (FUNDAMENTALS.md section 2, spool-core study table).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running pull 33.6 N at r 7.5 mm and 25.2 N at r 10 mm (calculations/lift_chain_weakest_link.json fuse.run_empty / run_full). Vref MEASURED on the board; 0.7 ASSUMED; pull test PLANNED (FUNDAMENTALS section 2 evidence line). Card C: T = W / (4 sin phi), sin phi = d / sqrt(d^2 + D_h^2); 32.1 / 16.2 / 8.3 / 4.6 N at 0.15 / 0.3 / 0.6 / 1.2 m for 1 lb + the 0.45 kg claw budget;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Everything wired back to one place (DESIGN_INTENT 'Iteration 1'). Bench finds: 18 V on the meter from a supply labelled 12 V; the homing switch would have zeroed without moving, logic inverted; the switch had to move below the pulley (DECK_V9_NOTES slide 9 row). Bead homing capped the room at 5-29 % of the working volume (slide 10 row; calculations/bead_reach.json: 4.7 % at 1.0 m, 29.1 % at 2.0 m); by floor area at grab height 45 % at 1 m, 93 % at 1.5 m (PANEL_FEEDBACK_ANSWERS 'floor area'). One central board stepping four motors skews them 2.5 mm per 50 ms (slide 10 row). Ceiling camera retired: one more device to mount and calibrate per room; the claw and cables hide the grasp spot from above (DECISIONS D33 via v9 slide 7 notes). Chart: bead_reach.json,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10 conductors per corner, 250 m (820 ft) of wire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50 m (164 ft) of wire instead of 250 m (DECK_V9_NOTES v9.2 slide 13 row). Any position and orientation (DESIGN_INTENT). Wire drop: drop = current x loop resistance; longest branch 32 ft one way, 64 ft of loop; at 2 A 0.82 V on 18 AWG, 0.51 V on 16 AWG, calculated with 2 A illustrative (FUNDAMENTALS.md section 10;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jeans 1.50 kg against 1.56 kg capacity, 4 % (slide 17 row). Weakest link: cable tension at which each part gives, one station at 1.5 A (lift_chain_weakest_link.md ranking table): motor slips at 34-59 N, the designed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Dovetail fit 0.175 mm a side on 30 deg flanks, from fit coupons (PANEL_FEEDBACK_ANSWERS 'Manufacturing fits', row 'Slide-in mount'; slide 19 title 'fits came from coupons'). Photos 45, 46,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Prototype fin 0.019 in sheet, 56-59 C vented with the fin, calculated; 1/8 in design fin 45-49 C (slide 16 row; fin_sizing_4w.md).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stay within 1 deg of parallel over the 53 mm opening;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 Station checklist: driver off at boot, so a reset cannot move a motor; homing switch LOW at rest, HIGH pressed or with a broken wire; the encoder answers at its address with the magnet detected; one spool turn within 60 encoder counts: PASS on both boards (DECK_V9_NOTES slide 20 row; Jasper's 10/25-10/26 bench, to confirm per v9 BUILD_NOTE). The motor that logged steps but did not turn: the logic rail read about 1.14 V instead of 3.3 V, a bad 3.3 V connection; now the driver VDD is soldered to the regulated rail and measured before enable (slide 20 row; PANEL_FEEDBACK_ANSWERS slide 17 item). Claw bench: live video on the phone; battery 7.2 V through the divider, matching the meter; the servo only moved once it had its own hardware timer, the camera owned the first (slide 21 row). Photos 29, 31, 37, 43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wall. First station in a stud on the TV wall; boxed stations boot and join Wi-Fi on their own; firmware updates arrive over Wi-Fi, so a boxed station never needs a USB cable again; the motor stays off until the phone arms it; a station accepts an update only while disarmed (DECK_V9_NOTES slide 22 row). Still planned, no result yet: the pull test at 1.5 A, the hold test, the first three-station lift (slide 25 and 26 rows). Photos 31, 32, 44 (README rows). Live view: docs/app_screenshots/02_camera.png is the simulator's view, so it is not shown as the claw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the slip fuse moves to about 130 N (slide 24 row). Draft: the slide-in binds on insertion; a 1 deg draft on the dovetail, thicker at the top (slide 24 row, PLANNED). Mount: holds about 200x the motor's pull, 597 cm^3 solid, to about 200 cm^3 (slide 24 row, PLANNED).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400"/>
              </a:spcAft>
              <a:buSzPct val="100000"/>
              <a:buChar char="•"/>
            </a:pPr>
            <a:r>
              <a:rPr lang="en-US" sz="1100" dirty="0">
                <a:solidFill>
                  <a:srgbClr val="000000"/>
                </a:solidFill>
              </a:rPr>
              <a:t>Laundry on the floor of a 3.35 x 2.74 m room (as reported)</a:t>
            </a:r>
            <a:endParaRPr lang="en-US" sz="1250" dirty="0"/>
          </a:p>
          <a:p>
            <a:pPr algn="l" marL="152400" indent="-152400">
              <a:spcAft>
                <a:spcPts val="400"/>
              </a:spcAft>
              <a:buSzPct val="100000"/>
              <a:buChar char="•"/>
            </a:pPr>
            <a:r>
              <a:rPr lang="en-US" sz="1100" dirty="0">
                <a:solidFill>
                  <a:srgbClr val="000000"/>
                </a:solidFill>
              </a:rPr>
              <a:t>Ceiling 2.74 m; four studs near the ceiling corners</a:t>
            </a:r>
            <a:endParaRPr lang="en-US" sz="1250" dirty="0"/>
          </a:p>
          <a:p>
            <a:pPr algn="l" marL="152400" indent="-152400">
              <a:spcAft>
                <a:spcPts val="400"/>
              </a:spcAft>
              <a:buSzPct val="100000"/>
              <a:buChar char="•"/>
            </a:pPr>
            <a:r>
              <a:rPr lang="en-US" sz="1100" dirty="0">
                <a:solidFill>
                  <a:srgbClr val="000000"/>
                </a:solidFill>
              </a:rPr>
              <a:t>Design load: a pair of jeans, 0.9 kg (screening value)</a:t>
            </a:r>
            <a:endParaRPr lang="en-US" sz="1250" dirty="0"/>
          </a:p>
          <a:p>
            <a:pPr algn="l" marL="152400" indent="-152400">
              <a:spcAft>
                <a:spcPts val="400"/>
              </a:spcAft>
              <a:buSzPct val="100000"/>
              <a:buChar char="•"/>
            </a:pPr>
            <a:r>
              <a:rPr lang="en-US" sz="1100" dirty="0">
                <a:solidFill>
                  <a:srgbClr val="000000"/>
                </a:solidFill>
              </a:rPr>
              <a:t>Plus 2 m/s² for stops and snags (assumed)</a:t>
            </a:r>
            <a:endParaRPr lang="en-US" sz="1250" dirty="0"/>
          </a:p>
        </p:txBody>
      </p:sp>
      <p:sp>
        <p:nvSpPr>
          <p:cNvPr id="5" name="card The solution"/>
          <p:cNvSpPr/>
          <p:nvPr/>
        </p:nvSpPr>
        <p:spPr>
          <a:xfrm>
            <a:off x="252984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solution</a:t>
            </a:r>
            <a:endParaRPr lang="en-US" sz="1250" dirty="0"/>
          </a:p>
          <a:p>
            <a:pPr algn="l" marL="152400" indent="-152400">
              <a:spcAft>
                <a:spcPts val="400"/>
              </a:spcAft>
              <a:buSzPct val="100000"/>
              <a:buChar char="•"/>
            </a:pPr>
            <a:r>
              <a:rPr lang="en-US" sz="1100" dirty="0">
                <a:solidFill>
                  <a:srgbClr val="000000"/>
                </a:solidFill>
              </a:rPr>
              <a:t>Four ceiling winches, one claw on four cables</a:t>
            </a:r>
            <a:endParaRPr lang="en-US" sz="1250" dirty="0"/>
          </a:p>
          <a:p>
            <a:pPr algn="l" marL="152400" indent="-152400">
              <a:spcAft>
                <a:spcPts val="400"/>
              </a:spcAft>
              <a:buSzPct val="100000"/>
              <a:buChar char="•"/>
            </a:pPr>
            <a:r>
              <a:rPr lang="en-US" sz="1100" dirty="0">
                <a:solidFill>
                  <a:srgbClr val="000000"/>
                </a:solidFill>
              </a:rPr>
              <a:t>Nothing on the floor; the room is the frame</a:t>
            </a:r>
            <a:endParaRPr lang="en-US" sz="1250" dirty="0"/>
          </a:p>
          <a:p>
            <a:pPr algn="l" marL="152400" indent="-152400">
              <a:spcAft>
                <a:spcPts val="400"/>
              </a:spcAft>
              <a:buSzPct val="100000"/>
              <a:buChar char="•"/>
            </a:pPr>
            <a:r>
              <a:rPr lang="en-US" sz="1100" dirty="0">
                <a:solidFill>
                  <a:srgbClr val="000000"/>
                </a:solidFill>
              </a:rPr>
              <a:t>A camera on the claw finds the laundry</a:t>
            </a:r>
            <a:endParaRPr lang="en-US" sz="1250" dirty="0"/>
          </a:p>
          <a:p>
            <a:pPr algn="l" marL="152400" indent="-152400">
              <a:spcAft>
                <a:spcPts val="400"/>
              </a:spcAft>
              <a:buSzPct val="100000"/>
              <a:buChar char="•"/>
            </a:pPr>
            <a:r>
              <a:rPr lang="en-US" sz="1100" dirty="0">
                <a:solidFill>
                  <a:srgbClr val="000000"/>
                </a:solidFill>
              </a:rPr>
              <a:t>Floor to hamper with no human touch</a:t>
            </a:r>
            <a:endParaRPr lang="en-US" sz="1250" dirty="0"/>
          </a:p>
        </p:txBody>
      </p:sp>
      <p:sp>
        <p:nvSpPr>
          <p:cNvPr id="6" name="card How we do it"/>
          <p:cNvSpPr/>
          <p:nvPr/>
        </p:nvSpPr>
        <p:spPr>
          <a:xfrm>
            <a:off x="4693920" y="868680"/>
            <a:ext cx="1981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we do it</a:t>
            </a:r>
            <a:endParaRPr lang="en-US" sz="1250" dirty="0"/>
          </a:p>
          <a:p>
            <a:pPr algn="l" marL="152400" indent="-152400">
              <a:spcAft>
                <a:spcPts val="400"/>
              </a:spcAft>
              <a:buSzPct val="100000"/>
              <a:buChar char="•"/>
            </a:pPr>
            <a:r>
              <a:rPr lang="en-US" sz="1100" dirty="0">
                <a:solidFill>
                  <a:srgbClr val="000000"/>
                </a:solidFill>
              </a:rPr>
              <a:t>I approve each move on the phone</a:t>
            </a:r>
            <a:endParaRPr lang="en-US" sz="1250" dirty="0"/>
          </a:p>
          <a:p>
            <a:pPr algn="l" marL="152400" indent="-152400">
              <a:spcAft>
                <a:spcPts val="400"/>
              </a:spcAft>
              <a:buSzPct val="100000"/>
              <a:buChar char="•"/>
            </a:pPr>
            <a:r>
              <a:rPr lang="en-US" sz="1100" dirty="0">
                <a:solidFill>
                  <a:srgbClr val="000000"/>
                </a:solidFill>
              </a:rPr>
              <a:t>PAUSE holds position with torque on</a:t>
            </a:r>
            <a:endParaRPr lang="en-US" sz="1250" dirty="0"/>
          </a:p>
          <a:p>
            <a:pPr algn="l" marL="152400" indent="-152400">
              <a:spcAft>
                <a:spcPts val="400"/>
              </a:spcAft>
              <a:buSzPct val="100000"/>
              <a:buChar char="•"/>
            </a:pPr>
            <a:r>
              <a:rPr lang="en-US" sz="1100" dirty="0">
                <a:solidFill>
                  <a:srgbClr val="000000"/>
                </a:solidFill>
              </a:rPr>
              <a:t>The switched power strip is the emergency stop; it drops the claw</a:t>
            </a:r>
            <a:endParaRPr lang="en-US" sz="1250" dirty="0"/>
          </a:p>
          <a:p>
            <a:pPr algn="l" marL="152400" indent="-152400">
              <a:spcAft>
                <a:spcPts val="400"/>
              </a:spcAft>
              <a:buSzPct val="100000"/>
              <a:buChar char="•"/>
            </a:pPr>
            <a:r>
              <a:rPr lang="en-US" sz="1100" dirty="0">
                <a:solidFill>
                  <a:srgbClr val="000000"/>
                </a:solidFill>
              </a:rPr>
              <a:t>First gate: a 1 lb test weight, then jeans</a:t>
            </a:r>
            <a:endParaRPr lang="en-US" sz="1250" dirty="0"/>
          </a:p>
          <a:p>
            <a:pPr algn="l" marL="152400" indent="-152400">
              <a:spcAft>
                <a:spcPts val="400"/>
              </a:spcAft>
              <a:buSzPct val="100000"/>
              <a:buChar char="•"/>
            </a:pPr>
            <a:r>
              <a:rPr lang="en-US" sz="1100" dirty="0">
                <a:solidFill>
                  <a:srgbClr val="000000"/>
                </a:solidFill>
              </a:rPr>
              <a:t>Parts in the robot: about $211 for three stations, plus $38 filament (partly estimated)</a:t>
            </a:r>
            <a:endParaRPr lang="en-US" sz="1250" dirty="0"/>
          </a:p>
        </p:txBody>
      </p:sp>
      <p:pic>
        <p:nvPicPr>
          <p:cNvPr id="7" name="The claw hanging in the room corner" descr="The claw hanging in the room corner">    </p:cNvPr>
          <p:cNvPicPr>
            <a:picLocks noChangeAspect="1"/>
          </p:cNvPicPr>
          <p:nvPr/>
        </p:nvPicPr>
        <p:blipFill>
          <a:blip r:embed="rId1"/>
          <a:stretch>
            <a:fillRect/>
          </a:stretch>
        </p:blipFill>
        <p:spPr>
          <a:xfrm>
            <a:off x="6858000" y="868680"/>
            <a:ext cx="1920240" cy="3511296"/>
          </a:xfrm>
          <a:prstGeom prst="rect">
            <a:avLst/>
          </a:prstGeom>
        </p:spPr>
      </p:pic>
      <p:sp>
        <p:nvSpPr>
          <p:cNvPr id="8"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400"/>
              </a:spcAft>
              <a:buSzPct val="100000"/>
              <a:buChar char="•"/>
            </a:pPr>
            <a:r>
              <a:rPr lang="en-US" sz="1000" dirty="0">
                <a:solidFill>
                  <a:srgbClr val="000000"/>
                </a:solidFill>
              </a:rPr>
              <a:t>Each spool turn pays out line: 47.1 → 62.8 mm per rev on the Ø15 core as layers build (calculated)</a:t>
            </a:r>
            <a:endParaRPr lang="en-US" sz="1200" dirty="0"/>
          </a:p>
          <a:p>
            <a:pPr algn="l" marL="152400" indent="-152400">
              <a:spcAft>
                <a:spcPts val="400"/>
              </a:spcAft>
              <a:buSzPct val="100000"/>
              <a:buChar char="•"/>
            </a:pPr>
            <a:r>
              <a:rPr lang="en-US" sz="1000" dirty="0">
                <a:solidFill>
                  <a:srgbClr val="000000"/>
                </a:solidFill>
              </a:rPr>
              <a:t>Four cable lengths, three position unknowns: overdetermined, solved by least squares</a:t>
            </a:r>
            <a:endParaRPr lang="en-US" sz="1200" dirty="0"/>
          </a:p>
          <a:p>
            <a:pPr algn="l" marL="152400" indent="-152400">
              <a:spcAft>
                <a:spcPts val="400"/>
              </a:spcAft>
              <a:buSzPct val="100000"/>
              <a:buChar char="•"/>
            </a:pPr>
            <a:r>
              <a:rPr lang="en-US" sz="1000" dirty="0">
                <a:solidFill>
                  <a:srgbClr val="000000"/>
                </a:solidFill>
              </a:rPr>
              <a:t>The camera on the floor board fixes the anchors and cable lengths at startup (calibration)</a:t>
            </a:r>
            <a:endParaRPr lang="en-US" sz="1200" dirty="0"/>
          </a:p>
          <a:p>
            <a:pPr algn="l" marL="152400" indent="-152400">
              <a:spcAft>
                <a:spcPts val="400"/>
              </a:spcAft>
              <a:buSzPct val="100000"/>
              <a:buChar char="•"/>
            </a:pPr>
            <a:r>
              <a:rPr lang="en-US" sz="1000" dirty="0">
                <a:solidFill>
                  <a:srgbClr val="000000"/>
                </a:solidFill>
              </a:rPr>
              <a:t>Validated in the simulator and by held-out poses during calibration (simulated);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129"/>
              </a:spcAft>
              <a:buNone/>
            </a:pPr>
            <a:r>
              <a:rPr lang="en-US" sz="1200" b="1" dirty="0">
                <a:solidFill>
                  <a:srgbClr val="000000"/>
                </a:solidFill>
              </a:rPr>
              <a:t>Torque → pull on the line</a:t>
            </a:r>
            <a:endParaRPr lang="en-US" sz="1200" dirty="0"/>
          </a:p>
          <a:p>
            <a:pPr algn="l" marL="152400" indent="-152400">
              <a:spcAft>
                <a:spcPts val="400"/>
              </a:spcAft>
              <a:buSzPct val="100000"/>
              <a:buChar char="•"/>
            </a:pPr>
            <a:r>
              <a:rPr lang="en-US" sz="1000" dirty="0">
                <a:solidFill>
                  <a:srgbClr val="000000"/>
                </a:solidFill>
              </a:rPr>
              <a:t>At 1.5 A: τ_hold 0.36 N·m → running pull 34 N on the empty spool (r 7.5 mm), 25 N on a full spool (r 10 mm) (calculated)</a:t>
            </a:r>
            <a:endParaRPr lang="en-US" sz="1200" dirty="0"/>
          </a:p>
          <a:p>
            <a:pPr algn="l" marL="152400" indent="-152400">
              <a:spcAft>
                <a:spcPts val="400"/>
              </a:spcAft>
              <a:buSzPct val="100000"/>
              <a:buChar char="•"/>
            </a:pPr>
            <a:r>
              <a:rPr lang="en-US" sz="1000" dirty="0">
                <a:solidFill>
                  <a:srgbClr val="000000"/>
                </a:solidFill>
              </a:rPr>
              <a:t>Validated: Vref measured on the board; the 0.7 running fraction is assumed; the pull test is planned</a:t>
            </a:r>
            <a:endParaRPr lang="en-US" sz="1200" dirty="0"/>
          </a:p>
        </p:txBody>
      </p:sp>
      <p:sp>
        <p:nvSpPr>
          <p:cNvPr id="9" name="equation box"/>
          <p:cNvSpPr/>
          <p:nvPr/>
        </p:nvSpPr>
        <p:spPr>
          <a:xfrm>
            <a:off x="3377184" y="1271016"/>
            <a:ext cx="2389632" cy="1103512"/>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957208"/>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400"/>
              </a:spcAft>
              <a:buSzPct val="100000"/>
              <a:buChar char="•"/>
            </a:pPr>
            <a:r>
              <a:rPr lang="en-US" sz="1000" dirty="0">
                <a:solidFill>
                  <a:srgbClr val="000000"/>
                </a:solidFill>
              </a:rPr>
              <a:t>Tension doubles each time the depth below the anchors halves: 32 / 16 / 8 / 5 N at 0.15 / 0.3 / 0.6 / 1.2 m for 1 lb + claw (calculated)</a:t>
            </a:r>
            <a:endParaRPr lang="en-US" sz="1200" dirty="0"/>
          </a:p>
          <a:p>
            <a:pPr algn="l" marL="152400" indent="-152400">
              <a:spcAft>
                <a:spcPts val="400"/>
              </a:spcAft>
              <a:buSzPct val="100000"/>
              <a:buChar char="•"/>
            </a:pPr>
            <a:r>
              <a:rPr lang="en-US" sz="1000" dirty="0">
                <a:solidFill>
                  <a:srgbClr val="000000"/>
                </a:solidFill>
              </a:rPr>
              <a:t>Why the planner keeps the claw at least 0.4 m below the anchors</a:t>
            </a:r>
            <a:endParaRPr lang="en-US" sz="1200" dirty="0"/>
          </a:p>
          <a:p>
            <a:pPr algn="l" marL="152400" indent="-152400">
              <a:spcAft>
                <a:spcPts val="400"/>
              </a:spcAft>
              <a:buSzPct val="100000"/>
              <a:buChar char="•"/>
            </a:pPr>
            <a:r>
              <a:rPr lang="en-US" sz="10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Wiring and the bench"/>
          <p:cNvSpPr/>
          <p:nvPr/>
        </p:nvSpPr>
        <p:spPr>
          <a:xfrm>
            <a:off x="365760" y="868680"/>
            <a:ext cx="2743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Wiring and the bench</a:t>
            </a:r>
            <a:endParaRPr lang="en-US" sz="1250" dirty="0"/>
          </a:p>
          <a:p>
            <a:pPr algn="l" marL="152400" indent="-152400">
              <a:spcAft>
                <a:spcPts val="5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500"/>
              </a:spcAft>
              <a:buSzPct val="100000"/>
              <a:buChar char="•"/>
            </a:pPr>
            <a:r>
              <a:rPr lang="en-US" sz="1100" dirty="0">
                <a:solidFill>
                  <a:srgbClr val="000000"/>
                </a:solidFill>
              </a:rPr>
              <a:t>18 V on the meter from a supply labelled 12 V (measured)</a:t>
            </a:r>
            <a:endParaRPr lang="en-US" sz="1250" dirty="0"/>
          </a:p>
          <a:p>
            <a:pPr algn="l" marL="152400" indent="-152400">
              <a:spcAft>
                <a:spcPts val="500"/>
              </a:spcAft>
              <a:buSzPct val="100000"/>
              <a:buChar char="•"/>
            </a:pPr>
            <a:r>
              <a:rPr lang="en-US" sz="1100" dirty="0">
                <a:solidFill>
                  <a:srgbClr val="000000"/>
                </a:solidFill>
              </a:rPr>
              <a:t>A homing switch that would have zeroed without moving: logic inverted</a:t>
            </a:r>
            <a:endParaRPr lang="en-US" sz="1250" dirty="0"/>
          </a:p>
          <a:p>
            <a:pPr algn="l" marL="152400" indent="-152400">
              <a:spcAft>
                <a:spcPts val="500"/>
              </a:spcAft>
              <a:buSzPct val="100000"/>
              <a:buChar char="•"/>
            </a:pPr>
            <a:r>
              <a:rPr lang="en-US" sz="1100" dirty="0">
                <a:solidFill>
                  <a:srgbClr val="000000"/>
                </a:solidFill>
              </a:rPr>
              <a:t>The switch had to move below the pulley</a:t>
            </a:r>
            <a:endParaRPr lang="en-US" sz="1250" dirty="0"/>
          </a:p>
        </p:txBody>
      </p:sp>
      <p:sp>
        <p:nvSpPr>
          <p:cNvPr id="5" name="card The architecture"/>
          <p:cNvSpPr/>
          <p:nvPr/>
        </p:nvSpPr>
        <p:spPr>
          <a:xfrm>
            <a:off x="3291840" y="868680"/>
            <a:ext cx="27432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architecture</a:t>
            </a:r>
            <a:endParaRPr lang="en-US" sz="1250" dirty="0"/>
          </a:p>
          <a:p>
            <a:pPr algn="l" marL="152400" indent="-152400">
              <a:spcAft>
                <a:spcPts val="500"/>
              </a:spcAft>
              <a:buSzPct val="100000"/>
              <a:buChar char="•"/>
            </a:pPr>
            <a:r>
              <a:rPr lang="en-US" sz="1100" dirty="0">
                <a:solidFill>
                  <a:srgbClr val="000000"/>
                </a:solidFill>
              </a:rPr>
              <a:t>One board stepping four motors skews them: 2.5 mm per 50 ms (calculated)</a:t>
            </a:r>
            <a:endParaRPr lang="en-US" sz="1250" dirty="0"/>
          </a:p>
          <a:p>
            <a:pPr algn="l" marL="152400" indent="-152400">
              <a:spcAft>
                <a:spcPts val="500"/>
              </a:spcAft>
              <a:buSzPct val="100000"/>
              <a:buChar char="•"/>
            </a:pPr>
            <a:r>
              <a:rPr lang="en-US" sz="1100" dirty="0">
                <a:solidFill>
                  <a:srgbClr val="000000"/>
                </a:solidFill>
              </a:rPr>
              <a:t>Bead homing: a cable can never be shorter than at home</a:t>
            </a:r>
            <a:endParaRPr lang="en-US" sz="1250" dirty="0"/>
          </a:p>
          <a:p>
            <a:pPr algn="l" marL="152400" indent="-152400">
              <a:spcAft>
                <a:spcPts val="500"/>
              </a:spcAft>
              <a:buSzPct val="100000"/>
              <a:buChar char="•"/>
            </a:pPr>
            <a:r>
              <a:rPr lang="en-US" sz="1100" dirty="0">
                <a:solidFill>
                  <a:srgbClr val="000000"/>
                </a:solidFill>
              </a:rPr>
              <a:t>So it capped the room at 5-29 % of the working volume (calculated)</a:t>
            </a:r>
            <a:endParaRPr lang="en-US" sz="1250" dirty="0"/>
          </a:p>
          <a:p>
            <a:pPr algn="l" marL="152400" indent="-152400">
              <a:spcAft>
                <a:spcPts val="500"/>
              </a:spcAft>
              <a:buSzPct val="100000"/>
              <a:buChar char="•"/>
            </a:pPr>
            <a:r>
              <a:rPr lang="en-US" sz="1100" dirty="0">
                <a:solidFill>
                  <a:srgbClr val="000000"/>
                </a:solidFill>
              </a:rPr>
              <a:t>The ceiling camera: one more device per room; the claw and cables hide the grasp spot</a:t>
            </a:r>
            <a:endParaRPr lang="en-US" sz="1250" dirty="0"/>
          </a:p>
        </p:txBody>
      </p:sp>
      <p:pic>
        <p:nvPicPr>
          <p:cNvPr id="6" name="chart bead" descr="Reachable share of the working volume vs bead homing height (calculated)">    </p:cNvPr>
          <p:cNvPicPr>
            <a:picLocks noChangeAspect="1"/>
          </p:cNvPicPr>
          <p:nvPr/>
        </p:nvPicPr>
        <p:blipFill>
          <a:blip r:embed="rId1"/>
          <a:stretch>
            <a:fillRect/>
          </a:stretch>
        </p:blipFill>
        <p:spPr>
          <a:xfrm>
            <a:off x="6217920" y="868680"/>
            <a:ext cx="2560320" cy="3474720"/>
          </a:xfrm>
          <a:prstGeom prst="rect">
            <a:avLst/>
          </a:prstGeom>
        </p:spPr>
      </p:pic>
      <p:sp>
        <p:nvSpPr>
          <p:cNvPr id="7"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Calculated (bead reach model)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a:t>
            </a:r>
            <a:endParaRPr lang="en-US" sz="1250" dirty="0"/>
          </a:p>
          <a:p>
            <a:pPr algn="l" marL="152400" indent="-152400">
              <a:spcAft>
                <a:spcPts val="500"/>
              </a:spcAft>
              <a:buSzPct val="100000"/>
              <a:buChar char="•"/>
            </a:pPr>
            <a:r>
              <a:rPr lang="en-US" sz="1100" dirty="0">
                <a:solidFill>
                  <a:srgbClr val="000000"/>
                </a:solidFill>
              </a:rPr>
              <a:t>250 m (820 ft) of wire back to one place (calculated)</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a:t>
            </a:r>
            <a:endParaRPr lang="en-US" sz="1250" dirty="0"/>
          </a:p>
          <a:p>
            <a:pPr algn="l" marL="152400" indent="-152400">
              <a:spcAft>
                <a:spcPts val="500"/>
              </a:spcAft>
              <a:buSzPct val="100000"/>
              <a:buChar char="•"/>
            </a:pPr>
            <a:r>
              <a:rPr lang="en-US" sz="1100" dirty="0">
                <a:solidFill>
                  <a:srgbClr val="000000"/>
                </a:solidFill>
              </a:rPr>
              <a:t>50 m of wire instead of 250 m (calculated)</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hy 16 AWG"/>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Why 16 AWG</a:t>
            </a:r>
            <a:endParaRPr lang="en-US" sz="1250" dirty="0"/>
          </a:p>
          <a:p>
            <a:pPr algn="l" marL="152400" indent="-152400">
              <a:spcAft>
                <a:spcPts val="500"/>
              </a:spcAft>
              <a:buSzPct val="100000"/>
              <a:buChar char="•"/>
            </a:pPr>
            <a:r>
              <a:rPr lang="en-US" sz="1100" dirty="0">
                <a:solidFill>
                  <a:srgbClr val="000000"/>
                </a:solidFill>
              </a:rPr>
              <a:t>Drop = current x loop resistance</a:t>
            </a:r>
            <a:endParaRPr lang="en-US" sz="1250" dirty="0"/>
          </a:p>
          <a:p>
            <a:pPr algn="l" marL="152400" indent="-152400">
              <a:spcAft>
                <a:spcPts val="500"/>
              </a:spcAft>
              <a:buSzPct val="100000"/>
              <a:buChar char="•"/>
            </a:pPr>
            <a:r>
              <a:rPr lang="en-US" sz="1100" dirty="0">
                <a:solidFill>
                  <a:srgbClr val="000000"/>
                </a:solidFill>
              </a:rPr>
              <a:t>Longest branch 32 ft one way: 64 ft of loop</a:t>
            </a:r>
            <a:endParaRPr lang="en-US" sz="1250" dirty="0"/>
          </a:p>
          <a:p>
            <a:pPr algn="l" marL="152400" indent="-152400">
              <a:spcAft>
                <a:spcPts val="500"/>
              </a:spcAft>
              <a:buSzPct val="100000"/>
              <a:buChar char="•"/>
            </a:pPr>
            <a:r>
              <a:rPr lang="en-US" sz="1100" dirty="0">
                <a:solidFill>
                  <a:srgbClr val="000000"/>
                </a:solidFill>
              </a:rPr>
              <a:t>At 2 A: 0.82 V lost on 18 AWG, 0.51 V on 16 AWG (calculated)</a:t>
            </a:r>
            <a:endParaRPr lang="en-US" sz="1250" dirty="0"/>
          </a:p>
          <a:p>
            <a:pPr algn="l" marL="152400" indent="-152400">
              <a:spcAft>
                <a:spcPts val="500"/>
              </a:spcAft>
              <a:buSzPct val="100000"/>
              <a:buChar char="•"/>
            </a:pPr>
            <a:r>
              <a:rPr lang="en-US" sz="1100" dirty="0">
                <a:solidFill>
                  <a:srgbClr val="000000"/>
                </a:solidFill>
              </a:rPr>
              <a:t>That is 7 % against 4 % of 12 V; less heat in the wall</a:t>
            </a:r>
            <a:endParaRPr lang="en-US" sz="1250" dirty="0"/>
          </a:p>
          <a:p>
            <a:pPr algn="l" marL="152400" indent="-152400">
              <a:spcAft>
                <a:spcPts val="500"/>
              </a:spcAft>
              <a:buSzPct val="100000"/>
              <a:buChar char="•"/>
            </a:pPr>
            <a:r>
              <a:rPr lang="en-US" sz="1100" dirty="0">
                <a:solidFill>
                  <a:srgbClr val="000000"/>
                </a:solidFill>
              </a:rPr>
              <a:t>Cost: a 100 ft roll about $30; 65 ft used for three stations, about $19.50 (estimated)</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stay 0.4 m below the anchors with 1 lb, 0.6 m with jeans</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below 60 °C; vented shell + built fin 56-59 °C (calculated)</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16.2 N worst cable for jeans; 34 N empty, 25 N full (calculated)</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a 0.45 kg claw; 0.86 estimated (CAD), 0.60 weighed; jeans 1.50 vs 1.56 (4 %)</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the motor gives first (34-59 N); the printed set screw may not, so: metal insert</a:t>
            </a:r>
            <a:endParaRPr lang="en-US" sz="85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400"/>
              </a:spcAft>
              <a:buSzPct val="100000"/>
              <a:buChar char="•"/>
            </a:pPr>
            <a:r>
              <a:rPr lang="en-US" sz="1000" dirty="0">
                <a:solidFill>
                  <a:srgbClr val="000000"/>
                </a:solidFill>
              </a:rPr>
              <a:t>Pull rises with current; heat rises with current squared</a:t>
            </a:r>
            <a:endParaRPr lang="en-US" sz="1250" dirty="0"/>
          </a:p>
          <a:p>
            <a:pPr algn="l" marL="152400" indent="-152400">
              <a:spcAft>
                <a:spcPts val="400"/>
              </a:spcAft>
              <a:buSzPct val="100000"/>
              <a:buChar char="•"/>
            </a:pPr>
            <a:r>
              <a:rPr lang="en-US" sz="1000" dirty="0">
                <a:solidFill>
                  <a:srgbClr val="000000"/>
                </a:solidFill>
              </a:rPr>
              <a:t>1.0 to 1.5 A: 50 % more pull for 2.25 x the heat</a:t>
            </a:r>
            <a:endParaRPr lang="en-US" sz="1250" dirty="0"/>
          </a:p>
          <a:p>
            <a:pPr algn="l" marL="152400" indent="-152400">
              <a:spcAft>
                <a:spcPts val="400"/>
              </a:spcAft>
              <a:buSzPct val="100000"/>
              <a:buChar char="•"/>
            </a:pPr>
            <a:r>
              <a:rPr lang="en-US" sz="1000" dirty="0">
                <a:solidFill>
                  <a:srgbClr val="000000"/>
                </a:solidFill>
              </a:rPr>
              <a:t>Every gram on the claw is a gram of payload</a:t>
            </a:r>
            <a:endParaRPr lang="en-US" sz="1250" dirty="0"/>
          </a:p>
          <a:p>
            <a:pPr algn="l" marL="152400" indent="-152400">
              <a:spcAft>
                <a:spcPts val="400"/>
              </a:spcAft>
              <a:buSzPct val="100000"/>
              <a:buChar char="•"/>
            </a:pPr>
            <a:r>
              <a:rPr lang="en-US" sz="1000" dirty="0">
                <a:solidFill>
                  <a:srgbClr val="000000"/>
                </a:solidFill>
              </a:rPr>
              <a:t>The pull test and the hold test are still planned</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fit: 0.175 mm a side, from fit coupons (measured)</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The motor slips at 34-59 N before anything breaks: the designed fuse (calculated)</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Fin, vents, stud</a:t>
            </a:r>
            <a:endParaRPr lang="en-US" sz="1250" dirty="0"/>
          </a:p>
          <a:p>
            <a:pPr algn="l" marL="152400" indent="-152400">
              <a:spcAft>
                <a:spcPts val="500"/>
              </a:spcAft>
              <a:buSzPct val="100000"/>
              <a:buChar char="•"/>
            </a:pPr>
            <a:r>
              <a:rPr lang="en-US" sz="1100" dirty="0">
                <a:solidFill>
                  <a:srgbClr val="000000"/>
                </a:solidFill>
              </a:rPr>
              <a:t>The fin: aluminium on the motor face, out through a slot in the top of the shell</a:t>
            </a:r>
            <a:endParaRPr lang="en-US" sz="1250" dirty="0"/>
          </a:p>
          <a:p>
            <a:pPr algn="l" marL="152400" indent="-152400">
              <a:spcAft>
                <a:spcPts val="500"/>
              </a:spcAft>
              <a:buSzPct val="100000"/>
              <a:buChar char="•"/>
            </a:pPr>
            <a:r>
              <a:rPr lang="en-US" sz="1100" dirty="0">
                <a:solidFill>
                  <a:srgbClr val="000000"/>
                </a:solidFill>
              </a:rPr>
              <a:t>Vents in the shell; vented shell + fin: 56-59 °C at 1.5 A (calculated)</a:t>
            </a:r>
            <a:endParaRPr lang="en-US" sz="1250" dirty="0"/>
          </a:p>
          <a:p>
            <a:pPr algn="l" marL="152400" indent="-152400">
              <a:spcAft>
                <a:spcPts val="500"/>
              </a:spcAft>
              <a:buSzPct val="100000"/>
              <a:buChar char="•"/>
            </a:pPr>
            <a:r>
              <a:rPr lang="en-US" sz="1100" dirty="0">
                <a:solidFill>
                  <a:srgbClr val="000000"/>
                </a:solidFill>
              </a:rPr>
              <a:t>First station in a stud on the TV wall, 12 V down the wall</a:t>
            </a:r>
            <a:endParaRPr lang="en-US" sz="1250" dirty="0"/>
          </a:p>
          <a:p>
            <a:pPr algn="l" marL="152400" indent="-152400">
              <a:spcAft>
                <a:spcPts val="500"/>
              </a:spcAft>
              <a:buSzPct val="100000"/>
              <a:buChar char="•"/>
            </a:pPr>
            <a:r>
              <a:rPr lang="en-US" sz="1100" dirty="0">
                <a:solidFill>
                  <a:srgbClr val="000000"/>
                </a:solidFill>
              </a:rPr>
              <a:t>The slide-in binds on insertion today; a 1° draft on the dovetail is the next iteration</a:t>
            </a:r>
            <a:endParaRPr lang="en-US" sz="1250" dirty="0"/>
          </a:p>
        </p:txBody>
      </p:sp>
      <p:pic>
        <p:nvPicPr>
          <p:cNvPr id="5"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6"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7"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8"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9"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0"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500"/>
              </a:spcAft>
              <a:buSzPct val="100000"/>
              <a:buChar char="•"/>
            </a:pPr>
            <a:r>
              <a:rPr lang="en-US" sz="1100" dirty="0">
                <a:solidFill>
                  <a:srgbClr val="000000"/>
                </a:solidFill>
              </a:rPr>
              <a:t>Four-bar hands: within 1° of parallel over the 53 mm opening (calculated)</a:t>
            </a:r>
            <a:endParaRPr lang="en-US" sz="1250" dirty="0"/>
          </a:p>
          <a:p>
            <a:pPr algn="l" marL="152400" indent="-152400">
              <a:spcAft>
                <a:spcPts val="500"/>
              </a:spcAft>
              <a:buSzPct val="100000"/>
              <a:buChar char="•"/>
            </a:pPr>
            <a:r>
              <a:rPr lang="en-US" sz="1100" dirty="0">
                <a:solidFill>
                  <a:srgbClr val="000000"/>
                </a:solidFill>
              </a:rPr>
              <a:t>A camera bay in the electronics housing; the camera looks down the tube</a:t>
            </a:r>
            <a:endParaRPr lang="en-US" sz="1250" dirty="0"/>
          </a:p>
          <a:p>
            <a:pPr algn="l" marL="152400" indent="-152400">
              <a:spcAft>
                <a:spcPts val="500"/>
              </a:spcAft>
              <a:buSzPct val="100000"/>
              <a:buChar char="•"/>
            </a:pPr>
            <a:r>
              <a:rPr lang="en-US" sz="1100" dirty="0">
                <a:solidFill>
                  <a:srgbClr val="000000"/>
                </a:solidFill>
              </a:rPr>
              <a:t>One 7.4 V two-cell pack: 6 V regulator for the servo, 5 V buck for the board</a:t>
            </a:r>
            <a:endParaRPr lang="en-US" sz="1250" dirty="0"/>
          </a:p>
          <a:p>
            <a:pPr algn="l" marL="152400" indent="-152400">
              <a:spcAft>
                <a:spcPts val="500"/>
              </a:spcAft>
              <a:buSzPct val="100000"/>
              <a:buChar char="•"/>
            </a:pPr>
            <a:r>
              <a:rPr lang="en-US" sz="1100" dirty="0">
                <a:solidFill>
                  <a:srgbClr val="000000"/>
                </a:solidFill>
              </a:rPr>
              <a:t>Weighed 0.60 kg with battery against a 0.45 kg budget</a:t>
            </a:r>
            <a:endParaRPr lang="en-US" sz="1250" dirty="0"/>
          </a:p>
        </p:txBody>
      </p:sp>
      <p:sp>
        <p:nvSpPr>
          <p:cNvPr id="5" name="card Modular, on purpose"/>
          <p:cNvSpPr/>
          <p:nvPr/>
        </p:nvSpPr>
        <p:spPr>
          <a:xfrm>
            <a:off x="2880360" y="868680"/>
            <a:ext cx="23317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2 mm gap on thin cloth (Sep 30)</a:t>
            </a:r>
            <a:endParaRPr lang="en-US" sz="1250" dirty="0"/>
          </a:p>
          <a:p>
            <a:pPr algn="l" marL="152400" indent="-152400">
              <a:spcAft>
                <a:spcPts val="500"/>
              </a:spcAft>
              <a:buSzPct val="100000"/>
              <a:buChar char="•"/>
            </a:pPr>
            <a:r>
              <a:rPr lang="en-US" sz="1100" dirty="0">
                <a:solidFill>
                  <a:srgbClr val="000000"/>
                </a:solidFill>
              </a:rPr>
              <a:t>TPU and other pad materials are being tried; still testing</a:t>
            </a:r>
            <a:endParaRPr lang="en-US" sz="1250" dirty="0"/>
          </a:p>
          <a:p>
            <a:pPr algn="l" marL="152400" indent="-152400">
              <a:spcAft>
                <a:spcPts val="500"/>
              </a:spcAft>
              <a:buSzPct val="100000"/>
              <a:buChar char="•"/>
            </a:pPr>
            <a:r>
              <a:rPr lang="en-US" sz="1100" dirty="0">
                <a:solidFill>
                  <a:srgbClr val="000000"/>
                </a:solidFill>
              </a:rPr>
              <a:t>The v6 clamp was 4.6 x its mass budget in CAD: mass is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0"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bench</a:t>
            </a:r>
            <a:endParaRPr lang="en-US" sz="2400" dirty="0"/>
          </a:p>
        </p:txBody>
      </p:sp>
      <p:sp>
        <p:nvSpPr>
          <p:cNvPr id="4" name="card Station bench"/>
          <p:cNvSpPr/>
          <p:nvPr/>
        </p:nvSpPr>
        <p:spPr>
          <a:xfrm>
            <a:off x="365760" y="868680"/>
            <a:ext cx="25603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Station bench</a:t>
            </a:r>
            <a:endParaRPr lang="en-US" sz="1250" dirty="0"/>
          </a:p>
          <a:p>
            <a:pPr algn="l" marL="152400" indent="-152400">
              <a:spcAft>
                <a:spcPts val="400"/>
              </a:spcAft>
              <a:buSzPct val="100000"/>
              <a:buChar char="•"/>
            </a:pPr>
            <a:r>
              <a:rPr lang="en-US" sz="1100" dirty="0">
                <a:solidFill>
                  <a:srgbClr val="000000"/>
                </a:solidFill>
              </a:rPr>
              <a:t>Driver off at boot: a reset cannot move a motor</a:t>
            </a:r>
            <a:endParaRPr lang="en-US" sz="1250" dirty="0"/>
          </a:p>
          <a:p>
            <a:pPr algn="l" marL="152400" indent="-152400">
              <a:spcAft>
                <a:spcPts val="400"/>
              </a:spcAft>
              <a:buSzPct val="100000"/>
              <a:buChar char="•"/>
            </a:pPr>
            <a:r>
              <a:rPr lang="en-US" sz="1100" dirty="0">
                <a:solidFill>
                  <a:srgbClr val="000000"/>
                </a:solidFill>
              </a:rPr>
              <a:t>Switch logic: LOW at rest, HIGH pressed or with a broken wire</a:t>
            </a:r>
            <a:endParaRPr lang="en-US" sz="1250" dirty="0"/>
          </a:p>
          <a:p>
            <a:pPr algn="l" marL="152400" indent="-152400">
              <a:spcAft>
                <a:spcPts val="400"/>
              </a:spcAft>
              <a:buSzPct val="100000"/>
              <a:buChar char="•"/>
            </a:pPr>
            <a:r>
              <a:rPr lang="en-US" sz="1100" dirty="0">
                <a:solidFill>
                  <a:srgbClr val="000000"/>
                </a:solidFill>
              </a:rPr>
              <a:t>Encoder answers, magnet detected</a:t>
            </a:r>
            <a:endParaRPr lang="en-US" sz="1250" dirty="0"/>
          </a:p>
          <a:p>
            <a:pPr algn="l" marL="152400" indent="-152400">
              <a:spcAft>
                <a:spcPts val="400"/>
              </a:spcAft>
              <a:buSzPct val="100000"/>
              <a:buChar char="•"/>
            </a:pPr>
            <a:r>
              <a:rPr lang="en-US" sz="1100" dirty="0">
                <a:solidFill>
                  <a:srgbClr val="000000"/>
                </a:solidFill>
              </a:rPr>
              <a:t>One spool turn within 60 counts: PASS on both boards (measured)</a:t>
            </a:r>
            <a:endParaRPr lang="en-US" sz="1250" dirty="0"/>
          </a:p>
          <a:p>
            <a:pPr algn="l" marL="152400" indent="-152400">
              <a:spcAft>
                <a:spcPts val="400"/>
              </a:spcAft>
              <a:buSzPct val="100000"/>
              <a:buChar char="•"/>
            </a:pPr>
            <a:r>
              <a:rPr lang="en-US" sz="1100" dirty="0">
                <a:solidFill>
                  <a:srgbClr val="000000"/>
                </a:solidFill>
              </a:rPr>
              <a:t>A motor that logged steps but did not turn: logic rail at 1.14 V, not 3.3 V; VDD now soldered and measured first</a:t>
            </a:r>
            <a:endParaRPr lang="en-US" sz="1250" dirty="0"/>
          </a:p>
        </p:txBody>
      </p:sp>
      <p:sp>
        <p:nvSpPr>
          <p:cNvPr id="5" name="card Claw bench"/>
          <p:cNvSpPr/>
          <p:nvPr/>
        </p:nvSpPr>
        <p:spPr>
          <a:xfrm>
            <a:off x="3108960" y="868680"/>
            <a:ext cx="256032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Claw bench</a:t>
            </a:r>
            <a:endParaRPr lang="en-US" sz="1250" dirty="0"/>
          </a:p>
          <a:p>
            <a:pPr algn="l" marL="152400" indent="-152400">
              <a:spcAft>
                <a:spcPts val="500"/>
              </a:spcAft>
              <a:buSzPct val="100000"/>
              <a:buChar char="•"/>
            </a:pPr>
            <a:r>
              <a:rPr lang="en-US" sz="1100" dirty="0">
                <a:solidFill>
                  <a:srgbClr val="000000"/>
                </a:solidFill>
              </a:rPr>
              <a:t>Live view from the claw camera on the phone</a:t>
            </a:r>
            <a:endParaRPr lang="en-US" sz="1250" dirty="0"/>
          </a:p>
          <a:p>
            <a:pPr algn="l" marL="152400" indent="-152400">
              <a:spcAft>
                <a:spcPts val="500"/>
              </a:spcAft>
              <a:buSzPct val="100000"/>
              <a:buChar char="•"/>
            </a:pPr>
            <a:r>
              <a:rPr lang="en-US" sz="1100" dirty="0">
                <a:solidFill>
                  <a:srgbClr val="000000"/>
                </a:solidFill>
              </a:rPr>
              <a:t>Battery 7.2 V read through the divider, matching the meter (measured)</a:t>
            </a:r>
            <a:endParaRPr lang="en-US" sz="1250" dirty="0"/>
          </a:p>
          <a:p>
            <a:pPr algn="l" marL="152400" indent="-152400">
              <a:spcAft>
                <a:spcPts val="500"/>
              </a:spcAft>
              <a:buSzPct val="100000"/>
              <a:buChar char="•"/>
            </a:pPr>
            <a:r>
              <a:rPr lang="en-US" sz="1100" dirty="0">
                <a:solidFill>
                  <a:srgbClr val="000000"/>
                </a:solidFill>
              </a:rPr>
              <a:t>The servo only moved once it had its own hardware timer; the camera owned the first</a:t>
            </a:r>
            <a:endParaRPr lang="en-US" sz="1250" dirty="0"/>
          </a:p>
          <a:p>
            <a:pPr algn="l" marL="152400" indent="-152400">
              <a:spcAft>
                <a:spcPts val="500"/>
              </a:spcAft>
              <a:buSzPct val="100000"/>
              <a:buChar char="•"/>
            </a:pPr>
            <a:r>
              <a:rPr lang="en-US" sz="1100" dirty="0">
                <a:solidFill>
                  <a:srgbClr val="000000"/>
                </a:solidFill>
              </a:rPr>
              <a:t>Still open: servo end points unmeasured; camera not yet calibrated</a:t>
            </a:r>
            <a:endParaRPr lang="en-US" sz="1250" dirty="0"/>
          </a:p>
        </p:txBody>
      </p:sp>
      <p:pic>
        <p:nvPicPr>
          <p:cNvPr id="6" name="Bench: two stations, laptop, meter, 12 V" descr="Bench: two stations, laptop, meter, 12 V supply">    </p:cNvPr>
          <p:cNvPicPr>
            <a:picLocks noChangeAspect="1"/>
          </p:cNvPicPr>
          <p:nvPr/>
        </p:nvPicPr>
        <p:blipFill>
          <a:blip r:embed="rId1"/>
          <a:stretch>
            <a:fillRect/>
          </a:stretch>
        </p:blipFill>
        <p:spPr>
          <a:xfrm>
            <a:off x="5852160" y="868680"/>
            <a:ext cx="2926080" cy="1700784"/>
          </a:xfrm>
          <a:prstGeom prst="rect">
            <a:avLst/>
          </a:prstGeom>
        </p:spPr>
      </p:pic>
      <p:pic>
        <p:nvPicPr>
          <p:cNvPr id="7" name="Dev board, driver, spool and end stop" descr="Dev board, driver, spool and end stop">    </p:cNvPr>
          <p:cNvPicPr>
            <a:picLocks noChangeAspect="1"/>
          </p:cNvPicPr>
          <p:nvPr/>
        </p:nvPicPr>
        <p:blipFill>
          <a:blip r:embed="rId2"/>
          <a:stretch>
            <a:fillRect/>
          </a:stretch>
        </p:blipFill>
        <p:spPr>
          <a:xfrm>
            <a:off x="5852160" y="2679192"/>
            <a:ext cx="1417320" cy="1700784"/>
          </a:xfrm>
          <a:prstGeom prst="rect">
            <a:avLst/>
          </a:prstGeom>
        </p:spPr>
      </p:pic>
      <p:pic>
        <p:nvPicPr>
          <p:cNvPr id="8" name="Red shell, fused 12 V lead" descr="Red shell, fused 12 V lead">    </p:cNvPr>
          <p:cNvPicPr>
            <a:picLocks noChangeAspect="1"/>
          </p:cNvPicPr>
          <p:nvPr/>
        </p:nvPicPr>
        <p:blipFill>
          <a:blip r:embed="rId3"/>
          <a:stretch>
            <a:fillRect/>
          </a:stretch>
        </p:blipFill>
        <p:spPr>
          <a:xfrm>
            <a:off x="7360920" y="2679192"/>
            <a:ext cx="1417320" cy="1700784"/>
          </a:xfrm>
          <a:prstGeom prst="rect">
            <a:avLst/>
          </a:prstGeom>
        </p:spPr>
      </p:pic>
      <p:sp>
        <p:nvSpPr>
          <p:cNvPr id="9" name="caption"/>
          <p:cNvSpPr txBox="1"/>
          <p:nvPr/>
        </p:nvSpPr>
        <p:spPr>
          <a:xfrm>
            <a:off x="5852160" y="4416552"/>
            <a:ext cx="2926080" cy="201168"/>
          </a:xfrm>
          <a:prstGeom prst="rect">
            <a:avLst/>
          </a:prstGeom>
          <a:noFill/>
          <a:ln/>
        </p:spPr>
        <p:txBody>
          <a:bodyPr wrap="square" lIns="0" tIns="0" rIns="0" bIns="0" rtlCol="0" anchor="ctr"/>
          <a:lstStyle/>
          <a:p>
            <a:pPr algn="l" indent="0" marL="0">
              <a:buNone/>
            </a:pPr>
            <a:r>
              <a:rPr lang="en-US" sz="850" dirty="0">
                <a:solidFill>
                  <a:schemeClr val="tx2"/>
                </a:solidFill>
              </a:rPr>
              <a:t>Two stations on the bench; a dev board and spool; the red shell with its fuse</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wall</a:t>
            </a:r>
            <a:endParaRPr lang="en-US" sz="2400" dirty="0"/>
          </a:p>
        </p:txBody>
      </p:sp>
      <p:sp>
        <p:nvSpPr>
          <p:cNvPr id="4" name="card Making it work on the wall"/>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Making it work on the wall</a:t>
            </a:r>
            <a:endParaRPr lang="en-US" sz="1250" dirty="0"/>
          </a:p>
          <a:p>
            <a:pPr algn="l" marL="152400" indent="-152400">
              <a:spcAft>
                <a:spcPts val="500"/>
              </a:spcAft>
              <a:buSzPct val="100000"/>
              <a:buChar char="•"/>
            </a:pPr>
            <a:r>
              <a:rPr lang="en-US" sz="1100" dirty="0">
                <a:solidFill>
                  <a:srgbClr val="000000"/>
                </a:solidFill>
              </a:rPr>
              <a:t>Wi-Fi auto-join: a boxed station boots and joins the network by itself</a:t>
            </a:r>
            <a:endParaRPr lang="en-US" sz="1250" dirty="0"/>
          </a:p>
          <a:p>
            <a:pPr algn="l" marL="152400" indent="-152400">
              <a:spcAft>
                <a:spcPts val="500"/>
              </a:spcAft>
              <a:buSzPct val="100000"/>
              <a:buChar char="•"/>
            </a:pPr>
            <a:r>
              <a:rPr lang="en-US" sz="1100" dirty="0">
                <a:solidFill>
                  <a:srgbClr val="000000"/>
                </a:solidFill>
              </a:rPr>
              <a:t>OTA: firmware updates arrive over Wi-Fi; no USB cable after boxing</a:t>
            </a:r>
            <a:endParaRPr lang="en-US" sz="1250" dirty="0"/>
          </a:p>
          <a:p>
            <a:pPr algn="l" marL="152400" indent="-152400">
              <a:spcAft>
                <a:spcPts val="500"/>
              </a:spcAft>
              <a:buSzPct val="100000"/>
              <a:buChar char="•"/>
            </a:pPr>
            <a:r>
              <a:rPr lang="en-US" sz="1100" dirty="0">
                <a:solidFill>
                  <a:srgbClr val="000000"/>
                </a:solidFill>
              </a:rPr>
              <a:t>The motor stays off until the phone arms it</a:t>
            </a:r>
            <a:endParaRPr lang="en-US" sz="1250" dirty="0"/>
          </a:p>
          <a:p>
            <a:pPr algn="l" marL="152400" indent="-152400">
              <a:spcAft>
                <a:spcPts val="500"/>
              </a:spcAft>
              <a:buSzPct val="100000"/>
              <a:buChar char="•"/>
            </a:pPr>
            <a:r>
              <a:rPr lang="en-US" sz="1100" dirty="0">
                <a:solidFill>
                  <a:srgbClr val="000000"/>
                </a:solidFill>
              </a:rPr>
              <a:t>A station accepts an update only while disarmed</a:t>
            </a:r>
            <a:endParaRPr lang="en-US" sz="1250" dirty="0"/>
          </a:p>
          <a:p>
            <a:pPr algn="l" marL="152400" indent="-152400">
              <a:spcAft>
                <a:spcPts val="500"/>
              </a:spcAft>
              <a:buSzPct val="100000"/>
              <a:buChar char="•"/>
            </a:pPr>
            <a:r>
              <a:rPr lang="en-US" sz="1100" dirty="0">
                <a:solidFill>
                  <a:srgbClr val="000000"/>
                </a:solidFill>
              </a:rPr>
              <a:t>Still planned: pull test, hold test, first three-station lift</a:t>
            </a:r>
            <a:endParaRPr lang="en-US" sz="1250" dirty="0"/>
          </a:p>
        </p:txBody>
      </p:sp>
      <p:pic>
        <p:nvPicPr>
          <p:cNvPr id="5" name="The first station on the wall" descr="The first station on the wall">    </p:cNvPr>
          <p:cNvPicPr>
            <a:picLocks noChangeAspect="1"/>
          </p:cNvPicPr>
          <p:nvPr/>
        </p:nvPicPr>
        <p:blipFill>
          <a:blip r:embed="rId1"/>
          <a:stretch>
            <a:fillRect/>
          </a:stretch>
        </p:blipFill>
        <p:spPr>
          <a:xfrm>
            <a:off x="3886200" y="868680"/>
            <a:ext cx="1557528" cy="3511296"/>
          </a:xfrm>
          <a:prstGeom prst="rect">
            <a:avLst/>
          </a:prstGeom>
        </p:spPr>
      </p:pic>
      <p:sp>
        <p:nvSpPr>
          <p:cNvPr id="6" name="caption"/>
          <p:cNvSpPr txBox="1"/>
          <p:nvPr/>
        </p:nvSpPr>
        <p:spPr>
          <a:xfrm>
            <a:off x="3886200"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pic>
        <p:nvPicPr>
          <p:cNvPr id="7" name="From below, line down" descr="From below, line down">    </p:cNvPr>
          <p:cNvPicPr>
            <a:picLocks noChangeAspect="1"/>
          </p:cNvPicPr>
          <p:nvPr/>
        </p:nvPicPr>
        <p:blipFill>
          <a:blip r:embed="rId2"/>
          <a:stretch>
            <a:fillRect/>
          </a:stretch>
        </p:blipFill>
        <p:spPr>
          <a:xfrm>
            <a:off x="5553456" y="868680"/>
            <a:ext cx="1557528" cy="3511296"/>
          </a:xfrm>
          <a:prstGeom prst="rect">
            <a:avLst/>
          </a:prstGeom>
        </p:spPr>
      </p:pic>
      <p:sp>
        <p:nvSpPr>
          <p:cNvPr id="8" name="caption"/>
          <p:cNvSpPr txBox="1"/>
          <p:nvPr/>
        </p:nvSpPr>
        <p:spPr>
          <a:xfrm>
            <a:off x="5553456"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From below, line down</a:t>
            </a:r>
            <a:endParaRPr lang="en-US" sz="850" dirty="0"/>
          </a:p>
        </p:txBody>
      </p:sp>
      <p:pic>
        <p:nvPicPr>
          <p:cNvPr id="9" name="A station open: board on the bench" descr="A station open: board on the bench">    </p:cNvPr>
          <p:cNvPicPr>
            <a:picLocks noChangeAspect="1"/>
          </p:cNvPicPr>
          <p:nvPr/>
        </p:nvPicPr>
        <p:blipFill>
          <a:blip r:embed="rId3"/>
          <a:stretch>
            <a:fillRect/>
          </a:stretch>
        </p:blipFill>
        <p:spPr>
          <a:xfrm>
            <a:off x="7220712" y="868680"/>
            <a:ext cx="1557528" cy="3511296"/>
          </a:xfrm>
          <a:prstGeom prst="rect">
            <a:avLst/>
          </a:prstGeom>
        </p:spPr>
      </p:pic>
      <p:sp>
        <p:nvSpPr>
          <p:cNvPr id="10" name="caption"/>
          <p:cNvSpPr txBox="1"/>
          <p:nvPr/>
        </p:nvSpPr>
        <p:spPr>
          <a:xfrm>
            <a:off x="7220712"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A station open: board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1953768" cy="16459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850" b="1" dirty="0">
                <a:solidFill>
                  <a:srgbClr val="000000"/>
                </a:solidFill>
              </a:rPr>
              <a:t>1  SELF_CHECK</a:t>
            </a:r>
            <a:endParaRPr lang="en-US" sz="850" dirty="0"/>
          </a:p>
          <a:p>
            <a:pPr algn="l" marL="152400" indent="-152400">
              <a:spcAft>
                <a:spcPts val="100"/>
              </a:spcAft>
              <a:buSzPct val="100000"/>
              <a:buChar char="•"/>
            </a:pPr>
            <a:r>
              <a:rPr lang="en-US" sz="850" dirty="0">
                <a:solidFill>
                  <a:srgbClr val="000000"/>
                </a:solidFill>
              </a:rPr>
              <a:t>Claw online, battery above minimum</a:t>
            </a:r>
            <a:endParaRPr lang="en-US" sz="850" dirty="0"/>
          </a:p>
          <a:p>
            <a:pPr algn="l" marL="152400" indent="-152400">
              <a:spcAft>
                <a:spcPts val="100"/>
              </a:spcAft>
              <a:buSzPct val="100000"/>
              <a:buChar char="•"/>
            </a:pPr>
            <a:r>
              <a:rPr lang="en-US" sz="850" dirty="0">
                <a:solidFill>
                  <a:srgbClr val="000000"/>
                </a:solidFill>
              </a:rPr>
              <a:t>Camera confirms the claw upright at the known height on the floor board</a:t>
            </a:r>
            <a:endParaRPr lang="en-US" sz="850" dirty="0"/>
          </a:p>
          <a:p>
            <a:pPr algn="l" marL="152400" indent="-152400">
              <a:spcAft>
                <a:spcPts val="100"/>
              </a:spcAft>
              <a:buSzPct val="100000"/>
              <a:buChar char="•"/>
            </a:pPr>
            <a:r>
              <a:rPr lang="en-US" sz="850" dirty="0">
                <a:solidFill>
                  <a:srgbClr val="000000"/>
                </a:solidFill>
              </a:rPr>
              <a:t>Stations healthy, homing switches closed; arm</a:t>
            </a:r>
            <a:endParaRPr lang="en-US" sz="850" dirty="0"/>
          </a:p>
        </p:txBody>
      </p:sp>
      <p:sp>
        <p:nvSpPr>
          <p:cNvPr id="5" name="card 2  SLACK_TAKEUP"/>
          <p:cNvSpPr/>
          <p:nvPr/>
        </p:nvSpPr>
        <p:spPr>
          <a:xfrm>
            <a:off x="2429256" y="868680"/>
            <a:ext cx="1953768" cy="16459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850" b="1" dirty="0">
                <a:solidFill>
                  <a:srgbClr val="000000"/>
                </a:solidFill>
              </a:rPr>
              <a:t>2  SLACK_TAKEUP</a:t>
            </a:r>
            <a:endParaRPr lang="en-US" sz="850" dirty="0"/>
          </a:p>
          <a:p>
            <a:pPr algn="l" marL="152400" indent="-152400">
              <a:spcAft>
                <a:spcPts val="100"/>
              </a:spcAft>
              <a:buSzPct val="100000"/>
              <a:buChar char="•"/>
            </a:pPr>
            <a:r>
              <a:rPr lang="en-US" sz="850" dirty="0">
                <a:solidFill>
                  <a:srgbClr val="000000"/>
                </a:solidFill>
              </a:rPr>
              <a:t>One cable at a time reeled in until the camera sees the claw slide or tip (onset)</a:t>
            </a:r>
            <a:endParaRPr lang="en-US" sz="850" dirty="0"/>
          </a:p>
          <a:p>
            <a:pPr algn="l" marL="152400" indent="-152400">
              <a:spcAft>
                <a:spcPts val="100"/>
              </a:spcAft>
              <a:buSzPct val="100000"/>
              <a:buChar char="•"/>
            </a:pPr>
            <a:r>
              <a:rPr lang="en-US" sz="850" dirty="0">
                <a:solidFill>
                  <a:srgbClr val="000000"/>
                </a:solidFill>
              </a:rPr>
              <a:t>Records spool position and slide bearing; backs off</a:t>
            </a:r>
            <a:endParaRPr lang="en-US" sz="850" dirty="0"/>
          </a:p>
          <a:p>
            <a:pPr algn="l" marL="152400" indent="-152400">
              <a:spcAft>
                <a:spcPts val="100"/>
              </a:spcAft>
              <a:buSzPct val="100000"/>
              <a:buChar char="•"/>
            </a:pPr>
            <a:r>
              <a:rPr lang="en-US" sz="850" dirty="0">
                <a:solidFill>
                  <a:srgbClr val="000000"/>
                </a:solidFill>
              </a:rPr>
              <a:t>Bearings checked against the anchor layout; first fit of cable lengths</a:t>
            </a:r>
            <a:endParaRPr lang="en-US" sz="850" dirty="0"/>
          </a:p>
        </p:txBody>
      </p:sp>
      <p:sp>
        <p:nvSpPr>
          <p:cNvPr id="6" name="card 3  INITIAL_LIFT"/>
          <p:cNvSpPr/>
          <p:nvPr/>
        </p:nvSpPr>
        <p:spPr>
          <a:xfrm>
            <a:off x="4492752" y="868680"/>
            <a:ext cx="1953768" cy="16459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850" b="1" dirty="0">
                <a:solidFill>
                  <a:srgbClr val="000000"/>
                </a:solidFill>
              </a:rPr>
              <a:t>3  INITIAL_LIFT</a:t>
            </a:r>
            <a:endParaRPr lang="en-US" sz="850" dirty="0"/>
          </a:p>
          <a:p>
            <a:pPr algn="l" marL="152400" indent="-152400">
              <a:spcAft>
                <a:spcPts val="100"/>
              </a:spcAft>
              <a:buSzPct val="100000"/>
              <a:buChar char="•"/>
            </a:pPr>
            <a:r>
              <a:rPr lang="en-US" sz="850" dirty="0">
                <a:solidFill>
                  <a:srgbClr val="000000"/>
                </a:solidFill>
              </a:rPr>
              <a:t>Pretension all cables; lift in small packets</a:t>
            </a:r>
            <a:endParaRPr lang="en-US" sz="850" dirty="0"/>
          </a:p>
          <a:p>
            <a:pPr algn="l" marL="152400" indent="-152400">
              <a:spcAft>
                <a:spcPts val="100"/>
              </a:spcAft>
              <a:buSzPct val="100000"/>
              <a:buChar char="•"/>
            </a:pPr>
            <a:r>
              <a:rPr lang="en-US" sz="850" dirty="0">
                <a:solidFill>
                  <a:srgbClr val="000000"/>
                </a:solidFill>
              </a:rPr>
              <a:t>Abort on lateral drift, tilt, or commanded lift exceeding observed rise (slack cable)</a:t>
            </a:r>
            <a:endParaRPr lang="en-US" sz="850" dirty="0"/>
          </a:p>
        </p:txBody>
      </p:sp>
      <p:sp>
        <p:nvSpPr>
          <p:cNvPr id="7" name="card 4  VISUAL_INITIALIZATION"/>
          <p:cNvSpPr/>
          <p:nvPr/>
        </p:nvSpPr>
        <p:spPr>
          <a:xfrm>
            <a:off x="365760" y="2624328"/>
            <a:ext cx="1953768" cy="16459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850" b="1" dirty="0">
                <a:solidFill>
                  <a:srgbClr val="000000"/>
                </a:solidFill>
              </a:rPr>
              <a:t>4  VISUAL_INITIALIZATION</a:t>
            </a:r>
            <a:endParaRPr lang="en-US" sz="850" dirty="0"/>
          </a:p>
          <a:p>
            <a:pPr algn="l" marL="152400" indent="-152400">
              <a:spcAft>
                <a:spcPts val="100"/>
              </a:spcAft>
              <a:buSzPct val="100000"/>
              <a:buChar char="•"/>
            </a:pPr>
            <a:r>
              <a:rPr lang="en-US" sz="850" dirty="0">
                <a:solidFill>
                  <a:srgbClr val="000000"/>
                </a:solidFill>
              </a:rPr>
              <a:t>Settled frame batch of the floor board</a:t>
            </a:r>
            <a:endParaRPr lang="en-US" sz="850" dirty="0"/>
          </a:p>
          <a:p>
            <a:pPr algn="l" marL="152400" indent="-152400">
              <a:spcAft>
                <a:spcPts val="100"/>
              </a:spcAft>
              <a:buSzPct val="100000"/>
              <a:buChar char="•"/>
            </a:pPr>
            <a:r>
              <a:rPr lang="en-US" sz="850" dirty="0">
                <a:solidFill>
                  <a:srgbClr val="000000"/>
                </a:solidFill>
              </a:rPr>
              <a:t>Refit cable lengths and the room-to-marker transform</a:t>
            </a:r>
            <a:endParaRPr lang="en-US" sz="850" dirty="0"/>
          </a:p>
        </p:txBody>
      </p:sp>
      <p:sp>
        <p:nvSpPr>
          <p:cNvPr id="8" name="card 5  CALIBRATION"/>
          <p:cNvSpPr/>
          <p:nvPr/>
        </p:nvSpPr>
        <p:spPr>
          <a:xfrm>
            <a:off x="2429256" y="2624328"/>
            <a:ext cx="1953768" cy="16459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850" b="1" dirty="0">
                <a:solidFill>
                  <a:srgbClr val="000000"/>
                </a:solidFill>
              </a:rPr>
              <a:t>5  CALIBRATION</a:t>
            </a:r>
            <a:endParaRPr lang="en-US" sz="850" dirty="0"/>
          </a:p>
          <a:p>
            <a:pPr algn="l" marL="152400" indent="-152400">
              <a:spcAft>
                <a:spcPts val="100"/>
              </a:spcAft>
              <a:buSzPct val="100000"/>
              <a:buChar char="•"/>
            </a:pPr>
            <a:r>
              <a:rPr lang="en-US" sz="850" dirty="0">
                <a:solidFill>
                  <a:srgbClr val="000000"/>
                </a:solidFill>
              </a:rPr>
              <a:t>Local → intermediate → expanded pose sets chosen by D-optimal design; refit between stages</a:t>
            </a:r>
            <a:endParaRPr lang="en-US" sz="850" dirty="0"/>
          </a:p>
          <a:p>
            <a:pPr algn="l" marL="152400" indent="-152400">
              <a:spcAft>
                <a:spcPts val="100"/>
              </a:spcAft>
              <a:buSzPct val="100000"/>
              <a:buChar char="•"/>
            </a:pPr>
            <a:r>
              <a:rPr lang="en-US" sz="850" dirty="0">
                <a:solidFill>
                  <a:srgbClr val="000000"/>
                </a:solidFill>
              </a:rPr>
              <a:t>Held-out witness poses</a:t>
            </a:r>
            <a:endParaRPr lang="en-US" sz="850" dirty="0"/>
          </a:p>
          <a:p>
            <a:pPr algn="l" marL="152400" indent="-152400">
              <a:spcAft>
                <a:spcPts val="100"/>
              </a:spcAft>
              <a:buSzPct val="100000"/>
              <a:buChar char="•"/>
            </a:pPr>
            <a:r>
              <a:rPr lang="en-US" sz="850" dirty="0">
                <a:solidFill>
                  <a:srgbClr val="000000"/>
                </a:solidFill>
              </a:rPr>
              <a:t>Accept on witness residuals, identifiability, predicted length sigma over the work volume</a:t>
            </a:r>
            <a:endParaRPr lang="en-US" sz="850" dirty="0"/>
          </a:p>
        </p:txBody>
      </p:sp>
      <p:sp>
        <p:nvSpPr>
          <p:cNvPr id="9" name="card 6  REFERENCE_VERIFICATION"/>
          <p:cNvSpPr/>
          <p:nvPr/>
        </p:nvSpPr>
        <p:spPr>
          <a:xfrm>
            <a:off x="4492752" y="2624328"/>
            <a:ext cx="1953768" cy="16459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850" b="1" dirty="0">
                <a:solidFill>
                  <a:srgbClr val="000000"/>
                </a:solidFill>
              </a:rPr>
              <a:t>6  REFERENCE_VERIFICATION</a:t>
            </a:r>
            <a:endParaRPr lang="en-US" sz="850" dirty="0"/>
          </a:p>
          <a:p>
            <a:pPr algn="l" marL="152400" indent="-152400">
              <a:spcAft>
                <a:spcPts val="100"/>
              </a:spcAft>
              <a:buSzPct val="100000"/>
              <a:buChar char="•"/>
            </a:pPr>
            <a:r>
              <a:rPr lang="en-US" sz="850" dirty="0">
                <a:solidFill>
                  <a:srgbClr val="000000"/>
                </a:solidFill>
              </a:rPr>
              <a:t>Optional bead references</a:t>
            </a:r>
            <a:endParaRPr lang="en-US" sz="850" dirty="0"/>
          </a:p>
          <a:p>
            <a:pPr algn="l" marL="152400" indent="-152400">
              <a:spcAft>
                <a:spcPts val="100"/>
              </a:spcAft>
              <a:buSzPct val="100000"/>
              <a:buChar char="•"/>
            </a:pPr>
            <a:r>
              <a:rPr lang="en-US" sz="850" dirty="0">
                <a:solidFill>
                  <a:srgbClr val="000000"/>
                </a:solidFill>
              </a:rPr>
              <a:t>Trust level VERIFIED or LOCAL_ONLY from the margin check</a:t>
            </a:r>
            <a:endParaRPr lang="en-US" sz="850" dirty="0"/>
          </a:p>
        </p:txBody>
      </p:sp>
      <p:sp>
        <p:nvSpPr>
          <p:cNvPr id="10" name="rules"/>
          <p:cNvSpPr txBox="1"/>
          <p:nvPr/>
        </p:nvSpPr>
        <p:spPr>
          <a:xfrm>
            <a:off x="365760" y="4325112"/>
            <a:ext cx="598932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pic>
        <p:nvPicPr>
          <p:cNvPr id="11" name="Floor reference: nine AprilTag 36h11 she" descr="Floor reference: nine AprilTag 36h11 sheets, 150 mm tags, 250 mm pitch, sheet 0 is the origin">    </p:cNvPr>
          <p:cNvPicPr>
            <a:picLocks noChangeAspect="1"/>
          </p:cNvPicPr>
          <p:nvPr/>
        </p:nvPicPr>
        <p:blipFill>
          <a:blip r:embed="rId1"/>
          <a:stretch>
            <a:fillRect/>
          </a:stretch>
        </p:blipFill>
        <p:spPr>
          <a:xfrm>
            <a:off x="6583680" y="868680"/>
            <a:ext cx="2194560" cy="2338043"/>
          </a:xfrm>
          <a:prstGeom prst="rect">
            <a:avLst/>
          </a:prstGeom>
        </p:spPr>
      </p:pic>
      <p:sp>
        <p:nvSpPr>
          <p:cNvPr id="12" name="caption"/>
          <p:cNvSpPr txBox="1"/>
          <p:nvPr/>
        </p:nvSpPr>
        <p:spPr>
          <a:xfrm>
            <a:off x="6583680" y="4416552"/>
            <a:ext cx="2194560" cy="201168"/>
          </a:xfrm>
          <a:prstGeom prst="rect">
            <a:avLst/>
          </a:prstGeom>
          <a:noFill/>
          <a:ln/>
        </p:spPr>
        <p:txBody>
          <a:bodyPr wrap="square" lIns="0" tIns="0" rIns="0" bIns="0" rtlCol="0" anchor="ctr"/>
          <a:lstStyle/>
          <a:p>
            <a:pPr algn="l" indent="0" marL="0">
              <a:buNone/>
            </a:pPr>
            <a:r>
              <a:rPr lang="en-US" sz="850" dirty="0">
                <a:solidFill>
                  <a:schemeClr val="tx2"/>
                </a:solidFill>
              </a:rPr>
              <a:t>What the camera locks onto: nine AprilTag sheets on the floor, 150 mm tags, 250 mm pitch; sheet 0 sets the room frame</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50" dirty="0">
                <a:solidFill>
                  <a:srgbClr val="000000"/>
                </a:solidFill>
              </a:rPr>
              <a:t>18T / 54T spur, printed PETG pinion</a:t>
            </a:r>
            <a:endParaRPr lang="en-US" sz="1100" dirty="0"/>
          </a:p>
          <a:p>
            <a:pPr algn="l" marL="152400" indent="-152400">
              <a:spcAft>
                <a:spcPts val="200"/>
              </a:spcAft>
              <a:buSzPct val="100000"/>
              <a:buChar char="•"/>
            </a:pPr>
            <a:r>
              <a:rPr lang="en-US" sz="950" dirty="0">
                <a:solidFill>
                  <a:srgbClr val="000000"/>
                </a:solidFill>
              </a:rPr>
              <a:t>Designed and checked in CAD; pinion printed; not fitted</a:t>
            </a:r>
            <a:endParaRPr lang="en-US" sz="1100" dirty="0"/>
          </a:p>
          <a:p>
            <a:pPr algn="l" marL="152400" indent="-152400">
              <a:spcAft>
                <a:spcPts val="200"/>
              </a:spcAft>
              <a:buSzPct val="100000"/>
              <a:buChar char="•"/>
            </a:pPr>
            <a:r>
              <a:rPr lang="en-US" sz="950" dirty="0">
                <a:solidFill>
                  <a:srgbClr val="000000"/>
                </a:solidFill>
              </a:rPr>
              <a:t>2.7 x pull at 1.0 A, half the heat (calculated)</a:t>
            </a:r>
            <a:endParaRPr lang="en-US" sz="1100" dirty="0"/>
          </a:p>
          <a:p>
            <a:pPr algn="l" marL="152400" indent="-152400">
              <a:spcAft>
                <a:spcPts val="200"/>
              </a:spcAft>
              <a:buSzPct val="100000"/>
              <a:buChar char="•"/>
            </a:pPr>
            <a:r>
              <a:rPr lang="en-US" sz="950" dirty="0">
                <a:solidFill>
                  <a:srgbClr val="000000"/>
                </a:solidFill>
              </a:rPr>
              <a:t>Slip fuse moves to about 130 N (calculated)</a:t>
            </a:r>
            <a:endParaRPr lang="en-US" sz="1100" dirty="0"/>
          </a:p>
        </p:txBody>
      </p:sp>
      <p:sp>
        <p:nvSpPr>
          <p:cNvPr id="5" name="card 1° draft on the dovetail"/>
          <p:cNvSpPr/>
          <p:nvPr/>
        </p:nvSpPr>
        <p:spPr>
          <a:xfrm>
            <a:off x="2212848"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draft on the dovetail</a:t>
            </a:r>
            <a:endParaRPr lang="en-US" sz="1100" dirty="0"/>
          </a:p>
          <a:p>
            <a:pPr algn="l" marL="152400" indent="-152400">
              <a:spcAft>
                <a:spcPts val="200"/>
              </a:spcAft>
              <a:buSzPct val="100000"/>
              <a:buChar char="•"/>
            </a:pPr>
            <a:r>
              <a:rPr lang="en-US" sz="950" dirty="0">
                <a:solidFill>
                  <a:srgbClr val="000000"/>
                </a:solidFill>
              </a:rPr>
              <a:t>Today the slide-in binds on insertion</a:t>
            </a:r>
            <a:endParaRPr lang="en-US" sz="1100" dirty="0"/>
          </a:p>
          <a:p>
            <a:pPr algn="l" marL="152400" indent="-152400">
              <a:spcAft>
                <a:spcPts val="200"/>
              </a:spcAft>
              <a:buSzPct val="100000"/>
              <a:buChar char="•"/>
            </a:pPr>
            <a:r>
              <a:rPr lang="en-US" sz="950" dirty="0">
                <a:solidFill>
                  <a:srgbClr val="000000"/>
                </a:solidFill>
              </a:rPr>
              <a:t>Thicker at the top, thinning toward the bottom</a:t>
            </a:r>
            <a:endParaRPr lang="en-US" sz="1100" dirty="0"/>
          </a:p>
          <a:p>
            <a:pPr algn="l" marL="152400" indent="-152400">
              <a:spcAft>
                <a:spcPts val="200"/>
              </a:spcAft>
              <a:buSzPct val="100000"/>
              <a:buChar char="•"/>
            </a:pPr>
            <a:r>
              <a:rPr lang="en-US" sz="950" dirty="0">
                <a:solidFill>
                  <a:srgbClr val="000000"/>
                </a:solidFill>
              </a:rPr>
              <a:t>The station self-locates as it slides in (planned)</a:t>
            </a:r>
            <a:endParaRPr lang="en-US" sz="1100" dirty="0"/>
          </a:p>
        </p:txBody>
      </p:sp>
      <p:sp>
        <p:nvSpPr>
          <p:cNvPr id="6" name="card Lighter back mount"/>
          <p:cNvSpPr/>
          <p:nvPr/>
        </p:nvSpPr>
        <p:spPr>
          <a:xfrm>
            <a:off x="4059936" y="868680"/>
            <a:ext cx="1737360" cy="23774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Lighter back mount</a:t>
            </a:r>
            <a:endParaRPr lang="en-US" sz="1100" dirty="0"/>
          </a:p>
          <a:p>
            <a:pPr algn="l" marL="152400" indent="-152400">
              <a:spcAft>
                <a:spcPts val="200"/>
              </a:spcAft>
              <a:buSzPct val="100000"/>
              <a:buChar char="•"/>
            </a:pPr>
            <a:r>
              <a:rPr lang="en-US" sz="950" dirty="0">
                <a:solidFill>
                  <a:srgbClr val="000000"/>
                </a:solidFill>
              </a:rPr>
              <a:t>Today: about 200 x the motor's pull, 597 cm³ solid</a:t>
            </a:r>
            <a:endParaRPr lang="en-US" sz="1100" dirty="0"/>
          </a:p>
          <a:p>
            <a:pPr algn="l" marL="152400" indent="-152400">
              <a:spcAft>
                <a:spcPts val="200"/>
              </a:spcAft>
              <a:buSzPct val="100000"/>
              <a:buChar char="•"/>
            </a:pPr>
            <a:r>
              <a:rPr lang="en-US" sz="950" dirty="0">
                <a:solidFill>
                  <a:srgbClr val="000000"/>
                </a:solidFill>
              </a:rPr>
              <a:t>Thinner walls and ribs: about 200 cm³ (planned)</a:t>
            </a:r>
            <a:endParaRPr lang="en-US" sz="1100" dirty="0"/>
          </a:p>
          <a:p>
            <a:pPr algn="l" marL="152400" indent="-152400">
              <a:spcAft>
                <a:spcPts val="200"/>
              </a:spcAft>
              <a:buSzPct val="100000"/>
              <a:buChar char="•"/>
            </a:pPr>
            <a:r>
              <a:rPr lang="en-US" sz="950" dirty="0">
                <a:solidFill>
                  <a:srgbClr val="000000"/>
                </a:solidFill>
              </a:rPr>
              <a:t>Less print time and filament for anyone building it</a:t>
            </a:r>
            <a:endParaRPr lang="en-US" sz="1100" dirty="0"/>
          </a:p>
        </p:txBody>
      </p:sp>
      <p:sp>
        <p:nvSpPr>
          <p:cNvPr id="7" name="card Not working yet / still planned"/>
          <p:cNvSpPr/>
          <p:nvPr/>
        </p:nvSpPr>
        <p:spPr>
          <a:xfrm>
            <a:off x="365760" y="3355848"/>
            <a:ext cx="5431536" cy="126187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Not working yet / still planned</a:t>
            </a:r>
            <a:endParaRPr lang="en-US" sz="1150" dirty="0"/>
          </a:p>
          <a:p>
            <a:pPr algn="l" marL="152400" indent="-152400">
              <a:spcAft>
                <a:spcPts val="300"/>
              </a:spcAft>
              <a:buSzPct val="100000"/>
              <a:buChar char="•"/>
            </a:pPr>
            <a:r>
              <a:rPr lang="en-US" sz="1000" dirty="0">
                <a:solidFill>
                  <a:srgbClr val="000000"/>
                </a:solidFill>
              </a:rPr>
              <a:t>Pull test at 1.5 A: the measured limit goes into the planner (planned)</a:t>
            </a:r>
            <a:endParaRPr lang="en-US" sz="1150" dirty="0"/>
          </a:p>
          <a:p>
            <a:pPr algn="l" marL="152400" indent="-152400">
              <a:spcAft>
                <a:spcPts val="300"/>
              </a:spcAft>
              <a:buSzPct val="100000"/>
              <a:buChar char="•"/>
            </a:pPr>
            <a:r>
              <a:rPr lang="en-US" sz="1000" dirty="0">
                <a:solidFill>
                  <a:srgbClr val="000000"/>
                </a:solidFill>
              </a:rPr>
              <a:t>Hold test: 90 minutes at 1.5 A, motor below 60 °C (planned)</a:t>
            </a:r>
            <a:endParaRPr lang="en-US" sz="1150" dirty="0"/>
          </a:p>
          <a:p>
            <a:pPr algn="l" marL="152400" indent="-152400">
              <a:spcAft>
                <a:spcPts val="300"/>
              </a:spcAft>
              <a:buSzPct val="100000"/>
              <a:buChar char="•"/>
            </a:pPr>
            <a:r>
              <a:rPr lang="en-US" sz="1000" dirty="0">
                <a:solidFill>
                  <a:srgbClr val="000000"/>
                </a:solidFill>
              </a:rPr>
              <a:t>First three-station lift: self-check, calibration, a short move with 1 lb (planned)</a:t>
            </a:r>
            <a:endParaRPr lang="en-US" sz="1150" dirty="0"/>
          </a:p>
        </p:txBody>
      </p:sp>
      <p:pic>
        <p:nvPicPr>
          <p:cNvPr id="8"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08746" y="868680"/>
            <a:ext cx="1867773" cy="1719072"/>
          </a:xfrm>
          <a:prstGeom prst="rect">
            <a:avLst/>
          </a:prstGeom>
        </p:spPr>
      </p:pic>
      <p:pic>
        <p:nvPicPr>
          <p:cNvPr id="9"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574192" y="2660904"/>
            <a:ext cx="1536880" cy="1719072"/>
          </a:xfrm>
          <a:prstGeom prst="rect">
            <a:avLst/>
          </a:prstGeom>
        </p:spPr>
      </p:pic>
      <p:sp>
        <p:nvSpPr>
          <p:cNvPr id="10" name="caption"/>
          <p:cNvSpPr txBox="1"/>
          <p:nvPr/>
        </p:nvSpPr>
        <p:spPr>
          <a:xfrm>
            <a:off x="5907024" y="4416552"/>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2026-10-27T12:04:57Z</dcterms:created>
  <dcterms:modified xsi:type="dcterms:W3CDTF">2026-10-27T12:04:57Z</dcterms:modified>
</cp:coreProperties>
</file>