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605255-b860-ade4-2586-3549d12f59b3}">
          <p14:sldIdLst>
            <p14:sldId id="256"/>
            <p14:sldId id="257"/>
          </p14:sldIdLst>
        </p14:section>
        <p14:section name="Scope" id="{af672b2f-b1f2-ff07-875a-a660800cf99b}">
          <p14:sldIdLst>
            <p14:sldId id="258"/>
          </p14:sldIdLst>
        </p14:section>
        <p14:section name="Fundamentals" id="{19959961-e0f1-da99-604a-6663f3a5fb35}">
          <p14:sldIdLst>
            <p14:sldId id="259"/>
          </p14:sldIdLst>
        </p14:section>
        <p14:section name="Generation 1" id="{d9ab2ab6-724e-af4c-2a9d-80ed2f3a9493}">
          <p14:sldIdLst>
            <p14:sldId id="260"/>
            <p14:sldId id="261"/>
          </p14:sldIdLst>
        </p14:section>
        <p14:section name="Homing" id="{5f529171-6aee-873e-3b46-0eaa27b543ec}">
          <p14:sldIdLst>
            <p14:sldId id="262"/>
          </p14:sldIdLst>
        </p14:section>
        <p14:section name="What a winch needs" id="{711523b0-2fb6-995b-c595-ea5317938a7c}">
          <p14:sldIdLst>
            <p14:sldId id="263"/>
          </p14:sldIdLst>
        </p14:section>
        <p14:section name="Modular box" id="{ef743ca0-aa95-a072-7009-c8dcb66df644}">
          <p14:sldIdLst>
            <p14:sldId id="264"/>
            <p14:sldId id="265"/>
          </p14:sldIdLst>
        </p14:section>
        <p14:section name="Trade-offs" id="{35229a82-4ff9-c2c5-128b-2a749f7f8588}">
          <p14:sldIdLst>
            <p14:sldId id="266"/>
          </p14:sldIdLst>
        </p14:section>
        <p14:section name="Mount assembly" id="{7bd0c05c-7e59-01f1-8763-04f7cb44b22b}">
          <p14:sldIdLst>
            <p14:sldId id="267"/>
            <p14:sldId id="268"/>
          </p14:sldIdLst>
        </p14:section>
        <p14:section name="Manufacturing" id="{1e59fc1f-8677-bd73-0a3f-510dc59192db}">
          <p14:sldIdLst>
            <p14:sldId id="269"/>
          </p14:sldIdLst>
        </p14:section>
        <p14:section name="Claw" id="{04992da8-74fa-53b2-89b2-70beea80201f}">
          <p14:sldIdLst>
            <p14:sldId id="270"/>
          </p14:sldIdLst>
        </p14:section>
        <p14:section name="Electrical and testing" id="{381ecf76-b8b8-84c1-6836-3ca0a84843fc}">
          <p14:sldIdLst>
            <p14:sldId id="271"/>
          </p14:sldIdLst>
        </p14:section>
        <p14:section name="Calibration" id="{bb51aea3-dd74-3d4a-8492-f38fcd6c28ce}">
          <p14:sldIdLst>
            <p14:sldId id="272"/>
          </p14:sldIdLst>
        </p14:section>
        <p14:section name="Next iteration" id="{6d600542-469f-845e-7175-5142ea3c5105}">
          <p14:sldIdLst>
            <p14:sldId id="273"/>
          </p14:sldIdLst>
        </p14:section>
        <p14:section name="Close" id="{838d18b2-f167-c2e9-b86c-9cf1f1bb9daf}">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1.5 A rated — datasheet (SIMAX3D NEMA 17 42-38 seller listing, ordered Aug 7) — DECISIONS.md D45; COST_BREAKDOWN §1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15.7 N with a = 1 m/s^2 (design, D45; was 2 m/s^2 assumed), against the 16.8 N winch limit; with jeans the claw stays at least 0.54 m down (recomputed, FUNDAMENTALS section 1 method).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1.50 x 1.008 x 9.81 = 14.8 N (was 16.2 N at 2 m/s^2; calculations/lift_chain_weakest_link.md 'Demand and the fuse'; slide 17 row). Weight: 0.45 kg budget (R7), 0.86 kg CAD estimate with battery, 0.60 kg weighed 10/22 (PANEL_FEEDBACK_ANSWERS slide 16); capacity m = F_design / (k g); the LP factor 1.101 (lift_chain_weakest_link.py K_TENSION) included 2 m/s^2, so it is NOT 1 + a/g: k_geo = 1.101 / 1.204 = 0.915, and with a = 1 m/s^2 k = 0.915 x 1.102 = 1.008 (tension is linear in the vertical load); 16.8 / (1.008 x 9.81) = 1.70 kg (was 1.56 kg); (1.70 - 1.50) / 1.50 = 13 % (was 4 %). Motor temperature chart: two-node thermal network (fin_sizing_4w.py), input P = I^2 R = 1.5^2 x 1.8 = 4.05 W; no temperature measured. Tension Need line: 1 lb + 0.60 kg claw at d 0.4 m: 1.054 x 10.81 / (4 x 0.1816) = 15.7 N (was 17.1 N); jeans + claw 1.50 kg: 16.8 N reached at d = 0.54 m (was 0.59 m), 15.2 N at 0.6 m (was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1 m/s² — design (maximum commanded claw acceleration; was 2 m/s² assumed) — DECISIONS.md D45
15.7 N at d 0.4 m (1 lb + claw), jeans d ≥ 0.54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assumed, not metered — FUNDAMENTALS.md §3
4.05 W — calc — on slide
0.36 N·m — datasheet; 0.7 — assumed; 7.5 mm — design; 10 mm — calc (winding) — FUNDAMENTALS.md §2
34 / 25 N — calc — on slide
0.915 worst-cable factor per unit m(g + a) — sim (linear program), rescaled from 1.101, which included 2 m/s² — calculations/lift_chain_weakest_link.py K_TENSION; DECISIONS.md D45
1.102 = 1 + a/g — calc — DECISIONS.md D45
1.008, 1.70 kg, +13 %, 14.8 N — calc — on slide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Fin alloy 6061, confirmed by Jasper (DECISIONS D45). Radiation q_rad = eps sigma A (Ts^4 - Tinf^4), h_rad = eps sigma (Ts + Tinf)(Ts^2 + Tinf^2) = 6.75 eps W/m^2K at 50 / 23 C; bare Al eps 0.05-0.09, black paint 0.92-0.96 (handbook tables, D45); natural convection h = 1.42 (dT/L)^0.25 = 4.84 W/m^2K at dT 27 K, L 0.2 m; total 5.3 (eps 0.07) to 10.9 W/m^2K (eps 0.9, the fin model value), D45.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Motor: SIMAX3D NEMA 17 42-38, 36 N.cm, 1.5 A, seller listing (D45). Photos 32, 33 (README rows).
Sources (value — tag — file/section):
6061 fin alloy — design (confirmed by Jasper) — DECISIONS.md D45
σ = 5.67e-8 W/m²K⁴ — handbook
Ts 50 °C, T∞ 23 °C — design (evaluation temperatures) — DECISIONS.md D45
6.75·ε W/m²K — calc — on slide (D45 quotes 6.74)
ε bare Al 0.05–0.09, black paint 0.92–0.96 — handbook (emissivity tables) — DECISIONS.md D45
h = 1.42 (ΔT/L)^0.25, 4.8 W/m²K, L 0.2 m — calc (handbook natural-convection correlation) — DECISIONS.md D45
5.3 → 10.9 W/m²K (ε 0.07 → 0.9) — calc — on slide; DECISIONS.md D45
1.5 A — datasheet (rated) — DECISIONS.md D37; COST_BREAKDOWN §1
1.8 Ω per phase — assumed, not metered — FUNDAMENTALS.md §3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 N = m(g + a)/(2 mu) = 0.9 x 10.81 / 0.6 = 16.2 N per jaw at mu 0.3, 8.1 N at mu 0.6 (was 17.7 / 8.9 N at 2 m/s^2); a = 1 m/s^2 (D45). Cloth friction (DECISIONS D45): garment fabrics 0.22-0.38, special fabrics 0.52-0.62, denim on skin 0.14-0.44, simulation guidance for cotton/polyester twills 0.5-0.65, an informal incline test 0.74-0.89 for denim/cotton on plastic; none is fabric on PETG; mu 0.3 kept as the worst case until a sled pull on the printed jaws (ASTM D1894-style). 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0.9 kg jeans — assumed; a = 1 m/s² — design; 9.81 — handbook — DECISIONS.md D45
μ 0.3 — worst case from published ranges; μ 0.6 — TPU pad case — DECISIONS.md D45; FUNDAMENTALS.md §5
16.2 N, 8.1 N per jaw — calc — on slide
Fabric friction 0.22–0.38, 0.52–0.62, denim on skin 0.14–0.44 — handbook / literature — DECISIONS.md D45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assumed and conservative (DECISIONS D45: Niemann mesh-loss factor H_v = 0.167 for 18T/54T module 1, 20 deg, eps1 0.765, eps2 0.884; eta_mesh = 1 - mu H_v = 0.92-0.97 for mu 0.2-0.5; no published efficiency for printed PETG spur gears; a torque-in/torque-out test replaces it;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conservative — DECISIONS.md D45; calculations/winch_gear3.md
module 1, 20° pressure angle, u = 3 — design — DECISIONS.md D40, D41, D45
ε1 0.765, ε2 0.884, H_v 0.167, η_mesh 0.92–0.97 — calc (Niemann loss factor) — DECISIONS.md D45
μ 0.2–0.5 dry polymer gear friction — assumed — DECISIONS.md D45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 × 7.5 mm core (design) = 47.1 mm → 2π × 10 mm full spool (calc, 20 ft wound) = 62.8 mm (calc)</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(rated; chosen, design): τ_run = 0.7 (assumed) × 0.36 N·m = 0.252 N·m (1.5 A, 0.36 N·m: datasheet, SIMAX3D NEMA 17 42-38 seller listing); F = 0.252 / 0.0075 m = 34 N empty, 0.252 / 0.010 m = 25 N full (calc)</a:t>
            </a:r>
            <a:endParaRPr lang="en-US" sz="1200" dirty="0"/>
          </a:p>
          <a:p>
            <a:pPr algn="l" marL="152400" indent="-152400">
              <a:spcAft>
                <a:spcPts val="400"/>
              </a:spcAft>
              <a:buSzPct val="100000"/>
              <a:buChar char="•"/>
            </a:pPr>
            <a:r>
              <a:rPr lang="en-US" sz="10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kg test, design + 0.45 kg claw budget, design) × 9.81 (handbook) = 8.86 N (calc)</a:t>
            </a:r>
            <a:endParaRPr lang="en-US" sz="1200" dirty="0"/>
          </a:p>
          <a:p>
            <a:pPr algn="l" marL="152400" indent="-152400">
              <a:spcAft>
                <a:spcPts val="400"/>
              </a:spcAft>
              <a:buSzPct val="100000"/>
              <a:buChar char="•"/>
            </a:pPr>
            <a:r>
              <a:rPr lang="en-US" sz="1000" dirty="0">
                <a:solidFill>
                  <a:srgbClr val="000000"/>
                </a:solidFill>
              </a:rPr>
              <a:t>D_h = √(1.676² + 1.372²) = 2.166 m (calc; half the 3.353 × 2.743 m room, measured)</a:t>
            </a:r>
            <a:endParaRPr lang="en-US" sz="1200" dirty="0"/>
          </a:p>
          <a:p>
            <a:pPr algn="l" marL="152400" indent="-152400">
              <a:spcAft>
                <a:spcPts val="400"/>
              </a:spcAft>
              <a:buSzPct val="100000"/>
              <a:buChar char="•"/>
            </a:pPr>
            <a:r>
              <a:rPr lang="en-US" sz="1000" dirty="0">
                <a:solidFill>
                  <a:srgbClr val="000000"/>
                </a:solidFill>
              </a:rPr>
              <a:t>d = 0.15 m: 8.86 / (4 × 0.069) = 32 N; 16 / 8.3 / 4.6 N at d = 0.3 / 0.6 / 1.2 m (calc)</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 (design)</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300"/>
              </a:spcAft>
              <a:buSzPct val="100000"/>
              <a:buChar char="•"/>
            </a:pPr>
            <a:r>
              <a:rPr lang="en-US" sz="950" dirty="0">
                <a:solidFill>
                  <a:srgbClr val="000000"/>
                </a:solidFill>
              </a:rPr>
              <a:t>V = I·ρ·2L/A; ρ = 1.724×10⁻⁸ Ω·m (handbook), L = 9.75 m / 32 ft one way (measured), I = 2 A (assumed)</a:t>
            </a:r>
            <a:endParaRPr lang="en-US" sz="1250" dirty="0"/>
          </a:p>
          <a:p>
            <a:pPr algn="l" marL="152400" indent="-152400">
              <a:spcAft>
                <a:spcPts val="300"/>
              </a:spcAft>
              <a:buSzPct val="100000"/>
              <a:buChar char="•"/>
            </a:pPr>
            <a:r>
              <a:rPr lang="en-US" sz="950" dirty="0">
                <a:solidFill>
                  <a:srgbClr val="000000"/>
                </a:solidFill>
              </a:rPr>
              <a:t>24 AWG Gen 1 motor leads (measured), A = 0.205 mm² (handbook): R = 1.64 Ω, 3.29 V (27 % of 12 V), 6.6 W (calc)</a:t>
            </a:r>
            <a:endParaRPr lang="en-US" sz="1250" dirty="0"/>
          </a:p>
          <a:p>
            <a:pPr algn="l" marL="152400" indent="-152400">
              <a:spcAft>
                <a:spcPts val="300"/>
              </a:spcAft>
              <a:buSzPct val="100000"/>
              <a:buChar char="•"/>
            </a:pPr>
            <a:r>
              <a:rPr lang="en-US" sz="950" dirty="0">
                <a:solidFill>
                  <a:srgbClr val="000000"/>
                </a:solidFill>
              </a:rPr>
              <a:t>16 AWG power pair (design), A = 1.309 mm² (handbook): R = 0.257 Ω, 0.51 V (4.3 %), 1.0 W (calc)</a:t>
            </a:r>
            <a:endParaRPr lang="en-US" sz="1250" dirty="0"/>
          </a:p>
          <a:p>
            <a:pPr algn="l" marL="152400" indent="-152400">
              <a:spcAft>
                <a:spcPts val="300"/>
              </a:spcAft>
              <a:buSzPct val="100000"/>
              <a:buChar char="•"/>
            </a:pPr>
            <a:r>
              <a:rPr lang="en-US" sz="950" dirty="0">
                <a:solidFill>
                  <a:srgbClr val="000000"/>
                </a:solidFill>
              </a:rPr>
              <a:t>Thin motor leads over a room-length run lose a quarter of the supply; one thick power pair loses 4 % (calc, above)</a:t>
            </a:r>
            <a:endParaRPr lang="en-US" sz="1250" dirty="0"/>
          </a:p>
          <a:p>
            <a:pPr algn="l" marL="152400" indent="-152400">
              <a:spcAft>
                <a:spcPts val="300"/>
              </a:spcAft>
              <a:buSzPct val="100000"/>
              <a:buChar char="•"/>
            </a:pPr>
            <a:r>
              <a:rPr lang="en-US" sz="95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1 m/s2, winch limit (calc)">    </p:cNvPr>
          <p:cNvPicPr>
            <a:picLocks noChangeAspect="1"/>
          </p:cNvPicPr>
          <p:nvPr/>
        </p:nvPicPr>
        <p:blipFill>
          <a:blip r:embed="rId1"/>
          <a:stretch>
            <a:fillRect/>
          </a:stretch>
        </p:blipFill>
        <p:spPr>
          <a:xfrm>
            <a:off x="365760" y="868680"/>
            <a:ext cx="2712720" cy="1293876"/>
          </a:xfrm>
          <a:prstGeom prst="rect">
            <a:avLst/>
          </a:prstGeom>
        </p:spPr>
      </p:pic>
      <p:sp>
        <p:nvSpPr>
          <p:cNvPr id="5" name="what we need"/>
          <p:cNvSpPr txBox="1"/>
          <p:nvPr/>
        </p:nvSpPr>
        <p:spPr>
          <a:xfrm>
            <a:off x="36576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1 m/s² (design): d 0.4 m → 15.7 N &lt; 16.8 N limit (calc); jeans 0.9 kg (assumed) need d ≥ 0.54 m (calc)</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293876"/>
          </a:xfrm>
          <a:prstGeom prst="rect">
            <a:avLst/>
          </a:prstGeom>
        </p:spPr>
      </p:pic>
      <p:sp>
        <p:nvSpPr>
          <p:cNvPr id="7" name="what we need"/>
          <p:cNvSpPr txBox="1"/>
          <p:nvPr/>
        </p:nvSpPr>
        <p:spPr>
          <a:xfrm>
            <a:off x="321564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input P = I²·R = (1.5 A)² × 1.8 Ω = 4.05 W (calc; 1.5 A rated, datasheet; 1.8 Ω per phase, assumed, not metered); microstepping: total heat = I_peak²·R</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293876"/>
          </a:xfrm>
          <a:prstGeom prst="rect">
            <a:avLst/>
          </a:prstGeom>
        </p:spPr>
      </p:pic>
      <p:sp>
        <p:nvSpPr>
          <p:cNvPr id="9" name="what we need"/>
          <p:cNvSpPr txBox="1"/>
          <p:nvPr/>
        </p:nvSpPr>
        <p:spPr>
          <a:xfrm>
            <a:off x="6065520" y="2162556"/>
            <a:ext cx="2712720" cy="512064"/>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SIMAX3D 42-38 listing) / r: 34 N at 7.5 mm (design), 25 N at 10 mm (calc); ÷ 1.5 skip margin (design) = 16.8 N ≥ 14.8 N jeans (calc)</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293876"/>
          </a:xfrm>
          <a:prstGeom prst="rect">
            <a:avLst/>
          </a:prstGeom>
        </p:spPr>
      </p:pic>
      <p:sp>
        <p:nvSpPr>
          <p:cNvPr id="11" name="what we need"/>
          <p:cNvSpPr txBox="1"/>
          <p:nvPr/>
        </p:nvSpPr>
        <p:spPr>
          <a:xfrm>
            <a:off x="36576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k = 0.915 LP worst-cable factor (sim) × (1 + a/g) 1.102 = 1.008; 16.8 N / (1.008 × 9.81) = 1.70 kg vs 0.60 (measured) + 0.9 (assumed) = 1.50 kg: +13 % (calc); jeans 1.50 × 1.008 × 9.81 = 14.8 N</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293876"/>
          </a:xfrm>
          <a:prstGeom prst="rect">
            <a:avLst/>
          </a:prstGeom>
        </p:spPr>
      </p:pic>
      <p:sp>
        <p:nvSpPr>
          <p:cNvPr id="13" name="what we need"/>
          <p:cNvSpPr txBox="1"/>
          <p:nvPr/>
        </p:nvSpPr>
        <p:spPr>
          <a:xfrm>
            <a:off x="3215640" y="4105656"/>
            <a:ext cx="2712720" cy="512064"/>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SIMAX3D NEMA 17 42-38 listing) / 7.5 mm (design) = 48 N (calc)</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5120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4255"/>
              </a:spcAft>
              <a:buNone/>
            </a:pPr>
            <a:r>
              <a:rPr lang="en-US" sz="1250" b="1" dirty="0">
                <a:solidFill>
                  <a:srgbClr val="000000"/>
                </a:solidFill>
              </a:rPr>
              <a:t>Fin, vents, stud</a:t>
            </a:r>
            <a:endParaRPr lang="en-US" sz="1250" dirty="0"/>
          </a:p>
          <a:p>
            <a:pPr algn="l" marL="152400" indent="-152400">
              <a:spcAft>
                <a:spcPts val="200"/>
              </a:spcAft>
              <a:buSzPct val="100000"/>
              <a:buChar char="•"/>
            </a:pPr>
            <a:r>
              <a:rPr lang="en-US" sz="900" dirty="0">
                <a:solidFill>
                  <a:srgbClr val="000000"/>
                </a:solidFill>
              </a:rPr>
              <a:t>The fin: aluminium 6061 (design) on the motor face, out through a slot in the top of the shell</a:t>
            </a:r>
            <a:endParaRPr lang="en-US" sz="1250" dirty="0"/>
          </a:p>
          <a:p>
            <a:pPr algn="l" marL="152400" indent="-152400">
              <a:spcAft>
                <a:spcPts val="200"/>
              </a:spcAft>
              <a:buSzPct val="100000"/>
              <a:buChar char="•"/>
            </a:pPr>
            <a:r>
              <a:rPr lang="en-US" sz="900" dirty="0">
                <a:solidFill>
                  <a:srgbClr val="000000"/>
                </a:solidFill>
              </a:rPr>
              <a:t>Motor heat: P = I²·R = (1.5 A)² × 1.8 Ω = 4.05 W (calc; 1.5 A rated, datasheet: SIMAX3D NEMA 17 42-38 seller listing; 1.8 Ω per phase, assumed, not on the listing, to be metered)</a:t>
            </a:r>
            <a:endParaRPr lang="en-US" sz="1250" dirty="0"/>
          </a:p>
          <a:p>
            <a:pPr algn="l" marL="152400" indent="-152400">
              <a:spcAft>
                <a:spcPts val="200"/>
              </a:spcAft>
              <a:buSzPct val="100000"/>
              <a:buChar char="•"/>
            </a:pPr>
            <a:r>
              <a:rPr lang="en-US" sz="900" dirty="0">
                <a:solidFill>
                  <a:srgbClr val="000000"/>
                </a:solidFill>
              </a:rPr>
              <a:t>With microstepping the two phase currents follow sin and cos, so total heat = I_peak²·R</a:t>
            </a:r>
            <a:endParaRPr lang="en-US" sz="1250" dirty="0"/>
          </a:p>
          <a:p>
            <a:pPr algn="l" marL="152400" indent="-152400">
              <a:spcAft>
                <a:spcPts val="200"/>
              </a:spcAft>
              <a:buSzPct val="100000"/>
              <a:buChar char="•"/>
            </a:pPr>
            <a:r>
              <a:rPr lang="en-US" sz="900" dirty="0">
                <a:solidFill>
                  <a:srgbClr val="000000"/>
                </a:solidFill>
              </a:rPr>
              <a:t>That heat leaves through the vents and the fin</a:t>
            </a:r>
            <a:endParaRPr lang="en-US" sz="1250" dirty="0"/>
          </a:p>
          <a:p>
            <a:pPr algn="l" marL="152400" indent="-152400">
              <a:spcAft>
                <a:spcPts val="200"/>
              </a:spcAft>
              <a:buSzPct val="100000"/>
              <a:buChar char="•"/>
            </a:pPr>
            <a:r>
              <a:rPr lang="en-US" sz="900" dirty="0">
                <a:solidFill>
                  <a:srgbClr val="000000"/>
                </a:solidFill>
              </a:rPr>
              <a:t>At Ts 50 °C, T∞ 23 °C: h_rad = 6.75·ε W/m²K (calc; σ = 5.67×10⁻⁸ W/m²K⁴, handbook; temperatures, design)</a:t>
            </a:r>
            <a:endParaRPr lang="en-US" sz="1250" dirty="0"/>
          </a:p>
          <a:p>
            <a:pPr algn="l" marL="152400" indent="-152400">
              <a:spcAft>
                <a:spcPts val="200"/>
              </a:spcAft>
              <a:buSzPct val="100000"/>
              <a:buChar char="•"/>
            </a:pPr>
            <a:r>
              <a:rPr lang="en-US" sz="900" dirty="0">
                <a:solidFill>
                  <a:srgbClr val="000000"/>
                </a:solidFill>
              </a:rPr>
              <a:t>Bare aluminium ε ≈ 0.05–0.09, black paint 0.92–0.96 (handbook)</a:t>
            </a:r>
            <a:endParaRPr lang="en-US" sz="1250" dirty="0"/>
          </a:p>
          <a:p>
            <a:pPr algn="l" marL="152400" indent="-152400">
              <a:spcAft>
                <a:spcPts val="200"/>
              </a:spcAft>
              <a:buSzPct val="100000"/>
              <a:buChar char="•"/>
            </a:pPr>
            <a:r>
              <a:rPr lang="en-US" sz="900" dirty="0">
                <a:solidFill>
                  <a:srgbClr val="000000"/>
                </a:solidFill>
              </a:rPr>
              <a:t>Natural convection: h = 1.42 (ΔT/L)^0.25 = 1.42 × (27 K / 0.2 m)^0.25 = 4.8 W/m²K on a 0.2 m vertical plate (calc, handbook correlation)</a:t>
            </a:r>
            <a:endParaRPr lang="en-US" sz="1250" dirty="0"/>
          </a:p>
          <a:p>
            <a:pPr algn="l" marL="152400" indent="-152400">
              <a:spcAft>
                <a:spcPts val="200"/>
              </a:spcAft>
              <a:buSzPct val="100000"/>
              <a:buChar char="•"/>
            </a:pPr>
            <a:r>
              <a:rPr lang="en-US" sz="900" dirty="0">
                <a:solidFill>
                  <a:srgbClr val="000000"/>
                </a:solidFill>
              </a:rPr>
              <a:t>Black paint: total 4.8 + 0.07 × 6.75 = 5.3 → 4.8 + 0.9 × 6.75 = 10.9 W/m²K, about 2× the heat per degree (calc); the motor contact square stays bare</a:t>
            </a:r>
            <a:endParaRPr lang="en-US" sz="1250" dirty="0"/>
          </a:p>
          <a:p>
            <a:pPr algn="l" marL="152400" indent="-152400">
              <a:spcAft>
                <a:spcPts val="200"/>
              </a:spcAft>
              <a:buSzPct val="100000"/>
              <a:buChar char="•"/>
            </a:pPr>
            <a:r>
              <a:rPr lang="en-US" sz="900" dirty="0">
                <a:solidFill>
                  <a:srgbClr val="000000"/>
                </a:solidFill>
              </a:rPr>
              <a:t>First station in a stud on the TV wall, 12 V down the wall (datasheet); 1° dovetail draft (design) next iteration</a:t>
            </a:r>
            <a:endParaRPr lang="en-US" sz="1250" dirty="0"/>
          </a:p>
        </p:txBody>
      </p:sp>
      <p:sp>
        <p:nvSpPr>
          <p:cNvPr id="5" name="equation box"/>
          <p:cNvSpPr/>
          <p:nvPr/>
        </p:nvSpPr>
        <p:spPr>
          <a:xfrm>
            <a:off x="512064" y="1271016"/>
            <a:ext cx="4023360" cy="430639"/>
          </a:xfrm>
          <a:prstGeom prst="rect">
            <a:avLst/>
          </a:prstGeom>
          <a:solidFill>
            <a:srgbClr val="FFFFFF"/>
          </a:solidFill>
          <a:ln w="9525">
            <a:solidFill>
              <a:srgbClr val="000000"/>
            </a:solidFill>
            <a:prstDash val="solid"/>
          </a:ln>
        </p:spPr>
      </p:sp>
      <p:pic>
        <p:nvPicPr>
          <p:cNvPr id="6" name="equation" descr="q_rad = epsilon sigma A (Ts^4 - Tinf^4); h_rad = epsilon sigma (Ts + Tinf)(Ts^2 + Tinf^2)">    </p:cNvPr>
          <p:cNvPicPr>
            <a:picLocks noChangeAspect="1"/>
          </p:cNvPicPr>
          <p:nvPr/>
        </p:nvPicPr>
        <p:blipFill>
          <a:blip r:embed="rId1"/>
          <a:stretch>
            <a:fillRect/>
          </a:stretch>
        </p:blipFill>
        <p:spPr>
          <a:xfrm>
            <a:off x="585216" y="1344168"/>
            <a:ext cx="3877056" cy="284335"/>
          </a:xfrm>
          <a:prstGeom prst="rect">
            <a:avLst/>
          </a:prstGeom>
        </p:spPr>
      </p:pic>
      <p:pic>
        <p:nvPicPr>
          <p:cNvPr id="7" name="On the TV wall" descr="On the TV wall">    </p:cNvPr>
          <p:cNvPicPr>
            <a:picLocks noChangeAspect="1"/>
          </p:cNvPicPr>
          <p:nvPr/>
        </p:nvPicPr>
        <p:blipFill>
          <a:blip r:embed="rId2"/>
          <a:stretch>
            <a:fillRect/>
          </a:stretch>
        </p:blipFill>
        <p:spPr>
          <a:xfrm>
            <a:off x="5669280" y="868680"/>
            <a:ext cx="1508760" cy="3511296"/>
          </a:xfrm>
          <a:prstGeom prst="rect">
            <a:avLst/>
          </a:prstGeom>
        </p:spPr>
      </p:pic>
      <p:sp>
        <p:nvSpPr>
          <p:cNvPr id="8" name="caption"/>
          <p:cNvSpPr txBox="1"/>
          <p:nvPr/>
        </p:nvSpPr>
        <p:spPr>
          <a:xfrm>
            <a:off x="56692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a:t>
            </a:r>
            <a:endParaRPr lang="en-US" sz="850" dirty="0"/>
          </a:p>
        </p:txBody>
      </p:sp>
      <p:pic>
        <p:nvPicPr>
          <p:cNvPr id="9" name="Fin through the slot" descr="Fin through the slot">    </p:cNvPr>
          <p:cNvPicPr>
            <a:picLocks noChangeAspect="1"/>
          </p:cNvPicPr>
          <p:nvPr/>
        </p:nvPicPr>
        <p:blipFill>
          <a:blip r:embed="rId3"/>
          <a:stretch>
            <a:fillRect/>
          </a:stretch>
        </p:blipFill>
        <p:spPr>
          <a:xfrm>
            <a:off x="7269480" y="868680"/>
            <a:ext cx="1508760" cy="3511296"/>
          </a:xfrm>
          <a:prstGeom prst="rect">
            <a:avLst/>
          </a:prstGeom>
        </p:spPr>
      </p:pic>
      <p:sp>
        <p:nvSpPr>
          <p:cNvPr id="10" name="caption"/>
          <p:cNvSpPr txBox="1"/>
          <p:nvPr/>
        </p:nvSpPr>
        <p:spPr>
          <a:xfrm>
            <a:off x="72694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Fin through the slot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300"/>
              </a:spcAft>
              <a:buSzPct val="100000"/>
              <a:buChar char="•"/>
            </a:pPr>
            <a:r>
              <a:rPr lang="en-US" sz="900" dirty="0">
                <a:solidFill>
                  <a:srgbClr val="000000"/>
                </a:solidFill>
              </a:rPr>
              <a:t>Four-bar hands on a geared crank; 53 mm opening (design)</a:t>
            </a:r>
            <a:endParaRPr lang="en-US" sz="1250" dirty="0"/>
          </a:p>
          <a:p>
            <a:pPr algn="l" marL="152400" indent="-152400">
              <a:spcAft>
                <a:spcPts val="300"/>
              </a:spcAft>
              <a:buSzPct val="100000"/>
              <a:buChar char="•"/>
            </a:pPr>
            <a:r>
              <a:rPr lang="en-US" sz="900" dirty="0">
                <a:solidFill>
                  <a:srgbClr val="000000"/>
                </a:solidFill>
              </a:rPr>
              <a:t>A camera bay in the electronics housing; the camera looks down the tube</a:t>
            </a:r>
            <a:endParaRPr lang="en-US" sz="1250" dirty="0"/>
          </a:p>
          <a:p>
            <a:pPr algn="l" marL="152400" indent="-152400">
              <a:spcAft>
                <a:spcPts val="300"/>
              </a:spcAft>
              <a:buSzPct val="100000"/>
              <a:buChar char="•"/>
            </a:pPr>
            <a:r>
              <a:rPr lang="en-US" sz="900" dirty="0">
                <a:solidFill>
                  <a:srgbClr val="000000"/>
                </a:solidFill>
              </a:rPr>
              <a:t>One 7.4 V two-cell pack (datasheet): 6 V regulator for the servo, 5 V buck for the board (design setpoints)</a:t>
            </a:r>
            <a:endParaRPr lang="en-US" sz="1250" dirty="0"/>
          </a:p>
          <a:p>
            <a:pPr algn="l" marL="152400" indent="-152400">
              <a:spcAft>
                <a:spcPts val="300"/>
              </a:spcAft>
              <a:buSzPct val="100000"/>
              <a:buChar char="•"/>
            </a:pPr>
            <a:r>
              <a:rPr lang="en-US" sz="900" dirty="0">
                <a:solidFill>
                  <a:srgbClr val="000000"/>
                </a:solidFill>
              </a:rPr>
              <a:t>Weighed 0.60 kg with battery (measured) against a 0.45 kg budget (design)</a:t>
            </a:r>
            <a:endParaRPr lang="en-US" sz="1250" dirty="0"/>
          </a:p>
          <a:p>
            <a:pPr algn="l" marL="152400" indent="-152400">
              <a:spcAft>
                <a:spcPts val="300"/>
              </a:spcAft>
              <a:buSzPct val="100000"/>
              <a:buChar char="•"/>
            </a:pPr>
            <a:r>
              <a:rPr lang="en-US" sz="900" dirty="0">
                <a:solidFill>
                  <a:srgbClr val="000000"/>
                </a:solidFill>
              </a:rPr>
              <a:t>Grip per jaw, jeans: N = m(g + a)/(2μ) = 0.9 × (9.81 + 1)/(2 × 0.3) = 16.2 N; 8.1 N at μ 0.6 (calc; 0.9 kg assumed; a = 1 m/s² design; μ 0.3 worst case, from published ranges)</a:t>
            </a:r>
            <a:endParaRPr lang="en-US" sz="1250" dirty="0"/>
          </a:p>
          <a:p>
            <a:pPr algn="l" marL="152400" indent="-152400">
              <a:spcAft>
                <a:spcPts val="300"/>
              </a:spcAft>
              <a:buSzPct val="100000"/>
              <a:buChar char="•"/>
            </a:pPr>
            <a:r>
              <a:rPr lang="en-US" sz="900" dirty="0">
                <a:solidFill>
                  <a:srgbClr val="000000"/>
                </a:solidFill>
              </a:rPr>
              <a:t>Published fabric friction: 0.22–0.38 garment fabrics, 0.52–0.62 special fabrics, denim on skin 0.14–0.44; none is fabric on PETG, so 0.3 is the design worst case (handbook / literature)</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77.4 − 2 × 18 mm ×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5431536" cy="157276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00" dirty="0">
                <a:solidFill>
                  <a:srgbClr val="000000"/>
                </a:solidFill>
              </a:rPr>
              <a:t>18T / 54T spur, module 1, 20° (design); printed PETG pinion; checked in CAD, pinion printed, not fitted</a:t>
            </a:r>
            <a:endParaRPr lang="en-US" sz="1100" dirty="0"/>
          </a:p>
          <a:p>
            <a:pPr algn="l" marL="152400" indent="-152400">
              <a:spcAft>
                <a:spcPts val="200"/>
              </a:spcAft>
              <a:buSzPct val="100000"/>
              <a:buChar char="•"/>
            </a:pPr>
            <a:r>
              <a:rPr lang="en-US" sz="900" dirty="0">
                <a:solidFill>
                  <a:srgbClr val="000000"/>
                </a:solidFill>
              </a:rPr>
              <a:t>Pull × 3 (design) × 0.9 η (assumed, conservative) = 2.7 at equal current (calc); at 1.0 A (design): heat × (1.0/1.5)² = 0.44 (calc)</a:t>
            </a:r>
            <a:endParaRPr lang="en-US" sz="1100" dirty="0"/>
          </a:p>
          <a:p>
            <a:pPr algn="l" marL="152400" indent="-152400">
              <a:spcAft>
                <a:spcPts val="200"/>
              </a:spcAft>
              <a:buSzPct val="100000"/>
              <a:buChar char="•"/>
            </a:pPr>
            <a:r>
              <a:rPr lang="en-US" sz="900" dirty="0">
                <a:solidFill>
                  <a:srgbClr val="000000"/>
                </a:solidFill>
              </a:rPr>
              <a:t>Mesh loss (Niemann): H_v = π(u+1)/(z1·u)·(1 − εα + ε1² + ε2²) = 0.167; η = 1 − μ·H_v = 0.92–0.97 for μ 0.2–0.5 (calc)</a:t>
            </a:r>
            <a:endParaRPr lang="en-US" sz="1100" dirty="0"/>
          </a:p>
          <a:p>
            <a:pPr algn="l" marL="152400" indent="-152400">
              <a:spcAft>
                <a:spcPts val="200"/>
              </a:spcAft>
              <a:buSzPct val="100000"/>
              <a:buChar char="•"/>
            </a:pPr>
            <a:r>
              <a:rPr lang="en-US" sz="900" dirty="0">
                <a:solidFill>
                  <a:srgbClr val="000000"/>
                </a:solidFill>
              </a:rPr>
              <a:t>z1 18, z2 54, u 3 (design); ε1 0.765, ε2 0.884 (calc); μ 0.2–0.5 dry polymer (assumed); 0.9 leaves room for bearing and print-roughness losses</a:t>
            </a:r>
            <a:endParaRPr lang="en-US" sz="1100" dirty="0"/>
          </a:p>
        </p:txBody>
      </p:sp>
      <p:sp>
        <p:nvSpPr>
          <p:cNvPr id="5" name="card 1° draft on the dovetail (design)"/>
          <p:cNvSpPr/>
          <p:nvPr/>
        </p:nvSpPr>
        <p:spPr>
          <a:xfrm>
            <a:off x="365760" y="2551176"/>
            <a:ext cx="2660904" cy="89611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 (design)</a:t>
            </a:r>
            <a:endParaRPr lang="en-US" sz="1100" dirty="0"/>
          </a:p>
          <a:p>
            <a:pPr algn="l" marL="152400" indent="-152400">
              <a:spcAft>
                <a:spcPts val="200"/>
              </a:spcAft>
              <a:buSzPct val="100000"/>
              <a:buChar char="•"/>
            </a:pPr>
            <a:r>
              <a:rPr lang="en-US" sz="900" dirty="0">
                <a:solidFill>
                  <a:srgbClr val="000000"/>
                </a:solidFill>
              </a:rPr>
              <a:t>Today the slide-in binds on insertion</a:t>
            </a:r>
            <a:endParaRPr lang="en-US" sz="1100" dirty="0"/>
          </a:p>
          <a:p>
            <a:pPr algn="l" marL="152400" indent="-152400">
              <a:spcAft>
                <a:spcPts val="200"/>
              </a:spcAft>
              <a:buSzPct val="100000"/>
              <a:buChar char="•"/>
            </a:pPr>
            <a:r>
              <a:rPr lang="en-US" sz="900" dirty="0">
                <a:solidFill>
                  <a:srgbClr val="000000"/>
                </a:solidFill>
              </a:rPr>
              <a:t>Thicker at the top: the station self-locates as it slides in (planned)</a:t>
            </a:r>
            <a:endParaRPr lang="en-US" sz="1100" dirty="0"/>
          </a:p>
        </p:txBody>
      </p:sp>
      <p:sp>
        <p:nvSpPr>
          <p:cNvPr id="6" name="card Lighter back mount"/>
          <p:cNvSpPr/>
          <p:nvPr/>
        </p:nvSpPr>
        <p:spPr>
          <a:xfrm>
            <a:off x="3136392" y="2551176"/>
            <a:ext cx="2660904" cy="89611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00" dirty="0">
                <a:solidFill>
                  <a:srgbClr val="000000"/>
                </a:solidFill>
              </a:rPr>
              <a:t>Today 597 cm³ solid (design, CAD volume), far stronger than the motor can pull</a:t>
            </a:r>
            <a:endParaRPr lang="en-US" sz="1100" dirty="0"/>
          </a:p>
          <a:p>
            <a:pPr algn="l" marL="152400" indent="-152400">
              <a:spcAft>
                <a:spcPts val="200"/>
              </a:spcAft>
              <a:buSzPct val="100000"/>
              <a:buChar char="•"/>
            </a:pPr>
            <a:r>
              <a:rPr lang="en-US" sz="900" dirty="0">
                <a:solidFill>
                  <a:srgbClr val="000000"/>
                </a:solidFill>
              </a:rPr>
              <a:t>Thinner walls and ribs: about 200 cm³ (planned)</a:t>
            </a:r>
            <a:endParaRPr lang="en-US" sz="1100" dirty="0"/>
          </a:p>
        </p:txBody>
      </p:sp>
      <p:sp>
        <p:nvSpPr>
          <p:cNvPr id="7" name="card Also next / still planned"/>
          <p:cNvSpPr/>
          <p:nvPr/>
        </p:nvSpPr>
        <p:spPr>
          <a:xfrm>
            <a:off x="365760" y="3557016"/>
            <a:ext cx="5431536" cy="10607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Also next / still planned</a:t>
            </a:r>
            <a:endParaRPr lang="en-US" sz="1100" dirty="0"/>
          </a:p>
          <a:p>
            <a:pPr algn="l" marL="152400" indent="-152400">
              <a:spcAft>
                <a:spcPts val="100"/>
              </a:spcAft>
              <a:buSzPct val="100000"/>
              <a:buChar char="•"/>
            </a:pPr>
            <a:r>
              <a:rPr lang="en-US" sz="900" dirty="0">
                <a:solidFill>
                  <a:srgbClr val="000000"/>
                </a:solidFill>
              </a:rPr>
              <a:t>TPU grip pads on the jaws (planned)</a:t>
            </a:r>
            <a:endParaRPr lang="en-US" sz="1100" dirty="0"/>
          </a:p>
          <a:p>
            <a:pPr algn="l" marL="152400" indent="-152400">
              <a:spcAft>
                <a:spcPts val="100"/>
              </a:spcAft>
              <a:buSzPct val="100000"/>
              <a:buChar char="•"/>
            </a:pPr>
            <a:r>
              <a:rPr lang="en-US" sz="900" dirty="0">
                <a:solidFill>
                  <a:srgbClr val="000000"/>
                </a:solidFill>
              </a:rPr>
              <a:t>Pull test at 1.5 A (design): the measured limit goes into the planner (planned)</a:t>
            </a:r>
            <a:endParaRPr lang="en-US" sz="1100" dirty="0"/>
          </a:p>
          <a:p>
            <a:pPr algn="l" marL="152400" indent="-152400">
              <a:spcAft>
                <a:spcPts val="100"/>
              </a:spcAft>
              <a:buSzPct val="100000"/>
              <a:buChar char="•"/>
            </a:pPr>
            <a:r>
              <a:rPr lang="en-US" sz="900" dirty="0">
                <a:solidFill>
                  <a:srgbClr val="000000"/>
                </a:solidFill>
              </a:rPr>
              <a:t>Hold test: 90 minutes at 1.5 A, motor below 60 °C (planned; 60 °C limit, design)</a:t>
            </a:r>
            <a:endParaRPr lang="en-US" sz="1100" dirty="0"/>
          </a:p>
          <a:p>
            <a:pPr algn="l" marL="152400" indent="-152400">
              <a:spcAft>
                <a:spcPts val="100"/>
              </a:spcAft>
              <a:buSzPct val="100000"/>
              <a:buChar char="•"/>
            </a:pPr>
            <a:r>
              <a:rPr lang="en-US" sz="900" dirty="0">
                <a:solidFill>
                  <a:srgbClr val="000000"/>
                </a:solidFill>
              </a:rPr>
              <a:t>First three-station lift: self-check, calibration, a short move with 1 lb (planned; 1 lb, design)</a:t>
            </a:r>
            <a:endParaRPr lang="en-US" sz="110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2026-10-27T13:05:35Z</dcterms:created>
  <dcterms:modified xsi:type="dcterms:W3CDTF">2026-10-27T13:05:35Z</dcterms:modified>
</cp:coreProperties>
</file>