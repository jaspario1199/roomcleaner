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d1e6bb3-3d8b-e4be-b265-b87dbd8eb075}">
          <p14:sldIdLst>
            <p14:sldId id="256"/>
            <p14:sldId id="257"/>
          </p14:sldIdLst>
        </p14:section>
        <p14:section name="Scope" id="{02eb1a5c-1166-633a-e507-b30033294cdb}">
          <p14:sldIdLst>
            <p14:sldId id="258"/>
          </p14:sldIdLst>
        </p14:section>
        <p14:section name="Fundamentals" id="{2271671a-c26f-3664-d7a1-720ae1eaa107}">
          <p14:sldIdLst>
            <p14:sldId id="259"/>
          </p14:sldIdLst>
        </p14:section>
        <p14:section name="Generation 1" id="{2cd99bfc-535b-71da-a33c-ac26b47015e6}">
          <p14:sldIdLst>
            <p14:sldId id="260"/>
            <p14:sldId id="261"/>
          </p14:sldIdLst>
        </p14:section>
        <p14:section name="Homing" id="{95ef7530-90d8-a464-bf73-a3e59cbe1378}">
          <p14:sldIdLst>
            <p14:sldId id="262"/>
          </p14:sldIdLst>
        </p14:section>
        <p14:section name="What a winch needs" id="{f8db0679-31ae-397a-93c4-5cf1e14a0ff9}">
          <p14:sldIdLst>
            <p14:sldId id="263"/>
          </p14:sldIdLst>
        </p14:section>
        <p14:section name="Modular box" id="{0d7a0dc7-00be-72be-7ff2-80af4be1b711}">
          <p14:sldIdLst>
            <p14:sldId id="264"/>
            <p14:sldId id="265"/>
          </p14:sldIdLst>
        </p14:section>
        <p14:section name="Trade-offs" id="{f0a0e98f-62a8-7de6-d9bb-81fdcebd4076}">
          <p14:sldIdLst>
            <p14:sldId id="266"/>
          </p14:sldIdLst>
        </p14:section>
        <p14:section name="Mount assembly" id="{8e72b895-7770-01b1-716e-66dbeee70f6c}">
          <p14:sldIdLst>
            <p14:sldId id="267"/>
            <p14:sldId id="268"/>
          </p14:sldIdLst>
        </p14:section>
        <p14:section name="Manufacturing" id="{4bb40721-c65e-34b6-ae4e-5612d4a4aa49}">
          <p14:sldIdLst>
            <p14:sldId id="269"/>
          </p14:sldIdLst>
        </p14:section>
        <p14:section name="Claw" id="{60514fd0-6b4f-06f1-52f5-0689059d3dca}">
          <p14:sldIdLst>
            <p14:sldId id="270"/>
          </p14:sldIdLst>
        </p14:section>
        <p14:section name="Electrical and testing" id="{79f6267d-542f-a008-c690-9cf704ef923a}">
          <p14:sldIdLst>
            <p14:sldId id="271"/>
          </p14:sldIdLst>
        </p14:section>
        <p14:section name="Calibration" id="{72efd2db-38ae-f0e8-aa29-e6ad80586e93}">
          <p14:sldIdLst>
            <p14:sldId id="272"/>
          </p14:sldIdLst>
        </p14:section>
        <p14:section name="Next iteration" id="{8a0617b7-fe6a-9bba-c032-7dd6cf22eeaf}">
          <p14:sldIdLst>
            <p14:sldId id="273"/>
          </p14:sldIdLst>
        </p14:section>
        <p14:section name="Close" id="{226d165c-42b9-b93f-47bb-a73fe3d0986b}">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Photo 42: the claw suspended from three cables in the room corner, the first time it hangs (docs/presentation/photos/README.md, row 42, Oct 27). Byline per DECK_V10_BRIEF.md (name | Mechanical Engineering | Texas A&amp;M). Subtitle wording from DECK_V9_NOTES.md slide 1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me. The three collage columns are Jasper's About Me collage (docs/presentation/photos/README.md, about_me/ row, 10/22): outdoors and endurance (hikes, Ironman 70.3, 2025 marathon), engineering (EcoFil, team photo), community (Gladiator Dash for Still Creek Ranch). Degree and school per the brief's byline. Nothing else on the slide; add numbers only from memory you can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Room 3.35 x 2.74 m under a 2.74 m ceiling, as reported (DECK_V9_NOTES.md slide 3; v9.1 origins). Design load 0.9 kg jeans, a screening value, plus 2 m/s^2 assumed (REQUIREMENTS R1/R7 via v9.1). Four winches in the studs, one claw on four cables (slide 3 row). PAUSE holds torque; the switched power strip is the emergency stop and drops the claw (D21 via slide 3). Success: one garment floor to hamper, each move approved on the phone; first gate a 1 lb test weight (D19). Cost: $210.78 of parts in the robot for three stations plus $37.74 filament, prices partly estimated (COST_BREAKDOWN_20261026.md headline table). Photo 42 (README row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Fundamentals. Card A: straight taut cable, L_i = ||a_i - p|| (roomcleaner/cdpr/kinematics.py docstring; the full form adds R b_i for the spaced attachments). Line per revolution 2 pi r: 47.1 mm at r 7.5 mm to 62.8 mm at r 10 mm (FUNDAMENTALS.md section 2, spool-core study table: Ø15 core, full radius 10.0 mm). Four cable lengths against three position unknowns: overdetermined, least squares (kinematics.py docstring; the TENSION split is the indeterminate one); the camera on the floor board fits the anchors and cable lengths at startup (DECK_V9_NOTES slide 15); held-out poses check the fit (CALIBRATION_SIMPLE step 5, 'surprise spots'): SIMULATED, no physical position measurement. Card B: I = Vref / (8 R_s), tau_hold = tau_rated I / I_rated, tau_run = 0.7 tau_hold assumed, F = tau / r (FUNDAMENTALS section 2); at 1.5 A, the motor's rated current (DECISIONS D37), tau_hold 0.36 N.m, tau_run 0.7 x 0.36 = 0.252 N.m, running pull 0.252 / 0.0075 = 33.6 N and 0.252 / 0.010 = 25.2 N (calculations/lift_chain_weakest_link.json fuse.run_empty / run_full). Vref MEASURED on the board; 0.7 ASSUMED; pull test PLANNED (FUNDAMENTALS section 2 evidence line). Card C: T = W / (4 sin phi), sin phi = d / sqrt(d^2 + D_h^2); W = (0.4536 + 0.45) x 9.81 = 8.86 N (1 lb + the 0.45 kg claw budget), D_h = sqrt(1.676^2 + 1.372^2) = 2.166 m; 32.1 / 16.2 / 8.3 / 4.6 N at 0.15 / 0.3 / 0.6 / 1.2 m (FUNDAMENTALS section 1 table, recomputed); T ~ W D_h / (4 d) for a shallow cable; keep the claw at least 0.4 m below the anchors; CALCULATED, no tension measured on the rig (FUNDAMENTALS section 1). Figure: deck_v3/fig/position_vectors.png.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1. One central unit (an Uno with a CNC shield) drove all four corner motors over wires run to each corner; an overhead ceiling camera scanned the room (DESIGN_INTENT_20261027.md 'Iteration 1'; DECK_V9_NOTES.md v9.2 slide 7 row; DECISIONS D33 for the ceiling camera). A printed corner plate screwed into a joist replaced hanging hooks: a hook is a pivot, about 1:1 anchor error to claw error (slide 8 row, D13). Each cable homed against a crimped bead at the outlet (PANEL_FEEDBACK_ANSWERS, 'what bead homing is'). Bench: the station lifted a test weight (slide 8 row; the weight and height not logged). Photos 05, 13, 14 (README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 with Gen 1. Every motor and sensor wired back to one place (DESIGN_INTENT_20261027.md 'Iteration 1'). One board stepping four motors: the cables skew by dx = v dt = 50 mm/s x 0.05 s = 2.5 mm per 50 ms of timing error (DECK_V9_NOTES.md slide 10 row; 50 mm/s maximum cable speed, FUNDAMENTALS.md section 2 supplied facts). The ceiling camera: one more device to mount, wire and calibrate in every room; the claw and cables hide the grasp spot from above; its floor map assumes a flat floor; retired Oct 21 (DECISIONS.md D33). Bead homing limits the reachable volume: next slide. Photo 14 (README row 14). Bench fixes from this period are in DOWN_THE_LINE.md.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Homing. Bead homing: a stopper bead cannot pass its outlet, so after homing no cable can be shorter than at home; homing all four with the claw at one pose fixes a minimum length on every cable at once: reachable(p) iff ||a_i - p|| &gt;= L_i,home for every i (calculations/bead_reach.py docstring). Reachable share = fraction of grid points in the working volume (60 x 50 x 50 grid, 0.2 m wall margin, z 0.3 to 2.19 m) that satisfy it, home at the room centre: 0.0 % at 0.3 m up, 4.7 % at 1.0 m, 29.1 % at 2.0 m, 32.0 % at 2.19 m (calculations/bead_reach.json). Floor board: nine US-Letter sheets, one AprilTag 36h11 per sheet, 150 mm tags, 250 mm pitch, id 0 = origin (tools/print_floor_board.py; make_floor_board_figure.py). The camera measures the claw pose against the board; cable lengths follow from L_i = ||a_i - p|| (roomcleaner/cdpr/kinematics.py docstring); the startup fit estimates anchors and zero lengths (roomcleaner/cdpr/startup.py, SLACK_TAKEUP to CALIBRATION). No length is clamped, so the whole working volume stays available. Beads stay on the cables as end-of-travel switches (startup.py docstring, REFERENCE_VERIFICATION).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winch needs. A motor bolted to a wall cannot just run: a camera can fail, a spool can overwind, tension can rip a mount out, a motor can stall; so each winch gets a switch (button) and a spool encoder (DESIGN_INTENT 'Why it changed'). The encoder measures discrepancies while testing; if the camera proves good enough it can go later; data first (same). Its two jobs today: confirm every commanded step, catch slip as the tension sensor (DECK_V9_NOTES slide 20 row). Fail-safe switch wiring: LOW at rest, HIGH pressed or with a broken wire (slide 20 row). Beads stay as end-of-travel switches (PANEL_FEEDBACK_ANSWERS 'bead homing'). Wiring from one box: routes 6 + 21 + 23 + 32 = 82 ft, x 10 conductors = 820 ft (250 m) (DECK_V2_OUTLINE.md line 85; DECK_V9_NOTES v9.2 slide 10 row). Photos 09, 23, 39 (README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Modular box. Each box has its own ESP32 and everything it needs; the only thing entering is power, on a thicker wire (DESIGN_INTENT 'Iteration 2'). 82 ft of routes x 2 conductors = 164 ft (50 m) instead of x 10 = 820 ft (250 m) (DECK_V2_OUTLINE.md line 85). Any position and orientation (DESIGN_INTENT). Wire drop: V = I R' L_loop; longest branch 32 ft one way, 64 ft of loop; 16 AWG loop resistance 0.257 ohm over 64 ft = 4.02 ohm/kft; at 2 A: 2 x 0.257 = 0.51 V, 2 A illustrative (FUNDAMENTALS.md section 10; Gen 1 comparison: 24 AWG motor leads, Jasper 10/27, computed with the same formula: R = rho 2L / A, rho = 1.724e-8 ohm m, L = 32 ft = 9.75 m one way, AWG diameter 0.127 mm x 92^((36 - n)/39): 24 AWG A = 0.205 mm^2, R = 1.64 ohm, V = 2 x 1.64 = 3.29 V (27 % of 12 V), P = I^2 R = 6.6 W; 16 AWG A = 1.309 mm^2, R = 0.257 ohm, 0.51 V (4.3 %), 1.0 W (FUNDAMENTALS section 10 table). PANEL_FEEDBACK_ANSWERS 'How longer wires increase voltage drop'). Cost: 16 AWG 100 ft roll $30.00 (est.), 65 ft used for three stations, $19.50 prorated (COST_BREAKDOWN_20261026.md section 1, 16 AWG row). Photos 33, 46 (README rows); SolidWorks screenshot of the station shell, transparent (deck_assets/screens).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Everyday use. Plug and play: once a box works it works; it slides on and off the wall and plugs and unplugs; guests come, each box slips off and goes in a drawer; back on, one plug, it joins the Wi-Fi by itself (DESIGN_INTENT 'Iteration 2'). Slip the station out of the mount to open the electronics, close it, slide it back; no unscrewing from the wall: the wall mount and its screws stay in the stud (DECK_V9_NOTES slide 12 row 'One plug per station'). A product, not a tangle: individual packaged boxes with one plug and a Wi-Fi setup (DESIGN_INTENT). The mount is separate: today a slide-in screwed into a stud, later a clamp onto a pole, like gym equipment (DESIGN_INTENT). Photos 45, 24, 31 (README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Trade-offs, all calculated unless marked. Tension vs depth: T = W / (4 sin phi) with the weighed claw plus 1 lb; at 0.4 m below the anchors 14.3 N static, 17.2 N with 2 m/s^2, against the 16.8 N winch limit; with jeans the claw stays 0.6 m down (DECK_V9_NOTES slide 6 row; FUNDAMENTALS section 1). Motor temperature at 1.5 A, 23 C room: no fin 77.2 / 99.1 C vented / sealed, 0.019 in prototype fin 57.6 / 66.3, 1/8 in design fin 48.9 / 53.8; PETG limit 60 C (deck_v8/fig/sheet_motor_temperature; calculations/fin_sizing_4w.md coupled results 55.9-58.8 C vented). Winch pull: 0.7 x 0.36 N.m holding (0.7 assumed) over the spool radius: 34 N empty core, 25 N full; design force = running / 1.5 = 16.8 N; jeans worst cable 16.2 N (calculations/lift_chain_weakest_link.md 'Demand and the fuse'; slide 17 row). Weight: 0.45 kg budget (R7), 0.86 kg CAD estimate with battery, 0.60 kg weighed 10/22 (PANEL_FEEDBACK_ANSWERS slide 16); capacity m = F_design / (k g) = 16.8 / (1.101 x 9.81) = 1.56 kg, k = 1.101 the worst-cable tension per unit weight (LP, lift_chain_weakest_link.md; winch_gear3.json direct_drive.capacity_kg 1.555); jeans 1.50 kg: (1.56 - 1.50) / 1.50 = 4 %. Motor temperature chart: two-node thermal network (fin_sizing_4w.py), input P = I^2 R = 1.5^2 x 1.8 = 4.05 W; no temperature measured. Tension Need line: 1 lb + 0.60 kg claw at d 0.4 m: 1.054 x 11.81 / (4 x 0.1816) = 17.1 N; jeans + claw 1.50 kg at d 0.6 m: 16.6 N. Weakest link: cable tension at which each part gives, one station at 1.5 A (lift_chain_weakest_link.md ranking table): motor slip 0.36 / 0.0075 = 48 N; low 48 / sqrt 2 = 33.9 N; high 0.36 x 40/36 / 0.0075 / cos 26.05 deg = 59.4 N (json fuse); the set screw in the printed thread 22-64 N may give first, so it moves into a metal insert; screws in a stud 531 N and up (bar capped at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Mount assembly 1. Slide-in wall mount: the station lifts off its dovetail; the wall mount and its screws stay in the stud (DECK_V9_NOTES slide 12 row). Load path: cable, spool, set screw, motor, PETG tab, slide-in, wall mount, screws, stud (same row; lift_chain_weakest_link.md 'The chain and the rule'). The motor slips at 34-59 N before anything breaks, the designed fuse; the spool encoder sees the spool fall behind the commanded steps: a tracking fault, every station holds (slide 13 row). Fuse: 0.36 / 0.0075 = 48 N, 33.9 to 59.4 N (lift_chain_weakest_link.md 'The chain and the rule'). Dovetail 0.175 mm a side on 30 deg flanks, measured on Jasper's STEP files (PANEL_FEEDBACK_ANSWERS 'Manufacturing fits', row 'Slide-in mount'; deck_v8 fits table). Photos 45, 24; snap_dovetail.png (deck_v8/fig); station_shell_transparent_1022.png.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Mount assembly 2. The aluminium fin bolts to the motor face and goes out through a slot in the top of the shell; the shell is vented (DECK_V9_NOTES slide 16 and 22 rows; README rows 27, 34, 36). Heat P = I^2 R = 1.5^2 x 1.8 = 4.05 W, 1.8 ohm assumed (FUNDAMENTALS section 3). The fin temperatures come from a two-node thermal network (fin_sizing_4w.py) and are not on the slide. First station in a stud on the TV wall, 12 V down the wall (slide 22 row). Load path and fuse as on the previous slide. A 1 deg draft on the dovetail is the NEXT iteration: the slide-in binds on insertion today (slide 24 row). Photos 32, 33, 44 (README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Manufacturing. Process: PETG on a Creality K1, 0.4 mm nozzle, 0.20 mm layers, supports at 30 deg (photos 20, 26; deck_v8 'Manufacturing: Fits and Datums' printing rules: loads along the layers, mating faces off supports). Fin: blank sheared 44 x 250 mm (+/-0.5), five holes drilled in one setup on the manual mill; the edges locate only the first hole, which becomes the mill zero, so the pattern holds +/-0.1 (DECISION_STORIES.md T31/T32 line 277; photo 01). Heat-set inserts: M3 in the claw gear housing, M2.5 at the encoder board (deck_v8 fits table). TPU 95A: pad trials (DESIGN_INTENT 'The gripper'); none in the current build, the hands are PETG (COST_BREAKDOWN section 2; D32). Fits: printed holes come out undersize (FUNDAMENTALS section 12); spool bore Ø5.2 printed too tight on the Ø5.0 shaft, opened to Ø5.45 in v3 (FUNDAMENTALS section 12 supplied facts); dovetail 0.175 mm per side on 30 deg flanks, measured on Jasper's STEP files (deck_v8 fits table; PANEL_FEEDBACK_ANSWERS fits row); 687 bearing pocket Ø14.075 behind a Ø14.000 entry lip, 1.95 mm long, 8 T-slots (FUNDAMENTALS section 12; snap_gear_lip.png from make_mfg_snapshots.py). The hole-sweep fit coupon (Ø5, Ø7, Ø14, -0.10 to +0.30 mm) is PLANNED (FUNDAMENTALS section 12 evidence line). One shell kept a failed layer: a shell, not a load path (DECK_V9_NOTES slide 19 row; photo 35). Make vs buy: bought steppers, drivers, controller boards, servo, camera, battery, encoder boards (DECK_V9_NOTES slide 4 row); made: every printed part and the fin. Printed per station 762 g (estimate: CAD volume x 1.27 g/cm^3 x fill factor, COST_BREAKDOWN section 2); filament 0.762 kg x $15/kg = $11.43 per station; station-only bought parts about $23.70 per station; robot $210.78 parts + $37.74 filament for three stations, prices partly estimated (COST_BREAKDOWN headline table and section 1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Claw. Four-bar hands on the gear crank, 53 mm opening (CAD; the parallelism figure is a linkage model, not shown); a camera bay on the electronics housing; one 7.4 V two-cell pack, a 6 V regulator for the servo, a 5 V buck for the board (DECK_V9_NOTES slide 18 row 'The claw'). The gripper attaches modularly at the tube, by design, a test bed for shirts (DESIGN_INTENT 'The gripper'; v9.2 slide 18 row). A hard-material pinch was expected to grip better; testing showed alignment problems: the rack-and-pinion jaws left a 2 mm gap on thin cloth, Sep 30 (v9.2 slide 18 row; no cloth-test reading logged). TPU and other pad materials being tried (DESIGN_INTENT). The v6 clamp came out at 4.6x its mass budget in CAD, Oct 20; since then mass is tracked per part; the claw weighed 0.60 kg with battery against the 0.45 kg budget (slide 11 and 17 rows). Photos 25, 40, 22; renders gripper1021_head.png, claw_v6.png.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Electrical. Station boards: the bench checklist (firmware/station_bench_test/README.md) passed on both boards, ELEGOO ESP32 and XIAO (DECK_V9_NOTES slide 20 row, 10/25-10/26). Claw Rev B: camera live view, battery sense and servo pass on the bench (DECK_V9_NOTES slide 21 row; DESIGN_STATE 10/26). On the wall: boxed stations boot and join Wi-Fi on their own; firmware updates over Wi-Fi; motors off until the phone arms them; updates accepted only while disarmed (slide 22 row). Planned: pull test at 1.5 A, 90-minute hold test, first three-station lift (slides 25, 26). Bench details in DOWN_THE_LINE.md. Photos 43, 32 (README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Startup sequencer, roomcleaner/cdpr/startup.py: states and bounds in the module docstring (lines 1-66), run order in StartupSequencer.run (669-690): SELF_CHECK (self_check, 693-761), SLACK_TAKEUP (slack_takeup, 763-848), INITIAL_LIFT (initial_lift, 849-930), VISUAL_INITIALIZATION (visual_init, 931-1166), CALIBRATION (calibrate, 1167-1436), REFERENCE_VERIFICATION (verify_references, 1437-1619). An abort holds motion with torque on and returns PAUSED or FAULT; nothing retries by itself (run, 673-686; CALIBRATION_SIMPLE.md rules). Trust level VERIFIED by the margin check or by beads, else LOCAL_ONLY with stated reasons (docstring REFERENCE_VERIFICATION / READY; D26). Tension is not measured in V1: the lift and calibration rely on geometric consistency checks (docstring, last paragraph). All of this is designed and simulated; it has not run on the hardware. Photo 42 (README row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iteration (DECK_V9_NOTES slide 24 row, Jasper 10/27). Gear stage: 18T/54T, 3:1, printed PETG pinion, CAD-verified, pinion printed, NOT fitted; the mounted stations are direct-drive spools (D40-D42; v9 'correction' update). 2.7x pull at 1.0 A with half the heat (PANEL_FEEDBACK_ANSWERS 'larger motors'). Draft: the slide-in binds on insertion; a 1 deg draft on the dovetail, thicker at the top (slide 24 row, PLANNED). Mount: 597 cm^3 solid (COST_BREAKDOWN section 2), dovetails 225x and screws in a stud 8.9x the motor (lift_chain_weakest_link.md ranking), to about 200 cm^3 (slide 24 row, PLANNED). Gear stage: ratio 3, efficiency 0.9 (winch_gear3.json ratio, eta): 3 x 0.9 = 2.7x torque at the spool at equal current; heat at 1.0 A vs 1.5 A: (1.0/1.5)^2 = 0.44 (1.8 W vs 4.05 W, winch_gear3.json heat). Still planned, no result: pull test, hold test, first three-station lift (slide 25 and 26 rows). The dashed box is for Jasper's new CAD.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Leave this slide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846320"/>
            <a:ext cx="9144000" cy="297180"/>
          </a:xfrm>
          <a:prstGeom prst="rect">
            <a:avLst/>
          </a:prstGeom>
          <a:solidFill>
            <a:srgbClr val="000000"/>
          </a:solidFill>
          <a:ln w="12700">
            <a:solidFill>
              <a:srgbClr val="000000"/>
            </a:solidFill>
            <a:prstDash val="solid"/>
          </a:ln>
        </p:spPr>
      </p:sp>
      <p:sp>
        <p:nvSpPr>
          <p:cNvPr id="3" name="Text 1"/>
          <p:cNvSpPr/>
          <p:nvPr/>
        </p:nvSpPr>
        <p:spPr>
          <a:xfrm>
            <a:off x="365760" y="4846320"/>
            <a:ext cx="2743200" cy="297180"/>
          </a:xfrm>
          <a:prstGeom prst="rect">
            <a:avLst/>
          </a:prstGeom>
          <a:noFill/>
          <a:ln/>
        </p:spPr>
        <p:txBody>
          <a:bodyPr wrap="square" lIns="0" tIns="0" rIns="0" bIns="0" rtlCol="0" anchor="ctr"/>
          <a:lstStyle/>
          <a:p>
            <a:pPr indent="0" marL="0">
              <a:buNone/>
            </a:pPr>
            <a:r>
              <a:rPr lang="en-US" sz="800" spc="600" kern="0" dirty="0">
                <a:solidFill>
                  <a:srgbClr val="FFFFFF"/>
                </a:solidFill>
                <a:latin typeface="Arial" pitchFamily="34" charset="0"/>
                <a:ea typeface="Arial" pitchFamily="34" charset="-122"/>
                <a:cs typeface="Arial" pitchFamily="34" charset="-120"/>
              </a:rPr>
              <a:t>ROOMCLEANER</a:t>
            </a:r>
            <a:endParaRPr lang="en-US" sz="800" dirty="0"/>
          </a:p>
        </p:txBody>
      </p:sp>
      <p:sp>
        <p:nvSpPr>
          <p:cNvPr id="4" name="Text 2"/>
          <p:cNvSpPr/>
          <p:nvPr>
            <p:ph idx="102" type="title" hasCustomPrompt="1"/>
          </p:nvPr>
        </p:nvSpPr>
        <p:spPr>
          <a:xfrm>
            <a:off x="365760" y="256032"/>
            <a:ext cx="8412480" cy="502920"/>
          </a:xfrm>
          <a:prstGeom prst="rect">
            <a:avLst/>
          </a:prstGeom>
          <a:noFill/>
          <a:ln/>
        </p:spPr>
        <p:txBody>
          <a:bodyPr wrap="square" rtlCol="0"/>
          <a:lstStyle>
            <a:lvl1pPr algn="l" indent="0" marL="0">
              <a:buNone/>
              <a:defRPr lang="en-US" sz="2400" b="1" dirty="0">
                <a:solidFill>
                  <a:srgbClr val="000000"/>
                </a:solidFill>
                <a:latin typeface="Arial" pitchFamily="34" charset="0"/>
                <a:ea typeface="Arial" pitchFamily="34" charset="-122"/>
                <a:cs typeface="Arial" pitchFamily="34" charset="-120"/>
              </a:defRPr>
            </a:lvl1pPr>
          </a:lstStyle>
          <a:p>
            <a:pPr algn="l" indent="0" marL="0">
              <a:buNone/>
            </a:pPr>
            <a:r>
              <a:rPr lang="en-US" sz="2400" b="1" dirty="0">
                <a:solidFill>
                  <a:srgbClr val="000000"/>
                </a:solidFill>
                <a:latin typeface="Arial" pitchFamily="34" charset="0"/>
                <a:ea typeface="Arial" pitchFamily="34" charset="-122"/>
                <a:cs typeface="Arial" pitchFamily="34" charset="-120"/>
              </a:rPr>
              <a:t>Title</a:t>
            </a:r>
            <a:endParaRPr lang="en-US" sz="240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846320"/>
            <a:ext cx="9144000" cy="297180"/>
          </a:xfrm>
          <a:prstGeom prst="rect">
            <a:avLst/>
          </a:prstGeom>
          <a:solidFill>
            <a:srgbClr val="000000"/>
          </a:solidFill>
          <a:ln w="12700">
            <a:solidFill>
              <a:srgbClr val="000000"/>
            </a:solidFill>
            <a:prstDash val="solid"/>
          </a:ln>
        </p:spPr>
      </p:sp>
      <p:sp>
        <p:nvSpPr>
          <p:cNvPr id="3" name="Text 1"/>
          <p:cNvSpPr/>
          <p:nvPr/>
        </p:nvSpPr>
        <p:spPr>
          <a:xfrm>
            <a:off x="365760" y="4846320"/>
            <a:ext cx="2743200" cy="297180"/>
          </a:xfrm>
          <a:prstGeom prst="rect">
            <a:avLst/>
          </a:prstGeom>
          <a:noFill/>
          <a:ln/>
        </p:spPr>
        <p:txBody>
          <a:bodyPr wrap="square" lIns="0" tIns="0" rIns="0" bIns="0" rtlCol="0" anchor="ctr"/>
          <a:lstStyle/>
          <a:p>
            <a:pPr indent="0" marL="0">
              <a:buNone/>
            </a:pPr>
            <a:r>
              <a:rPr lang="en-US" sz="800" spc="600" kern="0" dirty="0">
                <a:solidFill>
                  <a:srgbClr val="FFFFFF"/>
                </a:solidFill>
                <a:latin typeface="Arial" pitchFamily="34" charset="0"/>
                <a:ea typeface="Arial" pitchFamily="34" charset="-122"/>
                <a:cs typeface="Arial" pitchFamily="34" charset="-120"/>
              </a:rPr>
              <a:t>ROOMCLEANER</a:t>
            </a:r>
            <a:endParaRPr lang="en-US" sz="80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jp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k title"/>
          <p:cNvSpPr txBox="1"/>
          <p:nvPr/>
        </p:nvSpPr>
        <p:spPr>
          <a:xfrm>
            <a:off x="365760" y="1554480"/>
            <a:ext cx="5486400" cy="822960"/>
          </a:xfrm>
          <a:prstGeom prst="rect">
            <a:avLst/>
          </a:prstGeom>
          <a:noFill/>
          <a:ln/>
        </p:spPr>
        <p:txBody>
          <a:bodyPr wrap="square" lIns="0" tIns="0" rIns="0" bIns="0" rtlCol="0" anchor="ctr"/>
          <a:lstStyle/>
          <a:p>
            <a:pPr indent="0" marL="0">
              <a:buNone/>
            </a:pPr>
            <a:r>
              <a:rPr lang="en-US" sz="4000" b="1" dirty="0">
                <a:solidFill>
                  <a:schemeClr val="tx1"/>
                </a:solidFill>
              </a:rPr>
              <a:t>RoomCleaner</a:t>
            </a:r>
            <a:endParaRPr lang="en-US" sz="4000" dirty="0"/>
          </a:p>
        </p:txBody>
      </p:sp>
      <p:sp>
        <p:nvSpPr>
          <p:cNvPr id="3" name="subtitle"/>
          <p:cNvSpPr txBox="1"/>
          <p:nvPr/>
        </p:nvSpPr>
        <p:spPr>
          <a:xfrm>
            <a:off x="365760" y="2377440"/>
            <a:ext cx="5486400" cy="457200"/>
          </a:xfrm>
          <a:prstGeom prst="rect">
            <a:avLst/>
          </a:prstGeom>
          <a:noFill/>
          <a:ln/>
        </p:spPr>
        <p:txBody>
          <a:bodyPr wrap="square" lIns="0" tIns="0" rIns="0" bIns="0" rtlCol="0" anchor="ctr"/>
          <a:lstStyle/>
          <a:p>
            <a:pPr indent="0" marL="0">
              <a:buNone/>
            </a:pPr>
            <a:r>
              <a:rPr lang="en-US" sz="1600" dirty="0">
                <a:solidFill>
                  <a:schemeClr val="tx2"/>
                </a:solidFill>
              </a:rPr>
              <a:t>A four-cable ceiling robot that picks laundry off the floor</a:t>
            </a:r>
            <a:endParaRPr lang="en-US" sz="1600" dirty="0"/>
          </a:p>
        </p:txBody>
      </p:sp>
      <p:sp>
        <p:nvSpPr>
          <p:cNvPr id="4" name="byline"/>
          <p:cNvSpPr txBox="1"/>
          <p:nvPr/>
        </p:nvSpPr>
        <p:spPr>
          <a:xfrm>
            <a:off x="365760" y="3108960"/>
            <a:ext cx="5486400" cy="365760"/>
          </a:xfrm>
          <a:prstGeom prst="rect">
            <a:avLst/>
          </a:prstGeom>
          <a:noFill/>
          <a:ln/>
        </p:spPr>
        <p:txBody>
          <a:bodyPr wrap="square" lIns="0" tIns="0" rIns="0" bIns="0" rtlCol="0" anchor="ctr"/>
          <a:lstStyle/>
          <a:p>
            <a:pPr indent="0" marL="0">
              <a:buNone/>
            </a:pPr>
            <a:r>
              <a:rPr lang="en-US" sz="1300" dirty="0">
                <a:solidFill>
                  <a:schemeClr val="tx1"/>
                </a:solidFill>
              </a:rPr>
              <a:t>Jasper Buntinx  |  Mechanical Engineering  |  Texas A&amp;M</a:t>
            </a:r>
            <a:endParaRPr lang="en-US" sz="1300" dirty="0"/>
          </a:p>
        </p:txBody>
      </p:sp>
      <p:sp>
        <p:nvSpPr>
          <p:cNvPr id="5" name="date"/>
          <p:cNvSpPr txBox="1"/>
          <p:nvPr/>
        </p:nvSpPr>
        <p:spPr>
          <a:xfrm>
            <a:off x="365760" y="3474720"/>
            <a:ext cx="5486400" cy="274320"/>
          </a:xfrm>
          <a:prstGeom prst="rect">
            <a:avLst/>
          </a:prstGeom>
          <a:noFill/>
          <a:ln/>
        </p:spPr>
        <p:txBody>
          <a:bodyPr wrap="square" lIns="0" tIns="0" rIns="0" bIns="0" rtlCol="0" anchor="ctr"/>
          <a:lstStyle/>
          <a:p>
            <a:pPr indent="0" marL="0">
              <a:buNone/>
            </a:pPr>
            <a:r>
              <a:rPr lang="en-US" sz="1100" dirty="0">
                <a:solidFill>
                  <a:schemeClr val="tx2"/>
                </a:solidFill>
              </a:rPr>
              <a:t>October 27, 2026</a:t>
            </a:r>
            <a:endParaRPr lang="en-US" sz="1100" dirty="0"/>
          </a:p>
        </p:txBody>
      </p:sp>
      <p:pic>
        <p:nvPicPr>
          <p:cNvPr id="6" name="The claw hanging from three cables in th" descr="The claw hanging from three cables in the room corner (Oct 27)">    </p:cNvPr>
          <p:cNvPicPr>
            <a:picLocks noChangeAspect="1"/>
          </p:cNvPicPr>
          <p:nvPr/>
        </p:nvPicPr>
        <p:blipFill>
          <a:blip r:embed="rId1"/>
          <a:stretch>
            <a:fillRect/>
          </a:stretch>
        </p:blipFill>
        <p:spPr>
          <a:xfrm>
            <a:off x="6035040" y="0"/>
            <a:ext cx="3108960" cy="4846320"/>
          </a:xfrm>
          <a:prstGeom prst="rect">
            <a:avLst/>
          </a:prstGeom>
        </p:spPr>
      </p:pic>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About me</a:t>
            </a:r>
            <a:endParaRPr lang="en-US" sz="2400" dirty="0"/>
          </a:p>
        </p:txBody>
      </p:sp>
      <p:pic>
        <p:nvPicPr>
          <p:cNvPr id="4" name="about_outdoors.png" descr="Outdoors and endurance">    </p:cNvPr>
          <p:cNvPicPr>
            <a:picLocks noChangeAspect="1"/>
          </p:cNvPicPr>
          <p:nvPr/>
        </p:nvPicPr>
        <p:blipFill>
          <a:blip r:embed="rId1"/>
          <a:stretch>
            <a:fillRect/>
          </a:stretch>
        </p:blipFill>
        <p:spPr>
          <a:xfrm>
            <a:off x="3246120" y="868680"/>
            <a:ext cx="1518866" cy="2983121"/>
          </a:xfrm>
          <a:prstGeom prst="rect">
            <a:avLst/>
          </a:prstGeom>
        </p:spPr>
      </p:pic>
      <p:sp>
        <p:nvSpPr>
          <p:cNvPr id="5" name="caption"/>
          <p:cNvSpPr txBox="1"/>
          <p:nvPr/>
        </p:nvSpPr>
        <p:spPr>
          <a:xfrm>
            <a:off x="3246120" y="3888377"/>
            <a:ext cx="1518866" cy="201168"/>
          </a:xfrm>
          <a:prstGeom prst="rect">
            <a:avLst/>
          </a:prstGeom>
          <a:noFill/>
          <a:ln/>
        </p:spPr>
        <p:txBody>
          <a:bodyPr wrap="square" lIns="0" tIns="0" rIns="0" bIns="0" rtlCol="0" anchor="ctr"/>
          <a:lstStyle/>
          <a:p>
            <a:pPr algn="l" indent="0" marL="0">
              <a:buNone/>
            </a:pPr>
            <a:r>
              <a:rPr lang="en-US" sz="850" dirty="0">
                <a:solidFill>
                  <a:schemeClr val="tx2"/>
                </a:solidFill>
              </a:rPr>
              <a:t>Outdoors and endurance</a:t>
            </a:r>
            <a:endParaRPr lang="en-US" sz="850" dirty="0"/>
          </a:p>
        </p:txBody>
      </p:sp>
      <p:pic>
        <p:nvPicPr>
          <p:cNvPr id="6" name="about_engineering.png" descr="Engineering">    </p:cNvPr>
          <p:cNvPicPr>
            <a:picLocks noChangeAspect="1"/>
          </p:cNvPicPr>
          <p:nvPr/>
        </p:nvPicPr>
        <p:blipFill>
          <a:blip r:embed="rId2"/>
          <a:stretch>
            <a:fillRect/>
          </a:stretch>
        </p:blipFill>
        <p:spPr>
          <a:xfrm>
            <a:off x="4874714" y="868680"/>
            <a:ext cx="1886246" cy="2983121"/>
          </a:xfrm>
          <a:prstGeom prst="rect">
            <a:avLst/>
          </a:prstGeom>
        </p:spPr>
      </p:pic>
      <p:sp>
        <p:nvSpPr>
          <p:cNvPr id="7" name="caption"/>
          <p:cNvSpPr txBox="1"/>
          <p:nvPr/>
        </p:nvSpPr>
        <p:spPr>
          <a:xfrm>
            <a:off x="4874714" y="3888377"/>
            <a:ext cx="1886246" cy="201168"/>
          </a:xfrm>
          <a:prstGeom prst="rect">
            <a:avLst/>
          </a:prstGeom>
          <a:noFill/>
          <a:ln/>
        </p:spPr>
        <p:txBody>
          <a:bodyPr wrap="square" lIns="0" tIns="0" rIns="0" bIns="0" rtlCol="0" anchor="ctr"/>
          <a:lstStyle/>
          <a:p>
            <a:pPr algn="l" indent="0" marL="0">
              <a:buNone/>
            </a:pPr>
            <a:r>
              <a:rPr lang="en-US" sz="850" dirty="0">
                <a:solidFill>
                  <a:schemeClr val="tx2"/>
                </a:solidFill>
              </a:rPr>
              <a:t>Engineering</a:t>
            </a:r>
            <a:endParaRPr lang="en-US" sz="850" dirty="0"/>
          </a:p>
        </p:txBody>
      </p:sp>
      <p:pic>
        <p:nvPicPr>
          <p:cNvPr id="8" name="about_community.png" descr="Community">    </p:cNvPr>
          <p:cNvPicPr>
            <a:picLocks noChangeAspect="1"/>
          </p:cNvPicPr>
          <p:nvPr/>
        </p:nvPicPr>
        <p:blipFill>
          <a:blip r:embed="rId3"/>
          <a:stretch>
            <a:fillRect/>
          </a:stretch>
        </p:blipFill>
        <p:spPr>
          <a:xfrm>
            <a:off x="6870688" y="868680"/>
            <a:ext cx="1907552" cy="2983121"/>
          </a:xfrm>
          <a:prstGeom prst="rect">
            <a:avLst/>
          </a:prstGeom>
        </p:spPr>
      </p:pic>
      <p:sp>
        <p:nvSpPr>
          <p:cNvPr id="9" name="caption"/>
          <p:cNvSpPr txBox="1"/>
          <p:nvPr/>
        </p:nvSpPr>
        <p:spPr>
          <a:xfrm>
            <a:off x="6870688" y="3888377"/>
            <a:ext cx="1907552" cy="201168"/>
          </a:xfrm>
          <a:prstGeom prst="rect">
            <a:avLst/>
          </a:prstGeom>
          <a:noFill/>
          <a:ln/>
        </p:spPr>
        <p:txBody>
          <a:bodyPr wrap="square" lIns="0" tIns="0" rIns="0" bIns="0" rtlCol="0" anchor="ctr"/>
          <a:lstStyle/>
          <a:p>
            <a:pPr algn="l" indent="0" marL="0">
              <a:buNone/>
            </a:pPr>
            <a:r>
              <a:rPr lang="en-US" sz="850" dirty="0">
                <a:solidFill>
                  <a:schemeClr val="tx2"/>
                </a:solidFill>
              </a:rPr>
              <a:t>Community</a:t>
            </a:r>
            <a:endParaRPr lang="en-US" sz="850" dirty="0"/>
          </a:p>
        </p:txBody>
      </p:sp>
      <p:sp>
        <p:nvSpPr>
          <p:cNvPr id="10" name="card Education: Texas A&amp;M"/>
          <p:cNvSpPr/>
          <p:nvPr/>
        </p:nvSpPr>
        <p:spPr>
          <a:xfrm>
            <a:off x="365760" y="868680"/>
            <a:ext cx="2651760" cy="713232"/>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Education: Texas A&amp;M</a:t>
            </a:r>
            <a:endParaRPr lang="en-US" sz="1250" dirty="0"/>
          </a:p>
          <a:p>
            <a:pPr algn="l" marL="152400" indent="-152400">
              <a:spcAft>
                <a:spcPts val="400"/>
              </a:spcAft>
              <a:buSzPct val="100000"/>
              <a:buChar char="•"/>
            </a:pPr>
            <a:r>
              <a:rPr lang="en-US" sz="1050" dirty="0">
                <a:solidFill>
                  <a:srgbClr val="000000"/>
                </a:solidFill>
              </a:rPr>
              <a:t>Bachelor's, Mechanical Engineering, August 2027</a:t>
            </a:r>
            <a:endParaRPr lang="en-US" sz="1250" dirty="0"/>
          </a:p>
        </p:txBody>
      </p:sp>
      <p:sp>
        <p:nvSpPr>
          <p:cNvPr id="11" name="card Experience"/>
          <p:cNvSpPr/>
          <p:nvPr/>
        </p:nvSpPr>
        <p:spPr>
          <a:xfrm>
            <a:off x="365760" y="1673352"/>
            <a:ext cx="2651760" cy="137160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Experience</a:t>
            </a:r>
            <a:endParaRPr lang="en-US" sz="1250" dirty="0"/>
          </a:p>
          <a:p>
            <a:pPr algn="l" marL="152400" indent="-152400">
              <a:spcAft>
                <a:spcPts val="400"/>
              </a:spcAft>
              <a:buSzPct val="100000"/>
              <a:buChar char="•"/>
            </a:pPr>
            <a:r>
              <a:rPr lang="en-US" sz="1050" dirty="0">
                <a:solidFill>
                  <a:srgbClr val="000000"/>
                </a:solidFill>
              </a:rPr>
              <a:t>ITP Lab, undergraduate research</a:t>
            </a:r>
            <a:endParaRPr lang="en-US" sz="1250" dirty="0"/>
          </a:p>
          <a:p>
            <a:pPr algn="l" marL="152400" indent="-152400">
              <a:spcAft>
                <a:spcPts val="400"/>
              </a:spcAft>
              <a:buSzPct val="100000"/>
              <a:buChar char="•"/>
            </a:pPr>
            <a:r>
              <a:rPr lang="en-US" sz="1050" dirty="0">
                <a:solidFill>
                  <a:srgbClr val="000000"/>
                </a:solidFill>
              </a:rPr>
              <a:t>Rochester Sensors, mechanical intern</a:t>
            </a:r>
            <a:endParaRPr lang="en-US" sz="1250" dirty="0"/>
          </a:p>
          <a:p>
            <a:pPr algn="l" marL="152400" indent="-152400">
              <a:spcAft>
                <a:spcPts val="400"/>
              </a:spcAft>
              <a:buSzPct val="100000"/>
              <a:buChar char="•"/>
            </a:pPr>
            <a:r>
              <a:rPr lang="en-US" sz="1050" dirty="0">
                <a:solidFill>
                  <a:srgbClr val="000000"/>
                </a:solidFill>
              </a:rPr>
              <a:t>Petrobras, mechanical intern</a:t>
            </a:r>
            <a:endParaRPr lang="en-US" sz="1250" dirty="0"/>
          </a:p>
          <a:p>
            <a:pPr algn="l" marL="152400" indent="-152400">
              <a:spcAft>
                <a:spcPts val="400"/>
              </a:spcAft>
              <a:buSzPct val="100000"/>
              <a:buChar char="•"/>
            </a:pPr>
            <a:r>
              <a:rPr lang="en-US" sz="1050" dirty="0">
                <a:solidFill>
                  <a:srgbClr val="000000"/>
                </a:solidFill>
              </a:rPr>
              <a:t>Aggies Create, EcoFil electrical lead</a:t>
            </a:r>
            <a:endParaRPr lang="en-US" sz="1250" dirty="0"/>
          </a:p>
        </p:txBody>
      </p:sp>
      <p:sp>
        <p:nvSpPr>
          <p:cNvPr id="12" name="card Hobbies"/>
          <p:cNvSpPr/>
          <p:nvPr/>
        </p:nvSpPr>
        <p:spPr>
          <a:xfrm>
            <a:off x="365760" y="3136392"/>
            <a:ext cx="2651760" cy="1481328"/>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Hobbies</a:t>
            </a:r>
            <a:endParaRPr lang="en-US" sz="1250" dirty="0"/>
          </a:p>
          <a:p>
            <a:pPr algn="l" marL="152400" indent="-152400">
              <a:spcAft>
                <a:spcPts val="400"/>
              </a:spcAft>
              <a:buSzPct val="100000"/>
              <a:buChar char="•"/>
            </a:pPr>
            <a:r>
              <a:rPr lang="en-US" sz="1050" dirty="0">
                <a:solidFill>
                  <a:srgbClr val="000000"/>
                </a:solidFill>
              </a:rPr>
              <a:t>Personal projects</a:t>
            </a:r>
            <a:endParaRPr lang="en-US" sz="1250" dirty="0"/>
          </a:p>
          <a:p>
            <a:pPr algn="l" marL="152400" indent="-152400">
              <a:spcAft>
                <a:spcPts val="400"/>
              </a:spcAft>
              <a:buSzPct val="100000"/>
              <a:buChar char="•"/>
            </a:pPr>
            <a:r>
              <a:rPr lang="en-US" sz="1050" dirty="0">
                <a:solidFill>
                  <a:srgbClr val="000000"/>
                </a:solidFill>
              </a:rPr>
              <a:t>Soccer</a:t>
            </a:r>
            <a:endParaRPr lang="en-US" sz="1250" dirty="0"/>
          </a:p>
          <a:p>
            <a:pPr algn="l" marL="152400" indent="-152400">
              <a:spcAft>
                <a:spcPts val="400"/>
              </a:spcAft>
              <a:buSzPct val="100000"/>
              <a:buChar char="•"/>
            </a:pPr>
            <a:r>
              <a:rPr lang="en-US" sz="1050" dirty="0">
                <a:solidFill>
                  <a:srgbClr val="000000"/>
                </a:solidFill>
              </a:rPr>
              <a:t>Running</a:t>
            </a:r>
            <a:endParaRPr lang="en-US" sz="1250" dirty="0"/>
          </a:p>
          <a:p>
            <a:pPr algn="l" marL="152400" indent="-152400">
              <a:spcAft>
                <a:spcPts val="400"/>
              </a:spcAft>
              <a:buSzPct val="100000"/>
              <a:buChar char="•"/>
            </a:pPr>
            <a:r>
              <a:rPr lang="en-US" sz="1050" dirty="0">
                <a:solidFill>
                  <a:srgbClr val="000000"/>
                </a:solidFill>
              </a:rPr>
              <a:t>Bouldering</a:t>
            </a:r>
            <a:endParaRPr lang="en-US" sz="1250" dirty="0"/>
          </a:p>
          <a:p>
            <a:pPr algn="l" marL="152400" indent="-152400">
              <a:spcAft>
                <a:spcPts val="400"/>
              </a:spcAft>
              <a:buSzPct val="100000"/>
              <a:buChar char="•"/>
            </a:pPr>
            <a:r>
              <a:rPr lang="en-US" sz="1050" dirty="0">
                <a:solidFill>
                  <a:srgbClr val="000000"/>
                </a:solidFill>
              </a:rPr>
              <a:t>And man, do I love hiking.</a:t>
            </a:r>
            <a:endParaRPr lang="en-US" sz="12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Project scope</a:t>
            </a:r>
            <a:endParaRPr lang="en-US" sz="2400" dirty="0"/>
          </a:p>
        </p:txBody>
      </p:sp>
      <p:sp>
        <p:nvSpPr>
          <p:cNvPr id="4" name="card The problem"/>
          <p:cNvSpPr/>
          <p:nvPr/>
        </p:nvSpPr>
        <p:spPr>
          <a:xfrm>
            <a:off x="365760" y="868680"/>
            <a:ext cx="198120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The problem</a:t>
            </a:r>
            <a:endParaRPr lang="en-US" sz="1250" dirty="0"/>
          </a:p>
          <a:p>
            <a:pPr algn="l" marL="152400" indent="-152400">
              <a:spcAft>
                <a:spcPts val="400"/>
              </a:spcAft>
              <a:buSzPct val="100000"/>
              <a:buChar char="•"/>
            </a:pPr>
            <a:r>
              <a:rPr lang="en-US" sz="1100" dirty="0">
                <a:solidFill>
                  <a:srgbClr val="000000"/>
                </a:solidFill>
              </a:rPr>
              <a:t>Laundry on the floor of a 3.35 x 2.74 m room (as reported)</a:t>
            </a:r>
            <a:endParaRPr lang="en-US" sz="1250" dirty="0"/>
          </a:p>
          <a:p>
            <a:pPr algn="l" marL="152400" indent="-152400">
              <a:spcAft>
                <a:spcPts val="400"/>
              </a:spcAft>
              <a:buSzPct val="100000"/>
              <a:buChar char="•"/>
            </a:pPr>
            <a:r>
              <a:rPr lang="en-US" sz="1100" dirty="0">
                <a:solidFill>
                  <a:srgbClr val="000000"/>
                </a:solidFill>
              </a:rPr>
              <a:t>Ceiling 2.74 m; four studs near the ceiling corners</a:t>
            </a:r>
            <a:endParaRPr lang="en-US" sz="1250" dirty="0"/>
          </a:p>
          <a:p>
            <a:pPr algn="l" marL="152400" indent="-152400">
              <a:spcAft>
                <a:spcPts val="400"/>
              </a:spcAft>
              <a:buSzPct val="100000"/>
              <a:buChar char="•"/>
            </a:pPr>
            <a:r>
              <a:rPr lang="en-US" sz="1100" dirty="0">
                <a:solidFill>
                  <a:srgbClr val="000000"/>
                </a:solidFill>
              </a:rPr>
              <a:t>Design load: a pair of jeans, 0.9 kg (screening value)</a:t>
            </a:r>
            <a:endParaRPr lang="en-US" sz="1250" dirty="0"/>
          </a:p>
          <a:p>
            <a:pPr algn="l" marL="152400" indent="-152400">
              <a:spcAft>
                <a:spcPts val="400"/>
              </a:spcAft>
              <a:buSzPct val="100000"/>
              <a:buChar char="•"/>
            </a:pPr>
            <a:r>
              <a:rPr lang="en-US" sz="1100" dirty="0">
                <a:solidFill>
                  <a:srgbClr val="000000"/>
                </a:solidFill>
              </a:rPr>
              <a:t>Plus 2 m/s² for stops and snags (assumed)</a:t>
            </a:r>
            <a:endParaRPr lang="en-US" sz="1250" dirty="0"/>
          </a:p>
        </p:txBody>
      </p:sp>
      <p:sp>
        <p:nvSpPr>
          <p:cNvPr id="5" name="card The solution"/>
          <p:cNvSpPr/>
          <p:nvPr/>
        </p:nvSpPr>
        <p:spPr>
          <a:xfrm>
            <a:off x="2529840" y="868680"/>
            <a:ext cx="198120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The solution</a:t>
            </a:r>
            <a:endParaRPr lang="en-US" sz="1250" dirty="0"/>
          </a:p>
          <a:p>
            <a:pPr algn="l" marL="152400" indent="-152400">
              <a:spcAft>
                <a:spcPts val="400"/>
              </a:spcAft>
              <a:buSzPct val="100000"/>
              <a:buChar char="•"/>
            </a:pPr>
            <a:r>
              <a:rPr lang="en-US" sz="1100" dirty="0">
                <a:solidFill>
                  <a:srgbClr val="000000"/>
                </a:solidFill>
              </a:rPr>
              <a:t>Four ceiling winches, one claw on four cables</a:t>
            </a:r>
            <a:endParaRPr lang="en-US" sz="1250" dirty="0"/>
          </a:p>
          <a:p>
            <a:pPr algn="l" marL="152400" indent="-152400">
              <a:spcAft>
                <a:spcPts val="400"/>
              </a:spcAft>
              <a:buSzPct val="100000"/>
              <a:buChar char="•"/>
            </a:pPr>
            <a:r>
              <a:rPr lang="en-US" sz="1100" dirty="0">
                <a:solidFill>
                  <a:srgbClr val="000000"/>
                </a:solidFill>
              </a:rPr>
              <a:t>Nothing on the floor; the room is the frame</a:t>
            </a:r>
            <a:endParaRPr lang="en-US" sz="1250" dirty="0"/>
          </a:p>
          <a:p>
            <a:pPr algn="l" marL="152400" indent="-152400">
              <a:spcAft>
                <a:spcPts val="400"/>
              </a:spcAft>
              <a:buSzPct val="100000"/>
              <a:buChar char="•"/>
            </a:pPr>
            <a:r>
              <a:rPr lang="en-US" sz="1100" dirty="0">
                <a:solidFill>
                  <a:srgbClr val="000000"/>
                </a:solidFill>
              </a:rPr>
              <a:t>A camera on the claw finds the laundry</a:t>
            </a:r>
            <a:endParaRPr lang="en-US" sz="1250" dirty="0"/>
          </a:p>
          <a:p>
            <a:pPr algn="l" marL="152400" indent="-152400">
              <a:spcAft>
                <a:spcPts val="400"/>
              </a:spcAft>
              <a:buSzPct val="100000"/>
              <a:buChar char="•"/>
            </a:pPr>
            <a:r>
              <a:rPr lang="en-US" sz="1100" dirty="0">
                <a:solidFill>
                  <a:srgbClr val="000000"/>
                </a:solidFill>
              </a:rPr>
              <a:t>Floor to hamper with no human touch</a:t>
            </a:r>
            <a:endParaRPr lang="en-US" sz="1250" dirty="0"/>
          </a:p>
        </p:txBody>
      </p:sp>
      <p:sp>
        <p:nvSpPr>
          <p:cNvPr id="6" name="card How we do it"/>
          <p:cNvSpPr/>
          <p:nvPr/>
        </p:nvSpPr>
        <p:spPr>
          <a:xfrm>
            <a:off x="4693920" y="868680"/>
            <a:ext cx="198120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How we do it</a:t>
            </a:r>
            <a:endParaRPr lang="en-US" sz="1250" dirty="0"/>
          </a:p>
          <a:p>
            <a:pPr algn="l" marL="152400" indent="-152400">
              <a:spcAft>
                <a:spcPts val="400"/>
              </a:spcAft>
              <a:buSzPct val="100000"/>
              <a:buChar char="•"/>
            </a:pPr>
            <a:r>
              <a:rPr lang="en-US" sz="1100" dirty="0">
                <a:solidFill>
                  <a:srgbClr val="000000"/>
                </a:solidFill>
              </a:rPr>
              <a:t>I approve each move on the phone</a:t>
            </a:r>
            <a:endParaRPr lang="en-US" sz="1250" dirty="0"/>
          </a:p>
          <a:p>
            <a:pPr algn="l" marL="152400" indent="-152400">
              <a:spcAft>
                <a:spcPts val="400"/>
              </a:spcAft>
              <a:buSzPct val="100000"/>
              <a:buChar char="•"/>
            </a:pPr>
            <a:r>
              <a:rPr lang="en-US" sz="1100" dirty="0">
                <a:solidFill>
                  <a:srgbClr val="000000"/>
                </a:solidFill>
              </a:rPr>
              <a:t>PAUSE holds position with torque on</a:t>
            </a:r>
            <a:endParaRPr lang="en-US" sz="1250" dirty="0"/>
          </a:p>
          <a:p>
            <a:pPr algn="l" marL="152400" indent="-152400">
              <a:spcAft>
                <a:spcPts val="400"/>
              </a:spcAft>
              <a:buSzPct val="100000"/>
              <a:buChar char="•"/>
            </a:pPr>
            <a:r>
              <a:rPr lang="en-US" sz="1100" dirty="0">
                <a:solidFill>
                  <a:srgbClr val="000000"/>
                </a:solidFill>
              </a:rPr>
              <a:t>The switched power strip is the emergency stop; it drops the claw</a:t>
            </a:r>
            <a:endParaRPr lang="en-US" sz="1250" dirty="0"/>
          </a:p>
          <a:p>
            <a:pPr algn="l" marL="152400" indent="-152400">
              <a:spcAft>
                <a:spcPts val="400"/>
              </a:spcAft>
              <a:buSzPct val="100000"/>
              <a:buChar char="•"/>
            </a:pPr>
            <a:r>
              <a:rPr lang="en-US" sz="1100" dirty="0">
                <a:solidFill>
                  <a:srgbClr val="000000"/>
                </a:solidFill>
              </a:rPr>
              <a:t>First gate: a 1 lb test weight, then jeans</a:t>
            </a:r>
            <a:endParaRPr lang="en-US" sz="1250" dirty="0"/>
          </a:p>
          <a:p>
            <a:pPr algn="l" marL="152400" indent="-152400">
              <a:spcAft>
                <a:spcPts val="400"/>
              </a:spcAft>
              <a:buSzPct val="100000"/>
              <a:buChar char="•"/>
            </a:pPr>
            <a:r>
              <a:rPr lang="en-US" sz="1100" dirty="0">
                <a:solidFill>
                  <a:srgbClr val="000000"/>
                </a:solidFill>
              </a:rPr>
              <a:t>Parts in the robot: about $211 for three stations, plus $38 filament (partly estimated)</a:t>
            </a:r>
            <a:endParaRPr lang="en-US" sz="1250" dirty="0"/>
          </a:p>
        </p:txBody>
      </p:sp>
      <p:pic>
        <p:nvPicPr>
          <p:cNvPr id="7" name="The claw hanging in the room corner" descr="The claw hanging in the room corner">    </p:cNvPr>
          <p:cNvPicPr>
            <a:picLocks noChangeAspect="1"/>
          </p:cNvPicPr>
          <p:nvPr/>
        </p:nvPicPr>
        <p:blipFill>
          <a:blip r:embed="rId1"/>
          <a:stretch>
            <a:fillRect/>
          </a:stretch>
        </p:blipFill>
        <p:spPr>
          <a:xfrm>
            <a:off x="6858000" y="868680"/>
            <a:ext cx="1920240" cy="3511296"/>
          </a:xfrm>
          <a:prstGeom prst="rect">
            <a:avLst/>
          </a:prstGeom>
        </p:spPr>
      </p:pic>
      <p:sp>
        <p:nvSpPr>
          <p:cNvPr id="8" name="caption"/>
          <p:cNvSpPr txBox="1"/>
          <p:nvPr/>
        </p:nvSpPr>
        <p:spPr>
          <a:xfrm>
            <a:off x="6858000" y="4416552"/>
            <a:ext cx="1920240" cy="201168"/>
          </a:xfrm>
          <a:prstGeom prst="rect">
            <a:avLst/>
          </a:prstGeom>
          <a:noFill/>
          <a:ln/>
        </p:spPr>
        <p:txBody>
          <a:bodyPr wrap="square" lIns="0" tIns="0" rIns="0" bIns="0" rtlCol="0" anchor="ctr"/>
          <a:lstStyle/>
          <a:p>
            <a:pPr algn="l" indent="0" marL="0">
              <a:buNone/>
            </a:pPr>
            <a:r>
              <a:rPr lang="en-US" sz="850" dirty="0">
                <a:solidFill>
                  <a:schemeClr val="tx2"/>
                </a:solidFill>
              </a:rPr>
              <a:t>The claw hanging in the room corner (Oct 27)</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365760" y="256032"/>
            <a:ext cx="8412480" cy="502920"/>
          </a:xfrm>
          <a:prstGeom prst="rect">
            <a:avLst/>
          </a:prstGeom>
          <a:noFill/>
          <a:ln/>
        </p:spPr>
        <p:txBody>
          <a:bodyPr wrap="square" lIns="0" tIns="0" rIns="0" bIns="0" rtlCol="0" anchor="ctr"/>
          <a:lstStyle/>
          <a:p>
            <a:pPr algn="l" indent="0" marL="0">
              <a:buNone/>
            </a:pPr>
            <a:r>
              <a:rPr lang="en-US" sz="2000" b="1" dirty="0">
                <a:solidFill>
                  <a:schemeClr val="tx1"/>
                </a:solidFill>
              </a:rPr>
              <a:t>How cable length becomes position, and torque becomes pull</a:t>
            </a:r>
            <a:endParaRPr lang="en-US" sz="2000" dirty="0"/>
          </a:p>
        </p:txBody>
      </p:sp>
      <p:sp>
        <p:nvSpPr>
          <p:cNvPr id="4" name="card Cable length → position"/>
          <p:cNvSpPr/>
          <p:nvPr/>
        </p:nvSpPr>
        <p:spPr>
          <a:xfrm>
            <a:off x="365760" y="868680"/>
            <a:ext cx="268224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9514"/>
              </a:spcAft>
              <a:buNone/>
            </a:pPr>
            <a:r>
              <a:rPr lang="en-US" sz="1200" b="1" dirty="0">
                <a:solidFill>
                  <a:srgbClr val="000000"/>
                </a:solidFill>
              </a:rPr>
              <a:t>Cable length → position</a:t>
            </a:r>
            <a:endParaRPr lang="en-US" sz="1200" dirty="0"/>
          </a:p>
          <a:p>
            <a:pPr algn="l" marL="152400" indent="-152400">
              <a:spcAft>
                <a:spcPts val="400"/>
              </a:spcAft>
              <a:buSzPct val="100000"/>
              <a:buChar char="•"/>
            </a:pPr>
            <a:r>
              <a:rPr lang="en-US" sz="1000" dirty="0">
                <a:solidFill>
                  <a:srgbClr val="000000"/>
                </a:solidFill>
              </a:rPr>
              <a:t>Line per spool turn = 2π·r: 2π·7.5 mm = 47.1 mm (empty) → 2π·10 mm = 62.8 mm (full) (calculated)</a:t>
            </a:r>
            <a:endParaRPr lang="en-US" sz="1200" dirty="0"/>
          </a:p>
          <a:p>
            <a:pPr algn="l" marL="152400" indent="-152400">
              <a:spcAft>
                <a:spcPts val="400"/>
              </a:spcAft>
              <a:buSzPct val="100000"/>
              <a:buChar char="•"/>
            </a:pPr>
            <a:r>
              <a:rPr lang="en-US" sz="1000" dirty="0">
                <a:solidFill>
                  <a:srgbClr val="000000"/>
                </a:solidFill>
              </a:rPr>
              <a:t>Four cable lengths, three position unknowns: overdetermined, solved by least squares</a:t>
            </a:r>
            <a:endParaRPr lang="en-US" sz="1200" dirty="0"/>
          </a:p>
          <a:p>
            <a:pPr algn="l" marL="152400" indent="-152400">
              <a:spcAft>
                <a:spcPts val="400"/>
              </a:spcAft>
              <a:buSzPct val="100000"/>
              <a:buChar char="•"/>
            </a:pPr>
            <a:r>
              <a:rPr lang="en-US" sz="1000" dirty="0">
                <a:solidFill>
                  <a:srgbClr val="000000"/>
                </a:solidFill>
              </a:rPr>
              <a:t>The camera on the floor board fixes the anchors and cable lengths at startup (calibration)</a:t>
            </a:r>
            <a:endParaRPr lang="en-US" sz="1200" dirty="0"/>
          </a:p>
          <a:p>
            <a:pPr algn="l" marL="152400" indent="-152400">
              <a:spcAft>
                <a:spcPts val="400"/>
              </a:spcAft>
              <a:buSzPct val="100000"/>
              <a:buChar char="•"/>
            </a:pPr>
            <a:r>
              <a:rPr lang="en-US" sz="1000" dirty="0">
                <a:solidFill>
                  <a:srgbClr val="000000"/>
                </a:solidFill>
              </a:rPr>
              <a:t>Validated in the simulator and by held-out poses during calibration (simulated); no physical position measurement yet</a:t>
            </a:r>
            <a:endParaRPr lang="en-US" sz="1200" dirty="0"/>
          </a:p>
        </p:txBody>
      </p:sp>
      <p:pic>
        <p:nvPicPr>
          <p:cNvPr id="5" name="Cable vectors from the anchors to the cl" descr="Cable vectors from the anchors to the claw">    </p:cNvPr>
          <p:cNvPicPr>
            <a:picLocks noChangeAspect="1"/>
          </p:cNvPicPr>
          <p:nvPr/>
        </p:nvPicPr>
        <p:blipFill>
          <a:blip r:embed="rId1"/>
          <a:stretch>
            <a:fillRect/>
          </a:stretch>
        </p:blipFill>
        <p:spPr>
          <a:xfrm>
            <a:off x="2115312" y="1271016"/>
            <a:ext cx="786384" cy="786384"/>
          </a:xfrm>
          <a:prstGeom prst="rect">
            <a:avLst/>
          </a:prstGeom>
        </p:spPr>
      </p:pic>
      <p:sp>
        <p:nvSpPr>
          <p:cNvPr id="6" name="equation box"/>
          <p:cNvSpPr/>
          <p:nvPr/>
        </p:nvSpPr>
        <p:spPr>
          <a:xfrm>
            <a:off x="512064" y="1271016"/>
            <a:ext cx="1511808" cy="1025441"/>
          </a:xfrm>
          <a:prstGeom prst="rect">
            <a:avLst/>
          </a:prstGeom>
          <a:solidFill>
            <a:srgbClr val="FFFFFF"/>
          </a:solidFill>
          <a:ln w="9525">
            <a:solidFill>
              <a:srgbClr val="000000"/>
            </a:solidFill>
            <a:prstDash val="solid"/>
          </a:ln>
        </p:spPr>
      </p:sp>
      <p:pic>
        <p:nvPicPr>
          <p:cNvPr id="7" name="equations" descr="L_i = ‖ a_i − p ‖; a_i: anchor exit, p: claw; straight, taut cable">    </p:cNvPr>
          <p:cNvPicPr>
            <a:picLocks noChangeAspect="1"/>
          </p:cNvPicPr>
          <p:nvPr/>
        </p:nvPicPr>
        <p:blipFill>
          <a:blip r:embed="rId2"/>
          <a:stretch>
            <a:fillRect/>
          </a:stretch>
        </p:blipFill>
        <p:spPr>
          <a:xfrm>
            <a:off x="603504" y="1344168"/>
            <a:ext cx="1328928" cy="879137"/>
          </a:xfrm>
          <a:prstGeom prst="rect">
            <a:avLst/>
          </a:prstGeom>
        </p:spPr>
      </p:pic>
      <p:sp>
        <p:nvSpPr>
          <p:cNvPr id="8" name="card Torque → pull on the line"/>
          <p:cNvSpPr/>
          <p:nvPr/>
        </p:nvSpPr>
        <p:spPr>
          <a:xfrm>
            <a:off x="3230880" y="868680"/>
            <a:ext cx="268224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10129"/>
              </a:spcAft>
              <a:buNone/>
            </a:pPr>
            <a:r>
              <a:rPr lang="en-US" sz="1200" b="1" dirty="0">
                <a:solidFill>
                  <a:srgbClr val="000000"/>
                </a:solidFill>
              </a:rPr>
              <a:t>Torque → pull on the line</a:t>
            </a:r>
            <a:endParaRPr lang="en-US" sz="1200" dirty="0"/>
          </a:p>
          <a:p>
            <a:pPr algn="l" marL="152400" indent="-152400">
              <a:spcAft>
                <a:spcPts val="400"/>
              </a:spcAft>
              <a:buSzPct val="100000"/>
              <a:buChar char="•"/>
            </a:pPr>
            <a:r>
              <a:rPr lang="en-US" sz="1000" dirty="0">
                <a:solidFill>
                  <a:srgbClr val="000000"/>
                </a:solidFill>
              </a:rPr>
              <a:t>At 1.5 A: τ_run = 0.7 × 0.36 N·m = 0.252 N·m; F = 0.252 / 0.0075 m = 34 N empty, 0.252 / 0.010 m = 25 N full (calculated)</a:t>
            </a:r>
            <a:endParaRPr lang="en-US" sz="1200" dirty="0"/>
          </a:p>
          <a:p>
            <a:pPr algn="l" marL="152400" indent="-152400">
              <a:spcAft>
                <a:spcPts val="400"/>
              </a:spcAft>
              <a:buSzPct val="100000"/>
              <a:buChar char="•"/>
            </a:pPr>
            <a:r>
              <a:rPr lang="en-US" sz="1000" dirty="0">
                <a:solidFill>
                  <a:srgbClr val="000000"/>
                </a:solidFill>
              </a:rPr>
              <a:t>Validated: Vref measured on the board; the 0.7 running fraction is assumed; the pull test is planned</a:t>
            </a:r>
            <a:endParaRPr lang="en-US" sz="1200" dirty="0"/>
          </a:p>
        </p:txBody>
      </p:sp>
      <p:sp>
        <p:nvSpPr>
          <p:cNvPr id="9" name="equation box"/>
          <p:cNvSpPr/>
          <p:nvPr/>
        </p:nvSpPr>
        <p:spPr>
          <a:xfrm>
            <a:off x="3377184" y="1271016"/>
            <a:ext cx="2389632" cy="1103512"/>
          </a:xfrm>
          <a:prstGeom prst="rect">
            <a:avLst/>
          </a:prstGeom>
          <a:solidFill>
            <a:srgbClr val="FFFFFF"/>
          </a:solidFill>
          <a:ln w="9525">
            <a:solidFill>
              <a:srgbClr val="000000"/>
            </a:solidFill>
            <a:prstDash val="solid"/>
          </a:ln>
        </p:spPr>
      </p:sp>
      <p:pic>
        <p:nvPicPr>
          <p:cNvPr id="10" name="equations" descr="I = Vref / (8·R_s); τ_hold = τ_rated · I / I_rated; τ_run ≈ 0.7 τ_hold (assumed); F = τ / r">    </p:cNvPr>
          <p:cNvPicPr>
            <a:picLocks noChangeAspect="1"/>
          </p:cNvPicPr>
          <p:nvPr/>
        </p:nvPicPr>
        <p:blipFill>
          <a:blip r:embed="rId3"/>
          <a:stretch>
            <a:fillRect/>
          </a:stretch>
        </p:blipFill>
        <p:spPr>
          <a:xfrm>
            <a:off x="3468624" y="1344168"/>
            <a:ext cx="2206752" cy="957208"/>
          </a:xfrm>
          <a:prstGeom prst="rect">
            <a:avLst/>
          </a:prstGeom>
        </p:spPr>
      </p:pic>
      <p:sp>
        <p:nvSpPr>
          <p:cNvPr id="11" name="card Pull → what four cables hold"/>
          <p:cNvSpPr/>
          <p:nvPr/>
        </p:nvSpPr>
        <p:spPr>
          <a:xfrm>
            <a:off x="6096000" y="868680"/>
            <a:ext cx="268224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7034"/>
              </a:spcAft>
              <a:buNone/>
            </a:pPr>
            <a:r>
              <a:rPr lang="en-US" sz="1200" b="1" dirty="0">
                <a:solidFill>
                  <a:srgbClr val="000000"/>
                </a:solidFill>
              </a:rPr>
              <a:t>Pull → what four cables hold</a:t>
            </a:r>
            <a:endParaRPr lang="en-US" sz="1200" dirty="0"/>
          </a:p>
          <a:p>
            <a:pPr algn="l" marL="152400" indent="-152400">
              <a:spcAft>
                <a:spcPts val="400"/>
              </a:spcAft>
              <a:buSzPct val="100000"/>
              <a:buChar char="•"/>
            </a:pPr>
            <a:r>
              <a:rPr lang="en-US" sz="1000" dirty="0">
                <a:solidFill>
                  <a:srgbClr val="000000"/>
                </a:solidFill>
              </a:rPr>
              <a:t>W = (0.454 + 0.45 kg) × 9.81 = 8.86 N, D_h = 2.166 m; d = 0.15 m: 8.86 / (4 × 0.069) = 32 N; 16 / 8.3 / 4.6 N at 0.3 / 0.6 / 1.2 m (calculated)</a:t>
            </a:r>
            <a:endParaRPr lang="en-US" sz="1200" dirty="0"/>
          </a:p>
          <a:p>
            <a:pPr algn="l" marL="152400" indent="-152400">
              <a:spcAft>
                <a:spcPts val="400"/>
              </a:spcAft>
              <a:buSzPct val="100000"/>
              <a:buChar char="•"/>
            </a:pPr>
            <a:r>
              <a:rPr lang="en-US" sz="1000" dirty="0">
                <a:solidFill>
                  <a:srgbClr val="000000"/>
                </a:solidFill>
              </a:rPr>
              <a:t>Shallow cable: T ≈ W·D_h / (4d), so halving the depth doubles the tension</a:t>
            </a:r>
            <a:endParaRPr lang="en-US" sz="1200" dirty="0"/>
          </a:p>
          <a:p>
            <a:pPr algn="l" marL="152400" indent="-152400">
              <a:spcAft>
                <a:spcPts val="400"/>
              </a:spcAft>
              <a:buSzPct val="100000"/>
              <a:buChar char="•"/>
            </a:pPr>
            <a:r>
              <a:rPr lang="en-US" sz="1000" dirty="0">
                <a:solidFill>
                  <a:srgbClr val="000000"/>
                </a:solidFill>
              </a:rPr>
              <a:t>Why the planner keeps the claw at least 0.4 m below the anchors</a:t>
            </a:r>
            <a:endParaRPr lang="en-US" sz="1200" dirty="0"/>
          </a:p>
          <a:p>
            <a:pPr algn="l" marL="152400" indent="-152400">
              <a:spcAft>
                <a:spcPts val="400"/>
              </a:spcAft>
              <a:buSzPct val="100000"/>
              <a:buChar char="•"/>
            </a:pPr>
            <a:r>
              <a:rPr lang="en-US" sz="1000" dirty="0">
                <a:solidFill>
                  <a:srgbClr val="000000"/>
                </a:solidFill>
              </a:rPr>
              <a:t>Validated: calculated only; no cable tension has been measured on the rig</a:t>
            </a:r>
            <a:endParaRPr lang="en-US" sz="1200" dirty="0"/>
          </a:p>
        </p:txBody>
      </p:sp>
      <p:sp>
        <p:nvSpPr>
          <p:cNvPr id="12" name="equation box"/>
          <p:cNvSpPr/>
          <p:nvPr/>
        </p:nvSpPr>
        <p:spPr>
          <a:xfrm>
            <a:off x="6242304" y="1271016"/>
            <a:ext cx="2389632" cy="710456"/>
          </a:xfrm>
          <a:prstGeom prst="rect">
            <a:avLst/>
          </a:prstGeom>
          <a:solidFill>
            <a:srgbClr val="FFFFFF"/>
          </a:solidFill>
          <a:ln w="9525">
            <a:solidFill>
              <a:srgbClr val="000000"/>
            </a:solidFill>
            <a:prstDash val="solid"/>
          </a:ln>
        </p:spPr>
      </p:sp>
      <p:pic>
        <p:nvPicPr>
          <p:cNvPr id="13" name="equations" descr="T = W / (4 sin φ); sin φ = d / √(d² + D_h²)">    </p:cNvPr>
          <p:cNvPicPr>
            <a:picLocks noChangeAspect="1"/>
          </p:cNvPicPr>
          <p:nvPr/>
        </p:nvPicPr>
        <p:blipFill>
          <a:blip r:embed="rId4"/>
          <a:stretch>
            <a:fillRect/>
          </a:stretch>
        </p:blipFill>
        <p:spPr>
          <a:xfrm>
            <a:off x="6333744" y="1344168"/>
            <a:ext cx="2206752" cy="564152"/>
          </a:xfrm>
          <a:prstGeom prst="rect">
            <a:avLst/>
          </a:prstGeom>
        </p:spPr>
      </p:pic>
      <p:sp>
        <p:nvSpPr>
          <p:cNvPr id="14"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Generation 1: one central unit</a:t>
            </a:r>
            <a:endParaRPr lang="en-US" sz="2400" dirty="0"/>
          </a:p>
        </p:txBody>
      </p:sp>
      <p:sp>
        <p:nvSpPr>
          <p:cNvPr id="4" name="card The first design"/>
          <p:cNvSpPr/>
          <p:nvPr/>
        </p:nvSpPr>
        <p:spPr>
          <a:xfrm>
            <a:off x="365760" y="868680"/>
            <a:ext cx="329184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The first design</a:t>
            </a:r>
            <a:endParaRPr lang="en-US" sz="1250" dirty="0"/>
          </a:p>
          <a:p>
            <a:pPr algn="l" marL="152400" indent="-152400">
              <a:spcAft>
                <a:spcPts val="500"/>
              </a:spcAft>
              <a:buSzPct val="100000"/>
              <a:buChar char="•"/>
            </a:pPr>
            <a:r>
              <a:rPr lang="en-US" sz="1100" dirty="0">
                <a:solidFill>
                  <a:srgbClr val="000000"/>
                </a:solidFill>
              </a:rPr>
              <a:t>One Uno and one CNC shield drove four corner motors</a:t>
            </a:r>
            <a:endParaRPr lang="en-US" sz="1250" dirty="0"/>
          </a:p>
          <a:p>
            <a:pPr algn="l" marL="152400" indent="-152400">
              <a:spcAft>
                <a:spcPts val="500"/>
              </a:spcAft>
              <a:buSzPct val="100000"/>
              <a:buChar char="•"/>
            </a:pPr>
            <a:r>
              <a:rPr lang="en-US" sz="1100" dirty="0">
                <a:solidFill>
                  <a:srgbClr val="000000"/>
                </a:solidFill>
              </a:rPr>
              <a:t>Wires from that one box to every corner</a:t>
            </a:r>
            <a:endParaRPr lang="en-US" sz="1250" dirty="0"/>
          </a:p>
          <a:p>
            <a:pPr algn="l" marL="152400" indent="-152400">
              <a:spcAft>
                <a:spcPts val="500"/>
              </a:spcAft>
              <a:buSzPct val="100000"/>
              <a:buChar char="•"/>
            </a:pPr>
            <a:r>
              <a:rPr lang="en-US" sz="1100" dirty="0">
                <a:solidFill>
                  <a:srgbClr val="000000"/>
                </a:solidFill>
              </a:rPr>
              <a:t>An overhead ceiling camera scanned the room</a:t>
            </a:r>
            <a:endParaRPr lang="en-US" sz="1250" dirty="0"/>
          </a:p>
          <a:p>
            <a:pPr algn="l" marL="152400" indent="-152400">
              <a:spcAft>
                <a:spcPts val="500"/>
              </a:spcAft>
              <a:buSzPct val="100000"/>
              <a:buChar char="•"/>
            </a:pPr>
            <a:r>
              <a:rPr lang="en-US" sz="1100" dirty="0">
                <a:solidFill>
                  <a:srgbClr val="000000"/>
                </a:solidFill>
              </a:rPr>
              <a:t>A printed corner plate screwed into a joist: a hook is a pivot, a plate is not</a:t>
            </a:r>
            <a:endParaRPr lang="en-US" sz="1250" dirty="0"/>
          </a:p>
          <a:p>
            <a:pPr algn="l" marL="152400" indent="-152400">
              <a:spcAft>
                <a:spcPts val="500"/>
              </a:spcAft>
              <a:buSzPct val="100000"/>
              <a:buChar char="•"/>
            </a:pPr>
            <a:r>
              <a:rPr lang="en-US" sz="1100" dirty="0">
                <a:solidFill>
                  <a:srgbClr val="000000"/>
                </a:solidFill>
              </a:rPr>
              <a:t>Each cable found zero against a bead at the outlet</a:t>
            </a:r>
            <a:endParaRPr lang="en-US" sz="1250" dirty="0"/>
          </a:p>
          <a:p>
            <a:pPr algn="l" marL="152400" indent="-152400">
              <a:spcAft>
                <a:spcPts val="500"/>
              </a:spcAft>
              <a:buSzPct val="100000"/>
              <a:buChar char="•"/>
            </a:pPr>
            <a:r>
              <a:rPr lang="en-US" sz="1100" dirty="0">
                <a:solidFill>
                  <a:srgbClr val="000000"/>
                </a:solidFill>
              </a:rPr>
              <a:t>Bench: a station lifted a test weight; the cable math held (measured)</a:t>
            </a:r>
            <a:endParaRPr lang="en-US" sz="1250" dirty="0"/>
          </a:p>
        </p:txBody>
      </p:sp>
      <p:pic>
        <p:nvPicPr>
          <p:cNvPr id="5" name="CNC shield with four A4988 drivers" descr="CNC shield with four A4988 drivers">    </p:cNvPr>
          <p:cNvPicPr>
            <a:picLocks noChangeAspect="1"/>
          </p:cNvPicPr>
          <p:nvPr/>
        </p:nvPicPr>
        <p:blipFill>
          <a:blip r:embed="rId1"/>
          <a:stretch>
            <a:fillRect/>
          </a:stretch>
        </p:blipFill>
        <p:spPr>
          <a:xfrm>
            <a:off x="3886200" y="868680"/>
            <a:ext cx="2391156" cy="1687068"/>
          </a:xfrm>
          <a:prstGeom prst="rect">
            <a:avLst/>
          </a:prstGeom>
        </p:spPr>
      </p:pic>
      <p:pic>
        <p:nvPicPr>
          <p:cNvPr id="6" name="Gen-1 corner plate: motor, spool, pulley" descr="Gen-1 corner plate: motor, spool, pulley, switch">    </p:cNvPr>
          <p:cNvPicPr>
            <a:picLocks noChangeAspect="1"/>
          </p:cNvPicPr>
          <p:nvPr/>
        </p:nvPicPr>
        <p:blipFill>
          <a:blip r:embed="rId2"/>
          <a:stretch>
            <a:fillRect/>
          </a:stretch>
        </p:blipFill>
        <p:spPr>
          <a:xfrm>
            <a:off x="6387084" y="868680"/>
            <a:ext cx="2391156" cy="1687068"/>
          </a:xfrm>
          <a:prstGeom prst="rect">
            <a:avLst/>
          </a:prstGeom>
        </p:spPr>
      </p:pic>
      <p:pic>
        <p:nvPicPr>
          <p:cNvPr id="7" name="Gen-1 station lifting a test weight" descr="Gen-1 station lifting a test weight">    </p:cNvPr>
          <p:cNvPicPr>
            <a:picLocks noChangeAspect="1"/>
          </p:cNvPicPr>
          <p:nvPr/>
        </p:nvPicPr>
        <p:blipFill>
          <a:blip r:embed="rId3"/>
          <a:stretch>
            <a:fillRect/>
          </a:stretch>
        </p:blipFill>
        <p:spPr>
          <a:xfrm>
            <a:off x="3886200" y="2692908"/>
            <a:ext cx="1265301" cy="1687068"/>
          </a:xfrm>
          <a:prstGeom prst="rect">
            <a:avLst/>
          </a:prstGeom>
        </p:spPr>
      </p:pic>
      <p:sp>
        <p:nvSpPr>
          <p:cNvPr id="8" name="caption"/>
          <p:cNvSpPr txBox="1"/>
          <p:nvPr/>
        </p:nvSpPr>
        <p:spPr>
          <a:xfrm>
            <a:off x="3886200" y="4416552"/>
            <a:ext cx="4892040" cy="201168"/>
          </a:xfrm>
          <a:prstGeom prst="rect">
            <a:avLst/>
          </a:prstGeom>
          <a:noFill/>
          <a:ln/>
        </p:spPr>
        <p:txBody>
          <a:bodyPr wrap="square" lIns="0" tIns="0" rIns="0" bIns="0" rtlCol="0" anchor="ctr"/>
          <a:lstStyle/>
          <a:p>
            <a:pPr algn="l" indent="0" marL="0">
              <a:buNone/>
            </a:pPr>
            <a:r>
              <a:rPr lang="en-US" sz="850" dirty="0">
                <a:solidFill>
                  <a:schemeClr val="tx2"/>
                </a:solidFill>
              </a:rPr>
              <a:t>The central board; a gen-1 corner plate; a gen-1 station lifting a test weight</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Problems with Generation 1</a:t>
            </a:r>
            <a:endParaRPr lang="en-US" sz="2400" dirty="0"/>
          </a:p>
        </p:txBody>
      </p:sp>
      <p:sp>
        <p:nvSpPr>
          <p:cNvPr id="4" name="card One central board"/>
          <p:cNvSpPr/>
          <p:nvPr/>
        </p:nvSpPr>
        <p:spPr>
          <a:xfrm>
            <a:off x="365760" y="868680"/>
            <a:ext cx="283464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One central board</a:t>
            </a:r>
            <a:endParaRPr lang="en-US" sz="1250" dirty="0"/>
          </a:p>
          <a:p>
            <a:pPr algn="l" marL="152400" indent="-152400">
              <a:spcAft>
                <a:spcPts val="600"/>
              </a:spcAft>
              <a:buSzPct val="100000"/>
              <a:buChar char="•"/>
            </a:pPr>
            <a:r>
              <a:rPr lang="en-US" sz="1100" dirty="0">
                <a:solidFill>
                  <a:srgbClr val="000000"/>
                </a:solidFill>
              </a:rPr>
              <a:t>Every motor and every sensor wired back to one place</a:t>
            </a:r>
            <a:endParaRPr lang="en-US" sz="1250" dirty="0"/>
          </a:p>
          <a:p>
            <a:pPr algn="l" marL="152400" indent="-152400">
              <a:spcAft>
                <a:spcPts val="600"/>
              </a:spcAft>
              <a:buSzPct val="100000"/>
              <a:buChar char="•"/>
            </a:pPr>
            <a:r>
              <a:rPr lang="en-US" sz="1100" dirty="0">
                <a:solidFill>
                  <a:srgbClr val="000000"/>
                </a:solidFill>
              </a:rPr>
              <a:t>One board steps all four motors; a timing error skews the cables</a:t>
            </a:r>
            <a:endParaRPr lang="en-US" sz="1250" dirty="0"/>
          </a:p>
          <a:p>
            <a:pPr algn="l" marL="152400" indent="-152400">
              <a:spcAft>
                <a:spcPts val="600"/>
              </a:spcAft>
              <a:buSzPct val="100000"/>
              <a:buChar char="•"/>
            </a:pPr>
            <a:r>
              <a:rPr lang="en-US" sz="1100" dirty="0">
                <a:solidFill>
                  <a:srgbClr val="000000"/>
                </a:solidFill>
              </a:rPr>
              <a:t>Skew Δx = v·Δt = 50 mm/s × 0.05 s = 2.5 mm per 50 ms (calculated)</a:t>
            </a:r>
            <a:endParaRPr lang="en-US" sz="1250" dirty="0"/>
          </a:p>
          <a:p>
            <a:pPr algn="l" marL="152400" indent="-152400">
              <a:spcAft>
                <a:spcPts val="600"/>
              </a:spcAft>
              <a:buSzPct val="100000"/>
              <a:buChar char="•"/>
            </a:pPr>
            <a:r>
              <a:rPr lang="en-US" sz="1100" dirty="0">
                <a:solidFill>
                  <a:srgbClr val="000000"/>
                </a:solidFill>
              </a:rPr>
              <a:t>Moving a winch means re-running wire to the box</a:t>
            </a:r>
            <a:endParaRPr lang="en-US" sz="1250" dirty="0"/>
          </a:p>
        </p:txBody>
      </p:sp>
      <p:sp>
        <p:nvSpPr>
          <p:cNvPr id="5" name="card Ceiling camera and bead homing"/>
          <p:cNvSpPr/>
          <p:nvPr/>
        </p:nvSpPr>
        <p:spPr>
          <a:xfrm>
            <a:off x="3383280" y="868680"/>
            <a:ext cx="283464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Ceiling camera and bead homing</a:t>
            </a:r>
            <a:endParaRPr lang="en-US" sz="1250" dirty="0"/>
          </a:p>
          <a:p>
            <a:pPr algn="l" marL="152400" indent="-152400">
              <a:spcAft>
                <a:spcPts val="600"/>
              </a:spcAft>
              <a:buSzPct val="100000"/>
              <a:buChar char="•"/>
            </a:pPr>
            <a:r>
              <a:rPr lang="en-US" sz="1100" dirty="0">
                <a:solidFill>
                  <a:srgbClr val="000000"/>
                </a:solidFill>
              </a:rPr>
              <a:t>The ceiling camera: one more device to mount, wire and calibrate per room</a:t>
            </a:r>
            <a:endParaRPr lang="en-US" sz="1250" dirty="0"/>
          </a:p>
          <a:p>
            <a:pPr algn="l" marL="152400" indent="-152400">
              <a:spcAft>
                <a:spcPts val="600"/>
              </a:spcAft>
              <a:buSzPct val="100000"/>
              <a:buChar char="•"/>
            </a:pPr>
            <a:r>
              <a:rPr lang="en-US" sz="1100" dirty="0">
                <a:solidFill>
                  <a:srgbClr val="000000"/>
                </a:solidFill>
              </a:rPr>
              <a:t>From above, the claw and cables hide the grasp spot</a:t>
            </a:r>
            <a:endParaRPr lang="en-US" sz="1250" dirty="0"/>
          </a:p>
          <a:p>
            <a:pPr algn="l" marL="152400" indent="-152400">
              <a:spcAft>
                <a:spcPts val="600"/>
              </a:spcAft>
              <a:buSzPct val="100000"/>
              <a:buChar char="•"/>
            </a:pPr>
            <a:r>
              <a:rPr lang="en-US" sz="1100" dirty="0">
                <a:solidFill>
                  <a:srgbClr val="000000"/>
                </a:solidFill>
              </a:rPr>
              <a:t>Its floor map assumes a flat floor; retired Oct 21</a:t>
            </a:r>
            <a:endParaRPr lang="en-US" sz="1250" dirty="0"/>
          </a:p>
          <a:p>
            <a:pPr algn="l" marL="152400" indent="-152400">
              <a:spcAft>
                <a:spcPts val="600"/>
              </a:spcAft>
              <a:buSzPct val="100000"/>
              <a:buChar char="•"/>
            </a:pPr>
            <a:r>
              <a:rPr lang="en-US" sz="1100" dirty="0">
                <a:solidFill>
                  <a:srgbClr val="000000"/>
                </a:solidFill>
              </a:rPr>
              <a:t>Bead homing fixes a minimum length on every cable: next slide</a:t>
            </a:r>
            <a:endParaRPr lang="en-US" sz="1250" dirty="0"/>
          </a:p>
        </p:txBody>
      </p:sp>
      <p:pic>
        <p:nvPicPr>
          <p:cNvPr id="6" name="CNC shield with four A4988 drivers" descr="CNC shield with four A4988 drivers">    </p:cNvPr>
          <p:cNvPicPr>
            <a:picLocks noChangeAspect="1"/>
          </p:cNvPicPr>
          <p:nvPr/>
        </p:nvPicPr>
        <p:blipFill>
          <a:blip r:embed="rId1"/>
          <a:stretch>
            <a:fillRect/>
          </a:stretch>
        </p:blipFill>
        <p:spPr>
          <a:xfrm>
            <a:off x="6400800" y="868680"/>
            <a:ext cx="2377440" cy="3511296"/>
          </a:xfrm>
          <a:prstGeom prst="rect">
            <a:avLst/>
          </a:prstGeom>
        </p:spPr>
      </p:pic>
      <p:sp>
        <p:nvSpPr>
          <p:cNvPr id="7" name="caption"/>
          <p:cNvSpPr txBox="1"/>
          <p:nvPr/>
        </p:nvSpPr>
        <p:spPr>
          <a:xfrm>
            <a:off x="6400800" y="4416552"/>
            <a:ext cx="2377440" cy="201168"/>
          </a:xfrm>
          <a:prstGeom prst="rect">
            <a:avLst/>
          </a:prstGeom>
          <a:noFill/>
          <a:ln/>
        </p:spPr>
        <p:txBody>
          <a:bodyPr wrap="square" lIns="0" tIns="0" rIns="0" bIns="0" rtlCol="0" anchor="ctr"/>
          <a:lstStyle/>
          <a:p>
            <a:pPr algn="l" indent="0" marL="0">
              <a:buNone/>
            </a:pPr>
            <a:r>
              <a:rPr lang="en-US" sz="850" dirty="0">
                <a:solidFill>
                  <a:schemeClr val="tx2"/>
                </a:solidFill>
              </a:rPr>
              <a:t>The central board: one shield, four drivers</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Homing: one floor board instead of four beads</a:t>
            </a:r>
            <a:endParaRPr lang="en-US" sz="2400" dirty="0"/>
          </a:p>
        </p:txBody>
      </p:sp>
      <p:sp>
        <p:nvSpPr>
          <p:cNvPr id="4" name="card Bead homing"/>
          <p:cNvSpPr/>
          <p:nvPr/>
        </p:nvSpPr>
        <p:spPr>
          <a:xfrm>
            <a:off x="365760" y="868680"/>
            <a:ext cx="269748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3866"/>
              </a:spcAft>
              <a:buNone/>
            </a:pPr>
            <a:r>
              <a:rPr lang="en-US" sz="1200" b="1" dirty="0">
                <a:solidFill>
                  <a:srgbClr val="000000"/>
                </a:solidFill>
              </a:rPr>
              <a:t>Bead homing</a:t>
            </a:r>
            <a:endParaRPr lang="en-US" sz="1200" dirty="0"/>
          </a:p>
          <a:p>
            <a:pPr algn="l" marL="152400" indent="-152400">
              <a:spcAft>
                <a:spcPts val="500"/>
              </a:spcAft>
              <a:buSzPct val="100000"/>
              <a:buChar char="•"/>
            </a:pPr>
            <a:r>
              <a:rPr lang="en-US" sz="1000" dirty="0">
                <a:solidFill>
                  <a:srgbClr val="000000"/>
                </a:solidFill>
              </a:rPr>
              <a:t>A stopper bead cannot pass its outlet: after homing, no cable can be shorter than at home</a:t>
            </a:r>
            <a:endParaRPr lang="en-US" sz="1200" dirty="0"/>
          </a:p>
          <a:p>
            <a:pPr algn="l" marL="152400" indent="-152400">
              <a:spcAft>
                <a:spcPts val="500"/>
              </a:spcAft>
              <a:buSzPct val="100000"/>
              <a:buChar char="•"/>
            </a:pPr>
            <a:r>
              <a:rPr lang="en-US" sz="1000" dirty="0">
                <a:solidFill>
                  <a:srgbClr val="000000"/>
                </a:solidFill>
              </a:rPr>
              <a:t>Homing all four at once fixes a minimum length on every cable at the same time</a:t>
            </a:r>
            <a:endParaRPr lang="en-US" sz="1200" dirty="0"/>
          </a:p>
          <a:p>
            <a:pPr algn="l" marL="152400" indent="-152400">
              <a:spcAft>
                <a:spcPts val="500"/>
              </a:spcAft>
              <a:buSzPct val="100000"/>
              <a:buChar char="•"/>
            </a:pPr>
            <a:r>
              <a:rPr lang="en-US" sz="1000" dirty="0">
                <a:solidFill>
                  <a:srgbClr val="000000"/>
                </a:solidFill>
              </a:rPr>
              <a:t>Reachable volume, grid count (calculated): 0.0 % (home 0.3 m) to 32.0 % (home 2.19 m); 4.7 % at 1.0 m, 29.1 % at 2.0 m</a:t>
            </a:r>
            <a:endParaRPr lang="en-US" sz="1200" dirty="0"/>
          </a:p>
        </p:txBody>
      </p:sp>
      <p:sp>
        <p:nvSpPr>
          <p:cNvPr id="5" name="equation box"/>
          <p:cNvSpPr/>
          <p:nvPr/>
        </p:nvSpPr>
        <p:spPr>
          <a:xfrm>
            <a:off x="512064" y="1271016"/>
            <a:ext cx="2404872" cy="326447"/>
          </a:xfrm>
          <a:prstGeom prst="rect">
            <a:avLst/>
          </a:prstGeom>
          <a:solidFill>
            <a:srgbClr val="FFFFFF"/>
          </a:solidFill>
          <a:ln w="9525">
            <a:solidFill>
              <a:srgbClr val="000000"/>
            </a:solidFill>
            <a:prstDash val="solid"/>
          </a:ln>
        </p:spPr>
      </p:sp>
      <p:pic>
        <p:nvPicPr>
          <p:cNvPr id="6" name="equation" descr="reachable(p) if and only if ||a_i - p|| &gt;= L_i,home for every cable i">    </p:cNvPr>
          <p:cNvPicPr>
            <a:picLocks noChangeAspect="1"/>
          </p:cNvPicPr>
          <p:nvPr/>
        </p:nvPicPr>
        <p:blipFill>
          <a:blip r:embed="rId1"/>
          <a:stretch>
            <a:fillRect/>
          </a:stretch>
        </p:blipFill>
        <p:spPr>
          <a:xfrm>
            <a:off x="585216" y="1344168"/>
            <a:ext cx="2258568" cy="180143"/>
          </a:xfrm>
          <a:prstGeom prst="rect">
            <a:avLst/>
          </a:prstGeom>
        </p:spPr>
      </p:pic>
      <p:pic>
        <p:nvPicPr>
          <p:cNvPr id="7" name="chart bead" descr="Reachable share of the working volume vs bead homing height (calculated)">    </p:cNvPr>
          <p:cNvPicPr>
            <a:picLocks noChangeAspect="1"/>
          </p:cNvPicPr>
          <p:nvPr/>
        </p:nvPicPr>
        <p:blipFill>
          <a:blip r:embed="rId2"/>
          <a:stretch>
            <a:fillRect/>
          </a:stretch>
        </p:blipFill>
        <p:spPr>
          <a:xfrm>
            <a:off x="3200400" y="868680"/>
            <a:ext cx="1874520" cy="3474720"/>
          </a:xfrm>
          <a:prstGeom prst="rect">
            <a:avLst/>
          </a:prstGeom>
        </p:spPr>
      </p:pic>
      <p:sp>
        <p:nvSpPr>
          <p:cNvPr id="8" name="caption"/>
          <p:cNvSpPr txBox="1"/>
          <p:nvPr/>
        </p:nvSpPr>
        <p:spPr>
          <a:xfrm>
            <a:off x="3200400" y="4416552"/>
            <a:ext cx="1874520" cy="201168"/>
          </a:xfrm>
          <a:prstGeom prst="rect">
            <a:avLst/>
          </a:prstGeom>
          <a:noFill/>
          <a:ln/>
        </p:spPr>
        <p:txBody>
          <a:bodyPr wrap="square" lIns="0" tIns="0" rIns="0" bIns="0" rtlCol="0" anchor="ctr"/>
          <a:lstStyle/>
          <a:p>
            <a:pPr algn="l" indent="0" marL="0">
              <a:buNone/>
            </a:pPr>
            <a:r>
              <a:rPr lang="en-US" sz="850" dirty="0">
                <a:solidFill>
                  <a:schemeClr val="tx2"/>
                </a:solidFill>
              </a:rPr>
              <a:t>Grid count of the condition above</a:t>
            </a:r>
            <a:endParaRPr lang="en-US" sz="850" dirty="0"/>
          </a:p>
        </p:txBody>
      </p:sp>
      <p:sp>
        <p:nvSpPr>
          <p:cNvPr id="9" name="card Floor-board homing"/>
          <p:cNvSpPr/>
          <p:nvPr/>
        </p:nvSpPr>
        <p:spPr>
          <a:xfrm>
            <a:off x="5212080" y="868680"/>
            <a:ext cx="356616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00" b="1" dirty="0">
                <a:solidFill>
                  <a:srgbClr val="000000"/>
                </a:solidFill>
              </a:rPr>
              <a:t>Floor-board homing</a:t>
            </a:r>
            <a:endParaRPr lang="en-US" sz="1200" dirty="0"/>
          </a:p>
          <a:p>
            <a:pPr algn="l" marL="152400" indent="-152400">
              <a:spcAft>
                <a:spcPts val="400"/>
              </a:spcAft>
              <a:buSzPct val="100000"/>
              <a:buChar char="•"/>
            </a:pPr>
            <a:r>
              <a:rPr lang="en-US" sz="1000" dirty="0">
                <a:solidFill>
                  <a:srgbClr val="000000"/>
                </a:solidFill>
              </a:rPr>
              <a:t>The camera measures the claw pose against tag 0</a:t>
            </a:r>
            <a:endParaRPr lang="en-US" sz="1200" dirty="0"/>
          </a:p>
          <a:p>
            <a:pPr algn="l" marL="152400" indent="-152400">
              <a:spcAft>
                <a:spcPts val="400"/>
              </a:spcAft>
              <a:buSzPct val="100000"/>
              <a:buChar char="•"/>
            </a:pPr>
            <a:r>
              <a:rPr lang="en-US" sz="1000" dirty="0">
                <a:solidFill>
                  <a:srgbClr val="000000"/>
                </a:solidFill>
              </a:rPr>
              <a:t>Cable lengths follow from L_i = ‖a_i − p‖</a:t>
            </a:r>
            <a:endParaRPr lang="en-US" sz="1200" dirty="0"/>
          </a:p>
          <a:p>
            <a:pPr algn="l" marL="152400" indent="-152400">
              <a:spcAft>
                <a:spcPts val="400"/>
              </a:spcAft>
              <a:buSzPct val="100000"/>
              <a:buChar char="•"/>
            </a:pPr>
            <a:r>
              <a:rPr lang="en-US" sz="1000" dirty="0">
                <a:solidFill>
                  <a:srgbClr val="000000"/>
                </a:solidFill>
              </a:rPr>
              <a:t>No length is clamped: the whole working volume stays available</a:t>
            </a:r>
            <a:endParaRPr lang="en-US" sz="1200" dirty="0"/>
          </a:p>
          <a:p>
            <a:pPr algn="l" marL="152400" indent="-152400">
              <a:spcAft>
                <a:spcPts val="400"/>
              </a:spcAft>
              <a:buSzPct val="100000"/>
              <a:buChar char="•"/>
            </a:pPr>
            <a:r>
              <a:rPr lang="en-US" sz="1000" dirty="0">
                <a:solidFill>
                  <a:srgbClr val="000000"/>
                </a:solidFill>
              </a:rPr>
              <a:t>Nine sheets, 150 mm tags, 250 mm pitch, id 0 = origin</a:t>
            </a:r>
            <a:endParaRPr lang="en-US" sz="1200" dirty="0"/>
          </a:p>
        </p:txBody>
      </p:sp>
      <p:pic>
        <p:nvPicPr>
          <p:cNvPr id="10" name="Floor board: nine AprilTag 36h11 sheets," descr="Floor board: nine AprilTag 36h11 sheets, 150 mm tags, 250 mm pitch, id 0 is the origin">    </p:cNvPr>
          <p:cNvPicPr>
            <a:picLocks noChangeAspect="1"/>
          </p:cNvPicPr>
          <p:nvPr/>
        </p:nvPicPr>
        <p:blipFill>
          <a:blip r:embed="rId3"/>
          <a:stretch>
            <a:fillRect/>
          </a:stretch>
        </p:blipFill>
        <p:spPr>
          <a:xfrm>
            <a:off x="6008133" y="2423160"/>
            <a:ext cx="1974054" cy="2103120"/>
          </a:xfrm>
          <a:prstGeom prst="rect">
            <a:avLst/>
          </a:prstGeom>
        </p:spPr>
      </p:pic>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What a winch on a wall needs to work</a:t>
            </a:r>
            <a:endParaRPr lang="en-US" sz="2400" dirty="0"/>
          </a:p>
        </p:txBody>
      </p:sp>
      <p:sp>
        <p:nvSpPr>
          <p:cNvPr id="4" name="card The switch (button)"/>
          <p:cNvSpPr/>
          <p:nvPr/>
        </p:nvSpPr>
        <p:spPr>
          <a:xfrm>
            <a:off x="365760" y="868680"/>
            <a:ext cx="2743200" cy="233172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The switch (button)</a:t>
            </a:r>
            <a:endParaRPr lang="en-US" sz="1250" dirty="0"/>
          </a:p>
          <a:p>
            <a:pPr algn="l" marL="152400" indent="-152400">
              <a:spcAft>
                <a:spcPts val="500"/>
              </a:spcAft>
              <a:buSzPct val="100000"/>
              <a:buChar char="•"/>
            </a:pPr>
            <a:r>
              <a:rPr lang="en-US" sz="1100" dirty="0">
                <a:solidFill>
                  <a:srgbClr val="000000"/>
                </a:solidFill>
              </a:rPr>
              <a:t>Things go wrong: a camera fails, a spool overwinds, tension rips a mount out, a motor stalls</a:t>
            </a:r>
            <a:endParaRPr lang="en-US" sz="1250" dirty="0"/>
          </a:p>
          <a:p>
            <a:pPr algn="l" marL="152400" indent="-152400">
              <a:spcAft>
                <a:spcPts val="500"/>
              </a:spcAft>
              <a:buSzPct val="100000"/>
              <a:buChar char="•"/>
            </a:pPr>
            <a:r>
              <a:rPr lang="en-US" sz="1100" dirty="0">
                <a:solidFill>
                  <a:srgbClr val="000000"/>
                </a:solidFill>
              </a:rPr>
              <a:t>A switch the cable's bead can hit: that station stops</a:t>
            </a:r>
            <a:endParaRPr lang="en-US" sz="1250" dirty="0"/>
          </a:p>
          <a:p>
            <a:pPr algn="l" marL="152400" indent="-152400">
              <a:spcAft>
                <a:spcPts val="500"/>
              </a:spcAft>
              <a:buSzPct val="100000"/>
              <a:buChar char="•"/>
            </a:pPr>
            <a:r>
              <a:rPr lang="en-US" sz="1100" dirty="0">
                <a:solidFill>
                  <a:srgbClr val="000000"/>
                </a:solidFill>
              </a:rPr>
              <a:t>Fail-safe wiring: LOW at rest, HIGH pressed or with a broken wire</a:t>
            </a:r>
            <a:endParaRPr lang="en-US" sz="1250" dirty="0"/>
          </a:p>
        </p:txBody>
      </p:sp>
      <p:sp>
        <p:nvSpPr>
          <p:cNvPr id="5" name="card The encoder"/>
          <p:cNvSpPr/>
          <p:nvPr/>
        </p:nvSpPr>
        <p:spPr>
          <a:xfrm>
            <a:off x="3291840" y="868680"/>
            <a:ext cx="2743200" cy="233172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The encoder</a:t>
            </a:r>
            <a:endParaRPr lang="en-US" sz="1250" dirty="0"/>
          </a:p>
          <a:p>
            <a:pPr algn="l" marL="152400" indent="-152400">
              <a:spcAft>
                <a:spcPts val="500"/>
              </a:spcAft>
              <a:buSzPct val="100000"/>
              <a:buChar char="•"/>
            </a:pPr>
            <a:r>
              <a:rPr lang="en-US" sz="1100" dirty="0">
                <a:solidFill>
                  <a:srgbClr val="000000"/>
                </a:solidFill>
              </a:rPr>
              <a:t>On the spool: measures the discrepancies while testing; data first</a:t>
            </a:r>
            <a:endParaRPr lang="en-US" sz="1250" dirty="0"/>
          </a:p>
          <a:p>
            <a:pPr algn="l" marL="152400" indent="-152400">
              <a:spcAft>
                <a:spcPts val="500"/>
              </a:spcAft>
              <a:buSzPct val="100000"/>
              <a:buChar char="•"/>
            </a:pPr>
            <a:r>
              <a:rPr lang="en-US" sz="1100" dirty="0">
                <a:solidFill>
                  <a:srgbClr val="000000"/>
                </a:solidFill>
              </a:rPr>
              <a:t>Confirms every commanded step</a:t>
            </a:r>
            <a:endParaRPr lang="en-US" sz="1250" dirty="0"/>
          </a:p>
          <a:p>
            <a:pPr algn="l" marL="152400" indent="-152400">
              <a:spcAft>
                <a:spcPts val="500"/>
              </a:spcAft>
              <a:buSzPct val="100000"/>
              <a:buChar char="•"/>
            </a:pPr>
            <a:r>
              <a:rPr lang="en-US" sz="1100" dirty="0">
                <a:solidFill>
                  <a:srgbClr val="000000"/>
                </a:solidFill>
              </a:rPr>
              <a:t>Catches slip: the tension sensor</a:t>
            </a:r>
            <a:endParaRPr lang="en-US" sz="1250" dirty="0"/>
          </a:p>
          <a:p>
            <a:pPr algn="l" marL="152400" indent="-152400">
              <a:spcAft>
                <a:spcPts val="500"/>
              </a:spcAft>
              <a:buSzPct val="100000"/>
              <a:buChar char="•"/>
            </a:pPr>
            <a:r>
              <a:rPr lang="en-US" sz="1100" dirty="0">
                <a:solidFill>
                  <a:srgbClr val="000000"/>
                </a:solidFill>
              </a:rPr>
              <a:t>If the camera proves good enough, it can go later</a:t>
            </a:r>
            <a:endParaRPr lang="en-US" sz="1250" dirty="0"/>
          </a:p>
        </p:txBody>
      </p:sp>
      <p:sp>
        <p:nvSpPr>
          <p:cNvPr id="6" name="card And now all this wiring, from one box"/>
          <p:cNvSpPr/>
          <p:nvPr/>
        </p:nvSpPr>
        <p:spPr>
          <a:xfrm>
            <a:off x="365760" y="3337560"/>
            <a:ext cx="5669280" cy="128016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And now all this wiring, from one box</a:t>
            </a:r>
            <a:endParaRPr lang="en-US" sz="1250" dirty="0"/>
          </a:p>
          <a:p>
            <a:pPr algn="l" marL="152400" indent="-152400">
              <a:spcAft>
                <a:spcPts val="500"/>
              </a:spcAft>
              <a:buSzPct val="100000"/>
              <a:buChar char="•"/>
            </a:pPr>
            <a:r>
              <a:rPr lang="en-US" sz="1100" dirty="0">
                <a:solidFill>
                  <a:srgbClr val="000000"/>
                </a:solidFill>
              </a:rPr>
              <a:t>Motor, switch and encoder in every corner: 10 conductors per corner</a:t>
            </a:r>
            <a:endParaRPr lang="en-US" sz="1250" dirty="0"/>
          </a:p>
          <a:p>
            <a:pPr algn="l" marL="152400" indent="-152400">
              <a:spcAft>
                <a:spcPts val="500"/>
              </a:spcAft>
              <a:buSzPct val="100000"/>
              <a:buChar char="•"/>
            </a:pPr>
            <a:r>
              <a:rPr lang="en-US" sz="1100" dirty="0">
                <a:solidFill>
                  <a:srgbClr val="000000"/>
                </a:solidFill>
              </a:rPr>
              <a:t>Routes 6 + 21 + 23 + 32 = 82 ft; × 10 conductors = 820 ft (250 m) of wire to one box (calculated)</a:t>
            </a:r>
            <a:endParaRPr lang="en-US" sz="1250" dirty="0"/>
          </a:p>
        </p:txBody>
      </p:sp>
      <p:pic>
        <p:nvPicPr>
          <p:cNvPr id="7" name="Homing switch" descr="Homing switch">    </p:cNvPr>
          <p:cNvPicPr>
            <a:picLocks noChangeAspect="1"/>
          </p:cNvPicPr>
          <p:nvPr/>
        </p:nvPicPr>
        <p:blipFill>
          <a:blip r:embed="rId1"/>
          <a:stretch>
            <a:fillRect/>
          </a:stretch>
        </p:blipFill>
        <p:spPr>
          <a:xfrm>
            <a:off x="6217920" y="868680"/>
            <a:ext cx="1225296" cy="1591056"/>
          </a:xfrm>
          <a:prstGeom prst="rect">
            <a:avLst/>
          </a:prstGeom>
        </p:spPr>
      </p:pic>
      <p:sp>
        <p:nvSpPr>
          <p:cNvPr id="8" name="caption"/>
          <p:cNvSpPr txBox="1"/>
          <p:nvPr/>
        </p:nvSpPr>
        <p:spPr>
          <a:xfrm>
            <a:off x="6217920" y="2496312"/>
            <a:ext cx="1225296" cy="201168"/>
          </a:xfrm>
          <a:prstGeom prst="rect">
            <a:avLst/>
          </a:prstGeom>
          <a:noFill/>
          <a:ln/>
        </p:spPr>
        <p:txBody>
          <a:bodyPr wrap="square" lIns="0" tIns="0" rIns="0" bIns="0" rtlCol="0" anchor="ctr"/>
          <a:lstStyle/>
          <a:p>
            <a:pPr algn="l" indent="0" marL="0">
              <a:buNone/>
            </a:pPr>
            <a:r>
              <a:rPr lang="en-US" sz="850" dirty="0">
                <a:solidFill>
                  <a:schemeClr val="tx2"/>
                </a:solidFill>
              </a:rPr>
              <a:t>Homing switch</a:t>
            </a:r>
            <a:endParaRPr lang="en-US" sz="850" dirty="0"/>
          </a:p>
        </p:txBody>
      </p:sp>
      <p:pic>
        <p:nvPicPr>
          <p:cNvPr id="9" name="Switch pressed into the slide-in" descr="Switch pressed into the slide-in">    </p:cNvPr>
          <p:cNvPicPr>
            <a:picLocks noChangeAspect="1"/>
          </p:cNvPicPr>
          <p:nvPr/>
        </p:nvPicPr>
        <p:blipFill>
          <a:blip r:embed="rId2"/>
          <a:stretch>
            <a:fillRect/>
          </a:stretch>
        </p:blipFill>
        <p:spPr>
          <a:xfrm>
            <a:off x="7552944" y="868680"/>
            <a:ext cx="1225296" cy="1591056"/>
          </a:xfrm>
          <a:prstGeom prst="rect">
            <a:avLst/>
          </a:prstGeom>
        </p:spPr>
      </p:pic>
      <p:sp>
        <p:nvSpPr>
          <p:cNvPr id="10" name="caption"/>
          <p:cNvSpPr txBox="1"/>
          <p:nvPr/>
        </p:nvSpPr>
        <p:spPr>
          <a:xfrm>
            <a:off x="7552944" y="2496312"/>
            <a:ext cx="1225296" cy="201168"/>
          </a:xfrm>
          <a:prstGeom prst="rect">
            <a:avLst/>
          </a:prstGeom>
          <a:noFill/>
          <a:ln/>
        </p:spPr>
        <p:txBody>
          <a:bodyPr wrap="square" lIns="0" tIns="0" rIns="0" bIns="0" rtlCol="0" anchor="ctr"/>
          <a:lstStyle/>
          <a:p>
            <a:pPr algn="l" indent="0" marL="0">
              <a:buNone/>
            </a:pPr>
            <a:r>
              <a:rPr lang="en-US" sz="850" dirty="0">
                <a:solidFill>
                  <a:schemeClr val="tx2"/>
                </a:solidFill>
              </a:rPr>
              <a:t>Switch pressed into the slide-in</a:t>
            </a:r>
            <a:endParaRPr lang="en-US" sz="850" dirty="0"/>
          </a:p>
        </p:txBody>
      </p:sp>
      <p:pic>
        <p:nvPicPr>
          <p:cNvPr id="11" name="Slide-in with the full harness hanging" descr="Slide-in with the full harness hanging">    </p:cNvPr>
          <p:cNvPicPr>
            <a:picLocks noChangeAspect="1"/>
          </p:cNvPicPr>
          <p:nvPr/>
        </p:nvPicPr>
        <p:blipFill>
          <a:blip r:embed="rId3"/>
          <a:stretch>
            <a:fillRect/>
          </a:stretch>
        </p:blipFill>
        <p:spPr>
          <a:xfrm>
            <a:off x="6217920" y="2788920"/>
            <a:ext cx="2560320" cy="1591056"/>
          </a:xfrm>
          <a:prstGeom prst="rect">
            <a:avLst/>
          </a:prstGeom>
        </p:spPr>
      </p:pic>
      <p:sp>
        <p:nvSpPr>
          <p:cNvPr id="12" name="caption"/>
          <p:cNvSpPr txBox="1"/>
          <p:nvPr/>
        </p:nvSpPr>
        <p:spPr>
          <a:xfrm>
            <a:off x="6217920" y="4416552"/>
            <a:ext cx="2560320" cy="201168"/>
          </a:xfrm>
          <a:prstGeom prst="rect">
            <a:avLst/>
          </a:prstGeom>
          <a:noFill/>
          <a:ln/>
        </p:spPr>
        <p:txBody>
          <a:bodyPr wrap="square" lIns="0" tIns="0" rIns="0" bIns="0" rtlCol="0" anchor="ctr"/>
          <a:lstStyle/>
          <a:p>
            <a:pPr algn="l" indent="0" marL="0">
              <a:buNone/>
            </a:pPr>
            <a:r>
              <a:rPr lang="en-US" sz="850" dirty="0">
                <a:solidFill>
                  <a:schemeClr val="tx2"/>
                </a:solidFill>
              </a:rPr>
              <a:t>One slide-in, its harness hanging</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The solution: a modular box that only needs power</a:t>
            </a:r>
            <a:endParaRPr lang="en-US" sz="2400" dirty="0"/>
          </a:p>
        </p:txBody>
      </p:sp>
      <p:sp>
        <p:nvSpPr>
          <p:cNvPr id="4" name="card A box with its own brain"/>
          <p:cNvSpPr/>
          <p:nvPr/>
        </p:nvSpPr>
        <p:spPr>
          <a:xfrm>
            <a:off x="365760" y="868680"/>
            <a:ext cx="269748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A box with its own brain</a:t>
            </a:r>
            <a:endParaRPr lang="en-US" sz="1250" dirty="0"/>
          </a:p>
          <a:p>
            <a:pPr algn="l" marL="152400" indent="-152400">
              <a:spcAft>
                <a:spcPts val="500"/>
              </a:spcAft>
              <a:buSzPct val="100000"/>
              <a:buChar char="•"/>
            </a:pPr>
            <a:r>
              <a:rPr lang="en-US" sz="1100" dirty="0">
                <a:solidFill>
                  <a:srgbClr val="000000"/>
                </a:solidFill>
              </a:rPr>
              <a:t>An ESP32 in each box, with its driver, buck, switch and encoder</a:t>
            </a:r>
            <a:endParaRPr lang="en-US" sz="1250" dirty="0"/>
          </a:p>
          <a:p>
            <a:pPr algn="l" marL="152400" indent="-152400">
              <a:spcAft>
                <a:spcPts val="500"/>
              </a:spcAft>
              <a:buSzPct val="100000"/>
              <a:buChar char="•"/>
            </a:pPr>
            <a:r>
              <a:rPr lang="en-US" sz="1100" dirty="0">
                <a:solidFill>
                  <a:srgbClr val="000000"/>
                </a:solidFill>
              </a:rPr>
              <a:t>The only thing going in is power: one 12 V pair</a:t>
            </a:r>
            <a:endParaRPr lang="en-US" sz="1250" dirty="0"/>
          </a:p>
          <a:p>
            <a:pPr algn="l" marL="152400" indent="-152400">
              <a:spcAft>
                <a:spcPts val="500"/>
              </a:spcAft>
              <a:buSzPct val="100000"/>
              <a:buChar char="•"/>
            </a:pPr>
            <a:r>
              <a:rPr lang="en-US" sz="1100" dirty="0">
                <a:solidFill>
                  <a:srgbClr val="000000"/>
                </a:solidFill>
              </a:rPr>
              <a:t>82 ft × 2 conductors = 164 ft (50 m) of wire, not 820 ft (calculated)</a:t>
            </a:r>
            <a:endParaRPr lang="en-US" sz="1250" dirty="0"/>
          </a:p>
          <a:p>
            <a:pPr algn="l" marL="152400" indent="-152400">
              <a:spcAft>
                <a:spcPts val="500"/>
              </a:spcAft>
              <a:buSzPct val="100000"/>
              <a:buChar char="•"/>
            </a:pPr>
            <a:r>
              <a:rPr lang="en-US" sz="1100" dirty="0">
                <a:solidFill>
                  <a:srgbClr val="000000"/>
                </a:solidFill>
              </a:rPr>
              <a:t>Power can come from anywhere, so a box sits in any position and orientation</a:t>
            </a:r>
            <a:endParaRPr lang="en-US" sz="1250" dirty="0"/>
          </a:p>
          <a:p>
            <a:pPr algn="l" marL="152400" indent="-152400">
              <a:spcAft>
                <a:spcPts val="500"/>
              </a:spcAft>
              <a:buSzPct val="100000"/>
              <a:buChar char="•"/>
            </a:pPr>
            <a:r>
              <a:rPr lang="en-US" sz="1100" dirty="0">
                <a:solidFill>
                  <a:srgbClr val="000000"/>
                </a:solidFill>
              </a:rPr>
              <a:t>The room's geometry no longer limits where the winches go</a:t>
            </a:r>
            <a:endParaRPr lang="en-US" sz="1250" dirty="0"/>
          </a:p>
        </p:txBody>
      </p:sp>
      <p:sp>
        <p:nvSpPr>
          <p:cNvPr id="5" name="card Wire drop: Gen 1 leads vs one power pair"/>
          <p:cNvSpPr/>
          <p:nvPr/>
        </p:nvSpPr>
        <p:spPr>
          <a:xfrm>
            <a:off x="3246120" y="868680"/>
            <a:ext cx="269748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Wire drop: Gen 1 leads vs one power pair</a:t>
            </a:r>
            <a:endParaRPr lang="en-US" sz="1250" dirty="0"/>
          </a:p>
          <a:p>
            <a:pPr algn="l" marL="152400" indent="-152400">
              <a:spcAft>
                <a:spcPts val="400"/>
              </a:spcAft>
              <a:buSzPct val="100000"/>
              <a:buChar char="•"/>
            </a:pPr>
            <a:r>
              <a:rPr lang="en-US" sz="1000" dirty="0">
                <a:solidFill>
                  <a:srgbClr val="000000"/>
                </a:solidFill>
              </a:rPr>
              <a:t>V = I·ρ·2L/A; copper ρ = 1.724×10⁻⁸ Ω·m, L = 9.75 m (32 ft) one way, I = 2 A</a:t>
            </a:r>
            <a:endParaRPr lang="en-US" sz="1250" dirty="0"/>
          </a:p>
          <a:p>
            <a:pPr algn="l" marL="152400" indent="-152400">
              <a:spcAft>
                <a:spcPts val="400"/>
              </a:spcAft>
              <a:buSzPct val="100000"/>
              <a:buChar char="•"/>
            </a:pPr>
            <a:r>
              <a:rPr lang="en-US" sz="1000" dirty="0">
                <a:solidFill>
                  <a:srgbClr val="000000"/>
                </a:solidFill>
              </a:rPr>
              <a:t>24 AWG Gen 1 motor leads, A = 0.205 mm²: R = 1.64 Ω, 3.29 V (27 % of 12 V), 6.6 W (calculated)</a:t>
            </a:r>
            <a:endParaRPr lang="en-US" sz="1250" dirty="0"/>
          </a:p>
          <a:p>
            <a:pPr algn="l" marL="152400" indent="-152400">
              <a:spcAft>
                <a:spcPts val="400"/>
              </a:spcAft>
              <a:buSzPct val="100000"/>
              <a:buChar char="•"/>
            </a:pPr>
            <a:r>
              <a:rPr lang="en-US" sz="1000" dirty="0">
                <a:solidFill>
                  <a:srgbClr val="000000"/>
                </a:solidFill>
              </a:rPr>
              <a:t>16 AWG power pair, A = 1.309 mm²: R = 0.257 Ω, 0.51 V (4.3 %), 1.0 W (calculated)</a:t>
            </a:r>
            <a:endParaRPr lang="en-US" sz="1250" dirty="0"/>
          </a:p>
          <a:p>
            <a:pPr algn="l" marL="152400" indent="-152400">
              <a:spcAft>
                <a:spcPts val="400"/>
              </a:spcAft>
              <a:buSzPct val="100000"/>
              <a:buChar char="•"/>
            </a:pPr>
            <a:r>
              <a:rPr lang="en-US" sz="1000" dirty="0">
                <a:solidFill>
                  <a:srgbClr val="000000"/>
                </a:solidFill>
              </a:rPr>
              <a:t>Thin motor leads over a room-length run lose a quarter of the supply; one thick power pair loses 4 %</a:t>
            </a:r>
            <a:endParaRPr lang="en-US" sz="1250" dirty="0"/>
          </a:p>
          <a:p>
            <a:pPr algn="l" marL="152400" indent="-152400">
              <a:spcAft>
                <a:spcPts val="400"/>
              </a:spcAft>
              <a:buSzPct val="100000"/>
              <a:buChar char="•"/>
            </a:pPr>
            <a:r>
              <a:rPr lang="en-US" sz="1000" dirty="0">
                <a:solidFill>
                  <a:srgbClr val="000000"/>
                </a:solidFill>
              </a:rPr>
              <a:t>16 AWG: $30 per 100 ft × 65 ft = $19.50 (price estimated)</a:t>
            </a:r>
            <a:endParaRPr lang="en-US" sz="1250" dirty="0"/>
          </a:p>
        </p:txBody>
      </p:sp>
      <p:pic>
        <p:nvPicPr>
          <p:cNvPr id="6" name="Wall mount with its XT60 power connector" descr="Wall mount with its XT60 power connector">    </p:cNvPr>
          <p:cNvPicPr>
            <a:picLocks noChangeAspect="1"/>
          </p:cNvPicPr>
          <p:nvPr/>
        </p:nvPicPr>
        <p:blipFill>
          <a:blip r:embed="rId1"/>
          <a:stretch>
            <a:fillRect/>
          </a:stretch>
        </p:blipFill>
        <p:spPr>
          <a:xfrm>
            <a:off x="6126480" y="868680"/>
            <a:ext cx="2651760" cy="1783080"/>
          </a:xfrm>
          <a:prstGeom prst="rect">
            <a:avLst/>
          </a:prstGeom>
        </p:spPr>
      </p:pic>
      <p:sp>
        <p:nvSpPr>
          <p:cNvPr id="7" name="caption"/>
          <p:cNvSpPr txBox="1"/>
          <p:nvPr/>
        </p:nvSpPr>
        <p:spPr>
          <a:xfrm>
            <a:off x="6126480" y="2679192"/>
            <a:ext cx="2651760" cy="201168"/>
          </a:xfrm>
          <a:prstGeom prst="rect">
            <a:avLst/>
          </a:prstGeom>
          <a:noFill/>
          <a:ln/>
        </p:spPr>
        <p:txBody>
          <a:bodyPr wrap="square" lIns="0" tIns="0" rIns="0" bIns="0" rtlCol="0" anchor="ctr"/>
          <a:lstStyle/>
          <a:p>
            <a:pPr algn="l" indent="0" marL="0">
              <a:buNone/>
            </a:pPr>
            <a:r>
              <a:rPr lang="en-US" sz="850" dirty="0">
                <a:solidFill>
                  <a:schemeClr val="tx2"/>
                </a:solidFill>
              </a:rPr>
              <a:t>The wall mount: one power plug</a:t>
            </a:r>
            <a:endParaRPr lang="en-US" sz="850" dirty="0"/>
          </a:p>
        </p:txBody>
      </p:sp>
      <p:pic>
        <p:nvPicPr>
          <p:cNvPr id="8" name="Station shell, transparent (SolidWorks)" descr="Station shell, transparent (SolidWorks)">    </p:cNvPr>
          <p:cNvPicPr>
            <a:picLocks noChangeAspect="1"/>
          </p:cNvPicPr>
          <p:nvPr/>
        </p:nvPicPr>
        <p:blipFill>
          <a:blip r:embed="rId2"/>
          <a:stretch>
            <a:fillRect/>
          </a:stretch>
        </p:blipFill>
        <p:spPr>
          <a:xfrm>
            <a:off x="6745986" y="2971800"/>
            <a:ext cx="1412748" cy="1408176"/>
          </a:xfrm>
          <a:prstGeom prst="rect">
            <a:avLst/>
          </a:prstGeom>
        </p:spPr>
      </p:pic>
      <p:sp>
        <p:nvSpPr>
          <p:cNvPr id="9" name="caption"/>
          <p:cNvSpPr txBox="1"/>
          <p:nvPr/>
        </p:nvSpPr>
        <p:spPr>
          <a:xfrm>
            <a:off x="6126480" y="4416552"/>
            <a:ext cx="2651760" cy="201168"/>
          </a:xfrm>
          <a:prstGeom prst="rect">
            <a:avLst/>
          </a:prstGeom>
          <a:noFill/>
          <a:ln/>
        </p:spPr>
        <p:txBody>
          <a:bodyPr wrap="square" lIns="0" tIns="0" rIns="0" bIns="0" rtlCol="0" anchor="ctr"/>
          <a:lstStyle/>
          <a:p>
            <a:pPr algn="l" indent="0" marL="0">
              <a:buNone/>
            </a:pPr>
            <a:r>
              <a:rPr lang="en-US" sz="850" dirty="0">
                <a:solidFill>
                  <a:schemeClr val="tx2"/>
                </a:solidFill>
              </a:rPr>
              <a:t>The station: board, driver, motor, fin (CAD)</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Modular, for the everyday user</a:t>
            </a:r>
            <a:endParaRPr lang="en-US" sz="2400" dirty="0"/>
          </a:p>
        </p:txBody>
      </p:sp>
      <p:sp>
        <p:nvSpPr>
          <p:cNvPr id="4" name="card Unmount, remount, plug in"/>
          <p:cNvSpPr/>
          <p:nvPr/>
        </p:nvSpPr>
        <p:spPr>
          <a:xfrm>
            <a:off x="365760" y="868680"/>
            <a:ext cx="3108960" cy="18059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Unmount, remount, plug in</a:t>
            </a:r>
            <a:endParaRPr lang="en-US" sz="1250" dirty="0"/>
          </a:p>
          <a:p>
            <a:pPr algn="l" marL="152400" indent="-152400">
              <a:spcAft>
                <a:spcPts val="500"/>
              </a:spcAft>
              <a:buSzPct val="100000"/>
              <a:buChar char="•"/>
            </a:pPr>
            <a:r>
              <a:rPr lang="en-US" sz="1100" dirty="0">
                <a:solidFill>
                  <a:srgbClr val="000000"/>
                </a:solidFill>
              </a:rPr>
              <a:t>A box slides off its wall mount and unplugs</a:t>
            </a:r>
            <a:endParaRPr lang="en-US" sz="1250" dirty="0"/>
          </a:p>
          <a:p>
            <a:pPr algn="l" marL="152400" indent="-152400">
              <a:spcAft>
                <a:spcPts val="500"/>
              </a:spcAft>
              <a:buSzPct val="100000"/>
              <a:buChar char="•"/>
            </a:pPr>
            <a:r>
              <a:rPr lang="en-US" sz="1100" dirty="0">
                <a:solidFill>
                  <a:srgbClr val="000000"/>
                </a:solidFill>
              </a:rPr>
              <a:t>Guests coming: each box goes in a drawer</a:t>
            </a:r>
            <a:endParaRPr lang="en-US" sz="1250" dirty="0"/>
          </a:p>
          <a:p>
            <a:pPr algn="l" marL="152400" indent="-152400">
              <a:spcAft>
                <a:spcPts val="500"/>
              </a:spcAft>
              <a:buSzPct val="100000"/>
              <a:buChar char="•"/>
            </a:pPr>
            <a:r>
              <a:rPr lang="en-US" sz="1100" dirty="0">
                <a:solidFill>
                  <a:srgbClr val="000000"/>
                </a:solidFill>
              </a:rPr>
              <a:t>Back on: one plug, it joins the Wi-Fi by itself</a:t>
            </a:r>
            <a:endParaRPr lang="en-US" sz="1250" dirty="0"/>
          </a:p>
        </p:txBody>
      </p:sp>
      <p:sp>
        <p:nvSpPr>
          <p:cNvPr id="5" name="card No screwdriver on the wall"/>
          <p:cNvSpPr/>
          <p:nvPr/>
        </p:nvSpPr>
        <p:spPr>
          <a:xfrm>
            <a:off x="365760" y="2811780"/>
            <a:ext cx="3108960" cy="18059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No screwdriver on the wall</a:t>
            </a:r>
            <a:endParaRPr lang="en-US" sz="1250" dirty="0"/>
          </a:p>
          <a:p>
            <a:pPr algn="l" marL="152400" indent="-152400">
              <a:spcAft>
                <a:spcPts val="500"/>
              </a:spcAft>
              <a:buSzPct val="100000"/>
              <a:buChar char="•"/>
            </a:pPr>
            <a:r>
              <a:rPr lang="en-US" sz="1100" dirty="0">
                <a:solidFill>
                  <a:srgbClr val="000000"/>
                </a:solidFill>
              </a:rPr>
              <a:t>Slip the station out of the mount, open the electronics</a:t>
            </a:r>
            <a:endParaRPr lang="en-US" sz="1250" dirty="0"/>
          </a:p>
          <a:p>
            <a:pPr algn="l" marL="152400" indent="-152400">
              <a:spcAft>
                <a:spcPts val="500"/>
              </a:spcAft>
              <a:buSzPct val="100000"/>
              <a:buChar char="•"/>
            </a:pPr>
            <a:r>
              <a:rPr lang="en-US" sz="1100" dirty="0">
                <a:solidFill>
                  <a:srgbClr val="000000"/>
                </a:solidFill>
              </a:rPr>
              <a:t>Close it, slide it back: the mount and its screws stay in the stud</a:t>
            </a:r>
            <a:endParaRPr lang="en-US" sz="1250" dirty="0"/>
          </a:p>
          <a:p>
            <a:pPr algn="l" marL="152400" indent="-152400">
              <a:spcAft>
                <a:spcPts val="500"/>
              </a:spcAft>
              <a:buSzPct val="100000"/>
              <a:buChar char="•"/>
            </a:pPr>
            <a:r>
              <a:rPr lang="en-US" sz="1100" dirty="0">
                <a:solidFill>
                  <a:srgbClr val="000000"/>
                </a:solidFill>
              </a:rPr>
              <a:t>The mount is separate: a stud today, a pole clamp later</a:t>
            </a:r>
            <a:endParaRPr lang="en-US" sz="1250" dirty="0"/>
          </a:p>
        </p:txBody>
      </p:sp>
      <p:pic>
        <p:nvPicPr>
          <p:cNvPr id="6" name="The wall mount alone, lead hanging" descr="The wall mount alone, lead hanging">    </p:cNvPr>
          <p:cNvPicPr>
            <a:picLocks noChangeAspect="1"/>
          </p:cNvPicPr>
          <p:nvPr/>
        </p:nvPicPr>
        <p:blipFill>
          <a:blip r:embed="rId1"/>
          <a:stretch>
            <a:fillRect/>
          </a:stretch>
        </p:blipFill>
        <p:spPr>
          <a:xfrm>
            <a:off x="3703320" y="868680"/>
            <a:ext cx="1618488" cy="3511296"/>
          </a:xfrm>
          <a:prstGeom prst="rect">
            <a:avLst/>
          </a:prstGeom>
        </p:spPr>
      </p:pic>
      <p:sp>
        <p:nvSpPr>
          <p:cNvPr id="7" name="caption"/>
          <p:cNvSpPr txBox="1"/>
          <p:nvPr/>
        </p:nvSpPr>
        <p:spPr>
          <a:xfrm>
            <a:off x="3703320" y="4416552"/>
            <a:ext cx="1618488" cy="201168"/>
          </a:xfrm>
          <a:prstGeom prst="rect">
            <a:avLst/>
          </a:prstGeom>
          <a:noFill/>
          <a:ln/>
        </p:spPr>
        <p:txBody>
          <a:bodyPr wrap="square" lIns="0" tIns="0" rIns="0" bIns="0" rtlCol="0" anchor="ctr"/>
          <a:lstStyle/>
          <a:p>
            <a:pPr algn="l" indent="0" marL="0">
              <a:buNone/>
            </a:pPr>
            <a:r>
              <a:rPr lang="en-US" sz="850" dirty="0">
                <a:solidFill>
                  <a:schemeClr val="tx2"/>
                </a:solidFill>
              </a:rPr>
              <a:t>The wall mount alone, lead hanging</a:t>
            </a:r>
            <a:endParaRPr lang="en-US" sz="850" dirty="0"/>
          </a:p>
        </p:txBody>
      </p:sp>
      <p:pic>
        <p:nvPicPr>
          <p:cNvPr id="8" name="The station slid onto it" descr="The station slid onto it">    </p:cNvPr>
          <p:cNvPicPr>
            <a:picLocks noChangeAspect="1"/>
          </p:cNvPicPr>
          <p:nvPr/>
        </p:nvPicPr>
        <p:blipFill>
          <a:blip r:embed="rId2"/>
          <a:stretch>
            <a:fillRect/>
          </a:stretch>
        </p:blipFill>
        <p:spPr>
          <a:xfrm>
            <a:off x="5431536" y="868680"/>
            <a:ext cx="1618488" cy="3511296"/>
          </a:xfrm>
          <a:prstGeom prst="rect">
            <a:avLst/>
          </a:prstGeom>
        </p:spPr>
      </p:pic>
      <p:sp>
        <p:nvSpPr>
          <p:cNvPr id="9" name="caption"/>
          <p:cNvSpPr txBox="1"/>
          <p:nvPr/>
        </p:nvSpPr>
        <p:spPr>
          <a:xfrm>
            <a:off x="5431536" y="4416552"/>
            <a:ext cx="1618488" cy="201168"/>
          </a:xfrm>
          <a:prstGeom prst="rect">
            <a:avLst/>
          </a:prstGeom>
          <a:noFill/>
          <a:ln/>
        </p:spPr>
        <p:txBody>
          <a:bodyPr wrap="square" lIns="0" tIns="0" rIns="0" bIns="0" rtlCol="0" anchor="ctr"/>
          <a:lstStyle/>
          <a:p>
            <a:pPr algn="l" indent="0" marL="0">
              <a:buNone/>
            </a:pPr>
            <a:r>
              <a:rPr lang="en-US" sz="850" dirty="0">
                <a:solidFill>
                  <a:schemeClr val="tx2"/>
                </a:solidFill>
              </a:rPr>
              <a:t>The station slid onto it</a:t>
            </a:r>
            <a:endParaRPr lang="en-US" sz="850" dirty="0"/>
          </a:p>
        </p:txBody>
      </p:sp>
      <p:pic>
        <p:nvPicPr>
          <p:cNvPr id="10" name="Shell open on the bench" descr="Shell open on the bench">    </p:cNvPr>
          <p:cNvPicPr>
            <a:picLocks noChangeAspect="1"/>
          </p:cNvPicPr>
          <p:nvPr/>
        </p:nvPicPr>
        <p:blipFill>
          <a:blip r:embed="rId3"/>
          <a:stretch>
            <a:fillRect/>
          </a:stretch>
        </p:blipFill>
        <p:spPr>
          <a:xfrm>
            <a:off x="7159752" y="868680"/>
            <a:ext cx="1618488" cy="3511296"/>
          </a:xfrm>
          <a:prstGeom prst="rect">
            <a:avLst/>
          </a:prstGeom>
        </p:spPr>
      </p:pic>
      <p:sp>
        <p:nvSpPr>
          <p:cNvPr id="11" name="caption"/>
          <p:cNvSpPr txBox="1"/>
          <p:nvPr/>
        </p:nvSpPr>
        <p:spPr>
          <a:xfrm>
            <a:off x="7159752" y="4416552"/>
            <a:ext cx="1618488" cy="201168"/>
          </a:xfrm>
          <a:prstGeom prst="rect">
            <a:avLst/>
          </a:prstGeom>
          <a:noFill/>
          <a:ln/>
        </p:spPr>
        <p:txBody>
          <a:bodyPr wrap="square" lIns="0" tIns="0" rIns="0" bIns="0" rtlCol="0" anchor="ctr"/>
          <a:lstStyle/>
          <a:p>
            <a:pPr algn="l" indent="0" marL="0">
              <a:buNone/>
            </a:pPr>
            <a:r>
              <a:rPr lang="en-US" sz="850" dirty="0">
                <a:solidFill>
                  <a:schemeClr val="tx2"/>
                </a:solidFill>
              </a:rPr>
              <a:t>Shell open on the bench</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Trade-offs: what each component needs</a:t>
            </a:r>
            <a:endParaRPr lang="en-US" sz="2400" dirty="0"/>
          </a:p>
        </p:txBody>
      </p:sp>
      <p:pic>
        <p:nvPicPr>
          <p:cNvPr id="4" name="chart tension" descr="Tension per cable vs depth below the anchors: static, with 2 m/s2, winch limit (calculated)">    </p:cNvPr>
          <p:cNvPicPr>
            <a:picLocks noChangeAspect="1"/>
          </p:cNvPicPr>
          <p:nvPr/>
        </p:nvPicPr>
        <p:blipFill>
          <a:blip r:embed="rId1"/>
          <a:stretch>
            <a:fillRect/>
          </a:stretch>
        </p:blipFill>
        <p:spPr>
          <a:xfrm>
            <a:off x="365760" y="868680"/>
            <a:ext cx="2712720" cy="1531620"/>
          </a:xfrm>
          <a:prstGeom prst="rect">
            <a:avLst/>
          </a:prstGeom>
        </p:spPr>
      </p:pic>
      <p:sp>
        <p:nvSpPr>
          <p:cNvPr id="5" name="what we need"/>
          <p:cNvSpPr txBox="1"/>
          <p:nvPr/>
        </p:nvSpPr>
        <p:spPr>
          <a:xfrm>
            <a:off x="365760" y="2400300"/>
            <a:ext cx="2712720" cy="274320"/>
          </a:xfrm>
          <a:prstGeom prst="rect">
            <a:avLst/>
          </a:prstGeom>
          <a:noFill/>
          <a:ln/>
        </p:spPr>
        <p:txBody>
          <a:bodyPr wrap="square" lIns="0" tIns="0" rIns="0" bIns="0" rtlCol="0" anchor="ctr"/>
          <a:lstStyle/>
          <a:p>
            <a:pPr indent="0" marL="0">
              <a:buNone/>
            </a:pPr>
            <a:r>
              <a:rPr lang="en-US" sz="850" b="1" dirty="0">
                <a:solidFill>
                  <a:schemeClr val="tx1"/>
                </a:solidFill>
              </a:rPr>
              <a:t>T = m(g + a) / (4 sin φ): 1 lb at d 0.4 m → 17.1 N vs 16.8 N limit; jeans need d ≥ 0.6 m (16.6 N)</a:t>
            </a:r>
            <a:endParaRPr lang="en-US" sz="850" dirty="0"/>
          </a:p>
        </p:txBody>
      </p:sp>
      <p:pic>
        <p:nvPicPr>
          <p:cNvPr id="6" name="chart temperature" descr="Motor case temperature at 1.5 A, vented and sealed shell, by fin (calculated)">    </p:cNvPr>
          <p:cNvPicPr>
            <a:picLocks noChangeAspect="1"/>
          </p:cNvPicPr>
          <p:nvPr/>
        </p:nvPicPr>
        <p:blipFill>
          <a:blip r:embed="rId2"/>
          <a:stretch>
            <a:fillRect/>
          </a:stretch>
        </p:blipFill>
        <p:spPr>
          <a:xfrm>
            <a:off x="3215640" y="868680"/>
            <a:ext cx="2712720" cy="1531620"/>
          </a:xfrm>
          <a:prstGeom prst="rect">
            <a:avLst/>
          </a:prstGeom>
        </p:spPr>
      </p:pic>
      <p:sp>
        <p:nvSpPr>
          <p:cNvPr id="7" name="what we need"/>
          <p:cNvSpPr txBox="1"/>
          <p:nvPr/>
        </p:nvSpPr>
        <p:spPr>
          <a:xfrm>
            <a:off x="3215640" y="2400300"/>
            <a:ext cx="2712720" cy="274320"/>
          </a:xfrm>
          <a:prstGeom prst="rect">
            <a:avLst/>
          </a:prstGeom>
          <a:noFill/>
          <a:ln/>
        </p:spPr>
        <p:txBody>
          <a:bodyPr wrap="square" lIns="0" tIns="0" rIns="0" bIns="0" rtlCol="0" anchor="ctr"/>
          <a:lstStyle/>
          <a:p>
            <a:pPr indent="0" marL="0">
              <a:buNone/>
            </a:pPr>
            <a:r>
              <a:rPr lang="en-US" sz="850" b="1" dirty="0">
                <a:solidFill>
                  <a:schemeClr val="tx1"/>
                </a:solidFill>
              </a:rPr>
              <a:t>Need &lt; 60 °C. Two-node thermal network; input P = I²R = 1.5² × 1.8 Ω = 4.05 W</a:t>
            </a:r>
            <a:endParaRPr lang="en-US" sz="850" dirty="0"/>
          </a:p>
        </p:txBody>
      </p:sp>
      <p:pic>
        <p:nvPicPr>
          <p:cNvPr id="8" name="chart pull" descr="Pull per winch vs spool radius at 1.5 A: running pull, design force, jeans worst cable (calculated)">    </p:cNvPr>
          <p:cNvPicPr>
            <a:picLocks noChangeAspect="1"/>
          </p:cNvPicPr>
          <p:nvPr/>
        </p:nvPicPr>
        <p:blipFill>
          <a:blip r:embed="rId3"/>
          <a:stretch>
            <a:fillRect/>
          </a:stretch>
        </p:blipFill>
        <p:spPr>
          <a:xfrm>
            <a:off x="6065520" y="868680"/>
            <a:ext cx="2712720" cy="1531620"/>
          </a:xfrm>
          <a:prstGeom prst="rect">
            <a:avLst/>
          </a:prstGeom>
        </p:spPr>
      </p:pic>
      <p:sp>
        <p:nvSpPr>
          <p:cNvPr id="9" name="what we need"/>
          <p:cNvSpPr txBox="1"/>
          <p:nvPr/>
        </p:nvSpPr>
        <p:spPr>
          <a:xfrm>
            <a:off x="6065520" y="2400300"/>
            <a:ext cx="2712720" cy="274320"/>
          </a:xfrm>
          <a:prstGeom prst="rect">
            <a:avLst/>
          </a:prstGeom>
          <a:noFill/>
          <a:ln/>
        </p:spPr>
        <p:txBody>
          <a:bodyPr wrap="square" lIns="0" tIns="0" rIns="0" bIns="0" rtlCol="0" anchor="ctr"/>
          <a:lstStyle/>
          <a:p>
            <a:pPr indent="0" marL="0">
              <a:buNone/>
            </a:pPr>
            <a:r>
              <a:rPr lang="en-US" sz="850" b="1" dirty="0">
                <a:solidFill>
                  <a:schemeClr val="tx1"/>
                </a:solidFill>
              </a:rPr>
              <a:t>F = 0.252 N·m / r: 34 N (7.5 mm), 25 N (10 mm); ÷ 1.5 = 16.8 N ≥ 16.2 N jeans</a:t>
            </a:r>
            <a:endParaRPr lang="en-US" sz="850" dirty="0"/>
          </a:p>
        </p:txBody>
      </p:sp>
      <p:pic>
        <p:nvPicPr>
          <p:cNvPr id="10" name="chart lift" descr="What the winches can hold vs what they must hold, kg (measured claw, calculated capacity)">    </p:cNvPr>
          <p:cNvPicPr>
            <a:picLocks noChangeAspect="1"/>
          </p:cNvPicPr>
          <p:nvPr/>
        </p:nvPicPr>
        <p:blipFill>
          <a:blip r:embed="rId4"/>
          <a:stretch>
            <a:fillRect/>
          </a:stretch>
        </p:blipFill>
        <p:spPr>
          <a:xfrm>
            <a:off x="365760" y="2811780"/>
            <a:ext cx="2712720" cy="1531620"/>
          </a:xfrm>
          <a:prstGeom prst="rect">
            <a:avLst/>
          </a:prstGeom>
        </p:spPr>
      </p:pic>
      <p:sp>
        <p:nvSpPr>
          <p:cNvPr id="11" name="what we need"/>
          <p:cNvSpPr txBox="1"/>
          <p:nvPr/>
        </p:nvSpPr>
        <p:spPr>
          <a:xfrm>
            <a:off x="365760" y="4343400"/>
            <a:ext cx="2712720" cy="274320"/>
          </a:xfrm>
          <a:prstGeom prst="rect">
            <a:avLst/>
          </a:prstGeom>
          <a:noFill/>
          <a:ln/>
        </p:spPr>
        <p:txBody>
          <a:bodyPr wrap="square" lIns="0" tIns="0" rIns="0" bIns="0" rtlCol="0" anchor="ctr"/>
          <a:lstStyle/>
          <a:p>
            <a:pPr indent="0" marL="0">
              <a:buNone/>
            </a:pPr>
            <a:r>
              <a:rPr lang="en-US" sz="850" b="1" dirty="0">
                <a:solidFill>
                  <a:schemeClr val="tx1"/>
                </a:solidFill>
              </a:rPr>
              <a:t>16.8 N / (1.101 × 9.81) = 1.56 kg vs 1.50 kg: +4 %; claw 0.60 kg weighed vs 0.45 budget</a:t>
            </a:r>
            <a:endParaRPr lang="en-US" sz="850" dirty="0"/>
          </a:p>
        </p:txBody>
      </p:sp>
      <p:pic>
        <p:nvPicPr>
          <p:cNvPr id="12" name="chart weakest" descr="Cable tension at which each part of the lifting chain gives, one station at 1.5 A (calculated)">    </p:cNvPr>
          <p:cNvPicPr>
            <a:picLocks noChangeAspect="1"/>
          </p:cNvPicPr>
          <p:nvPr/>
        </p:nvPicPr>
        <p:blipFill>
          <a:blip r:embed="rId5"/>
          <a:stretch>
            <a:fillRect/>
          </a:stretch>
        </p:blipFill>
        <p:spPr>
          <a:xfrm>
            <a:off x="3215640" y="2811780"/>
            <a:ext cx="2712720" cy="1531620"/>
          </a:xfrm>
          <a:prstGeom prst="rect">
            <a:avLst/>
          </a:prstGeom>
        </p:spPr>
      </p:pic>
      <p:sp>
        <p:nvSpPr>
          <p:cNvPr id="13" name="what we need"/>
          <p:cNvSpPr txBox="1"/>
          <p:nvPr/>
        </p:nvSpPr>
        <p:spPr>
          <a:xfrm>
            <a:off x="3215640" y="4343400"/>
            <a:ext cx="2712720" cy="274320"/>
          </a:xfrm>
          <a:prstGeom prst="rect">
            <a:avLst/>
          </a:prstGeom>
          <a:noFill/>
          <a:ln/>
        </p:spPr>
        <p:txBody>
          <a:bodyPr wrap="square" lIns="0" tIns="0" rIns="0" bIns="0" rtlCol="0" anchor="ctr"/>
          <a:lstStyle/>
          <a:p>
            <a:pPr indent="0" marL="0">
              <a:buNone/>
            </a:pPr>
            <a:r>
              <a:rPr lang="en-US" sz="850" b="1" dirty="0">
                <a:solidFill>
                  <a:schemeClr val="tx1"/>
                </a:solidFill>
              </a:rPr>
              <a:t>Motor slip 0.36 N·m / 7.5 mm = 48 N; × 1/√2 = 34 N, × 1.11 / cos 26° = 59 N</a:t>
            </a:r>
            <a:endParaRPr lang="en-US" sz="850" dirty="0"/>
          </a:p>
        </p:txBody>
      </p:sp>
      <p:sp>
        <p:nvSpPr>
          <p:cNvPr id="14" name="card The factors"/>
          <p:cNvSpPr/>
          <p:nvPr/>
        </p:nvSpPr>
        <p:spPr>
          <a:xfrm>
            <a:off x="6065520" y="2811780"/>
            <a:ext cx="2712720" cy="18059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The factors</a:t>
            </a:r>
            <a:endParaRPr lang="en-US" sz="1250" dirty="0"/>
          </a:p>
          <a:p>
            <a:pPr algn="l" marL="152400" indent="-152400">
              <a:spcAft>
                <a:spcPts val="300"/>
              </a:spcAft>
              <a:buSzPct val="100000"/>
              <a:buChar char="•"/>
            </a:pPr>
            <a:r>
              <a:rPr lang="en-US" sz="950" dirty="0">
                <a:solidFill>
                  <a:srgbClr val="000000"/>
                </a:solidFill>
              </a:rPr>
              <a:t>Pull ∝ I; heat P = I²R ∝ I²</a:t>
            </a:r>
            <a:endParaRPr lang="en-US" sz="1250" dirty="0"/>
          </a:p>
          <a:p>
            <a:pPr algn="l" marL="152400" indent="-152400">
              <a:spcAft>
                <a:spcPts val="300"/>
              </a:spcAft>
              <a:buSzPct val="100000"/>
              <a:buChar char="•"/>
            </a:pPr>
            <a:r>
              <a:rPr lang="en-US" sz="950" dirty="0">
                <a:solidFill>
                  <a:srgbClr val="000000"/>
                </a:solidFill>
              </a:rPr>
              <a:t>1.0 → 1.5 A: pull × 1.5, heat × 1.5² = 2.25 (calculated)</a:t>
            </a:r>
            <a:endParaRPr lang="en-US" sz="1250" dirty="0"/>
          </a:p>
          <a:p>
            <a:pPr algn="l" marL="152400" indent="-152400">
              <a:spcAft>
                <a:spcPts val="300"/>
              </a:spcAft>
              <a:buSzPct val="100000"/>
              <a:buChar char="•"/>
            </a:pPr>
            <a:r>
              <a:rPr lang="en-US" sz="950" dirty="0">
                <a:solidFill>
                  <a:srgbClr val="000000"/>
                </a:solidFill>
              </a:rPr>
              <a:t>Every gram on the claw is a gram of payload</a:t>
            </a:r>
            <a:endParaRPr lang="en-US" sz="1250" dirty="0"/>
          </a:p>
          <a:p>
            <a:pPr algn="l" marL="152400" indent="-152400">
              <a:spcAft>
                <a:spcPts val="300"/>
              </a:spcAft>
              <a:buSzPct val="100000"/>
              <a:buChar char="•"/>
            </a:pPr>
            <a:r>
              <a:rPr lang="en-US" sz="950" dirty="0">
                <a:solidFill>
                  <a:srgbClr val="000000"/>
                </a:solidFill>
              </a:rPr>
              <a:t>Printed set screw (22–64 N) may slip first: metal insert</a:t>
            </a:r>
            <a:endParaRPr lang="en-US" sz="12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The mount assembly: slide-in on a dovetail</a:t>
            </a:r>
            <a:endParaRPr lang="en-US" sz="2400" dirty="0"/>
          </a:p>
        </p:txBody>
      </p:sp>
      <p:sp>
        <p:nvSpPr>
          <p:cNvPr id="4" name="card Slide-in mount and load path"/>
          <p:cNvSpPr/>
          <p:nvPr/>
        </p:nvSpPr>
        <p:spPr>
          <a:xfrm>
            <a:off x="365760" y="868680"/>
            <a:ext cx="320040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Slide-in mount and load path</a:t>
            </a:r>
            <a:endParaRPr lang="en-US" sz="1250" dirty="0"/>
          </a:p>
          <a:p>
            <a:pPr algn="l" marL="152400" indent="-152400">
              <a:spcAft>
                <a:spcPts val="500"/>
              </a:spcAft>
              <a:buSzPct val="100000"/>
              <a:buChar char="•"/>
            </a:pPr>
            <a:r>
              <a:rPr lang="en-US" sz="1100" dirty="0">
                <a:solidFill>
                  <a:srgbClr val="000000"/>
                </a:solidFill>
              </a:rPr>
              <a:t>The wall mount screws into a stud; the station slides onto it on a dovetail</a:t>
            </a:r>
            <a:endParaRPr lang="en-US" sz="1250" dirty="0"/>
          </a:p>
          <a:p>
            <a:pPr algn="l" marL="152400" indent="-152400">
              <a:spcAft>
                <a:spcPts val="500"/>
              </a:spcAft>
              <a:buSzPct val="100000"/>
              <a:buChar char="•"/>
            </a:pPr>
            <a:r>
              <a:rPr lang="en-US" sz="1100" dirty="0">
                <a:solidFill>
                  <a:srgbClr val="000000"/>
                </a:solidFill>
              </a:rPr>
              <a:t>Dovetail clearance 0.175 mm per side on 30° flanks (measured on the CAD)</a:t>
            </a:r>
            <a:endParaRPr lang="en-US" sz="1250" dirty="0"/>
          </a:p>
          <a:p>
            <a:pPr algn="l" marL="152400" indent="-152400">
              <a:spcAft>
                <a:spcPts val="500"/>
              </a:spcAft>
              <a:buSzPct val="100000"/>
              <a:buChar char="•"/>
            </a:pPr>
            <a:r>
              <a:rPr lang="en-US" sz="1100" dirty="0">
                <a:solidFill>
                  <a:srgbClr val="000000"/>
                </a:solidFill>
              </a:rPr>
              <a:t>Load path: cable, spool, set screw, motor, tab, mount, screws, stud</a:t>
            </a:r>
            <a:endParaRPr lang="en-US" sz="1250" dirty="0"/>
          </a:p>
          <a:p>
            <a:pPr algn="l" marL="152400" indent="-152400">
              <a:spcAft>
                <a:spcPts val="500"/>
              </a:spcAft>
              <a:buSzPct val="100000"/>
              <a:buChar char="•"/>
            </a:pPr>
            <a:r>
              <a:rPr lang="en-US" sz="1100" dirty="0">
                <a:solidFill>
                  <a:srgbClr val="000000"/>
                </a:solidFill>
              </a:rPr>
              <a:t>Motor slips first: F = τ/r = 0.36 N·m / 7.5 mm = 48 N; 34–59 N over torque vector and cable angle (calculated)</a:t>
            </a:r>
            <a:endParaRPr lang="en-US" sz="1250" dirty="0"/>
          </a:p>
          <a:p>
            <a:pPr algn="l" marL="152400" indent="-152400">
              <a:spcAft>
                <a:spcPts val="500"/>
              </a:spcAft>
              <a:buSzPct val="100000"/>
              <a:buChar char="•"/>
            </a:pPr>
            <a:r>
              <a:rPr lang="en-US" sz="1100" dirty="0">
                <a:solidFill>
                  <a:srgbClr val="000000"/>
                </a:solidFill>
              </a:rPr>
              <a:t>The spool encoder sees the slip: tracking fault, every station holds</a:t>
            </a:r>
            <a:endParaRPr lang="en-US" sz="1250" dirty="0"/>
          </a:p>
        </p:txBody>
      </p:sp>
      <p:pic>
        <p:nvPicPr>
          <p:cNvPr id="5" name="The printed wall mount alone in a corner" descr="The printed wall mount alone in a corner">    </p:cNvPr>
          <p:cNvPicPr>
            <a:picLocks noChangeAspect="1"/>
          </p:cNvPicPr>
          <p:nvPr/>
        </p:nvPicPr>
        <p:blipFill>
          <a:blip r:embed="rId1"/>
          <a:stretch>
            <a:fillRect/>
          </a:stretch>
        </p:blipFill>
        <p:spPr>
          <a:xfrm>
            <a:off x="3794760" y="868680"/>
            <a:ext cx="2436876" cy="1920240"/>
          </a:xfrm>
          <a:prstGeom prst="rect">
            <a:avLst/>
          </a:prstGeom>
        </p:spPr>
      </p:pic>
      <p:pic>
        <p:nvPicPr>
          <p:cNvPr id="6" name="The station shell on its wall mount" descr="The station shell on its wall mount">    </p:cNvPr>
          <p:cNvPicPr>
            <a:picLocks noChangeAspect="1"/>
          </p:cNvPicPr>
          <p:nvPr/>
        </p:nvPicPr>
        <p:blipFill>
          <a:blip r:embed="rId2"/>
          <a:stretch>
            <a:fillRect/>
          </a:stretch>
        </p:blipFill>
        <p:spPr>
          <a:xfrm>
            <a:off x="6341364" y="868680"/>
            <a:ext cx="2436876" cy="1920240"/>
          </a:xfrm>
          <a:prstGeom prst="rect">
            <a:avLst/>
          </a:prstGeom>
        </p:spPr>
      </p:pic>
      <p:sp>
        <p:nvSpPr>
          <p:cNvPr id="7" name="caption"/>
          <p:cNvSpPr txBox="1"/>
          <p:nvPr/>
        </p:nvSpPr>
        <p:spPr>
          <a:xfrm>
            <a:off x="3794760" y="2816352"/>
            <a:ext cx="4983480" cy="201168"/>
          </a:xfrm>
          <a:prstGeom prst="rect">
            <a:avLst/>
          </a:prstGeom>
          <a:noFill/>
          <a:ln/>
        </p:spPr>
        <p:txBody>
          <a:bodyPr wrap="square" lIns="0" tIns="0" rIns="0" bIns="0" rtlCol="0" anchor="ctr"/>
          <a:lstStyle/>
          <a:p>
            <a:pPr algn="l" indent="0" marL="0">
              <a:buNone/>
            </a:pPr>
            <a:r>
              <a:rPr lang="en-US" sz="850" dirty="0">
                <a:solidFill>
                  <a:schemeClr val="tx2"/>
                </a:solidFill>
              </a:rPr>
              <a:t>The mount alone, before the station slides in; the station on the mount</a:t>
            </a:r>
            <a:endParaRPr lang="en-US" sz="850" dirty="0"/>
          </a:p>
        </p:txBody>
      </p:sp>
      <p:pic>
        <p:nvPicPr>
          <p:cNvPr id="8" name="Slide-in rib in the wall-mount dovetail " descr="Slide-in rib in the wall-mount dovetail (CAD)">    </p:cNvPr>
          <p:cNvPicPr>
            <a:picLocks noChangeAspect="1"/>
          </p:cNvPicPr>
          <p:nvPr/>
        </p:nvPicPr>
        <p:blipFill>
          <a:blip r:embed="rId3"/>
          <a:stretch>
            <a:fillRect/>
          </a:stretch>
        </p:blipFill>
        <p:spPr>
          <a:xfrm>
            <a:off x="4000585" y="3063240"/>
            <a:ext cx="2678107" cy="1316736"/>
          </a:xfrm>
          <a:prstGeom prst="rect">
            <a:avLst/>
          </a:prstGeom>
        </p:spPr>
      </p:pic>
      <p:pic>
        <p:nvPicPr>
          <p:cNvPr id="9" name="Station shell, transparent (SolidWorks)" descr="Station shell, transparent (SolidWorks)">    </p:cNvPr>
          <p:cNvPicPr>
            <a:picLocks noChangeAspect="1"/>
          </p:cNvPicPr>
          <p:nvPr/>
        </p:nvPicPr>
        <p:blipFill>
          <a:blip r:embed="rId4"/>
          <a:stretch>
            <a:fillRect/>
          </a:stretch>
        </p:blipFill>
        <p:spPr>
          <a:xfrm>
            <a:off x="7225737" y="3063240"/>
            <a:ext cx="1321011" cy="1316736"/>
          </a:xfrm>
          <a:prstGeom prst="rect">
            <a:avLst/>
          </a:prstGeom>
        </p:spPr>
      </p:pic>
      <p:sp>
        <p:nvSpPr>
          <p:cNvPr id="10" name="caption"/>
          <p:cNvSpPr txBox="1"/>
          <p:nvPr/>
        </p:nvSpPr>
        <p:spPr>
          <a:xfrm>
            <a:off x="3794760" y="4416552"/>
            <a:ext cx="4983480" cy="201168"/>
          </a:xfrm>
          <a:prstGeom prst="rect">
            <a:avLst/>
          </a:prstGeom>
          <a:noFill/>
          <a:ln/>
        </p:spPr>
        <p:txBody>
          <a:bodyPr wrap="square" lIns="0" tIns="0" rIns="0" bIns="0" rtlCol="0" anchor="ctr"/>
          <a:lstStyle/>
          <a:p>
            <a:pPr algn="l" indent="0" marL="0">
              <a:buNone/>
            </a:pPr>
            <a:r>
              <a:rPr lang="en-US" sz="850" dirty="0">
                <a:solidFill>
                  <a:schemeClr val="tx2"/>
                </a:solidFill>
              </a:rPr>
              <a:t>Rib in the dovetail groove (CAD); the station with its shell transparent (CAD)</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The mount assembly: fin, vents and the wall</a:t>
            </a:r>
            <a:endParaRPr lang="en-US" sz="2400" dirty="0"/>
          </a:p>
        </p:txBody>
      </p:sp>
      <p:sp>
        <p:nvSpPr>
          <p:cNvPr id="4" name="card Fin, vents, stud"/>
          <p:cNvSpPr/>
          <p:nvPr/>
        </p:nvSpPr>
        <p:spPr>
          <a:xfrm>
            <a:off x="365760" y="868680"/>
            <a:ext cx="320040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Fin, vents, stud</a:t>
            </a:r>
            <a:endParaRPr lang="en-US" sz="1250" dirty="0"/>
          </a:p>
          <a:p>
            <a:pPr algn="l" marL="152400" indent="-152400">
              <a:spcAft>
                <a:spcPts val="500"/>
              </a:spcAft>
              <a:buSzPct val="100000"/>
              <a:buChar char="•"/>
            </a:pPr>
            <a:r>
              <a:rPr lang="en-US" sz="1100" dirty="0">
                <a:solidFill>
                  <a:srgbClr val="000000"/>
                </a:solidFill>
              </a:rPr>
              <a:t>The fin: aluminium on the motor face, out through a slot in the top of the shell</a:t>
            </a:r>
            <a:endParaRPr lang="en-US" sz="1250" dirty="0"/>
          </a:p>
          <a:p>
            <a:pPr algn="l" marL="152400" indent="-152400">
              <a:spcAft>
                <a:spcPts val="500"/>
              </a:spcAft>
              <a:buSzPct val="100000"/>
              <a:buChar char="•"/>
            </a:pPr>
            <a:r>
              <a:rPr lang="en-US" sz="1100" dirty="0">
                <a:solidFill>
                  <a:srgbClr val="000000"/>
                </a:solidFill>
              </a:rPr>
              <a:t>Motor heat P = I²R = 1.5² × 1.8 Ω = 4.05 W leaves through vents and fin (calculated)</a:t>
            </a:r>
            <a:endParaRPr lang="en-US" sz="1250" dirty="0"/>
          </a:p>
          <a:p>
            <a:pPr algn="l" marL="152400" indent="-152400">
              <a:spcAft>
                <a:spcPts val="500"/>
              </a:spcAft>
              <a:buSzPct val="100000"/>
              <a:buChar char="•"/>
            </a:pPr>
            <a:r>
              <a:rPr lang="en-US" sz="1100" dirty="0">
                <a:solidFill>
                  <a:srgbClr val="000000"/>
                </a:solidFill>
              </a:rPr>
              <a:t>First station in a stud on the TV wall, 12 V down the wall</a:t>
            </a:r>
            <a:endParaRPr lang="en-US" sz="1250" dirty="0"/>
          </a:p>
          <a:p>
            <a:pPr algn="l" marL="152400" indent="-152400">
              <a:spcAft>
                <a:spcPts val="500"/>
              </a:spcAft>
              <a:buSzPct val="100000"/>
              <a:buChar char="•"/>
            </a:pPr>
            <a:r>
              <a:rPr lang="en-US" sz="1100" dirty="0">
                <a:solidFill>
                  <a:srgbClr val="000000"/>
                </a:solidFill>
              </a:rPr>
              <a:t>The slide-in binds on insertion today; a 1° draft on the dovetail is the next iteration</a:t>
            </a:r>
            <a:endParaRPr lang="en-US" sz="1250" dirty="0"/>
          </a:p>
        </p:txBody>
      </p:sp>
      <p:pic>
        <p:nvPicPr>
          <p:cNvPr id="5" name="On the TV wall, 12 V leads down" descr="On the TV wall, 12 V leads down">    </p:cNvPr>
          <p:cNvPicPr>
            <a:picLocks noChangeAspect="1"/>
          </p:cNvPicPr>
          <p:nvPr/>
        </p:nvPicPr>
        <p:blipFill>
          <a:blip r:embed="rId1"/>
          <a:stretch>
            <a:fillRect/>
          </a:stretch>
        </p:blipFill>
        <p:spPr>
          <a:xfrm>
            <a:off x="3794760" y="868680"/>
            <a:ext cx="1588008" cy="3511296"/>
          </a:xfrm>
          <a:prstGeom prst="rect">
            <a:avLst/>
          </a:prstGeom>
        </p:spPr>
      </p:pic>
      <p:sp>
        <p:nvSpPr>
          <p:cNvPr id="6" name="caption"/>
          <p:cNvSpPr txBox="1"/>
          <p:nvPr/>
        </p:nvSpPr>
        <p:spPr>
          <a:xfrm>
            <a:off x="3794760" y="4416552"/>
            <a:ext cx="1588008" cy="201168"/>
          </a:xfrm>
          <a:prstGeom prst="rect">
            <a:avLst/>
          </a:prstGeom>
          <a:noFill/>
          <a:ln/>
        </p:spPr>
        <p:txBody>
          <a:bodyPr wrap="square" lIns="0" tIns="0" rIns="0" bIns="0" rtlCol="0" anchor="ctr"/>
          <a:lstStyle/>
          <a:p>
            <a:pPr algn="l" indent="0" marL="0">
              <a:buNone/>
            </a:pPr>
            <a:r>
              <a:rPr lang="en-US" sz="850" dirty="0">
                <a:solidFill>
                  <a:schemeClr val="tx2"/>
                </a:solidFill>
              </a:rPr>
              <a:t>On the TV wall, 12 V leads down</a:t>
            </a:r>
            <a:endParaRPr lang="en-US" sz="850" dirty="0"/>
          </a:p>
        </p:txBody>
      </p:sp>
      <p:pic>
        <p:nvPicPr>
          <p:cNvPr id="7" name="From below: fin through the slot" descr="From below: fin through the slot">    </p:cNvPr>
          <p:cNvPicPr>
            <a:picLocks noChangeAspect="1"/>
          </p:cNvPicPr>
          <p:nvPr/>
        </p:nvPicPr>
        <p:blipFill>
          <a:blip r:embed="rId2"/>
          <a:stretch>
            <a:fillRect/>
          </a:stretch>
        </p:blipFill>
        <p:spPr>
          <a:xfrm>
            <a:off x="5492496" y="868680"/>
            <a:ext cx="1588008" cy="3511296"/>
          </a:xfrm>
          <a:prstGeom prst="rect">
            <a:avLst/>
          </a:prstGeom>
        </p:spPr>
      </p:pic>
      <p:sp>
        <p:nvSpPr>
          <p:cNvPr id="8" name="caption"/>
          <p:cNvSpPr txBox="1"/>
          <p:nvPr/>
        </p:nvSpPr>
        <p:spPr>
          <a:xfrm>
            <a:off x="5492496" y="4416552"/>
            <a:ext cx="1588008" cy="201168"/>
          </a:xfrm>
          <a:prstGeom prst="rect">
            <a:avLst/>
          </a:prstGeom>
          <a:noFill/>
          <a:ln/>
        </p:spPr>
        <p:txBody>
          <a:bodyPr wrap="square" lIns="0" tIns="0" rIns="0" bIns="0" rtlCol="0" anchor="ctr"/>
          <a:lstStyle/>
          <a:p>
            <a:pPr algn="l" indent="0" marL="0">
              <a:buNone/>
            </a:pPr>
            <a:r>
              <a:rPr lang="en-US" sz="850" dirty="0">
                <a:solidFill>
                  <a:schemeClr val="tx2"/>
                </a:solidFill>
              </a:rPr>
              <a:t>From below: fin through the slot</a:t>
            </a:r>
            <a:endParaRPr lang="en-US" sz="850" dirty="0"/>
          </a:p>
        </p:txBody>
      </p:sp>
      <p:pic>
        <p:nvPicPr>
          <p:cNvPr id="9" name="The line leaves the switch tab straight " descr="The line leaves the switch tab straight down">    </p:cNvPr>
          <p:cNvPicPr>
            <a:picLocks noChangeAspect="1"/>
          </p:cNvPicPr>
          <p:nvPr/>
        </p:nvPicPr>
        <p:blipFill>
          <a:blip r:embed="rId3"/>
          <a:stretch>
            <a:fillRect/>
          </a:stretch>
        </p:blipFill>
        <p:spPr>
          <a:xfrm>
            <a:off x="7190232" y="868680"/>
            <a:ext cx="1588008" cy="3511296"/>
          </a:xfrm>
          <a:prstGeom prst="rect">
            <a:avLst/>
          </a:prstGeom>
        </p:spPr>
      </p:pic>
      <p:sp>
        <p:nvSpPr>
          <p:cNvPr id="10" name="caption"/>
          <p:cNvSpPr txBox="1"/>
          <p:nvPr/>
        </p:nvSpPr>
        <p:spPr>
          <a:xfrm>
            <a:off x="7190232" y="4416552"/>
            <a:ext cx="1588008" cy="201168"/>
          </a:xfrm>
          <a:prstGeom prst="rect">
            <a:avLst/>
          </a:prstGeom>
          <a:noFill/>
          <a:ln/>
        </p:spPr>
        <p:txBody>
          <a:bodyPr wrap="square" lIns="0" tIns="0" rIns="0" bIns="0" rtlCol="0" anchor="ctr"/>
          <a:lstStyle/>
          <a:p>
            <a:pPr algn="l" indent="0" marL="0">
              <a:buNone/>
            </a:pPr>
            <a:r>
              <a:rPr lang="en-US" sz="850" dirty="0">
                <a:solidFill>
                  <a:schemeClr val="tx2"/>
                </a:solidFill>
              </a:rPr>
              <a:t>The line leaves the switch tab straight down</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365760" y="256032"/>
            <a:ext cx="8412480" cy="502920"/>
          </a:xfrm>
          <a:prstGeom prst="rect">
            <a:avLst/>
          </a:prstGeom>
          <a:noFill/>
          <a:ln/>
        </p:spPr>
        <p:txBody>
          <a:bodyPr wrap="square" lIns="0" tIns="0" rIns="0" bIns="0" rtlCol="0" anchor="ctr"/>
          <a:lstStyle/>
          <a:p>
            <a:pPr algn="l" indent="0" marL="0">
              <a:buNone/>
            </a:pPr>
            <a:r>
              <a:rPr lang="en-US" sz="1700" b="1" dirty="0">
                <a:solidFill>
                  <a:schemeClr val="tx1"/>
                </a:solidFill>
              </a:rPr>
              <a:t>Manufacturing: in-house processes and fit control</a:t>
            </a:r>
            <a:endParaRPr lang="en-US" sz="1700" dirty="0"/>
          </a:p>
        </p:txBody>
      </p:sp>
      <p:sp>
        <p:nvSpPr>
          <p:cNvPr id="4" name="card Processes"/>
          <p:cNvSpPr/>
          <p:nvPr/>
        </p:nvSpPr>
        <p:spPr>
          <a:xfrm>
            <a:off x="365760" y="868680"/>
            <a:ext cx="2788920" cy="201168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50" b="1" dirty="0">
                <a:solidFill>
                  <a:srgbClr val="000000"/>
                </a:solidFill>
              </a:rPr>
              <a:t>Processes</a:t>
            </a:r>
            <a:endParaRPr lang="en-US" sz="1150" dirty="0"/>
          </a:p>
          <a:p>
            <a:pPr algn="l" marL="152400" indent="-152400">
              <a:spcAft>
                <a:spcPts val="300"/>
              </a:spcAft>
              <a:buSzPct val="100000"/>
              <a:buChar char="•"/>
            </a:pPr>
            <a:r>
              <a:rPr lang="en-US" sz="950" dirty="0">
                <a:solidFill>
                  <a:srgbClr val="000000"/>
                </a:solidFill>
              </a:rPr>
              <a:t>PETG, FDM: 0.4 mm nozzle, 0.20 mm layers, supports at 30°; loads along the layers</a:t>
            </a:r>
            <a:endParaRPr lang="en-US" sz="1150" dirty="0"/>
          </a:p>
          <a:p>
            <a:pPr algn="l" marL="152400" indent="-152400">
              <a:spcAft>
                <a:spcPts val="300"/>
              </a:spcAft>
              <a:buSzPct val="100000"/>
              <a:buChar char="•"/>
            </a:pPr>
            <a:r>
              <a:rPr lang="en-US" sz="950" dirty="0">
                <a:solidFill>
                  <a:srgbClr val="000000"/>
                </a:solidFill>
              </a:rPr>
              <a:t>Aluminium fin: sheared blank, five holes drilled in one mill setup</a:t>
            </a:r>
            <a:endParaRPr lang="en-US" sz="1150" dirty="0"/>
          </a:p>
          <a:p>
            <a:pPr algn="l" marL="152400" indent="-152400">
              <a:spcAft>
                <a:spcPts val="300"/>
              </a:spcAft>
              <a:buSzPct val="100000"/>
              <a:buChar char="•"/>
            </a:pPr>
            <a:r>
              <a:rPr lang="en-US" sz="950" dirty="0">
                <a:solidFill>
                  <a:srgbClr val="000000"/>
                </a:solidFill>
              </a:rPr>
              <a:t>First hole is the mill zero: pattern ±0.1 mm vs ±0.5 mm sheared edges</a:t>
            </a:r>
            <a:endParaRPr lang="en-US" sz="1150" dirty="0"/>
          </a:p>
          <a:p>
            <a:pPr algn="l" marL="152400" indent="-152400">
              <a:spcAft>
                <a:spcPts val="300"/>
              </a:spcAft>
              <a:buSzPct val="100000"/>
              <a:buChar char="•"/>
            </a:pPr>
            <a:r>
              <a:rPr lang="en-US" sz="950" dirty="0">
                <a:solidFill>
                  <a:srgbClr val="000000"/>
                </a:solidFill>
              </a:rPr>
              <a:t>Heat-set inserts: M3 gear housing, M2.5 encoder board</a:t>
            </a:r>
            <a:endParaRPr lang="en-US" sz="1150" dirty="0"/>
          </a:p>
        </p:txBody>
      </p:sp>
      <p:sp>
        <p:nvSpPr>
          <p:cNvPr id="5" name="card Make vs buy"/>
          <p:cNvSpPr/>
          <p:nvPr/>
        </p:nvSpPr>
        <p:spPr>
          <a:xfrm>
            <a:off x="365760" y="3017520"/>
            <a:ext cx="2788920" cy="160020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50" b="1" dirty="0">
                <a:solidFill>
                  <a:srgbClr val="000000"/>
                </a:solidFill>
              </a:rPr>
              <a:t>Make vs buy</a:t>
            </a:r>
            <a:endParaRPr lang="en-US" sz="1150" dirty="0"/>
          </a:p>
          <a:p>
            <a:pPr algn="l" marL="152400" indent="-152400">
              <a:spcAft>
                <a:spcPts val="300"/>
              </a:spcAft>
              <a:buSzPct val="100000"/>
              <a:buChar char="•"/>
            </a:pPr>
            <a:r>
              <a:rPr lang="en-US" sz="950" dirty="0">
                <a:solidFill>
                  <a:srgbClr val="000000"/>
                </a:solidFill>
              </a:rPr>
              <a:t>Bought: steppers, drivers, boards, servo, camera, battery, encoders</a:t>
            </a:r>
            <a:endParaRPr lang="en-US" sz="1150" dirty="0"/>
          </a:p>
          <a:p>
            <a:pPr algn="l" marL="152400" indent="-152400">
              <a:spcAft>
                <a:spcPts val="300"/>
              </a:spcAft>
              <a:buSzPct val="100000"/>
              <a:buChar char="•"/>
            </a:pPr>
            <a:r>
              <a:rPr lang="en-US" sz="950" dirty="0">
                <a:solidFill>
                  <a:srgbClr val="000000"/>
                </a:solidFill>
              </a:rPr>
              <a:t>Made: every printed part and the fin</a:t>
            </a:r>
            <a:endParaRPr lang="en-US" sz="1150" dirty="0"/>
          </a:p>
          <a:p>
            <a:pPr algn="l" marL="152400" indent="-152400">
              <a:spcAft>
                <a:spcPts val="300"/>
              </a:spcAft>
              <a:buSzPct val="100000"/>
              <a:buChar char="•"/>
            </a:pPr>
            <a:r>
              <a:rPr lang="en-US" sz="950" dirty="0">
                <a:solidFill>
                  <a:srgbClr val="000000"/>
                </a:solidFill>
              </a:rPr>
              <a:t>Filament per station: 0.762 kg × $15/kg = $11.43 (estimated)</a:t>
            </a:r>
            <a:endParaRPr lang="en-US" sz="1150" dirty="0"/>
          </a:p>
          <a:p>
            <a:pPr algn="l" marL="152400" indent="-152400">
              <a:spcAft>
                <a:spcPts val="300"/>
              </a:spcAft>
              <a:buSzPct val="100000"/>
              <a:buChar char="•"/>
            </a:pPr>
            <a:r>
              <a:rPr lang="en-US" sz="950" dirty="0">
                <a:solidFill>
                  <a:srgbClr val="000000"/>
                </a:solidFill>
              </a:rPr>
              <a:t>Robot: $210.78 parts + $37.74 filament, three stations (partly estimated)</a:t>
            </a:r>
            <a:endParaRPr lang="en-US" sz="1150" dirty="0"/>
          </a:p>
        </p:txBody>
      </p:sp>
      <p:sp>
        <p:nvSpPr>
          <p:cNvPr id="6" name="card Fits"/>
          <p:cNvSpPr/>
          <p:nvPr/>
        </p:nvSpPr>
        <p:spPr>
          <a:xfrm>
            <a:off x="3291840" y="868680"/>
            <a:ext cx="269748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50" b="1" dirty="0">
                <a:solidFill>
                  <a:srgbClr val="000000"/>
                </a:solidFill>
              </a:rPr>
              <a:t>Fits</a:t>
            </a:r>
            <a:endParaRPr lang="en-US" sz="1150" dirty="0"/>
          </a:p>
          <a:p>
            <a:pPr algn="l" marL="152400" indent="-152400">
              <a:spcAft>
                <a:spcPts val="300"/>
              </a:spcAft>
              <a:buSzPct val="100000"/>
              <a:buChar char="•"/>
            </a:pPr>
            <a:r>
              <a:rPr lang="en-US" sz="950" dirty="0">
                <a:solidFill>
                  <a:srgbClr val="000000"/>
                </a:solidFill>
              </a:rPr>
              <a:t>Printed holes come out undersize: every printed fit carries an allowance</a:t>
            </a:r>
            <a:endParaRPr lang="en-US" sz="1150" dirty="0"/>
          </a:p>
          <a:p>
            <a:pPr algn="l" marL="152400" indent="-152400">
              <a:spcAft>
                <a:spcPts val="300"/>
              </a:spcAft>
              <a:buSzPct val="100000"/>
              <a:buChar char="•"/>
            </a:pPr>
            <a:r>
              <a:rPr lang="en-US" sz="950" dirty="0">
                <a:solidFill>
                  <a:srgbClr val="000000"/>
                </a:solidFill>
              </a:rPr>
              <a:t>Spool bore: Ø5.2 printed too tight on the Ø5.0 shaft; opened to Ø5.45</a:t>
            </a:r>
            <a:endParaRPr lang="en-US" sz="1150" dirty="0"/>
          </a:p>
          <a:p>
            <a:pPr algn="l" marL="152400" indent="-152400">
              <a:spcAft>
                <a:spcPts val="300"/>
              </a:spcAft>
              <a:buSzPct val="100000"/>
              <a:buChar char="•"/>
            </a:pPr>
            <a:r>
              <a:rPr lang="en-US" sz="950" dirty="0">
                <a:solidFill>
                  <a:srgbClr val="000000"/>
                </a:solidFill>
              </a:rPr>
              <a:t>Dovetail: 0.175 mm per side, 30° flanks (CAD)</a:t>
            </a:r>
            <a:endParaRPr lang="en-US" sz="1150" dirty="0"/>
          </a:p>
          <a:p>
            <a:pPr algn="l" marL="152400" indent="-152400">
              <a:spcAft>
                <a:spcPts val="300"/>
              </a:spcAft>
              <a:buSzPct val="100000"/>
              <a:buChar char="•"/>
            </a:pPr>
            <a:r>
              <a:rPr lang="en-US" sz="950" dirty="0">
                <a:solidFill>
                  <a:srgbClr val="000000"/>
                </a:solidFill>
              </a:rPr>
              <a:t>Bearing pocket Ø14.075 behind a Ø14.000 entry lip, 8 T-slots</a:t>
            </a:r>
            <a:endParaRPr lang="en-US" sz="1150" dirty="0"/>
          </a:p>
          <a:p>
            <a:pPr algn="l" marL="152400" indent="-152400">
              <a:spcAft>
                <a:spcPts val="300"/>
              </a:spcAft>
              <a:buSzPct val="100000"/>
              <a:buChar char="•"/>
            </a:pPr>
            <a:r>
              <a:rPr lang="en-US" sz="950" dirty="0">
                <a:solidFill>
                  <a:srgbClr val="000000"/>
                </a:solidFill>
              </a:rPr>
              <a:t>Hole-sweep fit coupon (Ø5, Ø7, Ø14): planned</a:t>
            </a:r>
            <a:endParaRPr lang="en-US" sz="1150" dirty="0"/>
          </a:p>
          <a:p>
            <a:pPr algn="l" marL="152400" indent="-152400">
              <a:spcAft>
                <a:spcPts val="300"/>
              </a:spcAft>
              <a:buSzPct val="100000"/>
              <a:buChar char="•"/>
            </a:pPr>
            <a:r>
              <a:rPr lang="en-US" sz="950" dirty="0">
                <a:solidFill>
                  <a:srgbClr val="000000"/>
                </a:solidFill>
              </a:rPr>
              <a:t>A failed layer was kept on one shell only: the shell carries no load</a:t>
            </a:r>
            <a:endParaRPr lang="en-US" sz="1150" dirty="0"/>
          </a:p>
          <a:p>
            <a:pPr algn="l" marL="152400" indent="-152400">
              <a:spcAft>
                <a:spcPts val="300"/>
              </a:spcAft>
              <a:buSzPct val="100000"/>
              <a:buChar char="•"/>
            </a:pPr>
            <a:r>
              <a:rPr lang="en-US" sz="950" dirty="0">
                <a:solidFill>
                  <a:srgbClr val="000000"/>
                </a:solidFill>
              </a:rPr>
              <a:t>TPU 95A: pad trials only; none in the current build</a:t>
            </a:r>
            <a:endParaRPr lang="en-US" sz="1150" dirty="0"/>
          </a:p>
        </p:txBody>
      </p:sp>
      <p:pic>
        <p:nvPicPr>
          <p:cNvPr id="7" name="Slicing PETG for the K1, supports at 30 " descr="Slicing PETG for the K1, supports at 30 degrees">    </p:cNvPr>
          <p:cNvPicPr>
            <a:picLocks noChangeAspect="1"/>
          </p:cNvPicPr>
          <p:nvPr/>
        </p:nvPicPr>
        <p:blipFill>
          <a:blip r:embed="rId1"/>
          <a:stretch>
            <a:fillRect/>
          </a:stretch>
        </p:blipFill>
        <p:spPr>
          <a:xfrm>
            <a:off x="6126480" y="868680"/>
            <a:ext cx="1280160" cy="1051560"/>
          </a:xfrm>
          <a:prstGeom prst="rect">
            <a:avLst/>
          </a:prstGeom>
        </p:spPr>
      </p:pic>
      <p:pic>
        <p:nvPicPr>
          <p:cNvPr id="8" name="Drilling the fin on the manual mill" descr="Drilling the fin on the manual mill">    </p:cNvPr>
          <p:cNvPicPr>
            <a:picLocks noChangeAspect="1"/>
          </p:cNvPicPr>
          <p:nvPr/>
        </p:nvPicPr>
        <p:blipFill>
          <a:blip r:embed="rId2"/>
          <a:stretch>
            <a:fillRect/>
          </a:stretch>
        </p:blipFill>
        <p:spPr>
          <a:xfrm>
            <a:off x="7498080" y="868680"/>
            <a:ext cx="1280160" cy="1051560"/>
          </a:xfrm>
          <a:prstGeom prst="rect">
            <a:avLst/>
          </a:prstGeom>
        </p:spPr>
      </p:pic>
      <p:sp>
        <p:nvSpPr>
          <p:cNvPr id="9" name="caption"/>
          <p:cNvSpPr txBox="1"/>
          <p:nvPr/>
        </p:nvSpPr>
        <p:spPr>
          <a:xfrm>
            <a:off x="6126480" y="1947672"/>
            <a:ext cx="2651760" cy="201168"/>
          </a:xfrm>
          <a:prstGeom prst="rect">
            <a:avLst/>
          </a:prstGeom>
          <a:noFill/>
          <a:ln/>
        </p:spPr>
        <p:txBody>
          <a:bodyPr wrap="square" lIns="0" tIns="0" rIns="0" bIns="0" rtlCol="0" anchor="ctr"/>
          <a:lstStyle/>
          <a:p>
            <a:pPr algn="l" indent="0" marL="0">
              <a:buNone/>
            </a:pPr>
            <a:r>
              <a:rPr lang="en-US" sz="850" dirty="0">
                <a:solidFill>
                  <a:schemeClr val="tx2"/>
                </a:solidFill>
              </a:rPr>
              <a:t>Slicer (K1, PETG); drilling the fin</a:t>
            </a:r>
            <a:endParaRPr lang="en-US" sz="850" dirty="0"/>
          </a:p>
        </p:txBody>
      </p:sp>
      <p:pic>
        <p:nvPicPr>
          <p:cNvPr id="10" name="Slide-in rib in the wall-mount dovetail " descr="Slide-in rib in the wall-mount dovetail (CAD section)">    </p:cNvPr>
          <p:cNvPicPr>
            <a:picLocks noChangeAspect="1"/>
          </p:cNvPicPr>
          <p:nvPr/>
        </p:nvPicPr>
        <p:blipFill>
          <a:blip r:embed="rId3"/>
          <a:stretch>
            <a:fillRect/>
          </a:stretch>
        </p:blipFill>
        <p:spPr>
          <a:xfrm>
            <a:off x="6396925" y="2212848"/>
            <a:ext cx="2110869" cy="1037844"/>
          </a:xfrm>
          <a:prstGeom prst="rect">
            <a:avLst/>
          </a:prstGeom>
        </p:spPr>
      </p:pic>
      <p:pic>
        <p:nvPicPr>
          <p:cNvPr id="11" name="Gear bearing pocket with its entry lip (" descr="Gear bearing pocket with its entry lip (CAD)">    </p:cNvPr>
          <p:cNvPicPr>
            <a:picLocks noChangeAspect="1"/>
          </p:cNvPicPr>
          <p:nvPr/>
        </p:nvPicPr>
        <p:blipFill>
          <a:blip r:embed="rId4"/>
          <a:stretch>
            <a:fillRect/>
          </a:stretch>
        </p:blipFill>
        <p:spPr>
          <a:xfrm>
            <a:off x="6396925" y="3342132"/>
            <a:ext cx="2110869" cy="1037844"/>
          </a:xfrm>
          <a:prstGeom prst="rect">
            <a:avLst/>
          </a:prstGeom>
        </p:spPr>
      </p:pic>
      <p:sp>
        <p:nvSpPr>
          <p:cNvPr id="12" name="caption"/>
          <p:cNvSpPr txBox="1"/>
          <p:nvPr/>
        </p:nvSpPr>
        <p:spPr>
          <a:xfrm>
            <a:off x="6126480" y="4416552"/>
            <a:ext cx="2651760" cy="201168"/>
          </a:xfrm>
          <a:prstGeom prst="rect">
            <a:avLst/>
          </a:prstGeom>
          <a:noFill/>
          <a:ln/>
        </p:spPr>
        <p:txBody>
          <a:bodyPr wrap="square" lIns="0" tIns="0" rIns="0" bIns="0" rtlCol="0" anchor="ctr"/>
          <a:lstStyle/>
          <a:p>
            <a:pPr algn="l" indent="0" marL="0">
              <a:buNone/>
            </a:pPr>
            <a:r>
              <a:rPr lang="en-US" sz="850" dirty="0">
                <a:solidFill>
                  <a:schemeClr val="tx2"/>
                </a:solidFill>
              </a:rPr>
              <a:t>Dovetail rib; bearing pocket and lip (CAD)</a:t>
            </a:r>
            <a:endParaRPr lang="en-US" sz="850" dirty="0"/>
          </a:p>
        </p:txBody>
      </p:sp>
      <p:sp>
        <p:nvSpPr>
          <p:cNvPr id="13"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The claw, and why it is modular</a:t>
            </a:r>
            <a:endParaRPr lang="en-US" sz="2400" dirty="0"/>
          </a:p>
        </p:txBody>
      </p:sp>
      <p:sp>
        <p:nvSpPr>
          <p:cNvPr id="4" name="card The claw today"/>
          <p:cNvSpPr/>
          <p:nvPr/>
        </p:nvSpPr>
        <p:spPr>
          <a:xfrm>
            <a:off x="365760" y="868680"/>
            <a:ext cx="233172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The claw today</a:t>
            </a:r>
            <a:endParaRPr lang="en-US" sz="1250" dirty="0"/>
          </a:p>
          <a:p>
            <a:pPr algn="l" marL="152400" indent="-152400">
              <a:spcAft>
                <a:spcPts val="500"/>
              </a:spcAft>
              <a:buSzPct val="100000"/>
              <a:buChar char="•"/>
            </a:pPr>
            <a:r>
              <a:rPr lang="en-US" sz="1100" dirty="0">
                <a:solidFill>
                  <a:srgbClr val="000000"/>
                </a:solidFill>
              </a:rPr>
              <a:t>Four-bar hands on a geared crank; 53 mm opening (CAD)</a:t>
            </a:r>
            <a:endParaRPr lang="en-US" sz="1250" dirty="0"/>
          </a:p>
          <a:p>
            <a:pPr algn="l" marL="152400" indent="-152400">
              <a:spcAft>
                <a:spcPts val="500"/>
              </a:spcAft>
              <a:buSzPct val="100000"/>
              <a:buChar char="•"/>
            </a:pPr>
            <a:r>
              <a:rPr lang="en-US" sz="1100" dirty="0">
                <a:solidFill>
                  <a:srgbClr val="000000"/>
                </a:solidFill>
              </a:rPr>
              <a:t>A camera bay in the electronics housing; the camera looks down the tube</a:t>
            </a:r>
            <a:endParaRPr lang="en-US" sz="1250" dirty="0"/>
          </a:p>
          <a:p>
            <a:pPr algn="l" marL="152400" indent="-152400">
              <a:spcAft>
                <a:spcPts val="500"/>
              </a:spcAft>
              <a:buSzPct val="100000"/>
              <a:buChar char="•"/>
            </a:pPr>
            <a:r>
              <a:rPr lang="en-US" sz="1100" dirty="0">
                <a:solidFill>
                  <a:srgbClr val="000000"/>
                </a:solidFill>
              </a:rPr>
              <a:t>One 7.4 V two-cell pack: 6 V regulator for the servo, 5 V buck for the board</a:t>
            </a:r>
            <a:endParaRPr lang="en-US" sz="1250" dirty="0"/>
          </a:p>
          <a:p>
            <a:pPr algn="l" marL="152400" indent="-152400">
              <a:spcAft>
                <a:spcPts val="500"/>
              </a:spcAft>
              <a:buSzPct val="100000"/>
              <a:buChar char="•"/>
            </a:pPr>
            <a:r>
              <a:rPr lang="en-US" sz="1100" dirty="0">
                <a:solidFill>
                  <a:srgbClr val="000000"/>
                </a:solidFill>
              </a:rPr>
              <a:t>Weighed 0.60 kg with battery against a 0.45 kg budget</a:t>
            </a:r>
            <a:endParaRPr lang="en-US" sz="1250" dirty="0"/>
          </a:p>
        </p:txBody>
      </p:sp>
      <p:sp>
        <p:nvSpPr>
          <p:cNvPr id="5" name="card Modular, on purpose"/>
          <p:cNvSpPr/>
          <p:nvPr/>
        </p:nvSpPr>
        <p:spPr>
          <a:xfrm>
            <a:off x="2880360" y="868680"/>
            <a:ext cx="2331720" cy="37490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Modular, on purpose</a:t>
            </a:r>
            <a:endParaRPr lang="en-US" sz="1250" dirty="0"/>
          </a:p>
          <a:p>
            <a:pPr algn="l" marL="152400" indent="-152400">
              <a:spcAft>
                <a:spcPts val="500"/>
              </a:spcAft>
              <a:buSzPct val="100000"/>
              <a:buChar char="•"/>
            </a:pPr>
            <a:r>
              <a:rPr lang="en-US" sz="1100" dirty="0">
                <a:solidFill>
                  <a:srgbClr val="000000"/>
                </a:solidFill>
              </a:rPr>
              <a:t>The gripper attaches at the tube, so other grippers can be tried</a:t>
            </a:r>
            <a:endParaRPr lang="en-US" sz="1250" dirty="0"/>
          </a:p>
          <a:p>
            <a:pPr algn="l" marL="152400" indent="-152400">
              <a:spcAft>
                <a:spcPts val="500"/>
              </a:spcAft>
              <a:buSzPct val="100000"/>
              <a:buChar char="•"/>
            </a:pPr>
            <a:r>
              <a:rPr lang="en-US" sz="1100" dirty="0">
                <a:solidFill>
                  <a:srgbClr val="000000"/>
                </a:solidFill>
              </a:rPr>
              <a:t>A hard pinch was expected to grip better; testing showed alignment problems</a:t>
            </a:r>
            <a:endParaRPr lang="en-US" sz="1250" dirty="0"/>
          </a:p>
          <a:p>
            <a:pPr algn="l" marL="152400" indent="-152400">
              <a:spcAft>
                <a:spcPts val="500"/>
              </a:spcAft>
              <a:buSzPct val="100000"/>
              <a:buChar char="•"/>
            </a:pPr>
            <a:r>
              <a:rPr lang="en-US" sz="1100" dirty="0">
                <a:solidFill>
                  <a:srgbClr val="000000"/>
                </a:solidFill>
              </a:rPr>
              <a:t>The first rack-and-pinion jaws left a 2 mm gap on thin cloth (Sep 30)</a:t>
            </a:r>
            <a:endParaRPr lang="en-US" sz="1250" dirty="0"/>
          </a:p>
          <a:p>
            <a:pPr algn="l" marL="152400" indent="-152400">
              <a:spcAft>
                <a:spcPts val="500"/>
              </a:spcAft>
              <a:buSzPct val="100000"/>
              <a:buChar char="•"/>
            </a:pPr>
            <a:r>
              <a:rPr lang="en-US" sz="1100" dirty="0">
                <a:solidFill>
                  <a:srgbClr val="000000"/>
                </a:solidFill>
              </a:rPr>
              <a:t>TPU and other pad materials are being tried; still testing</a:t>
            </a:r>
            <a:endParaRPr lang="en-US" sz="1250" dirty="0"/>
          </a:p>
          <a:p>
            <a:pPr algn="l" marL="152400" indent="-152400">
              <a:spcAft>
                <a:spcPts val="500"/>
              </a:spcAft>
              <a:buSzPct val="100000"/>
              <a:buChar char="•"/>
            </a:pPr>
            <a:r>
              <a:rPr lang="en-US" sz="1100" dirty="0">
                <a:solidFill>
                  <a:srgbClr val="000000"/>
                </a:solidFill>
              </a:rPr>
              <a:t>The v6 clamp was 4.6 x its mass budget in CAD: mass is tracked per part since</a:t>
            </a:r>
            <a:endParaRPr lang="en-US" sz="1250" dirty="0"/>
          </a:p>
        </p:txBody>
      </p:sp>
      <p:pic>
        <p:nvPicPr>
          <p:cNvPr id="6" name="The claw assembled (Oct 22)" descr="The claw assembled (Oct 22)">    </p:cNvPr>
          <p:cNvPicPr>
            <a:picLocks noChangeAspect="1"/>
          </p:cNvPicPr>
          <p:nvPr/>
        </p:nvPicPr>
        <p:blipFill>
          <a:blip r:embed="rId1"/>
          <a:stretch>
            <a:fillRect/>
          </a:stretch>
        </p:blipFill>
        <p:spPr>
          <a:xfrm>
            <a:off x="5394960" y="868680"/>
            <a:ext cx="3383280" cy="2011680"/>
          </a:xfrm>
          <a:prstGeom prst="rect">
            <a:avLst/>
          </a:prstGeom>
        </p:spPr>
      </p:pic>
      <p:pic>
        <p:nvPicPr>
          <p:cNvPr id="7" name="Four-bar hands (CAD)" descr="Four-bar hands (CAD)">    </p:cNvPr>
          <p:cNvPicPr>
            <a:picLocks noChangeAspect="1"/>
          </p:cNvPicPr>
          <p:nvPr/>
        </p:nvPicPr>
        <p:blipFill>
          <a:blip r:embed="rId2"/>
          <a:stretch>
            <a:fillRect/>
          </a:stretch>
        </p:blipFill>
        <p:spPr>
          <a:xfrm>
            <a:off x="5524303" y="2990088"/>
            <a:ext cx="808114" cy="1389888"/>
          </a:xfrm>
          <a:prstGeom prst="rect">
            <a:avLst/>
          </a:prstGeom>
        </p:spPr>
      </p:pic>
      <p:pic>
        <p:nvPicPr>
          <p:cNvPr id="8" name="The v6 clamp (CAD)" descr="The v6 clamp (CAD)">    </p:cNvPr>
          <p:cNvPicPr>
            <a:picLocks noChangeAspect="1"/>
          </p:cNvPicPr>
          <p:nvPr/>
        </p:nvPicPr>
        <p:blipFill>
          <a:blip r:embed="rId3"/>
          <a:stretch>
            <a:fillRect/>
          </a:stretch>
        </p:blipFill>
        <p:spPr>
          <a:xfrm>
            <a:off x="6871959" y="2990088"/>
            <a:ext cx="429282" cy="1389888"/>
          </a:xfrm>
          <a:prstGeom prst="rect">
            <a:avLst/>
          </a:prstGeom>
        </p:spPr>
      </p:pic>
      <p:pic>
        <p:nvPicPr>
          <p:cNvPr id="9" name="Electronics housing open" descr="Electronics housing open">    </p:cNvPr>
          <p:cNvPicPr>
            <a:picLocks noChangeAspect="1"/>
          </p:cNvPicPr>
          <p:nvPr/>
        </p:nvPicPr>
        <p:blipFill>
          <a:blip r:embed="rId4"/>
          <a:stretch>
            <a:fillRect/>
          </a:stretch>
        </p:blipFill>
        <p:spPr>
          <a:xfrm>
            <a:off x="7711440" y="2990088"/>
            <a:ext cx="1066800" cy="1389888"/>
          </a:xfrm>
          <a:prstGeom prst="rect">
            <a:avLst/>
          </a:prstGeom>
        </p:spPr>
      </p:pic>
      <p:sp>
        <p:nvSpPr>
          <p:cNvPr id="10" name="caption"/>
          <p:cNvSpPr txBox="1"/>
          <p:nvPr/>
        </p:nvSpPr>
        <p:spPr>
          <a:xfrm>
            <a:off x="5394960" y="4416552"/>
            <a:ext cx="3383280" cy="201168"/>
          </a:xfrm>
          <a:prstGeom prst="rect">
            <a:avLst/>
          </a:prstGeom>
          <a:noFill/>
          <a:ln/>
        </p:spPr>
        <p:txBody>
          <a:bodyPr wrap="square" lIns="0" tIns="0" rIns="0" bIns="0" rtlCol="0" anchor="ctr"/>
          <a:lstStyle/>
          <a:p>
            <a:pPr algn="l" indent="0" marL="0">
              <a:buNone/>
            </a:pPr>
            <a:r>
              <a:rPr lang="en-US" sz="850" dirty="0">
                <a:solidFill>
                  <a:schemeClr val="tx2"/>
                </a:solidFill>
              </a:rPr>
              <a:t>Assembled; the hands (CAD); the v6 clamp (CAD); the housing open</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Electrical and testing: bench, then wall</a:t>
            </a:r>
            <a:endParaRPr lang="en-US" sz="2400" dirty="0"/>
          </a:p>
        </p:txBody>
      </p:sp>
      <p:sp>
        <p:nvSpPr>
          <p:cNvPr id="4" name="card Bench"/>
          <p:cNvSpPr/>
          <p:nvPr/>
        </p:nvSpPr>
        <p:spPr>
          <a:xfrm>
            <a:off x="365760" y="868680"/>
            <a:ext cx="3291840" cy="160020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Bench</a:t>
            </a:r>
            <a:endParaRPr lang="en-US" sz="1250" dirty="0"/>
          </a:p>
          <a:p>
            <a:pPr algn="l" marL="152400" indent="-152400">
              <a:spcAft>
                <a:spcPts val="500"/>
              </a:spcAft>
              <a:buSzPct val="100000"/>
              <a:buChar char="•"/>
            </a:pPr>
            <a:r>
              <a:rPr lang="en-US" sz="1100" dirty="0">
                <a:solidFill>
                  <a:srgbClr val="000000"/>
                </a:solidFill>
              </a:rPr>
              <a:t>Station boards: bench checklist passed on both controller boards (measured)</a:t>
            </a:r>
            <a:endParaRPr lang="en-US" sz="1250" dirty="0"/>
          </a:p>
          <a:p>
            <a:pPr algn="l" marL="152400" indent="-152400">
              <a:spcAft>
                <a:spcPts val="500"/>
              </a:spcAft>
              <a:buSzPct val="100000"/>
              <a:buChar char="•"/>
            </a:pPr>
            <a:r>
              <a:rPr lang="en-US" sz="1100" dirty="0">
                <a:solidFill>
                  <a:srgbClr val="000000"/>
                </a:solidFill>
              </a:rPr>
              <a:t>Claw: camera live view, battery sense and servo pass (measured)</a:t>
            </a:r>
            <a:endParaRPr lang="en-US" sz="1250" dirty="0"/>
          </a:p>
        </p:txBody>
      </p:sp>
      <p:sp>
        <p:nvSpPr>
          <p:cNvPr id="5" name="card On the wall"/>
          <p:cNvSpPr/>
          <p:nvPr/>
        </p:nvSpPr>
        <p:spPr>
          <a:xfrm>
            <a:off x="365760" y="2606040"/>
            <a:ext cx="3291840" cy="201168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250" b="1" dirty="0">
                <a:solidFill>
                  <a:srgbClr val="000000"/>
                </a:solidFill>
              </a:rPr>
              <a:t>On the wall</a:t>
            </a:r>
            <a:endParaRPr lang="en-US" sz="1250" dirty="0"/>
          </a:p>
          <a:p>
            <a:pPr algn="l" marL="152400" indent="-152400">
              <a:spcAft>
                <a:spcPts val="500"/>
              </a:spcAft>
              <a:buSzPct val="100000"/>
              <a:buChar char="•"/>
            </a:pPr>
            <a:r>
              <a:rPr lang="en-US" sz="1100" dirty="0">
                <a:solidFill>
                  <a:srgbClr val="000000"/>
                </a:solidFill>
              </a:rPr>
              <a:t>A boxed station boots and joins Wi-Fi by itself</a:t>
            </a:r>
            <a:endParaRPr lang="en-US" sz="1250" dirty="0"/>
          </a:p>
          <a:p>
            <a:pPr algn="l" marL="152400" indent="-152400">
              <a:spcAft>
                <a:spcPts val="500"/>
              </a:spcAft>
              <a:buSzPct val="100000"/>
              <a:buChar char="•"/>
            </a:pPr>
            <a:r>
              <a:rPr lang="en-US" sz="1100" dirty="0">
                <a:solidFill>
                  <a:srgbClr val="000000"/>
                </a:solidFill>
              </a:rPr>
              <a:t>Firmware updates over Wi-Fi; no USB cable after boxing</a:t>
            </a:r>
            <a:endParaRPr lang="en-US" sz="1250" dirty="0"/>
          </a:p>
          <a:p>
            <a:pPr algn="l" marL="152400" indent="-152400">
              <a:spcAft>
                <a:spcPts val="500"/>
              </a:spcAft>
              <a:buSzPct val="100000"/>
              <a:buChar char="•"/>
            </a:pPr>
            <a:r>
              <a:rPr lang="en-US" sz="1100" dirty="0">
                <a:solidFill>
                  <a:srgbClr val="000000"/>
                </a:solidFill>
              </a:rPr>
              <a:t>Motors stay off until the phone arms them; updates only while disarmed</a:t>
            </a:r>
            <a:endParaRPr lang="en-US" sz="1250" dirty="0"/>
          </a:p>
          <a:p>
            <a:pPr algn="l" marL="152400" indent="-152400">
              <a:spcAft>
                <a:spcPts val="500"/>
              </a:spcAft>
              <a:buSzPct val="100000"/>
              <a:buChar char="•"/>
            </a:pPr>
            <a:r>
              <a:rPr lang="en-US" sz="1100" dirty="0">
                <a:solidFill>
                  <a:srgbClr val="000000"/>
                </a:solidFill>
              </a:rPr>
              <a:t>Planned: pull test, hold test, first three-station lift</a:t>
            </a:r>
            <a:endParaRPr lang="en-US" sz="1250" dirty="0"/>
          </a:p>
        </p:txBody>
      </p:sp>
      <p:pic>
        <p:nvPicPr>
          <p:cNvPr id="6" name="Bench: two stations, laptop, meter, 12 V" descr="Bench: two stations, laptop, meter, 12 V supply">    </p:cNvPr>
          <p:cNvPicPr>
            <a:picLocks noChangeAspect="1"/>
          </p:cNvPicPr>
          <p:nvPr/>
        </p:nvPicPr>
        <p:blipFill>
          <a:blip r:embed="rId1"/>
          <a:stretch>
            <a:fillRect/>
          </a:stretch>
        </p:blipFill>
        <p:spPr>
          <a:xfrm>
            <a:off x="3886200" y="868680"/>
            <a:ext cx="2391156" cy="3511296"/>
          </a:xfrm>
          <a:prstGeom prst="rect">
            <a:avLst/>
          </a:prstGeom>
        </p:spPr>
      </p:pic>
      <p:sp>
        <p:nvSpPr>
          <p:cNvPr id="7" name="caption"/>
          <p:cNvSpPr txBox="1"/>
          <p:nvPr/>
        </p:nvSpPr>
        <p:spPr>
          <a:xfrm>
            <a:off x="3886200" y="4416552"/>
            <a:ext cx="2391156" cy="201168"/>
          </a:xfrm>
          <a:prstGeom prst="rect">
            <a:avLst/>
          </a:prstGeom>
          <a:noFill/>
          <a:ln/>
        </p:spPr>
        <p:txBody>
          <a:bodyPr wrap="square" lIns="0" tIns="0" rIns="0" bIns="0" rtlCol="0" anchor="ctr"/>
          <a:lstStyle/>
          <a:p>
            <a:pPr algn="l" indent="0" marL="0">
              <a:buNone/>
            </a:pPr>
            <a:r>
              <a:rPr lang="en-US" sz="850" dirty="0">
                <a:solidFill>
                  <a:schemeClr val="tx2"/>
                </a:solidFill>
              </a:rPr>
              <a:t>Bench: two stations, laptop, meter, 12 V supply</a:t>
            </a:r>
            <a:endParaRPr lang="en-US" sz="850" dirty="0"/>
          </a:p>
        </p:txBody>
      </p:sp>
      <p:pic>
        <p:nvPicPr>
          <p:cNvPr id="8" name="The first station on the wall" descr="The first station on the wall">    </p:cNvPr>
          <p:cNvPicPr>
            <a:picLocks noChangeAspect="1"/>
          </p:cNvPicPr>
          <p:nvPr/>
        </p:nvPicPr>
        <p:blipFill>
          <a:blip r:embed="rId2"/>
          <a:stretch>
            <a:fillRect/>
          </a:stretch>
        </p:blipFill>
        <p:spPr>
          <a:xfrm>
            <a:off x="6387084" y="868680"/>
            <a:ext cx="2391156" cy="3511296"/>
          </a:xfrm>
          <a:prstGeom prst="rect">
            <a:avLst/>
          </a:prstGeom>
        </p:spPr>
      </p:pic>
      <p:sp>
        <p:nvSpPr>
          <p:cNvPr id="9" name="caption"/>
          <p:cNvSpPr txBox="1"/>
          <p:nvPr/>
        </p:nvSpPr>
        <p:spPr>
          <a:xfrm>
            <a:off x="6387084" y="4416552"/>
            <a:ext cx="2391156" cy="201168"/>
          </a:xfrm>
          <a:prstGeom prst="rect">
            <a:avLst/>
          </a:prstGeom>
          <a:noFill/>
          <a:ln/>
        </p:spPr>
        <p:txBody>
          <a:bodyPr wrap="square" lIns="0" tIns="0" rIns="0" bIns="0" rtlCol="0" anchor="ctr"/>
          <a:lstStyle/>
          <a:p>
            <a:pPr algn="l" indent="0" marL="0">
              <a:buNone/>
            </a:pPr>
            <a:r>
              <a:rPr lang="en-US" sz="850" dirty="0">
                <a:solidFill>
                  <a:schemeClr val="tx2"/>
                </a:solidFill>
              </a:rPr>
              <a:t>The first station on the wall</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365760" y="256032"/>
            <a:ext cx="8412480" cy="502920"/>
          </a:xfrm>
          <a:prstGeom prst="rect">
            <a:avLst/>
          </a:prstGeom>
          <a:noFill/>
          <a:ln/>
        </p:spPr>
        <p:txBody>
          <a:bodyPr wrap="square" lIns="0" tIns="0" rIns="0" bIns="0" rtlCol="0" anchor="ctr"/>
          <a:lstStyle/>
          <a:p>
            <a:pPr algn="l" indent="0" marL="0">
              <a:buNone/>
            </a:pPr>
            <a:r>
              <a:rPr lang="en-US" sz="2000" b="1" dirty="0">
                <a:solidFill>
                  <a:schemeClr val="tx1"/>
                </a:solidFill>
              </a:rPr>
              <a:t>Startup and self-calibration: six states before the robot is READY</a:t>
            </a:r>
            <a:endParaRPr lang="en-US" sz="2000" dirty="0"/>
          </a:p>
        </p:txBody>
      </p:sp>
      <p:sp>
        <p:nvSpPr>
          <p:cNvPr id="4" name="card 1  SELF_CHECK"/>
          <p:cNvSpPr/>
          <p:nvPr/>
        </p:nvSpPr>
        <p:spPr>
          <a:xfrm>
            <a:off x="365760" y="868680"/>
            <a:ext cx="2712720" cy="1632204"/>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1  SELF_CHECK</a:t>
            </a:r>
            <a:endParaRPr lang="en-US" sz="1100" dirty="0"/>
          </a:p>
          <a:p>
            <a:pPr algn="l" marL="152400" indent="-152400">
              <a:spcAft>
                <a:spcPts val="300"/>
              </a:spcAft>
              <a:buSzPct val="100000"/>
              <a:buChar char="•"/>
            </a:pPr>
            <a:r>
              <a:rPr lang="en-US" sz="1000" dirty="0">
                <a:solidFill>
                  <a:srgbClr val="000000"/>
                </a:solidFill>
              </a:rPr>
              <a:t>Claw online, battery above minimum</a:t>
            </a:r>
            <a:endParaRPr lang="en-US" sz="1100" dirty="0"/>
          </a:p>
          <a:p>
            <a:pPr algn="l" marL="152400" indent="-152400">
              <a:spcAft>
                <a:spcPts val="300"/>
              </a:spcAft>
              <a:buSzPct val="100000"/>
              <a:buChar char="•"/>
            </a:pPr>
            <a:r>
              <a:rPr lang="en-US" sz="1000" dirty="0">
                <a:solidFill>
                  <a:srgbClr val="000000"/>
                </a:solidFill>
              </a:rPr>
              <a:t>Camera confirms the claw upright at the known height on the floor board</a:t>
            </a:r>
            <a:endParaRPr lang="en-US" sz="1100" dirty="0"/>
          </a:p>
          <a:p>
            <a:pPr algn="l" marL="152400" indent="-152400">
              <a:spcAft>
                <a:spcPts val="300"/>
              </a:spcAft>
              <a:buSzPct val="100000"/>
              <a:buChar char="•"/>
            </a:pPr>
            <a:r>
              <a:rPr lang="en-US" sz="1000" dirty="0">
                <a:solidFill>
                  <a:srgbClr val="000000"/>
                </a:solidFill>
              </a:rPr>
              <a:t>Stations healthy, homing switches closed; arm</a:t>
            </a:r>
            <a:endParaRPr lang="en-US" sz="1100" dirty="0"/>
          </a:p>
        </p:txBody>
      </p:sp>
      <p:sp>
        <p:nvSpPr>
          <p:cNvPr id="5" name="card 2  SLACK_TAKEUP"/>
          <p:cNvSpPr/>
          <p:nvPr/>
        </p:nvSpPr>
        <p:spPr>
          <a:xfrm>
            <a:off x="3215640" y="868680"/>
            <a:ext cx="2712720" cy="1632204"/>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2  SLACK_TAKEUP</a:t>
            </a:r>
            <a:endParaRPr lang="en-US" sz="1100" dirty="0"/>
          </a:p>
          <a:p>
            <a:pPr algn="l" marL="152400" indent="-152400">
              <a:spcAft>
                <a:spcPts val="300"/>
              </a:spcAft>
              <a:buSzPct val="100000"/>
              <a:buChar char="•"/>
            </a:pPr>
            <a:r>
              <a:rPr lang="en-US" sz="1000" dirty="0">
                <a:solidFill>
                  <a:srgbClr val="000000"/>
                </a:solidFill>
              </a:rPr>
              <a:t>One cable at a time reeled in until the camera sees the claw slide or tip (onset)</a:t>
            </a:r>
            <a:endParaRPr lang="en-US" sz="1100" dirty="0"/>
          </a:p>
          <a:p>
            <a:pPr algn="l" marL="152400" indent="-152400">
              <a:spcAft>
                <a:spcPts val="300"/>
              </a:spcAft>
              <a:buSzPct val="100000"/>
              <a:buChar char="•"/>
            </a:pPr>
            <a:r>
              <a:rPr lang="en-US" sz="1000" dirty="0">
                <a:solidFill>
                  <a:srgbClr val="000000"/>
                </a:solidFill>
              </a:rPr>
              <a:t>Records spool position and slide bearing; backs off</a:t>
            </a:r>
            <a:endParaRPr lang="en-US" sz="1100" dirty="0"/>
          </a:p>
          <a:p>
            <a:pPr algn="l" marL="152400" indent="-152400">
              <a:spcAft>
                <a:spcPts val="300"/>
              </a:spcAft>
              <a:buSzPct val="100000"/>
              <a:buChar char="•"/>
            </a:pPr>
            <a:r>
              <a:rPr lang="en-US" sz="1000" dirty="0">
                <a:solidFill>
                  <a:srgbClr val="000000"/>
                </a:solidFill>
              </a:rPr>
              <a:t>Bearings checked against the anchor layout; first fit of cable lengths</a:t>
            </a:r>
            <a:endParaRPr lang="en-US" sz="1100" dirty="0"/>
          </a:p>
        </p:txBody>
      </p:sp>
      <p:sp>
        <p:nvSpPr>
          <p:cNvPr id="6" name="card 3  INITIAL_LIFT"/>
          <p:cNvSpPr/>
          <p:nvPr/>
        </p:nvSpPr>
        <p:spPr>
          <a:xfrm>
            <a:off x="6065520" y="868680"/>
            <a:ext cx="2712720" cy="1632204"/>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3  INITIAL_LIFT</a:t>
            </a:r>
            <a:endParaRPr lang="en-US" sz="1100" dirty="0"/>
          </a:p>
          <a:p>
            <a:pPr algn="l" marL="152400" indent="-152400">
              <a:spcAft>
                <a:spcPts val="300"/>
              </a:spcAft>
              <a:buSzPct val="100000"/>
              <a:buChar char="•"/>
            </a:pPr>
            <a:r>
              <a:rPr lang="en-US" sz="1000" dirty="0">
                <a:solidFill>
                  <a:srgbClr val="000000"/>
                </a:solidFill>
              </a:rPr>
              <a:t>Pretension all cables; lift in small packets</a:t>
            </a:r>
            <a:endParaRPr lang="en-US" sz="1100" dirty="0"/>
          </a:p>
          <a:p>
            <a:pPr algn="l" marL="152400" indent="-152400">
              <a:spcAft>
                <a:spcPts val="300"/>
              </a:spcAft>
              <a:buSzPct val="100000"/>
              <a:buChar char="•"/>
            </a:pPr>
            <a:r>
              <a:rPr lang="en-US" sz="1000" dirty="0">
                <a:solidFill>
                  <a:srgbClr val="000000"/>
                </a:solidFill>
              </a:rPr>
              <a:t>Abort on lateral drift, tilt, or commanded lift exceeding observed rise (slack cable)</a:t>
            </a:r>
            <a:endParaRPr lang="en-US" sz="1100" dirty="0"/>
          </a:p>
        </p:txBody>
      </p:sp>
      <p:sp>
        <p:nvSpPr>
          <p:cNvPr id="7" name="card 4  VISUAL_INITIALIZATION"/>
          <p:cNvSpPr/>
          <p:nvPr/>
        </p:nvSpPr>
        <p:spPr>
          <a:xfrm>
            <a:off x="365760" y="2638044"/>
            <a:ext cx="2712720" cy="1632204"/>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4  VISUAL_INITIALIZATION</a:t>
            </a:r>
            <a:endParaRPr lang="en-US" sz="1100" dirty="0"/>
          </a:p>
          <a:p>
            <a:pPr algn="l" marL="152400" indent="-152400">
              <a:spcAft>
                <a:spcPts val="300"/>
              </a:spcAft>
              <a:buSzPct val="100000"/>
              <a:buChar char="•"/>
            </a:pPr>
            <a:r>
              <a:rPr lang="en-US" sz="1000" dirty="0">
                <a:solidFill>
                  <a:srgbClr val="000000"/>
                </a:solidFill>
              </a:rPr>
              <a:t>Settled frame batch of the floor board</a:t>
            </a:r>
            <a:endParaRPr lang="en-US" sz="1100" dirty="0"/>
          </a:p>
          <a:p>
            <a:pPr algn="l" marL="152400" indent="-152400">
              <a:spcAft>
                <a:spcPts val="300"/>
              </a:spcAft>
              <a:buSzPct val="100000"/>
              <a:buChar char="•"/>
            </a:pPr>
            <a:r>
              <a:rPr lang="en-US" sz="1000" dirty="0">
                <a:solidFill>
                  <a:srgbClr val="000000"/>
                </a:solidFill>
              </a:rPr>
              <a:t>Refit cable lengths and the room-to-marker transform</a:t>
            </a:r>
            <a:endParaRPr lang="en-US" sz="1100" dirty="0"/>
          </a:p>
        </p:txBody>
      </p:sp>
      <p:sp>
        <p:nvSpPr>
          <p:cNvPr id="8" name="card 5  CALIBRATION"/>
          <p:cNvSpPr/>
          <p:nvPr/>
        </p:nvSpPr>
        <p:spPr>
          <a:xfrm>
            <a:off x="3215640" y="2638044"/>
            <a:ext cx="2712720" cy="1632204"/>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5  CALIBRATION</a:t>
            </a:r>
            <a:endParaRPr lang="en-US" sz="1100" dirty="0"/>
          </a:p>
          <a:p>
            <a:pPr algn="l" marL="152400" indent="-152400">
              <a:spcAft>
                <a:spcPts val="300"/>
              </a:spcAft>
              <a:buSzPct val="100000"/>
              <a:buChar char="•"/>
            </a:pPr>
            <a:r>
              <a:rPr lang="en-US" sz="1000" dirty="0">
                <a:solidFill>
                  <a:srgbClr val="000000"/>
                </a:solidFill>
              </a:rPr>
              <a:t>Local → intermediate → expanded pose sets chosen by D-optimal design; refit between stages</a:t>
            </a:r>
            <a:endParaRPr lang="en-US" sz="1100" dirty="0"/>
          </a:p>
          <a:p>
            <a:pPr algn="l" marL="152400" indent="-152400">
              <a:spcAft>
                <a:spcPts val="300"/>
              </a:spcAft>
              <a:buSzPct val="100000"/>
              <a:buChar char="•"/>
            </a:pPr>
            <a:r>
              <a:rPr lang="en-US" sz="1000" dirty="0">
                <a:solidFill>
                  <a:srgbClr val="000000"/>
                </a:solidFill>
              </a:rPr>
              <a:t>Held-out witness poses</a:t>
            </a:r>
            <a:endParaRPr lang="en-US" sz="1100" dirty="0"/>
          </a:p>
          <a:p>
            <a:pPr algn="l" marL="152400" indent="-152400">
              <a:spcAft>
                <a:spcPts val="300"/>
              </a:spcAft>
              <a:buSzPct val="100000"/>
              <a:buChar char="•"/>
            </a:pPr>
            <a:r>
              <a:rPr lang="en-US" sz="1000" dirty="0">
                <a:solidFill>
                  <a:srgbClr val="000000"/>
                </a:solidFill>
              </a:rPr>
              <a:t>Accept on witness residuals, identifiability, predicted length sigma over the work volume</a:t>
            </a:r>
            <a:endParaRPr lang="en-US" sz="1100" dirty="0"/>
          </a:p>
        </p:txBody>
      </p:sp>
      <p:sp>
        <p:nvSpPr>
          <p:cNvPr id="9" name="card 6  REFERENCE_VERIFICATION"/>
          <p:cNvSpPr/>
          <p:nvPr/>
        </p:nvSpPr>
        <p:spPr>
          <a:xfrm>
            <a:off x="6065520" y="2638044"/>
            <a:ext cx="2712720" cy="1632204"/>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6  REFERENCE_VERIFICATION</a:t>
            </a:r>
            <a:endParaRPr lang="en-US" sz="1100" dirty="0"/>
          </a:p>
          <a:p>
            <a:pPr algn="l" marL="152400" indent="-152400">
              <a:spcAft>
                <a:spcPts val="300"/>
              </a:spcAft>
              <a:buSzPct val="100000"/>
              <a:buChar char="•"/>
            </a:pPr>
            <a:r>
              <a:rPr lang="en-US" sz="1000" dirty="0">
                <a:solidFill>
                  <a:srgbClr val="000000"/>
                </a:solidFill>
              </a:rPr>
              <a:t>Optional bead references</a:t>
            </a:r>
            <a:endParaRPr lang="en-US" sz="1100" dirty="0"/>
          </a:p>
          <a:p>
            <a:pPr algn="l" marL="152400" indent="-152400">
              <a:spcAft>
                <a:spcPts val="300"/>
              </a:spcAft>
              <a:buSzPct val="100000"/>
              <a:buChar char="•"/>
            </a:pPr>
            <a:r>
              <a:rPr lang="en-US" sz="1000" dirty="0">
                <a:solidFill>
                  <a:srgbClr val="000000"/>
                </a:solidFill>
              </a:rPr>
              <a:t>Trust level VERIFIED or LOCAL_ONLY from the margin check</a:t>
            </a:r>
            <a:endParaRPr lang="en-US" sz="1100" dirty="0"/>
          </a:p>
        </p:txBody>
      </p:sp>
      <p:sp>
        <p:nvSpPr>
          <p:cNvPr id="10" name="rules"/>
          <p:cNvSpPr txBox="1"/>
          <p:nvPr/>
        </p:nvSpPr>
        <p:spPr>
          <a:xfrm>
            <a:off x="365760" y="4325112"/>
            <a:ext cx="8412480" cy="274320"/>
          </a:xfrm>
          <a:prstGeom prst="rect">
            <a:avLst/>
          </a:prstGeom>
          <a:noFill/>
          <a:ln/>
        </p:spPr>
        <p:txBody>
          <a:bodyPr wrap="square" lIns="0" tIns="0" rIns="0" bIns="0" rtlCol="0" anchor="ctr"/>
          <a:lstStyle/>
          <a:p>
            <a:pPr indent="0" marL="0">
              <a:buNone/>
            </a:pPr>
            <a:r>
              <a:rPr lang="en-US" sz="1000" b="1" dirty="0">
                <a:solidFill>
                  <a:schemeClr val="tx1"/>
                </a:solidFill>
              </a:rPr>
              <a:t>No automatic retry; any station reboot forces the full sequence again.</a:t>
            </a:r>
            <a:endParaRPr lang="en-US" sz="1000" dirty="0"/>
          </a:p>
        </p:txBody>
      </p:sp>
      <p:sp>
        <p:nvSpPr>
          <p:cNvPr id="11"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365760" y="256032"/>
            <a:ext cx="8412480" cy="502920"/>
          </a:xfrm>
          <a:prstGeom prst="rect">
            <a:avLst/>
          </a:prstGeom>
          <a:noFill/>
          <a:ln/>
        </p:spPr>
        <p:txBody>
          <a:bodyPr wrap="square" lIns="0" tIns="0" rIns="0" bIns="0" rtlCol="0" anchor="ctr"/>
          <a:lstStyle/>
          <a:p>
            <a:pPr algn="l" indent="0" marL="0">
              <a:buNone/>
            </a:pPr>
            <a:r>
              <a:rPr lang="en-US" sz="2400" b="1" dirty="0">
                <a:solidFill>
                  <a:srgbClr val="000000"/>
                </a:solidFill>
                <a:latin typeface="Arial" pitchFamily="34" charset="0"/>
                <a:ea typeface="Arial" pitchFamily="34" charset="-122"/>
                <a:cs typeface="Arial" pitchFamily="34" charset="-120"/>
              </a:rPr>
              <a:t>Next iteration: what was not working, and what changes</a:t>
            </a:r>
            <a:endParaRPr lang="en-US" sz="2400" dirty="0"/>
          </a:p>
        </p:txBody>
      </p:sp>
      <p:sp>
        <p:nvSpPr>
          <p:cNvPr id="4" name="card 3:1 printed gear stage"/>
          <p:cNvSpPr/>
          <p:nvPr/>
        </p:nvSpPr>
        <p:spPr>
          <a:xfrm>
            <a:off x="365760" y="868680"/>
            <a:ext cx="1737360" cy="23774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3:1 printed gear stage</a:t>
            </a:r>
            <a:endParaRPr lang="en-US" sz="1100" dirty="0"/>
          </a:p>
          <a:p>
            <a:pPr algn="l" marL="152400" indent="-152400">
              <a:spcAft>
                <a:spcPts val="200"/>
              </a:spcAft>
              <a:buSzPct val="100000"/>
              <a:buChar char="•"/>
            </a:pPr>
            <a:r>
              <a:rPr lang="en-US" sz="950" dirty="0">
                <a:solidFill>
                  <a:srgbClr val="000000"/>
                </a:solidFill>
              </a:rPr>
              <a:t>18T / 54T spur, printed PETG pinion</a:t>
            </a:r>
            <a:endParaRPr lang="en-US" sz="1100" dirty="0"/>
          </a:p>
          <a:p>
            <a:pPr algn="l" marL="152400" indent="-152400">
              <a:spcAft>
                <a:spcPts val="200"/>
              </a:spcAft>
              <a:buSzPct val="100000"/>
              <a:buChar char="•"/>
            </a:pPr>
            <a:r>
              <a:rPr lang="en-US" sz="950" dirty="0">
                <a:solidFill>
                  <a:srgbClr val="000000"/>
                </a:solidFill>
              </a:rPr>
              <a:t>Designed and checked in CAD; pinion printed; not fitted</a:t>
            </a:r>
            <a:endParaRPr lang="en-US" sz="1100" dirty="0"/>
          </a:p>
          <a:p>
            <a:pPr algn="l" marL="152400" indent="-152400">
              <a:spcAft>
                <a:spcPts val="200"/>
              </a:spcAft>
              <a:buSzPct val="100000"/>
              <a:buChar char="•"/>
            </a:pPr>
            <a:r>
              <a:rPr lang="en-US" sz="950" dirty="0">
                <a:solidFill>
                  <a:srgbClr val="000000"/>
                </a:solidFill>
              </a:rPr>
              <a:t>Pull × 3 × 0.9 (η) = 2.7 at equal current (calculated)</a:t>
            </a:r>
            <a:endParaRPr lang="en-US" sz="1100" dirty="0"/>
          </a:p>
          <a:p>
            <a:pPr algn="l" marL="152400" indent="-152400">
              <a:spcAft>
                <a:spcPts val="200"/>
              </a:spcAft>
              <a:buSzPct val="100000"/>
              <a:buChar char="•"/>
            </a:pPr>
            <a:r>
              <a:rPr lang="en-US" sz="950" dirty="0">
                <a:solidFill>
                  <a:srgbClr val="000000"/>
                </a:solidFill>
              </a:rPr>
              <a:t>At 1.0 A: heat × (1.0/1.5)² = 0.44 (calculated)</a:t>
            </a:r>
            <a:endParaRPr lang="en-US" sz="1100" dirty="0"/>
          </a:p>
        </p:txBody>
      </p:sp>
      <p:sp>
        <p:nvSpPr>
          <p:cNvPr id="5" name="card 1° draft on the dovetail"/>
          <p:cNvSpPr/>
          <p:nvPr/>
        </p:nvSpPr>
        <p:spPr>
          <a:xfrm>
            <a:off x="2212848" y="868680"/>
            <a:ext cx="1737360" cy="23774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1° draft on the dovetail</a:t>
            </a:r>
            <a:endParaRPr lang="en-US" sz="1100" dirty="0"/>
          </a:p>
          <a:p>
            <a:pPr algn="l" marL="152400" indent="-152400">
              <a:spcAft>
                <a:spcPts val="200"/>
              </a:spcAft>
              <a:buSzPct val="100000"/>
              <a:buChar char="•"/>
            </a:pPr>
            <a:r>
              <a:rPr lang="en-US" sz="950" dirty="0">
                <a:solidFill>
                  <a:srgbClr val="000000"/>
                </a:solidFill>
              </a:rPr>
              <a:t>Today the slide-in binds on insertion</a:t>
            </a:r>
            <a:endParaRPr lang="en-US" sz="1100" dirty="0"/>
          </a:p>
          <a:p>
            <a:pPr algn="l" marL="152400" indent="-152400">
              <a:spcAft>
                <a:spcPts val="200"/>
              </a:spcAft>
              <a:buSzPct val="100000"/>
              <a:buChar char="•"/>
            </a:pPr>
            <a:r>
              <a:rPr lang="en-US" sz="950" dirty="0">
                <a:solidFill>
                  <a:srgbClr val="000000"/>
                </a:solidFill>
              </a:rPr>
              <a:t>Thicker at the top, thinning toward the bottom</a:t>
            </a:r>
            <a:endParaRPr lang="en-US" sz="1100" dirty="0"/>
          </a:p>
          <a:p>
            <a:pPr algn="l" marL="152400" indent="-152400">
              <a:spcAft>
                <a:spcPts val="200"/>
              </a:spcAft>
              <a:buSzPct val="100000"/>
              <a:buChar char="•"/>
            </a:pPr>
            <a:r>
              <a:rPr lang="en-US" sz="950" dirty="0">
                <a:solidFill>
                  <a:srgbClr val="000000"/>
                </a:solidFill>
              </a:rPr>
              <a:t>The station self-locates as it slides in (planned)</a:t>
            </a:r>
            <a:endParaRPr lang="en-US" sz="1100" dirty="0"/>
          </a:p>
        </p:txBody>
      </p:sp>
      <p:sp>
        <p:nvSpPr>
          <p:cNvPr id="6" name="card Lighter back mount"/>
          <p:cNvSpPr/>
          <p:nvPr/>
        </p:nvSpPr>
        <p:spPr>
          <a:xfrm>
            <a:off x="4059936" y="868680"/>
            <a:ext cx="1737360" cy="2377440"/>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00" b="1" dirty="0">
                <a:solidFill>
                  <a:srgbClr val="000000"/>
                </a:solidFill>
              </a:rPr>
              <a:t>Lighter back mount</a:t>
            </a:r>
            <a:endParaRPr lang="en-US" sz="1100" dirty="0"/>
          </a:p>
          <a:p>
            <a:pPr algn="l" marL="152400" indent="-152400">
              <a:spcAft>
                <a:spcPts val="200"/>
              </a:spcAft>
              <a:buSzPct val="100000"/>
              <a:buChar char="•"/>
            </a:pPr>
            <a:r>
              <a:rPr lang="en-US" sz="950" dirty="0">
                <a:solidFill>
                  <a:srgbClr val="000000"/>
                </a:solidFill>
              </a:rPr>
              <a:t>Today: 597 cm³ solid, far stronger than the motor can pull</a:t>
            </a:r>
            <a:endParaRPr lang="en-US" sz="1100" dirty="0"/>
          </a:p>
          <a:p>
            <a:pPr algn="l" marL="152400" indent="-152400">
              <a:spcAft>
                <a:spcPts val="200"/>
              </a:spcAft>
              <a:buSzPct val="100000"/>
              <a:buChar char="•"/>
            </a:pPr>
            <a:r>
              <a:rPr lang="en-US" sz="950" dirty="0">
                <a:solidFill>
                  <a:srgbClr val="000000"/>
                </a:solidFill>
              </a:rPr>
              <a:t>Thinner walls and ribs: about 200 cm³ (planned)</a:t>
            </a:r>
            <a:endParaRPr lang="en-US" sz="1100" dirty="0"/>
          </a:p>
          <a:p>
            <a:pPr algn="l" marL="152400" indent="-152400">
              <a:spcAft>
                <a:spcPts val="200"/>
              </a:spcAft>
              <a:buSzPct val="100000"/>
              <a:buChar char="•"/>
            </a:pPr>
            <a:r>
              <a:rPr lang="en-US" sz="950" dirty="0">
                <a:solidFill>
                  <a:srgbClr val="000000"/>
                </a:solidFill>
              </a:rPr>
              <a:t>Less print time and filament</a:t>
            </a:r>
            <a:endParaRPr lang="en-US" sz="1100" dirty="0"/>
          </a:p>
        </p:txBody>
      </p:sp>
      <p:sp>
        <p:nvSpPr>
          <p:cNvPr id="7" name="card Not working yet / still planned"/>
          <p:cNvSpPr/>
          <p:nvPr/>
        </p:nvSpPr>
        <p:spPr>
          <a:xfrm>
            <a:off x="365760" y="3355848"/>
            <a:ext cx="5431536" cy="1261872"/>
          </a:xfrm>
          <a:prstGeom prst="rect">
            <a:avLst/>
          </a:prstGeom>
          <a:solidFill>
            <a:srgbClr val="F2F2F2"/>
          </a:solidFill>
          <a:ln>
            <a:solidFill>
              <a:srgbClr val="F2F2F2"/>
            </a:solidFill>
          </a:ln>
        </p:spPr>
        <p:txBody>
          <a:bodyPr wrap="square" lIns="146304" tIns="146304" rIns="146304" bIns="146304" rtlCol="0" anchor="t"/>
          <a:lstStyle/>
          <a:p>
            <a:pPr algn="l" indent="0" marL="0">
              <a:spcAft>
                <a:spcPts val="600"/>
              </a:spcAft>
              <a:buNone/>
            </a:pPr>
            <a:r>
              <a:rPr lang="en-US" sz="1150" b="1" dirty="0">
                <a:solidFill>
                  <a:srgbClr val="000000"/>
                </a:solidFill>
              </a:rPr>
              <a:t>Not working yet / still planned</a:t>
            </a:r>
            <a:endParaRPr lang="en-US" sz="1150" dirty="0"/>
          </a:p>
          <a:p>
            <a:pPr algn="l" marL="152400" indent="-152400">
              <a:spcAft>
                <a:spcPts val="300"/>
              </a:spcAft>
              <a:buSzPct val="100000"/>
              <a:buChar char="•"/>
            </a:pPr>
            <a:r>
              <a:rPr lang="en-US" sz="1000" dirty="0">
                <a:solidFill>
                  <a:srgbClr val="000000"/>
                </a:solidFill>
              </a:rPr>
              <a:t>Pull test at 1.5 A: the measured limit goes into the planner (planned)</a:t>
            </a:r>
            <a:endParaRPr lang="en-US" sz="1150" dirty="0"/>
          </a:p>
          <a:p>
            <a:pPr algn="l" marL="152400" indent="-152400">
              <a:spcAft>
                <a:spcPts val="300"/>
              </a:spcAft>
              <a:buSzPct val="100000"/>
              <a:buChar char="•"/>
            </a:pPr>
            <a:r>
              <a:rPr lang="en-US" sz="1000" dirty="0">
                <a:solidFill>
                  <a:srgbClr val="000000"/>
                </a:solidFill>
              </a:rPr>
              <a:t>Hold test: 90 minutes at 1.5 A, motor below 60 °C (planned)</a:t>
            </a:r>
            <a:endParaRPr lang="en-US" sz="1150" dirty="0"/>
          </a:p>
          <a:p>
            <a:pPr algn="l" marL="152400" indent="-152400">
              <a:spcAft>
                <a:spcPts val="300"/>
              </a:spcAft>
              <a:buSzPct val="100000"/>
              <a:buChar char="•"/>
            </a:pPr>
            <a:r>
              <a:rPr lang="en-US" sz="1000" dirty="0">
                <a:solidFill>
                  <a:srgbClr val="000000"/>
                </a:solidFill>
              </a:rPr>
              <a:t>First three-station lift: self-check, calibration, a short move with 1 lb (planned)</a:t>
            </a:r>
            <a:endParaRPr lang="en-US" sz="1150" dirty="0"/>
          </a:p>
        </p:txBody>
      </p:sp>
      <p:pic>
        <p:nvPicPr>
          <p:cNvPr id="8" name="Next-iteration station (CAD), front: 3:1" descr="Next-iteration station (CAD), front: 3:1 spur stage, motor pinion to spool gear, spool on its own shaft, encoder magnet cap">    </p:cNvPr>
          <p:cNvPicPr>
            <a:picLocks noChangeAspect="1"/>
          </p:cNvPicPr>
          <p:nvPr/>
        </p:nvPicPr>
        <p:blipFill>
          <a:blip r:embed="rId1"/>
          <a:stretch>
            <a:fillRect/>
          </a:stretch>
        </p:blipFill>
        <p:spPr>
          <a:xfrm>
            <a:off x="6468355" y="868680"/>
            <a:ext cx="1748553" cy="1609344"/>
          </a:xfrm>
          <a:prstGeom prst="rect">
            <a:avLst/>
          </a:prstGeom>
        </p:spPr>
      </p:pic>
      <p:pic>
        <p:nvPicPr>
          <p:cNvPr id="9" name="Next-iteration station (CAD), back: slid" descr="Next-iteration station (CAD), back: slide-in rails on the mount plate, window, screw holes">    </p:cNvPr>
          <p:cNvPicPr>
            <a:picLocks noChangeAspect="1"/>
          </p:cNvPicPr>
          <p:nvPr/>
        </p:nvPicPr>
        <p:blipFill>
          <a:blip r:embed="rId2"/>
          <a:stretch>
            <a:fillRect/>
          </a:stretch>
        </p:blipFill>
        <p:spPr>
          <a:xfrm>
            <a:off x="6623241" y="2551176"/>
            <a:ext cx="1438781" cy="1609344"/>
          </a:xfrm>
          <a:prstGeom prst="rect">
            <a:avLst/>
          </a:prstGeom>
        </p:spPr>
      </p:pic>
      <p:sp>
        <p:nvSpPr>
          <p:cNvPr id="10" name="caption"/>
          <p:cNvSpPr txBox="1"/>
          <p:nvPr/>
        </p:nvSpPr>
        <p:spPr>
          <a:xfrm>
            <a:off x="5907024" y="4215384"/>
            <a:ext cx="2871216" cy="201168"/>
          </a:xfrm>
          <a:prstGeom prst="rect">
            <a:avLst/>
          </a:prstGeom>
          <a:noFill/>
          <a:ln/>
        </p:spPr>
        <p:txBody>
          <a:bodyPr wrap="square" lIns="0" tIns="0" rIns="0" bIns="0" rtlCol="0" anchor="ctr"/>
          <a:lstStyle/>
          <a:p>
            <a:pPr algn="l" indent="0" marL="0">
              <a:buNone/>
            </a:pPr>
            <a:r>
              <a:rPr lang="en-US" sz="850" dirty="0">
                <a:solidFill>
                  <a:schemeClr val="tx2"/>
                </a:solidFill>
              </a:rPr>
              <a:t>Next iteration (CAD, 10/27). Front: 3:1 spur stage, spool on its own shaft, encoder magnet cap. Back: slide-in rails, window, screw holes</a:t>
            </a:r>
            <a:endParaRPr lang="en-US" sz="85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hank you"/>
          <p:cNvSpPr txBox="1"/>
          <p:nvPr/>
        </p:nvSpPr>
        <p:spPr>
          <a:xfrm>
            <a:off x="365760" y="1828800"/>
            <a:ext cx="8412480" cy="822960"/>
          </a:xfrm>
          <a:prstGeom prst="rect">
            <a:avLst/>
          </a:prstGeom>
          <a:noFill/>
          <a:ln/>
        </p:spPr>
        <p:txBody>
          <a:bodyPr wrap="square" lIns="0" tIns="0" rIns="0" bIns="0" rtlCol="0" anchor="ctr"/>
          <a:lstStyle/>
          <a:p>
            <a:pPr indent="0" marL="0">
              <a:buNone/>
            </a:pPr>
            <a:r>
              <a:rPr lang="en-US" sz="4000" b="1" dirty="0">
                <a:solidFill>
                  <a:schemeClr val="tx1"/>
                </a:solidFill>
              </a:rPr>
              <a:t>Thank you</a:t>
            </a:r>
            <a:endParaRPr lang="en-US" sz="4000" dirty="0"/>
          </a:p>
        </p:txBody>
      </p:sp>
      <p:sp>
        <p:nvSpPr>
          <p:cNvPr id="3" name="byline"/>
          <p:cNvSpPr txBox="1"/>
          <p:nvPr/>
        </p:nvSpPr>
        <p:spPr>
          <a:xfrm>
            <a:off x="365760" y="2697480"/>
            <a:ext cx="8412480" cy="365760"/>
          </a:xfrm>
          <a:prstGeom prst="rect">
            <a:avLst/>
          </a:prstGeom>
          <a:noFill/>
          <a:ln/>
        </p:spPr>
        <p:txBody>
          <a:bodyPr wrap="square" lIns="0" tIns="0" rIns="0" bIns="0" rtlCol="0" anchor="ctr"/>
          <a:lstStyle/>
          <a:p>
            <a:pPr indent="0" marL="0">
              <a:buNone/>
            </a:pPr>
            <a:r>
              <a:rPr lang="en-US" sz="1300" dirty="0">
                <a:solidFill>
                  <a:schemeClr val="tx2"/>
                </a:solidFill>
              </a:rPr>
              <a:t>Jasper Buntinx  |  Mechanical Engineering  |  Texas A&amp;M</a:t>
            </a:r>
            <a:endParaRPr lang="en-US" sz="1300" dirty="0"/>
          </a:p>
        </p:txBody>
      </p:sp>
      <p:sp>
        <p:nvSpPr>
          <p:cNvPr id="25" name="Slide Number Placeholder 0"/>
          <p:cNvSpPr>
            <a:spLocks noGrp="1"/>
          </p:cNvSpPr>
          <p:nvPr>
            <p:ph type="sldNum" sz="quarter" idx="4294967295"/>
          </p:nvPr>
        </p:nvSpPr>
        <p:spPr>
          <a:xfrm>
            <a:off x="8229600" y="4846320"/>
            <a:ext cx="548640" cy="297180"/>
          </a:xfrm>
          <a:prstGeom prst="rect">
            <a:avLst/>
          </a:prstGeom>
          <a:extLst>
            <a:ext uri="{C572A759-6A51-4108-AA02-DFA0A04FC94B}">
              <ma14:wrappingTextBoxFlag xmlns:ma14="http://schemas.microsoft.com/office/mac/drawingml/2011/main" val="0"/>
            </a:ext>
          </a:extLst>
        </p:spPr>
        <p:txBody>
          <a:bodyPr anchor="ctr"/>
          <a:lstStyle>
            <a:lvl1pPr>
              <a:defRPr sz="800">
                <a:solidFill>
                  <a:srgbClr val="FFFFFF"/>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RoomCleaner v10">
  <a:themeElements>
    <a:clrScheme name="RoomCleaner v10">
      <a:dk1>
        <a:srgbClr val="000000"/>
      </a:dk1>
      <a:lt1>
        <a:srgbClr val="FFFFFF"/>
      </a:lt1>
      <a:dk2>
        <a:srgbClr val="404040"/>
      </a:dk2>
      <a:lt2>
        <a:srgbClr val="F2F2F2"/>
      </a:lt2>
      <a:accent1>
        <a:srgbClr val="1F3A5F"/>
      </a:accent1>
      <a:accent2>
        <a:srgbClr val="8A8F98"/>
      </a:accent2>
      <a:accent3>
        <a:srgbClr val="BFC4CB"/>
      </a:accent3>
      <a:accent4>
        <a:srgbClr val="404040"/>
      </a:accent4>
      <a:accent5>
        <a:srgbClr val="D9DEE5"/>
      </a:accent5>
      <a:accent6>
        <a:srgbClr val="5B6470"/>
      </a:accent6>
      <a:hlink>
        <a:srgbClr val="1F3A5F"/>
      </a:hlink>
      <a:folHlink>
        <a:srgbClr val="4F6D8F"/>
      </a:folHlink>
    </a:clrScheme>
    <a:fontScheme name="RoomCleaner v10">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RoomCleaner</dc:title>
  <dc:subject>PptxGenJS Presentation</dc:subject>
  <dc:creator>Jasper Buntinx</dc:creator>
  <cp:lastModifiedBy>Jasper Buntinx</cp:lastModifiedBy>
  <cp:revision>1</cp:revision>
  <dcterms:created xsi:type="dcterms:W3CDTF">2026-10-27T12:35:47Z</dcterms:created>
  <dcterms:modified xsi:type="dcterms:W3CDTF">2026-10-27T12:35:47Z</dcterms:modified>
</cp:coreProperties>
</file>