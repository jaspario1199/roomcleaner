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dde6ec-ebad-b549-0cb5-fbfca722fd14}">
          <p14:sldIdLst>
            <p14:sldId id="256"/>
            <p14:sldId id="257"/>
          </p14:sldIdLst>
        </p14:section>
        <p14:section name="Scope" id="{fe90680f-805f-7877-9e97-f22ba0951d62}">
          <p14:sldIdLst>
            <p14:sldId id="258"/>
          </p14:sldIdLst>
        </p14:section>
        <p14:section name="Fundamentals" id="{e00f1c4d-1617-eacc-1c03-e7906f36880d}">
          <p14:sldIdLst>
            <p14:sldId id="259"/>
          </p14:sldIdLst>
        </p14:section>
        <p14:section name="Generation 1" id="{2aff89d7-63bc-8370-a7e2-36454380cded}">
          <p14:sldIdLst>
            <p14:sldId id="260"/>
            <p14:sldId id="261"/>
          </p14:sldIdLst>
        </p14:section>
        <p14:section name="Homing" id="{637be20f-25d5-4ee0-4e22-1922f329c58c}">
          <p14:sldIdLst>
            <p14:sldId id="262"/>
          </p14:sldIdLst>
        </p14:section>
        <p14:section name="What a winch needs" id="{6a8bd2a8-5ebd-a849-3c98-9672ce86ff08}">
          <p14:sldIdLst>
            <p14:sldId id="263"/>
          </p14:sldIdLst>
        </p14:section>
        <p14:section name="Modular box" id="{6be4d04c-7699-15d3-dcfc-a84da76a3c5f}">
          <p14:sldIdLst>
            <p14:sldId id="264"/>
            <p14:sldId id="265"/>
          </p14:sldIdLst>
        </p14:section>
        <p14:section name="Trade-offs" id="{650d3809-5040-576f-5f00-a88c765a595e}">
          <p14:sldIdLst>
            <p14:sldId id="266"/>
          </p14:sldIdLst>
        </p14:section>
        <p14:section name="Mount assembly" id="{0fa84674-930a-c3d3-1aa4-b8f9b802980a}">
          <p14:sldIdLst>
            <p14:sldId id="267"/>
            <p14:sldId id="268"/>
          </p14:sldIdLst>
        </p14:section>
        <p14:section name="Manufacturing" id="{678a716e-d231-c5c6-ef13-464b727e631a}">
          <p14:sldIdLst>
            <p14:sldId id="269"/>
          </p14:sldIdLst>
        </p14:section>
        <p14:section name="Claw" id="{5c9e5692-f925-3328-d7f0-a6f3d1bceca8}">
          <p14:sldIdLst>
            <p14:sldId id="270"/>
          </p14:sldIdLst>
        </p14:section>
        <p14:section name="Electrical and testing" id="{c5226d39-78e4-4cc7-398a-6e068dde1b63}">
          <p14:sldIdLst>
            <p14:sldId id="271"/>
          </p14:sldIdLst>
        </p14:section>
        <p14:section name="Calibration" id="{06c83061-9509-461d-c41b-57e127c6e39b}">
          <p14:sldIdLst>
            <p14:sldId id="272"/>
          </p14:sldIdLst>
        </p14:section>
        <p14:section name="Next iteration" id="{20571e00-649c-c44a-983a-287b9d125007}">
          <p14:sldIdLst>
            <p14:sldId id="273"/>
          </p14:sldIdLst>
        </p14:section>
        <p14:section name="Close" id="{8c70f0c9-3347-48fb-b91b-a89115266935}">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(design; moved off the slide in v10.6 to make room for the variable definitions);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1.5 A rated — datasheet (SIMAX3D NEMA 17 42-38 seller listing, ordered Aug 7) — DECISIONS.md D45; COST_BREAKDOWN §1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15.7 N with a = 1 m/s^2 (design, D45; was 2 m/s^2 assumed), against the 16.8 N winch limit; with jeans the claw stays at least 0.54 m down (recomputed, FUNDAMENTALS section 1 method).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1.50 x 1.008 x 9.81 = 14.8 N (was 16.2 N at 2 m/s^2; calculations/lift_chain_weakest_link.md 'Demand and the fuse'; slide 17 row). Weight: 0.45 kg budget (R7), 0.86 kg CAD estimate with battery, 0.60 kg weighed 10/22 (PANEL_FEEDBACK_ANSWERS slide 16); capacity m = F_design / (k g); the LP factor 1.101 (lift_chain_weakest_link.py K_TENSION) included 2 m/s^2, so it is NOT 1 + a/g: k_geo = 1.101 / 1.204 = 0.915, and with a = 1 m/s^2 k = 0.915 x 1.102 = 1.008 (tension is linear in the vertical load); 16.8 / (1.008 x 9.81) = 1.70 kg (was 1.56 kg); (1.70 - 1.50) / 1.50 = 13 % (was 4 %). Motor temperature chart: two-node thermal network (fin_sizing_4w.py), input P = I^2 R = 1.5^2 x 1.8 = 4.05 W; no temperature measured. Tension Need line: 1 lb + 0.60 kg claw at d 0.4 m: 1.054 x 10.81 / (4 x 0.1816) = 15.7 N (was 17.1 N); jeans + claw 1.50 kg: 16.8 N reached at d = 0.54 m (was 0.59 m), 15.2 N at 0.6 m (was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1 m/s² — design (maximum commanded claw acceleration; was 2 m/s² assumed) — DECISIONS.md D45
15.7 N at d 0.4 m (1 lb + claw), jeans d ≥ 0.54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research: comparable 42x38 NEMA 17 datasheets 1.5–1.65 Ω (Pololu #2267 1.65 Ω at 1.68 A; similar 1.68 A listing 1.5 Ω); 1.8 Ω conservative; SIMAX3D listing gives no resistance — DECISIONS D45/D46
4.05 W — calc — on slide
0.36 N·m — datasheet; 0.7 — assumed; 7.5 mm — design; 10 mm — calc (winding) — FUNDAMENTALS.md §2
34 / 25 N — calc — on slide
0.915 worst-cable factor per unit m(g + a) — sim (linear program), rescaled from 1.101, which included 2 m/s² — calculations/lift_chain_weakest_link.py K_TENSION; DECISIONS.md D45
1.102 = 1 + a/g — calc — DECISIONS.md D45
1.008, 1.70 kg, +13 %, 14.8 N — calc — on slide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Fin alloy 6061, confirmed by Jasper (DECISIONS D45). Radiation q_rad = eps sigma A (Ts^4 - Tinf^4), h_rad = eps sigma (Ts + Tinf)(Ts^2 + Tinf^2) = 6.75 eps W/m^2K at 50 / 23 C; bare Al eps 0.05-0.09, black paint 0.92-0.96 (handbook tables, D45); natural convection h = 1.42 (dT/L)^0.25 = 4.84 W/m^2K at dT 27 K, L 0.2 m; total 5.3 (eps 0.07) to 10.9 W/m^2K (eps 0.9, the fin model value), D45.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Motor: SIMAX3D NEMA 17 42-38, 36 N.cm, 1.5 A, seller listing (D45). Photos 32, 33 (README rows).
Sources (value — tag — file/section):
6061 fin alloy — design (confirmed by Jasper) — DECISIONS.md D45
σ = 5.67e-8 W/m²K⁴ — handbook
Ts 50 °C, T∞ 23 °C — design (evaluation temperatures) — DECISIONS.md D45
6.75·ε W/m²K — calc — on slide (D45 quotes 6.74)
ε bare Al 0.05–0.09, black paint 0.92–0.96 — handbook (emissivity tables) — DECISIONS.md D45
h = 1.42 (ΔT/L)^0.25, 4.8 W/m²K, L 0.2 m — calc (handbook natural-convection correlation) — DECISIONS.md D45
5.3 → 10.9 W/m²K (ε 0.07 → 0.9) — calc — on slide; DECISIONS.md D45
1.5 A — datasheet (rated) — DECISIONS.md D37; COST_BREAKDOWN §1
1.8 Ω per phase — research: comparable 42x38 NEMA 17 datasheets 1.5–1.65 Ω (Pololu #2267 1.65 Ω at 1.68 A; similar 1.68 A listing 1.5 Ω); 1.8 Ω conservative; SIMAX3D listing gives no resistance — DECISIONS D45/D46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 N = m(g + a)/(2 mu) = 0.9 x 10.81 / 0.6 = 16.2 N per jaw at mu 0.3, 8.1 N at mu 0.6 (was 17.7 / 8.9 N at 2 m/s^2); a = 1 m/s^2 (D45). Cloth friction (DECISIONS D45): garment fabrics 0.22-0.38, special fabrics 0.52-0.62, denim on skin 0.14-0.44, simulation guidance for cotton/polyester twills 0.5-0.65, an informal incline test 0.74-0.89 for denim/cotton on plastic; none is fabric on PETG; mu 0.3 kept as the worst case until a sled pull on the printed jaws (ASTM D1894-style). Camera bay in the electronics housing, the camera looks down the tube (moved off the slide in v10.6). 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0.9 kg jeans — assumed; a = 1 m/s² — design; 9.81 — handbook — DECISIONS.md D45
μ 0.3 — worst case from published ranges; μ 0.6 — TPU pad case — DECISIONS.md D45; FUNDAMENTALS.md §5
16.2 N, 8.1 N per jaw — calc — on slide
Fabric friction 0.22–0.38, 0.52–0.62, denim on skin 0.14–0.44 — handbook / literature — DECISIONS.md D45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assumed and conservative (DECISIONS D45: Niemann mesh-loss factor H_v = 0.167 for 18T/54T module 1, 20 deg, eps1 0.765, eps2 0.884; eta_mesh = 1 - mu H_v = 0.92-0.97 for mu 0.2-0.5; no published efficiency for printed PETG spur gears; a torque-in/torque-out test replaces it;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conservative — DECISIONS.md D45; calculations/winch_gear3.md
module 1, 20° pressure angle, u = 3 — design — DECISIONS.md D40, D41, D45
ε1 0.765, ε2 0.884, H_v 0.167, η_mesh 0.92–0.97 — calc (Niemann loss factor) — DECISIONS.md D45
μ 0.2–0.5 dry polymer gear friction — assumed — DECISIONS.md D45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300"/>
              </a:spcAft>
              <a:buSzPct val="100000"/>
              <a:buChar char="•"/>
            </a:pPr>
            <a:r>
              <a:rPr lang="en-US" sz="900" dirty="0">
                <a:solidFill>
                  <a:srgbClr val="000000"/>
                </a:solidFill>
              </a:rPr>
              <a:t>where L_i: cable length, mount i to claw (m); a_i: cable exit point at mount i; p: claw position; r: spool radius incl. wound line (mm)</a:t>
            </a:r>
            <a:endParaRPr lang="en-US" sz="1200" dirty="0"/>
          </a:p>
          <a:p>
            <a:pPr algn="l" marL="152400" indent="-152400">
              <a:spcAft>
                <a:spcPts val="300"/>
              </a:spcAft>
              <a:buSzPct val="100000"/>
              <a:buChar char="•"/>
            </a:pPr>
            <a:r>
              <a:rPr lang="en-US" sz="900" dirty="0">
                <a:solidFill>
                  <a:srgbClr val="000000"/>
                </a:solidFill>
              </a:rPr>
              <a:t>Line per spool turn = 2π·r: 2π × 7.5 mm core (design) = 47.1 mm → 2π × 10 mm full spool (calc, 20 ft wound) = 62.8 mm (calc)</a:t>
            </a:r>
            <a:endParaRPr lang="en-US" sz="1200" dirty="0"/>
          </a:p>
          <a:p>
            <a:pPr algn="l" marL="152400" indent="-152400">
              <a:spcAft>
                <a:spcPts val="300"/>
              </a:spcAft>
              <a:buSzPct val="100000"/>
              <a:buChar char="•"/>
            </a:pPr>
            <a:r>
              <a:rPr lang="en-US" sz="900" dirty="0">
                <a:solidFill>
                  <a:srgbClr val="000000"/>
                </a:solidFill>
              </a:rPr>
              <a:t>Four cable lengths, three position unknowns: overdetermined, solved by least squares</a:t>
            </a:r>
            <a:endParaRPr lang="en-US" sz="1200" dirty="0"/>
          </a:p>
          <a:p>
            <a:pPr algn="l" marL="152400" indent="-152400">
              <a:spcAft>
                <a:spcPts val="300"/>
              </a:spcAft>
              <a:buSzPct val="100000"/>
              <a:buChar char="•"/>
            </a:pPr>
            <a:r>
              <a:rPr lang="en-US" sz="900" dirty="0">
                <a:solidFill>
                  <a:srgbClr val="000000"/>
                </a:solidFill>
              </a:rPr>
              <a:t>The camera on the floor board fixes the anchors and cable lengths at startup (calibration)</a:t>
            </a:r>
            <a:endParaRPr lang="en-US" sz="1200" dirty="0"/>
          </a:p>
          <a:p>
            <a:pPr algn="l" marL="152400" indent="-152400">
              <a:spcAft>
                <a:spcPts val="300"/>
              </a:spcAft>
              <a:buSzPct val="100000"/>
              <a:buChar char="•"/>
            </a:pPr>
            <a:r>
              <a:rPr lang="en-US" sz="9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300"/>
              </a:spcAft>
              <a:buSzPct val="100000"/>
              <a:buChar char="•"/>
            </a:pPr>
            <a:r>
              <a:rPr lang="en-US" sz="900" dirty="0">
                <a:solidFill>
                  <a:srgbClr val="000000"/>
                </a:solidFill>
              </a:rPr>
              <a:t>where I: phase current (A); Vref: driver reference voltage (V); R_s: current-sense resistor (Ω); τ_hold: holding torque at I (N·m); τ_rated, I_rated: listed holding torque and current; τ_run: running torque (N·m); F: line pull (N); r: spool radius (m)</a:t>
            </a:r>
            <a:endParaRPr lang="en-US" sz="1200" dirty="0"/>
          </a:p>
          <a:p>
            <a:pPr algn="l" marL="152400" indent="-152400">
              <a:spcAft>
                <a:spcPts val="300"/>
              </a:spcAft>
              <a:buSzPct val="100000"/>
              <a:buChar char="•"/>
            </a:pPr>
            <a:r>
              <a:rPr lang="en-US" sz="900" dirty="0">
                <a:solidFill>
                  <a:srgbClr val="000000"/>
                </a:solidFill>
              </a:rPr>
              <a:t>At 1.5 A (rated; chosen, design): τ_run = 0.7 (assumed) × 0.36 N·m = 0.252 N·m (1.5 A, 0.36 N·m: datasheet, SIMAX3D NEMA 17 42-38 seller listing); F = 0.252 / 0.0075 m = 34 N empty, 0.252 / 0.010 m = 25 N full (calc)</a:t>
            </a:r>
            <a:endParaRPr lang="en-US" sz="1200" dirty="0"/>
          </a:p>
          <a:p>
            <a:pPr algn="l" marL="152400" indent="-152400">
              <a:spcAft>
                <a:spcPts val="300"/>
              </a:spcAft>
              <a:buSzPct val="100000"/>
              <a:buChar char="•"/>
            </a:pPr>
            <a:r>
              <a:rPr lang="en-US" sz="9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300"/>
              </a:spcAft>
              <a:buSzPct val="100000"/>
              <a:buChar char="•"/>
            </a:pPr>
            <a:r>
              <a:rPr lang="en-US" sz="900" dirty="0">
                <a:solidFill>
                  <a:srgbClr val="000000"/>
                </a:solidFill>
              </a:rPr>
              <a:t>where T: tension per cable (N); W: supported weight (N); φ: cable angle above horizontal; d: claw depth below the anchors (m); D_h: horizontal distance, claw to anchor (m)</a:t>
            </a:r>
            <a:endParaRPr lang="en-US" sz="1200" dirty="0"/>
          </a:p>
          <a:p>
            <a:pPr algn="l" marL="152400" indent="-152400">
              <a:spcAft>
                <a:spcPts val="300"/>
              </a:spcAft>
              <a:buSzPct val="100000"/>
              <a:buChar char="•"/>
            </a:pPr>
            <a:r>
              <a:rPr lang="en-US" sz="900" dirty="0">
                <a:solidFill>
                  <a:srgbClr val="000000"/>
                </a:solidFill>
              </a:rPr>
              <a:t>W = (0.454 kg test, design + 0.45 kg claw budget, design) × 9.81 (handbook) = 8.86 N (calc)</a:t>
            </a:r>
            <a:endParaRPr lang="en-US" sz="1200" dirty="0"/>
          </a:p>
          <a:p>
            <a:pPr algn="l" marL="152400" indent="-152400">
              <a:spcAft>
                <a:spcPts val="300"/>
              </a:spcAft>
              <a:buSzPct val="100000"/>
              <a:buChar char="•"/>
            </a:pPr>
            <a:r>
              <a:rPr lang="en-US" sz="900" dirty="0">
                <a:solidFill>
                  <a:srgbClr val="000000"/>
                </a:solidFill>
              </a:rPr>
              <a:t>D_h = √(1.676² + 1.372²) = 2.166 m (calc; half the 3.353 × 2.743 m room, measured)</a:t>
            </a:r>
            <a:endParaRPr lang="en-US" sz="1200" dirty="0"/>
          </a:p>
          <a:p>
            <a:pPr algn="l" marL="152400" indent="-152400">
              <a:spcAft>
                <a:spcPts val="300"/>
              </a:spcAft>
              <a:buSzPct val="100000"/>
              <a:buChar char="•"/>
            </a:pPr>
            <a:r>
              <a:rPr lang="en-US" sz="900" dirty="0">
                <a:solidFill>
                  <a:srgbClr val="000000"/>
                </a:solidFill>
              </a:rPr>
              <a:t>d = 0.15 m: 8.86 / (4 × 0.069) = 32 N; 16 / 8.3 / 4.6 N at d = 0.3 / 0.6 / 1.2 m (calc)</a:t>
            </a:r>
            <a:endParaRPr lang="en-US" sz="1200" dirty="0"/>
          </a:p>
          <a:p>
            <a:pPr algn="l" marL="152400" indent="-152400">
              <a:spcAft>
                <a:spcPts val="300"/>
              </a:spcAft>
              <a:buSzPct val="100000"/>
              <a:buChar char="•"/>
            </a:pPr>
            <a:r>
              <a:rPr lang="en-US" sz="900" dirty="0">
                <a:solidFill>
                  <a:srgbClr val="000000"/>
                </a:solidFill>
              </a:rPr>
              <a:t>Shallow cable: T ≈ W·D_h / (4d), so halving the depth doubles the tension</a:t>
            </a:r>
            <a:endParaRPr lang="en-US" sz="1200" dirty="0"/>
          </a:p>
          <a:p>
            <a:pPr algn="l" marL="152400" indent="-152400">
              <a:spcAft>
                <a:spcPts val="300"/>
              </a:spcAft>
              <a:buSzPct val="100000"/>
              <a:buChar char="•"/>
            </a:pPr>
            <a:r>
              <a:rPr lang="en-US" sz="9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where Δx: cable length mismatch between winches (mm); v: cable speed (mm/s); Δt: timing error between motors (s)</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where a_i: cable exit point at mount i; p: claw position; L_i,home: cable length at the homing pose (m)</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where a_i: cable exit point at mount i; p: claw position; L_i: cable length from mount to claw (m)</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136876" y="2697480"/>
            <a:ext cx="1716568" cy="182880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200"/>
              </a:spcAft>
              <a:buSzPct val="100000"/>
              <a:buChar char="•"/>
            </a:pPr>
            <a:r>
              <a:rPr lang="en-US" sz="900" dirty="0">
                <a:solidFill>
                  <a:srgbClr val="000000"/>
                </a:solidFill>
              </a:rPr>
              <a:t>V = I·ρ·2L/A; ρ = 1.724×10⁻⁸ Ω·m (handbook), L = 9.75 m / 32 ft one way (measured), I = 2 A (assumed)</a:t>
            </a:r>
            <a:endParaRPr lang="en-US" sz="1250" dirty="0"/>
          </a:p>
          <a:p>
            <a:pPr algn="l" marL="152400" indent="-152400">
              <a:spcAft>
                <a:spcPts val="200"/>
              </a:spcAft>
              <a:buSzPct val="100000"/>
              <a:buChar char="•"/>
            </a:pPr>
            <a:r>
              <a:rPr lang="en-US" sz="900" dirty="0">
                <a:solidFill>
                  <a:srgbClr val="000000"/>
                </a:solidFill>
              </a:rPr>
              <a:t>where V: voltage drop (V); I: current (A); ρ: copper resistivity (Ω·m); L: one-way run length (m); A: conductor area (m²); R = ρ·2L/A: loop resistance (Ω); P = I²·R: power lost in the wire (W)</a:t>
            </a:r>
            <a:endParaRPr lang="en-US" sz="1250" dirty="0"/>
          </a:p>
          <a:p>
            <a:pPr algn="l" marL="152400" indent="-152400">
              <a:spcAft>
                <a:spcPts val="200"/>
              </a:spcAft>
              <a:buSzPct val="100000"/>
              <a:buChar char="•"/>
            </a:pPr>
            <a:r>
              <a:rPr lang="en-US" sz="900" dirty="0">
                <a:solidFill>
                  <a:srgbClr val="000000"/>
                </a:solidFill>
              </a:rPr>
              <a:t>24 AWG Gen 1 motor leads (measured), A = 0.205 mm² (handbook): R = 1.64 Ω, 3.29 V (27 % of 12 V), 6.6 W (calc)</a:t>
            </a:r>
            <a:endParaRPr lang="en-US" sz="1250" dirty="0"/>
          </a:p>
          <a:p>
            <a:pPr algn="l" marL="152400" indent="-152400">
              <a:spcAft>
                <a:spcPts val="200"/>
              </a:spcAft>
              <a:buSzPct val="100000"/>
              <a:buChar char="•"/>
            </a:pPr>
            <a:r>
              <a:rPr lang="en-US" sz="900" dirty="0">
                <a:solidFill>
                  <a:srgbClr val="000000"/>
                </a:solidFill>
              </a:rPr>
              <a:t>16 AWG power pair (design), A = 1.309 mm² (handbook): R = 0.257 Ω, 0.51 V (4.3 %), 1.0 W (calc)</a:t>
            </a:r>
            <a:endParaRPr lang="en-US" sz="1250" dirty="0"/>
          </a:p>
          <a:p>
            <a:pPr algn="l" marL="152400" indent="-152400">
              <a:spcAft>
                <a:spcPts val="200"/>
              </a:spcAft>
              <a:buSzPct val="100000"/>
              <a:buChar char="•"/>
            </a:pPr>
            <a:r>
              <a:rPr lang="en-US" sz="900" dirty="0">
                <a:solidFill>
                  <a:srgbClr val="000000"/>
                </a:solidFill>
              </a:rPr>
              <a:t>Thin motor leads over a room-length run lose a quarter of the supply; one thick power pair loses 4 % (calc, above)</a:t>
            </a:r>
            <a:endParaRPr lang="en-US" sz="1250" dirty="0"/>
          </a:p>
          <a:p>
            <a:pPr algn="l" marL="152400" indent="-152400">
              <a:spcAft>
                <a:spcPts val="200"/>
              </a:spcAft>
              <a:buSzPct val="100000"/>
              <a:buChar char="•"/>
            </a:pPr>
            <a:r>
              <a:rPr lang="en-US" sz="90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1 m/s2, winch limit (calc)">    </p:cNvPr>
          <p:cNvPicPr>
            <a:picLocks noChangeAspect="1"/>
          </p:cNvPicPr>
          <p:nvPr/>
        </p:nvPicPr>
        <p:blipFill>
          <a:blip r:embed="rId1"/>
          <a:stretch>
            <a:fillRect/>
          </a:stretch>
        </p:blipFill>
        <p:spPr>
          <a:xfrm>
            <a:off x="365760" y="868680"/>
            <a:ext cx="2712720" cy="1129284"/>
          </a:xfrm>
          <a:prstGeom prst="rect">
            <a:avLst/>
          </a:prstGeom>
        </p:spPr>
      </p:pic>
      <p:sp>
        <p:nvSpPr>
          <p:cNvPr id="5" name="what we need"/>
          <p:cNvSpPr txBox="1"/>
          <p:nvPr/>
        </p:nvSpPr>
        <p:spPr>
          <a:xfrm>
            <a:off x="36576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1 m/s² (design): d 0.4 m → 15.7 N &lt; 16.8 N limit (calc); jeans 0.9 kg (assumed) need d ≥ 0.54 m (calc). where T: tension per cable; m: lifted mass; g: 9.81 m/s²; a: claw acceleration; φ: cable angle; d: depth below anchors</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129284"/>
          </a:xfrm>
          <a:prstGeom prst="rect">
            <a:avLst/>
          </a:prstGeom>
        </p:spPr>
      </p:pic>
      <p:sp>
        <p:nvSpPr>
          <p:cNvPr id="7" name="what we need"/>
          <p:cNvSpPr txBox="1"/>
          <p:nvPr/>
        </p:nvSpPr>
        <p:spPr>
          <a:xfrm>
            <a:off x="321564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P = I²·R = (1.5 A)² × 1.8 Ω = 4.05 W (calc; 1.5 A datasheet; 1.8 Ω research, conservative). where P: coil heat (W); I: phase current (A); R: coil resistance per phase (Ω)</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129284"/>
          </a:xfrm>
          <a:prstGeom prst="rect">
            <a:avLst/>
          </a:prstGeom>
        </p:spPr>
      </p:pic>
      <p:sp>
        <p:nvSpPr>
          <p:cNvPr id="9" name="what we need"/>
          <p:cNvSpPr txBox="1"/>
          <p:nvPr/>
        </p:nvSpPr>
        <p:spPr>
          <a:xfrm>
            <a:off x="606552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SIMAX3D 42-38 listing) / r: 34 N at 7.5 mm (design), 25 N at 10 mm (calc); ÷ 1.5 skip margin (design) = 16.8 N ≥ 14.8 N jeans (calc). where F: line pull; τ: motor torque, 0.7 × holding when running; r: spool radius</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129284"/>
          </a:xfrm>
          <a:prstGeom prst="rect">
            <a:avLst/>
          </a:prstGeom>
        </p:spPr>
      </p:pic>
      <p:sp>
        <p:nvSpPr>
          <p:cNvPr id="11" name="what we need"/>
          <p:cNvSpPr txBox="1"/>
          <p:nvPr/>
        </p:nvSpPr>
        <p:spPr>
          <a:xfrm>
            <a:off x="36576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k = 0.915 LP worst-cable factor (sim) × (1 + a/g) 1.102 = 1.008; 16.8 N / (1.008 × 9.81) = 1.70 kg vs 0.60 (measured) + 0.9 (assumed) = 1.50 kg: +13 % (calc); jeans 1.50 × 1.008 × 9.81 = 14.8 N. where k: worst-cable tension per unit m·g</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129284"/>
          </a:xfrm>
          <a:prstGeom prst="rect">
            <a:avLst/>
          </a:prstGeom>
        </p:spPr>
      </p:pic>
      <p:sp>
        <p:nvSpPr>
          <p:cNvPr id="13" name="what we need"/>
          <p:cNvSpPr txBox="1"/>
          <p:nvPr/>
        </p:nvSpPr>
        <p:spPr>
          <a:xfrm>
            <a:off x="321564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SIMAX3D NEMA 17 42-38 listing) / 7.5 mm (design) = 48 N (calc)</a:t>
            </a:r>
            <a:endParaRPr lang="en-US" sz="1250" dirty="0"/>
          </a:p>
          <a:p>
            <a:pPr algn="l" marL="152400" indent="-152400">
              <a:spcAft>
                <a:spcPts val="500"/>
              </a:spcAft>
              <a:buSzPct val="100000"/>
              <a:buChar char="•"/>
            </a:pPr>
            <a:r>
              <a:rPr lang="en-US" sz="1100" dirty="0">
                <a:solidFill>
                  <a:srgbClr val="000000"/>
                </a:solidFill>
              </a:rPr>
              <a:t>where F: cable tension at the spool (N); τ: motor holding torque (N·m); r: spool core radius (m)</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5120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4255"/>
              </a:spcAft>
              <a:buNone/>
            </a:pPr>
            <a:r>
              <a:rPr lang="en-US" sz="1250" b="1" dirty="0">
                <a:solidFill>
                  <a:srgbClr val="000000"/>
                </a:solidFill>
              </a:rPr>
              <a:t>Fin, vents, stud</a:t>
            </a:r>
            <a:endParaRPr lang="en-US" sz="1250" dirty="0"/>
          </a:p>
          <a:p>
            <a:pPr algn="l" marL="152400" indent="-152400">
              <a:spcAft>
                <a:spcPts val="200"/>
              </a:spcAft>
              <a:buSzPct val="100000"/>
              <a:buChar char="•"/>
            </a:pPr>
            <a:r>
              <a:rPr lang="en-US" sz="900" dirty="0">
                <a:solidFill>
                  <a:srgbClr val="000000"/>
                </a:solidFill>
              </a:rPr>
              <a:t>where q_rad: radiated heat (W); ε: emissivity; σ: Stefan–Boltzmann constant (W/m²K⁴); A: fin area (m²); Ts: fin surface temperature (K); T∞: room temperature (K); h_rad: radiation coefficient (W/m²K); h: convection coefficient (W/m²K); ΔT = Ts − T∞ (K); L: plate height (m)</a:t>
            </a:r>
            <a:endParaRPr lang="en-US" sz="1250" dirty="0"/>
          </a:p>
          <a:p>
            <a:pPr algn="l" marL="152400" indent="-152400">
              <a:spcAft>
                <a:spcPts val="200"/>
              </a:spcAft>
              <a:buSzPct val="100000"/>
              <a:buChar char="•"/>
            </a:pPr>
            <a:r>
              <a:rPr lang="en-US" sz="900" dirty="0">
                <a:solidFill>
                  <a:srgbClr val="000000"/>
                </a:solidFill>
              </a:rPr>
              <a:t>The fin: aluminium 6061 (design) on the motor face, out through a slot in the top of the shell</a:t>
            </a:r>
            <a:endParaRPr lang="en-US" sz="1250" dirty="0"/>
          </a:p>
          <a:p>
            <a:pPr algn="l" marL="152400" indent="-152400">
              <a:spcAft>
                <a:spcPts val="200"/>
              </a:spcAft>
              <a:buSzPct val="100000"/>
              <a:buChar char="•"/>
            </a:pPr>
            <a:r>
              <a:rPr lang="en-US" sz="900" dirty="0">
                <a:solidFill>
                  <a:srgbClr val="000000"/>
                </a:solidFill>
              </a:rPr>
              <a:t>Motor heat: P = I²·R = (1.5 A)² × 1.8 Ω = 4.05 W (calc; 1.5 A rated, datasheet: SIMAX3D NEMA 17 42-38 seller listing; 1.8 Ω per phase, research: comparable 42×38 NEMA 17 datasheets list 1.5–1.65 Ω, 1.8 used as conservative)</a:t>
            </a:r>
            <a:endParaRPr lang="en-US" sz="1250" dirty="0"/>
          </a:p>
          <a:p>
            <a:pPr algn="l" marL="152400" indent="-152400">
              <a:spcAft>
                <a:spcPts val="200"/>
              </a:spcAft>
              <a:buSzPct val="100000"/>
              <a:buChar char="•"/>
            </a:pPr>
            <a:r>
              <a:rPr lang="en-US" sz="900" dirty="0">
                <a:solidFill>
                  <a:srgbClr val="000000"/>
                </a:solidFill>
              </a:rPr>
              <a:t>where P: coil heat (W); I: phase current (A); I_peak: peak phase current (A); R: coil resistance per phase (Ω)</a:t>
            </a:r>
            <a:endParaRPr lang="en-US" sz="1250" dirty="0"/>
          </a:p>
          <a:p>
            <a:pPr algn="l" marL="152400" indent="-152400">
              <a:spcAft>
                <a:spcPts val="200"/>
              </a:spcAft>
              <a:buSzPct val="100000"/>
              <a:buChar char="•"/>
            </a:pPr>
            <a:r>
              <a:rPr lang="en-US" sz="900" dirty="0">
                <a:solidFill>
                  <a:srgbClr val="000000"/>
                </a:solidFill>
              </a:rPr>
              <a:t>With microstepping the two phase currents follow sin and cos, so total heat = I_peak²·R</a:t>
            </a:r>
            <a:endParaRPr lang="en-US" sz="1250" dirty="0"/>
          </a:p>
          <a:p>
            <a:pPr algn="l" marL="152400" indent="-152400">
              <a:spcAft>
                <a:spcPts val="200"/>
              </a:spcAft>
              <a:buSzPct val="100000"/>
              <a:buChar char="•"/>
            </a:pPr>
            <a:r>
              <a:rPr lang="en-US" sz="900" dirty="0">
                <a:solidFill>
                  <a:srgbClr val="000000"/>
                </a:solidFill>
              </a:rPr>
              <a:t>That heat leaves through the vents and the fin</a:t>
            </a:r>
            <a:endParaRPr lang="en-US" sz="1250" dirty="0"/>
          </a:p>
          <a:p>
            <a:pPr algn="l" marL="152400" indent="-152400">
              <a:spcAft>
                <a:spcPts val="200"/>
              </a:spcAft>
              <a:buSzPct val="100000"/>
              <a:buChar char="•"/>
            </a:pPr>
            <a:r>
              <a:rPr lang="en-US" sz="900" dirty="0">
                <a:solidFill>
                  <a:srgbClr val="000000"/>
                </a:solidFill>
              </a:rPr>
              <a:t>At Ts 50 °C, T∞ 23 °C: h_rad = 6.75·ε W/m²K (calc; σ = 5.67×10⁻⁸ W/m²K⁴, handbook; temperatures, design)</a:t>
            </a:r>
            <a:endParaRPr lang="en-US" sz="1250" dirty="0"/>
          </a:p>
          <a:p>
            <a:pPr algn="l" marL="152400" indent="-152400">
              <a:spcAft>
                <a:spcPts val="200"/>
              </a:spcAft>
              <a:buSzPct val="100000"/>
              <a:buChar char="•"/>
            </a:pPr>
            <a:r>
              <a:rPr lang="en-US" sz="900" dirty="0">
                <a:solidFill>
                  <a:srgbClr val="000000"/>
                </a:solidFill>
              </a:rPr>
              <a:t>Bare aluminium ε ≈ 0.05–0.09, black paint 0.92–0.96 (handbook)</a:t>
            </a:r>
            <a:endParaRPr lang="en-US" sz="1250" dirty="0"/>
          </a:p>
          <a:p>
            <a:pPr algn="l" marL="152400" indent="-152400">
              <a:spcAft>
                <a:spcPts val="200"/>
              </a:spcAft>
              <a:buSzPct val="100000"/>
              <a:buChar char="•"/>
            </a:pPr>
            <a:r>
              <a:rPr lang="en-US" sz="900" dirty="0">
                <a:solidFill>
                  <a:srgbClr val="000000"/>
                </a:solidFill>
              </a:rPr>
              <a:t>Natural convection: h = 1.42 (ΔT/L)^0.25 = 1.42 × (27 K / 0.2 m)^0.25 = 4.8 W/m²K on a 0.2 m vertical plate (calc, handbook correlation)</a:t>
            </a:r>
            <a:endParaRPr lang="en-US" sz="1250" dirty="0"/>
          </a:p>
          <a:p>
            <a:pPr algn="l" marL="152400" indent="-152400">
              <a:spcAft>
                <a:spcPts val="200"/>
              </a:spcAft>
              <a:buSzPct val="100000"/>
              <a:buChar char="•"/>
            </a:pPr>
            <a:r>
              <a:rPr lang="en-US" sz="900" dirty="0">
                <a:solidFill>
                  <a:srgbClr val="000000"/>
                </a:solidFill>
              </a:rPr>
              <a:t>Black paint: total 4.8 + 0.07 × 6.75 = 5.3 → 4.8 + 0.9 × 6.75 = 10.9 W/m²K, about 2× the heat per degree (calc); the motor contact square stays bare</a:t>
            </a:r>
            <a:endParaRPr lang="en-US" sz="1250" dirty="0"/>
          </a:p>
        </p:txBody>
      </p:sp>
      <p:sp>
        <p:nvSpPr>
          <p:cNvPr id="5" name="equation box"/>
          <p:cNvSpPr/>
          <p:nvPr/>
        </p:nvSpPr>
        <p:spPr>
          <a:xfrm>
            <a:off x="512064" y="1271016"/>
            <a:ext cx="4023360" cy="430639"/>
          </a:xfrm>
          <a:prstGeom prst="rect">
            <a:avLst/>
          </a:prstGeom>
          <a:solidFill>
            <a:srgbClr val="FFFFFF"/>
          </a:solidFill>
          <a:ln w="9525">
            <a:solidFill>
              <a:srgbClr val="000000"/>
            </a:solidFill>
            <a:prstDash val="solid"/>
          </a:ln>
        </p:spPr>
      </p:sp>
      <p:pic>
        <p:nvPicPr>
          <p:cNvPr id="6" name="equation" descr="q_rad = epsilon sigma A (Ts^4 - Tinf^4); h_rad = epsilon sigma (Ts + Tinf)(Ts^2 + Tinf^2)">    </p:cNvPr>
          <p:cNvPicPr>
            <a:picLocks noChangeAspect="1"/>
          </p:cNvPicPr>
          <p:nvPr/>
        </p:nvPicPr>
        <p:blipFill>
          <a:blip r:embed="rId1"/>
          <a:stretch>
            <a:fillRect/>
          </a:stretch>
        </p:blipFill>
        <p:spPr>
          <a:xfrm>
            <a:off x="585216" y="1344168"/>
            <a:ext cx="3877056" cy="284335"/>
          </a:xfrm>
          <a:prstGeom prst="rect">
            <a:avLst/>
          </a:prstGeom>
        </p:spPr>
      </p:pic>
      <p:pic>
        <p:nvPicPr>
          <p:cNvPr id="7" name="On the TV wall" descr="On the TV wall">    </p:cNvPr>
          <p:cNvPicPr>
            <a:picLocks noChangeAspect="1"/>
          </p:cNvPicPr>
          <p:nvPr/>
        </p:nvPicPr>
        <p:blipFill>
          <a:blip r:embed="rId2"/>
          <a:stretch>
            <a:fillRect/>
          </a:stretch>
        </p:blipFill>
        <p:spPr>
          <a:xfrm>
            <a:off x="5669280" y="868680"/>
            <a:ext cx="1508760" cy="3511296"/>
          </a:xfrm>
          <a:prstGeom prst="rect">
            <a:avLst/>
          </a:prstGeom>
        </p:spPr>
      </p:pic>
      <p:sp>
        <p:nvSpPr>
          <p:cNvPr id="8" name="caption"/>
          <p:cNvSpPr txBox="1"/>
          <p:nvPr/>
        </p:nvSpPr>
        <p:spPr>
          <a:xfrm>
            <a:off x="56692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a:t>
            </a:r>
            <a:endParaRPr lang="en-US" sz="850" dirty="0"/>
          </a:p>
        </p:txBody>
      </p:sp>
      <p:pic>
        <p:nvPicPr>
          <p:cNvPr id="9" name="Fin through the slot" descr="Fin through the slot">    </p:cNvPr>
          <p:cNvPicPr>
            <a:picLocks noChangeAspect="1"/>
          </p:cNvPicPr>
          <p:nvPr/>
        </p:nvPicPr>
        <p:blipFill>
          <a:blip r:embed="rId3"/>
          <a:stretch>
            <a:fillRect/>
          </a:stretch>
        </p:blipFill>
        <p:spPr>
          <a:xfrm>
            <a:off x="7269480" y="868680"/>
            <a:ext cx="1508760" cy="3511296"/>
          </a:xfrm>
          <a:prstGeom prst="rect">
            <a:avLst/>
          </a:prstGeom>
        </p:spPr>
      </p:pic>
      <p:sp>
        <p:nvSpPr>
          <p:cNvPr id="10" name="caption"/>
          <p:cNvSpPr txBox="1"/>
          <p:nvPr/>
        </p:nvSpPr>
        <p:spPr>
          <a:xfrm>
            <a:off x="72694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Fin through the slot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300"/>
              </a:spcAft>
              <a:buSzPct val="100000"/>
              <a:buChar char="•"/>
            </a:pPr>
            <a:r>
              <a:rPr lang="en-US" sz="900" dirty="0">
                <a:solidFill>
                  <a:srgbClr val="000000"/>
                </a:solidFill>
              </a:rPr>
              <a:t>Four-bar hands on a geared crank; 53 mm opening (design)</a:t>
            </a:r>
            <a:endParaRPr lang="en-US" sz="1250" dirty="0"/>
          </a:p>
          <a:p>
            <a:pPr algn="l" marL="152400" indent="-152400">
              <a:spcAft>
                <a:spcPts val="300"/>
              </a:spcAft>
              <a:buSzPct val="100000"/>
              <a:buChar char="•"/>
            </a:pPr>
            <a:r>
              <a:rPr lang="en-US" sz="900" dirty="0">
                <a:solidFill>
                  <a:srgbClr val="000000"/>
                </a:solidFill>
              </a:rPr>
              <a:t>One 7.4 V two-cell pack (datasheet): 6 V regulator for the servo, 5 V buck for the board (design setpoints)</a:t>
            </a:r>
            <a:endParaRPr lang="en-US" sz="1250" dirty="0"/>
          </a:p>
          <a:p>
            <a:pPr algn="l" marL="152400" indent="-152400">
              <a:spcAft>
                <a:spcPts val="300"/>
              </a:spcAft>
              <a:buSzPct val="100000"/>
              <a:buChar char="•"/>
            </a:pPr>
            <a:r>
              <a:rPr lang="en-US" sz="900" dirty="0">
                <a:solidFill>
                  <a:srgbClr val="000000"/>
                </a:solidFill>
              </a:rPr>
              <a:t>Weighed 0.60 kg with battery (measured) against a 0.45 kg budget (design)</a:t>
            </a:r>
            <a:endParaRPr lang="en-US" sz="1250" dirty="0"/>
          </a:p>
          <a:p>
            <a:pPr algn="l" marL="152400" indent="-152400">
              <a:spcAft>
                <a:spcPts val="300"/>
              </a:spcAft>
              <a:buSzPct val="100000"/>
              <a:buChar char="•"/>
            </a:pPr>
            <a:r>
              <a:rPr lang="en-US" sz="900" dirty="0">
                <a:solidFill>
                  <a:srgbClr val="000000"/>
                </a:solidFill>
              </a:rPr>
              <a:t>Grip per jaw, jeans: N = m(g + a)/(2μ) = 0.9 × (9.81 + 1)/(2 × 0.3) = 16.2 N; 8.1 N at μ 0.6 (calc; 0.9 kg assumed; a = 1 m/s² design; μ 0.3 worst case, from published ranges)</a:t>
            </a:r>
            <a:endParaRPr lang="en-US" sz="1250" dirty="0"/>
          </a:p>
          <a:p>
            <a:pPr algn="l" marL="152400" indent="-152400">
              <a:spcAft>
                <a:spcPts val="300"/>
              </a:spcAft>
              <a:buSzPct val="100000"/>
              <a:buChar char="•"/>
            </a:pPr>
            <a:r>
              <a:rPr lang="en-US" sz="900" dirty="0">
                <a:solidFill>
                  <a:srgbClr val="000000"/>
                </a:solidFill>
              </a:rPr>
              <a:t>where N: normal force per jaw (N); m: garment mass (kg); g: 9.81 m/s²; a: claw acceleration (m/s²); μ: cloth-on-jaw friction coefficient</a:t>
            </a:r>
            <a:endParaRPr lang="en-US" sz="1250" dirty="0"/>
          </a:p>
          <a:p>
            <a:pPr algn="l" marL="152400" indent="-152400">
              <a:spcAft>
                <a:spcPts val="300"/>
              </a:spcAft>
              <a:buSzPct val="100000"/>
              <a:buChar char="•"/>
            </a:pPr>
            <a:r>
              <a:rPr lang="en-US" sz="900" dirty="0">
                <a:solidFill>
                  <a:srgbClr val="000000"/>
                </a:solidFill>
              </a:rPr>
              <a:t>Published fabric friction: 0.22–0.38 garment fabrics, 0.52–0.62 special fabrics, denim on skin 0.14–0.44; none is fabric on PETG, so 0.3 is the design worst case (handbook / literature)</a:t>
            </a:r>
            <a:endParaRPr lang="en-US" sz="1250" dirty="0"/>
          </a:p>
        </p:txBody>
      </p:sp>
      <p:sp>
        <p:nvSpPr>
          <p:cNvPr id="5" name="card Modular, on purpose"/>
          <p:cNvSpPr/>
          <p:nvPr/>
        </p:nvSpPr>
        <p:spPr>
          <a:xfrm>
            <a:off x="306324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closed width 77.4 mm − 2 × pinion radius 18 mm × travel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760720" y="868680"/>
            <a:ext cx="301752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8291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705483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833360" y="2990088"/>
            <a:ext cx="944880" cy="1389888"/>
          </a:xfrm>
          <a:prstGeom prst="rect">
            <a:avLst/>
          </a:prstGeom>
        </p:spPr>
      </p:pic>
      <p:sp>
        <p:nvSpPr>
          <p:cNvPr id="10" name="caption"/>
          <p:cNvSpPr txBox="1"/>
          <p:nvPr/>
        </p:nvSpPr>
        <p:spPr>
          <a:xfrm>
            <a:off x="5760720" y="4416552"/>
            <a:ext cx="301752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5431536" cy="19659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00" dirty="0">
                <a:solidFill>
                  <a:srgbClr val="000000"/>
                </a:solidFill>
              </a:rPr>
              <a:t>18T / 54T spur, module 1, 20° (design); printed PETG pinion; checked in CAD, pinion printed, not fitted</a:t>
            </a:r>
            <a:endParaRPr lang="en-US" sz="1100" dirty="0"/>
          </a:p>
          <a:p>
            <a:pPr algn="l" marL="152400" indent="-152400">
              <a:spcAft>
                <a:spcPts val="200"/>
              </a:spcAft>
              <a:buSzPct val="100000"/>
              <a:buChar char="•"/>
            </a:pPr>
            <a:r>
              <a:rPr lang="en-US" sz="900" dirty="0">
                <a:solidFill>
                  <a:srgbClr val="000000"/>
                </a:solidFill>
              </a:rPr>
              <a:t>Pull × 3 (design) × 0.9 η (assumed, conservative) = 2.7 at equal current (calc); at 1.0 A (design): heat × (1.0/1.5)² = 0.44 (calc)</a:t>
            </a:r>
            <a:endParaRPr lang="en-US" sz="1100" dirty="0"/>
          </a:p>
          <a:p>
            <a:pPr algn="l" marL="152400" indent="-152400">
              <a:spcAft>
                <a:spcPts val="200"/>
              </a:spcAft>
              <a:buSzPct val="100000"/>
              <a:buChar char="•"/>
            </a:pPr>
            <a:r>
              <a:rPr lang="en-US" sz="900" dirty="0">
                <a:solidFill>
                  <a:srgbClr val="000000"/>
                </a:solidFill>
              </a:rPr>
              <a:t>Mesh loss (Niemann): H_v = π(u+1)/(z1·u)·(1 − εα + ε1² + ε2²) = 0.167; η = 1 − μ·H_v = 0.92–0.97 for μ 0.2–0.5 (calc)</a:t>
            </a:r>
            <a:endParaRPr lang="en-US" sz="1100" dirty="0"/>
          </a:p>
          <a:p>
            <a:pPr algn="l" marL="152400" indent="-152400">
              <a:spcAft>
                <a:spcPts val="200"/>
              </a:spcAft>
              <a:buSzPct val="100000"/>
              <a:buChar char="•"/>
            </a:pPr>
            <a:r>
              <a:rPr lang="en-US" sz="900" dirty="0">
                <a:solidFill>
                  <a:srgbClr val="000000"/>
                </a:solidFill>
              </a:rPr>
              <a:t>z1 18, z2 54, u 3 (design); ε1 0.765, ε2 0.884 (calc); μ 0.2–0.5 dry polymer (assumed); 0.9 leaves room for bearing and print-roughness losses</a:t>
            </a:r>
            <a:endParaRPr lang="en-US" sz="1100" dirty="0"/>
          </a:p>
          <a:p>
            <a:pPr algn="l" marL="152400" indent="-152400">
              <a:spcAft>
                <a:spcPts val="200"/>
              </a:spcAft>
              <a:buSzPct val="100000"/>
              <a:buChar char="•"/>
            </a:pPr>
            <a:r>
              <a:rPr lang="en-US" sz="900" dirty="0">
                <a:solidFill>
                  <a:srgbClr val="000000"/>
                </a:solidFill>
              </a:rPr>
              <a:t>where η: efficiency (mesh, or stage); H_v: tooth loss factor; u = z2/z1: gear ratio; z1, z2: pinion and gear teeth; εα = ε1 + ε2: contact ratio; ε1, ε2: approach and recess contact ratios; μ: tooth friction coefficient</a:t>
            </a:r>
            <a:endParaRPr lang="en-US" sz="1100" dirty="0"/>
          </a:p>
        </p:txBody>
      </p:sp>
      <p:sp>
        <p:nvSpPr>
          <p:cNvPr id="5" name="card 1° dovetail draft and a lighter back mount"/>
          <p:cNvSpPr/>
          <p:nvPr/>
        </p:nvSpPr>
        <p:spPr>
          <a:xfrm>
            <a:off x="365760" y="2944368"/>
            <a:ext cx="5431536"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dovetail draft and a lighter back mount</a:t>
            </a:r>
            <a:endParaRPr lang="en-US" sz="1100" dirty="0"/>
          </a:p>
          <a:p>
            <a:pPr algn="l" marL="152400" indent="-152400">
              <a:spcAft>
                <a:spcPts val="200"/>
              </a:spcAft>
              <a:buSzPct val="100000"/>
              <a:buChar char="•"/>
            </a:pPr>
            <a:r>
              <a:rPr lang="en-US" sz="900" dirty="0">
                <a:solidFill>
                  <a:srgbClr val="000000"/>
                </a:solidFill>
              </a:rPr>
              <a:t>Draft 1° (design): the slide-in binds today; thicker at the top, it self-locates (planned)</a:t>
            </a:r>
            <a:endParaRPr lang="en-US" sz="1100" dirty="0"/>
          </a:p>
          <a:p>
            <a:pPr algn="l" marL="152400" indent="-152400">
              <a:spcAft>
                <a:spcPts val="200"/>
              </a:spcAft>
              <a:buSzPct val="100000"/>
              <a:buChar char="•"/>
            </a:pPr>
            <a:r>
              <a:rPr lang="en-US" sz="900" dirty="0">
                <a:solidFill>
                  <a:srgbClr val="000000"/>
                </a:solidFill>
              </a:rPr>
              <a:t>Back mount: 597 cm³ solid (design, CAD) → about 200 cm³, thinner walls (planned)</a:t>
            </a:r>
            <a:endParaRPr lang="en-US" sz="1100" dirty="0"/>
          </a:p>
        </p:txBody>
      </p:sp>
      <p:sp>
        <p:nvSpPr>
          <p:cNvPr id="6" name="card Also next / still planned"/>
          <p:cNvSpPr/>
          <p:nvPr/>
        </p:nvSpPr>
        <p:spPr>
          <a:xfrm>
            <a:off x="365760" y="3767328"/>
            <a:ext cx="5431536" cy="85039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Also next / still planned</a:t>
            </a:r>
            <a:endParaRPr lang="en-US" sz="1100" dirty="0"/>
          </a:p>
          <a:p>
            <a:pPr algn="l" marL="152400" indent="-152400">
              <a:spcAft>
                <a:spcPts val="100"/>
              </a:spcAft>
              <a:buSzPct val="100000"/>
              <a:buChar char="•"/>
            </a:pPr>
            <a:r>
              <a:rPr lang="en-US" sz="900" dirty="0">
                <a:solidFill>
                  <a:srgbClr val="000000"/>
                </a:solidFill>
              </a:rPr>
              <a:t>Pull test at 1.5 A (design): the measured limit goes into the planner (planned)</a:t>
            </a:r>
            <a:endParaRPr lang="en-US" sz="1100" dirty="0"/>
          </a:p>
          <a:p>
            <a:pPr algn="l" marL="152400" indent="-152400">
              <a:spcAft>
                <a:spcPts val="100"/>
              </a:spcAft>
              <a:buSzPct val="100000"/>
              <a:buChar char="•"/>
            </a:pPr>
            <a:r>
              <a:rPr lang="en-US" sz="900" dirty="0">
                <a:solidFill>
                  <a:srgbClr val="000000"/>
                </a:solidFill>
              </a:rPr>
              <a:t>Hold test: 90 minutes at 1.5 A, motor below 60 °C (planned; 60 °C limit, design)</a:t>
            </a:r>
            <a:endParaRPr lang="en-US" sz="1100" dirty="0"/>
          </a:p>
          <a:p>
            <a:pPr algn="l" marL="152400" indent="-152400">
              <a:spcAft>
                <a:spcPts val="100"/>
              </a:spcAft>
              <a:buSzPct val="100000"/>
              <a:buChar char="•"/>
            </a:pPr>
            <a:r>
              <a:rPr lang="en-US" sz="900" dirty="0">
                <a:solidFill>
                  <a:srgbClr val="000000"/>
                </a:solidFill>
              </a:rPr>
              <a:t>First three-station lift: self-check, calibration, a short move with 1 lb (planned; 1 lb, design)</a:t>
            </a:r>
            <a:endParaRPr lang="en-US" sz="1100" dirty="0"/>
          </a:p>
        </p:txBody>
      </p:sp>
      <p:pic>
        <p:nvPicPr>
          <p:cNvPr id="7"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8"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9"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2026-10-27T13:18:21Z</dcterms:created>
  <dcterms:modified xsi:type="dcterms:W3CDTF">2026-10-27T13:18:21Z</dcterms:modified>
</cp:coreProperties>
</file>