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07db22e-5b7d-e505-68c7-180dd149ffa3}">
          <p14:sldIdLst>
            <p14:sldId id="256"/>
            <p14:sldId id="257"/>
          </p14:sldIdLst>
        </p14:section>
        <p14:section name="Scope" id="{dedeb1c8-1109-c177-574a-85e88c5bc012}">
          <p14:sldIdLst>
            <p14:sldId id="258"/>
          </p14:sldIdLst>
        </p14:section>
        <p14:section name="Fundamentals" id="{4763dafa-3e49-0e86-cc29-1182a9ead90c}">
          <p14:sldIdLst>
            <p14:sldId id="259"/>
          </p14:sldIdLst>
        </p14:section>
        <p14:section name="Generation 1" id="{76c52a31-db13-e8a0-7d69-7624a4d90ce9}">
          <p14:sldIdLst>
            <p14:sldId id="260"/>
            <p14:sldId id="261"/>
          </p14:sldIdLst>
        </p14:section>
        <p14:section name="What a winch needs" id="{d530a7a6-7b91-509b-3855-badb1f3a3983}">
          <p14:sldIdLst>
            <p14:sldId id="262"/>
          </p14:sldIdLst>
        </p14:section>
        <p14:section name="Modular box" id="{55591ecc-4756-8605-8bf0-eb565f81dafd}">
          <p14:sldIdLst>
            <p14:sldId id="263"/>
            <p14:sldId id="264"/>
          </p14:sldIdLst>
        </p14:section>
        <p14:section name="Trade-offs" id="{b7eebe26-ea1f-36ea-6289-2d93a7f5ce49}">
          <p14:sldIdLst>
            <p14:sldId id="265"/>
          </p14:sldIdLst>
        </p14:section>
        <p14:section name="Mount assembly" id="{f674a24b-3dd1-fa44-b024-9e9b8c932074}">
          <p14:sldIdLst>
            <p14:sldId id="266"/>
            <p14:sldId id="267"/>
          </p14:sldIdLst>
        </p14:section>
        <p14:section name="Claw" id="{0d126803-6b17-608b-392d-d1f6e4aaf35d}">
          <p14:sldIdLst>
            <p14:sldId id="268"/>
          </p14:sldIdLst>
        </p14:section>
        <p14:section name="Electrical and testing" id="{59bdcc82-4c6c-4841-21ff-3ca194c4eb24}">
          <p14:sldIdLst>
            <p14:sldId id="269"/>
            <p14:sldId id="270"/>
          </p14:sldIdLst>
        </p14:section>
        <p14:section name="Calibration" id="{c10232a2-fa6d-a85e-302d-5eb2bb358cad}">
          <p14:sldIdLst>
            <p14:sldId id="271"/>
          </p14:sldIdLst>
        </p14:section>
        <p14:section name="Next iteration" id="{ba6d1fab-f60c-f97c-c80a-e273d652190f}">
          <p14:sldIdLst>
            <p14:sldId id="272"/>
          </p14:sldIdLst>
        </p14:section>
        <p14:section name="Close" id="{d46a64dd-9ef3-99ce-5c60-368dddcb26cf}">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Room 3.35 x 2.74 m under a 2.74 m ceiling, as reported (DECK_V9_NOTES.md slide 3; v9.1 origins). Design load 0.9 kg jeans, a screening value, plus 2 m/s^2 assumed (REQUIREMENTS R1/R7 via v9.1). Four winches in the studs, one claw on four cables (slide 3 row). PAUSE holds torque; the switched power strip is the emergency stop and drops the claw (D21 via slide 3). Success: one garment floor to hamper, each move approved on the phone; first gate a 1 lb test weight (D19). Cost: $210.78 of parts in the robot for three stations plus $37.74 filament, prices partly estimated (COST_BREAKDOWN_20261026.md headline table).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47.1 to 62.8 mm on the O15 core as layers build (FUNDAMENTALS.md section 2, spool-core study table).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running pull 33.6 N at r 7.5 mm and 25.2 N at r 10 mm (calculations/lift_chain_weakest_link.json fuse.run_empty / run_full). Vref MEASURED on the board; 0.7 ASSUMED; pull test PLANNED (FUNDAMENTALS section 2 evidence line). Card C: T = W / (4 sin phi), sin phi = d / sqrt(d^2 + D_h^2); 32.1 / 16.2 / 8.3 / 4.6 N at 0.15 / 0.3 / 0.6 / 1.2 m for 1 lb + the 0.45 kg claw budget; keep the claw at least 0.4 m below the anchors; CALCULATED, no tension measured on the rig (FUNDAMENTALS section 1). Figure: deck_v3/fig/position_vectors.png.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Everything wired back to one place (DESIGN_INTENT 'Iteration 1'). Bench finds: 18 V on the meter from a supply labelled 12 V; the homing switch would have zeroed without moving, logic inverted; the switch had to move below the pulley (DECK_V9_NOTES slide 9 row). Bead homing capped the room at 5-29 % of the working volume (slide 10 row; calculations/bead_reach.json: 4.7 % at 1.0 m, 29.1 % at 2.0 m); by floor area at grab height 45 % at 1 m, 93 % at 1.5 m (PANEL_FEEDBACK_ANSWERS 'floor area'). One central board stepping four motors skews them 2.5 mm per 50 ms (slide 10 row). Ceiling camera retired: one more device to mount and calibrate per room; the claw and cables hide the grasp spot from above (DECISIONS D33 via v9 slide 7 notes). Chart: bead_reach.json,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10 conductors per corner, 250 m (820 ft) of wire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50 m (164 ft) of wire instead of 250 m (DECK_V9_NOTES v9.2 slide 13 row). Any position and orientation (DESIGN_INTENT). Wire drop: drop = current x loop resistance; longest branch 32 ft one way, 64 ft of loop; at 2 A 0.82 V on 18 AWG, 0.51 V on 16 AWG, calculated with 2 A illustrative (FUNDAMENTALS.md section 10;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jeans 1.50 kg against 1.56 kg capacity, 4 % (slide 17 row). Weakest link: cable tension at which each part gives, one station at 1.5 A (lift_chain_weakest_link.md ranking table): motor slips at 34-59 N, the designed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Dovetail fit 0.175 mm a side on 30 deg flanks, from fit coupons (PANEL_FEEDBACK_ANSWERS 'Manufacturing fits', row 'Slide-in mount'; slide 19 title 'fits came from coupons'). Photos 45, 46,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Prototype fin 0.019 in sheet, 56-59 C vented with the fin, calculated; 1/8 in design fin 45-49 C (slide 16 row; fin_sizing_4w.md).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stay within 1 deg of parallel over the 53 mm opening;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 Station checklist: driver off at boot, so a reset cannot move a motor; homing switch LOW at rest, HIGH pressed or with a broken wire; the encoder answers at its address with the magnet detected; one spool turn within 60 encoder counts: PASS on both boards (DECK_V9_NOTES slide 20 row; Jasper's 10/25-10/26 bench, to confirm per v9 BUILD_NOTE). The motor that logged steps but did not turn: the logic rail read about 1.14 V instead of 3.3 V, a bad 3.3 V connection; now the driver VDD is soldered to the regulated rail and measured before enable (slide 20 row; PANEL_FEEDBACK_ANSWERS slide 17 item). Claw bench: live video on the phone; battery 7.2 V through the divider, matching the meter; the servo only moved once it had its own hardware timer, the camera owned the first (slide 21 row). Photos 29, 31, 37, 43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wall. First station in a stud on the TV wall; boxed stations boot and join Wi-Fi on their own; firmware updates arrive over Wi-Fi, so a boxed station never needs a USB cable again; the motor stays off until the phone arms it; a station accepts an update only while disarmed (DECK_V9_NOTES slide 22 row). Still planned, no result yet: the pull test at 1.5 A, the hold test, the first three-station lift (slide 25 and 26 rows). Photos 31, 32, 44 (README rows). Live view: docs/app_screenshots/02_camera.png is the simulator's view, so it is not shown as the claw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the slip fuse moves to about 130 N (slide 24 row). Draft: the slide-in binds on insertion; a 1 deg draft on the dovetail, thicker at the top (slide 24 row, PLANNED). Mount: holds about 200x the motor's pull, 597 cm^3 solid, to about 200 cm^3 (slide 24 row, PLANNED).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621792"/>
          </a:xfrm>
          <a:prstGeom prst="roundRect">
            <a:avLst>
              <a:gd name="adj" fmla="val 8824"/>
            </a:avLst>
          </a:prstGeom>
          <a:solidFill>
            <a:schemeClr val="bg2"/>
          </a:solidFill>
          <a:ln w="12700">
            <a:solidFill>
              <a:schemeClr val="bg2"/>
            </a:solidFill>
            <a:prstDash val="solid"/>
          </a:ln>
        </p:spPr>
      </p:sp>
      <p:sp>
        <p:nvSpPr>
          <p:cNvPr id="11" name="heading Education: Texas A&amp;amp;M"/>
          <p:cNvSpPr txBox="1"/>
          <p:nvPr/>
        </p:nvSpPr>
        <p:spPr>
          <a:xfrm>
            <a:off x="512064" y="960120"/>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Education: Texas A&amp;M</a:t>
            </a:r>
            <a:endParaRPr lang="en-US" sz="1250" dirty="0"/>
          </a:p>
        </p:txBody>
      </p:sp>
      <p:sp>
        <p:nvSpPr>
          <p:cNvPr id="12" name="bullets Education: Texas A&amp;M"/>
          <p:cNvSpPr txBox="1"/>
          <p:nvPr/>
        </p:nvSpPr>
        <p:spPr>
          <a:xfrm>
            <a:off x="512064" y="1271016"/>
            <a:ext cx="2359152" cy="128016"/>
          </a:xfrm>
          <a:prstGeom prst="rect">
            <a:avLst/>
          </a:prstGeom>
          <a:noFill/>
          <a:ln/>
        </p:spPr>
        <p:txBody>
          <a:bodyPr wrap="square" lIns="0" tIns="0" rIns="25400" bIns="0" rtlCol="0" anchor="t"/>
          <a:lstStyle/>
          <a:p>
            <a:pPr algn="l" marL="152400" indent="-152400">
              <a:spcAft>
                <a:spcPts val="400"/>
              </a:spcAft>
              <a:buSzPct val="100000"/>
              <a:buChar char="•"/>
            </a:pPr>
            <a:r>
              <a:rPr lang="en-US" sz="1050" dirty="0">
                <a:solidFill>
                  <a:schemeClr val="tx1"/>
                </a:solidFill>
              </a:rPr>
              <a:t>Bachelor's, Mechanical Engineering, August 2027</a:t>
            </a:r>
            <a:endParaRPr lang="en-US" sz="1050" dirty="0"/>
          </a:p>
        </p:txBody>
      </p:sp>
      <p:sp>
        <p:nvSpPr>
          <p:cNvPr id="13" name="card Experience"/>
          <p:cNvSpPr/>
          <p:nvPr/>
        </p:nvSpPr>
        <p:spPr>
          <a:xfrm>
            <a:off x="365760" y="1581912"/>
            <a:ext cx="2651760" cy="1572768"/>
          </a:xfrm>
          <a:prstGeom prst="roundRect">
            <a:avLst>
              <a:gd name="adj" fmla="val 3488"/>
            </a:avLst>
          </a:prstGeom>
          <a:solidFill>
            <a:schemeClr val="bg2"/>
          </a:solidFill>
          <a:ln w="12700">
            <a:solidFill>
              <a:schemeClr val="bg2"/>
            </a:solidFill>
            <a:prstDash val="solid"/>
          </a:ln>
        </p:spPr>
      </p:sp>
      <p:sp>
        <p:nvSpPr>
          <p:cNvPr id="14" name="heading Experience"/>
          <p:cNvSpPr txBox="1"/>
          <p:nvPr/>
        </p:nvSpPr>
        <p:spPr>
          <a:xfrm>
            <a:off x="512064" y="1673352"/>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Experience</a:t>
            </a:r>
            <a:endParaRPr lang="en-US" sz="1250" dirty="0"/>
          </a:p>
        </p:txBody>
      </p:sp>
      <p:sp>
        <p:nvSpPr>
          <p:cNvPr id="15" name="bullets Experience"/>
          <p:cNvSpPr txBox="1"/>
          <p:nvPr/>
        </p:nvSpPr>
        <p:spPr>
          <a:xfrm>
            <a:off x="512064" y="1984248"/>
            <a:ext cx="2359152" cy="1078992"/>
          </a:xfrm>
          <a:prstGeom prst="rect">
            <a:avLst/>
          </a:prstGeom>
          <a:noFill/>
          <a:ln/>
        </p:spPr>
        <p:txBody>
          <a:bodyPr wrap="square" lIns="0" tIns="0" rIns="25400" bIns="0" rtlCol="0" anchor="t"/>
          <a:lstStyle/>
          <a:p>
            <a:pPr algn="l" marL="152400" indent="-152400">
              <a:spcAft>
                <a:spcPts val="400"/>
              </a:spcAft>
              <a:buSzPct val="100000"/>
              <a:buChar char="•"/>
            </a:pPr>
            <a:r>
              <a:rPr lang="en-US" sz="1050" dirty="0">
                <a:solidFill>
                  <a:schemeClr val="tx1"/>
                </a:solidFill>
              </a:rPr>
              <a:t>ITP Lab, undergraduate research</a:t>
            </a:r>
            <a:endParaRPr lang="en-US" sz="1050" dirty="0"/>
          </a:p>
          <a:p>
            <a:pPr algn="l" marL="152400" indent="-152400">
              <a:spcAft>
                <a:spcPts val="400"/>
              </a:spcAft>
              <a:buSzPct val="100000"/>
              <a:buChar char="•"/>
            </a:pPr>
            <a:r>
              <a:rPr lang="en-US" sz="1050" dirty="0">
                <a:solidFill>
                  <a:schemeClr val="tx1"/>
                </a:solidFill>
              </a:rPr>
              <a:t>Rochester Sensors, mechanical intern</a:t>
            </a:r>
            <a:endParaRPr lang="en-US" sz="1050" dirty="0"/>
          </a:p>
          <a:p>
            <a:pPr algn="l" marL="152400" indent="-152400">
              <a:spcAft>
                <a:spcPts val="400"/>
              </a:spcAft>
              <a:buSzPct val="100000"/>
              <a:buChar char="•"/>
            </a:pPr>
            <a:r>
              <a:rPr lang="en-US" sz="1050" dirty="0">
                <a:solidFill>
                  <a:schemeClr val="tx1"/>
                </a:solidFill>
              </a:rPr>
              <a:t>Petrobras, mechanical intern</a:t>
            </a:r>
            <a:endParaRPr lang="en-US" sz="1050" dirty="0"/>
          </a:p>
          <a:p>
            <a:pPr algn="l" marL="152400" indent="-152400">
              <a:spcAft>
                <a:spcPts val="400"/>
              </a:spcAft>
              <a:buSzPct val="100000"/>
              <a:buChar char="•"/>
            </a:pPr>
            <a:r>
              <a:rPr lang="en-US" sz="1050" dirty="0">
                <a:solidFill>
                  <a:schemeClr val="tx1"/>
                </a:solidFill>
              </a:rPr>
              <a:t>Aggies Create, EcoFil electrical lead</a:t>
            </a:r>
            <a:endParaRPr lang="en-US" sz="1050" dirty="0"/>
          </a:p>
        </p:txBody>
      </p:sp>
      <p:sp>
        <p:nvSpPr>
          <p:cNvPr id="16" name="card Hobbies"/>
          <p:cNvSpPr/>
          <p:nvPr/>
        </p:nvSpPr>
        <p:spPr>
          <a:xfrm>
            <a:off x="365760" y="3246120"/>
            <a:ext cx="2651760" cy="1371600"/>
          </a:xfrm>
          <a:prstGeom prst="roundRect">
            <a:avLst>
              <a:gd name="adj" fmla="val 4000"/>
            </a:avLst>
          </a:prstGeom>
          <a:solidFill>
            <a:schemeClr val="bg2"/>
          </a:solidFill>
          <a:ln w="12700">
            <a:solidFill>
              <a:schemeClr val="bg2"/>
            </a:solidFill>
            <a:prstDash val="solid"/>
          </a:ln>
        </p:spPr>
      </p:sp>
      <p:sp>
        <p:nvSpPr>
          <p:cNvPr id="17" name="heading Hobbies"/>
          <p:cNvSpPr txBox="1"/>
          <p:nvPr/>
        </p:nvSpPr>
        <p:spPr>
          <a:xfrm>
            <a:off x="512064" y="3337560"/>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Hobbies</a:t>
            </a:r>
            <a:endParaRPr lang="en-US" sz="1250" dirty="0"/>
          </a:p>
        </p:txBody>
      </p:sp>
      <p:sp>
        <p:nvSpPr>
          <p:cNvPr id="18" name="bullets Hobbies"/>
          <p:cNvSpPr txBox="1"/>
          <p:nvPr/>
        </p:nvSpPr>
        <p:spPr>
          <a:xfrm>
            <a:off x="512064" y="3648456"/>
            <a:ext cx="2359152" cy="877824"/>
          </a:xfrm>
          <a:prstGeom prst="rect">
            <a:avLst/>
          </a:prstGeom>
          <a:noFill/>
          <a:ln/>
        </p:spPr>
        <p:txBody>
          <a:bodyPr wrap="square" lIns="0" tIns="0" rIns="25400" bIns="0" rtlCol="0" anchor="t"/>
          <a:lstStyle/>
          <a:p>
            <a:pPr algn="l" marL="152400" indent="-152400">
              <a:spcAft>
                <a:spcPts val="400"/>
              </a:spcAft>
              <a:buSzPct val="100000"/>
              <a:buChar char="•"/>
            </a:pPr>
            <a:r>
              <a:rPr lang="en-US" sz="1050" dirty="0">
                <a:solidFill>
                  <a:schemeClr val="tx1"/>
                </a:solidFill>
              </a:rPr>
              <a:t>Personal projects</a:t>
            </a:r>
            <a:endParaRPr lang="en-US" sz="1050" dirty="0"/>
          </a:p>
          <a:p>
            <a:pPr algn="l" marL="152400" indent="-152400">
              <a:spcAft>
                <a:spcPts val="400"/>
              </a:spcAft>
              <a:buSzPct val="100000"/>
              <a:buChar char="•"/>
            </a:pPr>
            <a:r>
              <a:rPr lang="en-US" sz="1050" dirty="0">
                <a:solidFill>
                  <a:schemeClr val="tx1"/>
                </a:solidFill>
              </a:rPr>
              <a:t>Soccer</a:t>
            </a:r>
            <a:endParaRPr lang="en-US" sz="1050" dirty="0"/>
          </a:p>
          <a:p>
            <a:pPr algn="l" marL="152400" indent="-152400">
              <a:spcAft>
                <a:spcPts val="400"/>
              </a:spcAft>
              <a:buSzPct val="100000"/>
              <a:buChar char="•"/>
            </a:pPr>
            <a:r>
              <a:rPr lang="en-US" sz="1050" dirty="0">
                <a:solidFill>
                  <a:schemeClr val="tx1"/>
                </a:solidFill>
              </a:rPr>
              <a:t>Running</a:t>
            </a:r>
            <a:endParaRPr lang="en-US" sz="1050" dirty="0"/>
          </a:p>
          <a:p>
            <a:pPr algn="l" marL="152400" indent="-152400">
              <a:spcAft>
                <a:spcPts val="400"/>
              </a:spcAft>
              <a:buSzPct val="100000"/>
              <a:buChar char="•"/>
            </a:pPr>
            <a:r>
              <a:rPr lang="en-US" sz="1050" dirty="0">
                <a:solidFill>
                  <a:schemeClr val="tx1"/>
                </a:solidFill>
              </a:rPr>
              <a:t>Bouldering</a:t>
            </a:r>
            <a:endParaRPr lang="en-US" sz="1050" dirty="0"/>
          </a:p>
          <a:p>
            <a:pPr algn="l" marL="152400" indent="-152400">
              <a:spcAft>
                <a:spcPts val="400"/>
              </a:spcAft>
              <a:buSzPct val="100000"/>
              <a:buChar char="•"/>
            </a:pPr>
            <a:r>
              <a:rPr lang="en-US" sz="1050" dirty="0">
                <a:solidFill>
                  <a:schemeClr val="tx1"/>
                </a:solidFill>
              </a:rPr>
              <a:t>And man, do I love hiking.</a:t>
            </a:r>
            <a:endParaRPr lang="en-US" sz="10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a:t>
            </a:r>
            <a:endParaRPr lang="en-US" sz="2400" dirty="0"/>
          </a:p>
        </p:txBody>
      </p:sp>
      <p:sp>
        <p:nvSpPr>
          <p:cNvPr id="4" name="card The problem"/>
          <p:cNvSpPr/>
          <p:nvPr/>
        </p:nvSpPr>
        <p:spPr>
          <a:xfrm>
            <a:off x="365760" y="868680"/>
            <a:ext cx="1981200" cy="3749040"/>
          </a:xfrm>
          <a:prstGeom prst="roundRect">
            <a:avLst>
              <a:gd name="adj" fmla="val 2769"/>
            </a:avLst>
          </a:prstGeom>
          <a:solidFill>
            <a:schemeClr val="bg2"/>
          </a:solidFill>
          <a:ln w="12700">
            <a:solidFill>
              <a:schemeClr val="bg2"/>
            </a:solidFill>
            <a:prstDash val="solid"/>
          </a:ln>
        </p:spPr>
      </p:sp>
      <p:sp>
        <p:nvSpPr>
          <p:cNvPr id="5" name="heading The problem"/>
          <p:cNvSpPr txBox="1"/>
          <p:nvPr/>
        </p:nvSpPr>
        <p:spPr>
          <a:xfrm>
            <a:off x="51206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problem</a:t>
            </a:r>
            <a:endParaRPr lang="en-US" sz="1250" dirty="0"/>
          </a:p>
        </p:txBody>
      </p:sp>
      <p:sp>
        <p:nvSpPr>
          <p:cNvPr id="6" name="bullets The problem"/>
          <p:cNvSpPr txBox="1"/>
          <p:nvPr/>
        </p:nvSpPr>
        <p:spPr>
          <a:xfrm>
            <a:off x="51206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Laundry on the floor of a 3.35 x 2.74 m room (as reported)</a:t>
            </a:r>
            <a:endParaRPr lang="en-US" sz="1100" dirty="0"/>
          </a:p>
          <a:p>
            <a:pPr algn="l" marL="152400" indent="-152400">
              <a:spcAft>
                <a:spcPts val="400"/>
              </a:spcAft>
              <a:buSzPct val="100000"/>
              <a:buChar char="•"/>
            </a:pPr>
            <a:r>
              <a:rPr lang="en-US" sz="1100" dirty="0">
                <a:solidFill>
                  <a:schemeClr val="tx1"/>
                </a:solidFill>
              </a:rPr>
              <a:t>Ceiling 2.74 m; four studs near the ceiling corners</a:t>
            </a:r>
            <a:endParaRPr lang="en-US" sz="1100" dirty="0"/>
          </a:p>
          <a:p>
            <a:pPr algn="l" marL="152400" indent="-152400">
              <a:spcAft>
                <a:spcPts val="400"/>
              </a:spcAft>
              <a:buSzPct val="100000"/>
              <a:buChar char="•"/>
            </a:pPr>
            <a:r>
              <a:rPr lang="en-US" sz="1100" dirty="0">
                <a:solidFill>
                  <a:schemeClr val="tx1"/>
                </a:solidFill>
              </a:rPr>
              <a:t>Design load: a pair of jeans, 0.9 kg (screening value)</a:t>
            </a:r>
            <a:endParaRPr lang="en-US" sz="1100" dirty="0"/>
          </a:p>
          <a:p>
            <a:pPr algn="l" marL="152400" indent="-152400">
              <a:spcAft>
                <a:spcPts val="400"/>
              </a:spcAft>
              <a:buSzPct val="100000"/>
              <a:buChar char="•"/>
            </a:pPr>
            <a:r>
              <a:rPr lang="en-US" sz="1100" dirty="0">
                <a:solidFill>
                  <a:schemeClr val="tx1"/>
                </a:solidFill>
              </a:rPr>
              <a:t>Plus 2 m/s² for stops and snags (assumed)</a:t>
            </a:r>
            <a:endParaRPr lang="en-US" sz="1100" dirty="0"/>
          </a:p>
        </p:txBody>
      </p:sp>
      <p:sp>
        <p:nvSpPr>
          <p:cNvPr id="7" name="card The solution"/>
          <p:cNvSpPr/>
          <p:nvPr/>
        </p:nvSpPr>
        <p:spPr>
          <a:xfrm>
            <a:off x="2529840" y="868680"/>
            <a:ext cx="1981200" cy="3749040"/>
          </a:xfrm>
          <a:prstGeom prst="roundRect">
            <a:avLst>
              <a:gd name="adj" fmla="val 2769"/>
            </a:avLst>
          </a:prstGeom>
          <a:solidFill>
            <a:schemeClr val="bg2"/>
          </a:solidFill>
          <a:ln w="12700">
            <a:solidFill>
              <a:schemeClr val="bg2"/>
            </a:solidFill>
            <a:prstDash val="solid"/>
          </a:ln>
        </p:spPr>
      </p:sp>
      <p:sp>
        <p:nvSpPr>
          <p:cNvPr id="8" name="heading The solution"/>
          <p:cNvSpPr txBox="1"/>
          <p:nvPr/>
        </p:nvSpPr>
        <p:spPr>
          <a:xfrm>
            <a:off x="267614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solution</a:t>
            </a:r>
            <a:endParaRPr lang="en-US" sz="1250" dirty="0"/>
          </a:p>
        </p:txBody>
      </p:sp>
      <p:sp>
        <p:nvSpPr>
          <p:cNvPr id="9" name="bullets The solution"/>
          <p:cNvSpPr txBox="1"/>
          <p:nvPr/>
        </p:nvSpPr>
        <p:spPr>
          <a:xfrm>
            <a:off x="267614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Four ceiling winches, one claw on four cables</a:t>
            </a:r>
            <a:endParaRPr lang="en-US" sz="1100" dirty="0"/>
          </a:p>
          <a:p>
            <a:pPr algn="l" marL="152400" indent="-152400">
              <a:spcAft>
                <a:spcPts val="400"/>
              </a:spcAft>
              <a:buSzPct val="100000"/>
              <a:buChar char="•"/>
            </a:pPr>
            <a:r>
              <a:rPr lang="en-US" sz="1100" dirty="0">
                <a:solidFill>
                  <a:schemeClr val="tx1"/>
                </a:solidFill>
              </a:rPr>
              <a:t>Nothing on the floor; the room is the frame</a:t>
            </a:r>
            <a:endParaRPr lang="en-US" sz="1100" dirty="0"/>
          </a:p>
          <a:p>
            <a:pPr algn="l" marL="152400" indent="-152400">
              <a:spcAft>
                <a:spcPts val="400"/>
              </a:spcAft>
              <a:buSzPct val="100000"/>
              <a:buChar char="•"/>
            </a:pPr>
            <a:r>
              <a:rPr lang="en-US" sz="1100" dirty="0">
                <a:solidFill>
                  <a:schemeClr val="tx1"/>
                </a:solidFill>
              </a:rPr>
              <a:t>A camera on the claw finds the laundry</a:t>
            </a:r>
            <a:endParaRPr lang="en-US" sz="1100" dirty="0"/>
          </a:p>
          <a:p>
            <a:pPr algn="l" marL="152400" indent="-152400">
              <a:spcAft>
                <a:spcPts val="400"/>
              </a:spcAft>
              <a:buSzPct val="100000"/>
              <a:buChar char="•"/>
            </a:pPr>
            <a:r>
              <a:rPr lang="en-US" sz="1100" dirty="0">
                <a:solidFill>
                  <a:schemeClr val="tx1"/>
                </a:solidFill>
              </a:rPr>
              <a:t>Floor to hamper with no human touch</a:t>
            </a:r>
            <a:endParaRPr lang="en-US" sz="1100" dirty="0"/>
          </a:p>
        </p:txBody>
      </p:sp>
      <p:sp>
        <p:nvSpPr>
          <p:cNvPr id="10" name="card How we do it"/>
          <p:cNvSpPr/>
          <p:nvPr/>
        </p:nvSpPr>
        <p:spPr>
          <a:xfrm>
            <a:off x="4693920" y="868680"/>
            <a:ext cx="1981200" cy="3749040"/>
          </a:xfrm>
          <a:prstGeom prst="roundRect">
            <a:avLst>
              <a:gd name="adj" fmla="val 2769"/>
            </a:avLst>
          </a:prstGeom>
          <a:solidFill>
            <a:schemeClr val="bg2"/>
          </a:solidFill>
          <a:ln w="12700">
            <a:solidFill>
              <a:schemeClr val="bg2"/>
            </a:solidFill>
            <a:prstDash val="solid"/>
          </a:ln>
        </p:spPr>
      </p:sp>
      <p:sp>
        <p:nvSpPr>
          <p:cNvPr id="11" name="heading How we do it"/>
          <p:cNvSpPr txBox="1"/>
          <p:nvPr/>
        </p:nvSpPr>
        <p:spPr>
          <a:xfrm>
            <a:off x="484022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How we do it</a:t>
            </a:r>
            <a:endParaRPr lang="en-US" sz="1250" dirty="0"/>
          </a:p>
        </p:txBody>
      </p:sp>
      <p:sp>
        <p:nvSpPr>
          <p:cNvPr id="12" name="bullets How we do it"/>
          <p:cNvSpPr txBox="1"/>
          <p:nvPr/>
        </p:nvSpPr>
        <p:spPr>
          <a:xfrm>
            <a:off x="484022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I approve each move on the phone</a:t>
            </a:r>
            <a:endParaRPr lang="en-US" sz="1100" dirty="0"/>
          </a:p>
          <a:p>
            <a:pPr algn="l" marL="152400" indent="-152400">
              <a:spcAft>
                <a:spcPts val="400"/>
              </a:spcAft>
              <a:buSzPct val="100000"/>
              <a:buChar char="•"/>
            </a:pPr>
            <a:r>
              <a:rPr lang="en-US" sz="1100" dirty="0">
                <a:solidFill>
                  <a:schemeClr val="tx1"/>
                </a:solidFill>
              </a:rPr>
              <a:t>PAUSE holds position with torque on</a:t>
            </a:r>
            <a:endParaRPr lang="en-US" sz="1100" dirty="0"/>
          </a:p>
          <a:p>
            <a:pPr algn="l" marL="152400" indent="-152400">
              <a:spcAft>
                <a:spcPts val="400"/>
              </a:spcAft>
              <a:buSzPct val="100000"/>
              <a:buChar char="•"/>
            </a:pPr>
            <a:r>
              <a:rPr lang="en-US" sz="1100" dirty="0">
                <a:solidFill>
                  <a:schemeClr val="tx1"/>
                </a:solidFill>
              </a:rPr>
              <a:t>The switched power strip is the emergency stop; it drops the claw</a:t>
            </a:r>
            <a:endParaRPr lang="en-US" sz="1100" dirty="0"/>
          </a:p>
          <a:p>
            <a:pPr algn="l" marL="152400" indent="-152400">
              <a:spcAft>
                <a:spcPts val="400"/>
              </a:spcAft>
              <a:buSzPct val="100000"/>
              <a:buChar char="•"/>
            </a:pPr>
            <a:r>
              <a:rPr lang="en-US" sz="1100" dirty="0">
                <a:solidFill>
                  <a:schemeClr val="tx1"/>
                </a:solidFill>
              </a:rPr>
              <a:t>First gate: a 1 lb test weight, then jeans</a:t>
            </a:r>
            <a:endParaRPr lang="en-US" sz="1100" dirty="0"/>
          </a:p>
          <a:p>
            <a:pPr algn="l" marL="152400" indent="-152400">
              <a:spcAft>
                <a:spcPts val="400"/>
              </a:spcAft>
              <a:buSzPct val="100000"/>
              <a:buChar char="•"/>
            </a:pPr>
            <a:r>
              <a:rPr lang="en-US" sz="1100" dirty="0">
                <a:solidFill>
                  <a:schemeClr val="tx1"/>
                </a:solidFill>
              </a:rPr>
              <a:t>Parts in the robot: about $211 for three stations, plus $38 filament (partly estimated)</a:t>
            </a:r>
            <a:endParaRPr lang="en-US" sz="1100" dirty="0"/>
          </a:p>
        </p:txBody>
      </p:sp>
      <p:pic>
        <p:nvPicPr>
          <p:cNvPr id="13" name="The claw hanging in the room corner" descr="The claw hanging in the room corner">    </p:cNvPr>
          <p:cNvPicPr>
            <a:picLocks noChangeAspect="1"/>
          </p:cNvPicPr>
          <p:nvPr/>
        </p:nvPicPr>
        <p:blipFill>
          <a:blip r:embed="rId1"/>
          <a:stretch>
            <a:fillRect/>
          </a:stretch>
        </p:blipFill>
        <p:spPr>
          <a:xfrm>
            <a:off x="6858000" y="868680"/>
            <a:ext cx="1920240" cy="3511296"/>
          </a:xfrm>
          <a:prstGeom prst="rect">
            <a:avLst/>
          </a:prstGeom>
        </p:spPr>
      </p:pic>
      <p:sp>
        <p:nvSpPr>
          <p:cNvPr id="14" name="caption"/>
          <p:cNvSpPr txBox="1"/>
          <p:nvPr/>
        </p:nvSpPr>
        <p:spPr>
          <a:xfrm>
            <a:off x="6858000" y="4416552"/>
            <a:ext cx="1920240" cy="201168"/>
          </a:xfrm>
          <a:prstGeom prst="rect">
            <a:avLst/>
          </a:prstGeom>
          <a:noFill/>
          <a:ln/>
        </p:spPr>
        <p:txBody>
          <a:bodyPr wrap="square" lIns="0" tIns="0" rIns="0" bIns="0" rtlCol="0" anchor="ctr"/>
          <a:lstStyle/>
          <a:p>
            <a:pPr algn="l" indent="0" marL="0">
              <a:buNone/>
            </a:pPr>
            <a:r>
              <a:rPr lang="en-US" sz="850" dirty="0">
                <a:solidFill>
                  <a:schemeClr val="tx2"/>
                </a:solidFill>
              </a:rPr>
              <a:t>The claw hanging in the room corner (Oct 27)</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oundRect">
            <a:avLst>
              <a:gd name="adj" fmla="val 2045"/>
            </a:avLst>
          </a:prstGeom>
          <a:solidFill>
            <a:schemeClr val="bg2"/>
          </a:solidFill>
          <a:ln w="12700">
            <a:solidFill>
              <a:schemeClr val="bg2"/>
            </a:solidFill>
            <a:prstDash val="solid"/>
          </a:ln>
        </p:spPr>
      </p:sp>
      <p:sp>
        <p:nvSpPr>
          <p:cNvPr id="5" name="heading Cable length → position"/>
          <p:cNvSpPr txBox="1"/>
          <p:nvPr/>
        </p:nvSpPr>
        <p:spPr>
          <a:xfrm>
            <a:off x="51206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Cable length → position</a:t>
            </a:r>
            <a:endParaRPr lang="en-US" sz="1200" dirty="0"/>
          </a:p>
        </p:txBody>
      </p:sp>
      <p:pic>
        <p:nvPicPr>
          <p:cNvPr id="6"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7" name="equation box"/>
          <p:cNvSpPr/>
          <p:nvPr/>
        </p:nvSpPr>
        <p:spPr>
          <a:xfrm>
            <a:off x="512064" y="1271016"/>
            <a:ext cx="1511808" cy="786384"/>
          </a:xfrm>
          <a:prstGeom prst="rect">
            <a:avLst/>
          </a:prstGeom>
          <a:solidFill>
            <a:srgbClr val="FFFFFF"/>
          </a:solidFill>
          <a:ln w="9525">
            <a:solidFill>
              <a:srgbClr val="000000"/>
            </a:solidFill>
            <a:prstDash val="solid"/>
          </a:ln>
        </p:spPr>
      </p:sp>
      <p:sp>
        <p:nvSpPr>
          <p:cNvPr id="8" name="equations"/>
          <p:cNvSpPr txBox="1"/>
          <p:nvPr/>
        </p:nvSpPr>
        <p:spPr>
          <a:xfrm>
            <a:off x="603504" y="1344168"/>
            <a:ext cx="1328928" cy="676656"/>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L_i = ‖ a_i − p ‖</a:t>
            </a:r>
            <a:endParaRPr lang="en-US" sz="950" dirty="0"/>
          </a:p>
          <a:p>
            <a:pPr indent="0" marL="0">
              <a:spcAft>
                <a:spcPts val="200"/>
              </a:spcAft>
              <a:buNone/>
            </a:pPr>
            <a:r>
              <a:rPr lang="en-US" sz="950" dirty="0">
                <a:solidFill>
                  <a:schemeClr val="tx1"/>
                </a:solidFill>
              </a:rPr>
              <a:t>a_i: anchor exit, p: claw</a:t>
            </a:r>
            <a:endParaRPr lang="en-US" sz="950" dirty="0"/>
          </a:p>
          <a:p>
            <a:pPr indent="0" marL="0">
              <a:spcAft>
                <a:spcPts val="200"/>
              </a:spcAft>
              <a:buNone/>
            </a:pPr>
            <a:r>
              <a:rPr lang="en-US" sz="950" dirty="0">
                <a:solidFill>
                  <a:schemeClr val="tx1"/>
                </a:solidFill>
              </a:rPr>
              <a:t>straight, taut cable</a:t>
            </a:r>
            <a:endParaRPr lang="en-US" sz="950" dirty="0"/>
          </a:p>
        </p:txBody>
      </p:sp>
      <p:sp>
        <p:nvSpPr>
          <p:cNvPr id="9" name="bullets Cable length → position"/>
          <p:cNvSpPr txBox="1"/>
          <p:nvPr/>
        </p:nvSpPr>
        <p:spPr>
          <a:xfrm>
            <a:off x="512064" y="2167128"/>
            <a:ext cx="2389632" cy="2359152"/>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Each spool turn pays out line: 47.1 → 62.8 mm per rev on the Ø15 core as layers build (calculated)</a:t>
            </a:r>
            <a:endParaRPr lang="en-US" sz="1000" dirty="0"/>
          </a:p>
          <a:p>
            <a:pPr algn="l" marL="152400" indent="-152400">
              <a:spcAft>
                <a:spcPts val="400"/>
              </a:spcAft>
              <a:buSzPct val="100000"/>
              <a:buChar char="•"/>
            </a:pPr>
            <a:r>
              <a:rPr lang="en-US" sz="1000" dirty="0">
                <a:solidFill>
                  <a:schemeClr val="tx1"/>
                </a:solidFill>
              </a:rPr>
              <a:t>Four cable lengths, three position unknowns: overdetermined, solved by least squares</a:t>
            </a:r>
            <a:endParaRPr lang="en-US" sz="1000" dirty="0"/>
          </a:p>
          <a:p>
            <a:pPr algn="l" marL="152400" indent="-152400">
              <a:spcAft>
                <a:spcPts val="400"/>
              </a:spcAft>
              <a:buSzPct val="100000"/>
              <a:buChar char="•"/>
            </a:pPr>
            <a:r>
              <a:rPr lang="en-US" sz="1000" dirty="0">
                <a:solidFill>
                  <a:schemeClr val="tx1"/>
                </a:solidFill>
              </a:rPr>
              <a:t>The camera on the floor board fixes the anchors and cable lengths at startup (calibration)</a:t>
            </a:r>
            <a:endParaRPr lang="en-US" sz="1000" dirty="0"/>
          </a:p>
          <a:p>
            <a:pPr algn="l" marL="152400" indent="-152400">
              <a:spcAft>
                <a:spcPts val="400"/>
              </a:spcAft>
              <a:buSzPct val="100000"/>
              <a:buChar char="•"/>
            </a:pPr>
            <a:r>
              <a:rPr lang="en-US" sz="1000" dirty="0">
                <a:solidFill>
                  <a:schemeClr val="tx1"/>
                </a:solidFill>
              </a:rPr>
              <a:t>Validated in the simulator and by held-out poses during calibration (simulated); no physical position measurement yet</a:t>
            </a:r>
            <a:endParaRPr lang="en-US" sz="1000" dirty="0"/>
          </a:p>
        </p:txBody>
      </p:sp>
      <p:sp>
        <p:nvSpPr>
          <p:cNvPr id="10" name="card Torque → pull on the line"/>
          <p:cNvSpPr/>
          <p:nvPr/>
        </p:nvSpPr>
        <p:spPr>
          <a:xfrm>
            <a:off x="3230880" y="868680"/>
            <a:ext cx="2682240" cy="3749040"/>
          </a:xfrm>
          <a:prstGeom prst="roundRect">
            <a:avLst>
              <a:gd name="adj" fmla="val 2045"/>
            </a:avLst>
          </a:prstGeom>
          <a:solidFill>
            <a:schemeClr val="bg2"/>
          </a:solidFill>
          <a:ln w="12700">
            <a:solidFill>
              <a:schemeClr val="bg2"/>
            </a:solidFill>
            <a:prstDash val="solid"/>
          </a:ln>
        </p:spPr>
      </p:sp>
      <p:sp>
        <p:nvSpPr>
          <p:cNvPr id="11" name="heading Torque → pull on the line"/>
          <p:cNvSpPr txBox="1"/>
          <p:nvPr/>
        </p:nvSpPr>
        <p:spPr>
          <a:xfrm>
            <a:off x="337718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Torque → pull on the line</a:t>
            </a:r>
            <a:endParaRPr lang="en-US" sz="1200" dirty="0"/>
          </a:p>
        </p:txBody>
      </p:sp>
      <p:sp>
        <p:nvSpPr>
          <p:cNvPr id="12" name="equation box"/>
          <p:cNvSpPr/>
          <p:nvPr/>
        </p:nvSpPr>
        <p:spPr>
          <a:xfrm>
            <a:off x="3377184" y="1271016"/>
            <a:ext cx="2389632" cy="987552"/>
          </a:xfrm>
          <a:prstGeom prst="rect">
            <a:avLst/>
          </a:prstGeom>
          <a:solidFill>
            <a:srgbClr val="FFFFFF"/>
          </a:solidFill>
          <a:ln w="9525">
            <a:solidFill>
              <a:srgbClr val="000000"/>
            </a:solidFill>
            <a:prstDash val="solid"/>
          </a:ln>
        </p:spPr>
      </p:sp>
      <p:sp>
        <p:nvSpPr>
          <p:cNvPr id="13" name="equations"/>
          <p:cNvSpPr txBox="1"/>
          <p:nvPr/>
        </p:nvSpPr>
        <p:spPr>
          <a:xfrm>
            <a:off x="3468624" y="1344168"/>
            <a:ext cx="2206752" cy="877824"/>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I = Vref / (8·R_s)</a:t>
            </a:r>
            <a:endParaRPr lang="en-US" sz="950" dirty="0"/>
          </a:p>
          <a:p>
            <a:pPr indent="0" marL="0">
              <a:spcAft>
                <a:spcPts val="200"/>
              </a:spcAft>
              <a:buNone/>
            </a:pPr>
            <a:r>
              <a:rPr lang="en-US" sz="950" dirty="0">
                <a:solidFill>
                  <a:schemeClr val="tx1"/>
                </a:solidFill>
              </a:rPr>
              <a:t>τ_hold = τ_rated · I / I_rated</a:t>
            </a:r>
            <a:endParaRPr lang="en-US" sz="950" dirty="0"/>
          </a:p>
          <a:p>
            <a:pPr indent="0" marL="0">
              <a:spcAft>
                <a:spcPts val="200"/>
              </a:spcAft>
              <a:buNone/>
            </a:pPr>
            <a:r>
              <a:rPr lang="en-US" sz="950" dirty="0">
                <a:solidFill>
                  <a:schemeClr val="tx1"/>
                </a:solidFill>
              </a:rPr>
              <a:t>τ_run ≈ 0.7 τ_hold (assumed)</a:t>
            </a:r>
            <a:endParaRPr lang="en-US" sz="950" dirty="0"/>
          </a:p>
          <a:p>
            <a:pPr indent="0" marL="0">
              <a:spcAft>
                <a:spcPts val="200"/>
              </a:spcAft>
              <a:buNone/>
            </a:pPr>
            <a:r>
              <a:rPr lang="en-US" sz="950" dirty="0">
                <a:solidFill>
                  <a:schemeClr val="tx1"/>
                </a:solidFill>
              </a:rPr>
              <a:t>F = τ / r</a:t>
            </a:r>
            <a:endParaRPr lang="en-US" sz="950" dirty="0"/>
          </a:p>
        </p:txBody>
      </p:sp>
      <p:sp>
        <p:nvSpPr>
          <p:cNvPr id="14" name="bullets Torque → pull on the line"/>
          <p:cNvSpPr txBox="1"/>
          <p:nvPr/>
        </p:nvSpPr>
        <p:spPr>
          <a:xfrm>
            <a:off x="3377184" y="2368296"/>
            <a:ext cx="2389632" cy="215798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At 1.5 A: τ_hold 0.36 N·m → running pull 34 N on the empty spool (r 7.5 mm), 25 N on a full spool (r 10 mm) (calculated)</a:t>
            </a:r>
            <a:endParaRPr lang="en-US" sz="1000" dirty="0"/>
          </a:p>
          <a:p>
            <a:pPr algn="l" marL="152400" indent="-152400">
              <a:spcAft>
                <a:spcPts val="400"/>
              </a:spcAft>
              <a:buSzPct val="100000"/>
              <a:buChar char="•"/>
            </a:pPr>
            <a:r>
              <a:rPr lang="en-US" sz="1000" dirty="0">
                <a:solidFill>
                  <a:schemeClr val="tx1"/>
                </a:solidFill>
              </a:rPr>
              <a:t>Validated: Vref measured on the board; the 0.7 running fraction is assumed; the pull test is planned</a:t>
            </a:r>
            <a:endParaRPr lang="en-US" sz="1000" dirty="0"/>
          </a:p>
        </p:txBody>
      </p:sp>
      <p:sp>
        <p:nvSpPr>
          <p:cNvPr id="15" name="card Pull → what four cables hold"/>
          <p:cNvSpPr/>
          <p:nvPr/>
        </p:nvSpPr>
        <p:spPr>
          <a:xfrm>
            <a:off x="6096000" y="868680"/>
            <a:ext cx="2682240" cy="3749040"/>
          </a:xfrm>
          <a:prstGeom prst="roundRect">
            <a:avLst>
              <a:gd name="adj" fmla="val 2045"/>
            </a:avLst>
          </a:prstGeom>
          <a:solidFill>
            <a:schemeClr val="bg2"/>
          </a:solidFill>
          <a:ln w="12700">
            <a:solidFill>
              <a:schemeClr val="bg2"/>
            </a:solidFill>
            <a:prstDash val="solid"/>
          </a:ln>
        </p:spPr>
      </p:sp>
      <p:sp>
        <p:nvSpPr>
          <p:cNvPr id="16" name="heading Pull → what four cables hold"/>
          <p:cNvSpPr txBox="1"/>
          <p:nvPr/>
        </p:nvSpPr>
        <p:spPr>
          <a:xfrm>
            <a:off x="624230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Pull → what four cables hold</a:t>
            </a:r>
            <a:endParaRPr lang="en-US" sz="1200" dirty="0"/>
          </a:p>
        </p:txBody>
      </p:sp>
      <p:sp>
        <p:nvSpPr>
          <p:cNvPr id="17" name="equation box"/>
          <p:cNvSpPr/>
          <p:nvPr/>
        </p:nvSpPr>
        <p:spPr>
          <a:xfrm>
            <a:off x="6242304" y="1271016"/>
            <a:ext cx="2389632" cy="585216"/>
          </a:xfrm>
          <a:prstGeom prst="rect">
            <a:avLst/>
          </a:prstGeom>
          <a:solidFill>
            <a:srgbClr val="FFFFFF"/>
          </a:solidFill>
          <a:ln w="9525">
            <a:solidFill>
              <a:srgbClr val="000000"/>
            </a:solidFill>
            <a:prstDash val="solid"/>
          </a:ln>
        </p:spPr>
      </p:sp>
      <p:sp>
        <p:nvSpPr>
          <p:cNvPr id="18" name="equations"/>
          <p:cNvSpPr txBox="1"/>
          <p:nvPr/>
        </p:nvSpPr>
        <p:spPr>
          <a:xfrm>
            <a:off x="6333744" y="1344168"/>
            <a:ext cx="2206752" cy="47548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 = W / (4 sin φ)</a:t>
            </a:r>
            <a:endParaRPr lang="en-US" sz="950" dirty="0"/>
          </a:p>
          <a:p>
            <a:pPr indent="0" marL="0">
              <a:spcAft>
                <a:spcPts val="200"/>
              </a:spcAft>
              <a:buNone/>
            </a:pPr>
            <a:r>
              <a:rPr lang="en-US" sz="950" dirty="0">
                <a:solidFill>
                  <a:schemeClr val="tx1"/>
                </a:solidFill>
              </a:rPr>
              <a:t>sin φ = d / √(d² + D_h²)</a:t>
            </a:r>
            <a:endParaRPr lang="en-US" sz="950" dirty="0"/>
          </a:p>
        </p:txBody>
      </p:sp>
      <p:sp>
        <p:nvSpPr>
          <p:cNvPr id="19" name="bullets Pull → what four cables hold"/>
          <p:cNvSpPr txBox="1"/>
          <p:nvPr/>
        </p:nvSpPr>
        <p:spPr>
          <a:xfrm>
            <a:off x="6242304" y="1965960"/>
            <a:ext cx="2389632" cy="2560320"/>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Tension doubles each time the depth below the anchors halves: 32 / 16 / 8 / 5 N at 0.15 / 0.3 / 0.6 / 1.2 m for 1 lb + claw (calculated)</a:t>
            </a:r>
            <a:endParaRPr lang="en-US" sz="1000" dirty="0"/>
          </a:p>
          <a:p>
            <a:pPr algn="l" marL="152400" indent="-152400">
              <a:spcAft>
                <a:spcPts val="400"/>
              </a:spcAft>
              <a:buSzPct val="100000"/>
              <a:buChar char="•"/>
            </a:pPr>
            <a:r>
              <a:rPr lang="en-US" sz="1000" dirty="0">
                <a:solidFill>
                  <a:schemeClr val="tx1"/>
                </a:solidFill>
              </a:rPr>
              <a:t>Why the planner keeps the claw at least 0.4 m below the anchors</a:t>
            </a:r>
            <a:endParaRPr lang="en-US" sz="1000" dirty="0"/>
          </a:p>
          <a:p>
            <a:pPr algn="l" marL="152400" indent="-152400">
              <a:spcAft>
                <a:spcPts val="400"/>
              </a:spcAft>
              <a:buSzPct val="100000"/>
              <a:buChar char="•"/>
            </a:pPr>
            <a:r>
              <a:rPr lang="en-US" sz="1000" dirty="0">
                <a:solidFill>
                  <a:schemeClr val="tx1"/>
                </a:solidFill>
              </a:rPr>
              <a:t>Validated: calculated only; no cable tension has been measured on the rig</a:t>
            </a:r>
            <a:endParaRPr lang="en-US" sz="1000" dirty="0"/>
          </a:p>
        </p:txBody>
      </p:sp>
      <p:sp>
        <p:nvSpPr>
          <p:cNvPr id="20"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The first design"/>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The first design</a:t>
            </a:r>
            <a:endParaRPr lang="en-US" sz="1250" dirty="0"/>
          </a:p>
        </p:txBody>
      </p:sp>
      <p:sp>
        <p:nvSpPr>
          <p:cNvPr id="6" name="bullets The first design"/>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Uno and one CNC shield drove four corner motors</a:t>
            </a:r>
            <a:endParaRPr lang="en-US" sz="1100" dirty="0"/>
          </a:p>
          <a:p>
            <a:pPr algn="l" marL="152400" indent="-152400">
              <a:spcAft>
                <a:spcPts val="500"/>
              </a:spcAft>
              <a:buSzPct val="100000"/>
              <a:buChar char="•"/>
            </a:pPr>
            <a:r>
              <a:rPr lang="en-US" sz="1100" dirty="0">
                <a:solidFill>
                  <a:schemeClr val="tx1"/>
                </a:solidFill>
              </a:rPr>
              <a:t>Wires from that one box to every corner</a:t>
            </a:r>
            <a:endParaRPr lang="en-US" sz="1100" dirty="0"/>
          </a:p>
          <a:p>
            <a:pPr algn="l" marL="152400" indent="-152400">
              <a:spcAft>
                <a:spcPts val="500"/>
              </a:spcAft>
              <a:buSzPct val="100000"/>
              <a:buChar char="•"/>
            </a:pPr>
            <a:r>
              <a:rPr lang="en-US" sz="1100" dirty="0">
                <a:solidFill>
                  <a:schemeClr val="tx1"/>
                </a:solidFill>
              </a:rPr>
              <a:t>An overhead ceiling camera scanned the room</a:t>
            </a:r>
            <a:endParaRPr lang="en-US" sz="1100" dirty="0"/>
          </a:p>
          <a:p>
            <a:pPr algn="l" marL="152400" indent="-152400">
              <a:spcAft>
                <a:spcPts val="500"/>
              </a:spcAft>
              <a:buSzPct val="100000"/>
              <a:buChar char="•"/>
            </a:pPr>
            <a:r>
              <a:rPr lang="en-US" sz="1100" dirty="0">
                <a:solidFill>
                  <a:schemeClr val="tx1"/>
                </a:solidFill>
              </a:rPr>
              <a:t>A printed corner plate screwed into a joist: a hook is a pivot, a plate is not</a:t>
            </a:r>
            <a:endParaRPr lang="en-US" sz="1100" dirty="0"/>
          </a:p>
          <a:p>
            <a:pPr algn="l" marL="152400" indent="-152400">
              <a:spcAft>
                <a:spcPts val="500"/>
              </a:spcAft>
              <a:buSzPct val="100000"/>
              <a:buChar char="•"/>
            </a:pPr>
            <a:r>
              <a:rPr lang="en-US" sz="1100" dirty="0">
                <a:solidFill>
                  <a:schemeClr val="tx1"/>
                </a:solidFill>
              </a:rPr>
              <a:t>Each cable found zero against a bead at the outlet</a:t>
            </a:r>
            <a:endParaRPr lang="en-US" sz="1100" dirty="0"/>
          </a:p>
          <a:p>
            <a:pPr algn="l" marL="152400" indent="-152400">
              <a:spcAft>
                <a:spcPts val="500"/>
              </a:spcAft>
              <a:buSzPct val="100000"/>
              <a:buChar char="•"/>
            </a:pPr>
            <a:r>
              <a:rPr lang="en-US" sz="1100" dirty="0">
                <a:solidFill>
                  <a:schemeClr val="tx1"/>
                </a:solidFill>
              </a:rPr>
              <a:t>Bench: a station lifted a test weight; the cable math held (measured)</a:t>
            </a:r>
            <a:endParaRPr lang="en-US" sz="1100" dirty="0"/>
          </a:p>
        </p:txBody>
      </p:sp>
      <p:pic>
        <p:nvPicPr>
          <p:cNvPr id="7"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8"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9"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10"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Wiring and the bench"/>
          <p:cNvSpPr/>
          <p:nvPr/>
        </p:nvSpPr>
        <p:spPr>
          <a:xfrm>
            <a:off x="365760" y="868680"/>
            <a:ext cx="2743200" cy="3749040"/>
          </a:xfrm>
          <a:prstGeom prst="roundRect">
            <a:avLst>
              <a:gd name="adj" fmla="val 2000"/>
            </a:avLst>
          </a:prstGeom>
          <a:solidFill>
            <a:schemeClr val="bg2"/>
          </a:solidFill>
          <a:ln w="12700">
            <a:solidFill>
              <a:schemeClr val="bg2"/>
            </a:solidFill>
            <a:prstDash val="solid"/>
          </a:ln>
        </p:spPr>
      </p:sp>
      <p:sp>
        <p:nvSpPr>
          <p:cNvPr id="5" name="heading Wiring and the bench"/>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Wiring and the bench</a:t>
            </a:r>
            <a:endParaRPr lang="en-US" sz="1250" dirty="0"/>
          </a:p>
        </p:txBody>
      </p:sp>
      <p:sp>
        <p:nvSpPr>
          <p:cNvPr id="6" name="bullets Wiring and the bench"/>
          <p:cNvSpPr txBox="1"/>
          <p:nvPr/>
        </p:nvSpPr>
        <p:spPr>
          <a:xfrm>
            <a:off x="51206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Every motor and every sensor wired back to one place</a:t>
            </a:r>
            <a:endParaRPr lang="en-US" sz="1100" dirty="0"/>
          </a:p>
          <a:p>
            <a:pPr algn="l" marL="152400" indent="-152400">
              <a:spcAft>
                <a:spcPts val="500"/>
              </a:spcAft>
              <a:buSzPct val="100000"/>
              <a:buChar char="•"/>
            </a:pPr>
            <a:r>
              <a:rPr lang="en-US" sz="1100" dirty="0">
                <a:solidFill>
                  <a:schemeClr val="tx1"/>
                </a:solidFill>
              </a:rPr>
              <a:t>18 V on the meter from a supply labelled 12 V (measured)</a:t>
            </a:r>
            <a:endParaRPr lang="en-US" sz="1100" dirty="0"/>
          </a:p>
          <a:p>
            <a:pPr algn="l" marL="152400" indent="-152400">
              <a:spcAft>
                <a:spcPts val="500"/>
              </a:spcAft>
              <a:buSzPct val="100000"/>
              <a:buChar char="•"/>
            </a:pPr>
            <a:r>
              <a:rPr lang="en-US" sz="1100" dirty="0">
                <a:solidFill>
                  <a:schemeClr val="tx1"/>
                </a:solidFill>
              </a:rPr>
              <a:t>A homing switch that would have zeroed without moving: logic inverted</a:t>
            </a:r>
            <a:endParaRPr lang="en-US" sz="1100" dirty="0"/>
          </a:p>
          <a:p>
            <a:pPr algn="l" marL="152400" indent="-152400">
              <a:spcAft>
                <a:spcPts val="500"/>
              </a:spcAft>
              <a:buSzPct val="100000"/>
              <a:buChar char="•"/>
            </a:pPr>
            <a:r>
              <a:rPr lang="en-US" sz="1100" dirty="0">
                <a:solidFill>
                  <a:schemeClr val="tx1"/>
                </a:solidFill>
              </a:rPr>
              <a:t>The switch had to move below the pulley</a:t>
            </a:r>
            <a:endParaRPr lang="en-US" sz="1100" dirty="0"/>
          </a:p>
        </p:txBody>
      </p:sp>
      <p:sp>
        <p:nvSpPr>
          <p:cNvPr id="7" name="card The architecture"/>
          <p:cNvSpPr/>
          <p:nvPr/>
        </p:nvSpPr>
        <p:spPr>
          <a:xfrm>
            <a:off x="3291840" y="868680"/>
            <a:ext cx="2743200" cy="3749040"/>
          </a:xfrm>
          <a:prstGeom prst="roundRect">
            <a:avLst>
              <a:gd name="adj" fmla="val 2000"/>
            </a:avLst>
          </a:prstGeom>
          <a:solidFill>
            <a:schemeClr val="bg2"/>
          </a:solidFill>
          <a:ln w="12700">
            <a:solidFill>
              <a:schemeClr val="bg2"/>
            </a:solidFill>
            <a:prstDash val="solid"/>
          </a:ln>
        </p:spPr>
      </p:sp>
      <p:sp>
        <p:nvSpPr>
          <p:cNvPr id="8" name="heading The architecture"/>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architecture</a:t>
            </a:r>
            <a:endParaRPr lang="en-US" sz="1250" dirty="0"/>
          </a:p>
        </p:txBody>
      </p:sp>
      <p:sp>
        <p:nvSpPr>
          <p:cNvPr id="9" name="bullets The architecture"/>
          <p:cNvSpPr txBox="1"/>
          <p:nvPr/>
        </p:nvSpPr>
        <p:spPr>
          <a:xfrm>
            <a:off x="343814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board stepping four motors skews them: 2.5 mm per 50 ms (calculated)</a:t>
            </a:r>
            <a:endParaRPr lang="en-US" sz="1100" dirty="0"/>
          </a:p>
          <a:p>
            <a:pPr algn="l" marL="152400" indent="-152400">
              <a:spcAft>
                <a:spcPts val="500"/>
              </a:spcAft>
              <a:buSzPct val="100000"/>
              <a:buChar char="•"/>
            </a:pPr>
            <a:r>
              <a:rPr lang="en-US" sz="1100" dirty="0">
                <a:solidFill>
                  <a:schemeClr val="tx1"/>
                </a:solidFill>
              </a:rPr>
              <a:t>Bead homing: a cable can never be shorter than at home</a:t>
            </a:r>
            <a:endParaRPr lang="en-US" sz="1100" dirty="0"/>
          </a:p>
          <a:p>
            <a:pPr algn="l" marL="152400" indent="-152400">
              <a:spcAft>
                <a:spcPts val="500"/>
              </a:spcAft>
              <a:buSzPct val="100000"/>
              <a:buChar char="•"/>
            </a:pPr>
            <a:r>
              <a:rPr lang="en-US" sz="1100" dirty="0">
                <a:solidFill>
                  <a:schemeClr val="tx1"/>
                </a:solidFill>
              </a:rPr>
              <a:t>So it capped the room at 5-29 % of the working volume (calculated)</a:t>
            </a:r>
            <a:endParaRPr lang="en-US" sz="1100" dirty="0"/>
          </a:p>
          <a:p>
            <a:pPr algn="l" marL="152400" indent="-152400">
              <a:spcAft>
                <a:spcPts val="500"/>
              </a:spcAft>
              <a:buSzPct val="100000"/>
              <a:buChar char="•"/>
            </a:pPr>
            <a:r>
              <a:rPr lang="en-US" sz="1100" dirty="0">
                <a:solidFill>
                  <a:schemeClr val="tx1"/>
                </a:solidFill>
              </a:rPr>
              <a:t>The ceiling camera: one more device per room; the claw and cables hide the grasp spot</a:t>
            </a:r>
            <a:endParaRPr lang="en-US" sz="1100" dirty="0"/>
          </a:p>
        </p:txBody>
      </p:sp>
      <p:pic>
        <p:nvPicPr>
          <p:cNvPr id="10" name="chart bead" descr="Reachable share of the working volume vs bead homing height (calculated)">    </p:cNvPr>
          <p:cNvPicPr>
            <a:picLocks noChangeAspect="1"/>
          </p:cNvPicPr>
          <p:nvPr/>
        </p:nvPicPr>
        <p:blipFill>
          <a:blip r:embed="rId1"/>
          <a:stretch>
            <a:fillRect/>
          </a:stretch>
        </p:blipFill>
        <p:spPr>
          <a:xfrm>
            <a:off x="6217920" y="868680"/>
            <a:ext cx="2560320" cy="3474720"/>
          </a:xfrm>
          <a:prstGeom prst="rect">
            <a:avLst/>
          </a:prstGeom>
        </p:spPr>
      </p:pic>
      <p:sp>
        <p:nvSpPr>
          <p:cNvPr id="11"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Calculated (bead reach model)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oundRect">
            <a:avLst>
              <a:gd name="adj" fmla="val 2353"/>
            </a:avLst>
          </a:prstGeom>
          <a:solidFill>
            <a:schemeClr val="bg2"/>
          </a:solidFill>
          <a:ln w="12700">
            <a:solidFill>
              <a:schemeClr val="bg2"/>
            </a:solidFill>
            <a:prstDash val="solid"/>
          </a:ln>
        </p:spPr>
      </p:sp>
      <p:sp>
        <p:nvSpPr>
          <p:cNvPr id="5" name="heading The switch (button)"/>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switch (button)</a:t>
            </a:r>
            <a:endParaRPr lang="en-US" sz="1250" dirty="0"/>
          </a:p>
        </p:txBody>
      </p:sp>
      <p:sp>
        <p:nvSpPr>
          <p:cNvPr id="6" name="bullets The switch (button)"/>
          <p:cNvSpPr txBox="1"/>
          <p:nvPr/>
        </p:nvSpPr>
        <p:spPr>
          <a:xfrm>
            <a:off x="51206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Things go wrong: a camera fails, a spool overwinds, tension rips a mount out, a motor stalls</a:t>
            </a:r>
            <a:endParaRPr lang="en-US" sz="1100" dirty="0"/>
          </a:p>
          <a:p>
            <a:pPr algn="l" marL="152400" indent="-152400">
              <a:spcAft>
                <a:spcPts val="500"/>
              </a:spcAft>
              <a:buSzPct val="100000"/>
              <a:buChar char="•"/>
            </a:pPr>
            <a:r>
              <a:rPr lang="en-US" sz="1100" dirty="0">
                <a:solidFill>
                  <a:schemeClr val="tx1"/>
                </a:solidFill>
              </a:rPr>
              <a:t>A switch the cable's bead can hit: that station stops</a:t>
            </a:r>
            <a:endParaRPr lang="en-US" sz="1100" dirty="0"/>
          </a:p>
          <a:p>
            <a:pPr algn="l" marL="152400" indent="-152400">
              <a:spcAft>
                <a:spcPts val="500"/>
              </a:spcAft>
              <a:buSzPct val="100000"/>
              <a:buChar char="•"/>
            </a:pPr>
            <a:r>
              <a:rPr lang="en-US" sz="1100" dirty="0">
                <a:solidFill>
                  <a:schemeClr val="tx1"/>
                </a:solidFill>
              </a:rPr>
              <a:t>Fail-safe wiring: LOW at rest, HIGH pressed or with a broken wire</a:t>
            </a:r>
            <a:endParaRPr lang="en-US" sz="1100" dirty="0"/>
          </a:p>
        </p:txBody>
      </p:sp>
      <p:sp>
        <p:nvSpPr>
          <p:cNvPr id="7" name="card The encoder"/>
          <p:cNvSpPr/>
          <p:nvPr/>
        </p:nvSpPr>
        <p:spPr>
          <a:xfrm>
            <a:off x="3291840" y="868680"/>
            <a:ext cx="2743200" cy="2331720"/>
          </a:xfrm>
          <a:prstGeom prst="roundRect">
            <a:avLst>
              <a:gd name="adj" fmla="val 2353"/>
            </a:avLst>
          </a:prstGeom>
          <a:solidFill>
            <a:schemeClr val="bg2"/>
          </a:solidFill>
          <a:ln w="12700">
            <a:solidFill>
              <a:schemeClr val="bg2"/>
            </a:solidFill>
            <a:prstDash val="solid"/>
          </a:ln>
        </p:spPr>
      </p:sp>
      <p:sp>
        <p:nvSpPr>
          <p:cNvPr id="8" name="heading The encoder"/>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encoder</a:t>
            </a:r>
            <a:endParaRPr lang="en-US" sz="1250" dirty="0"/>
          </a:p>
        </p:txBody>
      </p:sp>
      <p:sp>
        <p:nvSpPr>
          <p:cNvPr id="9" name="bullets The encoder"/>
          <p:cNvSpPr txBox="1"/>
          <p:nvPr/>
        </p:nvSpPr>
        <p:spPr>
          <a:xfrm>
            <a:off x="343814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 the spool: measures the discrepancies while testing; data first</a:t>
            </a:r>
            <a:endParaRPr lang="en-US" sz="1100" dirty="0"/>
          </a:p>
          <a:p>
            <a:pPr algn="l" marL="152400" indent="-152400">
              <a:spcAft>
                <a:spcPts val="500"/>
              </a:spcAft>
              <a:buSzPct val="100000"/>
              <a:buChar char="•"/>
            </a:pPr>
            <a:r>
              <a:rPr lang="en-US" sz="1100" dirty="0">
                <a:solidFill>
                  <a:schemeClr val="tx1"/>
                </a:solidFill>
              </a:rPr>
              <a:t>Confirms every commanded step</a:t>
            </a:r>
            <a:endParaRPr lang="en-US" sz="1100" dirty="0"/>
          </a:p>
          <a:p>
            <a:pPr algn="l" marL="152400" indent="-152400">
              <a:spcAft>
                <a:spcPts val="500"/>
              </a:spcAft>
              <a:buSzPct val="100000"/>
              <a:buChar char="•"/>
            </a:pPr>
            <a:r>
              <a:rPr lang="en-US" sz="1100" dirty="0">
                <a:solidFill>
                  <a:schemeClr val="tx1"/>
                </a:solidFill>
              </a:rPr>
              <a:t>Catches slip: the tension sensor</a:t>
            </a:r>
            <a:endParaRPr lang="en-US" sz="1100" dirty="0"/>
          </a:p>
          <a:p>
            <a:pPr algn="l" marL="152400" indent="-152400">
              <a:spcAft>
                <a:spcPts val="500"/>
              </a:spcAft>
              <a:buSzPct val="100000"/>
              <a:buChar char="•"/>
            </a:pPr>
            <a:r>
              <a:rPr lang="en-US" sz="1100" dirty="0">
                <a:solidFill>
                  <a:schemeClr val="tx1"/>
                </a:solidFill>
              </a:rPr>
              <a:t>If the camera proves good enough, it can go later</a:t>
            </a:r>
            <a:endParaRPr lang="en-US" sz="1100" dirty="0"/>
          </a:p>
        </p:txBody>
      </p:sp>
      <p:sp>
        <p:nvSpPr>
          <p:cNvPr id="10" name="card And now all this wiring, from one box"/>
          <p:cNvSpPr/>
          <p:nvPr/>
        </p:nvSpPr>
        <p:spPr>
          <a:xfrm>
            <a:off x="365760" y="3337560"/>
            <a:ext cx="5669280" cy="1280160"/>
          </a:xfrm>
          <a:prstGeom prst="roundRect">
            <a:avLst>
              <a:gd name="adj" fmla="val 4286"/>
            </a:avLst>
          </a:prstGeom>
          <a:solidFill>
            <a:schemeClr val="bg2"/>
          </a:solidFill>
          <a:ln w="12700">
            <a:solidFill>
              <a:schemeClr val="bg2"/>
            </a:solidFill>
            <a:prstDash val="solid"/>
          </a:ln>
        </p:spPr>
      </p:sp>
      <p:sp>
        <p:nvSpPr>
          <p:cNvPr id="11" name="heading And now all this wiring, from one box"/>
          <p:cNvSpPr txBox="1"/>
          <p:nvPr/>
        </p:nvSpPr>
        <p:spPr>
          <a:xfrm>
            <a:off x="512064" y="3429000"/>
            <a:ext cx="5376672" cy="274320"/>
          </a:xfrm>
          <a:prstGeom prst="rect">
            <a:avLst/>
          </a:prstGeom>
          <a:noFill/>
          <a:ln/>
        </p:spPr>
        <p:txBody>
          <a:bodyPr wrap="square" lIns="0" tIns="0" rIns="0" bIns="0" rtlCol="0" anchor="ctr"/>
          <a:lstStyle/>
          <a:p>
            <a:pPr indent="0" marL="0">
              <a:buNone/>
            </a:pPr>
            <a:r>
              <a:rPr lang="en-US" sz="1250" b="1" dirty="0">
                <a:solidFill>
                  <a:schemeClr val="tx1"/>
                </a:solidFill>
              </a:rPr>
              <a:t>And now all this wiring, from one box</a:t>
            </a:r>
            <a:endParaRPr lang="en-US" sz="1250" dirty="0"/>
          </a:p>
        </p:txBody>
      </p:sp>
      <p:sp>
        <p:nvSpPr>
          <p:cNvPr id="12" name="bullets And now all this wiring, from one box"/>
          <p:cNvSpPr txBox="1"/>
          <p:nvPr/>
        </p:nvSpPr>
        <p:spPr>
          <a:xfrm>
            <a:off x="512064" y="3739896"/>
            <a:ext cx="5376672" cy="78638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Motor, switch and encoder in every corner: 10 conductors per corner</a:t>
            </a:r>
            <a:endParaRPr lang="en-US" sz="1100" dirty="0"/>
          </a:p>
          <a:p>
            <a:pPr algn="l" marL="152400" indent="-152400">
              <a:spcAft>
                <a:spcPts val="500"/>
              </a:spcAft>
              <a:buSzPct val="100000"/>
              <a:buChar char="•"/>
            </a:pPr>
            <a:r>
              <a:rPr lang="en-US" sz="1100" dirty="0">
                <a:solidFill>
                  <a:schemeClr val="tx1"/>
                </a:solidFill>
              </a:rPr>
              <a:t>250 m (820 ft) of wire back to one place (calculated)</a:t>
            </a:r>
            <a:endParaRPr lang="en-US" sz="1100" dirty="0"/>
          </a:p>
        </p:txBody>
      </p:sp>
      <p:pic>
        <p:nvPicPr>
          <p:cNvPr id="13"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14"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15"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6"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7"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8"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oundRect">
            <a:avLst>
              <a:gd name="adj" fmla="val 2034"/>
            </a:avLst>
          </a:prstGeom>
          <a:solidFill>
            <a:schemeClr val="bg2"/>
          </a:solidFill>
          <a:ln w="12700">
            <a:solidFill>
              <a:schemeClr val="bg2"/>
            </a:solidFill>
            <a:prstDash val="solid"/>
          </a:ln>
        </p:spPr>
      </p:sp>
      <p:sp>
        <p:nvSpPr>
          <p:cNvPr id="5" name="heading A box with its own brain"/>
          <p:cNvSpPr txBox="1"/>
          <p:nvPr/>
        </p:nvSpPr>
        <p:spPr>
          <a:xfrm>
            <a:off x="51206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A box with its own brain</a:t>
            </a:r>
            <a:endParaRPr lang="en-US" sz="1250" dirty="0"/>
          </a:p>
        </p:txBody>
      </p:sp>
      <p:sp>
        <p:nvSpPr>
          <p:cNvPr id="6" name="bullets A box with its own brain"/>
          <p:cNvSpPr txBox="1"/>
          <p:nvPr/>
        </p:nvSpPr>
        <p:spPr>
          <a:xfrm>
            <a:off x="51206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An ESP32 in each box, with its driver, buck, switch and encoder</a:t>
            </a:r>
            <a:endParaRPr lang="en-US" sz="1100" dirty="0"/>
          </a:p>
          <a:p>
            <a:pPr algn="l" marL="152400" indent="-152400">
              <a:spcAft>
                <a:spcPts val="500"/>
              </a:spcAft>
              <a:buSzPct val="100000"/>
              <a:buChar char="•"/>
            </a:pPr>
            <a:r>
              <a:rPr lang="en-US" sz="1100" dirty="0">
                <a:solidFill>
                  <a:schemeClr val="tx1"/>
                </a:solidFill>
              </a:rPr>
              <a:t>The only thing going in is power: one 12 V pair</a:t>
            </a:r>
            <a:endParaRPr lang="en-US" sz="1100" dirty="0"/>
          </a:p>
          <a:p>
            <a:pPr algn="l" marL="152400" indent="-152400">
              <a:spcAft>
                <a:spcPts val="500"/>
              </a:spcAft>
              <a:buSzPct val="100000"/>
              <a:buChar char="•"/>
            </a:pPr>
            <a:r>
              <a:rPr lang="en-US" sz="1100" dirty="0">
                <a:solidFill>
                  <a:schemeClr val="tx1"/>
                </a:solidFill>
              </a:rPr>
              <a:t>50 m of wire instead of 250 m (calculated)</a:t>
            </a:r>
            <a:endParaRPr lang="en-US" sz="1100" dirty="0"/>
          </a:p>
          <a:p>
            <a:pPr algn="l" marL="152400" indent="-152400">
              <a:spcAft>
                <a:spcPts val="500"/>
              </a:spcAft>
              <a:buSzPct val="100000"/>
              <a:buChar char="•"/>
            </a:pPr>
            <a:r>
              <a:rPr lang="en-US" sz="1100" dirty="0">
                <a:solidFill>
                  <a:schemeClr val="tx1"/>
                </a:solidFill>
              </a:rPr>
              <a:t>Power can come from anywhere, so a box sits in any position and orientation</a:t>
            </a:r>
            <a:endParaRPr lang="en-US" sz="1100" dirty="0"/>
          </a:p>
          <a:p>
            <a:pPr algn="l" marL="152400" indent="-152400">
              <a:spcAft>
                <a:spcPts val="500"/>
              </a:spcAft>
              <a:buSzPct val="100000"/>
              <a:buChar char="•"/>
            </a:pPr>
            <a:r>
              <a:rPr lang="en-US" sz="1100" dirty="0">
                <a:solidFill>
                  <a:schemeClr val="tx1"/>
                </a:solidFill>
              </a:rPr>
              <a:t>The room's geometry no longer limits where the winches go</a:t>
            </a:r>
            <a:endParaRPr lang="en-US" sz="1100" dirty="0"/>
          </a:p>
        </p:txBody>
      </p:sp>
      <p:sp>
        <p:nvSpPr>
          <p:cNvPr id="7" name="card Why 16 AWG"/>
          <p:cNvSpPr/>
          <p:nvPr/>
        </p:nvSpPr>
        <p:spPr>
          <a:xfrm>
            <a:off x="3246120" y="868680"/>
            <a:ext cx="2697480" cy="3749040"/>
          </a:xfrm>
          <a:prstGeom prst="roundRect">
            <a:avLst>
              <a:gd name="adj" fmla="val 2034"/>
            </a:avLst>
          </a:prstGeom>
          <a:solidFill>
            <a:schemeClr val="bg2"/>
          </a:solidFill>
          <a:ln w="12700">
            <a:solidFill>
              <a:schemeClr val="bg2"/>
            </a:solidFill>
            <a:prstDash val="solid"/>
          </a:ln>
        </p:spPr>
      </p:sp>
      <p:sp>
        <p:nvSpPr>
          <p:cNvPr id="8" name="heading Why 16 AWG"/>
          <p:cNvSpPr txBox="1"/>
          <p:nvPr/>
        </p:nvSpPr>
        <p:spPr>
          <a:xfrm>
            <a:off x="339242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Why 16 AWG</a:t>
            </a:r>
            <a:endParaRPr lang="en-US" sz="1250" dirty="0"/>
          </a:p>
        </p:txBody>
      </p:sp>
      <p:sp>
        <p:nvSpPr>
          <p:cNvPr id="9" name="bullets Why 16 AWG"/>
          <p:cNvSpPr txBox="1"/>
          <p:nvPr/>
        </p:nvSpPr>
        <p:spPr>
          <a:xfrm>
            <a:off x="339242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Drop = current x loop resistance</a:t>
            </a:r>
            <a:endParaRPr lang="en-US" sz="1100" dirty="0"/>
          </a:p>
          <a:p>
            <a:pPr algn="l" marL="152400" indent="-152400">
              <a:spcAft>
                <a:spcPts val="500"/>
              </a:spcAft>
              <a:buSzPct val="100000"/>
              <a:buChar char="•"/>
            </a:pPr>
            <a:r>
              <a:rPr lang="en-US" sz="1100" dirty="0">
                <a:solidFill>
                  <a:schemeClr val="tx1"/>
                </a:solidFill>
              </a:rPr>
              <a:t>Longest branch 32 ft one way: 64 ft of loop</a:t>
            </a:r>
            <a:endParaRPr lang="en-US" sz="1100" dirty="0"/>
          </a:p>
          <a:p>
            <a:pPr algn="l" marL="152400" indent="-152400">
              <a:spcAft>
                <a:spcPts val="500"/>
              </a:spcAft>
              <a:buSzPct val="100000"/>
              <a:buChar char="•"/>
            </a:pPr>
            <a:r>
              <a:rPr lang="en-US" sz="1100" dirty="0">
                <a:solidFill>
                  <a:schemeClr val="tx1"/>
                </a:solidFill>
              </a:rPr>
              <a:t>At 2 A: 0.82 V lost on 18 AWG, 0.51 V on 16 AWG (calculated)</a:t>
            </a:r>
            <a:endParaRPr lang="en-US" sz="1100" dirty="0"/>
          </a:p>
          <a:p>
            <a:pPr algn="l" marL="152400" indent="-152400">
              <a:spcAft>
                <a:spcPts val="500"/>
              </a:spcAft>
              <a:buSzPct val="100000"/>
              <a:buChar char="•"/>
            </a:pPr>
            <a:r>
              <a:rPr lang="en-US" sz="1100" dirty="0">
                <a:solidFill>
                  <a:schemeClr val="tx1"/>
                </a:solidFill>
              </a:rPr>
              <a:t>That is 7 % against 4 % of 12 V; less heat in the wall</a:t>
            </a:r>
            <a:endParaRPr lang="en-US" sz="1100" dirty="0"/>
          </a:p>
          <a:p>
            <a:pPr algn="l" marL="152400" indent="-152400">
              <a:spcAft>
                <a:spcPts val="500"/>
              </a:spcAft>
              <a:buSzPct val="100000"/>
              <a:buChar char="•"/>
            </a:pPr>
            <a:r>
              <a:rPr lang="en-US" sz="1100" dirty="0">
                <a:solidFill>
                  <a:schemeClr val="tx1"/>
                </a:solidFill>
              </a:rPr>
              <a:t>Cost: a 100 ft roll about $30; 65 ft used for three stations, about $19.50 (estimated)</a:t>
            </a:r>
            <a:endParaRPr lang="en-US" sz="1100" dirty="0"/>
          </a:p>
        </p:txBody>
      </p:sp>
      <p:pic>
        <p:nvPicPr>
          <p:cNvPr id="10"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11"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12"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13"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oundRect">
            <a:avLst>
              <a:gd name="adj" fmla="val 3038"/>
            </a:avLst>
          </a:prstGeom>
          <a:solidFill>
            <a:schemeClr val="bg2"/>
          </a:solidFill>
          <a:ln w="12700">
            <a:solidFill>
              <a:schemeClr val="bg2"/>
            </a:solidFill>
            <a:prstDash val="solid"/>
          </a:ln>
        </p:spPr>
      </p:sp>
      <p:sp>
        <p:nvSpPr>
          <p:cNvPr id="5" name="heading Unmount, remount, plug in"/>
          <p:cNvSpPr txBox="1"/>
          <p:nvPr/>
        </p:nvSpPr>
        <p:spPr>
          <a:xfrm>
            <a:off x="512064" y="9601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Unmount, remount, plug in</a:t>
            </a:r>
            <a:endParaRPr lang="en-US" sz="1250" dirty="0"/>
          </a:p>
        </p:txBody>
      </p:sp>
      <p:sp>
        <p:nvSpPr>
          <p:cNvPr id="6" name="bullets Unmount, remount, plug in"/>
          <p:cNvSpPr txBox="1"/>
          <p:nvPr/>
        </p:nvSpPr>
        <p:spPr>
          <a:xfrm>
            <a:off x="512064" y="12710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 box slides off its wall mount and unplugs</a:t>
            </a:r>
            <a:endParaRPr lang="en-US" sz="1100" dirty="0"/>
          </a:p>
          <a:p>
            <a:pPr algn="l" marL="152400" indent="-152400">
              <a:spcAft>
                <a:spcPts val="500"/>
              </a:spcAft>
              <a:buSzPct val="100000"/>
              <a:buChar char="•"/>
            </a:pPr>
            <a:r>
              <a:rPr lang="en-US" sz="1100" dirty="0">
                <a:solidFill>
                  <a:schemeClr val="tx1"/>
                </a:solidFill>
              </a:rPr>
              <a:t>Guests coming: each box goes in a drawer</a:t>
            </a:r>
            <a:endParaRPr lang="en-US" sz="1100" dirty="0"/>
          </a:p>
          <a:p>
            <a:pPr algn="l" marL="152400" indent="-152400">
              <a:spcAft>
                <a:spcPts val="500"/>
              </a:spcAft>
              <a:buSzPct val="100000"/>
              <a:buChar char="•"/>
            </a:pPr>
            <a:r>
              <a:rPr lang="en-US" sz="1100" dirty="0">
                <a:solidFill>
                  <a:schemeClr val="tx1"/>
                </a:solidFill>
              </a:rPr>
              <a:t>Back on: one plug, it joins the Wi-Fi by itself</a:t>
            </a:r>
            <a:endParaRPr lang="en-US" sz="1100" dirty="0"/>
          </a:p>
        </p:txBody>
      </p:sp>
      <p:sp>
        <p:nvSpPr>
          <p:cNvPr id="7" name="card No screwdriver on the wall"/>
          <p:cNvSpPr/>
          <p:nvPr/>
        </p:nvSpPr>
        <p:spPr>
          <a:xfrm>
            <a:off x="365760" y="2811780"/>
            <a:ext cx="3108960" cy="1805940"/>
          </a:xfrm>
          <a:prstGeom prst="roundRect">
            <a:avLst>
              <a:gd name="adj" fmla="val 3038"/>
            </a:avLst>
          </a:prstGeom>
          <a:solidFill>
            <a:schemeClr val="bg2"/>
          </a:solidFill>
          <a:ln w="12700">
            <a:solidFill>
              <a:schemeClr val="bg2"/>
            </a:solidFill>
            <a:prstDash val="solid"/>
          </a:ln>
        </p:spPr>
      </p:sp>
      <p:sp>
        <p:nvSpPr>
          <p:cNvPr id="8" name="heading No screwdriver on the wall"/>
          <p:cNvSpPr txBox="1"/>
          <p:nvPr/>
        </p:nvSpPr>
        <p:spPr>
          <a:xfrm>
            <a:off x="512064" y="29032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No screwdriver on the wall</a:t>
            </a:r>
            <a:endParaRPr lang="en-US" sz="1250" dirty="0"/>
          </a:p>
        </p:txBody>
      </p:sp>
      <p:sp>
        <p:nvSpPr>
          <p:cNvPr id="9" name="bullets No screwdriver on the wall"/>
          <p:cNvSpPr txBox="1"/>
          <p:nvPr/>
        </p:nvSpPr>
        <p:spPr>
          <a:xfrm>
            <a:off x="512064" y="32141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Slip the station out of the mount, open the electronics</a:t>
            </a:r>
            <a:endParaRPr lang="en-US" sz="1100" dirty="0"/>
          </a:p>
          <a:p>
            <a:pPr algn="l" marL="152400" indent="-152400">
              <a:spcAft>
                <a:spcPts val="500"/>
              </a:spcAft>
              <a:buSzPct val="100000"/>
              <a:buChar char="•"/>
            </a:pPr>
            <a:r>
              <a:rPr lang="en-US" sz="1100" dirty="0">
                <a:solidFill>
                  <a:schemeClr val="tx1"/>
                </a:solidFill>
              </a:rPr>
              <a:t>Close it, slide it back: the mount and its screws stay in the stud</a:t>
            </a:r>
            <a:endParaRPr lang="en-US" sz="1100" dirty="0"/>
          </a:p>
          <a:p>
            <a:pPr algn="l" marL="152400" indent="-152400">
              <a:spcAft>
                <a:spcPts val="500"/>
              </a:spcAft>
              <a:buSzPct val="100000"/>
              <a:buChar char="•"/>
            </a:pPr>
            <a:r>
              <a:rPr lang="en-US" sz="1100" dirty="0">
                <a:solidFill>
                  <a:schemeClr val="tx1"/>
                </a:solidFill>
              </a:rPr>
              <a:t>The mount is separate: a stud today, a pole clamp later</a:t>
            </a:r>
            <a:endParaRPr lang="en-US" sz="1100" dirty="0"/>
          </a:p>
        </p:txBody>
      </p:sp>
      <p:pic>
        <p:nvPicPr>
          <p:cNvPr id="10"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11"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12"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13"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4"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5"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531620"/>
          </a:xfrm>
          <a:prstGeom prst="rect">
            <a:avLst/>
          </a:prstGeom>
        </p:spPr>
      </p:pic>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stay 0.4 m below the anchors with 1 lb, 0.6 m with jeans</a:t>
            </a:r>
            <a:endParaRPr lang="en-US" sz="850" dirty="0"/>
          </a:p>
        </p:txBody>
      </p:sp>
      <p:pic>
        <p:nvPicPr>
          <p:cNvPr id="6" name="chart temperature" descr="Motor case temperature at 1.5 A, vented and sealed shell, by fin (calculated)">    </p:cNvPr>
          <p:cNvPicPr>
            <a:picLocks noChangeAspect="1"/>
          </p:cNvPicPr>
          <p:nvPr/>
        </p:nvPicPr>
        <p:blipFill>
          <a:blip r:embed="rId2"/>
          <a:stretch>
            <a:fillRect/>
          </a:stretch>
        </p:blipFill>
        <p:spPr>
          <a:xfrm>
            <a:off x="3215640" y="868680"/>
            <a:ext cx="2712720" cy="1531620"/>
          </a:xfrm>
          <a:prstGeom prst="rect">
            <a:avLst/>
          </a:prstGeom>
        </p:spPr>
      </p:pic>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below 60 °C; vented shell + built fin 56-59 °C (calculated)</a:t>
            </a:r>
            <a:endParaRPr lang="en-US" sz="85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531620"/>
          </a:xfrm>
          <a:prstGeom prst="rect">
            <a:avLst/>
          </a:prstGeom>
        </p:spPr>
      </p:pic>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16.2 N worst cable for jeans; 34 N empty, 25 N full (calculated)</a:t>
            </a:r>
            <a:endParaRPr lang="en-US" sz="85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531620"/>
          </a:xfrm>
          <a:prstGeom prst="rect">
            <a:avLst/>
          </a:prstGeom>
        </p:spPr>
      </p:pic>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a 0.45 kg claw; 0.86 estimated (CAD), 0.60 weighed; jeans 1.50 vs 1.56 (4 %)</a:t>
            </a:r>
            <a:endParaRPr lang="en-US" sz="85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531620"/>
          </a:xfrm>
          <a:prstGeom prst="rect">
            <a:avLst/>
          </a:prstGeom>
        </p:spPr>
      </p:pic>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the motor gives first (34-59 N); the printed set screw may not, so: metal insert</a:t>
            </a:r>
            <a:endParaRPr lang="en-US" sz="850" dirty="0"/>
          </a:p>
        </p:txBody>
      </p:sp>
      <p:sp>
        <p:nvSpPr>
          <p:cNvPr id="14" name="card The factors"/>
          <p:cNvSpPr/>
          <p:nvPr/>
        </p:nvSpPr>
        <p:spPr>
          <a:xfrm>
            <a:off x="6065520" y="2811780"/>
            <a:ext cx="2712720" cy="1805940"/>
          </a:xfrm>
          <a:prstGeom prst="roundRect">
            <a:avLst>
              <a:gd name="adj" fmla="val 3038"/>
            </a:avLst>
          </a:prstGeom>
          <a:solidFill>
            <a:schemeClr val="bg2"/>
          </a:solidFill>
          <a:ln w="12700">
            <a:solidFill>
              <a:schemeClr val="bg2"/>
            </a:solidFill>
            <a:prstDash val="solid"/>
          </a:ln>
        </p:spPr>
      </p:sp>
      <p:sp>
        <p:nvSpPr>
          <p:cNvPr id="15" name="heading The factors"/>
          <p:cNvSpPr txBox="1"/>
          <p:nvPr/>
        </p:nvSpPr>
        <p:spPr>
          <a:xfrm>
            <a:off x="6211824" y="2903220"/>
            <a:ext cx="2420112" cy="274320"/>
          </a:xfrm>
          <a:prstGeom prst="rect">
            <a:avLst/>
          </a:prstGeom>
          <a:noFill/>
          <a:ln/>
        </p:spPr>
        <p:txBody>
          <a:bodyPr wrap="square" lIns="0" tIns="0" rIns="0" bIns="0" rtlCol="0" anchor="ctr"/>
          <a:lstStyle/>
          <a:p>
            <a:pPr indent="0" marL="0">
              <a:buNone/>
            </a:pPr>
            <a:r>
              <a:rPr lang="en-US" sz="1250" b="1" dirty="0">
                <a:solidFill>
                  <a:schemeClr val="tx1"/>
                </a:solidFill>
              </a:rPr>
              <a:t>The factors</a:t>
            </a:r>
            <a:endParaRPr lang="en-US" sz="1250" dirty="0"/>
          </a:p>
        </p:txBody>
      </p:sp>
      <p:sp>
        <p:nvSpPr>
          <p:cNvPr id="16" name="bullets The factors"/>
          <p:cNvSpPr txBox="1"/>
          <p:nvPr/>
        </p:nvSpPr>
        <p:spPr>
          <a:xfrm>
            <a:off x="6211824" y="3214116"/>
            <a:ext cx="2420112" cy="131216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Pull rises with current; heat rises with current squared</a:t>
            </a:r>
            <a:endParaRPr lang="en-US" sz="1000" dirty="0"/>
          </a:p>
          <a:p>
            <a:pPr algn="l" marL="152400" indent="-152400">
              <a:spcAft>
                <a:spcPts val="400"/>
              </a:spcAft>
              <a:buSzPct val="100000"/>
              <a:buChar char="•"/>
            </a:pPr>
            <a:r>
              <a:rPr lang="en-US" sz="1000" dirty="0">
                <a:solidFill>
                  <a:schemeClr val="tx1"/>
                </a:solidFill>
              </a:rPr>
              <a:t>1.0 to 1.5 A: 50 % more pull for 2.25 x the heat</a:t>
            </a:r>
            <a:endParaRPr lang="en-US" sz="1000" dirty="0"/>
          </a:p>
          <a:p>
            <a:pPr algn="l" marL="152400" indent="-152400">
              <a:spcAft>
                <a:spcPts val="400"/>
              </a:spcAft>
              <a:buSzPct val="100000"/>
              <a:buChar char="•"/>
            </a:pPr>
            <a:r>
              <a:rPr lang="en-US" sz="1000" dirty="0">
                <a:solidFill>
                  <a:schemeClr val="tx1"/>
                </a:solidFill>
              </a:rPr>
              <a:t>Every gram on the claw is a gram of payload</a:t>
            </a:r>
            <a:endParaRPr lang="en-US" sz="1000" dirty="0"/>
          </a:p>
          <a:p>
            <a:pPr algn="l" marL="152400" indent="-152400">
              <a:spcAft>
                <a:spcPts val="400"/>
              </a:spcAft>
              <a:buSzPct val="100000"/>
              <a:buChar char="•"/>
            </a:pPr>
            <a:r>
              <a:rPr lang="en-US" sz="1000" dirty="0">
                <a:solidFill>
                  <a:schemeClr val="tx1"/>
                </a:solidFill>
              </a:rPr>
              <a:t>The pull test and the hold test are still planned</a:t>
            </a:r>
            <a:endParaRPr lang="en-US" sz="10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Slide-in mount and load path"/>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Slide-in mount and load path</a:t>
            </a:r>
            <a:endParaRPr lang="en-US" sz="1250" dirty="0"/>
          </a:p>
        </p:txBody>
      </p:sp>
      <p:sp>
        <p:nvSpPr>
          <p:cNvPr id="6" name="bullets Slide-in mount and load path"/>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wall mount screws into a stud; the station slides onto it on a dovetail</a:t>
            </a:r>
            <a:endParaRPr lang="en-US" sz="1100" dirty="0"/>
          </a:p>
          <a:p>
            <a:pPr algn="l" marL="152400" indent="-152400">
              <a:spcAft>
                <a:spcPts val="500"/>
              </a:spcAft>
              <a:buSzPct val="100000"/>
              <a:buChar char="•"/>
            </a:pPr>
            <a:r>
              <a:rPr lang="en-US" sz="1100" dirty="0">
                <a:solidFill>
                  <a:schemeClr val="tx1"/>
                </a:solidFill>
              </a:rPr>
              <a:t>Dovetail fit: 0.175 mm a side, from fit coupons (measured)</a:t>
            </a:r>
            <a:endParaRPr lang="en-US" sz="1100" dirty="0"/>
          </a:p>
          <a:p>
            <a:pPr algn="l" marL="152400" indent="-152400">
              <a:spcAft>
                <a:spcPts val="500"/>
              </a:spcAft>
              <a:buSzPct val="100000"/>
              <a:buChar char="•"/>
            </a:pPr>
            <a:r>
              <a:rPr lang="en-US" sz="1100" dirty="0">
                <a:solidFill>
                  <a:schemeClr val="tx1"/>
                </a:solidFill>
              </a:rPr>
              <a:t>Load path: cable, spool, set screw, motor, tab, mount, screws, stud</a:t>
            </a:r>
            <a:endParaRPr lang="en-US" sz="1100" dirty="0"/>
          </a:p>
          <a:p>
            <a:pPr algn="l" marL="152400" indent="-152400">
              <a:spcAft>
                <a:spcPts val="500"/>
              </a:spcAft>
              <a:buSzPct val="100000"/>
              <a:buChar char="•"/>
            </a:pPr>
            <a:r>
              <a:rPr lang="en-US" sz="1100" dirty="0">
                <a:solidFill>
                  <a:schemeClr val="tx1"/>
                </a:solidFill>
              </a:rPr>
              <a:t>The motor slips at 34-59 N before anything breaks: the designed fuse (calculated)</a:t>
            </a:r>
            <a:endParaRPr lang="en-US" sz="1100" dirty="0"/>
          </a:p>
          <a:p>
            <a:pPr algn="l" marL="152400" indent="-152400">
              <a:spcAft>
                <a:spcPts val="500"/>
              </a:spcAft>
              <a:buSzPct val="100000"/>
              <a:buChar char="•"/>
            </a:pPr>
            <a:r>
              <a:rPr lang="en-US" sz="1100" dirty="0">
                <a:solidFill>
                  <a:schemeClr val="tx1"/>
                </a:solidFill>
              </a:rPr>
              <a:t>The spool encoder sees the slip: tracking fault, every station holds</a:t>
            </a:r>
            <a:endParaRPr lang="en-US" sz="1100" dirty="0"/>
          </a:p>
        </p:txBody>
      </p:sp>
      <p:pic>
        <p:nvPicPr>
          <p:cNvPr id="7"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8"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9"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10"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11"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2"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Fin, vents, stud"/>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Fin, vents, stud</a:t>
            </a:r>
            <a:endParaRPr lang="en-US" sz="1250" dirty="0"/>
          </a:p>
        </p:txBody>
      </p:sp>
      <p:sp>
        <p:nvSpPr>
          <p:cNvPr id="6" name="bullets Fin, vents, stud"/>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fin: aluminium on the motor face, out through a slot in the top of the shell</a:t>
            </a:r>
            <a:endParaRPr lang="en-US" sz="1100" dirty="0"/>
          </a:p>
          <a:p>
            <a:pPr algn="l" marL="152400" indent="-152400">
              <a:spcAft>
                <a:spcPts val="500"/>
              </a:spcAft>
              <a:buSzPct val="100000"/>
              <a:buChar char="•"/>
            </a:pPr>
            <a:r>
              <a:rPr lang="en-US" sz="1100" dirty="0">
                <a:solidFill>
                  <a:schemeClr val="tx1"/>
                </a:solidFill>
              </a:rPr>
              <a:t>Vents in the shell; vented shell + fin: 56-59 °C at 1.5 A (calculated)</a:t>
            </a:r>
            <a:endParaRPr lang="en-US" sz="1100" dirty="0"/>
          </a:p>
          <a:p>
            <a:pPr algn="l" marL="152400" indent="-152400">
              <a:spcAft>
                <a:spcPts val="500"/>
              </a:spcAft>
              <a:buSzPct val="100000"/>
              <a:buChar char="•"/>
            </a:pPr>
            <a:r>
              <a:rPr lang="en-US" sz="1100" dirty="0">
                <a:solidFill>
                  <a:schemeClr val="tx1"/>
                </a:solidFill>
              </a:rPr>
              <a:t>First station in a stud on the TV wall, 12 V down the wall</a:t>
            </a:r>
            <a:endParaRPr lang="en-US" sz="1100" dirty="0"/>
          </a:p>
          <a:p>
            <a:pPr algn="l" marL="152400" indent="-152400">
              <a:spcAft>
                <a:spcPts val="500"/>
              </a:spcAft>
              <a:buSzPct val="100000"/>
              <a:buChar char="•"/>
            </a:pPr>
            <a:r>
              <a:rPr lang="en-US" sz="1100" dirty="0">
                <a:solidFill>
                  <a:schemeClr val="tx1"/>
                </a:solidFill>
              </a:rPr>
              <a:t>The slide-in binds on insertion today; a 1° draft on the dovetail is the next iteration</a:t>
            </a:r>
            <a:endParaRPr lang="en-US" sz="1100" dirty="0"/>
          </a:p>
        </p:txBody>
      </p:sp>
      <p:pic>
        <p:nvPicPr>
          <p:cNvPr id="7" name="On the TV wall, 12 V leads down" descr="On the TV wall, 12 V leads down">    </p:cNvPr>
          <p:cNvPicPr>
            <a:picLocks noChangeAspect="1"/>
          </p:cNvPicPr>
          <p:nvPr/>
        </p:nvPicPr>
        <p:blipFill>
          <a:blip r:embed="rId1"/>
          <a:stretch>
            <a:fillRect/>
          </a:stretch>
        </p:blipFill>
        <p:spPr>
          <a:xfrm>
            <a:off x="3794760" y="868680"/>
            <a:ext cx="1588008" cy="3511296"/>
          </a:xfrm>
          <a:prstGeom prst="rect">
            <a:avLst/>
          </a:prstGeom>
        </p:spPr>
      </p:pic>
      <p:sp>
        <p:nvSpPr>
          <p:cNvPr id="8"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9"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10"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11"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2"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oundRect">
            <a:avLst>
              <a:gd name="adj" fmla="val 2353"/>
            </a:avLst>
          </a:prstGeom>
          <a:solidFill>
            <a:schemeClr val="bg2"/>
          </a:solidFill>
          <a:ln w="12700">
            <a:solidFill>
              <a:schemeClr val="bg2"/>
            </a:solidFill>
            <a:prstDash val="solid"/>
          </a:ln>
        </p:spPr>
      </p:sp>
      <p:sp>
        <p:nvSpPr>
          <p:cNvPr id="5" name="heading The claw today"/>
          <p:cNvSpPr txBox="1"/>
          <p:nvPr/>
        </p:nvSpPr>
        <p:spPr>
          <a:xfrm>
            <a:off x="5120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The claw today</a:t>
            </a:r>
            <a:endParaRPr lang="en-US" sz="1250" dirty="0"/>
          </a:p>
        </p:txBody>
      </p:sp>
      <p:sp>
        <p:nvSpPr>
          <p:cNvPr id="6" name="bullets The claw today"/>
          <p:cNvSpPr txBox="1"/>
          <p:nvPr/>
        </p:nvSpPr>
        <p:spPr>
          <a:xfrm>
            <a:off x="5120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Four-bar hands: within 1° of parallel over the 53 mm opening (calculated)</a:t>
            </a:r>
            <a:endParaRPr lang="en-US" sz="1100" dirty="0"/>
          </a:p>
          <a:p>
            <a:pPr algn="l" marL="152400" indent="-152400">
              <a:spcAft>
                <a:spcPts val="500"/>
              </a:spcAft>
              <a:buSzPct val="100000"/>
              <a:buChar char="•"/>
            </a:pPr>
            <a:r>
              <a:rPr lang="en-US" sz="1100" dirty="0">
                <a:solidFill>
                  <a:schemeClr val="tx1"/>
                </a:solidFill>
              </a:rPr>
              <a:t>A camera bay in the electronics housing; the camera looks down the tube</a:t>
            </a:r>
            <a:endParaRPr lang="en-US" sz="1100" dirty="0"/>
          </a:p>
          <a:p>
            <a:pPr algn="l" marL="152400" indent="-152400">
              <a:spcAft>
                <a:spcPts val="500"/>
              </a:spcAft>
              <a:buSzPct val="100000"/>
              <a:buChar char="•"/>
            </a:pPr>
            <a:r>
              <a:rPr lang="en-US" sz="1100" dirty="0">
                <a:solidFill>
                  <a:schemeClr val="tx1"/>
                </a:solidFill>
              </a:rPr>
              <a:t>One 7.4 V two-cell pack: 6 V regulator for the servo, 5 V buck for the board</a:t>
            </a:r>
            <a:endParaRPr lang="en-US" sz="1100" dirty="0"/>
          </a:p>
          <a:p>
            <a:pPr algn="l" marL="152400" indent="-152400">
              <a:spcAft>
                <a:spcPts val="500"/>
              </a:spcAft>
              <a:buSzPct val="100000"/>
              <a:buChar char="•"/>
            </a:pPr>
            <a:r>
              <a:rPr lang="en-US" sz="1100" dirty="0">
                <a:solidFill>
                  <a:schemeClr val="tx1"/>
                </a:solidFill>
              </a:rPr>
              <a:t>Weighed 0.60 kg with battery against a 0.45 kg budget</a:t>
            </a:r>
            <a:endParaRPr lang="en-US" sz="1100" dirty="0"/>
          </a:p>
        </p:txBody>
      </p:sp>
      <p:sp>
        <p:nvSpPr>
          <p:cNvPr id="7" name="card Modular, on purpose"/>
          <p:cNvSpPr/>
          <p:nvPr/>
        </p:nvSpPr>
        <p:spPr>
          <a:xfrm>
            <a:off x="2880360" y="868680"/>
            <a:ext cx="2331720" cy="3749040"/>
          </a:xfrm>
          <a:prstGeom prst="roundRect">
            <a:avLst>
              <a:gd name="adj" fmla="val 2353"/>
            </a:avLst>
          </a:prstGeom>
          <a:solidFill>
            <a:schemeClr val="bg2"/>
          </a:solidFill>
          <a:ln w="12700">
            <a:solidFill>
              <a:schemeClr val="bg2"/>
            </a:solidFill>
            <a:prstDash val="solid"/>
          </a:ln>
        </p:spPr>
      </p:sp>
      <p:sp>
        <p:nvSpPr>
          <p:cNvPr id="8" name="heading Modular, on purpose"/>
          <p:cNvSpPr txBox="1"/>
          <p:nvPr/>
        </p:nvSpPr>
        <p:spPr>
          <a:xfrm>
            <a:off x="30266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Modular, on purpose</a:t>
            </a:r>
            <a:endParaRPr lang="en-US" sz="1250" dirty="0"/>
          </a:p>
        </p:txBody>
      </p:sp>
      <p:sp>
        <p:nvSpPr>
          <p:cNvPr id="9" name="bullets Modular, on purpose"/>
          <p:cNvSpPr txBox="1"/>
          <p:nvPr/>
        </p:nvSpPr>
        <p:spPr>
          <a:xfrm>
            <a:off x="30266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gripper attaches at the tube, so other grippers can be tried</a:t>
            </a:r>
            <a:endParaRPr lang="en-US" sz="1100" dirty="0"/>
          </a:p>
          <a:p>
            <a:pPr algn="l" marL="152400" indent="-152400">
              <a:spcAft>
                <a:spcPts val="500"/>
              </a:spcAft>
              <a:buSzPct val="100000"/>
              <a:buChar char="•"/>
            </a:pPr>
            <a:r>
              <a:rPr lang="en-US" sz="1100" dirty="0">
                <a:solidFill>
                  <a:schemeClr val="tx1"/>
                </a:solidFill>
              </a:rPr>
              <a:t>A hard pinch was expected to grip better; testing showed alignment problems</a:t>
            </a:r>
            <a:endParaRPr lang="en-US" sz="1100" dirty="0"/>
          </a:p>
          <a:p>
            <a:pPr algn="l" marL="152400" indent="-152400">
              <a:spcAft>
                <a:spcPts val="500"/>
              </a:spcAft>
              <a:buSzPct val="100000"/>
              <a:buChar char="•"/>
            </a:pPr>
            <a:r>
              <a:rPr lang="en-US" sz="1100" dirty="0">
                <a:solidFill>
                  <a:schemeClr val="tx1"/>
                </a:solidFill>
              </a:rPr>
              <a:t>The first rack-and-pinion jaws left a 2 mm gap on thin cloth (Sep 30)</a:t>
            </a:r>
            <a:endParaRPr lang="en-US" sz="1100" dirty="0"/>
          </a:p>
          <a:p>
            <a:pPr algn="l" marL="152400" indent="-152400">
              <a:spcAft>
                <a:spcPts val="500"/>
              </a:spcAft>
              <a:buSzPct val="100000"/>
              <a:buChar char="•"/>
            </a:pPr>
            <a:r>
              <a:rPr lang="en-US" sz="1100" dirty="0">
                <a:solidFill>
                  <a:schemeClr val="tx1"/>
                </a:solidFill>
              </a:rPr>
              <a:t>TPU and other pad materials are being tried; still testing</a:t>
            </a:r>
            <a:endParaRPr lang="en-US" sz="1100" dirty="0"/>
          </a:p>
          <a:p>
            <a:pPr algn="l" marL="152400" indent="-152400">
              <a:spcAft>
                <a:spcPts val="500"/>
              </a:spcAft>
              <a:buSzPct val="100000"/>
              <a:buChar char="•"/>
            </a:pPr>
            <a:r>
              <a:rPr lang="en-US" sz="1100" dirty="0">
                <a:solidFill>
                  <a:schemeClr val="tx1"/>
                </a:solidFill>
              </a:rPr>
              <a:t>The v6 clamp was 4.6 x its mass budget in CAD: mass is tracked per part since</a:t>
            </a:r>
            <a:endParaRPr lang="en-US" sz="1100" dirty="0"/>
          </a:p>
        </p:txBody>
      </p:sp>
      <p:pic>
        <p:nvPicPr>
          <p:cNvPr id="10"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11"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12"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13"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4"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bench</a:t>
            </a:r>
            <a:endParaRPr lang="en-US" sz="2400" dirty="0"/>
          </a:p>
        </p:txBody>
      </p:sp>
      <p:sp>
        <p:nvSpPr>
          <p:cNvPr id="4" name="card Station bench"/>
          <p:cNvSpPr/>
          <p:nvPr/>
        </p:nvSpPr>
        <p:spPr>
          <a:xfrm>
            <a:off x="365760" y="868680"/>
            <a:ext cx="2560320" cy="3749040"/>
          </a:xfrm>
          <a:prstGeom prst="roundRect">
            <a:avLst>
              <a:gd name="adj" fmla="val 2143"/>
            </a:avLst>
          </a:prstGeom>
          <a:solidFill>
            <a:schemeClr val="bg2"/>
          </a:solidFill>
          <a:ln w="12700">
            <a:solidFill>
              <a:schemeClr val="bg2"/>
            </a:solidFill>
            <a:prstDash val="solid"/>
          </a:ln>
        </p:spPr>
      </p:sp>
      <p:sp>
        <p:nvSpPr>
          <p:cNvPr id="5" name="heading Station bench"/>
          <p:cNvSpPr txBox="1"/>
          <p:nvPr/>
        </p:nvSpPr>
        <p:spPr>
          <a:xfrm>
            <a:off x="5120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Station bench</a:t>
            </a:r>
            <a:endParaRPr lang="en-US" sz="1250" dirty="0"/>
          </a:p>
        </p:txBody>
      </p:sp>
      <p:sp>
        <p:nvSpPr>
          <p:cNvPr id="6" name="bullets Station bench"/>
          <p:cNvSpPr txBox="1"/>
          <p:nvPr/>
        </p:nvSpPr>
        <p:spPr>
          <a:xfrm>
            <a:off x="512064" y="1271016"/>
            <a:ext cx="226771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Driver off at boot: a reset cannot move a motor</a:t>
            </a:r>
            <a:endParaRPr lang="en-US" sz="1100" dirty="0"/>
          </a:p>
          <a:p>
            <a:pPr algn="l" marL="152400" indent="-152400">
              <a:spcAft>
                <a:spcPts val="400"/>
              </a:spcAft>
              <a:buSzPct val="100000"/>
              <a:buChar char="•"/>
            </a:pPr>
            <a:r>
              <a:rPr lang="en-US" sz="1100" dirty="0">
                <a:solidFill>
                  <a:schemeClr val="tx1"/>
                </a:solidFill>
              </a:rPr>
              <a:t>Switch logic: LOW at rest, HIGH pressed or with a broken wire</a:t>
            </a:r>
            <a:endParaRPr lang="en-US" sz="1100" dirty="0"/>
          </a:p>
          <a:p>
            <a:pPr algn="l" marL="152400" indent="-152400">
              <a:spcAft>
                <a:spcPts val="400"/>
              </a:spcAft>
              <a:buSzPct val="100000"/>
              <a:buChar char="•"/>
            </a:pPr>
            <a:r>
              <a:rPr lang="en-US" sz="1100" dirty="0">
                <a:solidFill>
                  <a:schemeClr val="tx1"/>
                </a:solidFill>
              </a:rPr>
              <a:t>Encoder answers, magnet detected</a:t>
            </a:r>
            <a:endParaRPr lang="en-US" sz="1100" dirty="0"/>
          </a:p>
          <a:p>
            <a:pPr algn="l" marL="152400" indent="-152400">
              <a:spcAft>
                <a:spcPts val="400"/>
              </a:spcAft>
              <a:buSzPct val="100000"/>
              <a:buChar char="•"/>
            </a:pPr>
            <a:r>
              <a:rPr lang="en-US" sz="1100" dirty="0">
                <a:solidFill>
                  <a:schemeClr val="tx1"/>
                </a:solidFill>
              </a:rPr>
              <a:t>One spool turn within 60 counts: PASS on both boards (measured)</a:t>
            </a:r>
            <a:endParaRPr lang="en-US" sz="1100" dirty="0"/>
          </a:p>
          <a:p>
            <a:pPr algn="l" marL="152400" indent="-152400">
              <a:spcAft>
                <a:spcPts val="400"/>
              </a:spcAft>
              <a:buSzPct val="100000"/>
              <a:buChar char="•"/>
            </a:pPr>
            <a:r>
              <a:rPr lang="en-US" sz="1100" dirty="0">
                <a:solidFill>
                  <a:schemeClr val="tx1"/>
                </a:solidFill>
              </a:rPr>
              <a:t>A motor that logged steps but did not turn: logic rail at 1.14 V, not 3.3 V; VDD now soldered and measured first</a:t>
            </a:r>
            <a:endParaRPr lang="en-US" sz="1100" dirty="0"/>
          </a:p>
        </p:txBody>
      </p:sp>
      <p:sp>
        <p:nvSpPr>
          <p:cNvPr id="7" name="card Claw bench"/>
          <p:cNvSpPr/>
          <p:nvPr/>
        </p:nvSpPr>
        <p:spPr>
          <a:xfrm>
            <a:off x="3108960" y="868680"/>
            <a:ext cx="2560320" cy="3749040"/>
          </a:xfrm>
          <a:prstGeom prst="roundRect">
            <a:avLst>
              <a:gd name="adj" fmla="val 2143"/>
            </a:avLst>
          </a:prstGeom>
          <a:solidFill>
            <a:schemeClr val="bg2"/>
          </a:solidFill>
          <a:ln w="12700">
            <a:solidFill>
              <a:schemeClr val="bg2"/>
            </a:solidFill>
            <a:prstDash val="solid"/>
          </a:ln>
        </p:spPr>
      </p:sp>
      <p:sp>
        <p:nvSpPr>
          <p:cNvPr id="8" name="heading Claw bench"/>
          <p:cNvSpPr txBox="1"/>
          <p:nvPr/>
        </p:nvSpPr>
        <p:spPr>
          <a:xfrm>
            <a:off x="32552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Claw bench</a:t>
            </a:r>
            <a:endParaRPr lang="en-US" sz="1250" dirty="0"/>
          </a:p>
        </p:txBody>
      </p:sp>
      <p:sp>
        <p:nvSpPr>
          <p:cNvPr id="9" name="bullets Claw bench"/>
          <p:cNvSpPr txBox="1"/>
          <p:nvPr/>
        </p:nvSpPr>
        <p:spPr>
          <a:xfrm>
            <a:off x="3255264" y="1271016"/>
            <a:ext cx="22677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Live view from the claw camera on the phone</a:t>
            </a:r>
            <a:endParaRPr lang="en-US" sz="1100" dirty="0"/>
          </a:p>
          <a:p>
            <a:pPr algn="l" marL="152400" indent="-152400">
              <a:spcAft>
                <a:spcPts val="500"/>
              </a:spcAft>
              <a:buSzPct val="100000"/>
              <a:buChar char="•"/>
            </a:pPr>
            <a:r>
              <a:rPr lang="en-US" sz="1100" dirty="0">
                <a:solidFill>
                  <a:schemeClr val="tx1"/>
                </a:solidFill>
              </a:rPr>
              <a:t>Battery 7.2 V read through the divider, matching the meter (measured)</a:t>
            </a:r>
            <a:endParaRPr lang="en-US" sz="1100" dirty="0"/>
          </a:p>
          <a:p>
            <a:pPr algn="l" marL="152400" indent="-152400">
              <a:spcAft>
                <a:spcPts val="500"/>
              </a:spcAft>
              <a:buSzPct val="100000"/>
              <a:buChar char="•"/>
            </a:pPr>
            <a:r>
              <a:rPr lang="en-US" sz="1100" dirty="0">
                <a:solidFill>
                  <a:schemeClr val="tx1"/>
                </a:solidFill>
              </a:rPr>
              <a:t>The servo only moved once it had its own hardware timer; the camera owned the first</a:t>
            </a:r>
            <a:endParaRPr lang="en-US" sz="1100" dirty="0"/>
          </a:p>
          <a:p>
            <a:pPr algn="l" marL="152400" indent="-152400">
              <a:spcAft>
                <a:spcPts val="500"/>
              </a:spcAft>
              <a:buSzPct val="100000"/>
              <a:buChar char="•"/>
            </a:pPr>
            <a:r>
              <a:rPr lang="en-US" sz="1100" dirty="0">
                <a:solidFill>
                  <a:schemeClr val="tx1"/>
                </a:solidFill>
              </a:rPr>
              <a:t>Still open: servo end points unmeasured; camera not yet calibrated</a:t>
            </a:r>
            <a:endParaRPr lang="en-US" sz="1100" dirty="0"/>
          </a:p>
        </p:txBody>
      </p:sp>
      <p:pic>
        <p:nvPicPr>
          <p:cNvPr id="10" name="Bench: two stations, laptop, meter, 12 V" descr="Bench: two stations, laptop, meter, 12 V supply">    </p:cNvPr>
          <p:cNvPicPr>
            <a:picLocks noChangeAspect="1"/>
          </p:cNvPicPr>
          <p:nvPr/>
        </p:nvPicPr>
        <p:blipFill>
          <a:blip r:embed="rId1"/>
          <a:stretch>
            <a:fillRect/>
          </a:stretch>
        </p:blipFill>
        <p:spPr>
          <a:xfrm>
            <a:off x="5852160" y="868680"/>
            <a:ext cx="2926080" cy="1700784"/>
          </a:xfrm>
          <a:prstGeom prst="rect">
            <a:avLst/>
          </a:prstGeom>
        </p:spPr>
      </p:pic>
      <p:pic>
        <p:nvPicPr>
          <p:cNvPr id="11" name="Dev board, driver, spool and end stop" descr="Dev board, driver, spool and end stop">    </p:cNvPr>
          <p:cNvPicPr>
            <a:picLocks noChangeAspect="1"/>
          </p:cNvPicPr>
          <p:nvPr/>
        </p:nvPicPr>
        <p:blipFill>
          <a:blip r:embed="rId2"/>
          <a:stretch>
            <a:fillRect/>
          </a:stretch>
        </p:blipFill>
        <p:spPr>
          <a:xfrm>
            <a:off x="5852160" y="2679192"/>
            <a:ext cx="1417320" cy="1700784"/>
          </a:xfrm>
          <a:prstGeom prst="rect">
            <a:avLst/>
          </a:prstGeom>
        </p:spPr>
      </p:pic>
      <p:pic>
        <p:nvPicPr>
          <p:cNvPr id="12" name="Red shell, fused 12 V lead" descr="Red shell, fused 12 V lead">    </p:cNvPr>
          <p:cNvPicPr>
            <a:picLocks noChangeAspect="1"/>
          </p:cNvPicPr>
          <p:nvPr/>
        </p:nvPicPr>
        <p:blipFill>
          <a:blip r:embed="rId3"/>
          <a:stretch>
            <a:fillRect/>
          </a:stretch>
        </p:blipFill>
        <p:spPr>
          <a:xfrm>
            <a:off x="7360920" y="2679192"/>
            <a:ext cx="1417320" cy="1700784"/>
          </a:xfrm>
          <a:prstGeom prst="rect">
            <a:avLst/>
          </a:prstGeom>
        </p:spPr>
      </p:pic>
      <p:sp>
        <p:nvSpPr>
          <p:cNvPr id="13" name="caption"/>
          <p:cNvSpPr txBox="1"/>
          <p:nvPr/>
        </p:nvSpPr>
        <p:spPr>
          <a:xfrm>
            <a:off x="5852160" y="4416552"/>
            <a:ext cx="2926080" cy="201168"/>
          </a:xfrm>
          <a:prstGeom prst="rect">
            <a:avLst/>
          </a:prstGeom>
          <a:noFill/>
          <a:ln/>
        </p:spPr>
        <p:txBody>
          <a:bodyPr wrap="square" lIns="0" tIns="0" rIns="0" bIns="0" rtlCol="0" anchor="ctr"/>
          <a:lstStyle/>
          <a:p>
            <a:pPr algn="l" indent="0" marL="0">
              <a:buNone/>
            </a:pPr>
            <a:r>
              <a:rPr lang="en-US" sz="850" dirty="0">
                <a:solidFill>
                  <a:schemeClr val="tx2"/>
                </a:solidFill>
              </a:rPr>
              <a:t>Two stations on the bench; a dev board and spool; the red shell with its fuse</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wall</a:t>
            </a:r>
            <a:endParaRPr lang="en-US" sz="2400" dirty="0"/>
          </a:p>
        </p:txBody>
      </p:sp>
      <p:sp>
        <p:nvSpPr>
          <p:cNvPr id="4" name="card Making it work on the wall"/>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Making it work on the wall"/>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Making it work on the wall</a:t>
            </a:r>
            <a:endParaRPr lang="en-US" sz="1250" dirty="0"/>
          </a:p>
        </p:txBody>
      </p:sp>
      <p:sp>
        <p:nvSpPr>
          <p:cNvPr id="6" name="bullets Making it work on the wall"/>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Wi-Fi auto-join: a boxed station boots and joins the network by itself</a:t>
            </a:r>
            <a:endParaRPr lang="en-US" sz="1100" dirty="0"/>
          </a:p>
          <a:p>
            <a:pPr algn="l" marL="152400" indent="-152400">
              <a:spcAft>
                <a:spcPts val="500"/>
              </a:spcAft>
              <a:buSzPct val="100000"/>
              <a:buChar char="•"/>
            </a:pPr>
            <a:r>
              <a:rPr lang="en-US" sz="1100" dirty="0">
                <a:solidFill>
                  <a:schemeClr val="tx1"/>
                </a:solidFill>
              </a:rPr>
              <a:t>OTA: firmware updates arrive over Wi-Fi; no USB cable after boxing</a:t>
            </a:r>
            <a:endParaRPr lang="en-US" sz="1100" dirty="0"/>
          </a:p>
          <a:p>
            <a:pPr algn="l" marL="152400" indent="-152400">
              <a:spcAft>
                <a:spcPts val="500"/>
              </a:spcAft>
              <a:buSzPct val="100000"/>
              <a:buChar char="•"/>
            </a:pPr>
            <a:r>
              <a:rPr lang="en-US" sz="1100" dirty="0">
                <a:solidFill>
                  <a:schemeClr val="tx1"/>
                </a:solidFill>
              </a:rPr>
              <a:t>The motor stays off until the phone arms it</a:t>
            </a:r>
            <a:endParaRPr lang="en-US" sz="1100" dirty="0"/>
          </a:p>
          <a:p>
            <a:pPr algn="l" marL="152400" indent="-152400">
              <a:spcAft>
                <a:spcPts val="500"/>
              </a:spcAft>
              <a:buSzPct val="100000"/>
              <a:buChar char="•"/>
            </a:pPr>
            <a:r>
              <a:rPr lang="en-US" sz="1100" dirty="0">
                <a:solidFill>
                  <a:schemeClr val="tx1"/>
                </a:solidFill>
              </a:rPr>
              <a:t>A station accepts an update only while disarmed</a:t>
            </a:r>
            <a:endParaRPr lang="en-US" sz="1100" dirty="0"/>
          </a:p>
          <a:p>
            <a:pPr algn="l" marL="152400" indent="-152400">
              <a:spcAft>
                <a:spcPts val="500"/>
              </a:spcAft>
              <a:buSzPct val="100000"/>
              <a:buChar char="•"/>
            </a:pPr>
            <a:r>
              <a:rPr lang="en-US" sz="1100" dirty="0">
                <a:solidFill>
                  <a:schemeClr val="tx1"/>
                </a:solidFill>
              </a:rPr>
              <a:t>Still planned: pull test, hold test, first three-station lift</a:t>
            </a:r>
            <a:endParaRPr lang="en-US" sz="1100" dirty="0"/>
          </a:p>
        </p:txBody>
      </p:sp>
      <p:pic>
        <p:nvPicPr>
          <p:cNvPr id="7" name="The first station on the wall" descr="The first station on the wall">    </p:cNvPr>
          <p:cNvPicPr>
            <a:picLocks noChangeAspect="1"/>
          </p:cNvPicPr>
          <p:nvPr/>
        </p:nvPicPr>
        <p:blipFill>
          <a:blip r:embed="rId1"/>
          <a:stretch>
            <a:fillRect/>
          </a:stretch>
        </p:blipFill>
        <p:spPr>
          <a:xfrm>
            <a:off x="3886200" y="868680"/>
            <a:ext cx="1557528" cy="3511296"/>
          </a:xfrm>
          <a:prstGeom prst="rect">
            <a:avLst/>
          </a:prstGeom>
        </p:spPr>
      </p:pic>
      <p:sp>
        <p:nvSpPr>
          <p:cNvPr id="8" name="caption"/>
          <p:cNvSpPr txBox="1"/>
          <p:nvPr/>
        </p:nvSpPr>
        <p:spPr>
          <a:xfrm>
            <a:off x="3886200"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pic>
        <p:nvPicPr>
          <p:cNvPr id="9" name="From below, line down" descr="From below, line down">    </p:cNvPr>
          <p:cNvPicPr>
            <a:picLocks noChangeAspect="1"/>
          </p:cNvPicPr>
          <p:nvPr/>
        </p:nvPicPr>
        <p:blipFill>
          <a:blip r:embed="rId2"/>
          <a:stretch>
            <a:fillRect/>
          </a:stretch>
        </p:blipFill>
        <p:spPr>
          <a:xfrm>
            <a:off x="5553456" y="868680"/>
            <a:ext cx="1557528" cy="3511296"/>
          </a:xfrm>
          <a:prstGeom prst="rect">
            <a:avLst/>
          </a:prstGeom>
        </p:spPr>
      </p:pic>
      <p:sp>
        <p:nvSpPr>
          <p:cNvPr id="10" name="caption"/>
          <p:cNvSpPr txBox="1"/>
          <p:nvPr/>
        </p:nvSpPr>
        <p:spPr>
          <a:xfrm>
            <a:off x="5553456"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From below, line down</a:t>
            </a:r>
            <a:endParaRPr lang="en-US" sz="850" dirty="0"/>
          </a:p>
        </p:txBody>
      </p:sp>
      <p:pic>
        <p:nvPicPr>
          <p:cNvPr id="11" name="A station open: board on the bench" descr="A station open: board on the bench">    </p:cNvPr>
          <p:cNvPicPr>
            <a:picLocks noChangeAspect="1"/>
          </p:cNvPicPr>
          <p:nvPr/>
        </p:nvPicPr>
        <p:blipFill>
          <a:blip r:embed="rId3"/>
          <a:stretch>
            <a:fillRect/>
          </a:stretch>
        </p:blipFill>
        <p:spPr>
          <a:xfrm>
            <a:off x="7220712" y="868680"/>
            <a:ext cx="1557528" cy="3511296"/>
          </a:xfrm>
          <a:prstGeom prst="rect">
            <a:avLst/>
          </a:prstGeom>
        </p:spPr>
      </p:pic>
      <p:sp>
        <p:nvSpPr>
          <p:cNvPr id="12" name="caption"/>
          <p:cNvSpPr txBox="1"/>
          <p:nvPr/>
        </p:nvSpPr>
        <p:spPr>
          <a:xfrm>
            <a:off x="7220712"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A station open: board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258568" cy="1645920"/>
          </a:xfrm>
          <a:prstGeom prst="roundRect">
            <a:avLst>
              <a:gd name="adj" fmla="val 3333"/>
            </a:avLst>
          </a:prstGeom>
          <a:solidFill>
            <a:schemeClr val="bg2"/>
          </a:solidFill>
          <a:ln w="12700">
            <a:solidFill>
              <a:schemeClr val="bg2"/>
            </a:solidFill>
            <a:prstDash val="solid"/>
          </a:ln>
        </p:spPr>
      </p:sp>
      <p:sp>
        <p:nvSpPr>
          <p:cNvPr id="5" name="heading 1  SELF_CHECK"/>
          <p:cNvSpPr txBox="1"/>
          <p:nvPr/>
        </p:nvSpPr>
        <p:spPr>
          <a:xfrm>
            <a:off x="512064"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1  SELF_CHECK</a:t>
            </a:r>
            <a:endParaRPr lang="en-US" sz="1000" dirty="0"/>
          </a:p>
        </p:txBody>
      </p:sp>
      <p:sp>
        <p:nvSpPr>
          <p:cNvPr id="6" name="bullets 1  SELF_CHECK"/>
          <p:cNvSpPr txBox="1"/>
          <p:nvPr/>
        </p:nvSpPr>
        <p:spPr>
          <a:xfrm>
            <a:off x="512064"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Claw online, battery above minimum</a:t>
            </a:r>
            <a:endParaRPr lang="en-US" sz="900" dirty="0"/>
          </a:p>
          <a:p>
            <a:pPr algn="l" marL="152400" indent="-152400">
              <a:spcAft>
                <a:spcPts val="200"/>
              </a:spcAft>
              <a:buSzPct val="100000"/>
              <a:buChar char="•"/>
            </a:pPr>
            <a:r>
              <a:rPr lang="en-US" sz="900" dirty="0">
                <a:solidFill>
                  <a:schemeClr val="tx1"/>
                </a:solidFill>
              </a:rPr>
              <a:t>Camera confirms the claw upright at the known height on the floor board</a:t>
            </a:r>
            <a:endParaRPr lang="en-US" sz="900" dirty="0"/>
          </a:p>
          <a:p>
            <a:pPr algn="l" marL="152400" indent="-152400">
              <a:spcAft>
                <a:spcPts val="200"/>
              </a:spcAft>
              <a:buSzPct val="100000"/>
              <a:buChar char="•"/>
            </a:pPr>
            <a:r>
              <a:rPr lang="en-US" sz="900" dirty="0">
                <a:solidFill>
                  <a:schemeClr val="tx1"/>
                </a:solidFill>
              </a:rPr>
              <a:t>Stations healthy, homing switches closed; arm</a:t>
            </a:r>
            <a:endParaRPr lang="en-US" sz="900" dirty="0"/>
          </a:p>
        </p:txBody>
      </p:sp>
      <p:sp>
        <p:nvSpPr>
          <p:cNvPr id="7" name="card 2  SLACK_TAKEUP"/>
          <p:cNvSpPr/>
          <p:nvPr/>
        </p:nvSpPr>
        <p:spPr>
          <a:xfrm>
            <a:off x="2734056" y="868680"/>
            <a:ext cx="2258568" cy="1645920"/>
          </a:xfrm>
          <a:prstGeom prst="roundRect">
            <a:avLst>
              <a:gd name="adj" fmla="val 3333"/>
            </a:avLst>
          </a:prstGeom>
          <a:solidFill>
            <a:schemeClr val="bg2"/>
          </a:solidFill>
          <a:ln w="12700">
            <a:solidFill>
              <a:schemeClr val="bg2"/>
            </a:solidFill>
            <a:prstDash val="solid"/>
          </a:ln>
        </p:spPr>
      </p:sp>
      <p:sp>
        <p:nvSpPr>
          <p:cNvPr id="8" name="heading 2  SLACK_TAKEUP"/>
          <p:cNvSpPr txBox="1"/>
          <p:nvPr/>
        </p:nvSpPr>
        <p:spPr>
          <a:xfrm>
            <a:off x="2880360"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2  SLACK_TAKEUP</a:t>
            </a:r>
            <a:endParaRPr lang="en-US" sz="1000" dirty="0"/>
          </a:p>
        </p:txBody>
      </p:sp>
      <p:sp>
        <p:nvSpPr>
          <p:cNvPr id="9" name="bullets 2  SLACK_TAKEUP"/>
          <p:cNvSpPr txBox="1"/>
          <p:nvPr/>
        </p:nvSpPr>
        <p:spPr>
          <a:xfrm>
            <a:off x="2880360"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One cable at a time reeled in until the camera sees the claw slide or tip (onset)</a:t>
            </a:r>
            <a:endParaRPr lang="en-US" sz="900" dirty="0"/>
          </a:p>
          <a:p>
            <a:pPr algn="l" marL="152400" indent="-152400">
              <a:spcAft>
                <a:spcPts val="200"/>
              </a:spcAft>
              <a:buSzPct val="100000"/>
              <a:buChar char="•"/>
            </a:pPr>
            <a:r>
              <a:rPr lang="en-US" sz="900" dirty="0">
                <a:solidFill>
                  <a:schemeClr val="tx1"/>
                </a:solidFill>
              </a:rPr>
              <a:t>Records spool position and slide bearing; backs off</a:t>
            </a:r>
            <a:endParaRPr lang="en-US" sz="900" dirty="0"/>
          </a:p>
          <a:p>
            <a:pPr algn="l" marL="152400" indent="-152400">
              <a:spcAft>
                <a:spcPts val="200"/>
              </a:spcAft>
              <a:buSzPct val="100000"/>
              <a:buChar char="•"/>
            </a:pPr>
            <a:r>
              <a:rPr lang="en-US" sz="900" dirty="0">
                <a:solidFill>
                  <a:schemeClr val="tx1"/>
                </a:solidFill>
              </a:rPr>
              <a:t>Bearings checked against the anchor layout; first fit of cable lengths</a:t>
            </a:r>
            <a:endParaRPr lang="en-US" sz="900" dirty="0"/>
          </a:p>
        </p:txBody>
      </p:sp>
      <p:sp>
        <p:nvSpPr>
          <p:cNvPr id="10" name="card 3  INITIAL_LIFT"/>
          <p:cNvSpPr/>
          <p:nvPr/>
        </p:nvSpPr>
        <p:spPr>
          <a:xfrm>
            <a:off x="5102352" y="868680"/>
            <a:ext cx="2258568" cy="1645920"/>
          </a:xfrm>
          <a:prstGeom prst="roundRect">
            <a:avLst>
              <a:gd name="adj" fmla="val 3333"/>
            </a:avLst>
          </a:prstGeom>
          <a:solidFill>
            <a:schemeClr val="bg2"/>
          </a:solidFill>
          <a:ln w="12700">
            <a:solidFill>
              <a:schemeClr val="bg2"/>
            </a:solidFill>
            <a:prstDash val="solid"/>
          </a:ln>
        </p:spPr>
      </p:sp>
      <p:sp>
        <p:nvSpPr>
          <p:cNvPr id="11" name="heading 3  INITIAL_LIFT"/>
          <p:cNvSpPr txBox="1"/>
          <p:nvPr/>
        </p:nvSpPr>
        <p:spPr>
          <a:xfrm>
            <a:off x="5248656"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3  INITIAL_LIFT</a:t>
            </a:r>
            <a:endParaRPr lang="en-US" sz="1000" dirty="0"/>
          </a:p>
        </p:txBody>
      </p:sp>
      <p:sp>
        <p:nvSpPr>
          <p:cNvPr id="12" name="bullets 3  INITIAL_LIFT"/>
          <p:cNvSpPr txBox="1"/>
          <p:nvPr/>
        </p:nvSpPr>
        <p:spPr>
          <a:xfrm>
            <a:off x="5248656"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Pretension all cables; lift in small packets</a:t>
            </a:r>
            <a:endParaRPr lang="en-US" sz="900" dirty="0"/>
          </a:p>
          <a:p>
            <a:pPr algn="l" marL="152400" indent="-152400">
              <a:spcAft>
                <a:spcPts val="200"/>
              </a:spcAft>
              <a:buSzPct val="100000"/>
              <a:buChar char="•"/>
            </a:pPr>
            <a:r>
              <a:rPr lang="en-US" sz="900" dirty="0">
                <a:solidFill>
                  <a:schemeClr val="tx1"/>
                </a:solidFill>
              </a:rPr>
              <a:t>Abort on lateral drift, tilt, or commanded lift exceeding observed rise (slack cable)</a:t>
            </a:r>
            <a:endParaRPr lang="en-US" sz="900" dirty="0"/>
          </a:p>
        </p:txBody>
      </p:sp>
      <p:sp>
        <p:nvSpPr>
          <p:cNvPr id="13" name="card 4  VISUAL_INITIALIZATION"/>
          <p:cNvSpPr/>
          <p:nvPr/>
        </p:nvSpPr>
        <p:spPr>
          <a:xfrm>
            <a:off x="365760" y="2624328"/>
            <a:ext cx="2258568" cy="1645920"/>
          </a:xfrm>
          <a:prstGeom prst="roundRect">
            <a:avLst>
              <a:gd name="adj" fmla="val 3333"/>
            </a:avLst>
          </a:prstGeom>
          <a:solidFill>
            <a:schemeClr val="bg2"/>
          </a:solidFill>
          <a:ln w="12700">
            <a:solidFill>
              <a:schemeClr val="bg2"/>
            </a:solidFill>
            <a:prstDash val="solid"/>
          </a:ln>
        </p:spPr>
      </p:sp>
      <p:sp>
        <p:nvSpPr>
          <p:cNvPr id="14" name="heading 4  VISUAL_INITIALIZATION"/>
          <p:cNvSpPr txBox="1"/>
          <p:nvPr/>
        </p:nvSpPr>
        <p:spPr>
          <a:xfrm>
            <a:off x="512064"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4  VISUAL_INITIALIZATION</a:t>
            </a:r>
            <a:endParaRPr lang="en-US" sz="1000" dirty="0"/>
          </a:p>
        </p:txBody>
      </p:sp>
      <p:sp>
        <p:nvSpPr>
          <p:cNvPr id="15" name="bullets 4  VISUAL_INITIALIZATION"/>
          <p:cNvSpPr txBox="1"/>
          <p:nvPr/>
        </p:nvSpPr>
        <p:spPr>
          <a:xfrm>
            <a:off x="512064"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Settled frame batch of the floor board</a:t>
            </a:r>
            <a:endParaRPr lang="en-US" sz="900" dirty="0"/>
          </a:p>
          <a:p>
            <a:pPr algn="l" marL="152400" indent="-152400">
              <a:spcAft>
                <a:spcPts val="200"/>
              </a:spcAft>
              <a:buSzPct val="100000"/>
              <a:buChar char="•"/>
            </a:pPr>
            <a:r>
              <a:rPr lang="en-US" sz="900" dirty="0">
                <a:solidFill>
                  <a:schemeClr val="tx1"/>
                </a:solidFill>
              </a:rPr>
              <a:t>Refit cable lengths and the room-to-marker transform</a:t>
            </a:r>
            <a:endParaRPr lang="en-US" sz="900" dirty="0"/>
          </a:p>
        </p:txBody>
      </p:sp>
      <p:sp>
        <p:nvSpPr>
          <p:cNvPr id="16" name="card 5  CALIBRATION"/>
          <p:cNvSpPr/>
          <p:nvPr/>
        </p:nvSpPr>
        <p:spPr>
          <a:xfrm>
            <a:off x="2734056" y="2624328"/>
            <a:ext cx="2258568" cy="1645920"/>
          </a:xfrm>
          <a:prstGeom prst="roundRect">
            <a:avLst>
              <a:gd name="adj" fmla="val 3333"/>
            </a:avLst>
          </a:prstGeom>
          <a:solidFill>
            <a:schemeClr val="bg2"/>
          </a:solidFill>
          <a:ln w="12700">
            <a:solidFill>
              <a:schemeClr val="bg2"/>
            </a:solidFill>
            <a:prstDash val="solid"/>
          </a:ln>
        </p:spPr>
      </p:sp>
      <p:sp>
        <p:nvSpPr>
          <p:cNvPr id="17" name="heading 5  CALIBRATION"/>
          <p:cNvSpPr txBox="1"/>
          <p:nvPr/>
        </p:nvSpPr>
        <p:spPr>
          <a:xfrm>
            <a:off x="2880360"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5  CALIBRATION</a:t>
            </a:r>
            <a:endParaRPr lang="en-US" sz="1000" dirty="0"/>
          </a:p>
        </p:txBody>
      </p:sp>
      <p:sp>
        <p:nvSpPr>
          <p:cNvPr id="18" name="bullets 5  CALIBRATION"/>
          <p:cNvSpPr txBox="1"/>
          <p:nvPr/>
        </p:nvSpPr>
        <p:spPr>
          <a:xfrm>
            <a:off x="2880360"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Local → intermediate → expanded pose sets chosen by D-optimal design; refit between stages</a:t>
            </a:r>
            <a:endParaRPr lang="en-US" sz="900" dirty="0"/>
          </a:p>
          <a:p>
            <a:pPr algn="l" marL="152400" indent="-152400">
              <a:spcAft>
                <a:spcPts val="200"/>
              </a:spcAft>
              <a:buSzPct val="100000"/>
              <a:buChar char="•"/>
            </a:pPr>
            <a:r>
              <a:rPr lang="en-US" sz="900" dirty="0">
                <a:solidFill>
                  <a:schemeClr val="tx1"/>
                </a:solidFill>
              </a:rPr>
              <a:t>Held-out witness poses</a:t>
            </a:r>
            <a:endParaRPr lang="en-US" sz="900" dirty="0"/>
          </a:p>
          <a:p>
            <a:pPr algn="l" marL="152400" indent="-152400">
              <a:spcAft>
                <a:spcPts val="200"/>
              </a:spcAft>
              <a:buSzPct val="100000"/>
              <a:buChar char="•"/>
            </a:pPr>
            <a:r>
              <a:rPr lang="en-US" sz="900" dirty="0">
                <a:solidFill>
                  <a:schemeClr val="tx1"/>
                </a:solidFill>
              </a:rPr>
              <a:t>Accept on witness residuals, identifiability, predicted length sigma over the work volume</a:t>
            </a:r>
            <a:endParaRPr lang="en-US" sz="900" dirty="0"/>
          </a:p>
        </p:txBody>
      </p:sp>
      <p:sp>
        <p:nvSpPr>
          <p:cNvPr id="19" name="card 6  REFERENCE_VERIFICATION"/>
          <p:cNvSpPr/>
          <p:nvPr/>
        </p:nvSpPr>
        <p:spPr>
          <a:xfrm>
            <a:off x="5102352" y="2624328"/>
            <a:ext cx="2258568" cy="1645920"/>
          </a:xfrm>
          <a:prstGeom prst="roundRect">
            <a:avLst>
              <a:gd name="adj" fmla="val 3333"/>
            </a:avLst>
          </a:prstGeom>
          <a:solidFill>
            <a:schemeClr val="bg2"/>
          </a:solidFill>
          <a:ln w="12700">
            <a:solidFill>
              <a:schemeClr val="bg2"/>
            </a:solidFill>
            <a:prstDash val="solid"/>
          </a:ln>
        </p:spPr>
      </p:sp>
      <p:sp>
        <p:nvSpPr>
          <p:cNvPr id="20" name="heading 6  REFERENCE_VERIFICATION"/>
          <p:cNvSpPr txBox="1"/>
          <p:nvPr/>
        </p:nvSpPr>
        <p:spPr>
          <a:xfrm>
            <a:off x="5248656"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6  REFERENCE_VERIFICATION</a:t>
            </a:r>
            <a:endParaRPr lang="en-US" sz="1000" dirty="0"/>
          </a:p>
        </p:txBody>
      </p:sp>
      <p:sp>
        <p:nvSpPr>
          <p:cNvPr id="21" name="bullets 6  REFERENCE_VERIFICATION"/>
          <p:cNvSpPr txBox="1"/>
          <p:nvPr/>
        </p:nvSpPr>
        <p:spPr>
          <a:xfrm>
            <a:off x="5248656"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Optional bead references</a:t>
            </a:r>
            <a:endParaRPr lang="en-US" sz="900" dirty="0"/>
          </a:p>
          <a:p>
            <a:pPr algn="l" marL="152400" indent="-152400">
              <a:spcAft>
                <a:spcPts val="200"/>
              </a:spcAft>
              <a:buSzPct val="100000"/>
              <a:buChar char="•"/>
            </a:pPr>
            <a:r>
              <a:rPr lang="en-US" sz="900" dirty="0">
                <a:solidFill>
                  <a:schemeClr val="tx1"/>
                </a:solidFill>
              </a:rPr>
              <a:t>Trust level VERIFIED or LOCAL_ONLY from the margin check</a:t>
            </a:r>
            <a:endParaRPr lang="en-US" sz="900" dirty="0"/>
          </a:p>
        </p:txBody>
      </p:sp>
      <p:sp>
        <p:nvSpPr>
          <p:cNvPr id="22" name="rules"/>
          <p:cNvSpPr txBox="1"/>
          <p:nvPr/>
        </p:nvSpPr>
        <p:spPr>
          <a:xfrm>
            <a:off x="365760" y="4325112"/>
            <a:ext cx="690372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pic>
        <p:nvPicPr>
          <p:cNvPr id="23" name="The claw hanging on three cables" descr="The claw hanging on three cables">    </p:cNvPr>
          <p:cNvPicPr>
            <a:picLocks noChangeAspect="1"/>
          </p:cNvPicPr>
          <p:nvPr/>
        </p:nvPicPr>
        <p:blipFill>
          <a:blip r:embed="rId1"/>
          <a:stretch>
            <a:fillRect/>
          </a:stretch>
        </p:blipFill>
        <p:spPr>
          <a:xfrm>
            <a:off x="7498080" y="868680"/>
            <a:ext cx="1280160" cy="3511296"/>
          </a:xfrm>
          <a:prstGeom prst="rect">
            <a:avLst/>
          </a:prstGeom>
        </p:spPr>
      </p:pic>
      <p:sp>
        <p:nvSpPr>
          <p:cNvPr id="24" name="caption"/>
          <p:cNvSpPr txBox="1"/>
          <p:nvPr/>
        </p:nvSpPr>
        <p:spPr>
          <a:xfrm>
            <a:off x="7498080" y="4416552"/>
            <a:ext cx="1280160" cy="201168"/>
          </a:xfrm>
          <a:prstGeom prst="rect">
            <a:avLst/>
          </a:prstGeom>
          <a:noFill/>
          <a:ln/>
        </p:spPr>
        <p:txBody>
          <a:bodyPr wrap="square" lIns="0" tIns="0" rIns="0" bIns="0" rtlCol="0" anchor="ctr"/>
          <a:lstStyle/>
          <a:p>
            <a:pPr algn="l" indent="0" marL="0">
              <a:buNone/>
            </a:pPr>
            <a:r>
              <a:rPr lang="en-US" sz="850" dirty="0">
                <a:solidFill>
                  <a:schemeClr val="tx2"/>
                </a:solidFill>
              </a:rPr>
              <a:t>Suspended, before CALIBRATION</a:t>
            </a:r>
            <a:endParaRPr lang="en-US" sz="850" dirty="0"/>
          </a:p>
        </p:txBody>
      </p:sp>
      <p:sp>
        <p:nvSpPr>
          <p:cNvPr id="25"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737360" cy="2377440"/>
          </a:xfrm>
          <a:prstGeom prst="roundRect">
            <a:avLst>
              <a:gd name="adj" fmla="val 3158"/>
            </a:avLst>
          </a:prstGeom>
          <a:solidFill>
            <a:schemeClr val="bg2"/>
          </a:solidFill>
          <a:ln w="12700">
            <a:solidFill>
              <a:schemeClr val="bg2"/>
            </a:solidFill>
            <a:prstDash val="solid"/>
          </a:ln>
        </p:spPr>
      </p:sp>
      <p:sp>
        <p:nvSpPr>
          <p:cNvPr id="5" name="heading 3:1 printed gear stage"/>
          <p:cNvSpPr txBox="1"/>
          <p:nvPr/>
        </p:nvSpPr>
        <p:spPr>
          <a:xfrm>
            <a:off x="512064" y="960120"/>
            <a:ext cx="1444752" cy="274320"/>
          </a:xfrm>
          <a:prstGeom prst="rect">
            <a:avLst/>
          </a:prstGeom>
          <a:noFill/>
          <a:ln/>
        </p:spPr>
        <p:txBody>
          <a:bodyPr wrap="square" lIns="0" tIns="0" rIns="0" bIns="0" rtlCol="0" anchor="ctr"/>
          <a:lstStyle/>
          <a:p>
            <a:pPr indent="0" marL="0">
              <a:buNone/>
            </a:pPr>
            <a:r>
              <a:rPr lang="en-US" sz="1100" b="1" dirty="0">
                <a:solidFill>
                  <a:schemeClr val="tx1"/>
                </a:solidFill>
              </a:rPr>
              <a:t>3:1 printed gear stage</a:t>
            </a:r>
            <a:endParaRPr lang="en-US" sz="1100" dirty="0"/>
          </a:p>
        </p:txBody>
      </p:sp>
      <p:sp>
        <p:nvSpPr>
          <p:cNvPr id="6" name="bullets 3:1 printed gear stage"/>
          <p:cNvSpPr txBox="1"/>
          <p:nvPr/>
        </p:nvSpPr>
        <p:spPr>
          <a:xfrm>
            <a:off x="512064" y="1271016"/>
            <a:ext cx="1444752" cy="1883664"/>
          </a:xfrm>
          <a:prstGeom prst="rect">
            <a:avLst/>
          </a:prstGeom>
          <a:noFill/>
          <a:ln/>
        </p:spPr>
        <p:txBody>
          <a:bodyPr wrap="square" lIns="0" tIns="0" rIns="25400" bIns="0" rtlCol="0" anchor="t"/>
          <a:lstStyle/>
          <a:p>
            <a:pPr algn="l" marL="152400" indent="-152400">
              <a:spcAft>
                <a:spcPts val="200"/>
              </a:spcAft>
              <a:buSzPct val="100000"/>
              <a:buChar char="•"/>
            </a:pPr>
            <a:r>
              <a:rPr lang="en-US" sz="950" dirty="0">
                <a:solidFill>
                  <a:schemeClr val="tx1"/>
                </a:solidFill>
              </a:rPr>
              <a:t>18T / 54T spur, printed PETG pinion</a:t>
            </a:r>
            <a:endParaRPr lang="en-US" sz="950" dirty="0"/>
          </a:p>
          <a:p>
            <a:pPr algn="l" marL="152400" indent="-152400">
              <a:spcAft>
                <a:spcPts val="200"/>
              </a:spcAft>
              <a:buSzPct val="100000"/>
              <a:buChar char="•"/>
            </a:pPr>
            <a:r>
              <a:rPr lang="en-US" sz="950" dirty="0">
                <a:solidFill>
                  <a:schemeClr val="tx1"/>
                </a:solidFill>
              </a:rPr>
              <a:t>Designed and checked in CAD; pinion printed; not fitted</a:t>
            </a:r>
            <a:endParaRPr lang="en-US" sz="950" dirty="0"/>
          </a:p>
          <a:p>
            <a:pPr algn="l" marL="152400" indent="-152400">
              <a:spcAft>
                <a:spcPts val="200"/>
              </a:spcAft>
              <a:buSzPct val="100000"/>
              <a:buChar char="•"/>
            </a:pPr>
            <a:r>
              <a:rPr lang="en-US" sz="950" dirty="0">
                <a:solidFill>
                  <a:schemeClr val="tx1"/>
                </a:solidFill>
              </a:rPr>
              <a:t>2.7 x pull at 1.0 A, half the heat (calculated)</a:t>
            </a:r>
            <a:endParaRPr lang="en-US" sz="950" dirty="0"/>
          </a:p>
          <a:p>
            <a:pPr algn="l" marL="152400" indent="-152400">
              <a:spcAft>
                <a:spcPts val="200"/>
              </a:spcAft>
              <a:buSzPct val="100000"/>
              <a:buChar char="•"/>
            </a:pPr>
            <a:r>
              <a:rPr lang="en-US" sz="950" dirty="0">
                <a:solidFill>
                  <a:schemeClr val="tx1"/>
                </a:solidFill>
              </a:rPr>
              <a:t>Slip fuse moves to about 130 N (calculated)</a:t>
            </a:r>
            <a:endParaRPr lang="en-US" sz="950" dirty="0"/>
          </a:p>
        </p:txBody>
      </p:sp>
      <p:sp>
        <p:nvSpPr>
          <p:cNvPr id="7" name="card 1° draft on the dovetail"/>
          <p:cNvSpPr/>
          <p:nvPr/>
        </p:nvSpPr>
        <p:spPr>
          <a:xfrm>
            <a:off x="2212848" y="868680"/>
            <a:ext cx="1737360" cy="2377440"/>
          </a:xfrm>
          <a:prstGeom prst="roundRect">
            <a:avLst>
              <a:gd name="adj" fmla="val 3158"/>
            </a:avLst>
          </a:prstGeom>
          <a:solidFill>
            <a:schemeClr val="bg2"/>
          </a:solidFill>
          <a:ln w="12700">
            <a:solidFill>
              <a:schemeClr val="bg2"/>
            </a:solidFill>
            <a:prstDash val="solid"/>
          </a:ln>
        </p:spPr>
      </p:sp>
      <p:sp>
        <p:nvSpPr>
          <p:cNvPr id="8" name="heading 1° draft on the dovetail"/>
          <p:cNvSpPr txBox="1"/>
          <p:nvPr/>
        </p:nvSpPr>
        <p:spPr>
          <a:xfrm>
            <a:off x="2359152" y="960120"/>
            <a:ext cx="1444752" cy="274320"/>
          </a:xfrm>
          <a:prstGeom prst="rect">
            <a:avLst/>
          </a:prstGeom>
          <a:noFill/>
          <a:ln/>
        </p:spPr>
        <p:txBody>
          <a:bodyPr wrap="square" lIns="0" tIns="0" rIns="0" bIns="0" rtlCol="0" anchor="ctr"/>
          <a:lstStyle/>
          <a:p>
            <a:pPr indent="0" marL="0">
              <a:buNone/>
            </a:pPr>
            <a:r>
              <a:rPr lang="en-US" sz="1100" b="1" dirty="0">
                <a:solidFill>
                  <a:schemeClr val="tx1"/>
                </a:solidFill>
              </a:rPr>
              <a:t>1° draft on the dovetail</a:t>
            </a:r>
            <a:endParaRPr lang="en-US" sz="1100" dirty="0"/>
          </a:p>
        </p:txBody>
      </p:sp>
      <p:sp>
        <p:nvSpPr>
          <p:cNvPr id="9" name="bullets 1° draft on the dovetail"/>
          <p:cNvSpPr txBox="1"/>
          <p:nvPr/>
        </p:nvSpPr>
        <p:spPr>
          <a:xfrm>
            <a:off x="2359152" y="1271016"/>
            <a:ext cx="1444752" cy="1883664"/>
          </a:xfrm>
          <a:prstGeom prst="rect">
            <a:avLst/>
          </a:prstGeom>
          <a:noFill/>
          <a:ln/>
        </p:spPr>
        <p:txBody>
          <a:bodyPr wrap="square" lIns="0" tIns="0" rIns="25400" bIns="0" rtlCol="0" anchor="t"/>
          <a:lstStyle/>
          <a:p>
            <a:pPr algn="l" marL="152400" indent="-152400">
              <a:spcAft>
                <a:spcPts val="200"/>
              </a:spcAft>
              <a:buSzPct val="100000"/>
              <a:buChar char="•"/>
            </a:pPr>
            <a:r>
              <a:rPr lang="en-US" sz="950" dirty="0">
                <a:solidFill>
                  <a:schemeClr val="tx1"/>
                </a:solidFill>
              </a:rPr>
              <a:t>Today the slide-in binds on insertion</a:t>
            </a:r>
            <a:endParaRPr lang="en-US" sz="950" dirty="0"/>
          </a:p>
          <a:p>
            <a:pPr algn="l" marL="152400" indent="-152400">
              <a:spcAft>
                <a:spcPts val="200"/>
              </a:spcAft>
              <a:buSzPct val="100000"/>
              <a:buChar char="•"/>
            </a:pPr>
            <a:r>
              <a:rPr lang="en-US" sz="950" dirty="0">
                <a:solidFill>
                  <a:schemeClr val="tx1"/>
                </a:solidFill>
              </a:rPr>
              <a:t>Thicker at the top, thinning toward the bottom</a:t>
            </a:r>
            <a:endParaRPr lang="en-US" sz="950" dirty="0"/>
          </a:p>
          <a:p>
            <a:pPr algn="l" marL="152400" indent="-152400">
              <a:spcAft>
                <a:spcPts val="200"/>
              </a:spcAft>
              <a:buSzPct val="100000"/>
              <a:buChar char="•"/>
            </a:pPr>
            <a:r>
              <a:rPr lang="en-US" sz="950" dirty="0">
                <a:solidFill>
                  <a:schemeClr val="tx1"/>
                </a:solidFill>
              </a:rPr>
              <a:t>The station self-locates as it slides in (planned)</a:t>
            </a:r>
            <a:endParaRPr lang="en-US" sz="950" dirty="0"/>
          </a:p>
        </p:txBody>
      </p:sp>
      <p:sp>
        <p:nvSpPr>
          <p:cNvPr id="10" name="card Lighter back mount"/>
          <p:cNvSpPr/>
          <p:nvPr/>
        </p:nvSpPr>
        <p:spPr>
          <a:xfrm>
            <a:off x="4059936" y="868680"/>
            <a:ext cx="1737360" cy="2377440"/>
          </a:xfrm>
          <a:prstGeom prst="roundRect">
            <a:avLst>
              <a:gd name="adj" fmla="val 3158"/>
            </a:avLst>
          </a:prstGeom>
          <a:solidFill>
            <a:schemeClr val="bg2"/>
          </a:solidFill>
          <a:ln w="12700">
            <a:solidFill>
              <a:schemeClr val="bg2"/>
            </a:solidFill>
            <a:prstDash val="solid"/>
          </a:ln>
        </p:spPr>
      </p:sp>
      <p:sp>
        <p:nvSpPr>
          <p:cNvPr id="11" name="heading Lighter back mount"/>
          <p:cNvSpPr txBox="1"/>
          <p:nvPr/>
        </p:nvSpPr>
        <p:spPr>
          <a:xfrm>
            <a:off x="4206240" y="960120"/>
            <a:ext cx="1444752" cy="274320"/>
          </a:xfrm>
          <a:prstGeom prst="rect">
            <a:avLst/>
          </a:prstGeom>
          <a:noFill/>
          <a:ln/>
        </p:spPr>
        <p:txBody>
          <a:bodyPr wrap="square" lIns="0" tIns="0" rIns="0" bIns="0" rtlCol="0" anchor="ctr"/>
          <a:lstStyle/>
          <a:p>
            <a:pPr indent="0" marL="0">
              <a:buNone/>
            </a:pPr>
            <a:r>
              <a:rPr lang="en-US" sz="1100" b="1" dirty="0">
                <a:solidFill>
                  <a:schemeClr val="tx1"/>
                </a:solidFill>
              </a:rPr>
              <a:t>Lighter back mount</a:t>
            </a:r>
            <a:endParaRPr lang="en-US" sz="1100" dirty="0"/>
          </a:p>
        </p:txBody>
      </p:sp>
      <p:sp>
        <p:nvSpPr>
          <p:cNvPr id="12" name="bullets Lighter back mount"/>
          <p:cNvSpPr txBox="1"/>
          <p:nvPr/>
        </p:nvSpPr>
        <p:spPr>
          <a:xfrm>
            <a:off x="4206240" y="1271016"/>
            <a:ext cx="1444752" cy="1883664"/>
          </a:xfrm>
          <a:prstGeom prst="rect">
            <a:avLst/>
          </a:prstGeom>
          <a:noFill/>
          <a:ln/>
        </p:spPr>
        <p:txBody>
          <a:bodyPr wrap="square" lIns="0" tIns="0" rIns="25400" bIns="0" rtlCol="0" anchor="t"/>
          <a:lstStyle/>
          <a:p>
            <a:pPr algn="l" marL="152400" indent="-152400">
              <a:spcAft>
                <a:spcPts val="200"/>
              </a:spcAft>
              <a:buSzPct val="100000"/>
              <a:buChar char="•"/>
            </a:pPr>
            <a:r>
              <a:rPr lang="en-US" sz="950" dirty="0">
                <a:solidFill>
                  <a:schemeClr val="tx1"/>
                </a:solidFill>
              </a:rPr>
              <a:t>Today: about 200 x the motor's pull, 597 cm³ solid</a:t>
            </a:r>
            <a:endParaRPr lang="en-US" sz="950" dirty="0"/>
          </a:p>
          <a:p>
            <a:pPr algn="l" marL="152400" indent="-152400">
              <a:spcAft>
                <a:spcPts val="200"/>
              </a:spcAft>
              <a:buSzPct val="100000"/>
              <a:buChar char="•"/>
            </a:pPr>
            <a:r>
              <a:rPr lang="en-US" sz="950" dirty="0">
                <a:solidFill>
                  <a:schemeClr val="tx1"/>
                </a:solidFill>
              </a:rPr>
              <a:t>Thinner walls and ribs: about 200 cm³ (planned)</a:t>
            </a:r>
            <a:endParaRPr lang="en-US" sz="950" dirty="0"/>
          </a:p>
          <a:p>
            <a:pPr algn="l" marL="152400" indent="-152400">
              <a:spcAft>
                <a:spcPts val="200"/>
              </a:spcAft>
              <a:buSzPct val="100000"/>
              <a:buChar char="•"/>
            </a:pPr>
            <a:r>
              <a:rPr lang="en-US" sz="950" dirty="0">
                <a:solidFill>
                  <a:schemeClr val="tx1"/>
                </a:solidFill>
              </a:rPr>
              <a:t>Less print time and filament for anyone building it</a:t>
            </a:r>
            <a:endParaRPr lang="en-US" sz="950" dirty="0"/>
          </a:p>
        </p:txBody>
      </p:sp>
      <p:sp>
        <p:nvSpPr>
          <p:cNvPr id="13" name="card Not working yet / still planned"/>
          <p:cNvSpPr/>
          <p:nvPr/>
        </p:nvSpPr>
        <p:spPr>
          <a:xfrm>
            <a:off x="365760" y="3355848"/>
            <a:ext cx="5431536" cy="1261872"/>
          </a:xfrm>
          <a:prstGeom prst="roundRect">
            <a:avLst>
              <a:gd name="adj" fmla="val 4348"/>
            </a:avLst>
          </a:prstGeom>
          <a:solidFill>
            <a:schemeClr val="bg2"/>
          </a:solidFill>
          <a:ln w="12700">
            <a:solidFill>
              <a:schemeClr val="bg2"/>
            </a:solidFill>
            <a:prstDash val="solid"/>
          </a:ln>
        </p:spPr>
      </p:sp>
      <p:sp>
        <p:nvSpPr>
          <p:cNvPr id="14" name="heading Not working yet / still planned"/>
          <p:cNvSpPr txBox="1"/>
          <p:nvPr/>
        </p:nvSpPr>
        <p:spPr>
          <a:xfrm>
            <a:off x="512064" y="3447288"/>
            <a:ext cx="5138928" cy="274320"/>
          </a:xfrm>
          <a:prstGeom prst="rect">
            <a:avLst/>
          </a:prstGeom>
          <a:noFill/>
          <a:ln/>
        </p:spPr>
        <p:txBody>
          <a:bodyPr wrap="square" lIns="0" tIns="0" rIns="0" bIns="0" rtlCol="0" anchor="ctr"/>
          <a:lstStyle/>
          <a:p>
            <a:pPr indent="0" marL="0">
              <a:buNone/>
            </a:pPr>
            <a:r>
              <a:rPr lang="en-US" sz="1150" b="1" dirty="0">
                <a:solidFill>
                  <a:schemeClr val="tx1"/>
                </a:solidFill>
              </a:rPr>
              <a:t>Not working yet / still planned</a:t>
            </a:r>
            <a:endParaRPr lang="en-US" sz="1150" dirty="0"/>
          </a:p>
        </p:txBody>
      </p:sp>
      <p:sp>
        <p:nvSpPr>
          <p:cNvPr id="15" name="bullets Not working yet / still planned"/>
          <p:cNvSpPr txBox="1"/>
          <p:nvPr/>
        </p:nvSpPr>
        <p:spPr>
          <a:xfrm>
            <a:off x="512064" y="3758184"/>
            <a:ext cx="5138928" cy="768096"/>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Pull test at 1.5 A: the measured limit goes into the planner (planned)</a:t>
            </a:r>
            <a:endParaRPr lang="en-US" sz="1000" dirty="0"/>
          </a:p>
          <a:p>
            <a:pPr algn="l" marL="152400" indent="-152400">
              <a:spcAft>
                <a:spcPts val="300"/>
              </a:spcAft>
              <a:buSzPct val="100000"/>
              <a:buChar char="•"/>
            </a:pPr>
            <a:r>
              <a:rPr lang="en-US" sz="1000" dirty="0">
                <a:solidFill>
                  <a:schemeClr val="tx1"/>
                </a:solidFill>
              </a:rPr>
              <a:t>Hold test: 90 minutes at 1.5 A, motor below 60 °C (planned)</a:t>
            </a:r>
            <a:endParaRPr lang="en-US" sz="1000" dirty="0"/>
          </a:p>
          <a:p>
            <a:pPr algn="l" marL="152400" indent="-152400">
              <a:spcAft>
                <a:spcPts val="300"/>
              </a:spcAft>
              <a:buSzPct val="100000"/>
              <a:buChar char="•"/>
            </a:pPr>
            <a:r>
              <a:rPr lang="en-US" sz="1000" dirty="0">
                <a:solidFill>
                  <a:schemeClr val="tx1"/>
                </a:solidFill>
              </a:rPr>
              <a:t>First three-station lift: self-check, calibration, a short move with 1 lb (planned)</a:t>
            </a:r>
            <a:endParaRPr lang="en-US" sz="1000" dirty="0"/>
          </a:p>
        </p:txBody>
      </p:sp>
      <p:pic>
        <p:nvPicPr>
          <p:cNvPr id="16" name="Next-iteration station (CAD): 3:1 spur s" descr="Next-iteration station (CAD): 3:1 spur stage, motor pinion to spool gear; spool on its own shaft with the encoder magnet cap">    </p:cNvPr>
          <p:cNvPicPr>
            <a:picLocks noChangeAspect="1"/>
          </p:cNvPicPr>
          <p:nvPr/>
        </p:nvPicPr>
        <p:blipFill>
          <a:blip r:embed="rId1"/>
          <a:stretch>
            <a:fillRect/>
          </a:stretch>
        </p:blipFill>
        <p:spPr>
          <a:xfrm>
            <a:off x="5907024" y="868680"/>
            <a:ext cx="2871216" cy="2642627"/>
          </a:xfrm>
          <a:prstGeom prst="rect">
            <a:avLst/>
          </a:prstGeom>
        </p:spPr>
      </p:pic>
      <p:sp>
        <p:nvSpPr>
          <p:cNvPr id="17" name="caption"/>
          <p:cNvSpPr txBox="1"/>
          <p:nvPr/>
        </p:nvSpPr>
        <p:spPr>
          <a:xfrm>
            <a:off x="5907024" y="4416552"/>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3:1 spur stage from the motor pinion to the spool gear; spool on its own shaft, encoder magnet cap in green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2026-10-27T11:35:53Z</dcterms:created>
  <dcterms:modified xsi:type="dcterms:W3CDTF">2026-10-27T11:35:53Z</dcterms:modified>
</cp:coreProperties>
</file>