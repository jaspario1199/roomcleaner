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f2a909-4b8a-5038-680a-46ccd699014f}">
          <p14:sldIdLst>
            <p14:sldId id="256"/>
            <p14:sldId id="257"/>
          </p14:sldIdLst>
        </p14:section>
        <p14:section name="Scope" id="{f64e824d-e878-db1e-a800-af210c0d7078}">
          <p14:sldIdLst>
            <p14:sldId id="258"/>
          </p14:sldIdLst>
        </p14:section>
        <p14:section name="Fundamentals" id="{8781c910-a1c2-14e8-668c-2705a3b68e76}">
          <p14:sldIdLst>
            <p14:sldId id="259"/>
          </p14:sldIdLst>
        </p14:section>
        <p14:section name="Generation 1" id="{7e9b5366-1d5b-31a7-00ff-ee64ea0522d8}">
          <p14:sldIdLst>
            <p14:sldId id="260"/>
            <p14:sldId id="261"/>
          </p14:sldIdLst>
        </p14:section>
        <p14:section name="Homing" id="{113def54-44b6-0c24-9b23-cd88c24cda88}">
          <p14:sldIdLst>
            <p14:sldId id="262"/>
          </p14:sldIdLst>
        </p14:section>
        <p14:section name="What a winch needs" id="{1466c2e5-1751-9ae6-c1a8-54a99ac20dc1}">
          <p14:sldIdLst>
            <p14:sldId id="263"/>
          </p14:sldIdLst>
        </p14:section>
        <p14:section name="Modular box" id="{12eb4ac7-91d4-58ba-a2bb-8c1a1cd0cb52}">
          <p14:sldIdLst>
            <p14:sldId id="264"/>
            <p14:sldId id="265"/>
          </p14:sldIdLst>
        </p14:section>
        <p14:section name="Trade-offs" id="{25573a0f-607d-b1d4-5f8b-e8dc02190044}">
          <p14:sldIdLst>
            <p14:sldId id="266"/>
          </p14:sldIdLst>
        </p14:section>
        <p14:section name="Mount assembly" id="{ce953e65-5be7-8712-4c0a-f0f8b1514d75}">
          <p14:sldIdLst>
            <p14:sldId id="267"/>
            <p14:sldId id="268"/>
          </p14:sldIdLst>
        </p14:section>
        <p14:section name="Manufacturing" id="{91a9860f-2eb3-a444-284c-d63768aca5f5}">
          <p14:sldIdLst>
            <p14:sldId id="269"/>
          </p14:sldIdLst>
        </p14:section>
        <p14:section name="Claw" id="{acee1d6f-9aff-09af-fed5-d9d7df65b753}">
          <p14:sldIdLst>
            <p14:sldId id="270"/>
          </p14:sldIdLst>
        </p14:section>
        <p14:section name="Electrical and testing" id="{a8b5cb85-5938-eb5c-bc58-2a0e6cc0c60c}">
          <p14:sldIdLst>
            <p14:sldId id="271"/>
          </p14:sldIdLst>
        </p14:section>
        <p14:section name="Calibration" id="{af0532be-6f71-94e8-a168-2f20ac4cef0b}">
          <p14:sldIdLst>
            <p14:sldId id="272"/>
          </p14:sldIdLst>
        </p14:section>
        <p14:section name="Next iteration" id="{fe642fd2-6b00-eee5-89c6-97729c90a37d}">
          <p14:sldIdLst>
            <p14:sldId id="273"/>
          </p14:sldIdLst>
        </p14:section>
        <p14:section name="Close" id="{a9887020-50c5-0bac-8a47-7125f3de51c0}">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
Sources (value — tag — file/section):
0.60 kg claw with battery — measured (weighed 10/22) — DESIGN_STATE.md 'Claw weighed'; PANEL_FEEDBACK_ANSWERS slide 16
1 lb test weight — design (first gate) — DECISIONS.md D19
0.9 kg jeans — assumed (screening value, not weighed) — REQUIREMENTS.md CR6; DECK_V9_NOTES v9.1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(design; moved off the slide in v10.6 to make room for the variable definitions); CALCULATED, no tension measured on the rig (FUNDAMENTALS section 1). Figure: deck_v3/fig/position_vectors.png.
Sources (value — tag — file/section):
7.5 mm core radius (Ø15 core) — design — FUNDAMENTALS.md §2 supplied facts (spool CAD)
10 mm full-spool radius — calc (20 ft of 0.5 mm line wound on the core, 5 layers) — FUNDAMENTALS.md §2 substitution
47.1 / 62.8 mm per turn — calc (2π r) — FUNDAMENTALS.md §2 spool-core table
1.5 A — datasheet (rated) and design (chosen operating current) — DECISIONS.md D37; COST_BREAKDOWN §1 motor row
0.36 N·m holding torque, 1.5 A rated — datasheet (SIMAX3D NEMA 17 42-38 seller listing, ordered Aug 7) — DECISIONS.md D45; COST_BREAKDOWN §1
0.7 running fraction — assumed — FUNDAMENTALS.md §2 assumptions
8 in I = Vref/(8 R_s) — datasheet (A4988 current sense) — FUNDAMENTALS.md §2 equations
Vref — measured — FUNDAMENTALS.md §2 evidence line; DECISIONS.md D30
0.252 N·m, 34 N, 25 N — calc — on slide; calculations/lift_chain_weakest_link.json fuse.run_empty / run_full
0.454 kg (1 lb) — design — DECISIONS.md D19
0.45 kg claw budget — design — REQUIREMENTS.md R7
9.81 m/s² — handbook — FUNDAMENTALS.md §1 supplied facts
3.353 × 2.743 m room (half: 1.676, 1.372) — measured (Jasper's room) — FUNDAMENTALS.md §1 supplied facts
8.86 N, 2.166 m, 0.069, 32 / 16 / 8.3 / 4.6 N — calc — on slide; FUNDAMENTALS.md §1 table
0.15 / 0.3 / 0.6 / 1.2 m depths — design (evaluation points) — FUNDAMENTALS.md §1 table
0.4 m ceiling margin — design — DECISIONS.md D26; FUNDAMENTALS.md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
Sources (value — tag — file/section):
50 mm/s maximum cable speed — design — FUNDAMENTALS.md §2 supplied facts
0.05 s timing error — assumed — FUNDAMENTALS.md §9 assumptions (skew Δt = 50 ms)
2.5 mm — calc — on slide; FUNDAMENTALS.md §9 substitution
Oct 21 retirement of the ceiling camera — date — DECISIONS.md D33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
Sources (value — tag — file/section):
0.3 / 1.0 / 2.0 / 2.19 m homing heights — design (evaluation points) — calculations/bead_reach.py HEIGHTS
0.0 / 4.7 / 29.1 / 32.0 % reachable — calc (grid count of the condition) — calculations/bead_reach.json
Room and anchor positions in that model — measured room, design anchors — calculations/bead_reach.py docstring
150 mm tags, 250 mm pitch, nine sheets, id 0 origin — design — tools/print_floor_board.py; make_floor_board_figure.py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
Sources (value — tag — file/section):
10 conductors per corner — design (motor, switch, encoder wiring) — DECK_V9_NOTES.md v9.2 slide 10 row
6 / 21 / 23 / 32 ft cable routes — measured (room layout) — DECK_V2_OUTLINE.md line 85; FUNDAMENTALS.md §10
82 ft, 820 ft (250 m)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
Sources (value — tag — file/section):
12 V supply — datasheet (label) — FUNDAMENTALS.md §10 supplied facts
82 ft routes — measured — DECK_V2_OUTLINE.md line 85
164 ft (50 m) — calc — on slide
ρ = 1.724e-8 Ω·m (copper, 20 °C) — handbook — FUNDAMENTALS.md §10 assumptions
L = 32 ft (9.75 m) longest branch — measured (room layout) — FUNDAMENTALS.md §10 supplied facts
I = 2 A — assumed (illustrative) — FUNDAMENTALS.md §10; PANEL_FEEDBACK_ANSWERS wire item
24 AWG Gen 1 motor leads — measured (Jasper, 10/27) — DOWN_THE_LINE.md 'Wiring'
0.205 / 1.309 mm² — handbook (AWG formula, d = 0.127 mm × 92^((36−n)/39)) — FUNDAMENTALS.md §10 supplied facts
16 AWG power pair — design — FUNDAMENTALS.md §10 'Decision it explains'
1.64 Ω, 3.29 V, 27 %, 6.6 W; 0.257 Ω, 0.51 V, 4.3 %, 1.0 W — calc (same formula) — on slide; FUNDAMENTALS.md §10 table (16 AWG)
$30 per 100 ft — assumed (typical price, 'est.') — COST_BREAKDOWN §1 16 AWG row
65 ft for three stations — design (cut list) — COST_BREAKDOWN §1 wiring note; POWER_WIRE_CUT_LIST_20261021.md
$19.50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15.7 N with a = 1 m/s^2 (design, D45; was 2 m/s^2 assumed), against the 16.8 N winch limit; with jeans the claw stays at least 0.54 m down (recomputed, FUNDAMENTALS section 1 method).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1.50 x 1.008 x 9.81 = 14.8 N (was 16.2 N at 2 m/s^2; calculations/lift_chain_weakest_link.md 'Demand and the fuse'; slide 17 row). Weight: 0.45 kg budget (R7), 0.86 kg CAD estimate with battery, 0.60 kg weighed 10/22 (PANEL_FEEDBACK_ANSWERS slide 16); capacity m = F_design / (k g); the LP factor 1.101 (lift_chain_weakest_link.py K_TENSION) included 2 m/s^2, so it is NOT 1 + a/g: k_geo = 1.101 / 1.204 = 0.915, and with a = 1 m/s^2 k = 0.915 x 1.102 = 1.008 (tension is linear in the vertical load); 16.8 / (1.008 x 9.81) = 1.70 kg (was 1.56 kg); (1.70 - 1.50) / 1.50 = 13 % (was 4 %). Motor temperature chart: two-node thermal network (fin_sizing_4w.py), input P = I^2 R = 1.5^2 x 1.8 = 4.05 W; no temperature measured. Tension Need line: 1 lb + 0.60 kg claw at d 0.4 m: 1.054 x 10.81 / (4 x 0.1816) = 15.7 N (was 17.1 N); jeans + claw 1.50 kg: 16.8 N reached at d = 0.54 m (was 0.59 m), 15.2 N at 0.6 m (was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
Sources (value — tag — file/section):
0.60 kg claw — measured — DESIGN_STATE.md 'Claw weighed'
1 lb — design — D19; 0.9 kg jeans — assumed — REQUIREMENTS.md CR6
1 m/s² — design (maximum commanded claw acceleration; was 2 m/s² assumed) — DECISIONS.md D45
15.7 N at d 0.4 m (1 lb + claw), jeans d ≥ 0.54 m — calc — on slide (T = m(g + a)/(4 sin φ), D_h 2.166 m)
16.8 N limit — calc (25.2 N ÷ 1.5) — calculations/lift_chain_weakest_link.json design_force
1.5 skip margin — design — FUNDAMENTALS.md §2 assumptions
60 °C PETG limit — design (target for loaded printed parts) — FUNDAMENTALS.md §3; DECISIONS.md D37, D38
Motor case temperatures on the chart — sim (two-node thermal network) — calculations/fin_sizing_4w.py / .md; deck_v8 sheet_motor_temperature
1.8 Ω per phase — research: comparable 42x38 NEMA 17 datasheets 1.5–1.65 Ω (Pololu #2267 1.65 Ω at 1.68 A; similar 1.68 A listing 1.5 Ω); 1.8 Ω conservative; SIMAX3D listing gives no resistance — DECISIONS D45/D46
4.05 W — calc — on slide
0.36 N·m — datasheet; 0.7 — assumed; 7.5 mm — design; 10 mm — calc (winding) — FUNDAMENTALS.md §2
34 / 25 N — calc — on slide
0.915 worst-cable factor per unit m(g + a) — sim (linear program), rescaled from 1.101, which included 2 m/s² — calculations/lift_chain_weakest_link.py K_TENSION; DECISIONS.md D45
1.102 = 1 + a/g — calc — DECISIONS.md D45
1.008, 1.70 kg, +13 %, 14.8 N — calc — on slide
0.86 kg CAD estimate — calc (CAD volumes at solid density) — PANEL_FEEDBACK_ANSWERS slide 16; DESIGN_STATE.md
0.45 kg budget — design — REQUIREMENTS.md R7
Weakest-link bars — calc (hand calcs and published strengths) — calculations/lift_chain_weakest_link.md ranking table
48 N motor slip — calc — on slide
1.0 A earlier setting — design — DECISIONS.md D30 (1.06 A cap); 1.5 / 2.25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
Sources (value — tag — file/section):
0.175 mm per side offset — design (CAD) — deck_v8 fits table; PANEL_FEEDBACK_ANSWERS fits row
Fit coupons — measured (Jasper, 10/27, no photos) — BUILD_NOTE v10.3; lead commit cbf58a4
0.36 N·m — datasheet; 7.5 mm — design; 48 N — calc — FUNDAMENTALS.md §2; lift_chain_weakest_link.json fuse.slip_empty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Fin alloy 6061, confirmed by Jasper (DECISIONS D45). Radiation q_rad = eps sigma A (Ts^4 - Tinf^4), h_rad = eps sigma (Ts + Tinf)(Ts^2 + Tinf^2) = 6.75 eps W/m^2K at 50 / 23 C; bare Al eps 0.05-0.09, black paint 0.92-0.96 (handbook tables, D45); natural convection h = 1.42 (dT/L)^0.25 = 4.84 W/m^2K at dT 27 K, L 0.2 m; total 5.3 (eps 0.07) to 10.9 W/m^2K (eps 0.9, the fin model value), D45.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Motor: SIMAX3D NEMA 17 42-38, 36 N.cm, 1.5 A, seller listing (D45). Photos 32, 33 (README rows).
Sources (value — tag — file/section):
6061 fin alloy — design (confirmed by Jasper) — DECISIONS.md D45
σ = 5.67e-8 W/m²K⁴ — handbook
Ts 50 °C, T∞ 23 °C — design (evaluation temperatures) — DECISIONS.md D45
6.75·ε W/m²K — calc — on slide (D45 quotes 6.74)
ε bare Al 0.05–0.09, black paint 0.92–0.96 — handbook (emissivity tables) — DECISIONS.md D45
h = 1.42 (ΔT/L)^0.25, 4.8 W/m²K, L 0.2 m — calc (handbook natural-convection correlation) — DECISIONS.md D45
5.3 → 10.9 W/m²K (ε 0.07 → 0.9) — calc — on slide; DECISIONS.md D45
1.5 A — datasheet (rated) — DECISIONS.md D37; COST_BREAKDOWN §1
1.8 Ω per phase — research: comparable 42x38 NEMA 17 datasheets 1.5–1.65 Ω (Pololu #2267 1.65 Ω at 1.68 A; similar 1.68 A listing 1.5 Ω); 1.8 Ω conservative; SIMAX3D listing gives no resistance — DECISIONS D45/D46
4.05 W — calc — on slide
12 V — datasheet (supply label) — FUNDAMENTALS.md §10
1° draft — design (next iteration) — DECK_V9_NOTES.md slide 24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
Sources (value — tag — file/section):
0.4 mm nozzle, 0.20 mm layers, 30° supports — design (slicer settings) — photos/README rows 20, 26; COST_BREAKDOWN §2
±0.1 mm hole pattern, ±0.5 mm sheared edges — design (drawing tolerances) — DECISION_STORIES.md T31/T32 (line 277)
Ø5.2 bore — design; too tight — measured (would not go on); Ø5.0 shaft — datasheet; Ø5.45 — design — FUNDAMENTALS.md §12
0.175 mm, 30° — design — deck_v8 fits table
Ø14.075 / Ø14.000, 8 T-slots — design — FUNDAMENTALS.md §12 supplied facts
Fit coupons — measured (Jasper, 10/27) — BUILD_NOTE v10.3
TPU 95A — datasheet (durometer) — COST_BREAKDOWN §2
1.27 g/cm³ PETG density — handbook — COST_BREAKDOWN §2
Fill factors — assumed — COST_BREAKDOWN §2
0.762 kg per station, 2.52 kg for three — calc — COST_BREAKDOWN §2 table
$15/kg — assumed (estimated pack price) — COST_BREAKDOWN §2
$11.43, $37.74 — calc — on slide; COST_BREAKDOWN §2
$210.78 — sum of listing prices, partly recorded, partly assumed — COST_BREAKDOWN headline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 N = m(g + a)/(2 mu) = 0.9 x 10.81 / 0.6 = 16.2 N per jaw at mu 0.3, 8.1 N at mu 0.6 (was 17.7 / 8.9 N at 2 m/s^2); a = 1 m/s^2 (D45). Cloth friction (DECISIONS D45): garment fabrics 0.22-0.38, special fabrics 0.52-0.62, denim on skin 0.14-0.44, simulation guidance for cotton/polyester twills 0.5-0.65, an informal incline test 0.74-0.89 for denim/cotton on plastic; none is fabric on PETG; mu 0.3 kept as the worst case until a sled pull on the printed jaws (ASTM D1894-style). Camera bay in the electronics housing, the camera looks down the tube (moved off the slide in v10.6). 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
Sources (value — tag — file/section):
0.9 kg jeans — assumed; a = 1 m/s² — design; 9.81 — handbook — DECISIONS.md D45
μ 0.3 — worst case from published ranges; μ 0.6 — TPU pad case — DECISIONS.md D45; FUNDAMENTALS.md §5
16.2 N, 8.1 N per jaw — calc — on slide
Fabric friction 0.22–0.38, 0.52–0.62, denim on skin 0.14–0.44 — handbook / literature — DECISIONS.md D45
53 mm opening — design (CAD) — DECK_V9_NOTES.md slide 18 row
7.4 V pack — datasheet; 6 V, 5 V — design setpoints — DECK_V9_NOTES.md slide 18 row; COST_BREAKDOWN §1
0.60 kg — measured; 0.45 kg — design — DESIGN_STATE.md; REQUIREMENTS.md R7
77.4 mm closed width, 18 mm pinion radius, 120° (2.09 rad) travel — design (Sep 30 CAD) — v9 slide 18 notes (geometry audit)
2.0 mm gap — calc — on slide
2,061 g v6 clamp in CAD at 100 % solid PETG — calc — DECISION_STORIES.md T35
450 g budget — design — REQUIREMENTS.md R7; 4.6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
Sources (value — tag — file/section):
12 V supply — datasheet (label) — FUNDAMENTALS.md §10
Bench checklist pass — measured — DECK_V9_NOTES.md slides 20,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assumed and conservative (DECISIONS D45: Niemann mesh-loss factor H_v = 0.167 for 18T/54T module 1, 20 deg, eps1 0.765, eps2 0.884; eta_mesh = 1 - mu H_v = 0.92-0.97 for mu 0.2-0.5; no published efficiency for printed PETG spur gears; a torque-in/torque-out test replaces it; winch_gear3.json ratio, eta): 3 x 0.9 = 2.7x torque at the spool at equal current; heat at 1.0 A vs 1.5 A: (1.0/1.5)^2 = 0.44 (1.8 W vs 4.05 W, winch_gear3.json heat). Still planned, no result: pull test, hold test, first three-station lift (slide 25 and 26 rows). The dashed box is for Jasper's new CAD.
Sources (value — tag — file/section):
18T / 54T, ratio 3 — design — DECISIONS.md D40, D41
0.9 stage efficiency — assumed, conservative — DECISIONS.md D45; calculations/winch_gear3.md
module 1, 20° pressure angle, u = 3 — design — DECISIONS.md D40, D41, D45
ε1 0.765, ε2 0.884, H_v 0.167, η_mesh 0.92–0.97 — calc (Niemann loss factor) — DECISIONS.md D45
μ 0.2–0.5 dry polymer gear friction — assumed — DECISIONS.md D45
2.7, 0.44 — calc — on slide
1.0 A — design (proposed gear-stage setting) — calculations/winch_gear3.json currents
1° draft — design — DECK_V9_NOTES.md slide 24 row
597 cm³ — design (SolidWorks volume) — COST_BREAKDOWN §2
about 200 cm³ — planned — DECK_V9_NOTES.md slide 24 row
1.5 A test current — design; 90 min hold test — planned; 60 °C — design — DECISIONS.md D37, D38
1 lb — design — DECISIONS.md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the claw moves: 0.60 kg (measured)</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(design), then jeans, 0.9 kg (assumed)</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300"/>
              </a:spcAft>
              <a:buSzPct val="100000"/>
              <a:buChar char="•"/>
            </a:pPr>
            <a:r>
              <a:rPr lang="en-US" sz="900" dirty="0">
                <a:solidFill>
                  <a:srgbClr val="000000"/>
                </a:solidFill>
              </a:rPr>
              <a:t>where L_i: cable length, mount i to claw (m); a_i: cable exit point at mount i; p: claw position; r: spool radius incl. wound line (mm)</a:t>
            </a:r>
            <a:endParaRPr lang="en-US" sz="1200" dirty="0"/>
          </a:p>
          <a:p>
            <a:pPr algn="l" marL="152400" indent="-152400">
              <a:spcAft>
                <a:spcPts val="300"/>
              </a:spcAft>
              <a:buSzPct val="100000"/>
              <a:buChar char="•"/>
            </a:pPr>
            <a:r>
              <a:rPr lang="en-US" sz="900" dirty="0">
                <a:solidFill>
                  <a:srgbClr val="000000"/>
                </a:solidFill>
              </a:rPr>
              <a:t>Line per spool turn = 2π·r: 2π × 7.5 mm core (design) = 47.1 mm → 2π × 10 mm full spool (calc, 20 ft wound) = 62.8 mm (calc)</a:t>
            </a:r>
            <a:endParaRPr lang="en-US" sz="1200" dirty="0"/>
          </a:p>
          <a:p>
            <a:pPr algn="l" marL="152400" indent="-152400">
              <a:spcAft>
                <a:spcPts val="300"/>
              </a:spcAft>
              <a:buSzPct val="100000"/>
              <a:buChar char="•"/>
            </a:pPr>
            <a:r>
              <a:rPr lang="en-US" sz="900" dirty="0">
                <a:solidFill>
                  <a:srgbClr val="000000"/>
                </a:solidFill>
              </a:rPr>
              <a:t>Four cable lengths, three position unknowns: overdetermined, solved by least squares</a:t>
            </a:r>
            <a:endParaRPr lang="en-US" sz="1200" dirty="0"/>
          </a:p>
          <a:p>
            <a:pPr algn="l" marL="152400" indent="-152400">
              <a:spcAft>
                <a:spcPts val="300"/>
              </a:spcAft>
              <a:buSzPct val="100000"/>
              <a:buChar char="•"/>
            </a:pPr>
            <a:r>
              <a:rPr lang="en-US" sz="900" dirty="0">
                <a:solidFill>
                  <a:srgbClr val="000000"/>
                </a:solidFill>
              </a:rPr>
              <a:t>The camera on the floor board fixes the anchors and cable lengths at startup (calibration)</a:t>
            </a:r>
            <a:endParaRPr lang="en-US" sz="1200" dirty="0"/>
          </a:p>
          <a:p>
            <a:pPr algn="l" marL="152400" indent="-152400">
              <a:spcAft>
                <a:spcPts val="300"/>
              </a:spcAft>
              <a:buSzPct val="100000"/>
              <a:buChar char="•"/>
            </a:pPr>
            <a:r>
              <a:rPr lang="en-US" sz="900" dirty="0">
                <a:solidFill>
                  <a:srgbClr val="000000"/>
                </a:solidFill>
              </a:rPr>
              <a:t>Validated in the simulator and by held-out poses during calibration (sim);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800"/>
              </a:spcAft>
              <a:buNone/>
            </a:pPr>
            <a:r>
              <a:rPr lang="en-US" sz="1200" b="1" dirty="0">
                <a:solidFill>
                  <a:srgbClr val="000000"/>
                </a:solidFill>
              </a:rPr>
              <a:t>Torque → pull on the line</a:t>
            </a:r>
            <a:endParaRPr lang="en-US" sz="1200" dirty="0"/>
          </a:p>
          <a:p>
            <a:pPr algn="l" marL="152400" indent="-152400">
              <a:spcAft>
                <a:spcPts val="300"/>
              </a:spcAft>
              <a:buSzPct val="100000"/>
              <a:buChar char="•"/>
            </a:pPr>
            <a:r>
              <a:rPr lang="en-US" sz="900" dirty="0">
                <a:solidFill>
                  <a:srgbClr val="000000"/>
                </a:solidFill>
              </a:rPr>
              <a:t>where I: phase current (A); Vref: driver reference voltage (V); R_s: current-sense resistor (Ω); τ_hold: holding torque at I (N·m); τ_rated, I_rated: listed holding torque and current; τ_run: running torque (N·m); F: line pull (N); r: spool radius (m)</a:t>
            </a:r>
            <a:endParaRPr lang="en-US" sz="1200" dirty="0"/>
          </a:p>
          <a:p>
            <a:pPr algn="l" marL="152400" indent="-152400">
              <a:spcAft>
                <a:spcPts val="300"/>
              </a:spcAft>
              <a:buSzPct val="100000"/>
              <a:buChar char="•"/>
            </a:pPr>
            <a:r>
              <a:rPr lang="en-US" sz="900" dirty="0">
                <a:solidFill>
                  <a:srgbClr val="000000"/>
                </a:solidFill>
              </a:rPr>
              <a:t>At 1.5 A (rated; chosen, design): τ_run = 0.7 (assumed) × 0.36 N·m = 0.252 N·m (1.5 A, 0.36 N·m: datasheet, SIMAX3D NEMA 17 42-38 seller listing); F = 0.252 / 0.0075 m = 34 N empty, 0.252 / 0.010 m = 25 N full (calc)</a:t>
            </a:r>
            <a:endParaRPr lang="en-US" sz="1200" dirty="0"/>
          </a:p>
          <a:p>
            <a:pPr algn="l" marL="152400" indent="-152400">
              <a:spcAft>
                <a:spcPts val="300"/>
              </a:spcAft>
              <a:buSzPct val="100000"/>
              <a:buChar char="•"/>
            </a:pPr>
            <a:r>
              <a:rPr lang="en-US" sz="900" dirty="0">
                <a:solidFill>
                  <a:srgbClr val="000000"/>
                </a:solidFill>
              </a:rPr>
              <a:t>Validated: Vref on the board (measured); 0.7 running fraction (assumed); pull test (planned)</a:t>
            </a:r>
            <a:endParaRPr lang="en-US" sz="1200" dirty="0"/>
          </a:p>
        </p:txBody>
      </p:sp>
      <p:sp>
        <p:nvSpPr>
          <p:cNvPr id="9" name="equation box"/>
          <p:cNvSpPr/>
          <p:nvPr/>
        </p:nvSpPr>
        <p:spPr>
          <a:xfrm>
            <a:off x="3377184" y="1271016"/>
            <a:ext cx="2389632" cy="1188770"/>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1042466"/>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300"/>
              </a:spcAft>
              <a:buSzPct val="100000"/>
              <a:buChar char="•"/>
            </a:pPr>
            <a:r>
              <a:rPr lang="en-US" sz="900" dirty="0">
                <a:solidFill>
                  <a:srgbClr val="000000"/>
                </a:solidFill>
              </a:rPr>
              <a:t>where T: tension per cable (N); W: supported weight (N); φ: cable angle above horizontal; d: claw depth below the anchors (m); D_h: horizontal distance, claw to anchor (m)</a:t>
            </a:r>
            <a:endParaRPr lang="en-US" sz="1200" dirty="0"/>
          </a:p>
          <a:p>
            <a:pPr algn="l" marL="152400" indent="-152400">
              <a:spcAft>
                <a:spcPts val="300"/>
              </a:spcAft>
              <a:buSzPct val="100000"/>
              <a:buChar char="•"/>
            </a:pPr>
            <a:r>
              <a:rPr lang="en-US" sz="900" dirty="0">
                <a:solidFill>
                  <a:srgbClr val="000000"/>
                </a:solidFill>
              </a:rPr>
              <a:t>W = (0.454 kg test, design + 0.45 kg claw budget, design) × 9.81 (handbook) = 8.86 N (calc)</a:t>
            </a:r>
            <a:endParaRPr lang="en-US" sz="1200" dirty="0"/>
          </a:p>
          <a:p>
            <a:pPr algn="l" marL="152400" indent="-152400">
              <a:spcAft>
                <a:spcPts val="300"/>
              </a:spcAft>
              <a:buSzPct val="100000"/>
              <a:buChar char="•"/>
            </a:pPr>
            <a:r>
              <a:rPr lang="en-US" sz="900" dirty="0">
                <a:solidFill>
                  <a:srgbClr val="000000"/>
                </a:solidFill>
              </a:rPr>
              <a:t>D_h = √(1.676² + 1.372²) = 2.166 m (calc; half the 3.353 × 2.743 m room, measured)</a:t>
            </a:r>
            <a:endParaRPr lang="en-US" sz="1200" dirty="0"/>
          </a:p>
          <a:p>
            <a:pPr algn="l" marL="152400" indent="-152400">
              <a:spcAft>
                <a:spcPts val="300"/>
              </a:spcAft>
              <a:buSzPct val="100000"/>
              <a:buChar char="•"/>
            </a:pPr>
            <a:r>
              <a:rPr lang="en-US" sz="900" dirty="0">
                <a:solidFill>
                  <a:srgbClr val="000000"/>
                </a:solidFill>
              </a:rPr>
              <a:t>d = 0.15 m: 8.86 / (4 × 0.069) = 32 N; 16 / 8.3 / 4.6 N at d = 0.3 / 0.6 / 1.2 m (calc)</a:t>
            </a:r>
            <a:endParaRPr lang="en-US" sz="1200" dirty="0"/>
          </a:p>
          <a:p>
            <a:pPr algn="l" marL="152400" indent="-152400">
              <a:spcAft>
                <a:spcPts val="300"/>
              </a:spcAft>
              <a:buSzPct val="100000"/>
              <a:buChar char="•"/>
            </a:pPr>
            <a:r>
              <a:rPr lang="en-US" sz="900" dirty="0">
                <a:solidFill>
                  <a:srgbClr val="000000"/>
                </a:solidFill>
              </a:rPr>
              <a:t>Shallow cable: T ≈ W·D_h / (4d), so halving the depth doubles the tension</a:t>
            </a:r>
            <a:endParaRPr lang="en-US" sz="1200" dirty="0"/>
          </a:p>
          <a:p>
            <a:pPr algn="l" marL="152400" indent="-152400">
              <a:spcAft>
                <a:spcPts val="300"/>
              </a:spcAft>
              <a:buSzPct val="100000"/>
              <a:buChar char="•"/>
            </a:pPr>
            <a:r>
              <a:rPr lang="en-US" sz="9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max cable speed (design) × 0.05 s timing error (assumed) = 2.5 mm (calc)</a:t>
            </a:r>
            <a:endParaRPr lang="en-US" sz="1250" dirty="0"/>
          </a:p>
          <a:p>
            <a:pPr algn="l" marL="152400" indent="-152400">
              <a:spcAft>
                <a:spcPts val="600"/>
              </a:spcAft>
              <a:buSzPct val="100000"/>
              <a:buChar char="•"/>
            </a:pPr>
            <a:r>
              <a:rPr lang="en-US" sz="1100" dirty="0">
                <a:solidFill>
                  <a:srgbClr val="000000"/>
                </a:solidFill>
              </a:rPr>
              <a:t>where Δx: cable length mismatch between winches (mm); v: cable speed (mm/s); Δt: timing error between motors (s)</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where a_i: cable exit point at mount i; p: claw position; L_i,home: cable length at the homing pose (m)</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 grid count of the condition over the working volume (calc): 0.0 % (home 0.3 m) to 32.0 % (home 2.19 m); 4.7 % at 1.0 m, 29.1 % at 2.0 m; homing heights (design)</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where a_i: cable exit point at mount i; p: claw position; L_i: cable length from mount to claw (m)</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 (all design)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136876" y="2697480"/>
            <a:ext cx="1716568" cy="182880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 (design)</a:t>
            </a:r>
            <a:endParaRPr lang="en-US" sz="1250" dirty="0"/>
          </a:p>
          <a:p>
            <a:pPr algn="l" marL="152400" indent="-152400">
              <a:spcAft>
                <a:spcPts val="500"/>
              </a:spcAft>
              <a:buSzPct val="100000"/>
              <a:buChar char="•"/>
            </a:pPr>
            <a:r>
              <a:rPr lang="en-US" sz="1100" dirty="0">
                <a:solidFill>
                  <a:srgbClr val="000000"/>
                </a:solidFill>
              </a:rPr>
              <a:t>Routes 6 + 21 + 23 + 32 ft (measured) = 82 ft; × 10 = 820 ft (250 m) of wire to one box (calc)</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 (supply label, datasheet)</a:t>
            </a:r>
            <a:endParaRPr lang="en-US" sz="1250" dirty="0"/>
          </a:p>
          <a:p>
            <a:pPr algn="l" marL="152400" indent="-152400">
              <a:spcAft>
                <a:spcPts val="500"/>
              </a:spcAft>
              <a:buSzPct val="100000"/>
              <a:buChar char="•"/>
            </a:pPr>
            <a:r>
              <a:rPr lang="en-US" sz="1100" dirty="0">
                <a:solidFill>
                  <a:srgbClr val="000000"/>
                </a:solidFill>
              </a:rPr>
              <a:t>82 ft of routes (measured) × 2 conductors = 164 ft (50 m), not 820 ft (calc)</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200"/>
              </a:spcAft>
              <a:buSzPct val="100000"/>
              <a:buChar char="•"/>
            </a:pPr>
            <a:r>
              <a:rPr lang="en-US" sz="900" dirty="0">
                <a:solidFill>
                  <a:srgbClr val="000000"/>
                </a:solidFill>
              </a:rPr>
              <a:t>V = I·ρ·2L/A; ρ = 1.724×10⁻⁸ Ω·m (handbook), L = 9.75 m / 32 ft one way (measured), I = 2 A (assumed)</a:t>
            </a:r>
            <a:endParaRPr lang="en-US" sz="1250" dirty="0"/>
          </a:p>
          <a:p>
            <a:pPr algn="l" marL="152400" indent="-152400">
              <a:spcAft>
                <a:spcPts val="200"/>
              </a:spcAft>
              <a:buSzPct val="100000"/>
              <a:buChar char="•"/>
            </a:pPr>
            <a:r>
              <a:rPr lang="en-US" sz="900" dirty="0">
                <a:solidFill>
                  <a:srgbClr val="000000"/>
                </a:solidFill>
              </a:rPr>
              <a:t>where V: voltage drop (V); I: current (A); ρ: copper resistivity (Ω·m); L: one-way run length (m); A: conductor area (m²); R = ρ·2L/A: loop resistance (Ω); P = I²·R: power lost in the wire (W)</a:t>
            </a:r>
            <a:endParaRPr lang="en-US" sz="1250" dirty="0"/>
          </a:p>
          <a:p>
            <a:pPr algn="l" marL="152400" indent="-152400">
              <a:spcAft>
                <a:spcPts val="200"/>
              </a:spcAft>
              <a:buSzPct val="100000"/>
              <a:buChar char="•"/>
            </a:pPr>
            <a:r>
              <a:rPr lang="en-US" sz="900" dirty="0">
                <a:solidFill>
                  <a:srgbClr val="000000"/>
                </a:solidFill>
              </a:rPr>
              <a:t>24 AWG Gen 1 motor leads (measured), A = 0.205 mm² (handbook): R = 1.64 Ω, 3.29 V (27 % of 12 V), 6.6 W (calc)</a:t>
            </a:r>
            <a:endParaRPr lang="en-US" sz="1250" dirty="0"/>
          </a:p>
          <a:p>
            <a:pPr algn="l" marL="152400" indent="-152400">
              <a:spcAft>
                <a:spcPts val="200"/>
              </a:spcAft>
              <a:buSzPct val="100000"/>
              <a:buChar char="•"/>
            </a:pPr>
            <a:r>
              <a:rPr lang="en-US" sz="900" dirty="0">
                <a:solidFill>
                  <a:srgbClr val="000000"/>
                </a:solidFill>
              </a:rPr>
              <a:t>16 AWG power pair (design), A = 1.309 mm² (handbook): R = 0.257 Ω, 0.51 V (4.3 %), 1.0 W (calc)</a:t>
            </a:r>
            <a:endParaRPr lang="en-US" sz="1250" dirty="0"/>
          </a:p>
          <a:p>
            <a:pPr algn="l" marL="152400" indent="-152400">
              <a:spcAft>
                <a:spcPts val="200"/>
              </a:spcAft>
              <a:buSzPct val="100000"/>
              <a:buChar char="•"/>
            </a:pPr>
            <a:r>
              <a:rPr lang="en-US" sz="900" dirty="0">
                <a:solidFill>
                  <a:srgbClr val="000000"/>
                </a:solidFill>
              </a:rPr>
              <a:t>Thin motor leads over a room-length run lose a quarter of the supply; one thick power pair loses 4 % (calc, above)</a:t>
            </a:r>
            <a:endParaRPr lang="en-US" sz="1250" dirty="0"/>
          </a:p>
          <a:p>
            <a:pPr algn="l" marL="152400" indent="-152400">
              <a:spcAft>
                <a:spcPts val="200"/>
              </a:spcAft>
              <a:buSzPct val="100000"/>
              <a:buChar char="•"/>
            </a:pPr>
            <a:r>
              <a:rPr lang="en-US" sz="900" dirty="0">
                <a:solidFill>
                  <a:srgbClr val="000000"/>
                </a:solidFill>
              </a:rPr>
              <a:t>16 AWG: $30 per 100 ft (assumed price) × 65 ft (design cut list) = $19.50 (calc)</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1 m/s2, winch limit (calc)">    </p:cNvPr>
          <p:cNvPicPr>
            <a:picLocks noChangeAspect="1"/>
          </p:cNvPicPr>
          <p:nvPr/>
        </p:nvPicPr>
        <p:blipFill>
          <a:blip r:embed="rId1"/>
          <a:stretch>
            <a:fillRect/>
          </a:stretch>
        </p:blipFill>
        <p:spPr>
          <a:xfrm>
            <a:off x="365760" y="868680"/>
            <a:ext cx="2712720" cy="1129284"/>
          </a:xfrm>
          <a:prstGeom prst="rect">
            <a:avLst/>
          </a:prstGeom>
        </p:spPr>
      </p:pic>
      <p:sp>
        <p:nvSpPr>
          <p:cNvPr id="5" name="what we need"/>
          <p:cNvSpPr txBox="1"/>
          <p:nvPr/>
        </p:nvSpPr>
        <p:spPr>
          <a:xfrm>
            <a:off x="36576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T = m(g + a)/(4 sin φ); m = 0.60 kg claw (measured) + 1 lb (design), a = 1 m/s² (design): d 0.4 m → 15.7 N &lt; 16.8 N limit (calc); jeans 0.9 kg (assumed) need d ≥ 0.54 m (calc). where T: tension per cable; m: lifted mass; g: 9.81 m/s²; a: claw acceleration; φ: cable angle; d: depth below anchors</a:t>
            </a:r>
            <a:endParaRPr lang="en-US" sz="800" dirty="0"/>
          </a:p>
        </p:txBody>
      </p:sp>
      <p:pic>
        <p:nvPicPr>
          <p:cNvPr id="6" name="chart temperature" descr="Motor case temperature at 1.5 A, vented and sealed shell, by fin (two-node thermal network, sim)">    </p:cNvPr>
          <p:cNvPicPr>
            <a:picLocks noChangeAspect="1"/>
          </p:cNvPicPr>
          <p:nvPr/>
        </p:nvPicPr>
        <p:blipFill>
          <a:blip r:embed="rId2"/>
          <a:stretch>
            <a:fillRect/>
          </a:stretch>
        </p:blipFill>
        <p:spPr>
          <a:xfrm>
            <a:off x="3215640" y="868680"/>
            <a:ext cx="2712720" cy="1129284"/>
          </a:xfrm>
          <a:prstGeom prst="rect">
            <a:avLst/>
          </a:prstGeom>
        </p:spPr>
      </p:pic>
      <p:sp>
        <p:nvSpPr>
          <p:cNvPr id="7" name="what we need"/>
          <p:cNvSpPr txBox="1"/>
          <p:nvPr/>
        </p:nvSpPr>
        <p:spPr>
          <a:xfrm>
            <a:off x="321564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Need &lt; 60 °C (design). Two-node thermal network (sim); P = I²·R = (1.5 A)² × 1.8 Ω = 4.05 W (calc; 1.5 A datasheet; 1.8 Ω research, conservative). where P: coil heat (W); I: phase current (A); R: coil resistance per phase (Ω)</a:t>
            </a:r>
            <a:endParaRPr lang="en-US" sz="80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129284"/>
          </a:xfrm>
          <a:prstGeom prst="rect">
            <a:avLst/>
          </a:prstGeom>
        </p:spPr>
      </p:pic>
      <p:sp>
        <p:nvSpPr>
          <p:cNvPr id="9" name="what we need"/>
          <p:cNvSpPr txBox="1"/>
          <p:nvPr/>
        </p:nvSpPr>
        <p:spPr>
          <a:xfrm>
            <a:off x="606552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F = 0.7 (assumed) × 0.36 N·m (datasheet: SIMAX3D 42-38 listing) / r: 34 N at 7.5 mm (design), 25 N at 10 mm (calc); ÷ 1.5 skip margin (design) = 16.8 N ≥ 14.8 N jeans (calc). where F: line pull; τ: motor torque, 0.7 × holding when running; r: spool radius</a:t>
            </a:r>
            <a:endParaRPr lang="en-US" sz="80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129284"/>
          </a:xfrm>
          <a:prstGeom prst="rect">
            <a:avLst/>
          </a:prstGeom>
        </p:spPr>
      </p:pic>
      <p:sp>
        <p:nvSpPr>
          <p:cNvPr id="11" name="what we need"/>
          <p:cNvSpPr txBox="1"/>
          <p:nvPr/>
        </p:nvSpPr>
        <p:spPr>
          <a:xfrm>
            <a:off x="365760" y="3941064"/>
            <a:ext cx="2712720" cy="676656"/>
          </a:xfrm>
          <a:prstGeom prst="rect">
            <a:avLst/>
          </a:prstGeom>
          <a:noFill/>
          <a:ln/>
        </p:spPr>
        <p:txBody>
          <a:bodyPr wrap="square" lIns="0" tIns="0" rIns="0" bIns="0" rtlCol="0" anchor="t"/>
          <a:lstStyle/>
          <a:p>
            <a:pPr indent="0" marL="0">
              <a:buNone/>
            </a:pPr>
            <a:r>
              <a:rPr lang="en-US" sz="800" b="1" dirty="0">
                <a:solidFill>
                  <a:schemeClr val="tx1"/>
                </a:solidFill>
              </a:rPr>
              <a:t>k = 0.915 LP worst-cable factor (sim) × (1 + a/g) 1.102 = 1.008; 16.8 N / (1.008 × 9.81) = 1.70 kg vs 0.60 (measured) + 0.9 (assumed) = 1.50 kg: +13 % (calc); jeans 1.50 × 1.008 × 9.81 = 14.8 N. where k: worst-cable tension per unit m·g</a:t>
            </a:r>
            <a:endParaRPr lang="en-US" sz="80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129284"/>
          </a:xfrm>
          <a:prstGeom prst="rect">
            <a:avLst/>
          </a:prstGeom>
        </p:spPr>
      </p:pic>
      <p:sp>
        <p:nvSpPr>
          <p:cNvPr id="13" name="what we need"/>
          <p:cNvSpPr txBox="1"/>
          <p:nvPr/>
        </p:nvSpPr>
        <p:spPr>
          <a:xfrm>
            <a:off x="3215640" y="3941064"/>
            <a:ext cx="2712720" cy="676656"/>
          </a:xfrm>
          <a:prstGeom prst="rect">
            <a:avLst/>
          </a:prstGeom>
          <a:noFill/>
          <a:ln/>
        </p:spPr>
        <p:txBody>
          <a:bodyPr wrap="square" lIns="0" tIns="0" rIns="0" bIns="0" rtlCol="0" anchor="t"/>
          <a:lstStyle/>
          <a:p>
            <a:pPr indent="0" marL="0">
              <a:buNone/>
            </a:pPr>
            <a:r>
              <a:rPr lang="en-US" sz="800" b="1" dirty="0">
                <a:solidFill>
                  <a:schemeClr val="tx1"/>
                </a:solidFill>
              </a:rPr>
              <a:t>Estimates from hand calcs and published strengths (handbook); no stress concentrations. Motor slip: 0.36 N·m (datasheet) / 7.5 mm (design) = 48 N (calc)</a:t>
            </a:r>
            <a:endParaRPr lang="en-US" sz="80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A earlier setting (design) → 1.5 A: pull × 1.5, heat × 1.5² = 2.25 (calc)</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The printed set screw may slip before the motor: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(design); clearance set from fit coupons (measured)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(datasheet: SIMAX3D NEMA 17 42-38 listing) / 7.5 mm (design) = 48 N (calc)</a:t>
            </a:r>
            <a:endParaRPr lang="en-US" sz="1250" dirty="0"/>
          </a:p>
          <a:p>
            <a:pPr algn="l" marL="152400" indent="-152400">
              <a:spcAft>
                <a:spcPts val="500"/>
              </a:spcAft>
              <a:buSzPct val="100000"/>
              <a:buChar char="•"/>
            </a:pPr>
            <a:r>
              <a:rPr lang="en-US" sz="1100" dirty="0">
                <a:solidFill>
                  <a:srgbClr val="000000"/>
                </a:solidFill>
              </a:rPr>
              <a:t>where F: cable tension at the spool (N); τ: motor holding torque (N·m); r: spool core radius (m)</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5120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4255"/>
              </a:spcAft>
              <a:buNone/>
            </a:pPr>
            <a:r>
              <a:rPr lang="en-US" sz="1250" b="1" dirty="0">
                <a:solidFill>
                  <a:srgbClr val="000000"/>
                </a:solidFill>
              </a:rPr>
              <a:t>Fin, vents, stud</a:t>
            </a:r>
            <a:endParaRPr lang="en-US" sz="1250" dirty="0"/>
          </a:p>
          <a:p>
            <a:pPr algn="l" marL="152400" indent="-152400">
              <a:spcAft>
                <a:spcPts val="200"/>
              </a:spcAft>
              <a:buSzPct val="100000"/>
              <a:buChar char="•"/>
            </a:pPr>
            <a:r>
              <a:rPr lang="en-US" sz="900" dirty="0">
                <a:solidFill>
                  <a:srgbClr val="000000"/>
                </a:solidFill>
              </a:rPr>
              <a:t>where q_rad: radiated heat (W); ε: emissivity; σ: Stefan–Boltzmann constant (W/m²K⁴); A: fin area (m²); Ts: fin surface temperature (K); T∞: room temperature (K); h_rad: radiation coefficient (W/m²K); h: convection coefficient (W/m²K); ΔT = Ts − T∞ (K); L: plate height (m)</a:t>
            </a:r>
            <a:endParaRPr lang="en-US" sz="1250" dirty="0"/>
          </a:p>
          <a:p>
            <a:pPr algn="l" marL="152400" indent="-152400">
              <a:spcAft>
                <a:spcPts val="200"/>
              </a:spcAft>
              <a:buSzPct val="100000"/>
              <a:buChar char="•"/>
            </a:pPr>
            <a:r>
              <a:rPr lang="en-US" sz="900" dirty="0">
                <a:solidFill>
                  <a:srgbClr val="000000"/>
                </a:solidFill>
              </a:rPr>
              <a:t>The fin: aluminium 6061 (design) on the motor face, out through a slot in the top of the shell</a:t>
            </a:r>
            <a:endParaRPr lang="en-US" sz="1250" dirty="0"/>
          </a:p>
          <a:p>
            <a:pPr algn="l" marL="152400" indent="-152400">
              <a:spcAft>
                <a:spcPts val="200"/>
              </a:spcAft>
              <a:buSzPct val="100000"/>
              <a:buChar char="•"/>
            </a:pPr>
            <a:r>
              <a:rPr lang="en-US" sz="900" dirty="0">
                <a:solidFill>
                  <a:srgbClr val="000000"/>
                </a:solidFill>
              </a:rPr>
              <a:t>Motor heat: P = I²·R = (1.5 A)² × 1.8 Ω = 4.05 W (calc; 1.5 A rated, datasheet: SIMAX3D NEMA 17 42-38 seller listing; 1.8 Ω per phase, research: comparable 42×38 NEMA 17 datasheets list 1.5–1.65 Ω, 1.8 used as conservative)</a:t>
            </a:r>
            <a:endParaRPr lang="en-US" sz="1250" dirty="0"/>
          </a:p>
          <a:p>
            <a:pPr algn="l" marL="152400" indent="-152400">
              <a:spcAft>
                <a:spcPts val="200"/>
              </a:spcAft>
              <a:buSzPct val="100000"/>
              <a:buChar char="•"/>
            </a:pPr>
            <a:r>
              <a:rPr lang="en-US" sz="900" dirty="0">
                <a:solidFill>
                  <a:srgbClr val="000000"/>
                </a:solidFill>
              </a:rPr>
              <a:t>where P: coil heat (W); I: phase current (A); I_peak: peak phase current (A); R: coil resistance per phase (Ω)</a:t>
            </a:r>
            <a:endParaRPr lang="en-US" sz="1250" dirty="0"/>
          </a:p>
          <a:p>
            <a:pPr algn="l" marL="152400" indent="-152400">
              <a:spcAft>
                <a:spcPts val="200"/>
              </a:spcAft>
              <a:buSzPct val="100000"/>
              <a:buChar char="•"/>
            </a:pPr>
            <a:r>
              <a:rPr lang="en-US" sz="900" dirty="0">
                <a:solidFill>
                  <a:srgbClr val="000000"/>
                </a:solidFill>
              </a:rPr>
              <a:t>With microstepping the two phase currents follow sin and cos, so total heat = I_peak²·R</a:t>
            </a:r>
            <a:endParaRPr lang="en-US" sz="1250" dirty="0"/>
          </a:p>
          <a:p>
            <a:pPr algn="l" marL="152400" indent="-152400">
              <a:spcAft>
                <a:spcPts val="200"/>
              </a:spcAft>
              <a:buSzPct val="100000"/>
              <a:buChar char="•"/>
            </a:pPr>
            <a:r>
              <a:rPr lang="en-US" sz="900" dirty="0">
                <a:solidFill>
                  <a:srgbClr val="000000"/>
                </a:solidFill>
              </a:rPr>
              <a:t>That heat leaves through the vents and the fin</a:t>
            </a:r>
            <a:endParaRPr lang="en-US" sz="1250" dirty="0"/>
          </a:p>
          <a:p>
            <a:pPr algn="l" marL="152400" indent="-152400">
              <a:spcAft>
                <a:spcPts val="200"/>
              </a:spcAft>
              <a:buSzPct val="100000"/>
              <a:buChar char="•"/>
            </a:pPr>
            <a:r>
              <a:rPr lang="en-US" sz="900" dirty="0">
                <a:solidFill>
                  <a:srgbClr val="000000"/>
                </a:solidFill>
              </a:rPr>
              <a:t>At Ts 50 °C, T∞ 23 °C: h_rad = 6.75·ε W/m²K (calc; σ = 5.67×10⁻⁸ W/m²K⁴, handbook; temperatures, design)</a:t>
            </a:r>
            <a:endParaRPr lang="en-US" sz="1250" dirty="0"/>
          </a:p>
          <a:p>
            <a:pPr algn="l" marL="152400" indent="-152400">
              <a:spcAft>
                <a:spcPts val="200"/>
              </a:spcAft>
              <a:buSzPct val="100000"/>
              <a:buChar char="•"/>
            </a:pPr>
            <a:r>
              <a:rPr lang="en-US" sz="900" dirty="0">
                <a:solidFill>
                  <a:srgbClr val="000000"/>
                </a:solidFill>
              </a:rPr>
              <a:t>Bare aluminium ε ≈ 0.05–0.09, black paint 0.92–0.96 (handbook)</a:t>
            </a:r>
            <a:endParaRPr lang="en-US" sz="1250" dirty="0"/>
          </a:p>
          <a:p>
            <a:pPr algn="l" marL="152400" indent="-152400">
              <a:spcAft>
                <a:spcPts val="200"/>
              </a:spcAft>
              <a:buSzPct val="100000"/>
              <a:buChar char="•"/>
            </a:pPr>
            <a:r>
              <a:rPr lang="en-US" sz="900" dirty="0">
                <a:solidFill>
                  <a:srgbClr val="000000"/>
                </a:solidFill>
              </a:rPr>
              <a:t>Natural convection: h = 1.42 (ΔT/L)^0.25 = 1.42 × (27 K / 0.2 m)^0.25 = 4.8 W/m²K on a 0.2 m vertical plate (calc, handbook correlation)</a:t>
            </a:r>
            <a:endParaRPr lang="en-US" sz="1250" dirty="0"/>
          </a:p>
          <a:p>
            <a:pPr algn="l" marL="152400" indent="-152400">
              <a:spcAft>
                <a:spcPts val="200"/>
              </a:spcAft>
              <a:buSzPct val="100000"/>
              <a:buChar char="•"/>
            </a:pPr>
            <a:r>
              <a:rPr lang="en-US" sz="900" dirty="0">
                <a:solidFill>
                  <a:srgbClr val="000000"/>
                </a:solidFill>
              </a:rPr>
              <a:t>Black paint: total 4.8 + 0.07 × 6.75 = 5.3 → 4.8 + 0.9 × 6.75 = 10.9 W/m²K, about 2× the heat per degree (calc); the motor contact square stays bare</a:t>
            </a:r>
            <a:endParaRPr lang="en-US" sz="1250" dirty="0"/>
          </a:p>
        </p:txBody>
      </p:sp>
      <p:sp>
        <p:nvSpPr>
          <p:cNvPr id="5" name="equation box"/>
          <p:cNvSpPr/>
          <p:nvPr/>
        </p:nvSpPr>
        <p:spPr>
          <a:xfrm>
            <a:off x="512064" y="1271016"/>
            <a:ext cx="4023360" cy="430639"/>
          </a:xfrm>
          <a:prstGeom prst="rect">
            <a:avLst/>
          </a:prstGeom>
          <a:solidFill>
            <a:srgbClr val="FFFFFF"/>
          </a:solidFill>
          <a:ln w="9525">
            <a:solidFill>
              <a:srgbClr val="000000"/>
            </a:solidFill>
            <a:prstDash val="solid"/>
          </a:ln>
        </p:spPr>
      </p:sp>
      <p:pic>
        <p:nvPicPr>
          <p:cNvPr id="6" name="equation" descr="q_rad = epsilon sigma A (Ts^4 - Tinf^4); h_rad = epsilon sigma (Ts + Tinf)(Ts^2 + Tinf^2)">    </p:cNvPr>
          <p:cNvPicPr>
            <a:picLocks noChangeAspect="1"/>
          </p:cNvPicPr>
          <p:nvPr/>
        </p:nvPicPr>
        <p:blipFill>
          <a:blip r:embed="rId1"/>
          <a:stretch>
            <a:fillRect/>
          </a:stretch>
        </p:blipFill>
        <p:spPr>
          <a:xfrm>
            <a:off x="585216" y="1344168"/>
            <a:ext cx="3877056" cy="284335"/>
          </a:xfrm>
          <a:prstGeom prst="rect">
            <a:avLst/>
          </a:prstGeom>
        </p:spPr>
      </p:pic>
      <p:pic>
        <p:nvPicPr>
          <p:cNvPr id="7" name="On the TV wall" descr="On the TV wall">    </p:cNvPr>
          <p:cNvPicPr>
            <a:picLocks noChangeAspect="1"/>
          </p:cNvPicPr>
          <p:nvPr/>
        </p:nvPicPr>
        <p:blipFill>
          <a:blip r:embed="rId2"/>
          <a:stretch>
            <a:fillRect/>
          </a:stretch>
        </p:blipFill>
        <p:spPr>
          <a:xfrm>
            <a:off x="5669280" y="868680"/>
            <a:ext cx="1508760" cy="3511296"/>
          </a:xfrm>
          <a:prstGeom prst="rect">
            <a:avLst/>
          </a:prstGeom>
        </p:spPr>
      </p:pic>
      <p:sp>
        <p:nvSpPr>
          <p:cNvPr id="8" name="caption"/>
          <p:cNvSpPr txBox="1"/>
          <p:nvPr/>
        </p:nvSpPr>
        <p:spPr>
          <a:xfrm>
            <a:off x="56692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a:t>
            </a:r>
            <a:endParaRPr lang="en-US" sz="850" dirty="0"/>
          </a:p>
        </p:txBody>
      </p:sp>
      <p:pic>
        <p:nvPicPr>
          <p:cNvPr id="9" name="Fin through the slot" descr="Fin through the slot">    </p:cNvPr>
          <p:cNvPicPr>
            <a:picLocks noChangeAspect="1"/>
          </p:cNvPicPr>
          <p:nvPr/>
        </p:nvPicPr>
        <p:blipFill>
          <a:blip r:embed="rId3"/>
          <a:stretch>
            <a:fillRect/>
          </a:stretch>
        </p:blipFill>
        <p:spPr>
          <a:xfrm>
            <a:off x="7269480" y="868680"/>
            <a:ext cx="1508760" cy="3511296"/>
          </a:xfrm>
          <a:prstGeom prst="rect">
            <a:avLst/>
          </a:prstGeom>
        </p:spPr>
      </p:pic>
      <p:sp>
        <p:nvSpPr>
          <p:cNvPr id="10" name="caption"/>
          <p:cNvSpPr txBox="1"/>
          <p:nvPr/>
        </p:nvSpPr>
        <p:spPr>
          <a:xfrm>
            <a:off x="72694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Fin through the slot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17830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Processes</a:t>
            </a:r>
            <a:endParaRPr lang="en-US" sz="1100" dirty="0"/>
          </a:p>
          <a:p>
            <a:pPr algn="l" marL="152400" indent="-152400">
              <a:spcAft>
                <a:spcPts val="200"/>
              </a:spcAft>
              <a:buSzPct val="100000"/>
              <a:buChar char="•"/>
            </a:pPr>
            <a:r>
              <a:rPr lang="en-US" sz="900" dirty="0">
                <a:solidFill>
                  <a:srgbClr val="000000"/>
                </a:solidFill>
              </a:rPr>
              <a:t>PETG, FDM: 0.4 mm nozzle, 0.20 mm layers, supports at 30° (all design); loads along the layers</a:t>
            </a:r>
            <a:endParaRPr lang="en-US" sz="1100" dirty="0"/>
          </a:p>
          <a:p>
            <a:pPr algn="l" marL="152400" indent="-152400">
              <a:spcAft>
                <a:spcPts val="200"/>
              </a:spcAft>
              <a:buSzPct val="100000"/>
              <a:buChar char="•"/>
            </a:pPr>
            <a:r>
              <a:rPr lang="en-US" sz="900" dirty="0">
                <a:solidFill>
                  <a:srgbClr val="000000"/>
                </a:solidFill>
              </a:rPr>
              <a:t>Aluminium fin: sheared blank, five holes drilled in one mill setup</a:t>
            </a:r>
            <a:endParaRPr lang="en-US" sz="1100" dirty="0"/>
          </a:p>
          <a:p>
            <a:pPr algn="l" marL="152400" indent="-152400">
              <a:spcAft>
                <a:spcPts val="200"/>
              </a:spcAft>
              <a:buSzPct val="100000"/>
              <a:buChar char="•"/>
            </a:pPr>
            <a:r>
              <a:rPr lang="en-US" sz="900" dirty="0">
                <a:solidFill>
                  <a:srgbClr val="000000"/>
                </a:solidFill>
              </a:rPr>
              <a:t>First hole is the mill zero: pattern ±0.1 mm vs ±0.5 mm sheared edges (design tolerances)</a:t>
            </a:r>
            <a:endParaRPr lang="en-US" sz="1100" dirty="0"/>
          </a:p>
          <a:p>
            <a:pPr algn="l" marL="152400" indent="-152400">
              <a:spcAft>
                <a:spcPts val="200"/>
              </a:spcAft>
              <a:buSzPct val="100000"/>
              <a:buChar char="•"/>
            </a:pPr>
            <a:r>
              <a:rPr lang="en-US" sz="900" dirty="0">
                <a:solidFill>
                  <a:srgbClr val="000000"/>
                </a:solidFill>
              </a:rPr>
              <a:t>Heat-set inserts: M3 gear housing, M2.5 encoder board</a:t>
            </a:r>
            <a:endParaRPr lang="en-US" sz="1100" dirty="0"/>
          </a:p>
        </p:txBody>
      </p:sp>
      <p:sp>
        <p:nvSpPr>
          <p:cNvPr id="5" name="card Make vs buy"/>
          <p:cNvSpPr/>
          <p:nvPr/>
        </p:nvSpPr>
        <p:spPr>
          <a:xfrm>
            <a:off x="365760" y="2788920"/>
            <a:ext cx="2788920" cy="18288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Make vs buy</a:t>
            </a:r>
            <a:endParaRPr lang="en-US" sz="1100" dirty="0"/>
          </a:p>
          <a:p>
            <a:pPr algn="l" marL="152400" indent="-152400">
              <a:spcAft>
                <a:spcPts val="200"/>
              </a:spcAft>
              <a:buSzPct val="100000"/>
              <a:buChar char="•"/>
            </a:pPr>
            <a:r>
              <a:rPr lang="en-US" sz="900" dirty="0">
                <a:solidFill>
                  <a:srgbClr val="000000"/>
                </a:solidFill>
              </a:rPr>
              <a:t>Bought: steppers, drivers, boards, servo, camera, battery, encoders</a:t>
            </a:r>
            <a:endParaRPr lang="en-US" sz="1100" dirty="0"/>
          </a:p>
          <a:p>
            <a:pPr algn="l" marL="152400" indent="-152400">
              <a:spcAft>
                <a:spcPts val="200"/>
              </a:spcAft>
              <a:buSzPct val="100000"/>
              <a:buChar char="•"/>
            </a:pPr>
            <a:r>
              <a:rPr lang="en-US" sz="900" dirty="0">
                <a:solidFill>
                  <a:srgbClr val="000000"/>
                </a:solidFill>
              </a:rPr>
              <a:t>Made: every printed part and the fin</a:t>
            </a:r>
            <a:endParaRPr lang="en-US" sz="1100" dirty="0"/>
          </a:p>
          <a:p>
            <a:pPr algn="l" marL="152400" indent="-152400">
              <a:spcAft>
                <a:spcPts val="200"/>
              </a:spcAft>
              <a:buSzPct val="100000"/>
              <a:buChar char="•"/>
            </a:pPr>
            <a:r>
              <a:rPr lang="en-US" sz="900" dirty="0">
                <a:solidFill>
                  <a:srgbClr val="000000"/>
                </a:solidFill>
              </a:rPr>
              <a:t>Filament per station: 0.762 kg (calc: CAD volume × 1.27 g/cm³, handbook × fill, assumed) × $15/kg (assumed) = $11.43 (calc)</a:t>
            </a:r>
            <a:endParaRPr lang="en-US" sz="1100" dirty="0"/>
          </a:p>
          <a:p>
            <a:pPr algn="l" marL="152400" indent="-152400">
              <a:spcAft>
                <a:spcPts val="200"/>
              </a:spcAft>
              <a:buSzPct val="100000"/>
              <a:buChar char="•"/>
            </a:pPr>
            <a:r>
              <a:rPr lang="en-US" sz="900" dirty="0">
                <a:solidFill>
                  <a:srgbClr val="000000"/>
                </a:solidFill>
              </a:rPr>
              <a:t>Robot, three stations: $210.78 parts (listing prices, partly assumed) + 2.52 kg × $15/kg = $37.74 filament (calc)</a:t>
            </a:r>
            <a:endParaRPr lang="en-US" sz="110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(design) printed too tight (measured) on the Ø5.0 shaft (datasheet); opened to Ø5.45 (design)</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30° flanks (design)</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 (design)</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(datasheet)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5146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300"/>
              </a:spcAft>
              <a:buSzPct val="100000"/>
              <a:buChar char="•"/>
            </a:pPr>
            <a:r>
              <a:rPr lang="en-US" sz="900" dirty="0">
                <a:solidFill>
                  <a:srgbClr val="000000"/>
                </a:solidFill>
              </a:rPr>
              <a:t>Four-bar hands on a geared crank; 53 mm opening (design)</a:t>
            </a:r>
            <a:endParaRPr lang="en-US" sz="1250" dirty="0"/>
          </a:p>
          <a:p>
            <a:pPr algn="l" marL="152400" indent="-152400">
              <a:spcAft>
                <a:spcPts val="300"/>
              </a:spcAft>
              <a:buSzPct val="100000"/>
              <a:buChar char="•"/>
            </a:pPr>
            <a:r>
              <a:rPr lang="en-US" sz="900" dirty="0">
                <a:solidFill>
                  <a:srgbClr val="000000"/>
                </a:solidFill>
              </a:rPr>
              <a:t>One 7.4 V two-cell pack (datasheet): 6 V regulator for the servo, 5 V buck for the board (design setpoints)</a:t>
            </a:r>
            <a:endParaRPr lang="en-US" sz="1250" dirty="0"/>
          </a:p>
          <a:p>
            <a:pPr algn="l" marL="152400" indent="-152400">
              <a:spcAft>
                <a:spcPts val="300"/>
              </a:spcAft>
              <a:buSzPct val="100000"/>
              <a:buChar char="•"/>
            </a:pPr>
            <a:r>
              <a:rPr lang="en-US" sz="900" dirty="0">
                <a:solidFill>
                  <a:srgbClr val="000000"/>
                </a:solidFill>
              </a:rPr>
              <a:t>Weighed 0.60 kg with battery (measured) against a 0.45 kg budget (design)</a:t>
            </a:r>
            <a:endParaRPr lang="en-US" sz="1250" dirty="0"/>
          </a:p>
          <a:p>
            <a:pPr algn="l" marL="152400" indent="-152400">
              <a:spcAft>
                <a:spcPts val="300"/>
              </a:spcAft>
              <a:buSzPct val="100000"/>
              <a:buChar char="•"/>
            </a:pPr>
            <a:r>
              <a:rPr lang="en-US" sz="900" dirty="0">
                <a:solidFill>
                  <a:srgbClr val="000000"/>
                </a:solidFill>
              </a:rPr>
              <a:t>Grip per jaw, jeans: N = m(g + a)/(2μ) = 0.9 × (9.81 + 1)/(2 × 0.3) = 16.2 N; 8.1 N at μ 0.6 (calc; 0.9 kg assumed; a = 1 m/s² design; μ 0.3 worst case, from published ranges)</a:t>
            </a:r>
            <a:endParaRPr lang="en-US" sz="1250" dirty="0"/>
          </a:p>
          <a:p>
            <a:pPr algn="l" marL="152400" indent="-152400">
              <a:spcAft>
                <a:spcPts val="300"/>
              </a:spcAft>
              <a:buSzPct val="100000"/>
              <a:buChar char="•"/>
            </a:pPr>
            <a:r>
              <a:rPr lang="en-US" sz="900" dirty="0">
                <a:solidFill>
                  <a:srgbClr val="000000"/>
                </a:solidFill>
              </a:rPr>
              <a:t>where N: normal force per jaw (N); m: garment mass (kg); g: 9.81 m/s²; a: claw acceleration (m/s²); μ: cloth-on-jaw friction coefficient</a:t>
            </a:r>
            <a:endParaRPr lang="en-US" sz="1250" dirty="0"/>
          </a:p>
          <a:p>
            <a:pPr algn="l" marL="152400" indent="-152400">
              <a:spcAft>
                <a:spcPts val="300"/>
              </a:spcAft>
              <a:buSzPct val="100000"/>
              <a:buChar char="•"/>
            </a:pPr>
            <a:r>
              <a:rPr lang="en-US" sz="900" dirty="0">
                <a:solidFill>
                  <a:srgbClr val="000000"/>
                </a:solidFill>
              </a:rPr>
              <a:t>Published fabric friction: 0.22–0.38 garment fabrics, 0.52–0.62 special fabrics, denim on skin 0.14–0.44; none is fabric on PETG, so 0.3 is the design worst case (handbook / literature)</a:t>
            </a:r>
            <a:endParaRPr lang="en-US" sz="1250" dirty="0"/>
          </a:p>
        </p:txBody>
      </p:sp>
      <p:sp>
        <p:nvSpPr>
          <p:cNvPr id="5" name="card Modular, on purpose"/>
          <p:cNvSpPr/>
          <p:nvPr/>
        </p:nvSpPr>
        <p:spPr>
          <a:xfrm>
            <a:off x="3063240" y="868680"/>
            <a:ext cx="25146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gap on thin cloth (Sep 30): closed width 77.4 mm − 2 × pinion radius 18 mm × travel 2.09 rad = 2.0 mm (calc; CAD dimensions, design)</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2,061 g in CAD at solid density (calc) / 450 g budget (design) = 4.6 (calc); mass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760720" y="868680"/>
            <a:ext cx="301752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8291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705483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833360" y="2990088"/>
            <a:ext cx="944880" cy="1389888"/>
          </a:xfrm>
          <a:prstGeom prst="rect">
            <a:avLst/>
          </a:prstGeom>
        </p:spPr>
      </p:pic>
      <p:sp>
        <p:nvSpPr>
          <p:cNvPr id="10" name="caption"/>
          <p:cNvSpPr txBox="1"/>
          <p:nvPr/>
        </p:nvSpPr>
        <p:spPr>
          <a:xfrm>
            <a:off x="5760720" y="4416552"/>
            <a:ext cx="301752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datasheet)">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 (datasheet)</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5431536" cy="19659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00" dirty="0">
                <a:solidFill>
                  <a:srgbClr val="000000"/>
                </a:solidFill>
              </a:rPr>
              <a:t>18T / 54T spur, module 1, 20° (design); printed PETG pinion; checked in CAD, pinion printed, not fitted</a:t>
            </a:r>
            <a:endParaRPr lang="en-US" sz="1100" dirty="0"/>
          </a:p>
          <a:p>
            <a:pPr algn="l" marL="152400" indent="-152400">
              <a:spcAft>
                <a:spcPts val="200"/>
              </a:spcAft>
              <a:buSzPct val="100000"/>
              <a:buChar char="•"/>
            </a:pPr>
            <a:r>
              <a:rPr lang="en-US" sz="900" dirty="0">
                <a:solidFill>
                  <a:srgbClr val="000000"/>
                </a:solidFill>
              </a:rPr>
              <a:t>Pull × 3 (design) × 0.9 η (assumed, conservative) = 2.7 at equal current (calc); at 1.0 A (design): heat × (1.0/1.5)² = 0.44 (calc)</a:t>
            </a:r>
            <a:endParaRPr lang="en-US" sz="1100" dirty="0"/>
          </a:p>
          <a:p>
            <a:pPr algn="l" marL="152400" indent="-152400">
              <a:spcAft>
                <a:spcPts val="200"/>
              </a:spcAft>
              <a:buSzPct val="100000"/>
              <a:buChar char="•"/>
            </a:pPr>
            <a:r>
              <a:rPr lang="en-US" sz="900" dirty="0">
                <a:solidFill>
                  <a:srgbClr val="000000"/>
                </a:solidFill>
              </a:rPr>
              <a:t>Mesh loss (Niemann): H_v = π(u+1)/(z1·u)·(1 − εα + ε1² + ε2²) = 0.167; η = 1 − μ·H_v = 0.92–0.97 for μ 0.2–0.5 (calc)</a:t>
            </a:r>
            <a:endParaRPr lang="en-US" sz="1100" dirty="0"/>
          </a:p>
          <a:p>
            <a:pPr algn="l" marL="152400" indent="-152400">
              <a:spcAft>
                <a:spcPts val="200"/>
              </a:spcAft>
              <a:buSzPct val="100000"/>
              <a:buChar char="•"/>
            </a:pPr>
            <a:r>
              <a:rPr lang="en-US" sz="900" dirty="0">
                <a:solidFill>
                  <a:srgbClr val="000000"/>
                </a:solidFill>
              </a:rPr>
              <a:t>z1 18, z2 54, u 3 (design); ε1 0.765, ε2 0.884 (calc); μ 0.2–0.5 dry polymer (assumed); 0.9 leaves room for bearing and print-roughness losses</a:t>
            </a:r>
            <a:endParaRPr lang="en-US" sz="1100" dirty="0"/>
          </a:p>
          <a:p>
            <a:pPr algn="l" marL="152400" indent="-152400">
              <a:spcAft>
                <a:spcPts val="200"/>
              </a:spcAft>
              <a:buSzPct val="100000"/>
              <a:buChar char="•"/>
            </a:pPr>
            <a:r>
              <a:rPr lang="en-US" sz="900" dirty="0">
                <a:solidFill>
                  <a:srgbClr val="000000"/>
                </a:solidFill>
              </a:rPr>
              <a:t>where η: efficiency (mesh, or stage); H_v: tooth loss factor; u = z2/z1: gear ratio; z1, z2: pinion and gear teeth; εα = ε1 + ε2: contact ratio; ε1, ε2: approach and recess contact ratios; μ: tooth friction coefficient</a:t>
            </a:r>
            <a:endParaRPr lang="en-US" sz="1100" dirty="0"/>
          </a:p>
        </p:txBody>
      </p:sp>
      <p:sp>
        <p:nvSpPr>
          <p:cNvPr id="5" name="card 1° dovetail draft and a lighter back mount"/>
          <p:cNvSpPr/>
          <p:nvPr/>
        </p:nvSpPr>
        <p:spPr>
          <a:xfrm>
            <a:off x="365760" y="2944368"/>
            <a:ext cx="5431536"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dovetail draft and a lighter back mount</a:t>
            </a:r>
            <a:endParaRPr lang="en-US" sz="1100" dirty="0"/>
          </a:p>
          <a:p>
            <a:pPr algn="l" marL="152400" indent="-152400">
              <a:spcAft>
                <a:spcPts val="200"/>
              </a:spcAft>
              <a:buSzPct val="100000"/>
              <a:buChar char="•"/>
            </a:pPr>
            <a:r>
              <a:rPr lang="en-US" sz="900" dirty="0">
                <a:solidFill>
                  <a:srgbClr val="000000"/>
                </a:solidFill>
              </a:rPr>
              <a:t>Draft 1° (design): the slide-in binds today; thicker at the top, it self-locates (planned)</a:t>
            </a:r>
            <a:endParaRPr lang="en-US" sz="1100" dirty="0"/>
          </a:p>
          <a:p>
            <a:pPr algn="l" marL="152400" indent="-152400">
              <a:spcAft>
                <a:spcPts val="200"/>
              </a:spcAft>
              <a:buSzPct val="100000"/>
              <a:buChar char="•"/>
            </a:pPr>
            <a:r>
              <a:rPr lang="en-US" sz="900" dirty="0">
                <a:solidFill>
                  <a:srgbClr val="000000"/>
                </a:solidFill>
              </a:rPr>
              <a:t>Back mount: 597 cm³ solid (design, CAD volume) → about 200 cm³, thinner walls and ribs (planned)</a:t>
            </a:r>
            <a:endParaRPr lang="en-US" sz="1100" dirty="0"/>
          </a:p>
        </p:txBody>
      </p:sp>
      <p:sp>
        <p:nvSpPr>
          <p:cNvPr id="6" name="card Also next / still planned"/>
          <p:cNvSpPr/>
          <p:nvPr/>
        </p:nvSpPr>
        <p:spPr>
          <a:xfrm>
            <a:off x="365760" y="3767328"/>
            <a:ext cx="5431536" cy="85039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Also next / still planned</a:t>
            </a:r>
            <a:endParaRPr lang="en-US" sz="1100" dirty="0"/>
          </a:p>
          <a:p>
            <a:pPr algn="l" marL="152400" indent="-152400">
              <a:spcAft>
                <a:spcPts val="100"/>
              </a:spcAft>
              <a:buSzPct val="100000"/>
              <a:buChar char="•"/>
            </a:pPr>
            <a:r>
              <a:rPr lang="en-US" sz="900" dirty="0">
                <a:solidFill>
                  <a:srgbClr val="000000"/>
                </a:solidFill>
              </a:rPr>
              <a:t>Pull test at 1.5 A (design): the measured limit goes into the planner (planned)</a:t>
            </a:r>
            <a:endParaRPr lang="en-US" sz="1100" dirty="0"/>
          </a:p>
          <a:p>
            <a:pPr algn="l" marL="152400" indent="-152400">
              <a:spcAft>
                <a:spcPts val="100"/>
              </a:spcAft>
              <a:buSzPct val="100000"/>
              <a:buChar char="•"/>
            </a:pPr>
            <a:r>
              <a:rPr lang="en-US" sz="900" dirty="0">
                <a:solidFill>
                  <a:srgbClr val="000000"/>
                </a:solidFill>
              </a:rPr>
              <a:t>Hold test: 90 minutes at 1.5 A, motor below 60 °C (planned; 60 °C limit, design)</a:t>
            </a:r>
            <a:endParaRPr lang="en-US" sz="1100" dirty="0"/>
          </a:p>
          <a:p>
            <a:pPr algn="l" marL="152400" indent="-152400">
              <a:spcAft>
                <a:spcPts val="100"/>
              </a:spcAft>
              <a:buSzPct val="100000"/>
              <a:buChar char="•"/>
            </a:pPr>
            <a:r>
              <a:rPr lang="en-US" sz="900" dirty="0">
                <a:solidFill>
                  <a:srgbClr val="000000"/>
                </a:solidFill>
              </a:rPr>
              <a:t>First three-station lift: self-check, calibration, a short move with 1 lb (planned; 1 lb, design)</a:t>
            </a:r>
            <a:endParaRPr lang="en-US" sz="1100" dirty="0"/>
          </a:p>
        </p:txBody>
      </p:sp>
      <p:pic>
        <p:nvPicPr>
          <p:cNvPr id="7"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8"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9"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2026-10-27T13:17:35Z</dcterms:created>
  <dcterms:modified xsi:type="dcterms:W3CDTF">2026-10-27T13:17:35Z</dcterms:modified>
</cp:coreProperties>
</file>