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5f8d22-8412-6103-6c78-78009b961e07}">
          <p14:sldIdLst>
            <p14:sldId id="256"/>
            <p14:sldId id="257"/>
          </p14:sldIdLst>
        </p14:section>
        <p14:section name="Scope" id="{9bff6f44-d39e-3e5e-fb71-e84001cb6132}">
          <p14:sldIdLst>
            <p14:sldId id="258"/>
          </p14:sldIdLst>
        </p14:section>
        <p14:section name="Fundamentals" id="{a4287be5-1696-5f57-9207-8c253eba5104}">
          <p14:sldIdLst>
            <p14:sldId id="259"/>
          </p14:sldIdLst>
        </p14:section>
        <p14:section name="Generation 1" id="{b5306be7-80f6-972b-0b0e-5cdaf72f0ed3}">
          <p14:sldIdLst>
            <p14:sldId id="260"/>
            <p14:sldId id="261"/>
          </p14:sldIdLst>
        </p14:section>
        <p14:section name="What a winch needs" id="{18cf4d09-89f3-f31e-0871-be68406a6bcd}">
          <p14:sldIdLst>
            <p14:sldId id="262"/>
          </p14:sldIdLst>
        </p14:section>
        <p14:section name="Modular box" id="{b62aa622-e010-385e-80b1-c7f0f1428605}">
          <p14:sldIdLst>
            <p14:sldId id="263"/>
            <p14:sldId id="264"/>
          </p14:sldIdLst>
        </p14:section>
        <p14:section name="Trade-offs" id="{819daf5d-c711-ad90-d47a-7eb4010bc5cb}">
          <p14:sldIdLst>
            <p14:sldId id="265"/>
          </p14:sldIdLst>
        </p14:section>
        <p14:section name="Mount assembly" id="{9a0f903b-d55d-28eb-548d-e3aa5334af00}">
          <p14:sldIdLst>
            <p14:sldId id="266"/>
            <p14:sldId id="267"/>
          </p14:sldIdLst>
        </p14:section>
        <p14:section name="Claw" id="{4e1759c2-2c8c-2d91-3d9d-bfd768b8c845}">
          <p14:sldIdLst>
            <p14:sldId id="268"/>
          </p14:sldIdLst>
        </p14:section>
        <p14:section name="Electrical and testing" id="{499ac987-bae9-03e2-1b35-4d8e6fb7bf9a}">
          <p14:sldIdLst>
            <p14:sldId id="269"/>
            <p14:sldId id="270"/>
          </p14:sldIdLst>
        </p14:section>
        <p14:section name="Calibration" id="{cc55839c-6232-df2b-ca8b-4c5a11c87c30}">
          <p14:sldIdLst>
            <p14:sldId id="271"/>
          </p14:sldIdLst>
        </p14:section>
        <p14:section name="Next iteration" id="{84cc1eb6-005c-0ea8-9ad9-794f9a4293d9}">
          <p14:sldIdLst>
            <p14:sldId id="272"/>
          </p14:sldIdLst>
        </p14:section>
        <p14:section name="Close" id="{d636b46f-34d1-6796-798f-9615074b2a3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cables, three force equations, so the split is indeterminate (kinematics.py docstring);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Jasper Buntinx"/>
          <p:cNvSpPr/>
          <p:nvPr/>
        </p:nvSpPr>
        <p:spPr>
          <a:xfrm>
            <a:off x="365760" y="868680"/>
            <a:ext cx="2651760" cy="2983121"/>
          </a:xfrm>
          <a:prstGeom prst="roundRect">
            <a:avLst>
              <a:gd name="adj" fmla="val 2069"/>
            </a:avLst>
          </a:prstGeom>
          <a:solidFill>
            <a:schemeClr val="bg2"/>
          </a:solidFill>
          <a:ln w="12700">
            <a:solidFill>
              <a:schemeClr val="bg2"/>
            </a:solidFill>
            <a:prstDash val="solid"/>
          </a:ln>
        </p:spPr>
      </p:sp>
      <p:sp>
        <p:nvSpPr>
          <p:cNvPr id="11" name="heading Jasper Buntinx"/>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Jasper Buntinx</a:t>
            </a:r>
            <a:endParaRPr lang="en-US" sz="1250" dirty="0"/>
          </a:p>
        </p:txBody>
      </p:sp>
      <p:sp>
        <p:nvSpPr>
          <p:cNvPr id="12" name="bullets Jasper Buntinx"/>
          <p:cNvSpPr txBox="1"/>
          <p:nvPr/>
        </p:nvSpPr>
        <p:spPr>
          <a:xfrm>
            <a:off x="512064" y="1271016"/>
            <a:ext cx="2359152" cy="2489345"/>
          </a:xfrm>
          <a:prstGeom prst="rect">
            <a:avLst/>
          </a:prstGeom>
          <a:noFill/>
          <a:ln/>
        </p:spPr>
        <p:txBody>
          <a:bodyPr wrap="square" lIns="0" tIns="0" rIns="25400" bIns="0" rtlCol="0" anchor="t"/>
          <a:lstStyle/>
          <a:p>
            <a:pPr algn="l" marL="152400" indent="-152400">
              <a:spcAft>
                <a:spcPts val="700"/>
              </a:spcAft>
              <a:buSzPct val="100000"/>
              <a:buChar char="•"/>
            </a:pPr>
            <a:r>
              <a:rPr lang="en-US" sz="1150" dirty="0">
                <a:solidFill>
                  <a:schemeClr val="tx1"/>
                </a:solidFill>
              </a:rPr>
              <a:t>Mechanical Engineering, Texas A&amp;M</a:t>
            </a:r>
            <a:endParaRPr lang="en-US" sz="1150" dirty="0"/>
          </a:p>
          <a:p>
            <a:pPr algn="l" marL="152400" indent="-152400">
              <a:spcAft>
                <a:spcPts val="700"/>
              </a:spcAft>
              <a:buSzPct val="100000"/>
              <a:buChar char="•"/>
            </a:pPr>
            <a:r>
              <a:rPr lang="en-US" sz="1150" dirty="0">
                <a:solidFill>
                  <a:schemeClr val="tx1"/>
                </a:solidFill>
              </a:rPr>
              <a:t>Outdoors and endurance: hikes, Ironman 70.3, 2025 marathon</a:t>
            </a:r>
            <a:endParaRPr lang="en-US" sz="1150" dirty="0"/>
          </a:p>
          <a:p>
            <a:pPr algn="l" marL="152400" indent="-152400">
              <a:spcAft>
                <a:spcPts val="700"/>
              </a:spcAft>
              <a:buSzPct val="100000"/>
              <a:buChar char="•"/>
            </a:pPr>
            <a:r>
              <a:rPr lang="en-US" sz="1150" dirty="0">
                <a:solidFill>
                  <a:schemeClr val="tx1"/>
                </a:solidFill>
              </a:rPr>
              <a:t>EcoFil: a filament recycler, built with a team</a:t>
            </a:r>
            <a:endParaRPr lang="en-US" sz="1150" dirty="0"/>
          </a:p>
          <a:p>
            <a:pPr algn="l" marL="152400" indent="-152400">
              <a:spcAft>
                <a:spcPts val="700"/>
              </a:spcAft>
              <a:buSzPct val="100000"/>
              <a:buChar char="•"/>
            </a:pPr>
            <a:r>
              <a:rPr lang="en-US" sz="1150" dirty="0">
                <a:solidFill>
                  <a:schemeClr val="tx1"/>
                </a:solidFill>
              </a:rPr>
              <a:t>Gladiator Dash build logistics, for Still Creek Ranch</a:t>
            </a:r>
            <a:endParaRPr lang="en-US" sz="1150" dirty="0"/>
          </a:p>
          <a:p>
            <a:pPr algn="l" marL="152400" indent="-152400">
              <a:spcAft>
                <a:spcPts val="700"/>
              </a:spcAft>
              <a:buSzPct val="100000"/>
              <a:buChar char="•"/>
            </a:pPr>
            <a:r>
              <a:rPr lang="en-US" sz="1150" dirty="0">
                <a:solidFill>
                  <a:schemeClr val="tx1"/>
                </a:solidFill>
              </a:rPr>
              <a:t>RoomCleaner: built July to October 2026</a:t>
            </a:r>
            <a:endParaRPr lang="en-US" sz="11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oundRect">
            <a:avLst>
              <a:gd name="adj" fmla="val 2045"/>
            </a:avLst>
          </a:prstGeom>
          <a:solidFill>
            <a:schemeClr val="bg2"/>
          </a:solidFill>
          <a:ln w="12700">
            <a:solidFill>
              <a:schemeClr val="bg2"/>
            </a:solidFill>
            <a:prstDash val="solid"/>
          </a:ln>
        </p:spPr>
      </p:sp>
      <p:sp>
        <p:nvSpPr>
          <p:cNvPr id="5" name="heading Cable length → position"/>
          <p:cNvSpPr txBox="1"/>
          <p:nvPr/>
        </p:nvSpPr>
        <p:spPr>
          <a:xfrm>
            <a:off x="51206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Cable length → position</a:t>
            </a:r>
            <a:endParaRPr lang="en-US" sz="1200" dirty="0"/>
          </a:p>
        </p:txBody>
      </p:sp>
      <p:pic>
        <p:nvPicPr>
          <p:cNvPr id="6"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7" name="equation box"/>
          <p:cNvSpPr/>
          <p:nvPr/>
        </p:nvSpPr>
        <p:spPr>
          <a:xfrm>
            <a:off x="512064" y="1271016"/>
            <a:ext cx="1511808" cy="786384"/>
          </a:xfrm>
          <a:prstGeom prst="rect">
            <a:avLst/>
          </a:prstGeom>
          <a:solidFill>
            <a:srgbClr val="FFFFFF"/>
          </a:solidFill>
          <a:ln w="9525">
            <a:solidFill>
              <a:srgbClr val="000000"/>
            </a:solidFill>
            <a:prstDash val="solid"/>
          </a:ln>
        </p:spPr>
      </p:sp>
      <p:sp>
        <p:nvSpPr>
          <p:cNvPr id="8" name="equations"/>
          <p:cNvSpPr txBox="1"/>
          <p:nvPr/>
        </p:nvSpPr>
        <p:spPr>
          <a:xfrm>
            <a:off x="603504" y="1344168"/>
            <a:ext cx="1328928" cy="676656"/>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L_i = ‖ a_i − p ‖</a:t>
            </a:r>
            <a:endParaRPr lang="en-US" sz="950" dirty="0"/>
          </a:p>
          <a:p>
            <a:pPr indent="0" marL="0">
              <a:spcAft>
                <a:spcPts val="200"/>
              </a:spcAft>
              <a:buNone/>
            </a:pPr>
            <a:r>
              <a:rPr lang="en-US" sz="950" dirty="0">
                <a:solidFill>
                  <a:schemeClr val="tx1"/>
                </a:solidFill>
              </a:rPr>
              <a:t>a_i: anchor exit, p: claw</a:t>
            </a:r>
            <a:endParaRPr lang="en-US" sz="950" dirty="0"/>
          </a:p>
          <a:p>
            <a:pPr indent="0" marL="0">
              <a:spcAft>
                <a:spcPts val="200"/>
              </a:spcAft>
              <a:buNone/>
            </a:pPr>
            <a:r>
              <a:rPr lang="en-US" sz="950" dirty="0">
                <a:solidFill>
                  <a:schemeClr val="tx1"/>
                </a:solidFill>
              </a:rPr>
              <a:t>straight, taut cable</a:t>
            </a:r>
            <a:endParaRPr lang="en-US" sz="950" dirty="0"/>
          </a:p>
        </p:txBody>
      </p:sp>
      <p:sp>
        <p:nvSpPr>
          <p:cNvPr id="9" name="bullets Cable length → position"/>
          <p:cNvSpPr txBox="1"/>
          <p:nvPr/>
        </p:nvSpPr>
        <p:spPr>
          <a:xfrm>
            <a:off x="512064" y="2167128"/>
            <a:ext cx="2389632" cy="2359152"/>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Each spool turn pays out line: 47.1 → 62.8 mm per rev on the Ø15 core as layers build (calculated)</a:t>
            </a:r>
            <a:endParaRPr lang="en-US" sz="1000" dirty="0"/>
          </a:p>
          <a:p>
            <a:pPr algn="l" marL="152400" indent="-152400">
              <a:spcAft>
                <a:spcPts val="400"/>
              </a:spcAft>
              <a:buSzPct val="100000"/>
              <a:buChar char="•"/>
            </a:pPr>
            <a:r>
              <a:rPr lang="en-US" sz="1000" dirty="0">
                <a:solidFill>
                  <a:schemeClr val="tx1"/>
                </a:solidFill>
              </a:rPr>
              <a:t>Four cables, three equations: the split is indeterminate; the position is solved by least squares</a:t>
            </a:r>
            <a:endParaRPr lang="en-US" sz="1000" dirty="0"/>
          </a:p>
          <a:p>
            <a:pPr algn="l" marL="152400" indent="-152400">
              <a:spcAft>
                <a:spcPts val="400"/>
              </a:spcAft>
              <a:buSzPct val="100000"/>
              <a:buChar char="•"/>
            </a:pPr>
            <a:r>
              <a:rPr lang="en-US" sz="1000" dirty="0">
                <a:solidFill>
                  <a:schemeClr val="tx1"/>
                </a:solidFill>
              </a:rPr>
              <a:t>The camera on the floor board fixes the anchors and cable lengths at startup (calibration)</a:t>
            </a:r>
            <a:endParaRPr lang="en-US" sz="1000" dirty="0"/>
          </a:p>
          <a:p>
            <a:pPr algn="l" marL="152400" indent="-152400">
              <a:spcAft>
                <a:spcPts val="400"/>
              </a:spcAft>
              <a:buSzPct val="100000"/>
              <a:buChar char="•"/>
            </a:pPr>
            <a:r>
              <a:rPr lang="en-US" sz="1000" dirty="0">
                <a:solidFill>
                  <a:schemeClr val="tx1"/>
                </a:solidFill>
              </a:rPr>
              <a:t>Validated in the simulator and by held-out poses during calibration (simulated); no physical position measurement yet</a:t>
            </a:r>
            <a:endParaRPr lang="en-US" sz="1000" dirty="0"/>
          </a:p>
        </p:txBody>
      </p:sp>
      <p:sp>
        <p:nvSpPr>
          <p:cNvPr id="10" name="card Torque → pull on the line"/>
          <p:cNvSpPr/>
          <p:nvPr/>
        </p:nvSpPr>
        <p:spPr>
          <a:xfrm>
            <a:off x="3230880" y="868680"/>
            <a:ext cx="2682240" cy="3749040"/>
          </a:xfrm>
          <a:prstGeom prst="roundRect">
            <a:avLst>
              <a:gd name="adj" fmla="val 2045"/>
            </a:avLst>
          </a:prstGeom>
          <a:solidFill>
            <a:schemeClr val="bg2"/>
          </a:solidFill>
          <a:ln w="12700">
            <a:solidFill>
              <a:schemeClr val="bg2"/>
            </a:solidFill>
            <a:prstDash val="solid"/>
          </a:ln>
        </p:spPr>
      </p:sp>
      <p:sp>
        <p:nvSpPr>
          <p:cNvPr id="11" name="heading Torque → pull on the line"/>
          <p:cNvSpPr txBox="1"/>
          <p:nvPr/>
        </p:nvSpPr>
        <p:spPr>
          <a:xfrm>
            <a:off x="337718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Torque → pull on the line</a:t>
            </a:r>
            <a:endParaRPr lang="en-US" sz="1200" dirty="0"/>
          </a:p>
        </p:txBody>
      </p:sp>
      <p:sp>
        <p:nvSpPr>
          <p:cNvPr id="12" name="equation box"/>
          <p:cNvSpPr/>
          <p:nvPr/>
        </p:nvSpPr>
        <p:spPr>
          <a:xfrm>
            <a:off x="3377184" y="1271016"/>
            <a:ext cx="2389632" cy="987552"/>
          </a:xfrm>
          <a:prstGeom prst="rect">
            <a:avLst/>
          </a:prstGeom>
          <a:solidFill>
            <a:srgbClr val="FFFFFF"/>
          </a:solidFill>
          <a:ln w="9525">
            <a:solidFill>
              <a:srgbClr val="000000"/>
            </a:solidFill>
            <a:prstDash val="solid"/>
          </a:ln>
        </p:spPr>
      </p:sp>
      <p:sp>
        <p:nvSpPr>
          <p:cNvPr id="13" name="equations"/>
          <p:cNvSpPr txBox="1"/>
          <p:nvPr/>
        </p:nvSpPr>
        <p:spPr>
          <a:xfrm>
            <a:off x="3468624" y="1344168"/>
            <a:ext cx="2206752" cy="877824"/>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I = Vref / (8·R_s)</a:t>
            </a:r>
            <a:endParaRPr lang="en-US" sz="950" dirty="0"/>
          </a:p>
          <a:p>
            <a:pPr indent="0" marL="0">
              <a:spcAft>
                <a:spcPts val="200"/>
              </a:spcAft>
              <a:buNone/>
            </a:pPr>
            <a:r>
              <a:rPr lang="en-US" sz="950" dirty="0">
                <a:solidFill>
                  <a:schemeClr val="tx1"/>
                </a:solidFill>
              </a:rPr>
              <a:t>τ_hold = τ_rated · I / I_rated</a:t>
            </a:r>
            <a:endParaRPr lang="en-US" sz="950" dirty="0"/>
          </a:p>
          <a:p>
            <a:pPr indent="0" marL="0">
              <a:spcAft>
                <a:spcPts val="200"/>
              </a:spcAft>
              <a:buNone/>
            </a:pPr>
            <a:r>
              <a:rPr lang="en-US" sz="950" dirty="0">
                <a:solidFill>
                  <a:schemeClr val="tx1"/>
                </a:solidFill>
              </a:rPr>
              <a:t>τ_run ≈ 0.7 τ_hold (assumed)</a:t>
            </a:r>
            <a:endParaRPr lang="en-US" sz="950" dirty="0"/>
          </a:p>
          <a:p>
            <a:pPr indent="0" marL="0">
              <a:spcAft>
                <a:spcPts val="200"/>
              </a:spcAft>
              <a:buNone/>
            </a:pPr>
            <a:r>
              <a:rPr lang="en-US" sz="950" dirty="0">
                <a:solidFill>
                  <a:schemeClr val="tx1"/>
                </a:solidFill>
              </a:rPr>
              <a:t>F = τ / r</a:t>
            </a:r>
            <a:endParaRPr lang="en-US" sz="950" dirty="0"/>
          </a:p>
        </p:txBody>
      </p:sp>
      <p:sp>
        <p:nvSpPr>
          <p:cNvPr id="14" name="bullets Torque → pull on the line"/>
          <p:cNvSpPr txBox="1"/>
          <p:nvPr/>
        </p:nvSpPr>
        <p:spPr>
          <a:xfrm>
            <a:off x="3377184" y="2368296"/>
            <a:ext cx="2389632" cy="215798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At 1.5 A: τ_hold 0.36 N·m → running pull 34 N on the empty spool (r 7.5 mm), 25 N on a full spool (r 10 mm) (calculated)</a:t>
            </a:r>
            <a:endParaRPr lang="en-US" sz="1000" dirty="0"/>
          </a:p>
          <a:p>
            <a:pPr algn="l" marL="152400" indent="-152400">
              <a:spcAft>
                <a:spcPts val="400"/>
              </a:spcAft>
              <a:buSzPct val="100000"/>
              <a:buChar char="•"/>
            </a:pPr>
            <a:r>
              <a:rPr lang="en-US" sz="1000" dirty="0">
                <a:solidFill>
                  <a:schemeClr val="tx1"/>
                </a:solidFill>
              </a:rPr>
              <a:t>Validated: Vref measured on the board; the 0.7 running fraction is assumed; the pull test is planned</a:t>
            </a:r>
            <a:endParaRPr lang="en-US" sz="1000" dirty="0"/>
          </a:p>
        </p:txBody>
      </p:sp>
      <p:sp>
        <p:nvSpPr>
          <p:cNvPr id="15" name="card Pull → what four cables hold"/>
          <p:cNvSpPr/>
          <p:nvPr/>
        </p:nvSpPr>
        <p:spPr>
          <a:xfrm>
            <a:off x="6096000" y="868680"/>
            <a:ext cx="2682240" cy="3749040"/>
          </a:xfrm>
          <a:prstGeom prst="roundRect">
            <a:avLst>
              <a:gd name="adj" fmla="val 2045"/>
            </a:avLst>
          </a:prstGeom>
          <a:solidFill>
            <a:schemeClr val="bg2"/>
          </a:solidFill>
          <a:ln w="12700">
            <a:solidFill>
              <a:schemeClr val="bg2"/>
            </a:solidFill>
            <a:prstDash val="solid"/>
          </a:ln>
        </p:spPr>
      </p:sp>
      <p:sp>
        <p:nvSpPr>
          <p:cNvPr id="16" name="heading Pull → what four cables hold"/>
          <p:cNvSpPr txBox="1"/>
          <p:nvPr/>
        </p:nvSpPr>
        <p:spPr>
          <a:xfrm>
            <a:off x="624230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Pull → what four cables hold</a:t>
            </a:r>
            <a:endParaRPr lang="en-US" sz="1200" dirty="0"/>
          </a:p>
        </p:txBody>
      </p:sp>
      <p:sp>
        <p:nvSpPr>
          <p:cNvPr id="17" name="equation box"/>
          <p:cNvSpPr/>
          <p:nvPr/>
        </p:nvSpPr>
        <p:spPr>
          <a:xfrm>
            <a:off x="6242304" y="1271016"/>
            <a:ext cx="2389632" cy="585216"/>
          </a:xfrm>
          <a:prstGeom prst="rect">
            <a:avLst/>
          </a:prstGeom>
          <a:solidFill>
            <a:srgbClr val="FFFFFF"/>
          </a:solidFill>
          <a:ln w="9525">
            <a:solidFill>
              <a:srgbClr val="000000"/>
            </a:solidFill>
            <a:prstDash val="solid"/>
          </a:ln>
        </p:spPr>
      </p:sp>
      <p:sp>
        <p:nvSpPr>
          <p:cNvPr id="18" name="equations"/>
          <p:cNvSpPr txBox="1"/>
          <p:nvPr/>
        </p:nvSpPr>
        <p:spPr>
          <a:xfrm>
            <a:off x="6333744" y="1344168"/>
            <a:ext cx="2206752" cy="47548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 = W / (4 sin φ)</a:t>
            </a:r>
            <a:endParaRPr lang="en-US" sz="950" dirty="0"/>
          </a:p>
          <a:p>
            <a:pPr indent="0" marL="0">
              <a:spcAft>
                <a:spcPts val="200"/>
              </a:spcAft>
              <a:buNone/>
            </a:pPr>
            <a:r>
              <a:rPr lang="en-US" sz="950" dirty="0">
                <a:solidFill>
                  <a:schemeClr val="tx1"/>
                </a:solidFill>
              </a:rPr>
              <a:t>sin φ = d / √(d² + D_h²)</a:t>
            </a:r>
            <a:endParaRPr lang="en-US" sz="950" dirty="0"/>
          </a:p>
        </p:txBody>
      </p:sp>
      <p:sp>
        <p:nvSpPr>
          <p:cNvPr id="19" name="bullets Pull → what four cables hold"/>
          <p:cNvSpPr txBox="1"/>
          <p:nvPr/>
        </p:nvSpPr>
        <p:spPr>
          <a:xfrm>
            <a:off x="6242304" y="1965960"/>
            <a:ext cx="2389632" cy="2560320"/>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Tension doubles each time the depth below the anchors halves: 32 / 16 / 8 / 5 N at 0.15 / 0.3 / 0.6 / 1.2 m for 1 lb + claw (calculated)</a:t>
            </a:r>
            <a:endParaRPr lang="en-US" sz="1000" dirty="0"/>
          </a:p>
          <a:p>
            <a:pPr algn="l" marL="152400" indent="-152400">
              <a:spcAft>
                <a:spcPts val="400"/>
              </a:spcAft>
              <a:buSzPct val="100000"/>
              <a:buChar char="•"/>
            </a:pPr>
            <a:r>
              <a:rPr lang="en-US" sz="1000" dirty="0">
                <a:solidFill>
                  <a:schemeClr val="tx1"/>
                </a:solidFill>
              </a:rPr>
              <a:t>Why the planner keeps the claw at least 0.4 m below the anchors</a:t>
            </a:r>
            <a:endParaRPr lang="en-US" sz="1000" dirty="0"/>
          </a:p>
          <a:p>
            <a:pPr algn="l" marL="152400" indent="-152400">
              <a:spcAft>
                <a:spcPts val="400"/>
              </a:spcAft>
              <a:buSzPct val="100000"/>
              <a:buChar char="•"/>
            </a:pPr>
            <a:r>
              <a:rPr lang="en-US" sz="1000" dirty="0">
                <a:solidFill>
                  <a:schemeClr val="tx1"/>
                </a:solidFill>
              </a:rPr>
              <a:t>Validated: calculated only; no cable tension has been measured on the rig</a:t>
            </a:r>
            <a:endParaRPr lang="en-US" sz="1000" dirty="0"/>
          </a:p>
        </p:txBody>
      </p:sp>
      <p:sp>
        <p:nvSpPr>
          <p:cNvPr id="20"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pic>
        <p:nvPicPr>
          <p:cNvPr id="10"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Slide-in mount and load path"/>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Slide-in mount and load path</a:t>
            </a:r>
            <a:endParaRPr lang="en-US" sz="1250" dirty="0"/>
          </a:p>
        </p:txBody>
      </p:sp>
      <p:sp>
        <p:nvSpPr>
          <p:cNvPr id="6" name="bullets Slide-in mount and load path"/>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Fin, vents, stud"/>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Fin, vents, stud</a:t>
            </a:r>
            <a:endParaRPr lang="en-US" sz="1250" dirty="0"/>
          </a:p>
        </p:txBody>
      </p:sp>
      <p:sp>
        <p:nvSpPr>
          <p:cNvPr id="6" name="bullets Fin, vents, stud"/>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258568" cy="1645920"/>
          </a:xfrm>
          <a:prstGeom prst="roundRect">
            <a:avLst>
              <a:gd name="adj" fmla="val 3333"/>
            </a:avLst>
          </a:prstGeom>
          <a:solidFill>
            <a:schemeClr val="bg2"/>
          </a:solidFill>
          <a:ln w="12700">
            <a:solidFill>
              <a:schemeClr val="bg2"/>
            </a:solidFill>
            <a:prstDash val="solid"/>
          </a:ln>
        </p:spPr>
      </p:sp>
      <p:sp>
        <p:nvSpPr>
          <p:cNvPr id="5" name="heading 1  SELF_CHECK"/>
          <p:cNvSpPr txBox="1"/>
          <p:nvPr/>
        </p:nvSpPr>
        <p:spPr>
          <a:xfrm>
            <a:off x="512064"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1  SELF_CHECK</a:t>
            </a:r>
            <a:endParaRPr lang="en-US" sz="1000" dirty="0"/>
          </a:p>
        </p:txBody>
      </p:sp>
      <p:sp>
        <p:nvSpPr>
          <p:cNvPr id="6" name="bullets 1  SELF_CHECK"/>
          <p:cNvSpPr txBox="1"/>
          <p:nvPr/>
        </p:nvSpPr>
        <p:spPr>
          <a:xfrm>
            <a:off x="512064"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Claw online, battery above minimum</a:t>
            </a:r>
            <a:endParaRPr lang="en-US" sz="900" dirty="0"/>
          </a:p>
          <a:p>
            <a:pPr algn="l" marL="152400" indent="-152400">
              <a:spcAft>
                <a:spcPts val="200"/>
              </a:spcAft>
              <a:buSzPct val="100000"/>
              <a:buChar char="•"/>
            </a:pPr>
            <a:r>
              <a:rPr lang="en-US" sz="900" dirty="0">
                <a:solidFill>
                  <a:schemeClr val="tx1"/>
                </a:solidFill>
              </a:rPr>
              <a:t>Camera confirms the claw upright at the known height on the floor board</a:t>
            </a:r>
            <a:endParaRPr lang="en-US" sz="900" dirty="0"/>
          </a:p>
          <a:p>
            <a:pPr algn="l" marL="152400" indent="-152400">
              <a:spcAft>
                <a:spcPts val="200"/>
              </a:spcAft>
              <a:buSzPct val="100000"/>
              <a:buChar char="•"/>
            </a:pPr>
            <a:r>
              <a:rPr lang="en-US" sz="900" dirty="0">
                <a:solidFill>
                  <a:schemeClr val="tx1"/>
                </a:solidFill>
              </a:rPr>
              <a:t>Stations healthy, homing switches closed; arm</a:t>
            </a:r>
            <a:endParaRPr lang="en-US" sz="900" dirty="0"/>
          </a:p>
        </p:txBody>
      </p:sp>
      <p:sp>
        <p:nvSpPr>
          <p:cNvPr id="7" name="card 2  SLACK_TAKEUP"/>
          <p:cNvSpPr/>
          <p:nvPr/>
        </p:nvSpPr>
        <p:spPr>
          <a:xfrm>
            <a:off x="2734056" y="868680"/>
            <a:ext cx="2258568" cy="1645920"/>
          </a:xfrm>
          <a:prstGeom prst="roundRect">
            <a:avLst>
              <a:gd name="adj" fmla="val 3333"/>
            </a:avLst>
          </a:prstGeom>
          <a:solidFill>
            <a:schemeClr val="bg2"/>
          </a:solidFill>
          <a:ln w="12700">
            <a:solidFill>
              <a:schemeClr val="bg2"/>
            </a:solidFill>
            <a:prstDash val="solid"/>
          </a:ln>
        </p:spPr>
      </p:sp>
      <p:sp>
        <p:nvSpPr>
          <p:cNvPr id="8" name="heading 2  SLACK_TAKEUP"/>
          <p:cNvSpPr txBox="1"/>
          <p:nvPr/>
        </p:nvSpPr>
        <p:spPr>
          <a:xfrm>
            <a:off x="2880360"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2  SLACK_TAKEUP</a:t>
            </a:r>
            <a:endParaRPr lang="en-US" sz="1000" dirty="0"/>
          </a:p>
        </p:txBody>
      </p:sp>
      <p:sp>
        <p:nvSpPr>
          <p:cNvPr id="9" name="bullets 2  SLACK_TAKEUP"/>
          <p:cNvSpPr txBox="1"/>
          <p:nvPr/>
        </p:nvSpPr>
        <p:spPr>
          <a:xfrm>
            <a:off x="2880360"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One cable at a time reeled in until the camera sees the claw slide or tip (onset)</a:t>
            </a:r>
            <a:endParaRPr lang="en-US" sz="900" dirty="0"/>
          </a:p>
          <a:p>
            <a:pPr algn="l" marL="152400" indent="-152400">
              <a:spcAft>
                <a:spcPts val="200"/>
              </a:spcAft>
              <a:buSzPct val="100000"/>
              <a:buChar char="•"/>
            </a:pPr>
            <a:r>
              <a:rPr lang="en-US" sz="900" dirty="0">
                <a:solidFill>
                  <a:schemeClr val="tx1"/>
                </a:solidFill>
              </a:rPr>
              <a:t>Records spool position and slide bearing; backs off</a:t>
            </a:r>
            <a:endParaRPr lang="en-US" sz="900" dirty="0"/>
          </a:p>
          <a:p>
            <a:pPr algn="l" marL="152400" indent="-152400">
              <a:spcAft>
                <a:spcPts val="200"/>
              </a:spcAft>
              <a:buSzPct val="100000"/>
              <a:buChar char="•"/>
            </a:pPr>
            <a:r>
              <a:rPr lang="en-US" sz="900" dirty="0">
                <a:solidFill>
                  <a:schemeClr val="tx1"/>
                </a:solidFill>
              </a:rPr>
              <a:t>Bearings checked against the anchor layout; first fit of cable lengths</a:t>
            </a:r>
            <a:endParaRPr lang="en-US" sz="900" dirty="0"/>
          </a:p>
        </p:txBody>
      </p:sp>
      <p:sp>
        <p:nvSpPr>
          <p:cNvPr id="10" name="card 3  INITIAL_LIFT"/>
          <p:cNvSpPr/>
          <p:nvPr/>
        </p:nvSpPr>
        <p:spPr>
          <a:xfrm>
            <a:off x="5102352" y="868680"/>
            <a:ext cx="2258568" cy="1645920"/>
          </a:xfrm>
          <a:prstGeom prst="roundRect">
            <a:avLst>
              <a:gd name="adj" fmla="val 3333"/>
            </a:avLst>
          </a:prstGeom>
          <a:solidFill>
            <a:schemeClr val="bg2"/>
          </a:solidFill>
          <a:ln w="12700">
            <a:solidFill>
              <a:schemeClr val="bg2"/>
            </a:solidFill>
            <a:prstDash val="solid"/>
          </a:ln>
        </p:spPr>
      </p:sp>
      <p:sp>
        <p:nvSpPr>
          <p:cNvPr id="11" name="heading 3  INITIAL_LIFT"/>
          <p:cNvSpPr txBox="1"/>
          <p:nvPr/>
        </p:nvSpPr>
        <p:spPr>
          <a:xfrm>
            <a:off x="5248656"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3  INITIAL_LIFT</a:t>
            </a:r>
            <a:endParaRPr lang="en-US" sz="1000" dirty="0"/>
          </a:p>
        </p:txBody>
      </p:sp>
      <p:sp>
        <p:nvSpPr>
          <p:cNvPr id="12" name="bullets 3  INITIAL_LIFT"/>
          <p:cNvSpPr txBox="1"/>
          <p:nvPr/>
        </p:nvSpPr>
        <p:spPr>
          <a:xfrm>
            <a:off x="5248656"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Pretension all cables; lift in small packets</a:t>
            </a:r>
            <a:endParaRPr lang="en-US" sz="900" dirty="0"/>
          </a:p>
          <a:p>
            <a:pPr algn="l" marL="152400" indent="-152400">
              <a:spcAft>
                <a:spcPts val="200"/>
              </a:spcAft>
              <a:buSzPct val="100000"/>
              <a:buChar char="•"/>
            </a:pPr>
            <a:r>
              <a:rPr lang="en-US" sz="900" dirty="0">
                <a:solidFill>
                  <a:schemeClr val="tx1"/>
                </a:solidFill>
              </a:rPr>
              <a:t>Abort on lateral drift, tilt, or commanded lift exceeding observed rise (slack cable)</a:t>
            </a:r>
            <a:endParaRPr lang="en-US" sz="900" dirty="0"/>
          </a:p>
        </p:txBody>
      </p:sp>
      <p:sp>
        <p:nvSpPr>
          <p:cNvPr id="13" name="card 4  VISUAL_INITIALIZATION"/>
          <p:cNvSpPr/>
          <p:nvPr/>
        </p:nvSpPr>
        <p:spPr>
          <a:xfrm>
            <a:off x="365760" y="2624328"/>
            <a:ext cx="2258568" cy="1645920"/>
          </a:xfrm>
          <a:prstGeom prst="roundRect">
            <a:avLst>
              <a:gd name="adj" fmla="val 3333"/>
            </a:avLst>
          </a:prstGeom>
          <a:solidFill>
            <a:schemeClr val="bg2"/>
          </a:solidFill>
          <a:ln w="12700">
            <a:solidFill>
              <a:schemeClr val="bg2"/>
            </a:solidFill>
            <a:prstDash val="solid"/>
          </a:ln>
        </p:spPr>
      </p:sp>
      <p:sp>
        <p:nvSpPr>
          <p:cNvPr id="14" name="heading 4  VISUAL_INITIALIZATION"/>
          <p:cNvSpPr txBox="1"/>
          <p:nvPr/>
        </p:nvSpPr>
        <p:spPr>
          <a:xfrm>
            <a:off x="512064"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4  VISUAL_INITIALIZATION</a:t>
            </a:r>
            <a:endParaRPr lang="en-US" sz="1000" dirty="0"/>
          </a:p>
        </p:txBody>
      </p:sp>
      <p:sp>
        <p:nvSpPr>
          <p:cNvPr id="15" name="bullets 4  VISUAL_INITIALIZATION"/>
          <p:cNvSpPr txBox="1"/>
          <p:nvPr/>
        </p:nvSpPr>
        <p:spPr>
          <a:xfrm>
            <a:off x="512064"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Settled frame batch of the floor board</a:t>
            </a:r>
            <a:endParaRPr lang="en-US" sz="900" dirty="0"/>
          </a:p>
          <a:p>
            <a:pPr algn="l" marL="152400" indent="-152400">
              <a:spcAft>
                <a:spcPts val="200"/>
              </a:spcAft>
              <a:buSzPct val="100000"/>
              <a:buChar char="•"/>
            </a:pPr>
            <a:r>
              <a:rPr lang="en-US" sz="900" dirty="0">
                <a:solidFill>
                  <a:schemeClr val="tx1"/>
                </a:solidFill>
              </a:rPr>
              <a:t>Refit cable lengths and the room-to-marker transform</a:t>
            </a:r>
            <a:endParaRPr lang="en-US" sz="900" dirty="0"/>
          </a:p>
        </p:txBody>
      </p:sp>
      <p:sp>
        <p:nvSpPr>
          <p:cNvPr id="16" name="card 5  CALIBRATION"/>
          <p:cNvSpPr/>
          <p:nvPr/>
        </p:nvSpPr>
        <p:spPr>
          <a:xfrm>
            <a:off x="2734056" y="2624328"/>
            <a:ext cx="2258568" cy="1645920"/>
          </a:xfrm>
          <a:prstGeom prst="roundRect">
            <a:avLst>
              <a:gd name="adj" fmla="val 3333"/>
            </a:avLst>
          </a:prstGeom>
          <a:solidFill>
            <a:schemeClr val="bg2"/>
          </a:solidFill>
          <a:ln w="12700">
            <a:solidFill>
              <a:schemeClr val="bg2"/>
            </a:solidFill>
            <a:prstDash val="solid"/>
          </a:ln>
        </p:spPr>
      </p:sp>
      <p:sp>
        <p:nvSpPr>
          <p:cNvPr id="17" name="heading 5  CALIBRATION"/>
          <p:cNvSpPr txBox="1"/>
          <p:nvPr/>
        </p:nvSpPr>
        <p:spPr>
          <a:xfrm>
            <a:off x="2880360"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5  CALIBRATION</a:t>
            </a:r>
            <a:endParaRPr lang="en-US" sz="1000" dirty="0"/>
          </a:p>
        </p:txBody>
      </p:sp>
      <p:sp>
        <p:nvSpPr>
          <p:cNvPr id="18" name="bullets 5  CALIBRATION"/>
          <p:cNvSpPr txBox="1"/>
          <p:nvPr/>
        </p:nvSpPr>
        <p:spPr>
          <a:xfrm>
            <a:off x="2880360"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Local → intermediate → expanded pose sets chosen by D-optimal design; refit between stages</a:t>
            </a:r>
            <a:endParaRPr lang="en-US" sz="900" dirty="0"/>
          </a:p>
          <a:p>
            <a:pPr algn="l" marL="152400" indent="-152400">
              <a:spcAft>
                <a:spcPts val="200"/>
              </a:spcAft>
              <a:buSzPct val="100000"/>
              <a:buChar char="•"/>
            </a:pPr>
            <a:r>
              <a:rPr lang="en-US" sz="900" dirty="0">
                <a:solidFill>
                  <a:schemeClr val="tx1"/>
                </a:solidFill>
              </a:rPr>
              <a:t>Held-out witness poses</a:t>
            </a:r>
            <a:endParaRPr lang="en-US" sz="900" dirty="0"/>
          </a:p>
          <a:p>
            <a:pPr algn="l" marL="152400" indent="-152400">
              <a:spcAft>
                <a:spcPts val="200"/>
              </a:spcAft>
              <a:buSzPct val="100000"/>
              <a:buChar char="•"/>
            </a:pPr>
            <a:r>
              <a:rPr lang="en-US" sz="900" dirty="0">
                <a:solidFill>
                  <a:schemeClr val="tx1"/>
                </a:solidFill>
              </a:rPr>
              <a:t>Accept on witness residuals, identifiability, predicted length sigma over the work volume</a:t>
            </a:r>
            <a:endParaRPr lang="en-US" sz="900" dirty="0"/>
          </a:p>
        </p:txBody>
      </p:sp>
      <p:sp>
        <p:nvSpPr>
          <p:cNvPr id="19" name="card 6  REFERENCE_VERIFICATION"/>
          <p:cNvSpPr/>
          <p:nvPr/>
        </p:nvSpPr>
        <p:spPr>
          <a:xfrm>
            <a:off x="5102352" y="2624328"/>
            <a:ext cx="2258568" cy="1645920"/>
          </a:xfrm>
          <a:prstGeom prst="roundRect">
            <a:avLst>
              <a:gd name="adj" fmla="val 3333"/>
            </a:avLst>
          </a:prstGeom>
          <a:solidFill>
            <a:schemeClr val="bg2"/>
          </a:solidFill>
          <a:ln w="12700">
            <a:solidFill>
              <a:schemeClr val="bg2"/>
            </a:solidFill>
            <a:prstDash val="solid"/>
          </a:ln>
        </p:spPr>
      </p:sp>
      <p:sp>
        <p:nvSpPr>
          <p:cNvPr id="20" name="heading 6  REFERENCE_VERIFICATION"/>
          <p:cNvSpPr txBox="1"/>
          <p:nvPr/>
        </p:nvSpPr>
        <p:spPr>
          <a:xfrm>
            <a:off x="5248656"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6  REFERENCE_VERIFICATION</a:t>
            </a:r>
            <a:endParaRPr lang="en-US" sz="1000" dirty="0"/>
          </a:p>
        </p:txBody>
      </p:sp>
      <p:sp>
        <p:nvSpPr>
          <p:cNvPr id="21" name="bullets 6  REFERENCE_VERIFICATION"/>
          <p:cNvSpPr txBox="1"/>
          <p:nvPr/>
        </p:nvSpPr>
        <p:spPr>
          <a:xfrm>
            <a:off x="5248656"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Optional bead references</a:t>
            </a:r>
            <a:endParaRPr lang="en-US" sz="900" dirty="0"/>
          </a:p>
          <a:p>
            <a:pPr algn="l" marL="152400" indent="-152400">
              <a:spcAft>
                <a:spcPts val="200"/>
              </a:spcAft>
              <a:buSzPct val="100000"/>
              <a:buChar char="•"/>
            </a:pPr>
            <a:r>
              <a:rPr lang="en-US" sz="900" dirty="0">
                <a:solidFill>
                  <a:schemeClr val="tx1"/>
                </a:solidFill>
              </a:rPr>
              <a:t>Trust level VERIFIED or LOCAL_ONLY from the margin check</a:t>
            </a:r>
            <a:endParaRPr lang="en-US" sz="900" dirty="0"/>
          </a:p>
        </p:txBody>
      </p:sp>
      <p:sp>
        <p:nvSpPr>
          <p:cNvPr id="22" name="rules"/>
          <p:cNvSpPr txBox="1"/>
          <p:nvPr/>
        </p:nvSpPr>
        <p:spPr>
          <a:xfrm>
            <a:off x="365760" y="4325112"/>
            <a:ext cx="69037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23" name="The claw hanging on three cables" descr="The claw hanging on three cables">    </p:cNvPr>
          <p:cNvPicPr>
            <a:picLocks noChangeAspect="1"/>
          </p:cNvPicPr>
          <p:nvPr/>
        </p:nvPicPr>
        <p:blipFill>
          <a:blip r:embed="rId1"/>
          <a:stretch>
            <a:fillRect/>
          </a:stretch>
        </p:blipFill>
        <p:spPr>
          <a:xfrm>
            <a:off x="7498080" y="868680"/>
            <a:ext cx="1280160" cy="3511296"/>
          </a:xfrm>
          <a:prstGeom prst="rect">
            <a:avLst/>
          </a:prstGeom>
        </p:spPr>
      </p:pic>
      <p:sp>
        <p:nvSpPr>
          <p:cNvPr id="24" name="caption"/>
          <p:cNvSpPr txBox="1"/>
          <p:nvPr/>
        </p:nvSpPr>
        <p:spPr>
          <a:xfrm>
            <a:off x="7498080" y="4416552"/>
            <a:ext cx="1280160" cy="201168"/>
          </a:xfrm>
          <a:prstGeom prst="rect">
            <a:avLst/>
          </a:prstGeom>
          <a:noFill/>
          <a:ln/>
        </p:spPr>
        <p:txBody>
          <a:bodyPr wrap="square" lIns="0" tIns="0" rIns="0" bIns="0" rtlCol="0" anchor="ctr"/>
          <a:lstStyle/>
          <a:p>
            <a:pPr algn="l" indent="0" marL="0">
              <a:buNone/>
            </a:pPr>
            <a:r>
              <a:rPr lang="en-US" sz="850" dirty="0">
                <a:solidFill>
                  <a:schemeClr val="tx2"/>
                </a:solidFill>
              </a:rPr>
              <a:t>Suspended, before CALIBRATION</a:t>
            </a:r>
            <a:endParaRPr lang="en-US" sz="850" dirty="0"/>
          </a:p>
        </p:txBody>
      </p:sp>
      <p:sp>
        <p:nvSpPr>
          <p:cNvPr id="25"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965960" cy="2240280"/>
          </a:xfrm>
          <a:prstGeom prst="roundRect">
            <a:avLst>
              <a:gd name="adj" fmla="val 2791"/>
            </a:avLst>
          </a:prstGeom>
          <a:solidFill>
            <a:schemeClr val="bg2"/>
          </a:solidFill>
          <a:ln w="12700">
            <a:solidFill>
              <a:schemeClr val="bg2"/>
            </a:solidFill>
            <a:prstDash val="solid"/>
          </a:ln>
        </p:spPr>
      </p:sp>
      <p:sp>
        <p:nvSpPr>
          <p:cNvPr id="5" name="heading 3:1 printed gear stage"/>
          <p:cNvSpPr txBox="1"/>
          <p:nvPr/>
        </p:nvSpPr>
        <p:spPr>
          <a:xfrm>
            <a:off x="51206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3:1 printed gear stage</a:t>
            </a:r>
            <a:endParaRPr lang="en-US" sz="1150" dirty="0"/>
          </a:p>
        </p:txBody>
      </p:sp>
      <p:sp>
        <p:nvSpPr>
          <p:cNvPr id="6" name="bullets 3:1 printed gear stage"/>
          <p:cNvSpPr txBox="1"/>
          <p:nvPr/>
        </p:nvSpPr>
        <p:spPr>
          <a:xfrm>
            <a:off x="51206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18T / 54T spur, printed PETG pinion</a:t>
            </a:r>
            <a:endParaRPr lang="en-US" sz="1000" dirty="0"/>
          </a:p>
          <a:p>
            <a:pPr algn="l" marL="152400" indent="-152400">
              <a:spcAft>
                <a:spcPts val="300"/>
              </a:spcAft>
              <a:buSzPct val="100000"/>
              <a:buChar char="•"/>
            </a:pPr>
            <a:r>
              <a:rPr lang="en-US" sz="1000" dirty="0">
                <a:solidFill>
                  <a:schemeClr val="tx1"/>
                </a:solidFill>
              </a:rPr>
              <a:t>Designed and checked in CAD; pinion printed; not fitted</a:t>
            </a:r>
            <a:endParaRPr lang="en-US" sz="1000" dirty="0"/>
          </a:p>
          <a:p>
            <a:pPr algn="l" marL="152400" indent="-152400">
              <a:spcAft>
                <a:spcPts val="300"/>
              </a:spcAft>
              <a:buSzPct val="100000"/>
              <a:buChar char="•"/>
            </a:pPr>
            <a:r>
              <a:rPr lang="en-US" sz="1000" dirty="0">
                <a:solidFill>
                  <a:schemeClr val="tx1"/>
                </a:solidFill>
              </a:rPr>
              <a:t>2.7 x pull at 1.0 A, half the heat (calculated)</a:t>
            </a:r>
            <a:endParaRPr lang="en-US" sz="1000" dirty="0"/>
          </a:p>
          <a:p>
            <a:pPr algn="l" marL="152400" indent="-152400">
              <a:spcAft>
                <a:spcPts val="300"/>
              </a:spcAft>
              <a:buSzPct val="100000"/>
              <a:buChar char="•"/>
            </a:pPr>
            <a:r>
              <a:rPr lang="en-US" sz="1000" dirty="0">
                <a:solidFill>
                  <a:schemeClr val="tx1"/>
                </a:solidFill>
              </a:rPr>
              <a:t>Slip fuse moves to about 130 N (calculated)</a:t>
            </a:r>
            <a:endParaRPr lang="en-US" sz="1000" dirty="0"/>
          </a:p>
        </p:txBody>
      </p:sp>
      <p:sp>
        <p:nvSpPr>
          <p:cNvPr id="7" name="card 1° draft on the dovetail"/>
          <p:cNvSpPr/>
          <p:nvPr/>
        </p:nvSpPr>
        <p:spPr>
          <a:xfrm>
            <a:off x="2468880" y="868680"/>
            <a:ext cx="1965960" cy="2240280"/>
          </a:xfrm>
          <a:prstGeom prst="roundRect">
            <a:avLst>
              <a:gd name="adj" fmla="val 2791"/>
            </a:avLst>
          </a:prstGeom>
          <a:solidFill>
            <a:schemeClr val="bg2"/>
          </a:solidFill>
          <a:ln w="12700">
            <a:solidFill>
              <a:schemeClr val="bg2"/>
            </a:solidFill>
            <a:prstDash val="solid"/>
          </a:ln>
        </p:spPr>
      </p:sp>
      <p:sp>
        <p:nvSpPr>
          <p:cNvPr id="8" name="heading 1° draft on the dovetail"/>
          <p:cNvSpPr txBox="1"/>
          <p:nvPr/>
        </p:nvSpPr>
        <p:spPr>
          <a:xfrm>
            <a:off x="261518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1° draft on the dovetail</a:t>
            </a:r>
            <a:endParaRPr lang="en-US" sz="1150" dirty="0"/>
          </a:p>
        </p:txBody>
      </p:sp>
      <p:sp>
        <p:nvSpPr>
          <p:cNvPr id="9" name="bullets 1° draft on the dovetail"/>
          <p:cNvSpPr txBox="1"/>
          <p:nvPr/>
        </p:nvSpPr>
        <p:spPr>
          <a:xfrm>
            <a:off x="261518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the slide-in binds on insertion</a:t>
            </a:r>
            <a:endParaRPr lang="en-US" sz="1000" dirty="0"/>
          </a:p>
          <a:p>
            <a:pPr algn="l" marL="152400" indent="-152400">
              <a:spcAft>
                <a:spcPts val="300"/>
              </a:spcAft>
              <a:buSzPct val="100000"/>
              <a:buChar char="•"/>
            </a:pPr>
            <a:r>
              <a:rPr lang="en-US" sz="1000" dirty="0">
                <a:solidFill>
                  <a:schemeClr val="tx1"/>
                </a:solidFill>
              </a:rPr>
              <a:t>Thicker at the top, thinning toward the bottom</a:t>
            </a:r>
            <a:endParaRPr lang="en-US" sz="1000" dirty="0"/>
          </a:p>
          <a:p>
            <a:pPr algn="l" marL="152400" indent="-152400">
              <a:spcAft>
                <a:spcPts val="300"/>
              </a:spcAft>
              <a:buSzPct val="100000"/>
              <a:buChar char="•"/>
            </a:pPr>
            <a:r>
              <a:rPr lang="en-US" sz="1000" dirty="0">
                <a:solidFill>
                  <a:schemeClr val="tx1"/>
                </a:solidFill>
              </a:rPr>
              <a:t>The station self-locates as it slides in (planned)</a:t>
            </a:r>
            <a:endParaRPr lang="en-US" sz="1000" dirty="0"/>
          </a:p>
        </p:txBody>
      </p:sp>
      <p:sp>
        <p:nvSpPr>
          <p:cNvPr id="10" name="card Lighter back mount"/>
          <p:cNvSpPr/>
          <p:nvPr/>
        </p:nvSpPr>
        <p:spPr>
          <a:xfrm>
            <a:off x="4572000" y="868680"/>
            <a:ext cx="1965960" cy="2240280"/>
          </a:xfrm>
          <a:prstGeom prst="roundRect">
            <a:avLst>
              <a:gd name="adj" fmla="val 2791"/>
            </a:avLst>
          </a:prstGeom>
          <a:solidFill>
            <a:schemeClr val="bg2"/>
          </a:solidFill>
          <a:ln w="12700">
            <a:solidFill>
              <a:schemeClr val="bg2"/>
            </a:solidFill>
            <a:prstDash val="solid"/>
          </a:ln>
        </p:spPr>
      </p:sp>
      <p:sp>
        <p:nvSpPr>
          <p:cNvPr id="11" name="heading Lighter back mount"/>
          <p:cNvSpPr txBox="1"/>
          <p:nvPr/>
        </p:nvSpPr>
        <p:spPr>
          <a:xfrm>
            <a:off x="471830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Lighter back mount</a:t>
            </a:r>
            <a:endParaRPr lang="en-US" sz="1150" dirty="0"/>
          </a:p>
        </p:txBody>
      </p:sp>
      <p:sp>
        <p:nvSpPr>
          <p:cNvPr id="12" name="bullets Lighter back mount"/>
          <p:cNvSpPr txBox="1"/>
          <p:nvPr/>
        </p:nvSpPr>
        <p:spPr>
          <a:xfrm>
            <a:off x="471830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about 200 x the motor's pull, 597 cm³ solid</a:t>
            </a:r>
            <a:endParaRPr lang="en-US" sz="1000" dirty="0"/>
          </a:p>
          <a:p>
            <a:pPr algn="l" marL="152400" indent="-152400">
              <a:spcAft>
                <a:spcPts val="300"/>
              </a:spcAft>
              <a:buSzPct val="100000"/>
              <a:buChar char="•"/>
            </a:pPr>
            <a:r>
              <a:rPr lang="en-US" sz="1000" dirty="0">
                <a:solidFill>
                  <a:schemeClr val="tx1"/>
                </a:solidFill>
              </a:rPr>
              <a:t>Thinner walls and ribs: about 200 cm³ (planned)</a:t>
            </a:r>
            <a:endParaRPr lang="en-US" sz="1000" dirty="0"/>
          </a:p>
          <a:p>
            <a:pPr algn="l" marL="152400" indent="-152400">
              <a:spcAft>
                <a:spcPts val="300"/>
              </a:spcAft>
              <a:buSzPct val="100000"/>
              <a:buChar char="•"/>
            </a:pPr>
            <a:r>
              <a:rPr lang="en-US" sz="1000" dirty="0">
                <a:solidFill>
                  <a:schemeClr val="tx1"/>
                </a:solidFill>
              </a:rPr>
              <a:t>Less print time and filament for anyone building it</a:t>
            </a:r>
            <a:endParaRPr lang="en-US" sz="1000" dirty="0"/>
          </a:p>
        </p:txBody>
      </p:sp>
      <p:sp>
        <p:nvSpPr>
          <p:cNvPr id="13" name="card Not working yet / still planned"/>
          <p:cNvSpPr/>
          <p:nvPr/>
        </p:nvSpPr>
        <p:spPr>
          <a:xfrm>
            <a:off x="365760" y="3246120"/>
            <a:ext cx="6172200" cy="1371600"/>
          </a:xfrm>
          <a:prstGeom prst="roundRect">
            <a:avLst>
              <a:gd name="adj" fmla="val 4000"/>
            </a:avLst>
          </a:prstGeom>
          <a:solidFill>
            <a:schemeClr val="bg2"/>
          </a:solidFill>
          <a:ln w="12700">
            <a:solidFill>
              <a:schemeClr val="bg2"/>
            </a:solidFill>
            <a:prstDash val="solid"/>
          </a:ln>
        </p:spPr>
      </p:sp>
      <p:sp>
        <p:nvSpPr>
          <p:cNvPr id="14" name="heading Not working yet / still planned"/>
          <p:cNvSpPr txBox="1"/>
          <p:nvPr/>
        </p:nvSpPr>
        <p:spPr>
          <a:xfrm>
            <a:off x="512064" y="3337560"/>
            <a:ext cx="5879592"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648456"/>
            <a:ext cx="5879592" cy="87782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sp>
        <p:nvSpPr>
          <p:cNvPr id="16" name="placeholder"/>
          <p:cNvSpPr/>
          <p:nvPr/>
        </p:nvSpPr>
        <p:spPr>
          <a:xfrm>
            <a:off x="6675120" y="868680"/>
            <a:ext cx="2103120" cy="3511296"/>
          </a:xfrm>
          <a:prstGeom prst="roundRect">
            <a:avLst>
              <a:gd name="adj" fmla="val 2609"/>
            </a:avLst>
          </a:prstGeom>
          <a:solidFill>
            <a:srgbClr val="FFFFFF"/>
          </a:solidFill>
          <a:ln w="12700">
            <a:solidFill>
              <a:srgbClr val="8A8F98"/>
            </a:solidFill>
            <a:prstDash val="dash"/>
          </a:ln>
        </p:spPr>
      </p:sp>
      <p:sp>
        <p:nvSpPr>
          <p:cNvPr id="17" name="placeholder text"/>
          <p:cNvSpPr txBox="1"/>
          <p:nvPr/>
        </p:nvSpPr>
        <p:spPr>
          <a:xfrm>
            <a:off x="6812280" y="868680"/>
            <a:ext cx="1828800" cy="3511296"/>
          </a:xfrm>
          <a:prstGeom prst="rect">
            <a:avLst/>
          </a:prstGeom>
          <a:noFill/>
          <a:ln/>
        </p:spPr>
        <p:txBody>
          <a:bodyPr wrap="square" lIns="0" tIns="0" rIns="0" bIns="0" rtlCol="0" anchor="ctr"/>
          <a:lstStyle/>
          <a:p>
            <a:pPr algn="ctr" indent="0" marL="0">
              <a:buNone/>
            </a:pPr>
            <a:r>
              <a:rPr lang="en-US" sz="1200" dirty="0">
                <a:solidFill>
                  <a:schemeClr val="tx2"/>
                </a:solidFill>
              </a:rPr>
              <a:t>[Jasper: new CAD]</a:t>
            </a:r>
            <a:endParaRPr lang="en-US" sz="1200" dirty="0"/>
          </a:p>
        </p:txBody>
      </p:sp>
      <p:sp>
        <p:nvSpPr>
          <p:cNvPr id="18" name="caption"/>
          <p:cNvSpPr txBox="1"/>
          <p:nvPr/>
        </p:nvSpPr>
        <p:spPr>
          <a:xfrm>
            <a:off x="6675120" y="4416552"/>
            <a:ext cx="2103120" cy="201168"/>
          </a:xfrm>
          <a:prstGeom prst="rect">
            <a:avLst/>
          </a:prstGeom>
          <a:noFill/>
          <a:ln/>
        </p:spPr>
        <p:txBody>
          <a:bodyPr wrap="square" lIns="0" tIns="0" rIns="0" bIns="0" rtlCol="0" anchor="ctr"/>
          <a:lstStyle/>
          <a:p>
            <a:pPr algn="l" indent="0" marL="0">
              <a:buNone/>
            </a:pPr>
            <a:r>
              <a:rPr lang="en-US" sz="850" dirty="0">
                <a:solidFill>
                  <a:schemeClr val="tx2"/>
                </a:solidFill>
              </a:rPr>
              <a:t>Next-iteration parts: gear stage, drafted slide-in, lighter mount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2026-10-27T11:30:05Z</dcterms:created>
  <dcterms:modified xsi:type="dcterms:W3CDTF">2026-10-27T11:30:05Z</dcterms:modified>
</cp:coreProperties>
</file>