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charts/chart1.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charts/chart5.xml" ContentType="application/vnd.openxmlformats-officedocument.drawingml.chart+xml"/>
  <Override PartName="/ppt/charts/chart6.xml" ContentType="application/vnd.openxmlformats-officedocument.drawingml.chart+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Lst>
  <p:notesMasterIdLst>
    <p:notesMasterId r:id="rId19"/>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70b9bd9e-a33f-8f61-047b-42095487f245}">
          <p14:sldIdLst>
            <p14:sldId id="256"/>
            <p14:sldId id="257"/>
          </p14:sldIdLst>
        </p14:section>
        <p14:section name="Scope" id="{518d4453-f61e-b598-e6a2-1c65f4eb3b50}">
          <p14:sldIdLst>
            <p14:sldId id="258"/>
          </p14:sldIdLst>
        </p14:section>
        <p14:section name="Generation 1" id="{50b4dffd-2730-53c6-2359-5d56ca12b853}">
          <p14:sldIdLst>
            <p14:sldId id="259"/>
            <p14:sldId id="260"/>
          </p14:sldIdLst>
        </p14:section>
        <p14:section name="What a winch needs" id="{3b4bea47-a573-2a4e-a85f-8c5fbdc2ca7f}">
          <p14:sldIdLst>
            <p14:sldId id="261"/>
          </p14:sldIdLst>
        </p14:section>
        <p14:section name="Modular box" id="{4a80471b-3615-3e8c-2a3a-8e18dd4cf826}">
          <p14:sldIdLst>
            <p14:sldId id="262"/>
            <p14:sldId id="263"/>
          </p14:sldIdLst>
        </p14:section>
        <p14:section name="Trade-offs" id="{c7dd1013-348b-2165-3377-0f9530a0ee53}">
          <p14:sldIdLst>
            <p14:sldId id="264"/>
          </p14:sldIdLst>
        </p14:section>
        <p14:section name="Mount assembly" id="{3e0ec2f2-960f-0d90-3215-af0cb50d051b}">
          <p14:sldIdLst>
            <p14:sldId id="265"/>
            <p14:sldId id="266"/>
          </p14:sldIdLst>
        </p14:section>
        <p14:section name="Claw" id="{6575190a-ce7e-3add-e717-1ea44d1b72b3}">
          <p14:sldIdLst>
            <p14:sldId id="267"/>
          </p14:sldIdLst>
        </p14:section>
        <p14:section name="Electrical and testing" id="{31f60853-c9fe-50bc-d306-e377e413cf34}">
          <p14:sldIdLst>
            <p14:sldId id="268"/>
            <p14:sldId id="269"/>
          </p14:sldIdLst>
        </p14:section>
        <p14:section name="Calibration" id="{04d189e4-556f-5a2d-bbc4-c388a1b0f53f}">
          <p14:sldIdLst>
            <p14:sldId id="270"/>
          </p14:sldIdLst>
        </p14:section>
        <p14:section name="Next iteration" id="{148490e0-7480-9871-0c50-7aac7872cd99}">
          <p14:sldIdLst>
            <p14:sldId id="271"/>
          </p14:sldIdLst>
        </p14:section>
        <p14:section name="Close" id="{d0a90c1b-1a71-3162-a400-450c7a35b9d4}">
          <p14:sldIdLst>
            <p14:sldId id="272"/>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notesMaster" Target="notesMasters/notesMaster1.xml"/><Relationship Id="rId20" Type="http://schemas.openxmlformats.org/officeDocument/2006/relationships/presProps" Target="presProps.xml"/><Relationship Id="rId21" Type="http://schemas.openxmlformats.org/officeDocument/2006/relationships/viewProps" Target="viewProps.xml"/><Relationship Id="rId22" Type="http://schemas.openxmlformats.org/officeDocument/2006/relationships/theme" Target="theme/theme1.xml"/><Relationship Id="rId23"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0"/>
  <c:chart>
    <c:title>
      <c:tx>
        <c:rich>
          <a:bodyPr/>
          <a:lstStyle/>
          <a:p>
            <a:pPr>
              <a:defRPr sz="850" b="1" i="0" u="none" strike="noStrike">
                <a:solidFill>
                  <a:srgbClr val="000000"/>
                </a:solidFill>
                <a:latin typeface="+mn-lt"/>
              </a:defRPr>
            </a:pPr>
            <a:r>
              <a:rPr sz="850" b="1" i="0" u="none" strike="noStrike">
                <a:solidFill>
                  <a:srgbClr val="000000"/>
                </a:solidFill>
                <a:latin typeface="+mn-lt"/>
              </a:rPr>
              <a:t>Reachable share of the working volume (%)</a:t>
            </a:r>
          </a:p>
        </c:rich>
      </c:tx>
      <c:layout/>
      <c:overlay val="0"/>
    </c:title>
    <c:autoTitleDeleted val="0"/>
    <c:plotArea>
      <c:layout>
        <c:manualLayout>
          <c:layoutTarget val="inner"/>
          <c:xMode val="edge"/>
          <c:yMode val="edge"/>
          <c:x val="0.12"/>
          <c:y val="0.14"/>
          <c:w val="0.85"/>
          <c:h val="0.66"/>
        </c:manualLayout>
      </c:layout>
      <c:lineChart>
        <c:varyColors val="0"/>
        <c:ser>
          <c:idx val="0"/>
          <c:order val="0"/>
          <c:tx>
            <c:strRef>
              <c:f>Sheet1!$B$1</c:f>
              <c:strCache>
                <c:ptCount val="1"/>
                <c:pt idx="0">
                  <c:v>Reachable working volume (%)</c:v>
                </c:pt>
              </c:strCache>
            </c:strRef>
          </c:tx>
          <c:spPr>
            <a:solidFill>
              <a:srgbClr val="1F3A5F"/>
            </a:solidFill>
            <a:ln w="25400" cap="flat">
              <a:solidFill>
                <a:srgbClr val="1F3A5F"/>
              </a:solidFill>
              <a:prstDash val="solid"/>
              <a:round/>
            </a:ln>
            <a:effectLst/>
          </c:spPr>
          <c:invertIfNegative val="0"/>
          <c:dLbls>
            <c:numFmt formatCode="#,##0" sourceLinked="0"/>
            <c:txPr>
              <a:bodyPr/>
              <a:lstStyle/>
              <a:p>
                <a:pPr>
                  <a:defRPr b="0" i="0" strike="noStrike" sz="750" u="none">
                    <a:solidFill>
                      <a:srgbClr val="404040"/>
                    </a:solidFill>
                    <a:latin typeface="+mn-lt"/>
                  </a:defRPr>
                </a:pPr>
              </a:p>
            </c:txPr>
            <c:showLegendKey val="0"/>
            <c:showVal val="0"/>
            <c:showCatName val="0"/>
            <c:showSerName val="0"/>
            <c:showPercent val="0"/>
            <c:showBubbleSize val="0"/>
            <c:showLeaderLines val="0"/>
          </c:dLbls>
          <c:marker>
            <c:symbol val="none"/>
            <c:size val="6"/>
            <c:spPr>
              <a:solidFill>
                <a:srgbClr val="1F3A5F"/>
              </a:solidFill>
              <a:ln w="9525" cap="flat">
                <a:solidFill>
                  <a:srgbClr val="1F3A5F"/>
                </a:solidFill>
                <a:prstDash val="solid"/>
                <a:round/>
              </a:ln>
              <a:effectLst/>
            </c:spPr>
          </c:marker>
          <c:cat>
            <c:multiLvlStrRef>
              <c:f>Sheet1!$A$2:$A$9</c:f>
              <c:multiLvlStrCache>
                <c:ptCount val="8"/>
                <c:lvl>
                  <c:pt idx="0">
                    <c:v>0.3</c:v>
                  </c:pt>
                  <c:pt idx="1">
                    <c:v>0.6</c:v>
                  </c:pt>
                  <c:pt idx="2">
                    <c:v>0.8</c:v>
                  </c:pt>
                  <c:pt idx="3">
                    <c:v>1.0</c:v>
                  </c:pt>
                  <c:pt idx="4">
                    <c:v>1.2</c:v>
                  </c:pt>
                  <c:pt idx="5">
                    <c:v>1.5</c:v>
                  </c:pt>
                  <c:pt idx="6">
                    <c:v>1.8</c:v>
                  </c:pt>
                  <c:pt idx="7">
                    <c:v>2.0</c:v>
                  </c:pt>
                </c:lvl>
              </c:multiLvlStrCache>
            </c:multiLvlStrRef>
          </c:cat>
          <c:val>
            <c:numRef>
              <c:f>Sheet1!$B$2:$B$9</c:f>
              <c:numCache>
                <c:formatCode>General</c:formatCode>
                <c:ptCount val="8"/>
                <c:pt idx="0">
                  <c:v>0</c:v>
                </c:pt>
                <c:pt idx="1">
                  <c:v>0.4</c:v>
                </c:pt>
                <c:pt idx="2">
                  <c:v>1.8</c:v>
                </c:pt>
                <c:pt idx="3">
                  <c:v>4.7</c:v>
                </c:pt>
                <c:pt idx="4">
                  <c:v>9.1</c:v>
                </c:pt>
                <c:pt idx="5">
                  <c:v>17.1</c:v>
                </c:pt>
                <c:pt idx="6">
                  <c:v>25</c:v>
                </c:pt>
                <c:pt idx="7">
                  <c:v>29.1</c:v>
                </c:pt>
              </c:numCache>
            </c:numRef>
          </c:val>
          <c:smooth val="0"/>
        </c:ser>
        <c:dLbls>
          <c:numFmt formatCode="#,##0" sourceLinked="0"/>
          <c:txPr>
            <a:bodyPr/>
            <a:lstStyle/>
            <a:p>
              <a:pPr>
                <a:defRPr b="0" i="0" strike="noStrike" sz="750" u="none">
                  <a:solidFill>
                    <a:srgbClr val="404040"/>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title>
          <c:tx>
            <c:rich>
              <a:bodyPr/>
              <a:lstStyle/>
              <a:p>
                <a:pPr>
                  <a:defRPr sz="750" b="0" i="0" u="none" strike="noStrike">
                    <a:solidFill>
                      <a:srgbClr val="404040"/>
                    </a:solidFill>
                    <a:latin typeface="+mn-lt"/>
                  </a:defRPr>
                </a:pPr>
                <a:r>
                  <a:rPr sz="750" b="0" i="0" u="none" strike="noStrike">
                    <a:solidFill>
                      <a:srgbClr val="404040"/>
                    </a:solidFill>
                    <a:latin typeface="+mn-lt"/>
                  </a:rPr>
                  <a:t>Homing height above the floor (m)</a:t>
                </a:r>
              </a:p>
            </c:rich>
          </c:tx>
          <c:layout/>
          <c:overlay val="0"/>
        </c:title>
        <c:numFmt formatCode="General" sourceLinked="1"/>
        <c:majorTickMark val="out"/>
        <c:minorTickMark val="none"/>
        <c:tickLblPos val="low"/>
        <c:spPr>
          <a:ln w="12700" cap="flat">
            <a:solidFill>
              <a:srgbClr val="BFC4CB"/>
            </a:solidFill>
            <a:prstDash val="solid"/>
            <a:round/>
          </a:ln>
        </c:spPr>
        <c:txPr>
          <a:bodyPr/>
          <a:lstStyle/>
          <a:p>
            <a:pPr>
              <a:defRPr sz="750" b="0" i="0" u="none" strike="noStrike">
                <a:solidFill>
                  <a:srgbClr val="404040"/>
                </a:solidFill>
                <a:latin typeface="+mn-lt"/>
              </a:defRPr>
            </a:pPr>
            <a:endParaRPr lang="en-US"/>
          </a:p>
        </c:txPr>
        <c:crossAx val="2094734552"/>
        <c:crosses val="autoZero"/>
        <c:auto val="1"/>
        <c:lblAlgn val="ctr"/>
        <c:noMultiLvlLbl val="1"/>
      </c:catAx>
      <c:valAx>
        <c:axId val="2094734552"/>
        <c:scaling>
          <c:orientation val="minMax"/>
          <c:max val="40"/>
          <c:min val="0"/>
        </c:scaling>
        <c:delete val="0"/>
        <c:axPos val="l"/>
        <c:majorGridlines>
          <c:spPr>
            <a:ln w="6350" cap="flat">
              <a:solidFill>
                <a:srgbClr val="D9DEE5"/>
              </a:solidFill>
              <a:prstDash val="solid"/>
              <a:round/>
            </a:ln>
          </c:spPr>
        </c:majorGridlines>
        <c:numFmt formatCode="General" sourceLinked="0"/>
        <c:majorTickMark val="out"/>
        <c:minorTickMark val="none"/>
        <c:tickLblPos val="nextTo"/>
        <c:spPr>
          <a:ln w="12700" cap="flat">
            <a:solidFill>
              <a:srgbClr val="BFC4CB"/>
            </a:solidFill>
            <a:prstDash val="solid"/>
            <a:round/>
          </a:ln>
        </c:spPr>
        <c:txPr>
          <a:bodyPr/>
          <a:lstStyle/>
          <a:p>
            <a:pPr>
              <a:defRPr sz="750" b="0" i="0" u="none" strike="noStrike">
                <a:solidFill>
                  <a:srgbClr val="404040"/>
                </a:solidFill>
                <a:latin typeface="+mn-lt"/>
              </a:defRPr>
            </a:pPr>
            <a:endParaRPr lang="en-US"/>
          </a:p>
        </c:txPr>
        <c:crossAx val="2094734554"/>
        <c:crosses val="autoZero"/>
        <c:crossBetween val="between"/>
        <c:majorUnit val="10"/>
      </c:valAx>
      <c:spPr>
        <a:solidFill>
          <a:srgbClr val="FFFFFF"/>
        </a:solidFill>
        <a:ln>
          <a:noFill/>
        </a:ln>
        <a:effectLst/>
      </c:spPr>
    </c:plotArea>
    <c:plotVisOnly val="1"/>
    <c:dispBlanksAs val="span"/>
  </c:chart>
  <c:spPr>
    <a:solidFill>
      <a:srgbClr val="FFFFFF"/>
    </a:solid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0"/>
  <c:chart>
    <c:title>
      <c:tx>
        <c:rich>
          <a:bodyPr/>
          <a:lstStyle/>
          <a:p>
            <a:pPr>
              <a:defRPr sz="850" b="1" i="0" u="none" strike="noStrike">
                <a:solidFill>
                  <a:srgbClr val="000000"/>
                </a:solidFill>
                <a:latin typeface="+mn-lt"/>
              </a:defRPr>
            </a:pPr>
            <a:r>
              <a:rPr sz="850" b="1" i="0" u="none" strike="noStrike">
                <a:solidFill>
                  <a:srgbClr val="000000"/>
                </a:solidFill>
                <a:latin typeface="+mn-lt"/>
              </a:rPr>
              <a:t>Tension per cable (N) vs depth (m)</a:t>
            </a:r>
          </a:p>
        </c:rich>
      </c:tx>
      <c:layout/>
      <c:overlay val="0"/>
    </c:title>
    <c:autoTitleDeleted val="0"/>
    <c:plotArea>
      <c:layout>
        <c:manualLayout>
          <c:layoutTarget val="inner"/>
          <c:xMode val="edge"/>
          <c:yMode val="edge"/>
          <c:x val="0.1"/>
          <c:y val="0.2"/>
          <c:w val="0.55"/>
          <c:h val="0.66"/>
        </c:manualLayout>
      </c:layout>
      <c:lineChart>
        <c:varyColors val="0"/>
        <c:ser>
          <c:idx val="0"/>
          <c:order val="0"/>
          <c:tx>
            <c:strRef>
              <c:f>Sheet1!$B$1</c:f>
              <c:strCache>
                <c:ptCount val="1"/>
                <c:pt idx="0">
                  <c:v>Static (N)</c:v>
                </c:pt>
              </c:strCache>
            </c:strRef>
          </c:tx>
          <c:spPr>
            <a:solidFill>
              <a:srgbClr val="1F3A5F"/>
            </a:solidFill>
            <a:ln w="19050" cap="flat">
              <a:solidFill>
                <a:srgbClr val="1F3A5F"/>
              </a:solidFill>
              <a:prstDash val="solid,solid,dash"/>
              <a:round/>
            </a:ln>
            <a:effectLst/>
          </c:spPr>
          <c:invertIfNegative val="0"/>
          <c:dLbls>
            <c:numFmt formatCode="#,##0" sourceLinked="0"/>
            <c:txPr>
              <a:bodyPr/>
              <a:lstStyle/>
              <a:p>
                <a:pPr>
                  <a:defRPr b="0" i="0" strike="noStrike" sz="750" u="none">
                    <a:solidFill>
                      <a:srgbClr val="404040"/>
                    </a:solidFill>
                    <a:latin typeface="+mn-lt"/>
                  </a:defRPr>
                </a:pPr>
              </a:p>
            </c:txPr>
            <c:showLegendKey val="0"/>
            <c:showVal val="0"/>
            <c:showCatName val="0"/>
            <c:showSerName val="0"/>
            <c:showPercent val="0"/>
            <c:showBubbleSize val="0"/>
            <c:showLeaderLines val="0"/>
          </c:dLbls>
          <c:marker>
            <c:symbol val="none"/>
            <c:size val="6"/>
            <c:spPr>
              <a:solidFill>
                <a:srgbClr val="1F3A5F"/>
              </a:solidFill>
              <a:ln w="9525" cap="flat">
                <a:solidFill>
                  <a:srgbClr val="1F3A5F"/>
                </a:solidFill>
                <a:prstDash val="solid"/>
                <a:round/>
              </a:ln>
              <a:effectLst/>
            </c:spPr>
          </c:marker>
          <c:cat>
            <c:multiLvlStrRef>
              <c:f>Sheet1!$A$2:$A$9</c:f>
              <c:multiLvlStrCache>
                <c:ptCount val="8"/>
                <c:lvl>
                  <c:pt idx="0">
                    <c:v>0.2</c:v>
                  </c:pt>
                  <c:pt idx="1">
                    <c:v>0.3</c:v>
                  </c:pt>
                  <c:pt idx="2">
                    <c:v>0.4</c:v>
                  </c:pt>
                  <c:pt idx="3">
                    <c:v>0.5</c:v>
                  </c:pt>
                  <c:pt idx="4">
                    <c:v>0.6</c:v>
                  </c:pt>
                  <c:pt idx="5">
                    <c:v>0.8</c:v>
                  </c:pt>
                  <c:pt idx="6">
                    <c:v>1</c:v>
                  </c:pt>
                  <c:pt idx="7">
                    <c:v>1.2</c:v>
                  </c:pt>
                </c:lvl>
              </c:multiLvlStrCache>
            </c:multiLvlStrRef>
          </c:cat>
          <c:val>
            <c:numRef>
              <c:f>Sheet1!$B$2:$B$9</c:f>
              <c:numCache>
                <c:formatCode>General</c:formatCode>
                <c:ptCount val="8"/>
                <c:pt idx="0">
                  <c:v>28.1</c:v>
                </c:pt>
                <c:pt idx="1">
                  <c:v>18.8</c:v>
                </c:pt>
                <c:pt idx="2">
                  <c:v>14.2</c:v>
                </c:pt>
                <c:pt idx="3">
                  <c:v>11.5</c:v>
                </c:pt>
                <c:pt idx="4">
                  <c:v>9.7</c:v>
                </c:pt>
                <c:pt idx="5">
                  <c:v>7.5</c:v>
                </c:pt>
                <c:pt idx="6">
                  <c:v>6.2</c:v>
                </c:pt>
                <c:pt idx="7">
                  <c:v>5.3</c:v>
                </c:pt>
              </c:numCache>
            </c:numRef>
          </c:val>
          <c:smooth val="0"/>
        </c:ser>
        <c:ser>
          <c:idx val="1"/>
          <c:order val="1"/>
          <c:tx>
            <c:strRef>
              <c:f>Sheet1!$C$1</c:f>
              <c:strCache>
                <c:ptCount val="1"/>
                <c:pt idx="0">
                  <c:v>With 2 m/s² (N)</c:v>
                </c:pt>
              </c:strCache>
            </c:strRef>
          </c:tx>
          <c:spPr>
            <a:solidFill>
              <a:srgbClr val="8A8F98"/>
            </a:solidFill>
            <a:ln w="19050" cap="flat">
              <a:solidFill>
                <a:srgbClr val="8A8F98"/>
              </a:solidFill>
              <a:prstDash val="solid,solid,dash"/>
              <a:round/>
            </a:ln>
            <a:effectLst/>
          </c:spPr>
          <c:invertIfNegative val="0"/>
          <c:dLbls>
            <c:numFmt formatCode="#,##0" sourceLinked="0"/>
            <c:txPr>
              <a:bodyPr/>
              <a:lstStyle/>
              <a:p>
                <a:pPr>
                  <a:defRPr b="0" i="0" strike="noStrike" sz="750" u="none">
                    <a:solidFill>
                      <a:srgbClr val="404040"/>
                    </a:solidFill>
                    <a:latin typeface="+mn-lt"/>
                  </a:defRPr>
                </a:pPr>
              </a:p>
            </c:txPr>
            <c:showLegendKey val="0"/>
            <c:showVal val="0"/>
            <c:showCatName val="0"/>
            <c:showSerName val="0"/>
            <c:showPercent val="0"/>
            <c:showBubbleSize val="0"/>
            <c:showLeaderLines val="0"/>
          </c:dLbls>
          <c:marker>
            <c:symbol val="none"/>
            <c:size val="6"/>
            <c:spPr>
              <a:solidFill>
                <a:srgbClr val="8A8F98"/>
              </a:solidFill>
              <a:ln w="9525" cap="flat">
                <a:solidFill>
                  <a:srgbClr val="8A8F98"/>
                </a:solidFill>
                <a:prstDash val="solid"/>
                <a:round/>
              </a:ln>
              <a:effectLst/>
            </c:spPr>
          </c:marker>
          <c:cat>
            <c:multiLvlStrRef>
              <c:f>Sheet1!$A$2:$A$9</c:f>
              <c:multiLvlStrCache>
                <c:ptCount val="8"/>
                <c:lvl>
                  <c:pt idx="0">
                    <c:v>0.2</c:v>
                  </c:pt>
                  <c:pt idx="1">
                    <c:v>0.3</c:v>
                  </c:pt>
                  <c:pt idx="2">
                    <c:v>0.4</c:v>
                  </c:pt>
                  <c:pt idx="3">
                    <c:v>0.5</c:v>
                  </c:pt>
                  <c:pt idx="4">
                    <c:v>0.6</c:v>
                  </c:pt>
                  <c:pt idx="5">
                    <c:v>0.8</c:v>
                  </c:pt>
                  <c:pt idx="6">
                    <c:v>1</c:v>
                  </c:pt>
                  <c:pt idx="7">
                    <c:v>1.2</c:v>
                  </c:pt>
                </c:lvl>
              </c:multiLvlStrCache>
            </c:multiLvlStrRef>
          </c:cat>
          <c:val>
            <c:numRef>
              <c:f>Sheet1!$C$2:$C$9</c:f>
              <c:numCache>
                <c:formatCode>General</c:formatCode>
                <c:ptCount val="8"/>
                <c:pt idx="0">
                  <c:v>33.8</c:v>
                </c:pt>
                <c:pt idx="1">
                  <c:v>22.7</c:v>
                </c:pt>
                <c:pt idx="2">
                  <c:v>17.1</c:v>
                </c:pt>
                <c:pt idx="3">
                  <c:v>13.8</c:v>
                </c:pt>
                <c:pt idx="4">
                  <c:v>11.7</c:v>
                </c:pt>
                <c:pt idx="5">
                  <c:v>9</c:v>
                </c:pt>
                <c:pt idx="6">
                  <c:v>7.4</c:v>
                </c:pt>
                <c:pt idx="7">
                  <c:v>6.4</c:v>
                </c:pt>
              </c:numCache>
            </c:numRef>
          </c:val>
          <c:smooth val="0"/>
        </c:ser>
        <c:ser>
          <c:idx val="2"/>
          <c:order val="2"/>
          <c:tx>
            <c:strRef>
              <c:f>Sheet1!$D$1</c:f>
              <c:strCache>
                <c:ptCount val="1"/>
                <c:pt idx="0">
                  <c:v>Winch limit (N)</c:v>
                </c:pt>
              </c:strCache>
            </c:strRef>
          </c:tx>
          <c:spPr>
            <a:solidFill>
              <a:srgbClr val="000000"/>
            </a:solidFill>
            <a:ln w="19050" cap="flat">
              <a:solidFill>
                <a:srgbClr val="000000"/>
              </a:solidFill>
              <a:prstDash val="solid,solid,dash"/>
              <a:round/>
            </a:ln>
            <a:effectLst/>
          </c:spPr>
          <c:invertIfNegative val="0"/>
          <c:dLbls>
            <c:numFmt formatCode="#,##0" sourceLinked="0"/>
            <c:txPr>
              <a:bodyPr/>
              <a:lstStyle/>
              <a:p>
                <a:pPr>
                  <a:defRPr b="0" i="0" strike="noStrike" sz="750" u="none">
                    <a:solidFill>
                      <a:srgbClr val="404040"/>
                    </a:solidFill>
                    <a:latin typeface="+mn-lt"/>
                  </a:defRPr>
                </a:pPr>
              </a:p>
            </c:txPr>
            <c:showLegendKey val="0"/>
            <c:showVal val="0"/>
            <c:showCatName val="0"/>
            <c:showSerName val="0"/>
            <c:showPercent val="0"/>
            <c:showBubbleSize val="0"/>
            <c:showLeaderLines val="0"/>
          </c:dLbls>
          <c:marker>
            <c:symbol val="none"/>
            <c:size val="6"/>
            <c:spPr>
              <a:solidFill>
                <a:srgbClr val="000000"/>
              </a:solidFill>
              <a:ln w="9525" cap="flat">
                <a:solidFill>
                  <a:srgbClr val="000000"/>
                </a:solidFill>
                <a:prstDash val="solid"/>
                <a:round/>
              </a:ln>
              <a:effectLst/>
            </c:spPr>
          </c:marker>
          <c:cat>
            <c:multiLvlStrRef>
              <c:f>Sheet1!$A$2:$A$9</c:f>
              <c:multiLvlStrCache>
                <c:ptCount val="8"/>
                <c:lvl>
                  <c:pt idx="0">
                    <c:v>0.2</c:v>
                  </c:pt>
                  <c:pt idx="1">
                    <c:v>0.3</c:v>
                  </c:pt>
                  <c:pt idx="2">
                    <c:v>0.4</c:v>
                  </c:pt>
                  <c:pt idx="3">
                    <c:v>0.5</c:v>
                  </c:pt>
                  <c:pt idx="4">
                    <c:v>0.6</c:v>
                  </c:pt>
                  <c:pt idx="5">
                    <c:v>0.8</c:v>
                  </c:pt>
                  <c:pt idx="6">
                    <c:v>1</c:v>
                  </c:pt>
                  <c:pt idx="7">
                    <c:v>1.2</c:v>
                  </c:pt>
                </c:lvl>
              </c:multiLvlStrCache>
            </c:multiLvlStrRef>
          </c:cat>
          <c:val>
            <c:numRef>
              <c:f>Sheet1!$D$2:$D$9</c:f>
              <c:numCache>
                <c:formatCode>General</c:formatCode>
                <c:ptCount val="8"/>
                <c:pt idx="0">
                  <c:v>16.8</c:v>
                </c:pt>
                <c:pt idx="1">
                  <c:v>16.8</c:v>
                </c:pt>
                <c:pt idx="2">
                  <c:v>16.8</c:v>
                </c:pt>
                <c:pt idx="3">
                  <c:v>16.8</c:v>
                </c:pt>
                <c:pt idx="4">
                  <c:v>16.8</c:v>
                </c:pt>
                <c:pt idx="5">
                  <c:v>16.8</c:v>
                </c:pt>
                <c:pt idx="6">
                  <c:v>16.8</c:v>
                </c:pt>
                <c:pt idx="7">
                  <c:v>16.8</c:v>
                </c:pt>
              </c:numCache>
            </c:numRef>
          </c:val>
          <c:smooth val="0"/>
        </c:ser>
        <c:dLbls>
          <c:numFmt formatCode="#,##0" sourceLinked="0"/>
          <c:txPr>
            <a:bodyPr/>
            <a:lstStyle/>
            <a:p>
              <a:pPr>
                <a:defRPr b="0" i="0" strike="noStrike" sz="750" u="none">
                  <a:solidFill>
                    <a:srgbClr val="404040"/>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BFC4CB"/>
            </a:solidFill>
            <a:prstDash val="solid"/>
            <a:round/>
          </a:ln>
        </c:spPr>
        <c:txPr>
          <a:bodyPr/>
          <a:lstStyle/>
          <a:p>
            <a:pPr>
              <a:defRPr sz="750" b="0" i="0" u="none" strike="noStrike">
                <a:solidFill>
                  <a:srgbClr val="404040"/>
                </a:solidFill>
                <a:latin typeface="+mn-lt"/>
              </a:defRPr>
            </a:pPr>
            <a:endParaRPr lang="en-US"/>
          </a:p>
        </c:txPr>
        <c:crossAx val="2094734552"/>
        <c:crosses val="autoZero"/>
        <c:auto val="1"/>
        <c:lblAlgn val="ctr"/>
        <c:noMultiLvlLbl val="1"/>
      </c:catAx>
      <c:valAx>
        <c:axId val="2094734552"/>
        <c:scaling>
          <c:orientation val="minMax"/>
          <c:max val="50"/>
          <c:min val="0"/>
        </c:scaling>
        <c:delete val="0"/>
        <c:axPos val="l"/>
        <c:majorGridlines>
          <c:spPr>
            <a:ln w="6350" cap="flat">
              <a:solidFill>
                <a:srgbClr val="D9DEE5"/>
              </a:solidFill>
              <a:prstDash val="solid"/>
              <a:round/>
            </a:ln>
          </c:spPr>
        </c:majorGridlines>
        <c:numFmt formatCode="General" sourceLinked="0"/>
        <c:majorTickMark val="out"/>
        <c:minorTickMark val="none"/>
        <c:tickLblPos val="nextTo"/>
        <c:spPr>
          <a:ln w="12700" cap="flat">
            <a:solidFill>
              <a:srgbClr val="BFC4CB"/>
            </a:solidFill>
            <a:prstDash val="solid"/>
            <a:round/>
          </a:ln>
        </c:spPr>
        <c:txPr>
          <a:bodyPr/>
          <a:lstStyle/>
          <a:p>
            <a:pPr>
              <a:defRPr sz="750" b="0" i="0" u="none" strike="noStrike">
                <a:solidFill>
                  <a:srgbClr val="404040"/>
                </a:solidFill>
                <a:latin typeface="+mn-lt"/>
              </a:defRPr>
            </a:pPr>
            <a:endParaRPr lang="en-US"/>
          </a:p>
        </c:txPr>
        <c:crossAx val="2094734554"/>
        <c:crosses val="autoZero"/>
        <c:crossBetween val="between"/>
        <c:majorUnit val="10"/>
      </c:valAx>
      <c:spPr>
        <a:solidFill>
          <a:srgbClr val="FFFFFF"/>
        </a:solidFill>
        <a:ln>
          <a:noFill/>
        </a:ln>
        <a:effectLst/>
      </c:spPr>
    </c:plotArea>
    <c:legend>
      <c:legendPos val="r"/>
      <c:overlay val="0"/>
      <c:txPr>
        <a:bodyPr/>
        <a:lstStyle/>
        <a:p>
          <a:pPr>
            <a:defRPr sz="750">
              <a:solidFill>
                <a:srgbClr val="404040"/>
              </a:solidFill>
              <a:latin typeface="+mn-lt"/>
              <a:cs typeface="+mn-lt"/>
            </a:defRPr>
          </a:pPr>
          <a:endParaRPr lang="en-US"/>
        </a:p>
      </c:txPr>
    </c:legend>
    <c:plotVisOnly val="1"/>
    <c:dispBlanksAs val="span"/>
  </c:chart>
  <c:spPr>
    <a:solidFill>
      <a:srgbClr val="FFFFFF"/>
    </a:solid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0"/>
  <c:chart>
    <c:title>
      <c:tx>
        <c:rich>
          <a:bodyPr/>
          <a:lstStyle/>
          <a:p>
            <a:pPr>
              <a:defRPr sz="850" b="1" i="0" u="none" strike="noStrike">
                <a:solidFill>
                  <a:srgbClr val="000000"/>
                </a:solidFill>
                <a:latin typeface="+mn-lt"/>
              </a:defRPr>
            </a:pPr>
            <a:r>
              <a:rPr sz="850" b="1" i="0" u="none" strike="noStrike">
                <a:solidFill>
                  <a:srgbClr val="000000"/>
                </a:solidFill>
                <a:latin typeface="+mn-lt"/>
              </a:rPr>
              <a:t>Motor case (°C) at 1.5 A; PETG limit 60 °C</a:t>
            </a:r>
          </a:p>
        </c:rich>
      </c:tx>
      <c:layout/>
      <c:overlay val="0"/>
    </c:title>
    <c:autoTitleDeleted val="0"/>
    <c:plotArea>
      <c:layout>
        <c:manualLayout>
          <c:layoutTarget val="inner"/>
          <c:xMode val="edge"/>
          <c:yMode val="edge"/>
          <c:x val="0.1"/>
          <c:y val="0.2"/>
          <c:w val="0.86"/>
          <c:h val="0.52"/>
        </c:manualLayout>
      </c:layout>
      <c:barChart>
        <c:barDir val="col"/>
        <c:grouping val="clustered"/>
        <c:varyColors val="0"/>
        <c:ser>
          <c:idx val="0"/>
          <c:order val="0"/>
          <c:tx>
            <c:strRef>
              <c:f>Sheet1!$B$1</c:f>
              <c:strCache>
                <c:ptCount val="1"/>
                <c:pt idx="0">
                  <c:v>No fin</c:v>
                </c:pt>
              </c:strCache>
            </c:strRef>
          </c:tx>
          <c:spPr>
            <a:solidFill>
              <a:srgbClr val="BFC4CB"/>
            </a:solidFill>
            <a:effectLst/>
          </c:spPr>
          <c:invertIfNegative val="0"/>
          <c:dLbls>
            <c:numFmt formatCode="0" sourceLinked="0"/>
            <c:txPr>
              <a:bodyPr/>
              <a:lstStyle/>
              <a:p>
                <a:pPr>
                  <a:defRPr b="0" i="0" strike="noStrike" sz="750" u="none">
                    <a:solidFill>
                      <a:srgbClr val="404040"/>
                    </a:solidFill>
                    <a:latin typeface="+mn-lt"/>
                  </a:defRPr>
                </a:pPr>
              </a:p>
            </c:txPr>
            <c:showLegendKey val="0"/>
            <c:showVal val="1"/>
            <c:showCatName val="0"/>
            <c:showSerName val="0"/>
            <c:showPercent val="0"/>
            <c:showBubbleSize val="0"/>
            <c:showLeaderLines val="0"/>
          </c:dLbls>
          <c:cat>
            <c:multiLvlStrRef>
              <c:f>Sheet1!$A$2:$A$3</c:f>
              <c:multiLvlStrCache>
                <c:ptCount val="2"/>
                <c:lvl>
                  <c:pt idx="0">
                    <c:v>Vented shell</c:v>
                  </c:pt>
                  <c:pt idx="1">
                    <c:v>Sealed shell</c:v>
                  </c:pt>
                </c:lvl>
              </c:multiLvlStrCache>
            </c:multiLvlStrRef>
          </c:cat>
          <c:val>
            <c:numRef>
              <c:f>Sheet1!$B$2:$B$3</c:f>
              <c:numCache>
                <c:formatCode>General</c:formatCode>
                <c:ptCount val="2"/>
                <c:pt idx="0">
                  <c:v>77.2</c:v>
                </c:pt>
                <c:pt idx="1">
                  <c:v>99.1</c:v>
                </c:pt>
              </c:numCache>
            </c:numRef>
          </c:val>
        </c:ser>
        <c:ser>
          <c:idx val="1"/>
          <c:order val="1"/>
          <c:tx>
            <c:strRef>
              <c:f>Sheet1!$C$1</c:f>
              <c:strCache>
                <c:ptCount val="1"/>
                <c:pt idx="0">
                  <c:v>0.019 in fin (built)</c:v>
                </c:pt>
              </c:strCache>
            </c:strRef>
          </c:tx>
          <c:spPr>
            <a:solidFill>
              <a:srgbClr val="1F3A5F"/>
            </a:solidFill>
            <a:effectLst/>
          </c:spPr>
          <c:invertIfNegative val="0"/>
          <c:dLbls>
            <c:numFmt formatCode="0" sourceLinked="0"/>
            <c:txPr>
              <a:bodyPr/>
              <a:lstStyle/>
              <a:p>
                <a:pPr>
                  <a:defRPr b="0" i="0" strike="noStrike" sz="750" u="none">
                    <a:solidFill>
                      <a:srgbClr val="404040"/>
                    </a:solidFill>
                    <a:latin typeface="+mn-lt"/>
                  </a:defRPr>
                </a:pPr>
              </a:p>
            </c:txPr>
            <c:showLegendKey val="0"/>
            <c:showVal val="1"/>
            <c:showCatName val="0"/>
            <c:showSerName val="0"/>
            <c:showPercent val="0"/>
            <c:showBubbleSize val="0"/>
            <c:showLeaderLines val="0"/>
          </c:dLbls>
          <c:cat>
            <c:multiLvlStrRef>
              <c:f>Sheet1!$A$2:$A$3</c:f>
              <c:multiLvlStrCache>
                <c:ptCount val="2"/>
                <c:lvl>
                  <c:pt idx="0">
                    <c:v>Vented shell</c:v>
                  </c:pt>
                  <c:pt idx="1">
                    <c:v>Sealed shell</c:v>
                  </c:pt>
                </c:lvl>
              </c:multiLvlStrCache>
            </c:multiLvlStrRef>
          </c:cat>
          <c:val>
            <c:numRef>
              <c:f>Sheet1!$C$2:$C$3</c:f>
              <c:numCache>
                <c:formatCode>General</c:formatCode>
                <c:ptCount val="2"/>
                <c:pt idx="0">
                  <c:v>57.6</c:v>
                </c:pt>
                <c:pt idx="1">
                  <c:v>66.3</c:v>
                </c:pt>
              </c:numCache>
            </c:numRef>
          </c:val>
        </c:ser>
        <c:ser>
          <c:idx val="2"/>
          <c:order val="2"/>
          <c:tx>
            <c:strRef>
              <c:f>Sheet1!$D$1</c:f>
              <c:strCache>
                <c:ptCount val="1"/>
                <c:pt idx="0">
                  <c:v>1/8 in fin (drawn)</c:v>
                </c:pt>
              </c:strCache>
            </c:strRef>
          </c:tx>
          <c:spPr>
            <a:solidFill>
              <a:srgbClr val="8A8F98"/>
            </a:solidFill>
            <a:effectLst/>
          </c:spPr>
          <c:invertIfNegative val="0"/>
          <c:dLbls>
            <c:numFmt formatCode="0" sourceLinked="0"/>
            <c:txPr>
              <a:bodyPr/>
              <a:lstStyle/>
              <a:p>
                <a:pPr>
                  <a:defRPr b="0" i="0" strike="noStrike" sz="750" u="none">
                    <a:solidFill>
                      <a:srgbClr val="404040"/>
                    </a:solidFill>
                    <a:latin typeface="+mn-lt"/>
                  </a:defRPr>
                </a:pPr>
              </a:p>
            </c:txPr>
            <c:showLegendKey val="0"/>
            <c:showVal val="1"/>
            <c:showCatName val="0"/>
            <c:showSerName val="0"/>
            <c:showPercent val="0"/>
            <c:showBubbleSize val="0"/>
            <c:showLeaderLines val="0"/>
          </c:dLbls>
          <c:cat>
            <c:multiLvlStrRef>
              <c:f>Sheet1!$A$2:$A$3</c:f>
              <c:multiLvlStrCache>
                <c:ptCount val="2"/>
                <c:lvl>
                  <c:pt idx="0">
                    <c:v>Vented shell</c:v>
                  </c:pt>
                  <c:pt idx="1">
                    <c:v>Sealed shell</c:v>
                  </c:pt>
                </c:lvl>
              </c:multiLvlStrCache>
            </c:multiLvlStrRef>
          </c:cat>
          <c:val>
            <c:numRef>
              <c:f>Sheet1!$D$2:$D$3</c:f>
              <c:numCache>
                <c:formatCode>General</c:formatCode>
                <c:ptCount val="2"/>
                <c:pt idx="0">
                  <c:v>48.9</c:v>
                </c:pt>
                <c:pt idx="1">
                  <c:v>53.8</c:v>
                </c:pt>
              </c:numCache>
            </c:numRef>
          </c:val>
        </c:ser>
        <c:dLbls>
          <c:numFmt formatCode="0" sourceLinked="0"/>
          <c:txPr>
            <a:bodyPr/>
            <a:lstStyle/>
            <a:p>
              <a:pPr>
                <a:defRPr b="0" i="0" strike="noStrike" sz="750" u="none">
                  <a:solidFill>
                    <a:srgbClr val="404040"/>
                  </a:solidFill>
                  <a:latin typeface="+mn-lt"/>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BFC4CB"/>
            </a:solidFill>
            <a:prstDash val="solid"/>
            <a:round/>
          </a:ln>
        </c:spPr>
        <c:txPr>
          <a:bodyPr/>
          <a:lstStyle/>
          <a:p>
            <a:pPr>
              <a:defRPr sz="750" b="0" i="0" u="none" strike="noStrike">
                <a:solidFill>
                  <a:srgbClr val="404040"/>
                </a:solidFill>
                <a:latin typeface="+mn-lt"/>
              </a:defRPr>
            </a:pPr>
            <a:endParaRPr lang="en-US"/>
          </a:p>
        </c:txPr>
        <c:crossAx val="2094734552"/>
        <c:crosses val="autoZero"/>
        <c:auto val="1"/>
        <c:lblAlgn val="ctr"/>
        <c:noMultiLvlLbl val="1"/>
      </c:catAx>
      <c:valAx>
        <c:axId val="2094734552"/>
        <c:scaling>
          <c:orientation val="minMax"/>
          <c:max val="120"/>
          <c:min val="0"/>
        </c:scaling>
        <c:delete val="0"/>
        <c:axPos val="l"/>
        <c:majorGridlines>
          <c:spPr>
            <a:ln w="6350" cap="flat">
              <a:solidFill>
                <a:srgbClr val="D9DEE5"/>
              </a:solidFill>
              <a:prstDash val="solid"/>
              <a:round/>
            </a:ln>
          </c:spPr>
        </c:majorGridlines>
        <c:numFmt formatCode="General" sourceLinked="0"/>
        <c:majorTickMark val="out"/>
        <c:minorTickMark val="none"/>
        <c:tickLblPos val="nextTo"/>
        <c:spPr>
          <a:ln w="12700" cap="flat">
            <a:solidFill>
              <a:srgbClr val="BFC4CB"/>
            </a:solidFill>
            <a:prstDash val="solid"/>
            <a:round/>
          </a:ln>
        </c:spPr>
        <c:txPr>
          <a:bodyPr/>
          <a:lstStyle/>
          <a:p>
            <a:pPr>
              <a:defRPr sz="750" b="0" i="0" u="none" strike="noStrike">
                <a:solidFill>
                  <a:srgbClr val="404040"/>
                </a:solidFill>
                <a:latin typeface="+mn-lt"/>
              </a:defRPr>
            </a:pPr>
            <a:endParaRPr lang="en-US"/>
          </a:p>
        </c:txPr>
        <c:crossAx val="2094734554"/>
        <c:crosses val="autoZero"/>
        <c:crossBetween val="between"/>
        <c:majorUnit val="30"/>
      </c:valAx>
      <c:spPr>
        <a:solidFill>
          <a:srgbClr val="FFFFFF"/>
        </a:solidFill>
        <a:ln>
          <a:noFill/>
        </a:ln>
        <a:effectLst/>
      </c:spPr>
    </c:plotArea>
    <c:legend>
      <c:legendPos val="b"/>
      <c:overlay val="0"/>
      <c:txPr>
        <a:bodyPr/>
        <a:lstStyle/>
        <a:p>
          <a:pPr>
            <a:defRPr sz="750">
              <a:solidFill>
                <a:srgbClr val="404040"/>
              </a:solidFill>
              <a:latin typeface="+mn-lt"/>
              <a:cs typeface="+mn-lt"/>
            </a:defRPr>
          </a:pPr>
          <a:endParaRPr lang="en-US"/>
        </a:p>
      </c:txPr>
    </c:legend>
    <c:plotVisOnly val="1"/>
    <c:dispBlanksAs val="span"/>
  </c:chart>
  <c:spPr>
    <a:solidFill>
      <a:srgbClr val="FFFFFF"/>
    </a:solid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0"/>
  <c:chart>
    <c:title>
      <c:tx>
        <c:rich>
          <a:bodyPr/>
          <a:lstStyle/>
          <a:p>
            <a:pPr>
              <a:defRPr sz="850" b="1" i="0" u="none" strike="noStrike">
                <a:solidFill>
                  <a:srgbClr val="000000"/>
                </a:solidFill>
                <a:latin typeface="+mn-lt"/>
              </a:defRPr>
            </a:pPr>
            <a:r>
              <a:rPr sz="850" b="1" i="0" u="none" strike="noStrike">
                <a:solidFill>
                  <a:srgbClr val="000000"/>
                </a:solidFill>
                <a:latin typeface="+mn-lt"/>
              </a:rPr>
              <a:t>Pull per winch (N) vs spool radius (mm), 1.5 A</a:t>
            </a:r>
          </a:p>
        </c:rich>
      </c:tx>
      <c:layout/>
      <c:overlay val="0"/>
    </c:title>
    <c:autoTitleDeleted val="0"/>
    <c:plotArea>
      <c:layout>
        <c:manualLayout>
          <c:layoutTarget val="inner"/>
          <c:xMode val="edge"/>
          <c:yMode val="edge"/>
          <c:x val="0.1"/>
          <c:y val="0.2"/>
          <c:w val="0.55"/>
          <c:h val="0.66"/>
        </c:manualLayout>
      </c:layout>
      <c:lineChart>
        <c:varyColors val="0"/>
        <c:ser>
          <c:idx val="0"/>
          <c:order val="0"/>
          <c:tx>
            <c:strRef>
              <c:f>Sheet1!$B$1</c:f>
              <c:strCache>
                <c:ptCount val="1"/>
                <c:pt idx="0">
                  <c:v>Running pull (N)</c:v>
                </c:pt>
              </c:strCache>
            </c:strRef>
          </c:tx>
          <c:spPr>
            <a:solidFill>
              <a:srgbClr val="1F3A5F"/>
            </a:solidFill>
            <a:ln w="19050" cap="flat">
              <a:solidFill>
                <a:srgbClr val="1F3A5F"/>
              </a:solidFill>
              <a:prstDash val="solid,dash,dash"/>
              <a:round/>
            </a:ln>
            <a:effectLst/>
          </c:spPr>
          <c:invertIfNegative val="0"/>
          <c:dLbls>
            <c:numFmt formatCode="#,##0" sourceLinked="0"/>
            <c:txPr>
              <a:bodyPr/>
              <a:lstStyle/>
              <a:p>
                <a:pPr>
                  <a:defRPr b="0" i="0" strike="noStrike" sz="750" u="none">
                    <a:solidFill>
                      <a:srgbClr val="404040"/>
                    </a:solidFill>
                    <a:latin typeface="+mn-lt"/>
                  </a:defRPr>
                </a:pPr>
              </a:p>
            </c:txPr>
            <c:showLegendKey val="0"/>
            <c:showVal val="0"/>
            <c:showCatName val="0"/>
            <c:showSerName val="0"/>
            <c:showPercent val="0"/>
            <c:showBubbleSize val="0"/>
            <c:showLeaderLines val="0"/>
          </c:dLbls>
          <c:marker>
            <c:symbol val="none"/>
            <c:size val="6"/>
            <c:spPr>
              <a:solidFill>
                <a:srgbClr val="1F3A5F"/>
              </a:solidFill>
              <a:ln w="9525" cap="flat">
                <a:solidFill>
                  <a:srgbClr val="1F3A5F"/>
                </a:solidFill>
                <a:prstDash val="solid"/>
                <a:round/>
              </a:ln>
              <a:effectLst/>
            </c:spPr>
          </c:marker>
          <c:cat>
            <c:multiLvlStrRef>
              <c:f>Sheet1!$A$2:$A$8</c:f>
              <c:multiLvlStrCache>
                <c:ptCount val="7"/>
                <c:lvl>
                  <c:pt idx="0">
                    <c:v>6</c:v>
                  </c:pt>
                  <c:pt idx="1">
                    <c:v>7</c:v>
                  </c:pt>
                  <c:pt idx="2">
                    <c:v>7.5</c:v>
                  </c:pt>
                  <c:pt idx="3">
                    <c:v>8</c:v>
                  </c:pt>
                  <c:pt idx="4">
                    <c:v>9</c:v>
                  </c:pt>
                  <c:pt idx="5">
                    <c:v>10</c:v>
                  </c:pt>
                  <c:pt idx="6">
                    <c:v>11</c:v>
                  </c:pt>
                </c:lvl>
              </c:multiLvlStrCache>
            </c:multiLvlStrRef>
          </c:cat>
          <c:val>
            <c:numRef>
              <c:f>Sheet1!$B$2:$B$8</c:f>
              <c:numCache>
                <c:formatCode>General</c:formatCode>
                <c:ptCount val="7"/>
                <c:pt idx="0">
                  <c:v>42</c:v>
                </c:pt>
                <c:pt idx="1">
                  <c:v>36</c:v>
                </c:pt>
                <c:pt idx="2">
                  <c:v>33.6</c:v>
                </c:pt>
                <c:pt idx="3">
                  <c:v>31.5</c:v>
                </c:pt>
                <c:pt idx="4">
                  <c:v>28</c:v>
                </c:pt>
                <c:pt idx="5">
                  <c:v>25.2</c:v>
                </c:pt>
                <c:pt idx="6">
                  <c:v>22.9</c:v>
                </c:pt>
              </c:numCache>
            </c:numRef>
          </c:val>
          <c:smooth val="0"/>
        </c:ser>
        <c:ser>
          <c:idx val="1"/>
          <c:order val="1"/>
          <c:tx>
            <c:strRef>
              <c:f>Sheet1!$C$1</c:f>
              <c:strCache>
                <c:ptCount val="1"/>
                <c:pt idx="0">
                  <c:v>Design force (N)</c:v>
                </c:pt>
              </c:strCache>
            </c:strRef>
          </c:tx>
          <c:spPr>
            <a:solidFill>
              <a:srgbClr val="8A8F98"/>
            </a:solidFill>
            <a:ln w="19050" cap="flat">
              <a:solidFill>
                <a:srgbClr val="8A8F98"/>
              </a:solidFill>
              <a:prstDash val="solid,dash,dash"/>
              <a:round/>
            </a:ln>
            <a:effectLst/>
          </c:spPr>
          <c:invertIfNegative val="0"/>
          <c:dLbls>
            <c:numFmt formatCode="#,##0" sourceLinked="0"/>
            <c:txPr>
              <a:bodyPr/>
              <a:lstStyle/>
              <a:p>
                <a:pPr>
                  <a:defRPr b="0" i="0" strike="noStrike" sz="750" u="none">
                    <a:solidFill>
                      <a:srgbClr val="404040"/>
                    </a:solidFill>
                    <a:latin typeface="+mn-lt"/>
                  </a:defRPr>
                </a:pPr>
              </a:p>
            </c:txPr>
            <c:showLegendKey val="0"/>
            <c:showVal val="0"/>
            <c:showCatName val="0"/>
            <c:showSerName val="0"/>
            <c:showPercent val="0"/>
            <c:showBubbleSize val="0"/>
            <c:showLeaderLines val="0"/>
          </c:dLbls>
          <c:marker>
            <c:symbol val="none"/>
            <c:size val="6"/>
            <c:spPr>
              <a:solidFill>
                <a:srgbClr val="8A8F98"/>
              </a:solidFill>
              <a:ln w="9525" cap="flat">
                <a:solidFill>
                  <a:srgbClr val="8A8F98"/>
                </a:solidFill>
                <a:prstDash val="solid"/>
                <a:round/>
              </a:ln>
              <a:effectLst/>
            </c:spPr>
          </c:marker>
          <c:cat>
            <c:multiLvlStrRef>
              <c:f>Sheet1!$A$2:$A$8</c:f>
              <c:multiLvlStrCache>
                <c:ptCount val="7"/>
                <c:lvl>
                  <c:pt idx="0">
                    <c:v>6</c:v>
                  </c:pt>
                  <c:pt idx="1">
                    <c:v>7</c:v>
                  </c:pt>
                  <c:pt idx="2">
                    <c:v>7.5</c:v>
                  </c:pt>
                  <c:pt idx="3">
                    <c:v>8</c:v>
                  </c:pt>
                  <c:pt idx="4">
                    <c:v>9</c:v>
                  </c:pt>
                  <c:pt idx="5">
                    <c:v>10</c:v>
                  </c:pt>
                  <c:pt idx="6">
                    <c:v>11</c:v>
                  </c:pt>
                </c:lvl>
              </c:multiLvlStrCache>
            </c:multiLvlStrRef>
          </c:cat>
          <c:val>
            <c:numRef>
              <c:f>Sheet1!$C$2:$C$8</c:f>
              <c:numCache>
                <c:formatCode>General</c:formatCode>
                <c:ptCount val="7"/>
                <c:pt idx="0">
                  <c:v>28</c:v>
                </c:pt>
                <c:pt idx="1">
                  <c:v>24</c:v>
                </c:pt>
                <c:pt idx="2">
                  <c:v>22.4</c:v>
                </c:pt>
                <c:pt idx="3">
                  <c:v>21</c:v>
                </c:pt>
                <c:pt idx="4">
                  <c:v>18.7</c:v>
                </c:pt>
                <c:pt idx="5">
                  <c:v>16.8</c:v>
                </c:pt>
                <c:pt idx="6">
                  <c:v>15.3</c:v>
                </c:pt>
              </c:numCache>
            </c:numRef>
          </c:val>
          <c:smooth val="0"/>
        </c:ser>
        <c:ser>
          <c:idx val="2"/>
          <c:order val="2"/>
          <c:tx>
            <c:strRef>
              <c:f>Sheet1!$D$1</c:f>
              <c:strCache>
                <c:ptCount val="1"/>
                <c:pt idx="0">
                  <c:v>Jeans, worst (N)</c:v>
                </c:pt>
              </c:strCache>
            </c:strRef>
          </c:tx>
          <c:spPr>
            <a:solidFill>
              <a:srgbClr val="000000"/>
            </a:solidFill>
            <a:ln w="19050" cap="flat">
              <a:solidFill>
                <a:srgbClr val="000000"/>
              </a:solidFill>
              <a:prstDash val="solid,dash,dash"/>
              <a:round/>
            </a:ln>
            <a:effectLst/>
          </c:spPr>
          <c:invertIfNegative val="0"/>
          <c:dLbls>
            <c:numFmt formatCode="#,##0" sourceLinked="0"/>
            <c:txPr>
              <a:bodyPr/>
              <a:lstStyle/>
              <a:p>
                <a:pPr>
                  <a:defRPr b="0" i="0" strike="noStrike" sz="750" u="none">
                    <a:solidFill>
                      <a:srgbClr val="404040"/>
                    </a:solidFill>
                    <a:latin typeface="+mn-lt"/>
                  </a:defRPr>
                </a:pPr>
              </a:p>
            </c:txPr>
            <c:showLegendKey val="0"/>
            <c:showVal val="0"/>
            <c:showCatName val="0"/>
            <c:showSerName val="0"/>
            <c:showPercent val="0"/>
            <c:showBubbleSize val="0"/>
            <c:showLeaderLines val="0"/>
          </c:dLbls>
          <c:marker>
            <c:symbol val="none"/>
            <c:size val="6"/>
            <c:spPr>
              <a:solidFill>
                <a:srgbClr val="000000"/>
              </a:solidFill>
              <a:ln w="9525" cap="flat">
                <a:solidFill>
                  <a:srgbClr val="000000"/>
                </a:solidFill>
                <a:prstDash val="solid"/>
                <a:round/>
              </a:ln>
              <a:effectLst/>
            </c:spPr>
          </c:marker>
          <c:cat>
            <c:multiLvlStrRef>
              <c:f>Sheet1!$A$2:$A$8</c:f>
              <c:multiLvlStrCache>
                <c:ptCount val="7"/>
                <c:lvl>
                  <c:pt idx="0">
                    <c:v>6</c:v>
                  </c:pt>
                  <c:pt idx="1">
                    <c:v>7</c:v>
                  </c:pt>
                  <c:pt idx="2">
                    <c:v>7.5</c:v>
                  </c:pt>
                  <c:pt idx="3">
                    <c:v>8</c:v>
                  </c:pt>
                  <c:pt idx="4">
                    <c:v>9</c:v>
                  </c:pt>
                  <c:pt idx="5">
                    <c:v>10</c:v>
                  </c:pt>
                  <c:pt idx="6">
                    <c:v>11</c:v>
                  </c:pt>
                </c:lvl>
              </c:multiLvlStrCache>
            </c:multiLvlStrRef>
          </c:cat>
          <c:val>
            <c:numRef>
              <c:f>Sheet1!$D$2:$D$8</c:f>
              <c:numCache>
                <c:formatCode>General</c:formatCode>
                <c:ptCount val="7"/>
                <c:pt idx="0">
                  <c:v>16.2</c:v>
                </c:pt>
                <c:pt idx="1">
                  <c:v>16.2</c:v>
                </c:pt>
                <c:pt idx="2">
                  <c:v>16.2</c:v>
                </c:pt>
                <c:pt idx="3">
                  <c:v>16.2</c:v>
                </c:pt>
                <c:pt idx="4">
                  <c:v>16.2</c:v>
                </c:pt>
                <c:pt idx="5">
                  <c:v>16.2</c:v>
                </c:pt>
                <c:pt idx="6">
                  <c:v>16.2</c:v>
                </c:pt>
              </c:numCache>
            </c:numRef>
          </c:val>
          <c:smooth val="0"/>
        </c:ser>
        <c:dLbls>
          <c:numFmt formatCode="#,##0" sourceLinked="0"/>
          <c:txPr>
            <a:bodyPr/>
            <a:lstStyle/>
            <a:p>
              <a:pPr>
                <a:defRPr b="0" i="0" strike="noStrike" sz="750" u="none">
                  <a:solidFill>
                    <a:srgbClr val="404040"/>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BFC4CB"/>
            </a:solidFill>
            <a:prstDash val="solid"/>
            <a:round/>
          </a:ln>
        </c:spPr>
        <c:txPr>
          <a:bodyPr/>
          <a:lstStyle/>
          <a:p>
            <a:pPr>
              <a:defRPr sz="750" b="0" i="0" u="none" strike="noStrike">
                <a:solidFill>
                  <a:srgbClr val="404040"/>
                </a:solidFill>
                <a:latin typeface="+mn-lt"/>
              </a:defRPr>
            </a:pPr>
            <a:endParaRPr lang="en-US"/>
          </a:p>
        </c:txPr>
        <c:crossAx val="2094734552"/>
        <c:crosses val="autoZero"/>
        <c:auto val="1"/>
        <c:lblAlgn val="ctr"/>
        <c:noMultiLvlLbl val="1"/>
      </c:catAx>
      <c:valAx>
        <c:axId val="2094734552"/>
        <c:scaling>
          <c:orientation val="minMax"/>
          <c:max val="50"/>
          <c:min val="0"/>
        </c:scaling>
        <c:delete val="0"/>
        <c:axPos val="l"/>
        <c:majorGridlines>
          <c:spPr>
            <a:ln w="6350" cap="flat">
              <a:solidFill>
                <a:srgbClr val="D9DEE5"/>
              </a:solidFill>
              <a:prstDash val="solid"/>
              <a:round/>
            </a:ln>
          </c:spPr>
        </c:majorGridlines>
        <c:numFmt formatCode="General" sourceLinked="0"/>
        <c:majorTickMark val="out"/>
        <c:minorTickMark val="none"/>
        <c:tickLblPos val="nextTo"/>
        <c:spPr>
          <a:ln w="12700" cap="flat">
            <a:solidFill>
              <a:srgbClr val="BFC4CB"/>
            </a:solidFill>
            <a:prstDash val="solid"/>
            <a:round/>
          </a:ln>
        </c:spPr>
        <c:txPr>
          <a:bodyPr/>
          <a:lstStyle/>
          <a:p>
            <a:pPr>
              <a:defRPr sz="750" b="0" i="0" u="none" strike="noStrike">
                <a:solidFill>
                  <a:srgbClr val="404040"/>
                </a:solidFill>
                <a:latin typeface="+mn-lt"/>
              </a:defRPr>
            </a:pPr>
            <a:endParaRPr lang="en-US"/>
          </a:p>
        </c:txPr>
        <c:crossAx val="2094734554"/>
        <c:crosses val="autoZero"/>
        <c:crossBetween val="between"/>
        <c:majorUnit val="10"/>
      </c:valAx>
      <c:spPr>
        <a:solidFill>
          <a:srgbClr val="FFFFFF"/>
        </a:solidFill>
        <a:ln>
          <a:noFill/>
        </a:ln>
        <a:effectLst/>
      </c:spPr>
    </c:plotArea>
    <c:legend>
      <c:legendPos val="r"/>
      <c:overlay val="0"/>
      <c:txPr>
        <a:bodyPr/>
        <a:lstStyle/>
        <a:p>
          <a:pPr>
            <a:defRPr sz="750">
              <a:solidFill>
                <a:srgbClr val="404040"/>
              </a:solidFill>
              <a:latin typeface="+mn-lt"/>
              <a:cs typeface="+mn-lt"/>
            </a:defRPr>
          </a:pPr>
          <a:endParaRPr lang="en-US"/>
        </a:p>
      </c:txPr>
    </c:legend>
    <c:plotVisOnly val="1"/>
    <c:dispBlanksAs val="span"/>
  </c:chart>
  <c:spPr>
    <a:solidFill>
      <a:srgbClr val="FFFFFF"/>
    </a:solid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0"/>
  <c:chart>
    <c:title>
      <c:tx>
        <c:rich>
          <a:bodyPr/>
          <a:lstStyle/>
          <a:p>
            <a:pPr>
              <a:defRPr sz="850" b="1" i="0" u="none" strike="noStrike">
                <a:solidFill>
                  <a:srgbClr val="000000"/>
                </a:solidFill>
                <a:latin typeface="+mn-lt"/>
              </a:defRPr>
            </a:pPr>
            <a:r>
              <a:rPr sz="850" b="1" i="0" u="none" strike="noStrike">
                <a:solidFill>
                  <a:srgbClr val="000000"/>
                </a:solidFill>
                <a:latin typeface="+mn-lt"/>
              </a:rPr>
              <a:t>Winches can hold vs must hold (kg)</a:t>
            </a:r>
          </a:p>
        </c:rich>
      </c:tx>
      <c:layout/>
      <c:overlay val="0"/>
    </c:title>
    <c:autoTitleDeleted val="0"/>
    <c:plotArea>
      <c:layout>
        <c:manualLayout>
          <c:layoutTarget val="inner"/>
          <c:xMode val="edge"/>
          <c:yMode val="edge"/>
          <c:x val="0.34"/>
          <c:y val="0.2"/>
          <c:w val="0.6"/>
          <c:h val="0.68"/>
        </c:manualLayout>
      </c:layout>
      <c:barChart>
        <c:barDir val="bar"/>
        <c:grouping val="clustered"/>
        <c:varyColors val="0"/>
        <c:ser>
          <c:idx val="0"/>
          <c:order val="0"/>
          <c:tx>
            <c:strRef>
              <c:f>Sheet1!$B$1</c:f>
              <c:strCache>
                <c:ptCount val="1"/>
                <c:pt idx="0">
                  <c:v>kg</c:v>
                </c:pt>
              </c:strCache>
            </c:strRef>
          </c:tx>
          <c:spPr>
            <a:solidFill>
              <a:srgbClr val="1F3A5F"/>
            </a:solidFill>
            <a:effectLst/>
          </c:spPr>
          <c:invertIfNegative val="0"/>
          <c:dLbls>
            <c:numFmt formatCode="0.00" sourceLinked="0"/>
            <c:txPr>
              <a:bodyPr/>
              <a:lstStyle/>
              <a:p>
                <a:pPr>
                  <a:defRPr b="0" i="0" strike="noStrike" sz="750" u="none">
                    <a:solidFill>
                      <a:srgbClr val="404040"/>
                    </a:solidFill>
                    <a:latin typeface="+mn-lt"/>
                  </a:defRPr>
                </a:pPr>
              </a:p>
            </c:txPr>
            <c:showLegendKey val="0"/>
            <c:showVal val="1"/>
            <c:showCatName val="0"/>
            <c:showSerName val="0"/>
            <c:showPercent val="0"/>
            <c:showBubbleSize val="0"/>
            <c:showLeaderLines val="0"/>
          </c:dLbls>
          <c:dPt>
            <c:idx val="0"/>
            <c:invertIfNegative val="0"/>
            <c:bubble3D val="0"/>
            <c:spPr>
              <a:solidFill>
                <a:srgbClr val="1F3A5F"/>
              </a:solidFill>
              <a:effectLst/>
            </c:spPr>
          </c:dPt>
          <c:dPt>
            <c:idx val="1"/>
            <c:invertIfNegative val="0"/>
            <c:bubble3D val="0"/>
            <c:spPr>
              <a:solidFill>
                <a:srgbClr val="8A8F98"/>
              </a:solidFill>
              <a:effectLst/>
            </c:spPr>
          </c:dPt>
          <c:dPt>
            <c:idx val="2"/>
            <c:invertIfNegative val="0"/>
            <c:bubble3D val="0"/>
            <c:spPr>
              <a:solidFill>
                <a:srgbClr val="8A8F98"/>
              </a:solidFill>
              <a:effectLst/>
            </c:spPr>
          </c:dPt>
          <c:dPt>
            <c:idx val="3"/>
            <c:invertIfNegative val="0"/>
            <c:bubble3D val="0"/>
            <c:spPr>
              <a:solidFill>
                <a:srgbClr val="BFC4CB"/>
              </a:solidFill>
              <a:effectLst/>
            </c:spPr>
          </c:dPt>
          <c:dPt>
            <c:idx val="4"/>
            <c:invertIfNegative val="0"/>
            <c:bubble3D val="0"/>
            <c:spPr>
              <a:solidFill>
                <a:srgbClr val="1F3A5F"/>
              </a:solidFill>
              <a:effectLst/>
            </c:spPr>
          </c:dPt>
          <c:cat>
            <c:multiLvlStrRef>
              <c:f>Sheet1!$A$2:$A$6</c:f>
              <c:multiLvlStrCache>
                <c:ptCount val="5"/>
                <c:lvl>
                  <c:pt idx="0">
                    <c:v>Claw + jeans</c:v>
                  </c:pt>
                  <c:pt idx="1">
                    <c:v>Claw + 1 lb</c:v>
                  </c:pt>
                  <c:pt idx="2">
                    <c:v>Claw, weighed</c:v>
                  </c:pt>
                  <c:pt idx="3">
                    <c:v>Claw, CAD estimate</c:v>
                  </c:pt>
                  <c:pt idx="4">
                    <c:v>Capacity, worst point</c:v>
                  </c:pt>
                </c:lvl>
              </c:multiLvlStrCache>
            </c:multiLvlStrRef>
          </c:cat>
          <c:val>
            <c:numRef>
              <c:f>Sheet1!$B$2:$B$6</c:f>
              <c:numCache>
                <c:formatCode>General</c:formatCode>
                <c:ptCount val="5"/>
                <c:pt idx="0">
                  <c:v>1.5</c:v>
                </c:pt>
                <c:pt idx="1">
                  <c:v>1.05</c:v>
                </c:pt>
                <c:pt idx="2">
                  <c:v>0.6</c:v>
                </c:pt>
                <c:pt idx="3">
                  <c:v>0.86</c:v>
                </c:pt>
                <c:pt idx="4">
                  <c:v>1.56</c:v>
                </c:pt>
              </c:numCache>
            </c:numRef>
          </c:val>
        </c:ser>
        <c:dLbls>
          <c:numFmt formatCode="0.00" sourceLinked="0"/>
          <c:txPr>
            <a:bodyPr/>
            <a:lstStyle/>
            <a:p>
              <a:pPr>
                <a:defRPr b="0" i="0" strike="noStrike" sz="750" u="none">
                  <a:solidFill>
                    <a:srgbClr val="404040"/>
                  </a:solidFill>
                  <a:latin typeface="+mn-lt"/>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BFC4CB"/>
            </a:solidFill>
            <a:prstDash val="solid"/>
            <a:round/>
          </a:ln>
        </c:spPr>
        <c:txPr>
          <a:bodyPr/>
          <a:lstStyle/>
          <a:p>
            <a:pPr>
              <a:defRPr sz="750" b="0" i="0" u="none" strike="noStrike">
                <a:solidFill>
                  <a:srgbClr val="404040"/>
                </a:solidFill>
                <a:latin typeface="+mn-lt"/>
              </a:defRPr>
            </a:pPr>
            <a:endParaRPr lang="en-US"/>
          </a:p>
        </c:txPr>
        <c:crossAx val="2094734552"/>
        <c:crosses val="autoZero"/>
        <c:auto val="1"/>
        <c:lblAlgn val="ctr"/>
        <c:noMultiLvlLbl val="1"/>
      </c:catAx>
      <c:valAx>
        <c:axId val="2094734552"/>
        <c:scaling>
          <c:orientation val="minMax"/>
          <c:max val="2"/>
          <c:min val="0"/>
        </c:scaling>
        <c:delete val="0"/>
        <c:axPos val="b"/>
        <c:majorGridlines>
          <c:spPr>
            <a:ln w="6350" cap="flat">
              <a:solidFill>
                <a:srgbClr val="D9DEE5"/>
              </a:solidFill>
              <a:prstDash val="solid"/>
              <a:round/>
            </a:ln>
          </c:spPr>
        </c:majorGridlines>
        <c:numFmt formatCode="General" sourceLinked="0"/>
        <c:majorTickMark val="out"/>
        <c:minorTickMark val="none"/>
        <c:tickLblPos val="low"/>
        <c:spPr>
          <a:ln w="12700" cap="flat">
            <a:solidFill>
              <a:srgbClr val="BFC4CB"/>
            </a:solidFill>
            <a:prstDash val="solid"/>
            <a:round/>
          </a:ln>
        </c:spPr>
        <c:txPr>
          <a:bodyPr/>
          <a:lstStyle/>
          <a:p>
            <a:pPr>
              <a:defRPr sz="750" b="0" i="0" u="none" strike="noStrike">
                <a:solidFill>
                  <a:srgbClr val="404040"/>
                </a:solidFill>
                <a:latin typeface="+mn-lt"/>
              </a:defRPr>
            </a:pPr>
            <a:endParaRPr lang="en-US"/>
          </a:p>
        </c:txPr>
        <c:crossAx val="2094734554"/>
        <c:crosses val="autoZero"/>
        <c:crossBetween val="between"/>
        <c:majorUnit val="0.5"/>
      </c:valAx>
      <c:spPr>
        <a:solidFill>
          <a:srgbClr val="FFFFFF"/>
        </a:solidFill>
        <a:ln>
          <a:noFill/>
        </a:ln>
        <a:effectLst/>
      </c:spPr>
    </c:plotArea>
    <c:plotVisOnly val="1"/>
    <c:dispBlanksAs val="span"/>
  </c:chart>
  <c:spPr>
    <a:solidFill>
      <a:srgbClr val="FFFFFF"/>
    </a:solid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0"/>
  <c:chart>
    <c:title>
      <c:tx>
        <c:rich>
          <a:bodyPr/>
          <a:lstStyle/>
          <a:p>
            <a:pPr>
              <a:defRPr sz="850" b="1" i="0" u="none" strike="noStrike">
                <a:solidFill>
                  <a:srgbClr val="000000"/>
                </a:solidFill>
                <a:latin typeface="+mn-lt"/>
              </a:defRPr>
            </a:pPr>
            <a:r>
              <a:rPr sz="850" b="1" i="0" u="none" strike="noStrike">
                <a:solidFill>
                  <a:srgbClr val="000000"/>
                </a:solidFill>
                <a:latin typeface="+mn-lt"/>
              </a:rPr>
              <a:t>Tension at which each part gives (N)</a:t>
            </a:r>
          </a:p>
        </c:rich>
      </c:tx>
      <c:layout/>
      <c:overlay val="0"/>
    </c:title>
    <c:autoTitleDeleted val="0"/>
    <c:plotArea>
      <c:layout>
        <c:manualLayout>
          <c:layoutTarget val="inner"/>
          <c:xMode val="edge"/>
          <c:yMode val="edge"/>
          <c:x val="0.3"/>
          <c:y val="0.2"/>
          <c:w val="0.66"/>
          <c:h val="0.72"/>
        </c:manualLayout>
      </c:layout>
      <c:barChart>
        <c:barDir val="bar"/>
        <c:grouping val="stacked"/>
        <c:varyColors val="0"/>
        <c:ser>
          <c:idx val="0"/>
          <c:order val="0"/>
          <c:tx>
            <c:strRef>
              <c:f>Sheet1!$B$1</c:f>
              <c:strCache>
                <c:ptCount val="1"/>
                <c:pt idx="0">
                  <c:v>Low estimate</c:v>
                </c:pt>
              </c:strCache>
            </c:strRef>
          </c:tx>
          <c:spPr>
            <a:solidFill>
              <a:srgbClr val="1F3A5F"/>
            </a:solidFill>
            <a:effectLst/>
          </c:spPr>
          <c:invertIfNegative val="0"/>
          <c:dLbls>
            <c:numFmt formatCode="#,##0" sourceLinked="0"/>
            <c:txPr>
              <a:bodyPr/>
              <a:lstStyle/>
              <a:p>
                <a:pPr>
                  <a:defRPr b="0" i="0" strike="noStrike" sz="750" u="none">
                    <a:solidFill>
                      <a:srgbClr val="404040"/>
                    </a:solidFill>
                    <a:latin typeface="+mn-lt"/>
                  </a:defRPr>
                </a:pPr>
              </a:p>
            </c:txPr>
            <c:showLegendKey val="0"/>
            <c:showVal val="0"/>
            <c:showCatName val="0"/>
            <c:showSerName val="0"/>
            <c:showPercent val="0"/>
            <c:showBubbleSize val="0"/>
            <c:showLeaderLines val="0"/>
          </c:dLbls>
          <c:cat>
            <c:multiLvlStrRef>
              <c:f>Sheet1!$A$2:$A$9</c:f>
              <c:multiLvlStrCache>
                <c:ptCount val="8"/>
                <c:lvl>
                  <c:pt idx="0">
                    <c:v>Screws in stud</c:v>
                  </c:pt>
                  <c:pt idx="1">
                    <c:v>Line knot</c:v>
                  </c:pt>
                  <c:pt idx="2">
                    <c:v>Motor shaft</c:v>
                  </c:pt>
                  <c:pt idx="3">
                    <c:v>Tab 6 mm</c:v>
                  </c:pt>
                  <c:pt idx="4">
                    <c:v>Tab as drawn</c:v>
                  </c:pt>
                  <c:pt idx="5">
                    <c:v>Set screw, metal</c:v>
                  </c:pt>
                  <c:pt idx="6">
                    <c:v>Motor slip (fuse)</c:v>
                  </c:pt>
                  <c:pt idx="7">
                    <c:v>Set screw, printed</c:v>
                  </c:pt>
                </c:lvl>
              </c:multiLvlStrCache>
            </c:multiLvlStrRef>
          </c:cat>
          <c:val>
            <c:numRef>
              <c:f>Sheet1!$B$2:$B$9</c:f>
              <c:numCache>
                <c:formatCode>General</c:formatCode>
                <c:ptCount val="8"/>
                <c:pt idx="0">
                  <c:v>531</c:v>
                </c:pt>
                <c:pt idx="1">
                  <c:v>267</c:v>
                </c:pt>
                <c:pt idx="2">
                  <c:v>149</c:v>
                </c:pt>
                <c:pt idx="3">
                  <c:v>125</c:v>
                </c:pt>
                <c:pt idx="4">
                  <c:v>70</c:v>
                </c:pt>
                <c:pt idx="5">
                  <c:v>53</c:v>
                </c:pt>
                <c:pt idx="6">
                  <c:v>34</c:v>
                </c:pt>
                <c:pt idx="7">
                  <c:v>22</c:v>
                </c:pt>
              </c:numCache>
            </c:numRef>
          </c:val>
        </c:ser>
        <c:ser>
          <c:idx val="1"/>
          <c:order val="1"/>
          <c:tx>
            <c:strRef>
              <c:f>Sheet1!$C$1</c:f>
              <c:strCache>
                <c:ptCount val="1"/>
                <c:pt idx="0">
                  <c:v>Up to high estimate</c:v>
                </c:pt>
              </c:strCache>
            </c:strRef>
          </c:tx>
          <c:spPr>
            <a:solidFill>
              <a:srgbClr val="BFC4CB"/>
            </a:solidFill>
            <a:effectLst/>
          </c:spPr>
          <c:invertIfNegative val="0"/>
          <c:dLbls>
            <c:numFmt formatCode="#,##0" sourceLinked="0"/>
            <c:txPr>
              <a:bodyPr/>
              <a:lstStyle/>
              <a:p>
                <a:pPr>
                  <a:defRPr b="0" i="0" strike="noStrike" sz="750" u="none">
                    <a:solidFill>
                      <a:srgbClr val="404040"/>
                    </a:solidFill>
                    <a:latin typeface="+mn-lt"/>
                  </a:defRPr>
                </a:pPr>
              </a:p>
            </c:txPr>
            <c:showLegendKey val="0"/>
            <c:showVal val="0"/>
            <c:showCatName val="0"/>
            <c:showSerName val="0"/>
            <c:showPercent val="0"/>
            <c:showBubbleSize val="0"/>
            <c:showLeaderLines val="0"/>
          </c:dLbls>
          <c:cat>
            <c:multiLvlStrRef>
              <c:f>Sheet1!$A$2:$A$9</c:f>
              <c:multiLvlStrCache>
                <c:ptCount val="8"/>
                <c:lvl>
                  <c:pt idx="0">
                    <c:v>Screws in stud</c:v>
                  </c:pt>
                  <c:pt idx="1">
                    <c:v>Line knot</c:v>
                  </c:pt>
                  <c:pt idx="2">
                    <c:v>Motor shaft</c:v>
                  </c:pt>
                  <c:pt idx="3">
                    <c:v>Tab 6 mm</c:v>
                  </c:pt>
                  <c:pt idx="4">
                    <c:v>Tab as drawn</c:v>
                  </c:pt>
                  <c:pt idx="5">
                    <c:v>Set screw, metal</c:v>
                  </c:pt>
                  <c:pt idx="6">
                    <c:v>Motor slip (fuse)</c:v>
                  </c:pt>
                  <c:pt idx="7">
                    <c:v>Set screw, printed</c:v>
                  </c:pt>
                </c:lvl>
              </c:multiLvlStrCache>
            </c:multiLvlStrRef>
          </c:cat>
          <c:val>
            <c:numRef>
              <c:f>Sheet1!$C$2:$C$9</c:f>
              <c:numCache>
                <c:formatCode>General</c:formatCode>
                <c:ptCount val="8"/>
                <c:pt idx="0">
                  <c:v>69</c:v>
                </c:pt>
                <c:pt idx="1">
                  <c:v>213</c:v>
                </c:pt>
                <c:pt idx="2">
                  <c:v>106</c:v>
                </c:pt>
                <c:pt idx="3">
                  <c:v>22</c:v>
                </c:pt>
                <c:pt idx="4">
                  <c:v>12</c:v>
                </c:pt>
                <c:pt idx="5">
                  <c:v>65</c:v>
                </c:pt>
                <c:pt idx="6">
                  <c:v>25</c:v>
                </c:pt>
                <c:pt idx="7">
                  <c:v>42</c:v>
                </c:pt>
              </c:numCache>
            </c:numRef>
          </c:val>
        </c:ser>
        <c:dLbls>
          <c:numFmt formatCode="#,##0" sourceLinked="0"/>
          <c:txPr>
            <a:bodyPr/>
            <a:lstStyle/>
            <a:p>
              <a:pPr>
                <a:defRPr b="0" i="0" strike="noStrike" sz="750" u="none">
                  <a:solidFill>
                    <a:srgbClr val="404040"/>
                  </a:solidFill>
                  <a:latin typeface="+mn-lt"/>
                </a:defRPr>
              </a:pPr>
            </a:p>
          </c:txPr>
          <c:showLegendKey val="0"/>
          <c:showVal val="0"/>
          <c:showCatName val="0"/>
          <c:showSerName val="0"/>
          <c:showPercent val="0"/>
          <c:showBubbleSize val="0"/>
          <c:showLeaderLines val="0"/>
        </c:dLbls>
        <c:gapWidth val="35"/>
        <c:overlap val="10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BFC4CB"/>
            </a:solidFill>
            <a:prstDash val="solid"/>
            <a:round/>
          </a:ln>
        </c:spPr>
        <c:txPr>
          <a:bodyPr/>
          <a:lstStyle/>
          <a:p>
            <a:pPr>
              <a:defRPr sz="750" b="0" i="0" u="none" strike="noStrike">
                <a:solidFill>
                  <a:srgbClr val="404040"/>
                </a:solidFill>
                <a:latin typeface="+mn-lt"/>
              </a:defRPr>
            </a:pPr>
            <a:endParaRPr lang="en-US"/>
          </a:p>
        </c:txPr>
        <c:crossAx val="2094734552"/>
        <c:crosses val="autoZero"/>
        <c:auto val="1"/>
        <c:lblAlgn val="ctr"/>
        <c:noMultiLvlLbl val="1"/>
      </c:catAx>
      <c:valAx>
        <c:axId val="2094734552"/>
        <c:scaling>
          <c:orientation val="minMax"/>
          <c:max val="600"/>
          <c:min val="0"/>
        </c:scaling>
        <c:delete val="0"/>
        <c:axPos val="b"/>
        <c:majorGridlines>
          <c:spPr>
            <a:ln w="6350" cap="flat">
              <a:solidFill>
                <a:srgbClr val="D9DEE5"/>
              </a:solidFill>
              <a:prstDash val="solid"/>
              <a:round/>
            </a:ln>
          </c:spPr>
        </c:majorGridlines>
        <c:numFmt formatCode="General" sourceLinked="0"/>
        <c:majorTickMark val="out"/>
        <c:minorTickMark val="none"/>
        <c:tickLblPos val="low"/>
        <c:spPr>
          <a:ln w="12700" cap="flat">
            <a:solidFill>
              <a:srgbClr val="BFC4CB"/>
            </a:solidFill>
            <a:prstDash val="solid"/>
            <a:round/>
          </a:ln>
        </c:spPr>
        <c:txPr>
          <a:bodyPr/>
          <a:lstStyle/>
          <a:p>
            <a:pPr>
              <a:defRPr sz="750" b="0" i="0" u="none" strike="noStrike">
                <a:solidFill>
                  <a:srgbClr val="404040"/>
                </a:solidFill>
                <a:latin typeface="+mn-lt"/>
              </a:defRPr>
            </a:pPr>
            <a:endParaRPr lang="en-US"/>
          </a:p>
        </c:txPr>
        <c:crossAx val="2094734554"/>
        <c:crosses val="autoZero"/>
        <c:crossBetween val="between"/>
        <c:majorUnit val="200"/>
      </c:valAx>
      <c:spPr>
        <a:solidFill>
          <a:srgbClr val="FFFFFF"/>
        </a:solidFill>
        <a:ln>
          <a:noFill/>
        </a:ln>
        <a:effectLst/>
      </c:spPr>
    </c:plotArea>
    <c:plotVisOnly val="1"/>
    <c:dispBlanksAs val="span"/>
  </c:chart>
  <c:spPr>
    <a:solidFill>
      <a:srgbClr val="FFFFFF"/>
    </a:solid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Title. Photo 42: the claw suspended from three cables in the room corner, the first time it hangs (docs/presentation/photos/README.md, row 42, Oct 27). Byline per DECK_V10_BRIEF.md (name | Mechanical Engineering | Texas A&amp;M). Subtitle wording from DECK_V9_NOTES.md slide 1 title.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me. The three collage columns are Jasper's About Me collage (docs/presentation/photos/README.md, about_me/ row, 10/22): outdoors and endurance (hikes, Ironman 70.3, 2025 marathon), engineering (EcoFil, team photo), community (Gladiator Dash for Still Creek Ranch). Degree and school per the brief's byline. Nothing else on the slide; add numbers only from memory you can back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Scope. Room 3.35 x 2.74 m under a 2.74 m ceiling, as reported (DECK_V9_NOTES.md slide 3; v9.1 origins). Design load 0.9 kg jeans, a screening value, plus 2 m/s^2 assumed (REQUIREMENTS R1/R7 via v9.1). Four winches in the studs, one claw on four cables (slide 3 row). PAUSE holds torque; the switched power strip is the emergency stop and drops the claw (D21 via slide 3). Success: one garment floor to hamper, each move approved on the phone; first gate a 1 lb test weight (D19). Cost: $210.78 of parts in the robot for three stations plus $37.74 filament, prices partly estimated (COST_BREAKDOWN_20261026.md headline table). Photo 42 (README row 42).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Generation 1. One central unit (an Uno with a CNC shield) drove all four corner motors over wires run to each corner; an overhead ceiling camera scanned the room (DESIGN_INTENT_20261027.md 'Iteration 1'; DECK_V9_NOTES.md v9.2 slide 7 row; DECISIONS D33 for the ceiling camera). A printed corner plate screwed into a joist replaced hanging hooks: a hook is a pivot, about 1:1 anchor error to claw error (slide 8 row, D13). Each cable homed against a crimped bead at the outlet (PANEL_FEEDBACK_ANSWERS, 'what bead homing is'). Bench: the station lifted a test weight (slide 8 row; the weight and height are not recorded). Photos 05, 13, 14 (README rows).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Problems with Gen 1. Everything wired back to one place (DESIGN_INTENT 'Iteration 1'). Bench finds: 18 V on the meter from a supply labelled 12 V; the homing switch would have zeroed without moving, logic inverted; the switch had to move below the pulley (DECK_V9_NOTES slide 9 row). Bead homing capped the room at 5-29 % of the working volume (slide 10 row; calculations/bead_reach.json: 4.7 % at 1.0 m, 29.1 % at 2.0 m); by floor area at grab height 45 % at 1 m, 93 % at 1.5 m (PANEL_FEEDBACK_ANSWERS 'floor area'). One central board stepping four motors skews them 2.5 mm per 50 ms (slide 10 row). Ceiling camera retired: one more device to mount and calibrate per room; the claw and cables hide the grasp spot from above (DECISIONS D33 via v9 slide 7 notes). Chart: bead_reach.json, calculated.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a winch needs. A motor bolted to a wall cannot just run: a camera can fail, a spool can overwind, tension can rip a mount out, a motor can stall; so each winch gets a switch (button) and a spool encoder (DESIGN_INTENT 'Why it changed'). The encoder measures discrepancies while testing; if the camera proves good enough it can go later; data first (same). Its two jobs today: confirm every commanded step, catch slip as the tension sensor (DECK_V9_NOTES slide 20 row). Fail-safe switch wiring: LOW at rest, HIGH pressed or with a broken wire (slide 20 row). Beads stay as end-of-travel switches (PANEL_FEEDBACK_ANSWERS 'bead homing'). Wiring from one box: 10 conductors per corner, 250 m (820 ft) of wire (v9.2 slide 10 row). Photos 09, 23, 39 (README rows).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Modular box. Each box has its own ESP32 and everything it needs; the only thing entering is power, on a thicker wire (DESIGN_INTENT 'Iteration 2'). 50 m (164 ft) of wire instead of 250 m (DECK_V9_NOTES v9.2 slide 13 row). Any position and orientation (DESIGN_INTENT). Wire drop: drop = current x loop resistance; longest branch 32 ft one way, 64 ft of loop; at 2 A 0.82 V on 18 AWG, 0.51 V on 16 AWG, calculated with 2 A illustrative (FUNDAMENTALS.md section 10; PANEL_FEEDBACK_ANSWERS 'How longer wires increase voltage drop'). Cost: 16 AWG 100 ft roll $30.00 (est.), 65 ft used for three stations, $19.50 prorated (COST_BREAKDOWN_20261026.md section 1, 16 AWG row). Photos 33, 46 (README rows); SolidWorks screenshot of the station shell, transparent (deck_assets/screens).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Everyday use. Plug and play: once a box works it works; it slides on and off the wall and plugs and unplugs; guests come, each box slips off and goes in a drawer; back on, one plug, it joins the Wi-Fi by itself (DESIGN_INTENT 'Iteration 2'). Slip the station out of the mount to open the electronics, close it, slide it back; no unscrewing from the wall: the wall mount and its screws stay in the stud (DECK_V9_NOTES slide 12 row 'One plug per station'). A product, not a tangle: individual packaged boxes with one plug and a Wi-Fi setup (DESIGN_INTENT). The mount is separate: today a slide-in screwed into a stud, later a clamp onto a pole, like gym equipment (DESIGN_INTENT). Photos 45, 24, 31 (README rows).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Trade-offs, all calculated unless marked. Tension vs depth: T = W / (4 sin phi) with the weighed claw plus 1 lb; at 0.4 m below the anchors 14.3 N static, 17.2 N with 2 m/s^2, against the 16.8 N winch limit; with jeans the claw stays 0.6 m down (DECK_V9_NOTES slide 6 row; FUNDAMENTALS section 1). Motor temperature at 1.5 A, 23 C room: no fin 77.2 / 99.1 C vented / sealed, 0.019 in prototype fin 57.6 / 66.3, 1/8 in design fin 48.9 / 53.8; PETG limit 60 C (deck_v8/fig/sheet_motor_temperature; calculations/fin_sizing_4w.md coupled results 55.9-58.8 C vented). Winch pull: 0.7 x 0.36 N.m holding (0.7 assumed) over the spool radius: 34 N empty core, 25 N full; design force = running / 1.5 = 16.8 N; jeans worst cable 16.2 N (calculations/lift_chain_weakest_link.md 'Demand and the fuse'; slide 17 row). Weight: 0.45 kg budget (R7), 0.86 kg CAD estimate with battery, 0.60 kg weighed 10/22 (PANEL_FEEDBACK_ANSWERS slide 16); jeans 1.50 kg against 1.56 kg capacity, 4 % (slide 17 row). Weakest link: cable tension at which each part gives, one station at 1.5 A (lift_chain_weakest_link.md ranking table): motor slips at 34-59 N, the designed fuse; the set screw in the printed thread 22-64 N may give first, so it moves into a metal insert; screws in a stud 531 N and up (bar capped at 600).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Mount assembly 1. Slide-in wall mount: the station lifts off its dovetail; the wall mount and its screws stay in the stud (DECK_V9_NOTES slide 12 row). Load path: cable, spool, set screw, motor, PETG tab, slide-in, wall mount, screws, stud (same row; lift_chain_weakest_link.md 'The chain and the rule'). The motor slips at 34-59 N before anything breaks, the designed fuse; the spool encoder sees the spool fall behind the commanded steps: a tracking fault, every station holds (slide 13 row). Dovetail fit 0.175 mm a side on 30 deg flanks, from fit coupons (PANEL_FEEDBACK_ANSWERS 'Manufacturing fits', row 'Slide-in mount'; slide 19 title 'fits came from coupons'). Photos 45, 46, 24; snap_dovetail.png (deck_v8/fig); station_shell_transparent_1022.png.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Mount assembly 2. The aluminium fin bolts to the motor face and goes out through a slot in the top of the shell; the shell is vented (DECK_V9_NOTES slide 16 and 22 rows; README rows 27, 34, 36). Prototype fin 0.019 in sheet, 56-59 C vented with the fin, calculated; 1/8 in design fin 45-49 C (slide 16 row; fin_sizing_4w.md). First station in a stud on the TV wall, 12 V down the wall (slide 22 row). Load path and fuse as on the previous slide. A 1 deg draft on the dovetail is the NEXT iteration: the slide-in binds on insertion today (slide 24 row). Photos 32, 33, 44 (README rows).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Claw. Four-bar hands stay within 1 deg of parallel over the 53 mm opening; a camera bay on the electronics housing; one 7.4 V two-cell pack, a 6 V regulator for the servo, a 5 V buck for the board (DECK_V9_NOTES slide 18 row 'The claw'). The gripper attaches modularly at the tube, by design, a test bed for shirts (DESIGN_INTENT 'The gripper'; v9.2 slide 18 row). A hard-material pinch was expected to grip better; testing showed alignment problems: the rack-and-pinion jaws left a 2 mm gap on thin cloth, Sep 30 (v9.2 slide 18 row; Jasper's account, no cloth-test reading logged). TPU and other pad materials being tried (DESIGN_INTENT). The v6 clamp came out at 4.6x its mass budget in CAD, Oct 20; since then mass is tracked per part; the claw weighed 0.60 kg with battery against the 0.45 kg budget (slide 11 and 17 rows). Photos 25, 40, 22; renders gripper1021_head.png, claw_v6.png.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Bench. Station checklist: driver off at boot, so a reset cannot move a motor; homing switch LOW at rest, HIGH pressed or with a broken wire; the encoder answers at its address with the magnet detected; one spool turn within 60 encoder counts: PASS on both boards (DECK_V9_NOTES slide 20 row; Jasper's 10/25-10/26 bench, to confirm per v9 BUILD_NOTE). The motor that logged steps but did not turn: the logic rail read about 1.14 V instead of 3.3 V, a bad 3.3 V connection; now the driver VDD is soldered to the regulated rail and measured before enable (slide 20 row; PANEL_FEEDBACK_ANSWERS slide 17 item). Claw bench: live video on the phone; battery 7.2 V through the divider, matching the meter; the servo only moved once it had its own hardware timer, the camera owned the first (slide 21 row). Photos 29, 31, 37, 43 (README rows).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 the wall. First station in a stud on the TV wall; boxed stations boot and join Wi-Fi on their own; firmware updates arrive over Wi-Fi, so a boxed station never needs a USB cable again; the motor stays off until the phone arms it; a station accepts an update only while disarmed (DECK_V9_NOTES slide 22 row). Still planned, no result yet: the pull test at 1.5 A, the hold test, the first three-station lift (slide 25 and 26 rows). Photos 31, 32, 44 (README rows). Live view: docs/app_screenshots/02_camera.png is the simulator's view, so it is not shown as the claw camera.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Calibration, from docs/presentation/CALIBRATION_SIMPLE.md (lead, 10/27; from roomcleaner/cdpr/startup.py). The claw starts on the floor on a printed mat it can see with its camera; six steps in order; any failed check stops everything and waits for a person. Two rules: it never retries by itself, and if a station reboots all six steps run again. Cable lengths after the fit about 12-16 mm (simulated; DECK_V9_NOTES slide 15 row). Photo 42 (README row 42).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Next iteration (DECK_V9_NOTES slide 24 row, Jasper 10/27). Gear stage: 18T/54T, 3:1, printed PETG pinion, CAD-verified, pinion printed, NOT fitted; the mounted stations are direct-drive spools (D40-D42; v9 'correction' update). 2.7x pull at 1.0 A with half the heat (PANEL_FEEDBACK_ANSWERS 'larger motors'); the slip fuse moves to about 130 N (slide 24 row). Draft: the slide-in binds on insertion; a 1 deg draft on the dovetail, thicker at the top (slide 24 row, PLANNED). Mount: holds about 200x the motor's pull, 597 cm^3 solid, to about 200 cm^3 (slide 24 row, PLANNED). Still planned, no result: pull test, hold test, first three-station lift (slide 25 and 26 rows). The dashed box is for Jasper's new CAD.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Thank you. Leave this slide up for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4846320"/>
            <a:ext cx="9144000" cy="297180"/>
          </a:xfrm>
          <a:prstGeom prst="rect">
            <a:avLst/>
          </a:prstGeom>
          <a:solidFill>
            <a:srgbClr val="000000"/>
          </a:solidFill>
          <a:ln w="12700">
            <a:solidFill>
              <a:srgbClr val="000000"/>
            </a:solidFill>
            <a:prstDash val="solid"/>
          </a:ln>
        </p:spPr>
      </p:sp>
      <p:sp>
        <p:nvSpPr>
          <p:cNvPr id="3" name="Text 1"/>
          <p:cNvSpPr/>
          <p:nvPr/>
        </p:nvSpPr>
        <p:spPr>
          <a:xfrm>
            <a:off x="365760" y="4846320"/>
            <a:ext cx="2743200" cy="297180"/>
          </a:xfrm>
          <a:prstGeom prst="rect">
            <a:avLst/>
          </a:prstGeom>
          <a:noFill/>
          <a:ln/>
        </p:spPr>
        <p:txBody>
          <a:bodyPr wrap="square" lIns="0" tIns="0" rIns="0" bIns="0" rtlCol="0" anchor="ctr"/>
          <a:lstStyle/>
          <a:p>
            <a:pPr indent="0" marL="0">
              <a:buNone/>
            </a:pPr>
            <a:r>
              <a:rPr lang="en-US" sz="800" spc="600" kern="0" dirty="0">
                <a:solidFill>
                  <a:srgbClr val="FFFFFF"/>
                </a:solidFill>
                <a:latin typeface="Arial" pitchFamily="34" charset="0"/>
                <a:ea typeface="Arial" pitchFamily="34" charset="-122"/>
                <a:cs typeface="Arial" pitchFamily="34" charset="-120"/>
              </a:rPr>
              <a:t>ROOMCLEANER</a:t>
            </a:r>
            <a:endParaRPr lang="en-US" sz="800" dirty="0"/>
          </a:p>
        </p:txBody>
      </p:sp>
      <p:sp>
        <p:nvSpPr>
          <p:cNvPr id="4" name="Text 2"/>
          <p:cNvSpPr/>
          <p:nvPr>
            <p:ph idx="102" type="title" hasCustomPrompt="1"/>
          </p:nvPr>
        </p:nvSpPr>
        <p:spPr>
          <a:xfrm>
            <a:off x="365760" y="256032"/>
            <a:ext cx="8412480" cy="502920"/>
          </a:xfrm>
          <a:prstGeom prst="rect">
            <a:avLst/>
          </a:prstGeom>
          <a:noFill/>
          <a:ln/>
        </p:spPr>
        <p:txBody>
          <a:bodyPr wrap="square" rtlCol="0"/>
          <a:lstStyle>
            <a:lvl1pPr algn="l" indent="0" marL="0">
              <a:buNone/>
              <a:defRPr lang="en-US" sz="2400" b="1" dirty="0">
                <a:solidFill>
                  <a:srgbClr val="000000"/>
                </a:solidFill>
                <a:latin typeface="Arial" pitchFamily="34" charset="0"/>
                <a:ea typeface="Arial" pitchFamily="34" charset="-122"/>
                <a:cs typeface="Arial" pitchFamily="34" charset="-120"/>
              </a:defRPr>
            </a:lvl1pPr>
          </a:lstStyle>
          <a:p>
            <a:pPr algn="l" indent="0" marL="0">
              <a:buNone/>
            </a:pPr>
            <a:r>
              <a:rPr lang="en-US" sz="2400" b="1" dirty="0">
                <a:solidFill>
                  <a:srgbClr val="000000"/>
                </a:solidFill>
                <a:latin typeface="Arial" pitchFamily="34" charset="0"/>
                <a:ea typeface="Arial" pitchFamily="34" charset="-122"/>
                <a:cs typeface="Arial" pitchFamily="34" charset="-120"/>
              </a:rPr>
              <a:t>Title</a:t>
            </a:r>
            <a:endParaRPr lang="en-US" sz="2400" dirty="0"/>
          </a:p>
        </p:txBody>
      </p:sp>
      <p:sp>
        <p:nvSpPr>
          <p:cNvPr id="25" name="Slide Number Placeholder 0"/>
          <p:cNvSpPr>
            <a:spLocks noGrp="1"/>
          </p:cNvSpPr>
          <p:nvPr>
            <p:ph type="sldNum" sz="quarter" idx="4294967295"/>
          </p:nvPr>
        </p:nvSpPr>
        <p:spPr>
          <a:xfrm>
            <a:off x="8229600" y="4846320"/>
            <a:ext cx="548640" cy="297180"/>
          </a:xfrm>
          <a:prstGeom prst="rect">
            <a:avLst/>
          </a:prstGeom>
          <a:extLst>
            <a:ext uri="{C572A759-6A51-4108-AA02-DFA0A04FC94B}">
              <ma14:wrappingTextBoxFlag xmlns:ma14="http://schemas.microsoft.com/office/mac/drawingml/2011/main" val="0"/>
            </a:ext>
          </a:extLst>
        </p:spPr>
        <p:txBody>
          <a:bodyPr anchor="ctr"/>
          <a:lstStyle>
            <a:lvl1pPr>
              <a:defRPr sz="800">
                <a:solidFill>
                  <a:srgbClr val="FFFFFF"/>
                </a:solidFill>
                <a:latin typeface="Arial"/>
                <a:ea typeface="Arial"/>
                <a:cs typeface="Arial"/>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PLAI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4846320"/>
            <a:ext cx="9144000" cy="297180"/>
          </a:xfrm>
          <a:prstGeom prst="rect">
            <a:avLst/>
          </a:prstGeom>
          <a:solidFill>
            <a:srgbClr val="000000"/>
          </a:solidFill>
          <a:ln w="12700">
            <a:solidFill>
              <a:srgbClr val="000000"/>
            </a:solidFill>
            <a:prstDash val="solid"/>
          </a:ln>
        </p:spPr>
      </p:sp>
      <p:sp>
        <p:nvSpPr>
          <p:cNvPr id="3" name="Text 1"/>
          <p:cNvSpPr/>
          <p:nvPr/>
        </p:nvSpPr>
        <p:spPr>
          <a:xfrm>
            <a:off x="365760" y="4846320"/>
            <a:ext cx="2743200" cy="297180"/>
          </a:xfrm>
          <a:prstGeom prst="rect">
            <a:avLst/>
          </a:prstGeom>
          <a:noFill/>
          <a:ln/>
        </p:spPr>
        <p:txBody>
          <a:bodyPr wrap="square" lIns="0" tIns="0" rIns="0" bIns="0" rtlCol="0" anchor="ctr"/>
          <a:lstStyle/>
          <a:p>
            <a:pPr indent="0" marL="0">
              <a:buNone/>
            </a:pPr>
            <a:r>
              <a:rPr lang="en-US" sz="800" spc="600" kern="0" dirty="0">
                <a:solidFill>
                  <a:srgbClr val="FFFFFF"/>
                </a:solidFill>
                <a:latin typeface="Arial" pitchFamily="34" charset="0"/>
                <a:ea typeface="Arial" pitchFamily="34" charset="-122"/>
                <a:cs typeface="Arial" pitchFamily="34" charset="-120"/>
              </a:rPr>
              <a:t>ROOMCLEANER</a:t>
            </a:r>
            <a:endParaRPr lang="en-US" sz="800" dirty="0"/>
          </a:p>
        </p:txBody>
      </p:sp>
      <p:sp>
        <p:nvSpPr>
          <p:cNvPr id="25" name="Slide Number Placeholder 0"/>
          <p:cNvSpPr>
            <a:spLocks noGrp="1"/>
          </p:cNvSpPr>
          <p:nvPr>
            <p:ph type="sldNum" sz="quarter" idx="4294967295"/>
          </p:nvPr>
        </p:nvSpPr>
        <p:spPr>
          <a:xfrm>
            <a:off x="8229600" y="4846320"/>
            <a:ext cx="548640" cy="297180"/>
          </a:xfrm>
          <a:prstGeom prst="rect">
            <a:avLst/>
          </a:prstGeom>
          <a:extLst>
            <a:ext uri="{C572A759-6A51-4108-AA02-DFA0A04FC94B}">
              <ma14:wrappingTextBoxFlag xmlns:ma14="http://schemas.microsoft.com/office/mac/drawingml/2011/main" val="0"/>
            </a:ext>
          </a:extLst>
        </p:spPr>
        <p:txBody>
          <a:bodyPr anchor="ctr"/>
          <a:lstStyle>
            <a:lvl1pPr>
              <a:defRPr sz="800">
                <a:solidFill>
                  <a:srgbClr val="FFFFFF"/>
                </a:solidFill>
                <a:latin typeface="Arial"/>
                <a:ea typeface="Arial"/>
                <a:cs typeface="Arial"/>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229600" y="4846320"/>
            <a:ext cx="548640" cy="297180"/>
          </a:xfrm>
          <a:prstGeom prst="rect">
            <a:avLst/>
          </a:prstGeom>
          <a:extLst>
            <a:ext uri="{C572A759-6A51-4108-AA02-DFA0A04FC94B}">
              <ma14:wrappingTextBoxFlag xmlns:ma14="http://schemas.microsoft.com/office/mac/drawingml/2011/main" val="0"/>
            </a:ext>
          </a:extLst>
        </p:spPr>
        <p:txBody>
          <a:bodyPr anchor="ctr"/>
          <a:lstStyle>
            <a:lvl1pPr>
              <a:defRPr sz="800">
                <a:solidFill>
                  <a:srgbClr val="FFFFFF"/>
                </a:solidFill>
                <a:latin typeface="Arial"/>
                <a:ea typeface="Arial"/>
                <a:cs typeface="Aria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slideLayout" Target="../slideLayouts/slideLayout3.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slideLayout" Target="../slideLayouts/slideLayout2.xml"/><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jpg"/><Relationship Id="rId2" Type="http://schemas.openxmlformats.org/officeDocument/2006/relationships/slideLayout" Target="../slideLayouts/slideLayout2.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jpg"/><Relationship Id="rId2" Type="http://schemas.openxmlformats.org/officeDocument/2006/relationships/image" Target="../media/image-4-2.jpg"/><Relationship Id="rId3" Type="http://schemas.openxmlformats.org/officeDocument/2006/relationships/image" Target="../media/image-4-3.jpg"/><Relationship Id="rId4" Type="http://schemas.openxmlformats.org/officeDocument/2006/relationships/slideLayout" Target="../slideLayouts/slideLayout2.xml"/><Relationship Id="rId5"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jpg"/><Relationship Id="rId2" Type="http://schemas.openxmlformats.org/officeDocument/2006/relationships/image" Target="../media/image-6-2.jpg"/><Relationship Id="rId3" Type="http://schemas.openxmlformats.org/officeDocument/2006/relationships/image" Target="../media/image-6-3.jpg"/><Relationship Id="rId4" Type="http://schemas.openxmlformats.org/officeDocument/2006/relationships/slideLayout" Target="../slideLayouts/slideLayout2.xml"/><Relationship Id="rId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jpg"/><Relationship Id="rId2" Type="http://schemas.openxmlformats.org/officeDocument/2006/relationships/image" Target="../media/image-7-2.png"/><Relationship Id="rId3" Type="http://schemas.openxmlformats.org/officeDocument/2006/relationships/slideLayout" Target="../slideLayouts/slideLayout2.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jpg"/><Relationship Id="rId2" Type="http://schemas.openxmlformats.org/officeDocument/2006/relationships/image" Target="../media/image-8-2.jpg"/><Relationship Id="rId3" Type="http://schemas.openxmlformats.org/officeDocument/2006/relationships/image" Target="../media/image-8-3.jpg"/><Relationship Id="rId4" Type="http://schemas.openxmlformats.org/officeDocument/2006/relationships/slideLayout" Target="../slideLayouts/slideLayout2.xml"/><Relationship Id="rId5"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chart" Target="/ppt/charts/chart3.xml"/><Relationship Id="rId3" Type="http://schemas.openxmlformats.org/officeDocument/2006/relationships/chart" Target="/ppt/charts/chart4.xml"/><Relationship Id="rId4" Type="http://schemas.openxmlformats.org/officeDocument/2006/relationships/chart" Target="/ppt/charts/chart5.xml"/><Relationship Id="rId5" Type="http://schemas.openxmlformats.org/officeDocument/2006/relationships/chart" Target="/ppt/charts/chart6.xml"/><Relationship Id="rId6" Type="http://schemas.openxmlformats.org/officeDocument/2006/relationships/slideLayout" Target="../slideLayouts/slideLayout2.xml"/><Relationship Id="rId7"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jpg"/><Relationship Id="rId2" Type="http://schemas.openxmlformats.org/officeDocument/2006/relationships/image" Target="../media/image-10-2.jp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slideLayout" Target="../slideLayouts/slideLayout2.xml"/><Relationship Id="rId6"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jpg"/><Relationship Id="rId2" Type="http://schemas.openxmlformats.org/officeDocument/2006/relationships/image" Target="../media/image-11-2.jpg"/><Relationship Id="rId3" Type="http://schemas.openxmlformats.org/officeDocument/2006/relationships/image" Target="../media/image-11-3.jpg"/><Relationship Id="rId4" Type="http://schemas.openxmlformats.org/officeDocument/2006/relationships/slideLayout" Target="../slideLayouts/slideLayout2.xml"/><Relationship Id="rId5"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jp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jpg"/><Relationship Id="rId5" Type="http://schemas.openxmlformats.org/officeDocument/2006/relationships/slideLayout" Target="../slideLayouts/slideLayout2.xml"/><Relationship Id="rId6"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jpg"/><Relationship Id="rId2" Type="http://schemas.openxmlformats.org/officeDocument/2006/relationships/image" Target="../media/image-13-2.jpg"/><Relationship Id="rId3" Type="http://schemas.openxmlformats.org/officeDocument/2006/relationships/image" Target="../media/image-13-3.jpg"/><Relationship Id="rId4" Type="http://schemas.openxmlformats.org/officeDocument/2006/relationships/slideLayout" Target="../slideLayouts/slideLayout2.xml"/><Relationship Id="rId5"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jpg"/><Relationship Id="rId2" Type="http://schemas.openxmlformats.org/officeDocument/2006/relationships/image" Target="../media/image-14-2.jpg"/><Relationship Id="rId3" Type="http://schemas.openxmlformats.org/officeDocument/2006/relationships/image" Target="../media/image-14-3.jpg"/><Relationship Id="rId4" Type="http://schemas.openxmlformats.org/officeDocument/2006/relationships/slideLayout" Target="../slideLayouts/slideLayout2.xml"/><Relationship Id="rId5"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jp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deck title"/>
          <p:cNvSpPr txBox="1"/>
          <p:nvPr/>
        </p:nvSpPr>
        <p:spPr>
          <a:xfrm>
            <a:off x="365760" y="1554480"/>
            <a:ext cx="5486400" cy="822960"/>
          </a:xfrm>
          <a:prstGeom prst="rect">
            <a:avLst/>
          </a:prstGeom>
          <a:noFill/>
          <a:ln/>
        </p:spPr>
        <p:txBody>
          <a:bodyPr wrap="square" lIns="0" tIns="0" rIns="0" bIns="0" rtlCol="0" anchor="ctr"/>
          <a:lstStyle/>
          <a:p>
            <a:pPr indent="0" marL="0">
              <a:buNone/>
            </a:pPr>
            <a:r>
              <a:rPr lang="en-US" sz="4000" b="1" dirty="0">
                <a:solidFill>
                  <a:schemeClr val="tx1"/>
                </a:solidFill>
              </a:rPr>
              <a:t>RoomCleaner</a:t>
            </a:r>
            <a:endParaRPr lang="en-US" sz="4000" dirty="0"/>
          </a:p>
        </p:txBody>
      </p:sp>
      <p:sp>
        <p:nvSpPr>
          <p:cNvPr id="3" name="subtitle"/>
          <p:cNvSpPr txBox="1"/>
          <p:nvPr/>
        </p:nvSpPr>
        <p:spPr>
          <a:xfrm>
            <a:off x="365760" y="2377440"/>
            <a:ext cx="5486400" cy="457200"/>
          </a:xfrm>
          <a:prstGeom prst="rect">
            <a:avLst/>
          </a:prstGeom>
          <a:noFill/>
          <a:ln/>
        </p:spPr>
        <p:txBody>
          <a:bodyPr wrap="square" lIns="0" tIns="0" rIns="0" bIns="0" rtlCol="0" anchor="ctr"/>
          <a:lstStyle/>
          <a:p>
            <a:pPr indent="0" marL="0">
              <a:buNone/>
            </a:pPr>
            <a:r>
              <a:rPr lang="en-US" sz="1600" dirty="0">
                <a:solidFill>
                  <a:schemeClr val="tx2"/>
                </a:solidFill>
              </a:rPr>
              <a:t>A four-cable ceiling robot that picks laundry off the floor</a:t>
            </a:r>
            <a:endParaRPr lang="en-US" sz="1600" dirty="0"/>
          </a:p>
        </p:txBody>
      </p:sp>
      <p:sp>
        <p:nvSpPr>
          <p:cNvPr id="4" name="byline"/>
          <p:cNvSpPr txBox="1"/>
          <p:nvPr/>
        </p:nvSpPr>
        <p:spPr>
          <a:xfrm>
            <a:off x="365760" y="3108960"/>
            <a:ext cx="5486400" cy="365760"/>
          </a:xfrm>
          <a:prstGeom prst="rect">
            <a:avLst/>
          </a:prstGeom>
          <a:noFill/>
          <a:ln/>
        </p:spPr>
        <p:txBody>
          <a:bodyPr wrap="square" lIns="0" tIns="0" rIns="0" bIns="0" rtlCol="0" anchor="ctr"/>
          <a:lstStyle/>
          <a:p>
            <a:pPr indent="0" marL="0">
              <a:buNone/>
            </a:pPr>
            <a:r>
              <a:rPr lang="en-US" sz="1300" dirty="0">
                <a:solidFill>
                  <a:schemeClr val="tx1"/>
                </a:solidFill>
              </a:rPr>
              <a:t>Jasper Buntinx  |  Mechanical Engineering  |  Texas A&amp;M</a:t>
            </a:r>
            <a:endParaRPr lang="en-US" sz="1300" dirty="0"/>
          </a:p>
        </p:txBody>
      </p:sp>
      <p:sp>
        <p:nvSpPr>
          <p:cNvPr id="5" name="date"/>
          <p:cNvSpPr txBox="1"/>
          <p:nvPr/>
        </p:nvSpPr>
        <p:spPr>
          <a:xfrm>
            <a:off x="365760" y="3474720"/>
            <a:ext cx="5486400" cy="274320"/>
          </a:xfrm>
          <a:prstGeom prst="rect">
            <a:avLst/>
          </a:prstGeom>
          <a:noFill/>
          <a:ln/>
        </p:spPr>
        <p:txBody>
          <a:bodyPr wrap="square" lIns="0" tIns="0" rIns="0" bIns="0" rtlCol="0" anchor="ctr"/>
          <a:lstStyle/>
          <a:p>
            <a:pPr indent="0" marL="0">
              <a:buNone/>
            </a:pPr>
            <a:r>
              <a:rPr lang="en-US" sz="1100" dirty="0">
                <a:solidFill>
                  <a:schemeClr val="tx2"/>
                </a:solidFill>
              </a:rPr>
              <a:t>October 27, 2026</a:t>
            </a:r>
            <a:endParaRPr lang="en-US" sz="1100" dirty="0"/>
          </a:p>
        </p:txBody>
      </p:sp>
      <p:pic>
        <p:nvPicPr>
          <p:cNvPr id="6" name="The claw hanging from three cables in th" descr="The claw hanging from three cables in the room corner (Oct 27)">    </p:cNvPr>
          <p:cNvPicPr>
            <a:picLocks noChangeAspect="1"/>
          </p:cNvPicPr>
          <p:nvPr/>
        </p:nvPicPr>
        <p:blipFill>
          <a:blip r:embed="rId1"/>
          <a:srcRect l="0" r="0" t="0" b="0"/>
          <a:stretch/>
        </p:blipFill>
        <p:spPr>
          <a:xfrm>
            <a:off x="6035040" y="0"/>
            <a:ext cx="3108960" cy="4846320"/>
          </a:xfrm>
          <a:prstGeom prst="rect">
            <a:avLst/>
          </a:prstGeom>
        </p:spPr>
      </p:pic>
      <p:sp>
        <p:nvSpPr>
          <p:cNvPr id="25" name="Slide Number Placeholder 0"/>
          <p:cNvSpPr>
            <a:spLocks noGrp="1"/>
          </p:cNvSpPr>
          <p:nvPr>
            <p:ph type="sldNum" sz="quarter" idx="4294967295"/>
          </p:nvPr>
        </p:nvSpPr>
        <p:spPr>
          <a:xfrm>
            <a:off x="8229600" y="4846320"/>
            <a:ext cx="548640" cy="297180"/>
          </a:xfrm>
          <a:prstGeom prst="rect">
            <a:avLst/>
          </a:prstGeom>
          <a:extLst>
            <a:ext uri="{C572A759-6A51-4108-AA02-DFA0A04FC94B}">
              <ma14:wrappingTextBoxFlag xmlns:ma14="http://schemas.microsoft.com/office/mac/drawingml/2011/main" val="0"/>
            </a:ext>
          </a:extLst>
        </p:spPr>
        <p:txBody>
          <a:bodyPr anchor="ctr"/>
          <a:lstStyle>
            <a:lvl1pPr>
              <a:defRPr sz="800">
                <a:solidFill>
                  <a:srgbClr val="FFFFFF"/>
                </a:solidFill>
                <a:latin typeface="Arial"/>
                <a:ea typeface="Arial"/>
                <a:cs typeface="Arial"/>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2"/>
          <p:cNvSpPr/>
          <p:nvPr>
            <p:ph idx="102" type="title" hasCustomPrompt="1"/>
          </p:nvPr>
        </p:nvSpPr>
        <p:spPr>
          <a:xfrm>
            <a:off x="365760" y="256032"/>
            <a:ext cx="8412480" cy="502920"/>
          </a:xfrm>
          <a:prstGeom prst="rect">
            <a:avLst/>
          </a:prstGeom>
          <a:noFill/>
          <a:ln/>
        </p:spPr>
        <p:txBody>
          <a:bodyPr wrap="square" lIns="0" tIns="0" rIns="0" bIns="0" rtlCol="0" anchor="ctr"/>
          <a:lstStyle/>
          <a:p>
            <a:pPr algn="l" indent="0" marL="0">
              <a:buNone/>
            </a:pPr>
            <a:r>
              <a:rPr lang="en-US" sz="2400" b="1" dirty="0">
                <a:solidFill>
                  <a:srgbClr val="000000"/>
                </a:solidFill>
                <a:latin typeface="Arial" pitchFamily="34" charset="0"/>
                <a:ea typeface="Arial" pitchFamily="34" charset="-122"/>
                <a:cs typeface="Arial" pitchFamily="34" charset="-120"/>
              </a:rPr>
              <a:t>About me</a:t>
            </a:r>
            <a:endParaRPr lang="en-US" sz="2400" dirty="0"/>
          </a:p>
        </p:txBody>
      </p:sp>
      <p:pic>
        <p:nvPicPr>
          <p:cNvPr id="4" name="about_outdoors.png" descr="Outdoors and endurance">    </p:cNvPr>
          <p:cNvPicPr>
            <a:picLocks noChangeAspect="1"/>
          </p:cNvPicPr>
          <p:nvPr/>
        </p:nvPicPr>
        <p:blipFill>
          <a:blip r:embed="rId1"/>
          <a:stretch>
            <a:fillRect/>
          </a:stretch>
        </p:blipFill>
        <p:spPr>
          <a:xfrm>
            <a:off x="3246120" y="868680"/>
            <a:ext cx="1518866" cy="2983121"/>
          </a:xfrm>
          <a:prstGeom prst="rect">
            <a:avLst/>
          </a:prstGeom>
        </p:spPr>
      </p:pic>
      <p:sp>
        <p:nvSpPr>
          <p:cNvPr id="5" name="caption"/>
          <p:cNvSpPr txBox="1"/>
          <p:nvPr/>
        </p:nvSpPr>
        <p:spPr>
          <a:xfrm>
            <a:off x="3246120" y="3888377"/>
            <a:ext cx="1518866" cy="201168"/>
          </a:xfrm>
          <a:prstGeom prst="rect">
            <a:avLst/>
          </a:prstGeom>
          <a:noFill/>
          <a:ln/>
        </p:spPr>
        <p:txBody>
          <a:bodyPr wrap="square" lIns="0" tIns="0" rIns="0" bIns="0" rtlCol="0" anchor="ctr"/>
          <a:lstStyle/>
          <a:p>
            <a:pPr algn="l" indent="0" marL="0">
              <a:buNone/>
            </a:pPr>
            <a:r>
              <a:rPr lang="en-US" sz="850" dirty="0">
                <a:solidFill>
                  <a:schemeClr val="tx2"/>
                </a:solidFill>
              </a:rPr>
              <a:t>Outdoors and endurance</a:t>
            </a:r>
            <a:endParaRPr lang="en-US" sz="850" dirty="0"/>
          </a:p>
        </p:txBody>
      </p:sp>
      <p:pic>
        <p:nvPicPr>
          <p:cNvPr id="6" name="about_engineering.png" descr="Engineering">    </p:cNvPr>
          <p:cNvPicPr>
            <a:picLocks noChangeAspect="1"/>
          </p:cNvPicPr>
          <p:nvPr/>
        </p:nvPicPr>
        <p:blipFill>
          <a:blip r:embed="rId2"/>
          <a:stretch>
            <a:fillRect/>
          </a:stretch>
        </p:blipFill>
        <p:spPr>
          <a:xfrm>
            <a:off x="4874714" y="868680"/>
            <a:ext cx="1886246" cy="2983121"/>
          </a:xfrm>
          <a:prstGeom prst="rect">
            <a:avLst/>
          </a:prstGeom>
        </p:spPr>
      </p:pic>
      <p:sp>
        <p:nvSpPr>
          <p:cNvPr id="7" name="caption"/>
          <p:cNvSpPr txBox="1"/>
          <p:nvPr/>
        </p:nvSpPr>
        <p:spPr>
          <a:xfrm>
            <a:off x="4874714" y="3888377"/>
            <a:ext cx="1886246" cy="201168"/>
          </a:xfrm>
          <a:prstGeom prst="rect">
            <a:avLst/>
          </a:prstGeom>
          <a:noFill/>
          <a:ln/>
        </p:spPr>
        <p:txBody>
          <a:bodyPr wrap="square" lIns="0" tIns="0" rIns="0" bIns="0" rtlCol="0" anchor="ctr"/>
          <a:lstStyle/>
          <a:p>
            <a:pPr algn="l" indent="0" marL="0">
              <a:buNone/>
            </a:pPr>
            <a:r>
              <a:rPr lang="en-US" sz="850" dirty="0">
                <a:solidFill>
                  <a:schemeClr val="tx2"/>
                </a:solidFill>
              </a:rPr>
              <a:t>Engineering</a:t>
            </a:r>
            <a:endParaRPr lang="en-US" sz="850" dirty="0"/>
          </a:p>
        </p:txBody>
      </p:sp>
      <p:pic>
        <p:nvPicPr>
          <p:cNvPr id="8" name="about_community.png" descr="Community">    </p:cNvPr>
          <p:cNvPicPr>
            <a:picLocks noChangeAspect="1"/>
          </p:cNvPicPr>
          <p:nvPr/>
        </p:nvPicPr>
        <p:blipFill>
          <a:blip r:embed="rId3"/>
          <a:stretch>
            <a:fillRect/>
          </a:stretch>
        </p:blipFill>
        <p:spPr>
          <a:xfrm>
            <a:off x="6870688" y="868680"/>
            <a:ext cx="1907552" cy="2983121"/>
          </a:xfrm>
          <a:prstGeom prst="rect">
            <a:avLst/>
          </a:prstGeom>
        </p:spPr>
      </p:pic>
      <p:sp>
        <p:nvSpPr>
          <p:cNvPr id="9" name="caption"/>
          <p:cNvSpPr txBox="1"/>
          <p:nvPr/>
        </p:nvSpPr>
        <p:spPr>
          <a:xfrm>
            <a:off x="6870688" y="3888377"/>
            <a:ext cx="1907552" cy="201168"/>
          </a:xfrm>
          <a:prstGeom prst="rect">
            <a:avLst/>
          </a:prstGeom>
          <a:noFill/>
          <a:ln/>
        </p:spPr>
        <p:txBody>
          <a:bodyPr wrap="square" lIns="0" tIns="0" rIns="0" bIns="0" rtlCol="0" anchor="ctr"/>
          <a:lstStyle/>
          <a:p>
            <a:pPr algn="l" indent="0" marL="0">
              <a:buNone/>
            </a:pPr>
            <a:r>
              <a:rPr lang="en-US" sz="850" dirty="0">
                <a:solidFill>
                  <a:schemeClr val="tx2"/>
                </a:solidFill>
              </a:rPr>
              <a:t>Community</a:t>
            </a:r>
            <a:endParaRPr lang="en-US" sz="850" dirty="0"/>
          </a:p>
        </p:txBody>
      </p:sp>
      <p:sp>
        <p:nvSpPr>
          <p:cNvPr id="10" name="card Jasper Buntinx"/>
          <p:cNvSpPr/>
          <p:nvPr/>
        </p:nvSpPr>
        <p:spPr>
          <a:xfrm>
            <a:off x="365760" y="868680"/>
            <a:ext cx="2651760" cy="2983121"/>
          </a:xfrm>
          <a:prstGeom prst="roundRect">
            <a:avLst>
              <a:gd name="adj" fmla="val 2069"/>
            </a:avLst>
          </a:prstGeom>
          <a:solidFill>
            <a:schemeClr val="bg2"/>
          </a:solidFill>
          <a:ln w="12700">
            <a:solidFill>
              <a:schemeClr val="bg2"/>
            </a:solidFill>
            <a:prstDash val="solid"/>
          </a:ln>
        </p:spPr>
      </p:sp>
      <p:sp>
        <p:nvSpPr>
          <p:cNvPr id="11" name="heading Jasper Buntinx"/>
          <p:cNvSpPr txBox="1"/>
          <p:nvPr/>
        </p:nvSpPr>
        <p:spPr>
          <a:xfrm>
            <a:off x="512064" y="960120"/>
            <a:ext cx="2359152" cy="274320"/>
          </a:xfrm>
          <a:prstGeom prst="rect">
            <a:avLst/>
          </a:prstGeom>
          <a:noFill/>
          <a:ln/>
        </p:spPr>
        <p:txBody>
          <a:bodyPr wrap="square" lIns="0" tIns="0" rIns="0" bIns="0" rtlCol="0" anchor="ctr"/>
          <a:lstStyle/>
          <a:p>
            <a:pPr indent="0" marL="0">
              <a:buNone/>
            </a:pPr>
            <a:r>
              <a:rPr lang="en-US" sz="1250" b="1" dirty="0">
                <a:solidFill>
                  <a:schemeClr val="tx1"/>
                </a:solidFill>
              </a:rPr>
              <a:t>Jasper Buntinx</a:t>
            </a:r>
            <a:endParaRPr lang="en-US" sz="1250" dirty="0"/>
          </a:p>
        </p:txBody>
      </p:sp>
      <p:sp>
        <p:nvSpPr>
          <p:cNvPr id="12" name="bullets Jasper Buntinx"/>
          <p:cNvSpPr txBox="1"/>
          <p:nvPr/>
        </p:nvSpPr>
        <p:spPr>
          <a:xfrm>
            <a:off x="512064" y="1271016"/>
            <a:ext cx="2359152" cy="2489345"/>
          </a:xfrm>
          <a:prstGeom prst="rect">
            <a:avLst/>
          </a:prstGeom>
          <a:noFill/>
          <a:ln/>
        </p:spPr>
        <p:txBody>
          <a:bodyPr wrap="square" lIns="0" tIns="0" rIns="25400" bIns="0" rtlCol="0" anchor="t"/>
          <a:lstStyle/>
          <a:p>
            <a:pPr algn="l" marL="152400" indent="-152400">
              <a:spcAft>
                <a:spcPts val="700"/>
              </a:spcAft>
              <a:buSzPct val="100000"/>
              <a:buChar char="•"/>
            </a:pPr>
            <a:r>
              <a:rPr lang="en-US" sz="1150" dirty="0">
                <a:solidFill>
                  <a:schemeClr val="tx1"/>
                </a:solidFill>
              </a:rPr>
              <a:t>Mechanical Engineering, Texas A&amp;M</a:t>
            </a:r>
            <a:endParaRPr lang="en-US" sz="1150" dirty="0"/>
          </a:p>
          <a:p>
            <a:pPr algn="l" marL="152400" indent="-152400">
              <a:spcAft>
                <a:spcPts val="700"/>
              </a:spcAft>
              <a:buSzPct val="100000"/>
              <a:buChar char="•"/>
            </a:pPr>
            <a:r>
              <a:rPr lang="en-US" sz="1150" dirty="0">
                <a:solidFill>
                  <a:schemeClr val="tx1"/>
                </a:solidFill>
              </a:rPr>
              <a:t>Outdoors and endurance: hikes, Ironman 70.3, 2025 marathon</a:t>
            </a:r>
            <a:endParaRPr lang="en-US" sz="1150" dirty="0"/>
          </a:p>
          <a:p>
            <a:pPr algn="l" marL="152400" indent="-152400">
              <a:spcAft>
                <a:spcPts val="700"/>
              </a:spcAft>
              <a:buSzPct val="100000"/>
              <a:buChar char="•"/>
            </a:pPr>
            <a:r>
              <a:rPr lang="en-US" sz="1150" dirty="0">
                <a:solidFill>
                  <a:schemeClr val="tx1"/>
                </a:solidFill>
              </a:rPr>
              <a:t>EcoFil: a filament recycler, built with a team</a:t>
            </a:r>
            <a:endParaRPr lang="en-US" sz="1150" dirty="0"/>
          </a:p>
          <a:p>
            <a:pPr algn="l" marL="152400" indent="-152400">
              <a:spcAft>
                <a:spcPts val="700"/>
              </a:spcAft>
              <a:buSzPct val="100000"/>
              <a:buChar char="•"/>
            </a:pPr>
            <a:r>
              <a:rPr lang="en-US" sz="1150" dirty="0">
                <a:solidFill>
                  <a:schemeClr val="tx1"/>
                </a:solidFill>
              </a:rPr>
              <a:t>Gladiator Dash build logistics, for Still Creek Ranch</a:t>
            </a:r>
            <a:endParaRPr lang="en-US" sz="1150" dirty="0"/>
          </a:p>
          <a:p>
            <a:pPr algn="l" marL="152400" indent="-152400">
              <a:spcAft>
                <a:spcPts val="700"/>
              </a:spcAft>
              <a:buSzPct val="100000"/>
              <a:buChar char="•"/>
            </a:pPr>
            <a:r>
              <a:rPr lang="en-US" sz="1150" dirty="0">
                <a:solidFill>
                  <a:schemeClr val="tx1"/>
                </a:solidFill>
              </a:rPr>
              <a:t>RoomCleaner: built July to October 2026</a:t>
            </a:r>
            <a:endParaRPr lang="en-US" sz="1150" dirty="0"/>
          </a:p>
        </p:txBody>
      </p:sp>
      <p:sp>
        <p:nvSpPr>
          <p:cNvPr id="25" name="Slide Number Placeholder 0"/>
          <p:cNvSpPr>
            <a:spLocks noGrp="1"/>
          </p:cNvSpPr>
          <p:nvPr>
            <p:ph type="sldNum" sz="quarter" idx="4294967295"/>
          </p:nvPr>
        </p:nvSpPr>
        <p:spPr>
          <a:xfrm>
            <a:off x="8229600" y="4846320"/>
            <a:ext cx="548640" cy="297180"/>
          </a:xfrm>
          <a:prstGeom prst="rect">
            <a:avLst/>
          </a:prstGeom>
          <a:extLst>
            <a:ext uri="{C572A759-6A51-4108-AA02-DFA0A04FC94B}">
              <ma14:wrappingTextBoxFlag xmlns:ma14="http://schemas.microsoft.com/office/mac/drawingml/2011/main" val="0"/>
            </a:ext>
          </a:extLst>
        </p:spPr>
        <p:txBody>
          <a:bodyPr anchor="ctr"/>
          <a:lstStyle>
            <a:lvl1pPr>
              <a:defRPr sz="800">
                <a:solidFill>
                  <a:srgbClr val="FFFFFF"/>
                </a:solidFill>
                <a:latin typeface="Arial"/>
                <a:ea typeface="Arial"/>
                <a:cs typeface="Aria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2"/>
          <p:cNvSpPr/>
          <p:nvPr>
            <p:ph idx="102" type="title" hasCustomPrompt="1"/>
          </p:nvPr>
        </p:nvSpPr>
        <p:spPr>
          <a:xfrm>
            <a:off x="365760" y="256032"/>
            <a:ext cx="8412480" cy="502920"/>
          </a:xfrm>
          <a:prstGeom prst="rect">
            <a:avLst/>
          </a:prstGeom>
          <a:noFill/>
          <a:ln/>
        </p:spPr>
        <p:txBody>
          <a:bodyPr wrap="square" lIns="0" tIns="0" rIns="0" bIns="0" rtlCol="0" anchor="ctr"/>
          <a:lstStyle/>
          <a:p>
            <a:pPr algn="l" indent="0" marL="0">
              <a:buNone/>
            </a:pPr>
            <a:r>
              <a:rPr lang="en-US" sz="2400" b="1" dirty="0">
                <a:solidFill>
                  <a:srgbClr val="000000"/>
                </a:solidFill>
                <a:latin typeface="Arial" pitchFamily="34" charset="0"/>
                <a:ea typeface="Arial" pitchFamily="34" charset="-122"/>
                <a:cs typeface="Arial" pitchFamily="34" charset="-120"/>
              </a:rPr>
              <a:t>Project scope</a:t>
            </a:r>
            <a:endParaRPr lang="en-US" sz="2400" dirty="0"/>
          </a:p>
        </p:txBody>
      </p:sp>
      <p:sp>
        <p:nvSpPr>
          <p:cNvPr id="4" name="card The problem"/>
          <p:cNvSpPr/>
          <p:nvPr/>
        </p:nvSpPr>
        <p:spPr>
          <a:xfrm>
            <a:off x="365760" y="868680"/>
            <a:ext cx="1981200" cy="3749040"/>
          </a:xfrm>
          <a:prstGeom prst="roundRect">
            <a:avLst>
              <a:gd name="adj" fmla="val 2769"/>
            </a:avLst>
          </a:prstGeom>
          <a:solidFill>
            <a:schemeClr val="bg2"/>
          </a:solidFill>
          <a:ln w="12700">
            <a:solidFill>
              <a:schemeClr val="bg2"/>
            </a:solidFill>
            <a:prstDash val="solid"/>
          </a:ln>
        </p:spPr>
      </p:sp>
      <p:sp>
        <p:nvSpPr>
          <p:cNvPr id="5" name="heading The problem"/>
          <p:cNvSpPr txBox="1"/>
          <p:nvPr/>
        </p:nvSpPr>
        <p:spPr>
          <a:xfrm>
            <a:off x="512064" y="960120"/>
            <a:ext cx="1688592" cy="274320"/>
          </a:xfrm>
          <a:prstGeom prst="rect">
            <a:avLst/>
          </a:prstGeom>
          <a:noFill/>
          <a:ln/>
        </p:spPr>
        <p:txBody>
          <a:bodyPr wrap="square" lIns="0" tIns="0" rIns="0" bIns="0" rtlCol="0" anchor="ctr"/>
          <a:lstStyle/>
          <a:p>
            <a:pPr indent="0" marL="0">
              <a:buNone/>
            </a:pPr>
            <a:r>
              <a:rPr lang="en-US" sz="1250" b="1" dirty="0">
                <a:solidFill>
                  <a:schemeClr val="tx1"/>
                </a:solidFill>
              </a:rPr>
              <a:t>The problem</a:t>
            </a:r>
            <a:endParaRPr lang="en-US" sz="1250" dirty="0"/>
          </a:p>
        </p:txBody>
      </p:sp>
      <p:sp>
        <p:nvSpPr>
          <p:cNvPr id="6" name="bullets The problem"/>
          <p:cNvSpPr txBox="1"/>
          <p:nvPr/>
        </p:nvSpPr>
        <p:spPr>
          <a:xfrm>
            <a:off x="512064" y="1271016"/>
            <a:ext cx="1688592" cy="3255264"/>
          </a:xfrm>
          <a:prstGeom prst="rect">
            <a:avLst/>
          </a:prstGeom>
          <a:noFill/>
          <a:ln/>
        </p:spPr>
        <p:txBody>
          <a:bodyPr wrap="square" lIns="0" tIns="0" rIns="25400" bIns="0" rtlCol="0" anchor="t"/>
          <a:lstStyle/>
          <a:p>
            <a:pPr algn="l" marL="152400" indent="-152400">
              <a:spcAft>
                <a:spcPts val="400"/>
              </a:spcAft>
              <a:buSzPct val="100000"/>
              <a:buChar char="•"/>
            </a:pPr>
            <a:r>
              <a:rPr lang="en-US" sz="1100" dirty="0">
                <a:solidFill>
                  <a:schemeClr val="tx1"/>
                </a:solidFill>
              </a:rPr>
              <a:t>Laundry on the floor of a 3.35 x 2.74 m room (as reported)</a:t>
            </a:r>
            <a:endParaRPr lang="en-US" sz="1100" dirty="0"/>
          </a:p>
          <a:p>
            <a:pPr algn="l" marL="152400" indent="-152400">
              <a:spcAft>
                <a:spcPts val="400"/>
              </a:spcAft>
              <a:buSzPct val="100000"/>
              <a:buChar char="•"/>
            </a:pPr>
            <a:r>
              <a:rPr lang="en-US" sz="1100" dirty="0">
                <a:solidFill>
                  <a:schemeClr val="tx1"/>
                </a:solidFill>
              </a:rPr>
              <a:t>Ceiling 2.74 m; four studs near the ceiling corners</a:t>
            </a:r>
            <a:endParaRPr lang="en-US" sz="1100" dirty="0"/>
          </a:p>
          <a:p>
            <a:pPr algn="l" marL="152400" indent="-152400">
              <a:spcAft>
                <a:spcPts val="400"/>
              </a:spcAft>
              <a:buSzPct val="100000"/>
              <a:buChar char="•"/>
            </a:pPr>
            <a:r>
              <a:rPr lang="en-US" sz="1100" dirty="0">
                <a:solidFill>
                  <a:schemeClr val="tx1"/>
                </a:solidFill>
              </a:rPr>
              <a:t>Design load: a pair of jeans, 0.9 kg (screening value)</a:t>
            </a:r>
            <a:endParaRPr lang="en-US" sz="1100" dirty="0"/>
          </a:p>
          <a:p>
            <a:pPr algn="l" marL="152400" indent="-152400">
              <a:spcAft>
                <a:spcPts val="400"/>
              </a:spcAft>
              <a:buSzPct val="100000"/>
              <a:buChar char="•"/>
            </a:pPr>
            <a:r>
              <a:rPr lang="en-US" sz="1100" dirty="0">
                <a:solidFill>
                  <a:schemeClr val="tx1"/>
                </a:solidFill>
              </a:rPr>
              <a:t>Plus 2 m/s² for stops and snags (assumed)</a:t>
            </a:r>
            <a:endParaRPr lang="en-US" sz="1100" dirty="0"/>
          </a:p>
        </p:txBody>
      </p:sp>
      <p:sp>
        <p:nvSpPr>
          <p:cNvPr id="7" name="card The solution"/>
          <p:cNvSpPr/>
          <p:nvPr/>
        </p:nvSpPr>
        <p:spPr>
          <a:xfrm>
            <a:off x="2529840" y="868680"/>
            <a:ext cx="1981200" cy="3749040"/>
          </a:xfrm>
          <a:prstGeom prst="roundRect">
            <a:avLst>
              <a:gd name="adj" fmla="val 2769"/>
            </a:avLst>
          </a:prstGeom>
          <a:solidFill>
            <a:schemeClr val="bg2"/>
          </a:solidFill>
          <a:ln w="12700">
            <a:solidFill>
              <a:schemeClr val="bg2"/>
            </a:solidFill>
            <a:prstDash val="solid"/>
          </a:ln>
        </p:spPr>
      </p:sp>
      <p:sp>
        <p:nvSpPr>
          <p:cNvPr id="8" name="heading The solution"/>
          <p:cNvSpPr txBox="1"/>
          <p:nvPr/>
        </p:nvSpPr>
        <p:spPr>
          <a:xfrm>
            <a:off x="2676144" y="960120"/>
            <a:ext cx="1688592" cy="274320"/>
          </a:xfrm>
          <a:prstGeom prst="rect">
            <a:avLst/>
          </a:prstGeom>
          <a:noFill/>
          <a:ln/>
        </p:spPr>
        <p:txBody>
          <a:bodyPr wrap="square" lIns="0" tIns="0" rIns="0" bIns="0" rtlCol="0" anchor="ctr"/>
          <a:lstStyle/>
          <a:p>
            <a:pPr indent="0" marL="0">
              <a:buNone/>
            </a:pPr>
            <a:r>
              <a:rPr lang="en-US" sz="1250" b="1" dirty="0">
                <a:solidFill>
                  <a:schemeClr val="tx1"/>
                </a:solidFill>
              </a:rPr>
              <a:t>The solution</a:t>
            </a:r>
            <a:endParaRPr lang="en-US" sz="1250" dirty="0"/>
          </a:p>
        </p:txBody>
      </p:sp>
      <p:sp>
        <p:nvSpPr>
          <p:cNvPr id="9" name="bullets The solution"/>
          <p:cNvSpPr txBox="1"/>
          <p:nvPr/>
        </p:nvSpPr>
        <p:spPr>
          <a:xfrm>
            <a:off x="2676144" y="1271016"/>
            <a:ext cx="1688592" cy="3255264"/>
          </a:xfrm>
          <a:prstGeom prst="rect">
            <a:avLst/>
          </a:prstGeom>
          <a:noFill/>
          <a:ln/>
        </p:spPr>
        <p:txBody>
          <a:bodyPr wrap="square" lIns="0" tIns="0" rIns="25400" bIns="0" rtlCol="0" anchor="t"/>
          <a:lstStyle/>
          <a:p>
            <a:pPr algn="l" marL="152400" indent="-152400">
              <a:spcAft>
                <a:spcPts val="400"/>
              </a:spcAft>
              <a:buSzPct val="100000"/>
              <a:buChar char="•"/>
            </a:pPr>
            <a:r>
              <a:rPr lang="en-US" sz="1100" dirty="0">
                <a:solidFill>
                  <a:schemeClr val="tx1"/>
                </a:solidFill>
              </a:rPr>
              <a:t>Four ceiling winches, one claw on four cables</a:t>
            </a:r>
            <a:endParaRPr lang="en-US" sz="1100" dirty="0"/>
          </a:p>
          <a:p>
            <a:pPr algn="l" marL="152400" indent="-152400">
              <a:spcAft>
                <a:spcPts val="400"/>
              </a:spcAft>
              <a:buSzPct val="100000"/>
              <a:buChar char="•"/>
            </a:pPr>
            <a:r>
              <a:rPr lang="en-US" sz="1100" dirty="0">
                <a:solidFill>
                  <a:schemeClr val="tx1"/>
                </a:solidFill>
              </a:rPr>
              <a:t>Nothing on the floor; the room is the frame</a:t>
            </a:r>
            <a:endParaRPr lang="en-US" sz="1100" dirty="0"/>
          </a:p>
          <a:p>
            <a:pPr algn="l" marL="152400" indent="-152400">
              <a:spcAft>
                <a:spcPts val="400"/>
              </a:spcAft>
              <a:buSzPct val="100000"/>
              <a:buChar char="•"/>
            </a:pPr>
            <a:r>
              <a:rPr lang="en-US" sz="1100" dirty="0">
                <a:solidFill>
                  <a:schemeClr val="tx1"/>
                </a:solidFill>
              </a:rPr>
              <a:t>A camera on the claw finds the laundry</a:t>
            </a:r>
            <a:endParaRPr lang="en-US" sz="1100" dirty="0"/>
          </a:p>
          <a:p>
            <a:pPr algn="l" marL="152400" indent="-152400">
              <a:spcAft>
                <a:spcPts val="400"/>
              </a:spcAft>
              <a:buSzPct val="100000"/>
              <a:buChar char="•"/>
            </a:pPr>
            <a:r>
              <a:rPr lang="en-US" sz="1100" dirty="0">
                <a:solidFill>
                  <a:schemeClr val="tx1"/>
                </a:solidFill>
              </a:rPr>
              <a:t>Floor to hamper with no human touch</a:t>
            </a:r>
            <a:endParaRPr lang="en-US" sz="1100" dirty="0"/>
          </a:p>
        </p:txBody>
      </p:sp>
      <p:sp>
        <p:nvSpPr>
          <p:cNvPr id="10" name="card How we do it"/>
          <p:cNvSpPr/>
          <p:nvPr/>
        </p:nvSpPr>
        <p:spPr>
          <a:xfrm>
            <a:off x="4693920" y="868680"/>
            <a:ext cx="1981200" cy="3749040"/>
          </a:xfrm>
          <a:prstGeom prst="roundRect">
            <a:avLst>
              <a:gd name="adj" fmla="val 2769"/>
            </a:avLst>
          </a:prstGeom>
          <a:solidFill>
            <a:schemeClr val="bg2"/>
          </a:solidFill>
          <a:ln w="12700">
            <a:solidFill>
              <a:schemeClr val="bg2"/>
            </a:solidFill>
            <a:prstDash val="solid"/>
          </a:ln>
        </p:spPr>
      </p:sp>
      <p:sp>
        <p:nvSpPr>
          <p:cNvPr id="11" name="heading How we do it"/>
          <p:cNvSpPr txBox="1"/>
          <p:nvPr/>
        </p:nvSpPr>
        <p:spPr>
          <a:xfrm>
            <a:off x="4840224" y="960120"/>
            <a:ext cx="1688592" cy="274320"/>
          </a:xfrm>
          <a:prstGeom prst="rect">
            <a:avLst/>
          </a:prstGeom>
          <a:noFill/>
          <a:ln/>
        </p:spPr>
        <p:txBody>
          <a:bodyPr wrap="square" lIns="0" tIns="0" rIns="0" bIns="0" rtlCol="0" anchor="ctr"/>
          <a:lstStyle/>
          <a:p>
            <a:pPr indent="0" marL="0">
              <a:buNone/>
            </a:pPr>
            <a:r>
              <a:rPr lang="en-US" sz="1250" b="1" dirty="0">
                <a:solidFill>
                  <a:schemeClr val="tx1"/>
                </a:solidFill>
              </a:rPr>
              <a:t>How we do it</a:t>
            </a:r>
            <a:endParaRPr lang="en-US" sz="1250" dirty="0"/>
          </a:p>
        </p:txBody>
      </p:sp>
      <p:sp>
        <p:nvSpPr>
          <p:cNvPr id="12" name="bullets How we do it"/>
          <p:cNvSpPr txBox="1"/>
          <p:nvPr/>
        </p:nvSpPr>
        <p:spPr>
          <a:xfrm>
            <a:off x="4840224" y="1271016"/>
            <a:ext cx="1688592" cy="3255264"/>
          </a:xfrm>
          <a:prstGeom prst="rect">
            <a:avLst/>
          </a:prstGeom>
          <a:noFill/>
          <a:ln/>
        </p:spPr>
        <p:txBody>
          <a:bodyPr wrap="square" lIns="0" tIns="0" rIns="25400" bIns="0" rtlCol="0" anchor="t"/>
          <a:lstStyle/>
          <a:p>
            <a:pPr algn="l" marL="152400" indent="-152400">
              <a:spcAft>
                <a:spcPts val="400"/>
              </a:spcAft>
              <a:buSzPct val="100000"/>
              <a:buChar char="•"/>
            </a:pPr>
            <a:r>
              <a:rPr lang="en-US" sz="1100" dirty="0">
                <a:solidFill>
                  <a:schemeClr val="tx1"/>
                </a:solidFill>
              </a:rPr>
              <a:t>I approve each move on the phone</a:t>
            </a:r>
            <a:endParaRPr lang="en-US" sz="1100" dirty="0"/>
          </a:p>
          <a:p>
            <a:pPr algn="l" marL="152400" indent="-152400">
              <a:spcAft>
                <a:spcPts val="400"/>
              </a:spcAft>
              <a:buSzPct val="100000"/>
              <a:buChar char="•"/>
            </a:pPr>
            <a:r>
              <a:rPr lang="en-US" sz="1100" dirty="0">
                <a:solidFill>
                  <a:schemeClr val="tx1"/>
                </a:solidFill>
              </a:rPr>
              <a:t>PAUSE holds position with torque on</a:t>
            </a:r>
            <a:endParaRPr lang="en-US" sz="1100" dirty="0"/>
          </a:p>
          <a:p>
            <a:pPr algn="l" marL="152400" indent="-152400">
              <a:spcAft>
                <a:spcPts val="400"/>
              </a:spcAft>
              <a:buSzPct val="100000"/>
              <a:buChar char="•"/>
            </a:pPr>
            <a:r>
              <a:rPr lang="en-US" sz="1100" dirty="0">
                <a:solidFill>
                  <a:schemeClr val="tx1"/>
                </a:solidFill>
              </a:rPr>
              <a:t>The switched power strip is the emergency stop; it drops the claw</a:t>
            </a:r>
            <a:endParaRPr lang="en-US" sz="1100" dirty="0"/>
          </a:p>
          <a:p>
            <a:pPr algn="l" marL="152400" indent="-152400">
              <a:spcAft>
                <a:spcPts val="400"/>
              </a:spcAft>
              <a:buSzPct val="100000"/>
              <a:buChar char="•"/>
            </a:pPr>
            <a:r>
              <a:rPr lang="en-US" sz="1100" dirty="0">
                <a:solidFill>
                  <a:schemeClr val="tx1"/>
                </a:solidFill>
              </a:rPr>
              <a:t>First gate: a 1 lb test weight, then jeans</a:t>
            </a:r>
            <a:endParaRPr lang="en-US" sz="1100" dirty="0"/>
          </a:p>
          <a:p>
            <a:pPr algn="l" marL="152400" indent="-152400">
              <a:spcAft>
                <a:spcPts val="400"/>
              </a:spcAft>
              <a:buSzPct val="100000"/>
              <a:buChar char="•"/>
            </a:pPr>
            <a:r>
              <a:rPr lang="en-US" sz="1100" dirty="0">
                <a:solidFill>
                  <a:schemeClr val="tx1"/>
                </a:solidFill>
              </a:rPr>
              <a:t>Parts in the robot: about $211 for three stations, plus $38 filament (partly estimated)</a:t>
            </a:r>
            <a:endParaRPr lang="en-US" sz="1100" dirty="0"/>
          </a:p>
        </p:txBody>
      </p:sp>
      <p:pic>
        <p:nvPicPr>
          <p:cNvPr id="13" name="The claw hanging in the room corner" descr="The claw hanging in the room corner">    </p:cNvPr>
          <p:cNvPicPr>
            <a:picLocks noChangeAspect="1"/>
          </p:cNvPicPr>
          <p:nvPr/>
        </p:nvPicPr>
        <p:blipFill>
          <a:blip r:embed="rId1"/>
          <a:srcRect l="0" r="0" t="0" b="0"/>
          <a:stretch/>
        </p:blipFill>
        <p:spPr>
          <a:xfrm>
            <a:off x="6858000" y="868680"/>
            <a:ext cx="1920240" cy="3511296"/>
          </a:xfrm>
          <a:prstGeom prst="rect">
            <a:avLst/>
          </a:prstGeom>
        </p:spPr>
      </p:pic>
      <p:sp>
        <p:nvSpPr>
          <p:cNvPr id="14" name="caption"/>
          <p:cNvSpPr txBox="1"/>
          <p:nvPr/>
        </p:nvSpPr>
        <p:spPr>
          <a:xfrm>
            <a:off x="6858000" y="4416552"/>
            <a:ext cx="1920240" cy="201168"/>
          </a:xfrm>
          <a:prstGeom prst="rect">
            <a:avLst/>
          </a:prstGeom>
          <a:noFill/>
          <a:ln/>
        </p:spPr>
        <p:txBody>
          <a:bodyPr wrap="square" lIns="0" tIns="0" rIns="0" bIns="0" rtlCol="0" anchor="ctr"/>
          <a:lstStyle/>
          <a:p>
            <a:pPr algn="l" indent="0" marL="0">
              <a:buNone/>
            </a:pPr>
            <a:r>
              <a:rPr lang="en-US" sz="850" dirty="0">
                <a:solidFill>
                  <a:schemeClr val="tx2"/>
                </a:solidFill>
              </a:rPr>
              <a:t>The claw hanging in the room corner (Oct 27)</a:t>
            </a:r>
            <a:endParaRPr lang="en-US" sz="850" dirty="0"/>
          </a:p>
        </p:txBody>
      </p:sp>
      <p:sp>
        <p:nvSpPr>
          <p:cNvPr id="25" name="Slide Number Placeholder 0"/>
          <p:cNvSpPr>
            <a:spLocks noGrp="1"/>
          </p:cNvSpPr>
          <p:nvPr>
            <p:ph type="sldNum" sz="quarter" idx="4294967295"/>
          </p:nvPr>
        </p:nvSpPr>
        <p:spPr>
          <a:xfrm>
            <a:off x="8229600" y="4846320"/>
            <a:ext cx="548640" cy="297180"/>
          </a:xfrm>
          <a:prstGeom prst="rect">
            <a:avLst/>
          </a:prstGeom>
          <a:extLst>
            <a:ext uri="{C572A759-6A51-4108-AA02-DFA0A04FC94B}">
              <ma14:wrappingTextBoxFlag xmlns:ma14="http://schemas.microsoft.com/office/mac/drawingml/2011/main" val="0"/>
            </a:ext>
          </a:extLst>
        </p:spPr>
        <p:txBody>
          <a:bodyPr anchor="ctr"/>
          <a:lstStyle>
            <a:lvl1pPr>
              <a:defRPr sz="800">
                <a:solidFill>
                  <a:srgbClr val="FFFFFF"/>
                </a:solidFill>
                <a:latin typeface="Arial"/>
                <a:ea typeface="Arial"/>
                <a:cs typeface="Aria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2"/>
          <p:cNvSpPr/>
          <p:nvPr>
            <p:ph idx="102" type="title" hasCustomPrompt="1"/>
          </p:nvPr>
        </p:nvSpPr>
        <p:spPr>
          <a:xfrm>
            <a:off x="365760" y="256032"/>
            <a:ext cx="8412480" cy="502920"/>
          </a:xfrm>
          <a:prstGeom prst="rect">
            <a:avLst/>
          </a:prstGeom>
          <a:noFill/>
          <a:ln/>
        </p:spPr>
        <p:txBody>
          <a:bodyPr wrap="square" lIns="0" tIns="0" rIns="0" bIns="0" rtlCol="0" anchor="ctr"/>
          <a:lstStyle/>
          <a:p>
            <a:pPr algn="l" indent="0" marL="0">
              <a:buNone/>
            </a:pPr>
            <a:r>
              <a:rPr lang="en-US" sz="2400" b="1" dirty="0">
                <a:solidFill>
                  <a:srgbClr val="000000"/>
                </a:solidFill>
                <a:latin typeface="Arial" pitchFamily="34" charset="0"/>
                <a:ea typeface="Arial" pitchFamily="34" charset="-122"/>
                <a:cs typeface="Arial" pitchFamily="34" charset="-120"/>
              </a:rPr>
              <a:t>Generation 1: one central unit</a:t>
            </a:r>
            <a:endParaRPr lang="en-US" sz="2400" dirty="0"/>
          </a:p>
        </p:txBody>
      </p:sp>
      <p:sp>
        <p:nvSpPr>
          <p:cNvPr id="4" name="card The first design"/>
          <p:cNvSpPr/>
          <p:nvPr/>
        </p:nvSpPr>
        <p:spPr>
          <a:xfrm>
            <a:off x="365760" y="868680"/>
            <a:ext cx="3291840" cy="3749040"/>
          </a:xfrm>
          <a:prstGeom prst="roundRect">
            <a:avLst>
              <a:gd name="adj" fmla="val 1667"/>
            </a:avLst>
          </a:prstGeom>
          <a:solidFill>
            <a:schemeClr val="bg2"/>
          </a:solidFill>
          <a:ln w="12700">
            <a:solidFill>
              <a:schemeClr val="bg2"/>
            </a:solidFill>
            <a:prstDash val="solid"/>
          </a:ln>
        </p:spPr>
      </p:sp>
      <p:sp>
        <p:nvSpPr>
          <p:cNvPr id="5" name="heading The first design"/>
          <p:cNvSpPr txBox="1"/>
          <p:nvPr/>
        </p:nvSpPr>
        <p:spPr>
          <a:xfrm>
            <a:off x="512064" y="960120"/>
            <a:ext cx="2999232" cy="274320"/>
          </a:xfrm>
          <a:prstGeom prst="rect">
            <a:avLst/>
          </a:prstGeom>
          <a:noFill/>
          <a:ln/>
        </p:spPr>
        <p:txBody>
          <a:bodyPr wrap="square" lIns="0" tIns="0" rIns="0" bIns="0" rtlCol="0" anchor="ctr"/>
          <a:lstStyle/>
          <a:p>
            <a:pPr indent="0" marL="0">
              <a:buNone/>
            </a:pPr>
            <a:r>
              <a:rPr lang="en-US" sz="1250" b="1" dirty="0">
                <a:solidFill>
                  <a:schemeClr val="tx1"/>
                </a:solidFill>
              </a:rPr>
              <a:t>The first design</a:t>
            </a:r>
            <a:endParaRPr lang="en-US" sz="1250" dirty="0"/>
          </a:p>
        </p:txBody>
      </p:sp>
      <p:sp>
        <p:nvSpPr>
          <p:cNvPr id="6" name="bullets The first design"/>
          <p:cNvSpPr txBox="1"/>
          <p:nvPr/>
        </p:nvSpPr>
        <p:spPr>
          <a:xfrm>
            <a:off x="512064" y="1271016"/>
            <a:ext cx="2999232" cy="3255264"/>
          </a:xfrm>
          <a:prstGeom prst="rect">
            <a:avLst/>
          </a:prstGeom>
          <a:noFill/>
          <a:ln/>
        </p:spPr>
        <p:txBody>
          <a:bodyPr wrap="square" lIns="0" tIns="0" rIns="25400" bIns="0" rtlCol="0" anchor="t"/>
          <a:lstStyle/>
          <a:p>
            <a:pPr algn="l" marL="152400" indent="-152400">
              <a:spcAft>
                <a:spcPts val="500"/>
              </a:spcAft>
              <a:buSzPct val="100000"/>
              <a:buChar char="•"/>
            </a:pPr>
            <a:r>
              <a:rPr lang="en-US" sz="1100" dirty="0">
                <a:solidFill>
                  <a:schemeClr val="tx1"/>
                </a:solidFill>
              </a:rPr>
              <a:t>One Uno and one CNC shield drove four corner motors</a:t>
            </a:r>
            <a:endParaRPr lang="en-US" sz="1100" dirty="0"/>
          </a:p>
          <a:p>
            <a:pPr algn="l" marL="152400" indent="-152400">
              <a:spcAft>
                <a:spcPts val="500"/>
              </a:spcAft>
              <a:buSzPct val="100000"/>
              <a:buChar char="•"/>
            </a:pPr>
            <a:r>
              <a:rPr lang="en-US" sz="1100" dirty="0">
                <a:solidFill>
                  <a:schemeClr val="tx1"/>
                </a:solidFill>
              </a:rPr>
              <a:t>Wires from that one box to every corner</a:t>
            </a:r>
            <a:endParaRPr lang="en-US" sz="1100" dirty="0"/>
          </a:p>
          <a:p>
            <a:pPr algn="l" marL="152400" indent="-152400">
              <a:spcAft>
                <a:spcPts val="500"/>
              </a:spcAft>
              <a:buSzPct val="100000"/>
              <a:buChar char="•"/>
            </a:pPr>
            <a:r>
              <a:rPr lang="en-US" sz="1100" dirty="0">
                <a:solidFill>
                  <a:schemeClr val="tx1"/>
                </a:solidFill>
              </a:rPr>
              <a:t>An overhead ceiling camera scanned the room</a:t>
            </a:r>
            <a:endParaRPr lang="en-US" sz="1100" dirty="0"/>
          </a:p>
          <a:p>
            <a:pPr algn="l" marL="152400" indent="-152400">
              <a:spcAft>
                <a:spcPts val="500"/>
              </a:spcAft>
              <a:buSzPct val="100000"/>
              <a:buChar char="•"/>
            </a:pPr>
            <a:r>
              <a:rPr lang="en-US" sz="1100" dirty="0">
                <a:solidFill>
                  <a:schemeClr val="tx1"/>
                </a:solidFill>
              </a:rPr>
              <a:t>A printed corner plate screwed into a joist: a hook is a pivot, a plate is not</a:t>
            </a:r>
            <a:endParaRPr lang="en-US" sz="1100" dirty="0"/>
          </a:p>
          <a:p>
            <a:pPr algn="l" marL="152400" indent="-152400">
              <a:spcAft>
                <a:spcPts val="500"/>
              </a:spcAft>
              <a:buSzPct val="100000"/>
              <a:buChar char="•"/>
            </a:pPr>
            <a:r>
              <a:rPr lang="en-US" sz="1100" dirty="0">
                <a:solidFill>
                  <a:schemeClr val="tx1"/>
                </a:solidFill>
              </a:rPr>
              <a:t>Each cable found zero against a bead at the outlet</a:t>
            </a:r>
            <a:endParaRPr lang="en-US" sz="1100" dirty="0"/>
          </a:p>
          <a:p>
            <a:pPr algn="l" marL="152400" indent="-152400">
              <a:spcAft>
                <a:spcPts val="500"/>
              </a:spcAft>
              <a:buSzPct val="100000"/>
              <a:buChar char="•"/>
            </a:pPr>
            <a:r>
              <a:rPr lang="en-US" sz="1100" dirty="0">
                <a:solidFill>
                  <a:schemeClr val="tx1"/>
                </a:solidFill>
              </a:rPr>
              <a:t>Bench: a station lifted a test weight; the cable math held (measured)</a:t>
            </a:r>
            <a:endParaRPr lang="en-US" sz="1100" dirty="0"/>
          </a:p>
        </p:txBody>
      </p:sp>
      <p:pic>
        <p:nvPicPr>
          <p:cNvPr id="7" name="CNC shield with four A4988 drivers" descr="CNC shield with four A4988 drivers">    </p:cNvPr>
          <p:cNvPicPr>
            <a:picLocks noChangeAspect="1"/>
          </p:cNvPicPr>
          <p:nvPr/>
        </p:nvPicPr>
        <p:blipFill>
          <a:blip r:embed="rId1"/>
          <a:srcRect l="0" r="0" t="0" b="0"/>
          <a:stretch/>
        </p:blipFill>
        <p:spPr>
          <a:xfrm>
            <a:off x="3886200" y="868680"/>
            <a:ext cx="2391156" cy="1687068"/>
          </a:xfrm>
          <a:prstGeom prst="rect">
            <a:avLst/>
          </a:prstGeom>
        </p:spPr>
      </p:pic>
      <p:pic>
        <p:nvPicPr>
          <p:cNvPr id="8" name="Gen-1 corner plate: motor, spool, pulley" descr="Gen-1 corner plate: motor, spool, pulley, switch">    </p:cNvPr>
          <p:cNvPicPr>
            <a:picLocks noChangeAspect="1"/>
          </p:cNvPicPr>
          <p:nvPr/>
        </p:nvPicPr>
        <p:blipFill>
          <a:blip r:embed="rId2"/>
          <a:srcRect l="0" r="0" t="0" b="0"/>
          <a:stretch/>
        </p:blipFill>
        <p:spPr>
          <a:xfrm>
            <a:off x="6387084" y="868680"/>
            <a:ext cx="2391156" cy="1687068"/>
          </a:xfrm>
          <a:prstGeom prst="rect">
            <a:avLst/>
          </a:prstGeom>
        </p:spPr>
      </p:pic>
      <p:pic>
        <p:nvPicPr>
          <p:cNvPr id="9" name="Gen-1 station lifting a test weight" descr="Gen-1 station lifting a test weight">    </p:cNvPr>
          <p:cNvPicPr>
            <a:picLocks noChangeAspect="1"/>
          </p:cNvPicPr>
          <p:nvPr/>
        </p:nvPicPr>
        <p:blipFill>
          <a:blip r:embed="rId3"/>
          <a:srcRect l="0" r="0" t="0" b="0"/>
          <a:stretch/>
        </p:blipFill>
        <p:spPr>
          <a:xfrm>
            <a:off x="3886200" y="2692908"/>
            <a:ext cx="4892040" cy="1687068"/>
          </a:xfrm>
          <a:prstGeom prst="rect">
            <a:avLst/>
          </a:prstGeom>
        </p:spPr>
      </p:pic>
      <p:sp>
        <p:nvSpPr>
          <p:cNvPr id="10" name="caption"/>
          <p:cNvSpPr txBox="1"/>
          <p:nvPr/>
        </p:nvSpPr>
        <p:spPr>
          <a:xfrm>
            <a:off x="3886200" y="4416552"/>
            <a:ext cx="4892040" cy="201168"/>
          </a:xfrm>
          <a:prstGeom prst="rect">
            <a:avLst/>
          </a:prstGeom>
          <a:noFill/>
          <a:ln/>
        </p:spPr>
        <p:txBody>
          <a:bodyPr wrap="square" lIns="0" tIns="0" rIns="0" bIns="0" rtlCol="0" anchor="ctr"/>
          <a:lstStyle/>
          <a:p>
            <a:pPr algn="l" indent="0" marL="0">
              <a:buNone/>
            </a:pPr>
            <a:r>
              <a:rPr lang="en-US" sz="850" dirty="0">
                <a:solidFill>
                  <a:schemeClr val="tx2"/>
                </a:solidFill>
              </a:rPr>
              <a:t>The central board; a gen-1 corner plate; a gen-1 station lifting a test weight</a:t>
            </a:r>
            <a:endParaRPr lang="en-US" sz="850" dirty="0"/>
          </a:p>
        </p:txBody>
      </p:sp>
      <p:sp>
        <p:nvSpPr>
          <p:cNvPr id="25" name="Slide Number Placeholder 0"/>
          <p:cNvSpPr>
            <a:spLocks noGrp="1"/>
          </p:cNvSpPr>
          <p:nvPr>
            <p:ph type="sldNum" sz="quarter" idx="4294967295"/>
          </p:nvPr>
        </p:nvSpPr>
        <p:spPr>
          <a:xfrm>
            <a:off x="8229600" y="4846320"/>
            <a:ext cx="548640" cy="297180"/>
          </a:xfrm>
          <a:prstGeom prst="rect">
            <a:avLst/>
          </a:prstGeom>
          <a:extLst>
            <a:ext uri="{C572A759-6A51-4108-AA02-DFA0A04FC94B}">
              <ma14:wrappingTextBoxFlag xmlns:ma14="http://schemas.microsoft.com/office/mac/drawingml/2011/main" val="0"/>
            </a:ext>
          </a:extLst>
        </p:spPr>
        <p:txBody>
          <a:bodyPr anchor="ctr"/>
          <a:lstStyle>
            <a:lvl1pPr>
              <a:defRPr sz="800">
                <a:solidFill>
                  <a:srgbClr val="FFFFFF"/>
                </a:solidFill>
                <a:latin typeface="Arial"/>
                <a:ea typeface="Arial"/>
                <a:cs typeface="Aria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2"/>
          <p:cNvSpPr/>
          <p:nvPr>
            <p:ph idx="102" type="title" hasCustomPrompt="1"/>
          </p:nvPr>
        </p:nvSpPr>
        <p:spPr>
          <a:xfrm>
            <a:off x="365760" y="256032"/>
            <a:ext cx="8412480" cy="502920"/>
          </a:xfrm>
          <a:prstGeom prst="rect">
            <a:avLst/>
          </a:prstGeom>
          <a:noFill/>
          <a:ln/>
        </p:spPr>
        <p:txBody>
          <a:bodyPr wrap="square" lIns="0" tIns="0" rIns="0" bIns="0" rtlCol="0" anchor="ctr"/>
          <a:lstStyle/>
          <a:p>
            <a:pPr algn="l" indent="0" marL="0">
              <a:buNone/>
            </a:pPr>
            <a:r>
              <a:rPr lang="en-US" sz="2400" b="1" dirty="0">
                <a:solidFill>
                  <a:srgbClr val="000000"/>
                </a:solidFill>
                <a:latin typeface="Arial" pitchFamily="34" charset="0"/>
                <a:ea typeface="Arial" pitchFamily="34" charset="-122"/>
                <a:cs typeface="Arial" pitchFamily="34" charset="-120"/>
              </a:rPr>
              <a:t>Problems with Generation 1</a:t>
            </a:r>
            <a:endParaRPr lang="en-US" sz="2400" dirty="0"/>
          </a:p>
        </p:txBody>
      </p:sp>
      <p:sp>
        <p:nvSpPr>
          <p:cNvPr id="4" name="card Wiring and the bench"/>
          <p:cNvSpPr/>
          <p:nvPr/>
        </p:nvSpPr>
        <p:spPr>
          <a:xfrm>
            <a:off x="365760" y="868680"/>
            <a:ext cx="2743200" cy="3749040"/>
          </a:xfrm>
          <a:prstGeom prst="roundRect">
            <a:avLst>
              <a:gd name="adj" fmla="val 2000"/>
            </a:avLst>
          </a:prstGeom>
          <a:solidFill>
            <a:schemeClr val="bg2"/>
          </a:solidFill>
          <a:ln w="12700">
            <a:solidFill>
              <a:schemeClr val="bg2"/>
            </a:solidFill>
            <a:prstDash val="solid"/>
          </a:ln>
        </p:spPr>
      </p:sp>
      <p:sp>
        <p:nvSpPr>
          <p:cNvPr id="5" name="heading Wiring and the bench"/>
          <p:cNvSpPr txBox="1"/>
          <p:nvPr/>
        </p:nvSpPr>
        <p:spPr>
          <a:xfrm>
            <a:off x="512064" y="960120"/>
            <a:ext cx="2450592" cy="274320"/>
          </a:xfrm>
          <a:prstGeom prst="rect">
            <a:avLst/>
          </a:prstGeom>
          <a:noFill/>
          <a:ln/>
        </p:spPr>
        <p:txBody>
          <a:bodyPr wrap="square" lIns="0" tIns="0" rIns="0" bIns="0" rtlCol="0" anchor="ctr"/>
          <a:lstStyle/>
          <a:p>
            <a:pPr indent="0" marL="0">
              <a:buNone/>
            </a:pPr>
            <a:r>
              <a:rPr lang="en-US" sz="1250" b="1" dirty="0">
                <a:solidFill>
                  <a:schemeClr val="tx1"/>
                </a:solidFill>
              </a:rPr>
              <a:t>Wiring and the bench</a:t>
            </a:r>
            <a:endParaRPr lang="en-US" sz="1250" dirty="0"/>
          </a:p>
        </p:txBody>
      </p:sp>
      <p:sp>
        <p:nvSpPr>
          <p:cNvPr id="6" name="bullets Wiring and the bench"/>
          <p:cNvSpPr txBox="1"/>
          <p:nvPr/>
        </p:nvSpPr>
        <p:spPr>
          <a:xfrm>
            <a:off x="512064" y="1271016"/>
            <a:ext cx="2450592" cy="3255264"/>
          </a:xfrm>
          <a:prstGeom prst="rect">
            <a:avLst/>
          </a:prstGeom>
          <a:noFill/>
          <a:ln/>
        </p:spPr>
        <p:txBody>
          <a:bodyPr wrap="square" lIns="0" tIns="0" rIns="25400" bIns="0" rtlCol="0" anchor="t"/>
          <a:lstStyle/>
          <a:p>
            <a:pPr algn="l" marL="152400" indent="-152400">
              <a:spcAft>
                <a:spcPts val="500"/>
              </a:spcAft>
              <a:buSzPct val="100000"/>
              <a:buChar char="•"/>
            </a:pPr>
            <a:r>
              <a:rPr lang="en-US" sz="1100" dirty="0">
                <a:solidFill>
                  <a:schemeClr val="tx1"/>
                </a:solidFill>
              </a:rPr>
              <a:t>Every motor and every sensor wired back to one place</a:t>
            </a:r>
            <a:endParaRPr lang="en-US" sz="1100" dirty="0"/>
          </a:p>
          <a:p>
            <a:pPr algn="l" marL="152400" indent="-152400">
              <a:spcAft>
                <a:spcPts val="500"/>
              </a:spcAft>
              <a:buSzPct val="100000"/>
              <a:buChar char="•"/>
            </a:pPr>
            <a:r>
              <a:rPr lang="en-US" sz="1100" dirty="0">
                <a:solidFill>
                  <a:schemeClr val="tx1"/>
                </a:solidFill>
              </a:rPr>
              <a:t>18 V on the meter from a supply labelled 12 V (measured)</a:t>
            </a:r>
            <a:endParaRPr lang="en-US" sz="1100" dirty="0"/>
          </a:p>
          <a:p>
            <a:pPr algn="l" marL="152400" indent="-152400">
              <a:spcAft>
                <a:spcPts val="500"/>
              </a:spcAft>
              <a:buSzPct val="100000"/>
              <a:buChar char="•"/>
            </a:pPr>
            <a:r>
              <a:rPr lang="en-US" sz="1100" dirty="0">
                <a:solidFill>
                  <a:schemeClr val="tx1"/>
                </a:solidFill>
              </a:rPr>
              <a:t>A homing switch that would have zeroed without moving: logic inverted</a:t>
            </a:r>
            <a:endParaRPr lang="en-US" sz="1100" dirty="0"/>
          </a:p>
          <a:p>
            <a:pPr algn="l" marL="152400" indent="-152400">
              <a:spcAft>
                <a:spcPts val="500"/>
              </a:spcAft>
              <a:buSzPct val="100000"/>
              <a:buChar char="•"/>
            </a:pPr>
            <a:r>
              <a:rPr lang="en-US" sz="1100" dirty="0">
                <a:solidFill>
                  <a:schemeClr val="tx1"/>
                </a:solidFill>
              </a:rPr>
              <a:t>The switch had to move below the pulley</a:t>
            </a:r>
            <a:endParaRPr lang="en-US" sz="1100" dirty="0"/>
          </a:p>
        </p:txBody>
      </p:sp>
      <p:sp>
        <p:nvSpPr>
          <p:cNvPr id="7" name="card The architecture"/>
          <p:cNvSpPr/>
          <p:nvPr/>
        </p:nvSpPr>
        <p:spPr>
          <a:xfrm>
            <a:off x="3291840" y="868680"/>
            <a:ext cx="2743200" cy="3749040"/>
          </a:xfrm>
          <a:prstGeom prst="roundRect">
            <a:avLst>
              <a:gd name="adj" fmla="val 2000"/>
            </a:avLst>
          </a:prstGeom>
          <a:solidFill>
            <a:schemeClr val="bg2"/>
          </a:solidFill>
          <a:ln w="12700">
            <a:solidFill>
              <a:schemeClr val="bg2"/>
            </a:solidFill>
            <a:prstDash val="solid"/>
          </a:ln>
        </p:spPr>
      </p:sp>
      <p:sp>
        <p:nvSpPr>
          <p:cNvPr id="8" name="heading The architecture"/>
          <p:cNvSpPr txBox="1"/>
          <p:nvPr/>
        </p:nvSpPr>
        <p:spPr>
          <a:xfrm>
            <a:off x="3438144" y="960120"/>
            <a:ext cx="2450592" cy="274320"/>
          </a:xfrm>
          <a:prstGeom prst="rect">
            <a:avLst/>
          </a:prstGeom>
          <a:noFill/>
          <a:ln/>
        </p:spPr>
        <p:txBody>
          <a:bodyPr wrap="square" lIns="0" tIns="0" rIns="0" bIns="0" rtlCol="0" anchor="ctr"/>
          <a:lstStyle/>
          <a:p>
            <a:pPr indent="0" marL="0">
              <a:buNone/>
            </a:pPr>
            <a:r>
              <a:rPr lang="en-US" sz="1250" b="1" dirty="0">
                <a:solidFill>
                  <a:schemeClr val="tx1"/>
                </a:solidFill>
              </a:rPr>
              <a:t>The architecture</a:t>
            </a:r>
            <a:endParaRPr lang="en-US" sz="1250" dirty="0"/>
          </a:p>
        </p:txBody>
      </p:sp>
      <p:sp>
        <p:nvSpPr>
          <p:cNvPr id="9" name="bullets The architecture"/>
          <p:cNvSpPr txBox="1"/>
          <p:nvPr/>
        </p:nvSpPr>
        <p:spPr>
          <a:xfrm>
            <a:off x="3438144" y="1271016"/>
            <a:ext cx="2450592" cy="3255264"/>
          </a:xfrm>
          <a:prstGeom prst="rect">
            <a:avLst/>
          </a:prstGeom>
          <a:noFill/>
          <a:ln/>
        </p:spPr>
        <p:txBody>
          <a:bodyPr wrap="square" lIns="0" tIns="0" rIns="25400" bIns="0" rtlCol="0" anchor="t"/>
          <a:lstStyle/>
          <a:p>
            <a:pPr algn="l" marL="152400" indent="-152400">
              <a:spcAft>
                <a:spcPts val="500"/>
              </a:spcAft>
              <a:buSzPct val="100000"/>
              <a:buChar char="•"/>
            </a:pPr>
            <a:r>
              <a:rPr lang="en-US" sz="1100" dirty="0">
                <a:solidFill>
                  <a:schemeClr val="tx1"/>
                </a:solidFill>
              </a:rPr>
              <a:t>One board stepping four motors skews them: 2.5 mm per 50 ms (calculated)</a:t>
            </a:r>
            <a:endParaRPr lang="en-US" sz="1100" dirty="0"/>
          </a:p>
          <a:p>
            <a:pPr algn="l" marL="152400" indent="-152400">
              <a:spcAft>
                <a:spcPts val="500"/>
              </a:spcAft>
              <a:buSzPct val="100000"/>
              <a:buChar char="•"/>
            </a:pPr>
            <a:r>
              <a:rPr lang="en-US" sz="1100" dirty="0">
                <a:solidFill>
                  <a:schemeClr val="tx1"/>
                </a:solidFill>
              </a:rPr>
              <a:t>Bead homing: a cable can never be shorter than at home</a:t>
            </a:r>
            <a:endParaRPr lang="en-US" sz="1100" dirty="0"/>
          </a:p>
          <a:p>
            <a:pPr algn="l" marL="152400" indent="-152400">
              <a:spcAft>
                <a:spcPts val="500"/>
              </a:spcAft>
              <a:buSzPct val="100000"/>
              <a:buChar char="•"/>
            </a:pPr>
            <a:r>
              <a:rPr lang="en-US" sz="1100" dirty="0">
                <a:solidFill>
                  <a:schemeClr val="tx1"/>
                </a:solidFill>
              </a:rPr>
              <a:t>So it capped the room at 5-29 % of the working volume (calculated)</a:t>
            </a:r>
            <a:endParaRPr lang="en-US" sz="1100" dirty="0"/>
          </a:p>
          <a:p>
            <a:pPr algn="l" marL="152400" indent="-152400">
              <a:spcAft>
                <a:spcPts val="500"/>
              </a:spcAft>
              <a:buSzPct val="100000"/>
              <a:buChar char="•"/>
            </a:pPr>
            <a:r>
              <a:rPr lang="en-US" sz="1100" dirty="0">
                <a:solidFill>
                  <a:schemeClr val="tx1"/>
                </a:solidFill>
              </a:rPr>
              <a:t>The ceiling camera: one more device per room; the claw and cables hide the grasp spot</a:t>
            </a:r>
            <a:endParaRPr lang="en-US" sz="1100" dirty="0"/>
          </a:p>
        </p:txBody>
      </p:sp>
      <p:graphicFrame>
        <p:nvGraphicFramePr>
          <p:cNvPr id="10" name="Chart 0" descr=""/>
          <p:cNvGraphicFramePr/>
          <p:nvPr/>
        </p:nvGraphicFramePr>
        <p:xfrm>
          <a:off x="6217920" y="868680"/>
          <a:ext cx="2560320" cy="3474720"/>
        </p:xfrm>
        <a:graphic xmlns:a="http://schemas.openxmlformats.org/drawingml/2006/main">
          <a:graphicData uri="http://schemas.openxmlformats.org/drawingml/2006/chart">
            <c:chart xmlns:c="http://schemas.openxmlformats.org/drawingml/2006/chart" r:id="rId1"/>
          </a:graphicData>
        </a:graphic>
      </p:graphicFrame>
      <p:sp>
        <p:nvSpPr>
          <p:cNvPr id="11" name="caption"/>
          <p:cNvSpPr txBox="1"/>
          <p:nvPr/>
        </p:nvSpPr>
        <p:spPr>
          <a:xfrm>
            <a:off x="6217920" y="4416552"/>
            <a:ext cx="2560320" cy="201168"/>
          </a:xfrm>
          <a:prstGeom prst="rect">
            <a:avLst/>
          </a:prstGeom>
          <a:noFill/>
          <a:ln/>
        </p:spPr>
        <p:txBody>
          <a:bodyPr wrap="square" lIns="0" tIns="0" rIns="0" bIns="0" rtlCol="0" anchor="ctr"/>
          <a:lstStyle/>
          <a:p>
            <a:pPr algn="l" indent="0" marL="0">
              <a:buNone/>
            </a:pPr>
            <a:r>
              <a:rPr lang="en-US" sz="850" dirty="0">
                <a:solidFill>
                  <a:schemeClr val="tx2"/>
                </a:solidFill>
              </a:rPr>
              <a:t>Calculated (bead reach model)</a:t>
            </a:r>
            <a:endParaRPr lang="en-US" sz="850" dirty="0"/>
          </a:p>
        </p:txBody>
      </p:sp>
      <p:sp>
        <p:nvSpPr>
          <p:cNvPr id="25" name="Slide Number Placeholder 0"/>
          <p:cNvSpPr>
            <a:spLocks noGrp="1"/>
          </p:cNvSpPr>
          <p:nvPr>
            <p:ph type="sldNum" sz="quarter" idx="4294967295"/>
          </p:nvPr>
        </p:nvSpPr>
        <p:spPr>
          <a:xfrm>
            <a:off x="8229600" y="4846320"/>
            <a:ext cx="548640" cy="297180"/>
          </a:xfrm>
          <a:prstGeom prst="rect">
            <a:avLst/>
          </a:prstGeom>
          <a:extLst>
            <a:ext uri="{C572A759-6A51-4108-AA02-DFA0A04FC94B}">
              <ma14:wrappingTextBoxFlag xmlns:ma14="http://schemas.microsoft.com/office/mac/drawingml/2011/main" val="0"/>
            </a:ext>
          </a:extLst>
        </p:spPr>
        <p:txBody>
          <a:bodyPr anchor="ctr"/>
          <a:lstStyle>
            <a:lvl1pPr>
              <a:defRPr sz="800">
                <a:solidFill>
                  <a:srgbClr val="FFFFFF"/>
                </a:solidFill>
                <a:latin typeface="Arial"/>
                <a:ea typeface="Arial"/>
                <a:cs typeface="Aria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2"/>
          <p:cNvSpPr/>
          <p:nvPr>
            <p:ph idx="102" type="title" hasCustomPrompt="1"/>
          </p:nvPr>
        </p:nvSpPr>
        <p:spPr>
          <a:xfrm>
            <a:off x="365760" y="256032"/>
            <a:ext cx="8412480" cy="502920"/>
          </a:xfrm>
          <a:prstGeom prst="rect">
            <a:avLst/>
          </a:prstGeom>
          <a:noFill/>
          <a:ln/>
        </p:spPr>
        <p:txBody>
          <a:bodyPr wrap="square" lIns="0" tIns="0" rIns="0" bIns="0" rtlCol="0" anchor="ctr"/>
          <a:lstStyle/>
          <a:p>
            <a:pPr algn="l" indent="0" marL="0">
              <a:buNone/>
            </a:pPr>
            <a:r>
              <a:rPr lang="en-US" sz="2400" b="1" dirty="0">
                <a:solidFill>
                  <a:srgbClr val="000000"/>
                </a:solidFill>
                <a:latin typeface="Arial" pitchFamily="34" charset="0"/>
                <a:ea typeface="Arial" pitchFamily="34" charset="-122"/>
                <a:cs typeface="Arial" pitchFamily="34" charset="-120"/>
              </a:rPr>
              <a:t>What a winch on a wall needs to work</a:t>
            </a:r>
            <a:endParaRPr lang="en-US" sz="2400" dirty="0"/>
          </a:p>
        </p:txBody>
      </p:sp>
      <p:sp>
        <p:nvSpPr>
          <p:cNvPr id="4" name="card The switch (button)"/>
          <p:cNvSpPr/>
          <p:nvPr/>
        </p:nvSpPr>
        <p:spPr>
          <a:xfrm>
            <a:off x="365760" y="868680"/>
            <a:ext cx="2743200" cy="2331720"/>
          </a:xfrm>
          <a:prstGeom prst="roundRect">
            <a:avLst>
              <a:gd name="adj" fmla="val 2353"/>
            </a:avLst>
          </a:prstGeom>
          <a:solidFill>
            <a:schemeClr val="bg2"/>
          </a:solidFill>
          <a:ln w="12700">
            <a:solidFill>
              <a:schemeClr val="bg2"/>
            </a:solidFill>
            <a:prstDash val="solid"/>
          </a:ln>
        </p:spPr>
      </p:sp>
      <p:sp>
        <p:nvSpPr>
          <p:cNvPr id="5" name="heading The switch (button)"/>
          <p:cNvSpPr txBox="1"/>
          <p:nvPr/>
        </p:nvSpPr>
        <p:spPr>
          <a:xfrm>
            <a:off x="512064" y="960120"/>
            <a:ext cx="2450592" cy="274320"/>
          </a:xfrm>
          <a:prstGeom prst="rect">
            <a:avLst/>
          </a:prstGeom>
          <a:noFill/>
          <a:ln/>
        </p:spPr>
        <p:txBody>
          <a:bodyPr wrap="square" lIns="0" tIns="0" rIns="0" bIns="0" rtlCol="0" anchor="ctr"/>
          <a:lstStyle/>
          <a:p>
            <a:pPr indent="0" marL="0">
              <a:buNone/>
            </a:pPr>
            <a:r>
              <a:rPr lang="en-US" sz="1250" b="1" dirty="0">
                <a:solidFill>
                  <a:schemeClr val="tx1"/>
                </a:solidFill>
              </a:rPr>
              <a:t>The switch (button)</a:t>
            </a:r>
            <a:endParaRPr lang="en-US" sz="1250" dirty="0"/>
          </a:p>
        </p:txBody>
      </p:sp>
      <p:sp>
        <p:nvSpPr>
          <p:cNvPr id="6" name="bullets The switch (button)"/>
          <p:cNvSpPr txBox="1"/>
          <p:nvPr/>
        </p:nvSpPr>
        <p:spPr>
          <a:xfrm>
            <a:off x="512064" y="1271016"/>
            <a:ext cx="2450592" cy="1837944"/>
          </a:xfrm>
          <a:prstGeom prst="rect">
            <a:avLst/>
          </a:prstGeom>
          <a:noFill/>
          <a:ln/>
        </p:spPr>
        <p:txBody>
          <a:bodyPr wrap="square" lIns="0" tIns="0" rIns="25400" bIns="0" rtlCol="0" anchor="t"/>
          <a:lstStyle/>
          <a:p>
            <a:pPr algn="l" marL="152400" indent="-152400">
              <a:spcAft>
                <a:spcPts val="500"/>
              </a:spcAft>
              <a:buSzPct val="100000"/>
              <a:buChar char="•"/>
            </a:pPr>
            <a:r>
              <a:rPr lang="en-US" sz="1100" dirty="0">
                <a:solidFill>
                  <a:schemeClr val="tx1"/>
                </a:solidFill>
              </a:rPr>
              <a:t>Things go wrong: a camera fails, a spool overwinds, tension rips a mount out, a motor stalls</a:t>
            </a:r>
            <a:endParaRPr lang="en-US" sz="1100" dirty="0"/>
          </a:p>
          <a:p>
            <a:pPr algn="l" marL="152400" indent="-152400">
              <a:spcAft>
                <a:spcPts val="500"/>
              </a:spcAft>
              <a:buSzPct val="100000"/>
              <a:buChar char="•"/>
            </a:pPr>
            <a:r>
              <a:rPr lang="en-US" sz="1100" dirty="0">
                <a:solidFill>
                  <a:schemeClr val="tx1"/>
                </a:solidFill>
              </a:rPr>
              <a:t>A switch the cable's bead can hit: that station stops</a:t>
            </a:r>
            <a:endParaRPr lang="en-US" sz="1100" dirty="0"/>
          </a:p>
          <a:p>
            <a:pPr algn="l" marL="152400" indent="-152400">
              <a:spcAft>
                <a:spcPts val="500"/>
              </a:spcAft>
              <a:buSzPct val="100000"/>
              <a:buChar char="•"/>
            </a:pPr>
            <a:r>
              <a:rPr lang="en-US" sz="1100" dirty="0">
                <a:solidFill>
                  <a:schemeClr val="tx1"/>
                </a:solidFill>
              </a:rPr>
              <a:t>Fail-safe wiring: LOW at rest, HIGH pressed or with a broken wire</a:t>
            </a:r>
            <a:endParaRPr lang="en-US" sz="1100" dirty="0"/>
          </a:p>
        </p:txBody>
      </p:sp>
      <p:sp>
        <p:nvSpPr>
          <p:cNvPr id="7" name="card The encoder"/>
          <p:cNvSpPr/>
          <p:nvPr/>
        </p:nvSpPr>
        <p:spPr>
          <a:xfrm>
            <a:off x="3291840" y="868680"/>
            <a:ext cx="2743200" cy="2331720"/>
          </a:xfrm>
          <a:prstGeom prst="roundRect">
            <a:avLst>
              <a:gd name="adj" fmla="val 2353"/>
            </a:avLst>
          </a:prstGeom>
          <a:solidFill>
            <a:schemeClr val="bg2"/>
          </a:solidFill>
          <a:ln w="12700">
            <a:solidFill>
              <a:schemeClr val="bg2"/>
            </a:solidFill>
            <a:prstDash val="solid"/>
          </a:ln>
        </p:spPr>
      </p:sp>
      <p:sp>
        <p:nvSpPr>
          <p:cNvPr id="8" name="heading The encoder"/>
          <p:cNvSpPr txBox="1"/>
          <p:nvPr/>
        </p:nvSpPr>
        <p:spPr>
          <a:xfrm>
            <a:off x="3438144" y="960120"/>
            <a:ext cx="2450592" cy="274320"/>
          </a:xfrm>
          <a:prstGeom prst="rect">
            <a:avLst/>
          </a:prstGeom>
          <a:noFill/>
          <a:ln/>
        </p:spPr>
        <p:txBody>
          <a:bodyPr wrap="square" lIns="0" tIns="0" rIns="0" bIns="0" rtlCol="0" anchor="ctr"/>
          <a:lstStyle/>
          <a:p>
            <a:pPr indent="0" marL="0">
              <a:buNone/>
            </a:pPr>
            <a:r>
              <a:rPr lang="en-US" sz="1250" b="1" dirty="0">
                <a:solidFill>
                  <a:schemeClr val="tx1"/>
                </a:solidFill>
              </a:rPr>
              <a:t>The encoder</a:t>
            </a:r>
            <a:endParaRPr lang="en-US" sz="1250" dirty="0"/>
          </a:p>
        </p:txBody>
      </p:sp>
      <p:sp>
        <p:nvSpPr>
          <p:cNvPr id="9" name="bullets The encoder"/>
          <p:cNvSpPr txBox="1"/>
          <p:nvPr/>
        </p:nvSpPr>
        <p:spPr>
          <a:xfrm>
            <a:off x="3438144" y="1271016"/>
            <a:ext cx="2450592" cy="1837944"/>
          </a:xfrm>
          <a:prstGeom prst="rect">
            <a:avLst/>
          </a:prstGeom>
          <a:noFill/>
          <a:ln/>
        </p:spPr>
        <p:txBody>
          <a:bodyPr wrap="square" lIns="0" tIns="0" rIns="25400" bIns="0" rtlCol="0" anchor="t"/>
          <a:lstStyle/>
          <a:p>
            <a:pPr algn="l" marL="152400" indent="-152400">
              <a:spcAft>
                <a:spcPts val="500"/>
              </a:spcAft>
              <a:buSzPct val="100000"/>
              <a:buChar char="•"/>
            </a:pPr>
            <a:r>
              <a:rPr lang="en-US" sz="1100" dirty="0">
                <a:solidFill>
                  <a:schemeClr val="tx1"/>
                </a:solidFill>
              </a:rPr>
              <a:t>On the spool: measures the discrepancies while testing; data first</a:t>
            </a:r>
            <a:endParaRPr lang="en-US" sz="1100" dirty="0"/>
          </a:p>
          <a:p>
            <a:pPr algn="l" marL="152400" indent="-152400">
              <a:spcAft>
                <a:spcPts val="500"/>
              </a:spcAft>
              <a:buSzPct val="100000"/>
              <a:buChar char="•"/>
            </a:pPr>
            <a:r>
              <a:rPr lang="en-US" sz="1100" dirty="0">
                <a:solidFill>
                  <a:schemeClr val="tx1"/>
                </a:solidFill>
              </a:rPr>
              <a:t>Confirms every commanded step</a:t>
            </a:r>
            <a:endParaRPr lang="en-US" sz="1100" dirty="0"/>
          </a:p>
          <a:p>
            <a:pPr algn="l" marL="152400" indent="-152400">
              <a:spcAft>
                <a:spcPts val="500"/>
              </a:spcAft>
              <a:buSzPct val="100000"/>
              <a:buChar char="•"/>
            </a:pPr>
            <a:r>
              <a:rPr lang="en-US" sz="1100" dirty="0">
                <a:solidFill>
                  <a:schemeClr val="tx1"/>
                </a:solidFill>
              </a:rPr>
              <a:t>Catches slip: the tension sensor</a:t>
            </a:r>
            <a:endParaRPr lang="en-US" sz="1100" dirty="0"/>
          </a:p>
          <a:p>
            <a:pPr algn="l" marL="152400" indent="-152400">
              <a:spcAft>
                <a:spcPts val="500"/>
              </a:spcAft>
              <a:buSzPct val="100000"/>
              <a:buChar char="•"/>
            </a:pPr>
            <a:r>
              <a:rPr lang="en-US" sz="1100" dirty="0">
                <a:solidFill>
                  <a:schemeClr val="tx1"/>
                </a:solidFill>
              </a:rPr>
              <a:t>If the camera proves good enough, it can go later</a:t>
            </a:r>
            <a:endParaRPr lang="en-US" sz="1100" dirty="0"/>
          </a:p>
        </p:txBody>
      </p:sp>
      <p:sp>
        <p:nvSpPr>
          <p:cNvPr id="10" name="card And now all this wiring, from one box"/>
          <p:cNvSpPr/>
          <p:nvPr/>
        </p:nvSpPr>
        <p:spPr>
          <a:xfrm>
            <a:off x="365760" y="3337560"/>
            <a:ext cx="5669280" cy="1280160"/>
          </a:xfrm>
          <a:prstGeom prst="roundRect">
            <a:avLst>
              <a:gd name="adj" fmla="val 4286"/>
            </a:avLst>
          </a:prstGeom>
          <a:solidFill>
            <a:schemeClr val="bg2"/>
          </a:solidFill>
          <a:ln w="12700">
            <a:solidFill>
              <a:schemeClr val="bg2"/>
            </a:solidFill>
            <a:prstDash val="solid"/>
          </a:ln>
        </p:spPr>
      </p:sp>
      <p:sp>
        <p:nvSpPr>
          <p:cNvPr id="11" name="heading And now all this wiring, from one box"/>
          <p:cNvSpPr txBox="1"/>
          <p:nvPr/>
        </p:nvSpPr>
        <p:spPr>
          <a:xfrm>
            <a:off x="512064" y="3429000"/>
            <a:ext cx="5376672" cy="274320"/>
          </a:xfrm>
          <a:prstGeom prst="rect">
            <a:avLst/>
          </a:prstGeom>
          <a:noFill/>
          <a:ln/>
        </p:spPr>
        <p:txBody>
          <a:bodyPr wrap="square" lIns="0" tIns="0" rIns="0" bIns="0" rtlCol="0" anchor="ctr"/>
          <a:lstStyle/>
          <a:p>
            <a:pPr indent="0" marL="0">
              <a:buNone/>
            </a:pPr>
            <a:r>
              <a:rPr lang="en-US" sz="1250" b="1" dirty="0">
                <a:solidFill>
                  <a:schemeClr val="tx1"/>
                </a:solidFill>
              </a:rPr>
              <a:t>And now all this wiring, from one box</a:t>
            </a:r>
            <a:endParaRPr lang="en-US" sz="1250" dirty="0"/>
          </a:p>
        </p:txBody>
      </p:sp>
      <p:sp>
        <p:nvSpPr>
          <p:cNvPr id="12" name="bullets And now all this wiring, from one box"/>
          <p:cNvSpPr txBox="1"/>
          <p:nvPr/>
        </p:nvSpPr>
        <p:spPr>
          <a:xfrm>
            <a:off x="512064" y="3739896"/>
            <a:ext cx="5376672" cy="786384"/>
          </a:xfrm>
          <a:prstGeom prst="rect">
            <a:avLst/>
          </a:prstGeom>
          <a:noFill/>
          <a:ln/>
        </p:spPr>
        <p:txBody>
          <a:bodyPr wrap="square" lIns="0" tIns="0" rIns="25400" bIns="0" rtlCol="0" anchor="t"/>
          <a:lstStyle/>
          <a:p>
            <a:pPr algn="l" marL="152400" indent="-152400">
              <a:spcAft>
                <a:spcPts val="500"/>
              </a:spcAft>
              <a:buSzPct val="100000"/>
              <a:buChar char="•"/>
            </a:pPr>
            <a:r>
              <a:rPr lang="en-US" sz="1100" dirty="0">
                <a:solidFill>
                  <a:schemeClr val="tx1"/>
                </a:solidFill>
              </a:rPr>
              <a:t>Motor, switch and encoder in every corner: 10 conductors per corner</a:t>
            </a:r>
            <a:endParaRPr lang="en-US" sz="1100" dirty="0"/>
          </a:p>
          <a:p>
            <a:pPr algn="l" marL="152400" indent="-152400">
              <a:spcAft>
                <a:spcPts val="500"/>
              </a:spcAft>
              <a:buSzPct val="100000"/>
              <a:buChar char="•"/>
            </a:pPr>
            <a:r>
              <a:rPr lang="en-US" sz="1100" dirty="0">
                <a:solidFill>
                  <a:schemeClr val="tx1"/>
                </a:solidFill>
              </a:rPr>
              <a:t>250 m (820 ft) of wire back to one place (calculated)</a:t>
            </a:r>
            <a:endParaRPr lang="en-US" sz="1100" dirty="0"/>
          </a:p>
        </p:txBody>
      </p:sp>
      <p:pic>
        <p:nvPicPr>
          <p:cNvPr id="13" name="Homing switch" descr="Homing switch">    </p:cNvPr>
          <p:cNvPicPr>
            <a:picLocks noChangeAspect="1"/>
          </p:cNvPicPr>
          <p:nvPr/>
        </p:nvPicPr>
        <p:blipFill>
          <a:blip r:embed="rId1"/>
          <a:srcRect l="0" r="0" t="0" b="0"/>
          <a:stretch/>
        </p:blipFill>
        <p:spPr>
          <a:xfrm>
            <a:off x="6217920" y="868680"/>
            <a:ext cx="1225296" cy="1591056"/>
          </a:xfrm>
          <a:prstGeom prst="rect">
            <a:avLst/>
          </a:prstGeom>
        </p:spPr>
      </p:pic>
      <p:sp>
        <p:nvSpPr>
          <p:cNvPr id="14" name="caption"/>
          <p:cNvSpPr txBox="1"/>
          <p:nvPr/>
        </p:nvSpPr>
        <p:spPr>
          <a:xfrm>
            <a:off x="6217920" y="2496312"/>
            <a:ext cx="1225296" cy="201168"/>
          </a:xfrm>
          <a:prstGeom prst="rect">
            <a:avLst/>
          </a:prstGeom>
          <a:noFill/>
          <a:ln/>
        </p:spPr>
        <p:txBody>
          <a:bodyPr wrap="square" lIns="0" tIns="0" rIns="0" bIns="0" rtlCol="0" anchor="ctr"/>
          <a:lstStyle/>
          <a:p>
            <a:pPr algn="l" indent="0" marL="0">
              <a:buNone/>
            </a:pPr>
            <a:r>
              <a:rPr lang="en-US" sz="850" dirty="0">
                <a:solidFill>
                  <a:schemeClr val="tx2"/>
                </a:solidFill>
              </a:rPr>
              <a:t>Homing switch</a:t>
            </a:r>
            <a:endParaRPr lang="en-US" sz="850" dirty="0"/>
          </a:p>
        </p:txBody>
      </p:sp>
      <p:pic>
        <p:nvPicPr>
          <p:cNvPr id="15" name="Switch pressed into the slide-in" descr="Switch pressed into the slide-in">    </p:cNvPr>
          <p:cNvPicPr>
            <a:picLocks noChangeAspect="1"/>
          </p:cNvPicPr>
          <p:nvPr/>
        </p:nvPicPr>
        <p:blipFill>
          <a:blip r:embed="rId2"/>
          <a:srcRect l="0" r="0" t="0" b="0"/>
          <a:stretch/>
        </p:blipFill>
        <p:spPr>
          <a:xfrm>
            <a:off x="7552944" y="868680"/>
            <a:ext cx="1225296" cy="1591056"/>
          </a:xfrm>
          <a:prstGeom prst="rect">
            <a:avLst/>
          </a:prstGeom>
        </p:spPr>
      </p:pic>
      <p:sp>
        <p:nvSpPr>
          <p:cNvPr id="16" name="caption"/>
          <p:cNvSpPr txBox="1"/>
          <p:nvPr/>
        </p:nvSpPr>
        <p:spPr>
          <a:xfrm>
            <a:off x="7552944" y="2496312"/>
            <a:ext cx="1225296" cy="201168"/>
          </a:xfrm>
          <a:prstGeom prst="rect">
            <a:avLst/>
          </a:prstGeom>
          <a:noFill/>
          <a:ln/>
        </p:spPr>
        <p:txBody>
          <a:bodyPr wrap="square" lIns="0" tIns="0" rIns="0" bIns="0" rtlCol="0" anchor="ctr"/>
          <a:lstStyle/>
          <a:p>
            <a:pPr algn="l" indent="0" marL="0">
              <a:buNone/>
            </a:pPr>
            <a:r>
              <a:rPr lang="en-US" sz="850" dirty="0">
                <a:solidFill>
                  <a:schemeClr val="tx2"/>
                </a:solidFill>
              </a:rPr>
              <a:t>Switch pressed into the slide-in</a:t>
            </a:r>
            <a:endParaRPr lang="en-US" sz="850" dirty="0"/>
          </a:p>
        </p:txBody>
      </p:sp>
      <p:pic>
        <p:nvPicPr>
          <p:cNvPr id="17" name="Slide-in with the full harness hanging" descr="Slide-in with the full harness hanging">    </p:cNvPr>
          <p:cNvPicPr>
            <a:picLocks noChangeAspect="1"/>
          </p:cNvPicPr>
          <p:nvPr/>
        </p:nvPicPr>
        <p:blipFill>
          <a:blip r:embed="rId3"/>
          <a:srcRect l="0" r="0" t="0" b="0"/>
          <a:stretch/>
        </p:blipFill>
        <p:spPr>
          <a:xfrm>
            <a:off x="6217920" y="2788920"/>
            <a:ext cx="2560320" cy="1591056"/>
          </a:xfrm>
          <a:prstGeom prst="rect">
            <a:avLst/>
          </a:prstGeom>
        </p:spPr>
      </p:pic>
      <p:sp>
        <p:nvSpPr>
          <p:cNvPr id="18" name="caption"/>
          <p:cNvSpPr txBox="1"/>
          <p:nvPr/>
        </p:nvSpPr>
        <p:spPr>
          <a:xfrm>
            <a:off x="6217920" y="4416552"/>
            <a:ext cx="2560320" cy="201168"/>
          </a:xfrm>
          <a:prstGeom prst="rect">
            <a:avLst/>
          </a:prstGeom>
          <a:noFill/>
          <a:ln/>
        </p:spPr>
        <p:txBody>
          <a:bodyPr wrap="square" lIns="0" tIns="0" rIns="0" bIns="0" rtlCol="0" anchor="ctr"/>
          <a:lstStyle/>
          <a:p>
            <a:pPr algn="l" indent="0" marL="0">
              <a:buNone/>
            </a:pPr>
            <a:r>
              <a:rPr lang="en-US" sz="850" dirty="0">
                <a:solidFill>
                  <a:schemeClr val="tx2"/>
                </a:solidFill>
              </a:rPr>
              <a:t>One slide-in, its harness hanging</a:t>
            </a:r>
            <a:endParaRPr lang="en-US" sz="850" dirty="0"/>
          </a:p>
        </p:txBody>
      </p:sp>
      <p:sp>
        <p:nvSpPr>
          <p:cNvPr id="25" name="Slide Number Placeholder 0"/>
          <p:cNvSpPr>
            <a:spLocks noGrp="1"/>
          </p:cNvSpPr>
          <p:nvPr>
            <p:ph type="sldNum" sz="quarter" idx="4294967295"/>
          </p:nvPr>
        </p:nvSpPr>
        <p:spPr>
          <a:xfrm>
            <a:off x="8229600" y="4846320"/>
            <a:ext cx="548640" cy="297180"/>
          </a:xfrm>
          <a:prstGeom prst="rect">
            <a:avLst/>
          </a:prstGeom>
          <a:extLst>
            <a:ext uri="{C572A759-6A51-4108-AA02-DFA0A04FC94B}">
              <ma14:wrappingTextBoxFlag xmlns:ma14="http://schemas.microsoft.com/office/mac/drawingml/2011/main" val="0"/>
            </a:ext>
          </a:extLst>
        </p:spPr>
        <p:txBody>
          <a:bodyPr anchor="ctr"/>
          <a:lstStyle>
            <a:lvl1pPr>
              <a:defRPr sz="800">
                <a:solidFill>
                  <a:srgbClr val="FFFFFF"/>
                </a:solidFill>
                <a:latin typeface="Arial"/>
                <a:ea typeface="Arial"/>
                <a:cs typeface="Aria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2"/>
          <p:cNvSpPr/>
          <p:nvPr>
            <p:ph idx="102" type="title" hasCustomPrompt="1"/>
          </p:nvPr>
        </p:nvSpPr>
        <p:spPr>
          <a:xfrm>
            <a:off x="365760" y="256032"/>
            <a:ext cx="8412480" cy="502920"/>
          </a:xfrm>
          <a:prstGeom prst="rect">
            <a:avLst/>
          </a:prstGeom>
          <a:noFill/>
          <a:ln/>
        </p:spPr>
        <p:txBody>
          <a:bodyPr wrap="square" lIns="0" tIns="0" rIns="0" bIns="0" rtlCol="0" anchor="ctr"/>
          <a:lstStyle/>
          <a:p>
            <a:pPr algn="l" indent="0" marL="0">
              <a:buNone/>
            </a:pPr>
            <a:r>
              <a:rPr lang="en-US" sz="2400" b="1" dirty="0">
                <a:solidFill>
                  <a:srgbClr val="000000"/>
                </a:solidFill>
                <a:latin typeface="Arial" pitchFamily="34" charset="0"/>
                <a:ea typeface="Arial" pitchFamily="34" charset="-122"/>
                <a:cs typeface="Arial" pitchFamily="34" charset="-120"/>
              </a:rPr>
              <a:t>The solution: a modular box that only needs power</a:t>
            </a:r>
            <a:endParaRPr lang="en-US" sz="2400" dirty="0"/>
          </a:p>
        </p:txBody>
      </p:sp>
      <p:sp>
        <p:nvSpPr>
          <p:cNvPr id="4" name="card A box with its own brain"/>
          <p:cNvSpPr/>
          <p:nvPr/>
        </p:nvSpPr>
        <p:spPr>
          <a:xfrm>
            <a:off x="365760" y="868680"/>
            <a:ext cx="2697480" cy="3749040"/>
          </a:xfrm>
          <a:prstGeom prst="roundRect">
            <a:avLst>
              <a:gd name="adj" fmla="val 2034"/>
            </a:avLst>
          </a:prstGeom>
          <a:solidFill>
            <a:schemeClr val="bg2"/>
          </a:solidFill>
          <a:ln w="12700">
            <a:solidFill>
              <a:schemeClr val="bg2"/>
            </a:solidFill>
            <a:prstDash val="solid"/>
          </a:ln>
        </p:spPr>
      </p:sp>
      <p:sp>
        <p:nvSpPr>
          <p:cNvPr id="5" name="heading A box with its own brain"/>
          <p:cNvSpPr txBox="1"/>
          <p:nvPr/>
        </p:nvSpPr>
        <p:spPr>
          <a:xfrm>
            <a:off x="512064" y="960120"/>
            <a:ext cx="2404872" cy="274320"/>
          </a:xfrm>
          <a:prstGeom prst="rect">
            <a:avLst/>
          </a:prstGeom>
          <a:noFill/>
          <a:ln/>
        </p:spPr>
        <p:txBody>
          <a:bodyPr wrap="square" lIns="0" tIns="0" rIns="0" bIns="0" rtlCol="0" anchor="ctr"/>
          <a:lstStyle/>
          <a:p>
            <a:pPr indent="0" marL="0">
              <a:buNone/>
            </a:pPr>
            <a:r>
              <a:rPr lang="en-US" sz="1250" b="1" dirty="0">
                <a:solidFill>
                  <a:schemeClr val="tx1"/>
                </a:solidFill>
              </a:rPr>
              <a:t>A box with its own brain</a:t>
            </a:r>
            <a:endParaRPr lang="en-US" sz="1250" dirty="0"/>
          </a:p>
        </p:txBody>
      </p:sp>
      <p:sp>
        <p:nvSpPr>
          <p:cNvPr id="6" name="bullets A box with its own brain"/>
          <p:cNvSpPr txBox="1"/>
          <p:nvPr/>
        </p:nvSpPr>
        <p:spPr>
          <a:xfrm>
            <a:off x="512064" y="1271016"/>
            <a:ext cx="2404872" cy="3255264"/>
          </a:xfrm>
          <a:prstGeom prst="rect">
            <a:avLst/>
          </a:prstGeom>
          <a:noFill/>
          <a:ln/>
        </p:spPr>
        <p:txBody>
          <a:bodyPr wrap="square" lIns="0" tIns="0" rIns="25400" bIns="0" rtlCol="0" anchor="t"/>
          <a:lstStyle/>
          <a:p>
            <a:pPr algn="l" marL="152400" indent="-152400">
              <a:spcAft>
                <a:spcPts val="500"/>
              </a:spcAft>
              <a:buSzPct val="100000"/>
              <a:buChar char="•"/>
            </a:pPr>
            <a:r>
              <a:rPr lang="en-US" sz="1100" dirty="0">
                <a:solidFill>
                  <a:schemeClr val="tx1"/>
                </a:solidFill>
              </a:rPr>
              <a:t>An ESP32 in each box, with its driver, buck, switch and encoder</a:t>
            </a:r>
            <a:endParaRPr lang="en-US" sz="1100" dirty="0"/>
          </a:p>
          <a:p>
            <a:pPr algn="l" marL="152400" indent="-152400">
              <a:spcAft>
                <a:spcPts val="500"/>
              </a:spcAft>
              <a:buSzPct val="100000"/>
              <a:buChar char="•"/>
            </a:pPr>
            <a:r>
              <a:rPr lang="en-US" sz="1100" dirty="0">
                <a:solidFill>
                  <a:schemeClr val="tx1"/>
                </a:solidFill>
              </a:rPr>
              <a:t>The only thing going in is power: one 12 V pair</a:t>
            </a:r>
            <a:endParaRPr lang="en-US" sz="1100" dirty="0"/>
          </a:p>
          <a:p>
            <a:pPr algn="l" marL="152400" indent="-152400">
              <a:spcAft>
                <a:spcPts val="500"/>
              </a:spcAft>
              <a:buSzPct val="100000"/>
              <a:buChar char="•"/>
            </a:pPr>
            <a:r>
              <a:rPr lang="en-US" sz="1100" dirty="0">
                <a:solidFill>
                  <a:schemeClr val="tx1"/>
                </a:solidFill>
              </a:rPr>
              <a:t>50 m of wire instead of 250 m (calculated)</a:t>
            </a:r>
            <a:endParaRPr lang="en-US" sz="1100" dirty="0"/>
          </a:p>
          <a:p>
            <a:pPr algn="l" marL="152400" indent="-152400">
              <a:spcAft>
                <a:spcPts val="500"/>
              </a:spcAft>
              <a:buSzPct val="100000"/>
              <a:buChar char="•"/>
            </a:pPr>
            <a:r>
              <a:rPr lang="en-US" sz="1100" dirty="0">
                <a:solidFill>
                  <a:schemeClr val="tx1"/>
                </a:solidFill>
              </a:rPr>
              <a:t>Power can come from anywhere, so a box sits in any position and orientation</a:t>
            </a:r>
            <a:endParaRPr lang="en-US" sz="1100" dirty="0"/>
          </a:p>
          <a:p>
            <a:pPr algn="l" marL="152400" indent="-152400">
              <a:spcAft>
                <a:spcPts val="500"/>
              </a:spcAft>
              <a:buSzPct val="100000"/>
              <a:buChar char="•"/>
            </a:pPr>
            <a:r>
              <a:rPr lang="en-US" sz="1100" dirty="0">
                <a:solidFill>
                  <a:schemeClr val="tx1"/>
                </a:solidFill>
              </a:rPr>
              <a:t>The room's geometry no longer limits where the winches go</a:t>
            </a:r>
            <a:endParaRPr lang="en-US" sz="1100" dirty="0"/>
          </a:p>
        </p:txBody>
      </p:sp>
      <p:sp>
        <p:nvSpPr>
          <p:cNvPr id="7" name="card Why 16 AWG"/>
          <p:cNvSpPr/>
          <p:nvPr/>
        </p:nvSpPr>
        <p:spPr>
          <a:xfrm>
            <a:off x="3246120" y="868680"/>
            <a:ext cx="2697480" cy="3749040"/>
          </a:xfrm>
          <a:prstGeom prst="roundRect">
            <a:avLst>
              <a:gd name="adj" fmla="val 2034"/>
            </a:avLst>
          </a:prstGeom>
          <a:solidFill>
            <a:schemeClr val="bg2"/>
          </a:solidFill>
          <a:ln w="12700">
            <a:solidFill>
              <a:schemeClr val="bg2"/>
            </a:solidFill>
            <a:prstDash val="solid"/>
          </a:ln>
        </p:spPr>
      </p:sp>
      <p:sp>
        <p:nvSpPr>
          <p:cNvPr id="8" name="heading Why 16 AWG"/>
          <p:cNvSpPr txBox="1"/>
          <p:nvPr/>
        </p:nvSpPr>
        <p:spPr>
          <a:xfrm>
            <a:off x="3392424" y="960120"/>
            <a:ext cx="2404872" cy="274320"/>
          </a:xfrm>
          <a:prstGeom prst="rect">
            <a:avLst/>
          </a:prstGeom>
          <a:noFill/>
          <a:ln/>
        </p:spPr>
        <p:txBody>
          <a:bodyPr wrap="square" lIns="0" tIns="0" rIns="0" bIns="0" rtlCol="0" anchor="ctr"/>
          <a:lstStyle/>
          <a:p>
            <a:pPr indent="0" marL="0">
              <a:buNone/>
            </a:pPr>
            <a:r>
              <a:rPr lang="en-US" sz="1250" b="1" dirty="0">
                <a:solidFill>
                  <a:schemeClr val="tx1"/>
                </a:solidFill>
              </a:rPr>
              <a:t>Why 16 AWG</a:t>
            </a:r>
            <a:endParaRPr lang="en-US" sz="1250" dirty="0"/>
          </a:p>
        </p:txBody>
      </p:sp>
      <p:sp>
        <p:nvSpPr>
          <p:cNvPr id="9" name="bullets Why 16 AWG"/>
          <p:cNvSpPr txBox="1"/>
          <p:nvPr/>
        </p:nvSpPr>
        <p:spPr>
          <a:xfrm>
            <a:off x="3392424" y="1271016"/>
            <a:ext cx="2404872" cy="3255264"/>
          </a:xfrm>
          <a:prstGeom prst="rect">
            <a:avLst/>
          </a:prstGeom>
          <a:noFill/>
          <a:ln/>
        </p:spPr>
        <p:txBody>
          <a:bodyPr wrap="square" lIns="0" tIns="0" rIns="25400" bIns="0" rtlCol="0" anchor="t"/>
          <a:lstStyle/>
          <a:p>
            <a:pPr algn="l" marL="152400" indent="-152400">
              <a:spcAft>
                <a:spcPts val="500"/>
              </a:spcAft>
              <a:buSzPct val="100000"/>
              <a:buChar char="•"/>
            </a:pPr>
            <a:r>
              <a:rPr lang="en-US" sz="1100" dirty="0">
                <a:solidFill>
                  <a:schemeClr val="tx1"/>
                </a:solidFill>
              </a:rPr>
              <a:t>Drop = current x loop resistance</a:t>
            </a:r>
            <a:endParaRPr lang="en-US" sz="1100" dirty="0"/>
          </a:p>
          <a:p>
            <a:pPr algn="l" marL="152400" indent="-152400">
              <a:spcAft>
                <a:spcPts val="500"/>
              </a:spcAft>
              <a:buSzPct val="100000"/>
              <a:buChar char="•"/>
            </a:pPr>
            <a:r>
              <a:rPr lang="en-US" sz="1100" dirty="0">
                <a:solidFill>
                  <a:schemeClr val="tx1"/>
                </a:solidFill>
              </a:rPr>
              <a:t>Longest branch 32 ft one way: 64 ft of loop</a:t>
            </a:r>
            <a:endParaRPr lang="en-US" sz="1100" dirty="0"/>
          </a:p>
          <a:p>
            <a:pPr algn="l" marL="152400" indent="-152400">
              <a:spcAft>
                <a:spcPts val="500"/>
              </a:spcAft>
              <a:buSzPct val="100000"/>
              <a:buChar char="•"/>
            </a:pPr>
            <a:r>
              <a:rPr lang="en-US" sz="1100" dirty="0">
                <a:solidFill>
                  <a:schemeClr val="tx1"/>
                </a:solidFill>
              </a:rPr>
              <a:t>At 2 A: 0.82 V lost on 18 AWG, 0.51 V on 16 AWG (calculated)</a:t>
            </a:r>
            <a:endParaRPr lang="en-US" sz="1100" dirty="0"/>
          </a:p>
          <a:p>
            <a:pPr algn="l" marL="152400" indent="-152400">
              <a:spcAft>
                <a:spcPts val="500"/>
              </a:spcAft>
              <a:buSzPct val="100000"/>
              <a:buChar char="•"/>
            </a:pPr>
            <a:r>
              <a:rPr lang="en-US" sz="1100" dirty="0">
                <a:solidFill>
                  <a:schemeClr val="tx1"/>
                </a:solidFill>
              </a:rPr>
              <a:t>That is 7 % against 4 % of 12 V; less heat in the wall</a:t>
            </a:r>
            <a:endParaRPr lang="en-US" sz="1100" dirty="0"/>
          </a:p>
          <a:p>
            <a:pPr algn="l" marL="152400" indent="-152400">
              <a:spcAft>
                <a:spcPts val="500"/>
              </a:spcAft>
              <a:buSzPct val="100000"/>
              <a:buChar char="•"/>
            </a:pPr>
            <a:r>
              <a:rPr lang="en-US" sz="1100" dirty="0">
                <a:solidFill>
                  <a:schemeClr val="tx1"/>
                </a:solidFill>
              </a:rPr>
              <a:t>Cost: a 100 ft roll about $30; 65 ft used for three stations, about $19.50 (estimated)</a:t>
            </a:r>
            <a:endParaRPr lang="en-US" sz="1100" dirty="0"/>
          </a:p>
        </p:txBody>
      </p:sp>
      <p:pic>
        <p:nvPicPr>
          <p:cNvPr id="10" name="Wall mount with its XT60 power connector" descr="Wall mount with its XT60 power connector">    </p:cNvPr>
          <p:cNvPicPr>
            <a:picLocks noChangeAspect="1"/>
          </p:cNvPicPr>
          <p:nvPr/>
        </p:nvPicPr>
        <p:blipFill>
          <a:blip r:embed="rId1"/>
          <a:srcRect l="0" r="0" t="0" b="0"/>
          <a:stretch/>
        </p:blipFill>
        <p:spPr>
          <a:xfrm>
            <a:off x="6126480" y="868680"/>
            <a:ext cx="2651760" cy="1783080"/>
          </a:xfrm>
          <a:prstGeom prst="rect">
            <a:avLst/>
          </a:prstGeom>
        </p:spPr>
      </p:pic>
      <p:sp>
        <p:nvSpPr>
          <p:cNvPr id="11" name="caption"/>
          <p:cNvSpPr txBox="1"/>
          <p:nvPr/>
        </p:nvSpPr>
        <p:spPr>
          <a:xfrm>
            <a:off x="6126480" y="2679192"/>
            <a:ext cx="2651760" cy="201168"/>
          </a:xfrm>
          <a:prstGeom prst="rect">
            <a:avLst/>
          </a:prstGeom>
          <a:noFill/>
          <a:ln/>
        </p:spPr>
        <p:txBody>
          <a:bodyPr wrap="square" lIns="0" tIns="0" rIns="0" bIns="0" rtlCol="0" anchor="ctr"/>
          <a:lstStyle/>
          <a:p>
            <a:pPr algn="l" indent="0" marL="0">
              <a:buNone/>
            </a:pPr>
            <a:r>
              <a:rPr lang="en-US" sz="850" dirty="0">
                <a:solidFill>
                  <a:schemeClr val="tx2"/>
                </a:solidFill>
              </a:rPr>
              <a:t>The wall mount: one power plug</a:t>
            </a:r>
            <a:endParaRPr lang="en-US" sz="850" dirty="0"/>
          </a:p>
        </p:txBody>
      </p:sp>
      <p:pic>
        <p:nvPicPr>
          <p:cNvPr id="12" name="Station shell, transparent (SolidWorks)" descr="Station shell, transparent (SolidWorks)">    </p:cNvPr>
          <p:cNvPicPr>
            <a:picLocks noChangeAspect="1"/>
          </p:cNvPicPr>
          <p:nvPr/>
        </p:nvPicPr>
        <p:blipFill>
          <a:blip r:embed="rId2"/>
          <a:stretch>
            <a:fillRect/>
          </a:stretch>
        </p:blipFill>
        <p:spPr>
          <a:xfrm>
            <a:off x="6745986" y="2971800"/>
            <a:ext cx="1412748" cy="1408176"/>
          </a:xfrm>
          <a:prstGeom prst="rect">
            <a:avLst/>
          </a:prstGeom>
        </p:spPr>
      </p:pic>
      <p:sp>
        <p:nvSpPr>
          <p:cNvPr id="13" name="caption"/>
          <p:cNvSpPr txBox="1"/>
          <p:nvPr/>
        </p:nvSpPr>
        <p:spPr>
          <a:xfrm>
            <a:off x="6126480" y="4416552"/>
            <a:ext cx="2651760" cy="201168"/>
          </a:xfrm>
          <a:prstGeom prst="rect">
            <a:avLst/>
          </a:prstGeom>
          <a:noFill/>
          <a:ln/>
        </p:spPr>
        <p:txBody>
          <a:bodyPr wrap="square" lIns="0" tIns="0" rIns="0" bIns="0" rtlCol="0" anchor="ctr"/>
          <a:lstStyle/>
          <a:p>
            <a:pPr algn="l" indent="0" marL="0">
              <a:buNone/>
            </a:pPr>
            <a:r>
              <a:rPr lang="en-US" sz="850" dirty="0">
                <a:solidFill>
                  <a:schemeClr val="tx2"/>
                </a:solidFill>
              </a:rPr>
              <a:t>The station: board, driver, motor, fin (CAD)</a:t>
            </a:r>
            <a:endParaRPr lang="en-US" sz="850" dirty="0"/>
          </a:p>
        </p:txBody>
      </p:sp>
      <p:sp>
        <p:nvSpPr>
          <p:cNvPr id="25" name="Slide Number Placeholder 0"/>
          <p:cNvSpPr>
            <a:spLocks noGrp="1"/>
          </p:cNvSpPr>
          <p:nvPr>
            <p:ph type="sldNum" sz="quarter" idx="4294967295"/>
          </p:nvPr>
        </p:nvSpPr>
        <p:spPr>
          <a:xfrm>
            <a:off x="8229600" y="4846320"/>
            <a:ext cx="548640" cy="297180"/>
          </a:xfrm>
          <a:prstGeom prst="rect">
            <a:avLst/>
          </a:prstGeom>
          <a:extLst>
            <a:ext uri="{C572A759-6A51-4108-AA02-DFA0A04FC94B}">
              <ma14:wrappingTextBoxFlag xmlns:ma14="http://schemas.microsoft.com/office/mac/drawingml/2011/main" val="0"/>
            </a:ext>
          </a:extLst>
        </p:spPr>
        <p:txBody>
          <a:bodyPr anchor="ctr"/>
          <a:lstStyle>
            <a:lvl1pPr>
              <a:defRPr sz="800">
                <a:solidFill>
                  <a:srgbClr val="FFFFFF"/>
                </a:solidFill>
                <a:latin typeface="Arial"/>
                <a:ea typeface="Arial"/>
                <a:cs typeface="Aria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2"/>
          <p:cNvSpPr/>
          <p:nvPr>
            <p:ph idx="102" type="title" hasCustomPrompt="1"/>
          </p:nvPr>
        </p:nvSpPr>
        <p:spPr>
          <a:xfrm>
            <a:off x="365760" y="256032"/>
            <a:ext cx="8412480" cy="502920"/>
          </a:xfrm>
          <a:prstGeom prst="rect">
            <a:avLst/>
          </a:prstGeom>
          <a:noFill/>
          <a:ln/>
        </p:spPr>
        <p:txBody>
          <a:bodyPr wrap="square" lIns="0" tIns="0" rIns="0" bIns="0" rtlCol="0" anchor="ctr"/>
          <a:lstStyle/>
          <a:p>
            <a:pPr algn="l" indent="0" marL="0">
              <a:buNone/>
            </a:pPr>
            <a:r>
              <a:rPr lang="en-US" sz="2400" b="1" dirty="0">
                <a:solidFill>
                  <a:srgbClr val="000000"/>
                </a:solidFill>
                <a:latin typeface="Arial" pitchFamily="34" charset="0"/>
                <a:ea typeface="Arial" pitchFamily="34" charset="-122"/>
                <a:cs typeface="Arial" pitchFamily="34" charset="-120"/>
              </a:rPr>
              <a:t>Modular, for the everyday user</a:t>
            </a:r>
            <a:endParaRPr lang="en-US" sz="2400" dirty="0"/>
          </a:p>
        </p:txBody>
      </p:sp>
      <p:sp>
        <p:nvSpPr>
          <p:cNvPr id="4" name="card Unmount, remount, plug in"/>
          <p:cNvSpPr/>
          <p:nvPr/>
        </p:nvSpPr>
        <p:spPr>
          <a:xfrm>
            <a:off x="365760" y="868680"/>
            <a:ext cx="3108960" cy="1805940"/>
          </a:xfrm>
          <a:prstGeom prst="roundRect">
            <a:avLst>
              <a:gd name="adj" fmla="val 3038"/>
            </a:avLst>
          </a:prstGeom>
          <a:solidFill>
            <a:schemeClr val="bg2"/>
          </a:solidFill>
          <a:ln w="12700">
            <a:solidFill>
              <a:schemeClr val="bg2"/>
            </a:solidFill>
            <a:prstDash val="solid"/>
          </a:ln>
        </p:spPr>
      </p:sp>
      <p:sp>
        <p:nvSpPr>
          <p:cNvPr id="5" name="heading Unmount, remount, plug in"/>
          <p:cNvSpPr txBox="1"/>
          <p:nvPr/>
        </p:nvSpPr>
        <p:spPr>
          <a:xfrm>
            <a:off x="512064" y="960120"/>
            <a:ext cx="2816352" cy="274320"/>
          </a:xfrm>
          <a:prstGeom prst="rect">
            <a:avLst/>
          </a:prstGeom>
          <a:noFill/>
          <a:ln/>
        </p:spPr>
        <p:txBody>
          <a:bodyPr wrap="square" lIns="0" tIns="0" rIns="0" bIns="0" rtlCol="0" anchor="ctr"/>
          <a:lstStyle/>
          <a:p>
            <a:pPr indent="0" marL="0">
              <a:buNone/>
            </a:pPr>
            <a:r>
              <a:rPr lang="en-US" sz="1250" b="1" dirty="0">
                <a:solidFill>
                  <a:schemeClr val="tx1"/>
                </a:solidFill>
              </a:rPr>
              <a:t>Unmount, remount, plug in</a:t>
            </a:r>
            <a:endParaRPr lang="en-US" sz="1250" dirty="0"/>
          </a:p>
        </p:txBody>
      </p:sp>
      <p:sp>
        <p:nvSpPr>
          <p:cNvPr id="6" name="bullets Unmount, remount, plug in"/>
          <p:cNvSpPr txBox="1"/>
          <p:nvPr/>
        </p:nvSpPr>
        <p:spPr>
          <a:xfrm>
            <a:off x="512064" y="1271016"/>
            <a:ext cx="2816352" cy="1312164"/>
          </a:xfrm>
          <a:prstGeom prst="rect">
            <a:avLst/>
          </a:prstGeom>
          <a:noFill/>
          <a:ln/>
        </p:spPr>
        <p:txBody>
          <a:bodyPr wrap="square" lIns="0" tIns="0" rIns="25400" bIns="0" rtlCol="0" anchor="t"/>
          <a:lstStyle/>
          <a:p>
            <a:pPr algn="l" marL="152400" indent="-152400">
              <a:spcAft>
                <a:spcPts val="500"/>
              </a:spcAft>
              <a:buSzPct val="100000"/>
              <a:buChar char="•"/>
            </a:pPr>
            <a:r>
              <a:rPr lang="en-US" sz="1100" dirty="0">
                <a:solidFill>
                  <a:schemeClr val="tx1"/>
                </a:solidFill>
              </a:rPr>
              <a:t>A box slides off its wall mount and unplugs</a:t>
            </a:r>
            <a:endParaRPr lang="en-US" sz="1100" dirty="0"/>
          </a:p>
          <a:p>
            <a:pPr algn="l" marL="152400" indent="-152400">
              <a:spcAft>
                <a:spcPts val="500"/>
              </a:spcAft>
              <a:buSzPct val="100000"/>
              <a:buChar char="•"/>
            </a:pPr>
            <a:r>
              <a:rPr lang="en-US" sz="1100" dirty="0">
                <a:solidFill>
                  <a:schemeClr val="tx1"/>
                </a:solidFill>
              </a:rPr>
              <a:t>Guests coming: each box goes in a drawer</a:t>
            </a:r>
            <a:endParaRPr lang="en-US" sz="1100" dirty="0"/>
          </a:p>
          <a:p>
            <a:pPr algn="l" marL="152400" indent="-152400">
              <a:spcAft>
                <a:spcPts val="500"/>
              </a:spcAft>
              <a:buSzPct val="100000"/>
              <a:buChar char="•"/>
            </a:pPr>
            <a:r>
              <a:rPr lang="en-US" sz="1100" dirty="0">
                <a:solidFill>
                  <a:schemeClr val="tx1"/>
                </a:solidFill>
              </a:rPr>
              <a:t>Back on: one plug, it joins the Wi-Fi by itself</a:t>
            </a:r>
            <a:endParaRPr lang="en-US" sz="1100" dirty="0"/>
          </a:p>
        </p:txBody>
      </p:sp>
      <p:sp>
        <p:nvSpPr>
          <p:cNvPr id="7" name="card No screwdriver on the wall"/>
          <p:cNvSpPr/>
          <p:nvPr/>
        </p:nvSpPr>
        <p:spPr>
          <a:xfrm>
            <a:off x="365760" y="2811780"/>
            <a:ext cx="3108960" cy="1805940"/>
          </a:xfrm>
          <a:prstGeom prst="roundRect">
            <a:avLst>
              <a:gd name="adj" fmla="val 3038"/>
            </a:avLst>
          </a:prstGeom>
          <a:solidFill>
            <a:schemeClr val="bg2"/>
          </a:solidFill>
          <a:ln w="12700">
            <a:solidFill>
              <a:schemeClr val="bg2"/>
            </a:solidFill>
            <a:prstDash val="solid"/>
          </a:ln>
        </p:spPr>
      </p:sp>
      <p:sp>
        <p:nvSpPr>
          <p:cNvPr id="8" name="heading No screwdriver on the wall"/>
          <p:cNvSpPr txBox="1"/>
          <p:nvPr/>
        </p:nvSpPr>
        <p:spPr>
          <a:xfrm>
            <a:off x="512064" y="2903220"/>
            <a:ext cx="2816352" cy="274320"/>
          </a:xfrm>
          <a:prstGeom prst="rect">
            <a:avLst/>
          </a:prstGeom>
          <a:noFill/>
          <a:ln/>
        </p:spPr>
        <p:txBody>
          <a:bodyPr wrap="square" lIns="0" tIns="0" rIns="0" bIns="0" rtlCol="0" anchor="ctr"/>
          <a:lstStyle/>
          <a:p>
            <a:pPr indent="0" marL="0">
              <a:buNone/>
            </a:pPr>
            <a:r>
              <a:rPr lang="en-US" sz="1250" b="1" dirty="0">
                <a:solidFill>
                  <a:schemeClr val="tx1"/>
                </a:solidFill>
              </a:rPr>
              <a:t>No screwdriver on the wall</a:t>
            </a:r>
            <a:endParaRPr lang="en-US" sz="1250" dirty="0"/>
          </a:p>
        </p:txBody>
      </p:sp>
      <p:sp>
        <p:nvSpPr>
          <p:cNvPr id="9" name="bullets No screwdriver on the wall"/>
          <p:cNvSpPr txBox="1"/>
          <p:nvPr/>
        </p:nvSpPr>
        <p:spPr>
          <a:xfrm>
            <a:off x="512064" y="3214116"/>
            <a:ext cx="2816352" cy="1312164"/>
          </a:xfrm>
          <a:prstGeom prst="rect">
            <a:avLst/>
          </a:prstGeom>
          <a:noFill/>
          <a:ln/>
        </p:spPr>
        <p:txBody>
          <a:bodyPr wrap="square" lIns="0" tIns="0" rIns="25400" bIns="0" rtlCol="0" anchor="t"/>
          <a:lstStyle/>
          <a:p>
            <a:pPr algn="l" marL="152400" indent="-152400">
              <a:spcAft>
                <a:spcPts val="500"/>
              </a:spcAft>
              <a:buSzPct val="100000"/>
              <a:buChar char="•"/>
            </a:pPr>
            <a:r>
              <a:rPr lang="en-US" sz="1100" dirty="0">
                <a:solidFill>
                  <a:schemeClr val="tx1"/>
                </a:solidFill>
              </a:rPr>
              <a:t>Slip the station out of the mount, open the electronics</a:t>
            </a:r>
            <a:endParaRPr lang="en-US" sz="1100" dirty="0"/>
          </a:p>
          <a:p>
            <a:pPr algn="l" marL="152400" indent="-152400">
              <a:spcAft>
                <a:spcPts val="500"/>
              </a:spcAft>
              <a:buSzPct val="100000"/>
              <a:buChar char="•"/>
            </a:pPr>
            <a:r>
              <a:rPr lang="en-US" sz="1100" dirty="0">
                <a:solidFill>
                  <a:schemeClr val="tx1"/>
                </a:solidFill>
              </a:rPr>
              <a:t>Close it, slide it back: the mount and its screws stay in the stud</a:t>
            </a:r>
            <a:endParaRPr lang="en-US" sz="1100" dirty="0"/>
          </a:p>
          <a:p>
            <a:pPr algn="l" marL="152400" indent="-152400">
              <a:spcAft>
                <a:spcPts val="500"/>
              </a:spcAft>
              <a:buSzPct val="100000"/>
              <a:buChar char="•"/>
            </a:pPr>
            <a:r>
              <a:rPr lang="en-US" sz="1100" dirty="0">
                <a:solidFill>
                  <a:schemeClr val="tx1"/>
                </a:solidFill>
              </a:rPr>
              <a:t>The mount is separate: a stud today, a pole clamp later</a:t>
            </a:r>
            <a:endParaRPr lang="en-US" sz="1100" dirty="0"/>
          </a:p>
        </p:txBody>
      </p:sp>
      <p:pic>
        <p:nvPicPr>
          <p:cNvPr id="10" name="The wall mount alone, lead hanging" descr="The wall mount alone, lead hanging">    </p:cNvPr>
          <p:cNvPicPr>
            <a:picLocks noChangeAspect="1"/>
          </p:cNvPicPr>
          <p:nvPr/>
        </p:nvPicPr>
        <p:blipFill>
          <a:blip r:embed="rId1"/>
          <a:srcRect l="0" r="0" t="0" b="0"/>
          <a:stretch/>
        </p:blipFill>
        <p:spPr>
          <a:xfrm>
            <a:off x="3703320" y="868680"/>
            <a:ext cx="1618488" cy="3511296"/>
          </a:xfrm>
          <a:prstGeom prst="rect">
            <a:avLst/>
          </a:prstGeom>
        </p:spPr>
      </p:pic>
      <p:sp>
        <p:nvSpPr>
          <p:cNvPr id="11" name="caption"/>
          <p:cNvSpPr txBox="1"/>
          <p:nvPr/>
        </p:nvSpPr>
        <p:spPr>
          <a:xfrm>
            <a:off x="3703320" y="4416552"/>
            <a:ext cx="1618488" cy="201168"/>
          </a:xfrm>
          <a:prstGeom prst="rect">
            <a:avLst/>
          </a:prstGeom>
          <a:noFill/>
          <a:ln/>
        </p:spPr>
        <p:txBody>
          <a:bodyPr wrap="square" lIns="0" tIns="0" rIns="0" bIns="0" rtlCol="0" anchor="ctr"/>
          <a:lstStyle/>
          <a:p>
            <a:pPr algn="l" indent="0" marL="0">
              <a:buNone/>
            </a:pPr>
            <a:r>
              <a:rPr lang="en-US" sz="850" dirty="0">
                <a:solidFill>
                  <a:schemeClr val="tx2"/>
                </a:solidFill>
              </a:rPr>
              <a:t>The wall mount alone, lead hanging</a:t>
            </a:r>
            <a:endParaRPr lang="en-US" sz="850" dirty="0"/>
          </a:p>
        </p:txBody>
      </p:sp>
      <p:pic>
        <p:nvPicPr>
          <p:cNvPr id="12" name="The station slid onto it" descr="The station slid onto it">    </p:cNvPr>
          <p:cNvPicPr>
            <a:picLocks noChangeAspect="1"/>
          </p:cNvPicPr>
          <p:nvPr/>
        </p:nvPicPr>
        <p:blipFill>
          <a:blip r:embed="rId2"/>
          <a:srcRect l="0" r="0" t="0" b="0"/>
          <a:stretch/>
        </p:blipFill>
        <p:spPr>
          <a:xfrm>
            <a:off x="5431536" y="868680"/>
            <a:ext cx="1618488" cy="3511296"/>
          </a:xfrm>
          <a:prstGeom prst="rect">
            <a:avLst/>
          </a:prstGeom>
        </p:spPr>
      </p:pic>
      <p:sp>
        <p:nvSpPr>
          <p:cNvPr id="13" name="caption"/>
          <p:cNvSpPr txBox="1"/>
          <p:nvPr/>
        </p:nvSpPr>
        <p:spPr>
          <a:xfrm>
            <a:off x="5431536" y="4416552"/>
            <a:ext cx="1618488" cy="201168"/>
          </a:xfrm>
          <a:prstGeom prst="rect">
            <a:avLst/>
          </a:prstGeom>
          <a:noFill/>
          <a:ln/>
        </p:spPr>
        <p:txBody>
          <a:bodyPr wrap="square" lIns="0" tIns="0" rIns="0" bIns="0" rtlCol="0" anchor="ctr"/>
          <a:lstStyle/>
          <a:p>
            <a:pPr algn="l" indent="0" marL="0">
              <a:buNone/>
            </a:pPr>
            <a:r>
              <a:rPr lang="en-US" sz="850" dirty="0">
                <a:solidFill>
                  <a:schemeClr val="tx2"/>
                </a:solidFill>
              </a:rPr>
              <a:t>The station slid onto it</a:t>
            </a:r>
            <a:endParaRPr lang="en-US" sz="850" dirty="0"/>
          </a:p>
        </p:txBody>
      </p:sp>
      <p:pic>
        <p:nvPicPr>
          <p:cNvPr id="14" name="Shell open on the bench" descr="Shell open on the bench">    </p:cNvPr>
          <p:cNvPicPr>
            <a:picLocks noChangeAspect="1"/>
          </p:cNvPicPr>
          <p:nvPr/>
        </p:nvPicPr>
        <p:blipFill>
          <a:blip r:embed="rId3"/>
          <a:srcRect l="0" r="0" t="0" b="0"/>
          <a:stretch/>
        </p:blipFill>
        <p:spPr>
          <a:xfrm>
            <a:off x="7159752" y="868680"/>
            <a:ext cx="1618488" cy="3511296"/>
          </a:xfrm>
          <a:prstGeom prst="rect">
            <a:avLst/>
          </a:prstGeom>
        </p:spPr>
      </p:pic>
      <p:sp>
        <p:nvSpPr>
          <p:cNvPr id="15" name="caption"/>
          <p:cNvSpPr txBox="1"/>
          <p:nvPr/>
        </p:nvSpPr>
        <p:spPr>
          <a:xfrm>
            <a:off x="7159752" y="4416552"/>
            <a:ext cx="1618488" cy="201168"/>
          </a:xfrm>
          <a:prstGeom prst="rect">
            <a:avLst/>
          </a:prstGeom>
          <a:noFill/>
          <a:ln/>
        </p:spPr>
        <p:txBody>
          <a:bodyPr wrap="square" lIns="0" tIns="0" rIns="0" bIns="0" rtlCol="0" anchor="ctr"/>
          <a:lstStyle/>
          <a:p>
            <a:pPr algn="l" indent="0" marL="0">
              <a:buNone/>
            </a:pPr>
            <a:r>
              <a:rPr lang="en-US" sz="850" dirty="0">
                <a:solidFill>
                  <a:schemeClr val="tx2"/>
                </a:solidFill>
              </a:rPr>
              <a:t>Shell open on the bench</a:t>
            </a:r>
            <a:endParaRPr lang="en-US" sz="850" dirty="0"/>
          </a:p>
        </p:txBody>
      </p:sp>
      <p:sp>
        <p:nvSpPr>
          <p:cNvPr id="25" name="Slide Number Placeholder 0"/>
          <p:cNvSpPr>
            <a:spLocks noGrp="1"/>
          </p:cNvSpPr>
          <p:nvPr>
            <p:ph type="sldNum" sz="quarter" idx="4294967295"/>
          </p:nvPr>
        </p:nvSpPr>
        <p:spPr>
          <a:xfrm>
            <a:off x="8229600" y="4846320"/>
            <a:ext cx="548640" cy="297180"/>
          </a:xfrm>
          <a:prstGeom prst="rect">
            <a:avLst/>
          </a:prstGeom>
          <a:extLst>
            <a:ext uri="{C572A759-6A51-4108-AA02-DFA0A04FC94B}">
              <ma14:wrappingTextBoxFlag xmlns:ma14="http://schemas.microsoft.com/office/mac/drawingml/2011/main" val="0"/>
            </a:ext>
          </a:extLst>
        </p:spPr>
        <p:txBody>
          <a:bodyPr anchor="ctr"/>
          <a:lstStyle>
            <a:lvl1pPr>
              <a:defRPr sz="800">
                <a:solidFill>
                  <a:srgbClr val="FFFFFF"/>
                </a:solidFill>
                <a:latin typeface="Arial"/>
                <a:ea typeface="Arial"/>
                <a:cs typeface="Aria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2"/>
          <p:cNvSpPr/>
          <p:nvPr>
            <p:ph idx="102" type="title" hasCustomPrompt="1"/>
          </p:nvPr>
        </p:nvSpPr>
        <p:spPr>
          <a:xfrm>
            <a:off x="365760" y="256032"/>
            <a:ext cx="8412480" cy="502920"/>
          </a:xfrm>
          <a:prstGeom prst="rect">
            <a:avLst/>
          </a:prstGeom>
          <a:noFill/>
          <a:ln/>
        </p:spPr>
        <p:txBody>
          <a:bodyPr wrap="square" lIns="0" tIns="0" rIns="0" bIns="0" rtlCol="0" anchor="ctr"/>
          <a:lstStyle/>
          <a:p>
            <a:pPr algn="l" indent="0" marL="0">
              <a:buNone/>
            </a:pPr>
            <a:r>
              <a:rPr lang="en-US" sz="2400" b="1" dirty="0">
                <a:solidFill>
                  <a:srgbClr val="000000"/>
                </a:solidFill>
                <a:latin typeface="Arial" pitchFamily="34" charset="0"/>
                <a:ea typeface="Arial" pitchFamily="34" charset="-122"/>
                <a:cs typeface="Arial" pitchFamily="34" charset="-120"/>
              </a:rPr>
              <a:t>Trade-offs: what each component needs</a:t>
            </a:r>
            <a:endParaRPr lang="en-US" sz="2400" dirty="0"/>
          </a:p>
        </p:txBody>
      </p:sp>
      <p:graphicFrame>
        <p:nvGraphicFramePr>
          <p:cNvPr id="4" name="Chart 0" descr=""/>
          <p:cNvGraphicFramePr/>
          <p:nvPr/>
        </p:nvGraphicFramePr>
        <p:xfrm>
          <a:off x="365760" y="868680"/>
          <a:ext cx="2712720" cy="1531620"/>
        </p:xfrm>
        <a:graphic xmlns:a="http://schemas.openxmlformats.org/drawingml/2006/main">
          <a:graphicData uri="http://schemas.openxmlformats.org/drawingml/2006/chart">
            <c:chart xmlns:c="http://schemas.openxmlformats.org/drawingml/2006/chart" r:id="rId1"/>
          </a:graphicData>
        </a:graphic>
      </p:graphicFrame>
      <p:sp>
        <p:nvSpPr>
          <p:cNvPr id="5" name="what we need"/>
          <p:cNvSpPr txBox="1"/>
          <p:nvPr/>
        </p:nvSpPr>
        <p:spPr>
          <a:xfrm>
            <a:off x="365760" y="2400300"/>
            <a:ext cx="2712720" cy="274320"/>
          </a:xfrm>
          <a:prstGeom prst="rect">
            <a:avLst/>
          </a:prstGeom>
          <a:noFill/>
          <a:ln/>
        </p:spPr>
        <p:txBody>
          <a:bodyPr wrap="square" lIns="0" tIns="0" rIns="0" bIns="0" rtlCol="0" anchor="ctr"/>
          <a:lstStyle/>
          <a:p>
            <a:pPr indent="0" marL="0">
              <a:buNone/>
            </a:pPr>
            <a:r>
              <a:rPr lang="en-US" sz="850" b="1" dirty="0">
                <a:solidFill>
                  <a:schemeClr val="tx1"/>
                </a:solidFill>
              </a:rPr>
              <a:t>Need: stay 0.4 m below the anchors with 1 lb, 0.6 m with jeans</a:t>
            </a:r>
            <a:endParaRPr lang="en-US" sz="850" dirty="0"/>
          </a:p>
        </p:txBody>
      </p:sp>
      <p:graphicFrame>
        <p:nvGraphicFramePr>
          <p:cNvPr id="6" name="Chart 1" descr=""/>
          <p:cNvGraphicFramePr/>
          <p:nvPr/>
        </p:nvGraphicFramePr>
        <p:xfrm>
          <a:off x="3215640" y="868680"/>
          <a:ext cx="2712720" cy="1531620"/>
        </p:xfrm>
        <a:graphic xmlns:a="http://schemas.openxmlformats.org/drawingml/2006/main">
          <a:graphicData uri="http://schemas.openxmlformats.org/drawingml/2006/chart">
            <c:chart xmlns:c="http://schemas.openxmlformats.org/drawingml/2006/chart" r:id="rId2"/>
          </a:graphicData>
        </a:graphic>
      </p:graphicFrame>
      <p:sp>
        <p:nvSpPr>
          <p:cNvPr id="7" name="what we need"/>
          <p:cNvSpPr txBox="1"/>
          <p:nvPr/>
        </p:nvSpPr>
        <p:spPr>
          <a:xfrm>
            <a:off x="3215640" y="2400300"/>
            <a:ext cx="2712720" cy="274320"/>
          </a:xfrm>
          <a:prstGeom prst="rect">
            <a:avLst/>
          </a:prstGeom>
          <a:noFill/>
          <a:ln/>
        </p:spPr>
        <p:txBody>
          <a:bodyPr wrap="square" lIns="0" tIns="0" rIns="0" bIns="0" rtlCol="0" anchor="ctr"/>
          <a:lstStyle/>
          <a:p>
            <a:pPr indent="0" marL="0">
              <a:buNone/>
            </a:pPr>
            <a:r>
              <a:rPr lang="en-US" sz="850" b="1" dirty="0">
                <a:solidFill>
                  <a:schemeClr val="tx1"/>
                </a:solidFill>
              </a:rPr>
              <a:t>Need: below 60 °C; vented shell + built fin 56-59 °C (calculated)</a:t>
            </a:r>
            <a:endParaRPr lang="en-US" sz="850" dirty="0"/>
          </a:p>
        </p:txBody>
      </p:sp>
      <p:graphicFrame>
        <p:nvGraphicFramePr>
          <p:cNvPr id="8" name="Chart 2" descr=""/>
          <p:cNvGraphicFramePr/>
          <p:nvPr/>
        </p:nvGraphicFramePr>
        <p:xfrm>
          <a:off x="6065520" y="868680"/>
          <a:ext cx="2712720" cy="1531620"/>
        </p:xfrm>
        <a:graphic xmlns:a="http://schemas.openxmlformats.org/drawingml/2006/main">
          <a:graphicData uri="http://schemas.openxmlformats.org/drawingml/2006/chart">
            <c:chart xmlns:c="http://schemas.openxmlformats.org/drawingml/2006/chart" r:id="rId3"/>
          </a:graphicData>
        </a:graphic>
      </p:graphicFrame>
      <p:sp>
        <p:nvSpPr>
          <p:cNvPr id="9" name="what we need"/>
          <p:cNvSpPr txBox="1"/>
          <p:nvPr/>
        </p:nvSpPr>
        <p:spPr>
          <a:xfrm>
            <a:off x="6065520" y="2400300"/>
            <a:ext cx="2712720" cy="274320"/>
          </a:xfrm>
          <a:prstGeom prst="rect">
            <a:avLst/>
          </a:prstGeom>
          <a:noFill/>
          <a:ln/>
        </p:spPr>
        <p:txBody>
          <a:bodyPr wrap="square" lIns="0" tIns="0" rIns="0" bIns="0" rtlCol="0" anchor="ctr"/>
          <a:lstStyle/>
          <a:p>
            <a:pPr indent="0" marL="0">
              <a:buNone/>
            </a:pPr>
            <a:r>
              <a:rPr lang="en-US" sz="850" b="1" dirty="0">
                <a:solidFill>
                  <a:schemeClr val="tx1"/>
                </a:solidFill>
              </a:rPr>
              <a:t>Need: 16.2 N worst cable for jeans; 34 N empty, 25 N full (calculated)</a:t>
            </a:r>
            <a:endParaRPr lang="en-US" sz="850" dirty="0"/>
          </a:p>
        </p:txBody>
      </p:sp>
      <p:graphicFrame>
        <p:nvGraphicFramePr>
          <p:cNvPr id="10" name="Chart 3" descr=""/>
          <p:cNvGraphicFramePr/>
          <p:nvPr/>
        </p:nvGraphicFramePr>
        <p:xfrm>
          <a:off x="365760" y="2811780"/>
          <a:ext cx="2712720" cy="1531620"/>
        </p:xfrm>
        <a:graphic xmlns:a="http://schemas.openxmlformats.org/drawingml/2006/main">
          <a:graphicData uri="http://schemas.openxmlformats.org/drawingml/2006/chart">
            <c:chart xmlns:c="http://schemas.openxmlformats.org/drawingml/2006/chart" r:id="rId4"/>
          </a:graphicData>
        </a:graphic>
      </p:graphicFrame>
      <p:sp>
        <p:nvSpPr>
          <p:cNvPr id="11" name="what we need"/>
          <p:cNvSpPr txBox="1"/>
          <p:nvPr/>
        </p:nvSpPr>
        <p:spPr>
          <a:xfrm>
            <a:off x="365760" y="4343400"/>
            <a:ext cx="2712720" cy="274320"/>
          </a:xfrm>
          <a:prstGeom prst="rect">
            <a:avLst/>
          </a:prstGeom>
          <a:noFill/>
          <a:ln/>
        </p:spPr>
        <p:txBody>
          <a:bodyPr wrap="square" lIns="0" tIns="0" rIns="0" bIns="0" rtlCol="0" anchor="ctr"/>
          <a:lstStyle/>
          <a:p>
            <a:pPr indent="0" marL="0">
              <a:buNone/>
            </a:pPr>
            <a:r>
              <a:rPr lang="en-US" sz="850" b="1" dirty="0">
                <a:solidFill>
                  <a:schemeClr val="tx1"/>
                </a:solidFill>
              </a:rPr>
              <a:t>Need: a 0.45 kg claw; 0.86 estimated (CAD), 0.60 weighed; jeans 1.50 vs 1.56 (4 %)</a:t>
            </a:r>
            <a:endParaRPr lang="en-US" sz="850" dirty="0"/>
          </a:p>
        </p:txBody>
      </p:sp>
      <p:graphicFrame>
        <p:nvGraphicFramePr>
          <p:cNvPr id="12" name="Chart 4" descr=""/>
          <p:cNvGraphicFramePr/>
          <p:nvPr/>
        </p:nvGraphicFramePr>
        <p:xfrm>
          <a:off x="3215640" y="2811780"/>
          <a:ext cx="2712720" cy="1531620"/>
        </p:xfrm>
        <a:graphic xmlns:a="http://schemas.openxmlformats.org/drawingml/2006/main">
          <a:graphicData uri="http://schemas.openxmlformats.org/drawingml/2006/chart">
            <c:chart xmlns:c="http://schemas.openxmlformats.org/drawingml/2006/chart" r:id="rId5"/>
          </a:graphicData>
        </a:graphic>
      </p:graphicFrame>
      <p:sp>
        <p:nvSpPr>
          <p:cNvPr id="13" name="what we need"/>
          <p:cNvSpPr txBox="1"/>
          <p:nvPr/>
        </p:nvSpPr>
        <p:spPr>
          <a:xfrm>
            <a:off x="3215640" y="4343400"/>
            <a:ext cx="2712720" cy="274320"/>
          </a:xfrm>
          <a:prstGeom prst="rect">
            <a:avLst/>
          </a:prstGeom>
          <a:noFill/>
          <a:ln/>
        </p:spPr>
        <p:txBody>
          <a:bodyPr wrap="square" lIns="0" tIns="0" rIns="0" bIns="0" rtlCol="0" anchor="ctr"/>
          <a:lstStyle/>
          <a:p>
            <a:pPr indent="0" marL="0">
              <a:buNone/>
            </a:pPr>
            <a:r>
              <a:rPr lang="en-US" sz="850" b="1" dirty="0">
                <a:solidFill>
                  <a:schemeClr val="tx1"/>
                </a:solidFill>
              </a:rPr>
              <a:t>Need: the motor gives first (34-59 N); the printed set screw may not, so: metal insert</a:t>
            </a:r>
            <a:endParaRPr lang="en-US" sz="850" dirty="0"/>
          </a:p>
        </p:txBody>
      </p:sp>
      <p:sp>
        <p:nvSpPr>
          <p:cNvPr id="14" name="card The factors"/>
          <p:cNvSpPr/>
          <p:nvPr/>
        </p:nvSpPr>
        <p:spPr>
          <a:xfrm>
            <a:off x="6065520" y="2811780"/>
            <a:ext cx="2712720" cy="1805940"/>
          </a:xfrm>
          <a:prstGeom prst="roundRect">
            <a:avLst>
              <a:gd name="adj" fmla="val 3038"/>
            </a:avLst>
          </a:prstGeom>
          <a:solidFill>
            <a:schemeClr val="bg2"/>
          </a:solidFill>
          <a:ln w="12700">
            <a:solidFill>
              <a:schemeClr val="bg2"/>
            </a:solidFill>
            <a:prstDash val="solid"/>
          </a:ln>
        </p:spPr>
      </p:sp>
      <p:sp>
        <p:nvSpPr>
          <p:cNvPr id="15" name="heading The factors"/>
          <p:cNvSpPr txBox="1"/>
          <p:nvPr/>
        </p:nvSpPr>
        <p:spPr>
          <a:xfrm>
            <a:off x="6211824" y="2903220"/>
            <a:ext cx="2420112" cy="274320"/>
          </a:xfrm>
          <a:prstGeom prst="rect">
            <a:avLst/>
          </a:prstGeom>
          <a:noFill/>
          <a:ln/>
        </p:spPr>
        <p:txBody>
          <a:bodyPr wrap="square" lIns="0" tIns="0" rIns="0" bIns="0" rtlCol="0" anchor="ctr"/>
          <a:lstStyle/>
          <a:p>
            <a:pPr indent="0" marL="0">
              <a:buNone/>
            </a:pPr>
            <a:r>
              <a:rPr lang="en-US" sz="1250" b="1" dirty="0">
                <a:solidFill>
                  <a:schemeClr val="tx1"/>
                </a:solidFill>
              </a:rPr>
              <a:t>The factors</a:t>
            </a:r>
            <a:endParaRPr lang="en-US" sz="1250" dirty="0"/>
          </a:p>
        </p:txBody>
      </p:sp>
      <p:sp>
        <p:nvSpPr>
          <p:cNvPr id="16" name="bullets The factors"/>
          <p:cNvSpPr txBox="1"/>
          <p:nvPr/>
        </p:nvSpPr>
        <p:spPr>
          <a:xfrm>
            <a:off x="6211824" y="3214116"/>
            <a:ext cx="2420112" cy="1312164"/>
          </a:xfrm>
          <a:prstGeom prst="rect">
            <a:avLst/>
          </a:prstGeom>
          <a:noFill/>
          <a:ln/>
        </p:spPr>
        <p:txBody>
          <a:bodyPr wrap="square" lIns="0" tIns="0" rIns="25400" bIns="0" rtlCol="0" anchor="t"/>
          <a:lstStyle/>
          <a:p>
            <a:pPr algn="l" marL="152400" indent="-152400">
              <a:spcAft>
                <a:spcPts val="400"/>
              </a:spcAft>
              <a:buSzPct val="100000"/>
              <a:buChar char="•"/>
            </a:pPr>
            <a:r>
              <a:rPr lang="en-US" sz="1000" dirty="0">
                <a:solidFill>
                  <a:schemeClr val="tx1"/>
                </a:solidFill>
              </a:rPr>
              <a:t>Pull rises with current; heat rises with current squared</a:t>
            </a:r>
            <a:endParaRPr lang="en-US" sz="1000" dirty="0"/>
          </a:p>
          <a:p>
            <a:pPr algn="l" marL="152400" indent="-152400">
              <a:spcAft>
                <a:spcPts val="400"/>
              </a:spcAft>
              <a:buSzPct val="100000"/>
              <a:buChar char="•"/>
            </a:pPr>
            <a:r>
              <a:rPr lang="en-US" sz="1000" dirty="0">
                <a:solidFill>
                  <a:schemeClr val="tx1"/>
                </a:solidFill>
              </a:rPr>
              <a:t>1.0 to 1.5 A: 50 % more pull for 2.25 x the heat</a:t>
            </a:r>
            <a:endParaRPr lang="en-US" sz="1000" dirty="0"/>
          </a:p>
          <a:p>
            <a:pPr algn="l" marL="152400" indent="-152400">
              <a:spcAft>
                <a:spcPts val="400"/>
              </a:spcAft>
              <a:buSzPct val="100000"/>
              <a:buChar char="•"/>
            </a:pPr>
            <a:r>
              <a:rPr lang="en-US" sz="1000" dirty="0">
                <a:solidFill>
                  <a:schemeClr val="tx1"/>
                </a:solidFill>
              </a:rPr>
              <a:t>Every gram on the claw is a gram of payload</a:t>
            </a:r>
            <a:endParaRPr lang="en-US" sz="1000" dirty="0"/>
          </a:p>
          <a:p>
            <a:pPr algn="l" marL="152400" indent="-152400">
              <a:spcAft>
                <a:spcPts val="400"/>
              </a:spcAft>
              <a:buSzPct val="100000"/>
              <a:buChar char="•"/>
            </a:pPr>
            <a:r>
              <a:rPr lang="en-US" sz="1000" dirty="0">
                <a:solidFill>
                  <a:schemeClr val="tx1"/>
                </a:solidFill>
              </a:rPr>
              <a:t>The pull test and the hold test are still planned</a:t>
            </a:r>
            <a:endParaRPr lang="en-US" sz="1000" dirty="0"/>
          </a:p>
        </p:txBody>
      </p:sp>
      <p:sp>
        <p:nvSpPr>
          <p:cNvPr id="25" name="Slide Number Placeholder 0"/>
          <p:cNvSpPr>
            <a:spLocks noGrp="1"/>
          </p:cNvSpPr>
          <p:nvPr>
            <p:ph type="sldNum" sz="quarter" idx="4294967295"/>
          </p:nvPr>
        </p:nvSpPr>
        <p:spPr>
          <a:xfrm>
            <a:off x="8229600" y="4846320"/>
            <a:ext cx="548640" cy="297180"/>
          </a:xfrm>
          <a:prstGeom prst="rect">
            <a:avLst/>
          </a:prstGeom>
          <a:extLst>
            <a:ext uri="{C572A759-6A51-4108-AA02-DFA0A04FC94B}">
              <ma14:wrappingTextBoxFlag xmlns:ma14="http://schemas.microsoft.com/office/mac/drawingml/2011/main" val="0"/>
            </a:ext>
          </a:extLst>
        </p:spPr>
        <p:txBody>
          <a:bodyPr anchor="ctr"/>
          <a:lstStyle>
            <a:lvl1pPr>
              <a:defRPr sz="800">
                <a:solidFill>
                  <a:srgbClr val="FFFFFF"/>
                </a:solidFill>
                <a:latin typeface="Arial"/>
                <a:ea typeface="Arial"/>
                <a:cs typeface="Aria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2"/>
          <p:cNvSpPr/>
          <p:nvPr>
            <p:ph idx="102" type="title" hasCustomPrompt="1"/>
          </p:nvPr>
        </p:nvSpPr>
        <p:spPr>
          <a:xfrm>
            <a:off x="365760" y="256032"/>
            <a:ext cx="8412480" cy="502920"/>
          </a:xfrm>
          <a:prstGeom prst="rect">
            <a:avLst/>
          </a:prstGeom>
          <a:noFill/>
          <a:ln/>
        </p:spPr>
        <p:txBody>
          <a:bodyPr wrap="square" lIns="0" tIns="0" rIns="0" bIns="0" rtlCol="0" anchor="ctr"/>
          <a:lstStyle/>
          <a:p>
            <a:pPr algn="l" indent="0" marL="0">
              <a:buNone/>
            </a:pPr>
            <a:r>
              <a:rPr lang="en-US" sz="2400" b="1" dirty="0">
                <a:solidFill>
                  <a:srgbClr val="000000"/>
                </a:solidFill>
                <a:latin typeface="Arial" pitchFamily="34" charset="0"/>
                <a:ea typeface="Arial" pitchFamily="34" charset="-122"/>
                <a:cs typeface="Arial" pitchFamily="34" charset="-120"/>
              </a:rPr>
              <a:t>The mount assembly: slide-in on a dovetail</a:t>
            </a:r>
            <a:endParaRPr lang="en-US" sz="2400" dirty="0"/>
          </a:p>
        </p:txBody>
      </p:sp>
      <p:sp>
        <p:nvSpPr>
          <p:cNvPr id="4" name="card What the record says"/>
          <p:cNvSpPr/>
          <p:nvPr/>
        </p:nvSpPr>
        <p:spPr>
          <a:xfrm>
            <a:off x="365760" y="868680"/>
            <a:ext cx="3200400" cy="3749040"/>
          </a:xfrm>
          <a:prstGeom prst="roundRect">
            <a:avLst>
              <a:gd name="adj" fmla="val 1714"/>
            </a:avLst>
          </a:prstGeom>
          <a:solidFill>
            <a:schemeClr val="bg2"/>
          </a:solidFill>
          <a:ln w="12700">
            <a:solidFill>
              <a:schemeClr val="bg2"/>
            </a:solidFill>
            <a:prstDash val="solid"/>
          </a:ln>
        </p:spPr>
      </p:sp>
      <p:sp>
        <p:nvSpPr>
          <p:cNvPr id="5" name="heading What the record says"/>
          <p:cNvSpPr txBox="1"/>
          <p:nvPr/>
        </p:nvSpPr>
        <p:spPr>
          <a:xfrm>
            <a:off x="512064" y="960120"/>
            <a:ext cx="2907792" cy="274320"/>
          </a:xfrm>
          <a:prstGeom prst="rect">
            <a:avLst/>
          </a:prstGeom>
          <a:noFill/>
          <a:ln/>
        </p:spPr>
        <p:txBody>
          <a:bodyPr wrap="square" lIns="0" tIns="0" rIns="0" bIns="0" rtlCol="0" anchor="ctr"/>
          <a:lstStyle/>
          <a:p>
            <a:pPr indent="0" marL="0">
              <a:buNone/>
            </a:pPr>
            <a:r>
              <a:rPr lang="en-US" sz="1250" b="1" dirty="0">
                <a:solidFill>
                  <a:schemeClr val="tx1"/>
                </a:solidFill>
              </a:rPr>
              <a:t>What the record says</a:t>
            </a:r>
            <a:endParaRPr lang="en-US" sz="1250" dirty="0"/>
          </a:p>
        </p:txBody>
      </p:sp>
      <p:sp>
        <p:nvSpPr>
          <p:cNvPr id="6" name="bullets What the record says"/>
          <p:cNvSpPr txBox="1"/>
          <p:nvPr/>
        </p:nvSpPr>
        <p:spPr>
          <a:xfrm>
            <a:off x="512064" y="1271016"/>
            <a:ext cx="2907792" cy="3255264"/>
          </a:xfrm>
          <a:prstGeom prst="rect">
            <a:avLst/>
          </a:prstGeom>
          <a:noFill/>
          <a:ln/>
        </p:spPr>
        <p:txBody>
          <a:bodyPr wrap="square" lIns="0" tIns="0" rIns="25400" bIns="0" rtlCol="0" anchor="t"/>
          <a:lstStyle/>
          <a:p>
            <a:pPr algn="l" marL="152400" indent="-152400">
              <a:spcAft>
                <a:spcPts val="500"/>
              </a:spcAft>
              <a:buSzPct val="100000"/>
              <a:buChar char="•"/>
            </a:pPr>
            <a:r>
              <a:rPr lang="en-US" sz="1100" dirty="0">
                <a:solidFill>
                  <a:schemeClr val="tx1"/>
                </a:solidFill>
              </a:rPr>
              <a:t>The wall mount screws into a stud; the station slides onto it on a dovetail</a:t>
            </a:r>
            <a:endParaRPr lang="en-US" sz="1100" dirty="0"/>
          </a:p>
          <a:p>
            <a:pPr algn="l" marL="152400" indent="-152400">
              <a:spcAft>
                <a:spcPts val="500"/>
              </a:spcAft>
              <a:buSzPct val="100000"/>
              <a:buChar char="•"/>
            </a:pPr>
            <a:r>
              <a:rPr lang="en-US" sz="1100" dirty="0">
                <a:solidFill>
                  <a:schemeClr val="tx1"/>
                </a:solidFill>
              </a:rPr>
              <a:t>Dovetail fit: 0.175 mm a side, from fit coupons (measured)</a:t>
            </a:r>
            <a:endParaRPr lang="en-US" sz="1100" dirty="0"/>
          </a:p>
          <a:p>
            <a:pPr algn="l" marL="152400" indent="-152400">
              <a:spcAft>
                <a:spcPts val="500"/>
              </a:spcAft>
              <a:buSzPct val="100000"/>
              <a:buChar char="•"/>
            </a:pPr>
            <a:r>
              <a:rPr lang="en-US" sz="1100" dirty="0">
                <a:solidFill>
                  <a:schemeClr val="tx1"/>
                </a:solidFill>
              </a:rPr>
              <a:t>Load path: cable, spool, set screw, motor, tab, mount, screws, stud</a:t>
            </a:r>
            <a:endParaRPr lang="en-US" sz="1100" dirty="0"/>
          </a:p>
          <a:p>
            <a:pPr algn="l" marL="152400" indent="-152400">
              <a:spcAft>
                <a:spcPts val="500"/>
              </a:spcAft>
              <a:buSzPct val="100000"/>
              <a:buChar char="•"/>
            </a:pPr>
            <a:r>
              <a:rPr lang="en-US" sz="1100" dirty="0">
                <a:solidFill>
                  <a:schemeClr val="tx1"/>
                </a:solidFill>
              </a:rPr>
              <a:t>The motor slips at 34-59 N before anything breaks: the designed fuse (calculated)</a:t>
            </a:r>
            <a:endParaRPr lang="en-US" sz="1100" dirty="0"/>
          </a:p>
          <a:p>
            <a:pPr algn="l" marL="152400" indent="-152400">
              <a:spcAft>
                <a:spcPts val="500"/>
              </a:spcAft>
              <a:buSzPct val="100000"/>
              <a:buChar char="•"/>
            </a:pPr>
            <a:r>
              <a:rPr lang="en-US" sz="1100" dirty="0">
                <a:solidFill>
                  <a:schemeClr val="tx1"/>
                </a:solidFill>
              </a:rPr>
              <a:t>The spool encoder sees the slip: tracking fault, every station holds</a:t>
            </a:r>
            <a:endParaRPr lang="en-US" sz="1100" dirty="0"/>
          </a:p>
        </p:txBody>
      </p:sp>
      <p:pic>
        <p:nvPicPr>
          <p:cNvPr id="7" name="The printed wall mount alone in a corner" descr="The printed wall mount alone in a corner">    </p:cNvPr>
          <p:cNvPicPr>
            <a:picLocks noChangeAspect="1"/>
          </p:cNvPicPr>
          <p:nvPr/>
        </p:nvPicPr>
        <p:blipFill>
          <a:blip r:embed="rId1"/>
          <a:srcRect l="0" r="0" t="0" b="0"/>
          <a:stretch/>
        </p:blipFill>
        <p:spPr>
          <a:xfrm>
            <a:off x="3794760" y="868680"/>
            <a:ext cx="2436876" cy="1920240"/>
          </a:xfrm>
          <a:prstGeom prst="rect">
            <a:avLst/>
          </a:prstGeom>
        </p:spPr>
      </p:pic>
      <p:pic>
        <p:nvPicPr>
          <p:cNvPr id="8" name="The station shell on its wall mount" descr="The station shell on its wall mount">    </p:cNvPr>
          <p:cNvPicPr>
            <a:picLocks noChangeAspect="1"/>
          </p:cNvPicPr>
          <p:nvPr/>
        </p:nvPicPr>
        <p:blipFill>
          <a:blip r:embed="rId2"/>
          <a:srcRect l="0" r="0" t="0" b="0"/>
          <a:stretch/>
        </p:blipFill>
        <p:spPr>
          <a:xfrm>
            <a:off x="6341364" y="868680"/>
            <a:ext cx="2436876" cy="1920240"/>
          </a:xfrm>
          <a:prstGeom prst="rect">
            <a:avLst/>
          </a:prstGeom>
        </p:spPr>
      </p:pic>
      <p:sp>
        <p:nvSpPr>
          <p:cNvPr id="9" name="caption"/>
          <p:cNvSpPr txBox="1"/>
          <p:nvPr/>
        </p:nvSpPr>
        <p:spPr>
          <a:xfrm>
            <a:off x="3794760" y="2816352"/>
            <a:ext cx="4983480" cy="201168"/>
          </a:xfrm>
          <a:prstGeom prst="rect">
            <a:avLst/>
          </a:prstGeom>
          <a:noFill/>
          <a:ln/>
        </p:spPr>
        <p:txBody>
          <a:bodyPr wrap="square" lIns="0" tIns="0" rIns="0" bIns="0" rtlCol="0" anchor="ctr"/>
          <a:lstStyle/>
          <a:p>
            <a:pPr algn="l" indent="0" marL="0">
              <a:buNone/>
            </a:pPr>
            <a:r>
              <a:rPr lang="en-US" sz="850" dirty="0">
                <a:solidFill>
                  <a:schemeClr val="tx2"/>
                </a:solidFill>
              </a:rPr>
              <a:t>The mount alone, before the station slides in; the station on the mount</a:t>
            </a:r>
            <a:endParaRPr lang="en-US" sz="850" dirty="0"/>
          </a:p>
        </p:txBody>
      </p:sp>
      <p:pic>
        <p:nvPicPr>
          <p:cNvPr id="10" name="Slide-in rib in the wall-mount dovetail " descr="Slide-in rib in the wall-mount dovetail (CAD)">    </p:cNvPr>
          <p:cNvPicPr>
            <a:picLocks noChangeAspect="1"/>
          </p:cNvPicPr>
          <p:nvPr/>
        </p:nvPicPr>
        <p:blipFill>
          <a:blip r:embed="rId3"/>
          <a:stretch>
            <a:fillRect/>
          </a:stretch>
        </p:blipFill>
        <p:spPr>
          <a:xfrm>
            <a:off x="4000585" y="3063240"/>
            <a:ext cx="2678107" cy="1316736"/>
          </a:xfrm>
          <a:prstGeom prst="rect">
            <a:avLst/>
          </a:prstGeom>
        </p:spPr>
      </p:pic>
      <p:pic>
        <p:nvPicPr>
          <p:cNvPr id="11" name="Station shell, transparent (SolidWorks)" descr="Station shell, transparent (SolidWorks)">    </p:cNvPr>
          <p:cNvPicPr>
            <a:picLocks noChangeAspect="1"/>
          </p:cNvPicPr>
          <p:nvPr/>
        </p:nvPicPr>
        <p:blipFill>
          <a:blip r:embed="rId4"/>
          <a:stretch>
            <a:fillRect/>
          </a:stretch>
        </p:blipFill>
        <p:spPr>
          <a:xfrm>
            <a:off x="7225737" y="3063240"/>
            <a:ext cx="1321011" cy="1316736"/>
          </a:xfrm>
          <a:prstGeom prst="rect">
            <a:avLst/>
          </a:prstGeom>
        </p:spPr>
      </p:pic>
      <p:sp>
        <p:nvSpPr>
          <p:cNvPr id="12" name="caption"/>
          <p:cNvSpPr txBox="1"/>
          <p:nvPr/>
        </p:nvSpPr>
        <p:spPr>
          <a:xfrm>
            <a:off x="3794760" y="4416552"/>
            <a:ext cx="4983480" cy="201168"/>
          </a:xfrm>
          <a:prstGeom prst="rect">
            <a:avLst/>
          </a:prstGeom>
          <a:noFill/>
          <a:ln/>
        </p:spPr>
        <p:txBody>
          <a:bodyPr wrap="square" lIns="0" tIns="0" rIns="0" bIns="0" rtlCol="0" anchor="ctr"/>
          <a:lstStyle/>
          <a:p>
            <a:pPr algn="l" indent="0" marL="0">
              <a:buNone/>
            </a:pPr>
            <a:r>
              <a:rPr lang="en-US" sz="850" dirty="0">
                <a:solidFill>
                  <a:schemeClr val="tx2"/>
                </a:solidFill>
              </a:rPr>
              <a:t>Rib in the dovetail groove (CAD); the station with its shell transparent (CAD)</a:t>
            </a:r>
            <a:endParaRPr lang="en-US" sz="850" dirty="0"/>
          </a:p>
        </p:txBody>
      </p:sp>
      <p:sp>
        <p:nvSpPr>
          <p:cNvPr id="25" name="Slide Number Placeholder 0"/>
          <p:cNvSpPr>
            <a:spLocks noGrp="1"/>
          </p:cNvSpPr>
          <p:nvPr>
            <p:ph type="sldNum" sz="quarter" idx="4294967295"/>
          </p:nvPr>
        </p:nvSpPr>
        <p:spPr>
          <a:xfrm>
            <a:off x="8229600" y="4846320"/>
            <a:ext cx="548640" cy="297180"/>
          </a:xfrm>
          <a:prstGeom prst="rect">
            <a:avLst/>
          </a:prstGeom>
          <a:extLst>
            <a:ext uri="{C572A759-6A51-4108-AA02-DFA0A04FC94B}">
              <ma14:wrappingTextBoxFlag xmlns:ma14="http://schemas.microsoft.com/office/mac/drawingml/2011/main" val="0"/>
            </a:ext>
          </a:extLst>
        </p:spPr>
        <p:txBody>
          <a:bodyPr anchor="ctr"/>
          <a:lstStyle>
            <a:lvl1pPr>
              <a:defRPr sz="800">
                <a:solidFill>
                  <a:srgbClr val="FFFFFF"/>
                </a:solidFill>
                <a:latin typeface="Arial"/>
                <a:ea typeface="Arial"/>
                <a:cs typeface="Aria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2"/>
          <p:cNvSpPr/>
          <p:nvPr>
            <p:ph idx="102" type="title" hasCustomPrompt="1"/>
          </p:nvPr>
        </p:nvSpPr>
        <p:spPr>
          <a:xfrm>
            <a:off x="365760" y="256032"/>
            <a:ext cx="8412480" cy="502920"/>
          </a:xfrm>
          <a:prstGeom prst="rect">
            <a:avLst/>
          </a:prstGeom>
          <a:noFill/>
          <a:ln/>
        </p:spPr>
        <p:txBody>
          <a:bodyPr wrap="square" lIns="0" tIns="0" rIns="0" bIns="0" rtlCol="0" anchor="ctr"/>
          <a:lstStyle/>
          <a:p>
            <a:pPr algn="l" indent="0" marL="0">
              <a:buNone/>
            </a:pPr>
            <a:r>
              <a:rPr lang="en-US" sz="2400" b="1" dirty="0">
                <a:solidFill>
                  <a:srgbClr val="000000"/>
                </a:solidFill>
                <a:latin typeface="Arial" pitchFamily="34" charset="0"/>
                <a:ea typeface="Arial" pitchFamily="34" charset="-122"/>
                <a:cs typeface="Arial" pitchFamily="34" charset="-120"/>
              </a:rPr>
              <a:t>The mount assembly: fin, vents and the wall</a:t>
            </a:r>
            <a:endParaRPr lang="en-US" sz="2400" dirty="0"/>
          </a:p>
        </p:txBody>
      </p:sp>
      <p:sp>
        <p:nvSpPr>
          <p:cNvPr id="4" name="card What the record says"/>
          <p:cNvSpPr/>
          <p:nvPr/>
        </p:nvSpPr>
        <p:spPr>
          <a:xfrm>
            <a:off x="365760" y="868680"/>
            <a:ext cx="3200400" cy="3749040"/>
          </a:xfrm>
          <a:prstGeom prst="roundRect">
            <a:avLst>
              <a:gd name="adj" fmla="val 1714"/>
            </a:avLst>
          </a:prstGeom>
          <a:solidFill>
            <a:schemeClr val="bg2"/>
          </a:solidFill>
          <a:ln w="12700">
            <a:solidFill>
              <a:schemeClr val="bg2"/>
            </a:solidFill>
            <a:prstDash val="solid"/>
          </a:ln>
        </p:spPr>
      </p:sp>
      <p:sp>
        <p:nvSpPr>
          <p:cNvPr id="5" name="heading What the record says"/>
          <p:cNvSpPr txBox="1"/>
          <p:nvPr/>
        </p:nvSpPr>
        <p:spPr>
          <a:xfrm>
            <a:off x="512064" y="960120"/>
            <a:ext cx="2907792" cy="274320"/>
          </a:xfrm>
          <a:prstGeom prst="rect">
            <a:avLst/>
          </a:prstGeom>
          <a:noFill/>
          <a:ln/>
        </p:spPr>
        <p:txBody>
          <a:bodyPr wrap="square" lIns="0" tIns="0" rIns="0" bIns="0" rtlCol="0" anchor="ctr"/>
          <a:lstStyle/>
          <a:p>
            <a:pPr indent="0" marL="0">
              <a:buNone/>
            </a:pPr>
            <a:r>
              <a:rPr lang="en-US" sz="1250" b="1" dirty="0">
                <a:solidFill>
                  <a:schemeClr val="tx1"/>
                </a:solidFill>
              </a:rPr>
              <a:t>What the record says</a:t>
            </a:r>
            <a:endParaRPr lang="en-US" sz="1250" dirty="0"/>
          </a:p>
        </p:txBody>
      </p:sp>
      <p:sp>
        <p:nvSpPr>
          <p:cNvPr id="6" name="bullets What the record says"/>
          <p:cNvSpPr txBox="1"/>
          <p:nvPr/>
        </p:nvSpPr>
        <p:spPr>
          <a:xfrm>
            <a:off x="512064" y="1271016"/>
            <a:ext cx="2907792" cy="3255264"/>
          </a:xfrm>
          <a:prstGeom prst="rect">
            <a:avLst/>
          </a:prstGeom>
          <a:noFill/>
          <a:ln/>
        </p:spPr>
        <p:txBody>
          <a:bodyPr wrap="square" lIns="0" tIns="0" rIns="25400" bIns="0" rtlCol="0" anchor="t"/>
          <a:lstStyle/>
          <a:p>
            <a:pPr algn="l" marL="152400" indent="-152400">
              <a:spcAft>
                <a:spcPts val="500"/>
              </a:spcAft>
              <a:buSzPct val="100000"/>
              <a:buChar char="•"/>
            </a:pPr>
            <a:r>
              <a:rPr lang="en-US" sz="1100" dirty="0">
                <a:solidFill>
                  <a:schemeClr val="tx1"/>
                </a:solidFill>
              </a:rPr>
              <a:t>The fin: aluminium on the motor face, out through a slot in the top of the shell</a:t>
            </a:r>
            <a:endParaRPr lang="en-US" sz="1100" dirty="0"/>
          </a:p>
          <a:p>
            <a:pPr algn="l" marL="152400" indent="-152400">
              <a:spcAft>
                <a:spcPts val="500"/>
              </a:spcAft>
              <a:buSzPct val="100000"/>
              <a:buChar char="•"/>
            </a:pPr>
            <a:r>
              <a:rPr lang="en-US" sz="1100" dirty="0">
                <a:solidFill>
                  <a:schemeClr val="tx1"/>
                </a:solidFill>
              </a:rPr>
              <a:t>Vents in the shell; vented shell + fin: 56-59 °C at 1.5 A (calculated)</a:t>
            </a:r>
            <a:endParaRPr lang="en-US" sz="1100" dirty="0"/>
          </a:p>
          <a:p>
            <a:pPr algn="l" marL="152400" indent="-152400">
              <a:spcAft>
                <a:spcPts val="500"/>
              </a:spcAft>
              <a:buSzPct val="100000"/>
              <a:buChar char="•"/>
            </a:pPr>
            <a:r>
              <a:rPr lang="en-US" sz="1100" dirty="0">
                <a:solidFill>
                  <a:schemeClr val="tx1"/>
                </a:solidFill>
              </a:rPr>
              <a:t>First station in a stud on the TV wall, 12 V down the wall</a:t>
            </a:r>
            <a:endParaRPr lang="en-US" sz="1100" dirty="0"/>
          </a:p>
          <a:p>
            <a:pPr algn="l" marL="152400" indent="-152400">
              <a:spcAft>
                <a:spcPts val="500"/>
              </a:spcAft>
              <a:buSzPct val="100000"/>
              <a:buChar char="•"/>
            </a:pPr>
            <a:r>
              <a:rPr lang="en-US" sz="1100" dirty="0">
                <a:solidFill>
                  <a:schemeClr val="tx1"/>
                </a:solidFill>
              </a:rPr>
              <a:t>The slide-in binds on insertion today; a 1° draft on the dovetail is the next iteration</a:t>
            </a:r>
            <a:endParaRPr lang="en-US" sz="1100" dirty="0"/>
          </a:p>
        </p:txBody>
      </p:sp>
      <p:pic>
        <p:nvPicPr>
          <p:cNvPr id="7" name="On the TV wall, 12 V leads down" descr="On the TV wall, 12 V leads down">    </p:cNvPr>
          <p:cNvPicPr>
            <a:picLocks noChangeAspect="1"/>
          </p:cNvPicPr>
          <p:nvPr/>
        </p:nvPicPr>
        <p:blipFill>
          <a:blip r:embed="rId1"/>
          <a:srcRect l="0" r="0" t="0" b="0"/>
          <a:stretch/>
        </p:blipFill>
        <p:spPr>
          <a:xfrm>
            <a:off x="3794760" y="868680"/>
            <a:ext cx="1588008" cy="3511296"/>
          </a:xfrm>
          <a:prstGeom prst="rect">
            <a:avLst/>
          </a:prstGeom>
        </p:spPr>
      </p:pic>
      <p:sp>
        <p:nvSpPr>
          <p:cNvPr id="8" name="caption"/>
          <p:cNvSpPr txBox="1"/>
          <p:nvPr/>
        </p:nvSpPr>
        <p:spPr>
          <a:xfrm>
            <a:off x="3794760" y="4416552"/>
            <a:ext cx="1588008" cy="201168"/>
          </a:xfrm>
          <a:prstGeom prst="rect">
            <a:avLst/>
          </a:prstGeom>
          <a:noFill/>
          <a:ln/>
        </p:spPr>
        <p:txBody>
          <a:bodyPr wrap="square" lIns="0" tIns="0" rIns="0" bIns="0" rtlCol="0" anchor="ctr"/>
          <a:lstStyle/>
          <a:p>
            <a:pPr algn="l" indent="0" marL="0">
              <a:buNone/>
            </a:pPr>
            <a:r>
              <a:rPr lang="en-US" sz="850" dirty="0">
                <a:solidFill>
                  <a:schemeClr val="tx2"/>
                </a:solidFill>
              </a:rPr>
              <a:t>On the TV wall, 12 V leads down</a:t>
            </a:r>
            <a:endParaRPr lang="en-US" sz="850" dirty="0"/>
          </a:p>
        </p:txBody>
      </p:sp>
      <p:pic>
        <p:nvPicPr>
          <p:cNvPr id="9" name="From below: fin through the slot" descr="From below: fin through the slot">    </p:cNvPr>
          <p:cNvPicPr>
            <a:picLocks noChangeAspect="1"/>
          </p:cNvPicPr>
          <p:nvPr/>
        </p:nvPicPr>
        <p:blipFill>
          <a:blip r:embed="rId2"/>
          <a:srcRect l="0" r="0" t="0" b="0"/>
          <a:stretch/>
        </p:blipFill>
        <p:spPr>
          <a:xfrm>
            <a:off x="5492496" y="868680"/>
            <a:ext cx="1588008" cy="3511296"/>
          </a:xfrm>
          <a:prstGeom prst="rect">
            <a:avLst/>
          </a:prstGeom>
        </p:spPr>
      </p:pic>
      <p:sp>
        <p:nvSpPr>
          <p:cNvPr id="10" name="caption"/>
          <p:cNvSpPr txBox="1"/>
          <p:nvPr/>
        </p:nvSpPr>
        <p:spPr>
          <a:xfrm>
            <a:off x="5492496" y="4416552"/>
            <a:ext cx="1588008" cy="201168"/>
          </a:xfrm>
          <a:prstGeom prst="rect">
            <a:avLst/>
          </a:prstGeom>
          <a:noFill/>
          <a:ln/>
        </p:spPr>
        <p:txBody>
          <a:bodyPr wrap="square" lIns="0" tIns="0" rIns="0" bIns="0" rtlCol="0" anchor="ctr"/>
          <a:lstStyle/>
          <a:p>
            <a:pPr algn="l" indent="0" marL="0">
              <a:buNone/>
            </a:pPr>
            <a:r>
              <a:rPr lang="en-US" sz="850" dirty="0">
                <a:solidFill>
                  <a:schemeClr val="tx2"/>
                </a:solidFill>
              </a:rPr>
              <a:t>From below: fin through the slot</a:t>
            </a:r>
            <a:endParaRPr lang="en-US" sz="850" dirty="0"/>
          </a:p>
        </p:txBody>
      </p:sp>
      <p:pic>
        <p:nvPicPr>
          <p:cNvPr id="11" name="The line leaves the switch tab straight " descr="The line leaves the switch tab straight down">    </p:cNvPr>
          <p:cNvPicPr>
            <a:picLocks noChangeAspect="1"/>
          </p:cNvPicPr>
          <p:nvPr/>
        </p:nvPicPr>
        <p:blipFill>
          <a:blip r:embed="rId3"/>
          <a:srcRect l="0" r="0" t="0" b="0"/>
          <a:stretch/>
        </p:blipFill>
        <p:spPr>
          <a:xfrm>
            <a:off x="7190232" y="868680"/>
            <a:ext cx="1588008" cy="3511296"/>
          </a:xfrm>
          <a:prstGeom prst="rect">
            <a:avLst/>
          </a:prstGeom>
        </p:spPr>
      </p:pic>
      <p:sp>
        <p:nvSpPr>
          <p:cNvPr id="12" name="caption"/>
          <p:cNvSpPr txBox="1"/>
          <p:nvPr/>
        </p:nvSpPr>
        <p:spPr>
          <a:xfrm>
            <a:off x="7190232" y="4416552"/>
            <a:ext cx="1588008" cy="201168"/>
          </a:xfrm>
          <a:prstGeom prst="rect">
            <a:avLst/>
          </a:prstGeom>
          <a:noFill/>
          <a:ln/>
        </p:spPr>
        <p:txBody>
          <a:bodyPr wrap="square" lIns="0" tIns="0" rIns="0" bIns="0" rtlCol="0" anchor="ctr"/>
          <a:lstStyle/>
          <a:p>
            <a:pPr algn="l" indent="0" marL="0">
              <a:buNone/>
            </a:pPr>
            <a:r>
              <a:rPr lang="en-US" sz="850" dirty="0">
                <a:solidFill>
                  <a:schemeClr val="tx2"/>
                </a:solidFill>
              </a:rPr>
              <a:t>The line leaves the switch tab straight down</a:t>
            </a:r>
            <a:endParaRPr lang="en-US" sz="850" dirty="0"/>
          </a:p>
        </p:txBody>
      </p:sp>
      <p:sp>
        <p:nvSpPr>
          <p:cNvPr id="25" name="Slide Number Placeholder 0"/>
          <p:cNvSpPr>
            <a:spLocks noGrp="1"/>
          </p:cNvSpPr>
          <p:nvPr>
            <p:ph type="sldNum" sz="quarter" idx="4294967295"/>
          </p:nvPr>
        </p:nvSpPr>
        <p:spPr>
          <a:xfrm>
            <a:off x="8229600" y="4846320"/>
            <a:ext cx="548640" cy="297180"/>
          </a:xfrm>
          <a:prstGeom prst="rect">
            <a:avLst/>
          </a:prstGeom>
          <a:extLst>
            <a:ext uri="{C572A759-6A51-4108-AA02-DFA0A04FC94B}">
              <ma14:wrappingTextBoxFlag xmlns:ma14="http://schemas.microsoft.com/office/mac/drawingml/2011/main" val="0"/>
            </a:ext>
          </a:extLst>
        </p:spPr>
        <p:txBody>
          <a:bodyPr anchor="ctr"/>
          <a:lstStyle>
            <a:lvl1pPr>
              <a:defRPr sz="800">
                <a:solidFill>
                  <a:srgbClr val="FFFFFF"/>
                </a:solidFill>
                <a:latin typeface="Arial"/>
                <a:ea typeface="Arial"/>
                <a:cs typeface="Aria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2"/>
          <p:cNvSpPr/>
          <p:nvPr>
            <p:ph idx="102" type="title" hasCustomPrompt="1"/>
          </p:nvPr>
        </p:nvSpPr>
        <p:spPr>
          <a:xfrm>
            <a:off x="365760" y="256032"/>
            <a:ext cx="8412480" cy="502920"/>
          </a:xfrm>
          <a:prstGeom prst="rect">
            <a:avLst/>
          </a:prstGeom>
          <a:noFill/>
          <a:ln/>
        </p:spPr>
        <p:txBody>
          <a:bodyPr wrap="square" lIns="0" tIns="0" rIns="0" bIns="0" rtlCol="0" anchor="ctr"/>
          <a:lstStyle/>
          <a:p>
            <a:pPr algn="l" indent="0" marL="0">
              <a:buNone/>
            </a:pPr>
            <a:r>
              <a:rPr lang="en-US" sz="2400" b="1" dirty="0">
                <a:solidFill>
                  <a:srgbClr val="000000"/>
                </a:solidFill>
                <a:latin typeface="Arial" pitchFamily="34" charset="0"/>
                <a:ea typeface="Arial" pitchFamily="34" charset="-122"/>
                <a:cs typeface="Arial" pitchFamily="34" charset="-120"/>
              </a:rPr>
              <a:t>The claw, and why it is modular</a:t>
            </a:r>
            <a:endParaRPr lang="en-US" sz="2400" dirty="0"/>
          </a:p>
        </p:txBody>
      </p:sp>
      <p:sp>
        <p:nvSpPr>
          <p:cNvPr id="4" name="card The claw today"/>
          <p:cNvSpPr/>
          <p:nvPr/>
        </p:nvSpPr>
        <p:spPr>
          <a:xfrm>
            <a:off x="365760" y="868680"/>
            <a:ext cx="2331720" cy="3749040"/>
          </a:xfrm>
          <a:prstGeom prst="roundRect">
            <a:avLst>
              <a:gd name="adj" fmla="val 2353"/>
            </a:avLst>
          </a:prstGeom>
          <a:solidFill>
            <a:schemeClr val="bg2"/>
          </a:solidFill>
          <a:ln w="12700">
            <a:solidFill>
              <a:schemeClr val="bg2"/>
            </a:solidFill>
            <a:prstDash val="solid"/>
          </a:ln>
        </p:spPr>
      </p:sp>
      <p:sp>
        <p:nvSpPr>
          <p:cNvPr id="5" name="heading The claw today"/>
          <p:cNvSpPr txBox="1"/>
          <p:nvPr/>
        </p:nvSpPr>
        <p:spPr>
          <a:xfrm>
            <a:off x="512064" y="960120"/>
            <a:ext cx="2039112" cy="274320"/>
          </a:xfrm>
          <a:prstGeom prst="rect">
            <a:avLst/>
          </a:prstGeom>
          <a:noFill/>
          <a:ln/>
        </p:spPr>
        <p:txBody>
          <a:bodyPr wrap="square" lIns="0" tIns="0" rIns="0" bIns="0" rtlCol="0" anchor="ctr"/>
          <a:lstStyle/>
          <a:p>
            <a:pPr indent="0" marL="0">
              <a:buNone/>
            </a:pPr>
            <a:r>
              <a:rPr lang="en-US" sz="1250" b="1" dirty="0">
                <a:solidFill>
                  <a:schemeClr val="tx1"/>
                </a:solidFill>
              </a:rPr>
              <a:t>The claw today</a:t>
            </a:r>
            <a:endParaRPr lang="en-US" sz="1250" dirty="0"/>
          </a:p>
        </p:txBody>
      </p:sp>
      <p:sp>
        <p:nvSpPr>
          <p:cNvPr id="6" name="bullets The claw today"/>
          <p:cNvSpPr txBox="1"/>
          <p:nvPr/>
        </p:nvSpPr>
        <p:spPr>
          <a:xfrm>
            <a:off x="512064" y="1271016"/>
            <a:ext cx="2039112" cy="3255264"/>
          </a:xfrm>
          <a:prstGeom prst="rect">
            <a:avLst/>
          </a:prstGeom>
          <a:noFill/>
          <a:ln/>
        </p:spPr>
        <p:txBody>
          <a:bodyPr wrap="square" lIns="0" tIns="0" rIns="25400" bIns="0" rtlCol="0" anchor="t"/>
          <a:lstStyle/>
          <a:p>
            <a:pPr algn="l" marL="152400" indent="-152400">
              <a:spcAft>
                <a:spcPts val="500"/>
              </a:spcAft>
              <a:buSzPct val="100000"/>
              <a:buChar char="•"/>
            </a:pPr>
            <a:r>
              <a:rPr lang="en-US" sz="1100" dirty="0">
                <a:solidFill>
                  <a:schemeClr val="tx1"/>
                </a:solidFill>
              </a:rPr>
              <a:t>Four-bar hands: within 1° of parallel over the 53 mm opening (calculated)</a:t>
            </a:r>
            <a:endParaRPr lang="en-US" sz="1100" dirty="0"/>
          </a:p>
          <a:p>
            <a:pPr algn="l" marL="152400" indent="-152400">
              <a:spcAft>
                <a:spcPts val="500"/>
              </a:spcAft>
              <a:buSzPct val="100000"/>
              <a:buChar char="•"/>
            </a:pPr>
            <a:r>
              <a:rPr lang="en-US" sz="1100" dirty="0">
                <a:solidFill>
                  <a:schemeClr val="tx1"/>
                </a:solidFill>
              </a:rPr>
              <a:t>A camera bay in the electronics housing; the camera looks down the tube</a:t>
            </a:r>
            <a:endParaRPr lang="en-US" sz="1100" dirty="0"/>
          </a:p>
          <a:p>
            <a:pPr algn="l" marL="152400" indent="-152400">
              <a:spcAft>
                <a:spcPts val="500"/>
              </a:spcAft>
              <a:buSzPct val="100000"/>
              <a:buChar char="•"/>
            </a:pPr>
            <a:r>
              <a:rPr lang="en-US" sz="1100" dirty="0">
                <a:solidFill>
                  <a:schemeClr val="tx1"/>
                </a:solidFill>
              </a:rPr>
              <a:t>One 7.4 V two-cell pack: 6 V regulator for the servo, 5 V buck for the board</a:t>
            </a:r>
            <a:endParaRPr lang="en-US" sz="1100" dirty="0"/>
          </a:p>
          <a:p>
            <a:pPr algn="l" marL="152400" indent="-152400">
              <a:spcAft>
                <a:spcPts val="500"/>
              </a:spcAft>
              <a:buSzPct val="100000"/>
              <a:buChar char="•"/>
            </a:pPr>
            <a:r>
              <a:rPr lang="en-US" sz="1100" dirty="0">
                <a:solidFill>
                  <a:schemeClr val="tx1"/>
                </a:solidFill>
              </a:rPr>
              <a:t>Weighed 0.60 kg with battery against a 0.45 kg budget</a:t>
            </a:r>
            <a:endParaRPr lang="en-US" sz="1100" dirty="0"/>
          </a:p>
        </p:txBody>
      </p:sp>
      <p:sp>
        <p:nvSpPr>
          <p:cNvPr id="7" name="card Modular, on purpose"/>
          <p:cNvSpPr/>
          <p:nvPr/>
        </p:nvSpPr>
        <p:spPr>
          <a:xfrm>
            <a:off x="2880360" y="868680"/>
            <a:ext cx="2331720" cy="3749040"/>
          </a:xfrm>
          <a:prstGeom prst="roundRect">
            <a:avLst>
              <a:gd name="adj" fmla="val 2353"/>
            </a:avLst>
          </a:prstGeom>
          <a:solidFill>
            <a:schemeClr val="bg2"/>
          </a:solidFill>
          <a:ln w="12700">
            <a:solidFill>
              <a:schemeClr val="bg2"/>
            </a:solidFill>
            <a:prstDash val="solid"/>
          </a:ln>
        </p:spPr>
      </p:sp>
      <p:sp>
        <p:nvSpPr>
          <p:cNvPr id="8" name="heading Modular, on purpose"/>
          <p:cNvSpPr txBox="1"/>
          <p:nvPr/>
        </p:nvSpPr>
        <p:spPr>
          <a:xfrm>
            <a:off x="3026664" y="960120"/>
            <a:ext cx="2039112" cy="274320"/>
          </a:xfrm>
          <a:prstGeom prst="rect">
            <a:avLst/>
          </a:prstGeom>
          <a:noFill/>
          <a:ln/>
        </p:spPr>
        <p:txBody>
          <a:bodyPr wrap="square" lIns="0" tIns="0" rIns="0" bIns="0" rtlCol="0" anchor="ctr"/>
          <a:lstStyle/>
          <a:p>
            <a:pPr indent="0" marL="0">
              <a:buNone/>
            </a:pPr>
            <a:r>
              <a:rPr lang="en-US" sz="1250" b="1" dirty="0">
                <a:solidFill>
                  <a:schemeClr val="tx1"/>
                </a:solidFill>
              </a:rPr>
              <a:t>Modular, on purpose</a:t>
            </a:r>
            <a:endParaRPr lang="en-US" sz="1250" dirty="0"/>
          </a:p>
        </p:txBody>
      </p:sp>
      <p:sp>
        <p:nvSpPr>
          <p:cNvPr id="9" name="bullets Modular, on purpose"/>
          <p:cNvSpPr txBox="1"/>
          <p:nvPr/>
        </p:nvSpPr>
        <p:spPr>
          <a:xfrm>
            <a:off x="3026664" y="1271016"/>
            <a:ext cx="2039112" cy="3255264"/>
          </a:xfrm>
          <a:prstGeom prst="rect">
            <a:avLst/>
          </a:prstGeom>
          <a:noFill/>
          <a:ln/>
        </p:spPr>
        <p:txBody>
          <a:bodyPr wrap="square" lIns="0" tIns="0" rIns="25400" bIns="0" rtlCol="0" anchor="t"/>
          <a:lstStyle/>
          <a:p>
            <a:pPr algn="l" marL="152400" indent="-152400">
              <a:spcAft>
                <a:spcPts val="500"/>
              </a:spcAft>
              <a:buSzPct val="100000"/>
              <a:buChar char="•"/>
            </a:pPr>
            <a:r>
              <a:rPr lang="en-US" sz="1100" dirty="0">
                <a:solidFill>
                  <a:schemeClr val="tx1"/>
                </a:solidFill>
              </a:rPr>
              <a:t>The gripper attaches at the tube, so other grippers can be tried</a:t>
            </a:r>
            <a:endParaRPr lang="en-US" sz="1100" dirty="0"/>
          </a:p>
          <a:p>
            <a:pPr algn="l" marL="152400" indent="-152400">
              <a:spcAft>
                <a:spcPts val="500"/>
              </a:spcAft>
              <a:buSzPct val="100000"/>
              <a:buChar char="•"/>
            </a:pPr>
            <a:r>
              <a:rPr lang="en-US" sz="1100" dirty="0">
                <a:solidFill>
                  <a:schemeClr val="tx1"/>
                </a:solidFill>
              </a:rPr>
              <a:t>A hard pinch was expected to grip better; testing showed alignment problems</a:t>
            </a:r>
            <a:endParaRPr lang="en-US" sz="1100" dirty="0"/>
          </a:p>
          <a:p>
            <a:pPr algn="l" marL="152400" indent="-152400">
              <a:spcAft>
                <a:spcPts val="500"/>
              </a:spcAft>
              <a:buSzPct val="100000"/>
              <a:buChar char="•"/>
            </a:pPr>
            <a:r>
              <a:rPr lang="en-US" sz="1100" dirty="0">
                <a:solidFill>
                  <a:schemeClr val="tx1"/>
                </a:solidFill>
              </a:rPr>
              <a:t>The first rack-and-pinion jaws left a 2 mm gap on thin cloth (Sep 30)</a:t>
            </a:r>
            <a:endParaRPr lang="en-US" sz="1100" dirty="0"/>
          </a:p>
          <a:p>
            <a:pPr algn="l" marL="152400" indent="-152400">
              <a:spcAft>
                <a:spcPts val="500"/>
              </a:spcAft>
              <a:buSzPct val="100000"/>
              <a:buChar char="•"/>
            </a:pPr>
            <a:r>
              <a:rPr lang="en-US" sz="1100" dirty="0">
                <a:solidFill>
                  <a:schemeClr val="tx1"/>
                </a:solidFill>
              </a:rPr>
              <a:t>TPU and other pad materials are being tried; still testing</a:t>
            </a:r>
            <a:endParaRPr lang="en-US" sz="1100" dirty="0"/>
          </a:p>
          <a:p>
            <a:pPr algn="l" marL="152400" indent="-152400">
              <a:spcAft>
                <a:spcPts val="500"/>
              </a:spcAft>
              <a:buSzPct val="100000"/>
              <a:buChar char="•"/>
            </a:pPr>
            <a:r>
              <a:rPr lang="en-US" sz="1100" dirty="0">
                <a:solidFill>
                  <a:schemeClr val="tx1"/>
                </a:solidFill>
              </a:rPr>
              <a:t>The v6 clamp was 4.6 x its mass budget in CAD: mass is tracked per part since</a:t>
            </a:r>
            <a:endParaRPr lang="en-US" sz="1100" dirty="0"/>
          </a:p>
        </p:txBody>
      </p:sp>
      <p:pic>
        <p:nvPicPr>
          <p:cNvPr id="10" name="The claw assembled (Oct 22)" descr="The claw assembled (Oct 22)">    </p:cNvPr>
          <p:cNvPicPr>
            <a:picLocks noChangeAspect="1"/>
          </p:cNvPicPr>
          <p:nvPr/>
        </p:nvPicPr>
        <p:blipFill>
          <a:blip r:embed="rId1"/>
          <a:srcRect l="0" r="0" t="0" b="0"/>
          <a:stretch/>
        </p:blipFill>
        <p:spPr>
          <a:xfrm>
            <a:off x="5394960" y="868680"/>
            <a:ext cx="3383280" cy="2011680"/>
          </a:xfrm>
          <a:prstGeom prst="rect">
            <a:avLst/>
          </a:prstGeom>
        </p:spPr>
      </p:pic>
      <p:pic>
        <p:nvPicPr>
          <p:cNvPr id="11" name="Four-bar hands (CAD)" descr="Four-bar hands (CAD)">    </p:cNvPr>
          <p:cNvPicPr>
            <a:picLocks noChangeAspect="1"/>
          </p:cNvPicPr>
          <p:nvPr/>
        </p:nvPicPr>
        <p:blipFill>
          <a:blip r:embed="rId2"/>
          <a:stretch>
            <a:fillRect/>
          </a:stretch>
        </p:blipFill>
        <p:spPr>
          <a:xfrm>
            <a:off x="5524303" y="2990088"/>
            <a:ext cx="808114" cy="1389888"/>
          </a:xfrm>
          <a:prstGeom prst="rect">
            <a:avLst/>
          </a:prstGeom>
        </p:spPr>
      </p:pic>
      <p:pic>
        <p:nvPicPr>
          <p:cNvPr id="12" name="The v6 clamp (CAD)" descr="The v6 clamp (CAD)">    </p:cNvPr>
          <p:cNvPicPr>
            <a:picLocks noChangeAspect="1"/>
          </p:cNvPicPr>
          <p:nvPr/>
        </p:nvPicPr>
        <p:blipFill>
          <a:blip r:embed="rId3"/>
          <a:stretch>
            <a:fillRect/>
          </a:stretch>
        </p:blipFill>
        <p:spPr>
          <a:xfrm>
            <a:off x="6871959" y="2990088"/>
            <a:ext cx="429282" cy="1389888"/>
          </a:xfrm>
          <a:prstGeom prst="rect">
            <a:avLst/>
          </a:prstGeom>
        </p:spPr>
      </p:pic>
      <p:pic>
        <p:nvPicPr>
          <p:cNvPr id="13" name="Electronics housing open" descr="Electronics housing open">    </p:cNvPr>
          <p:cNvPicPr>
            <a:picLocks noChangeAspect="1"/>
          </p:cNvPicPr>
          <p:nvPr/>
        </p:nvPicPr>
        <p:blipFill>
          <a:blip r:embed="rId4"/>
          <a:srcRect l="0" r="0" t="0" b="0"/>
          <a:stretch/>
        </p:blipFill>
        <p:spPr>
          <a:xfrm>
            <a:off x="7711440" y="2990088"/>
            <a:ext cx="1066800" cy="1389888"/>
          </a:xfrm>
          <a:prstGeom prst="rect">
            <a:avLst/>
          </a:prstGeom>
        </p:spPr>
      </p:pic>
      <p:sp>
        <p:nvSpPr>
          <p:cNvPr id="14" name="caption"/>
          <p:cNvSpPr txBox="1"/>
          <p:nvPr/>
        </p:nvSpPr>
        <p:spPr>
          <a:xfrm>
            <a:off x="5394960" y="4416552"/>
            <a:ext cx="3383280" cy="201168"/>
          </a:xfrm>
          <a:prstGeom prst="rect">
            <a:avLst/>
          </a:prstGeom>
          <a:noFill/>
          <a:ln/>
        </p:spPr>
        <p:txBody>
          <a:bodyPr wrap="square" lIns="0" tIns="0" rIns="0" bIns="0" rtlCol="0" anchor="ctr"/>
          <a:lstStyle/>
          <a:p>
            <a:pPr algn="l" indent="0" marL="0">
              <a:buNone/>
            </a:pPr>
            <a:r>
              <a:rPr lang="en-US" sz="850" dirty="0">
                <a:solidFill>
                  <a:schemeClr val="tx2"/>
                </a:solidFill>
              </a:rPr>
              <a:t>Assembled; the hands (CAD); the v6 clamp (CAD); the housing open</a:t>
            </a:r>
            <a:endParaRPr lang="en-US" sz="850" dirty="0"/>
          </a:p>
        </p:txBody>
      </p:sp>
      <p:sp>
        <p:nvSpPr>
          <p:cNvPr id="25" name="Slide Number Placeholder 0"/>
          <p:cNvSpPr>
            <a:spLocks noGrp="1"/>
          </p:cNvSpPr>
          <p:nvPr>
            <p:ph type="sldNum" sz="quarter" idx="4294967295"/>
          </p:nvPr>
        </p:nvSpPr>
        <p:spPr>
          <a:xfrm>
            <a:off x="8229600" y="4846320"/>
            <a:ext cx="548640" cy="297180"/>
          </a:xfrm>
          <a:prstGeom prst="rect">
            <a:avLst/>
          </a:prstGeom>
          <a:extLst>
            <a:ext uri="{C572A759-6A51-4108-AA02-DFA0A04FC94B}">
              <ma14:wrappingTextBoxFlag xmlns:ma14="http://schemas.microsoft.com/office/mac/drawingml/2011/main" val="0"/>
            </a:ext>
          </a:extLst>
        </p:spPr>
        <p:txBody>
          <a:bodyPr anchor="ctr"/>
          <a:lstStyle>
            <a:lvl1pPr>
              <a:defRPr sz="800">
                <a:solidFill>
                  <a:srgbClr val="FFFFFF"/>
                </a:solidFill>
                <a:latin typeface="Arial"/>
                <a:ea typeface="Arial"/>
                <a:cs typeface="Aria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2"/>
          <p:cNvSpPr/>
          <p:nvPr>
            <p:ph idx="102" type="title" hasCustomPrompt="1"/>
          </p:nvPr>
        </p:nvSpPr>
        <p:spPr>
          <a:xfrm>
            <a:off x="365760" y="256032"/>
            <a:ext cx="8412480" cy="502920"/>
          </a:xfrm>
          <a:prstGeom prst="rect">
            <a:avLst/>
          </a:prstGeom>
          <a:noFill/>
          <a:ln/>
        </p:spPr>
        <p:txBody>
          <a:bodyPr wrap="square" lIns="0" tIns="0" rIns="0" bIns="0" rtlCol="0" anchor="ctr"/>
          <a:lstStyle/>
          <a:p>
            <a:pPr algn="l" indent="0" marL="0">
              <a:buNone/>
            </a:pPr>
            <a:r>
              <a:rPr lang="en-US" sz="2400" b="1" dirty="0">
                <a:solidFill>
                  <a:srgbClr val="000000"/>
                </a:solidFill>
                <a:latin typeface="Arial" pitchFamily="34" charset="0"/>
                <a:ea typeface="Arial" pitchFamily="34" charset="-122"/>
                <a:cs typeface="Arial" pitchFamily="34" charset="-120"/>
              </a:rPr>
              <a:t>Electrical and testing: on the bench</a:t>
            </a:r>
            <a:endParaRPr lang="en-US" sz="2400" dirty="0"/>
          </a:p>
        </p:txBody>
      </p:sp>
      <p:sp>
        <p:nvSpPr>
          <p:cNvPr id="4" name="card Station bench"/>
          <p:cNvSpPr/>
          <p:nvPr/>
        </p:nvSpPr>
        <p:spPr>
          <a:xfrm>
            <a:off x="365760" y="868680"/>
            <a:ext cx="2560320" cy="3749040"/>
          </a:xfrm>
          <a:prstGeom prst="roundRect">
            <a:avLst>
              <a:gd name="adj" fmla="val 2143"/>
            </a:avLst>
          </a:prstGeom>
          <a:solidFill>
            <a:schemeClr val="bg2"/>
          </a:solidFill>
          <a:ln w="12700">
            <a:solidFill>
              <a:schemeClr val="bg2"/>
            </a:solidFill>
            <a:prstDash val="solid"/>
          </a:ln>
        </p:spPr>
      </p:sp>
      <p:sp>
        <p:nvSpPr>
          <p:cNvPr id="5" name="heading Station bench"/>
          <p:cNvSpPr txBox="1"/>
          <p:nvPr/>
        </p:nvSpPr>
        <p:spPr>
          <a:xfrm>
            <a:off x="512064" y="960120"/>
            <a:ext cx="2267712" cy="274320"/>
          </a:xfrm>
          <a:prstGeom prst="rect">
            <a:avLst/>
          </a:prstGeom>
          <a:noFill/>
          <a:ln/>
        </p:spPr>
        <p:txBody>
          <a:bodyPr wrap="square" lIns="0" tIns="0" rIns="0" bIns="0" rtlCol="0" anchor="ctr"/>
          <a:lstStyle/>
          <a:p>
            <a:pPr indent="0" marL="0">
              <a:buNone/>
            </a:pPr>
            <a:r>
              <a:rPr lang="en-US" sz="1250" b="1" dirty="0">
                <a:solidFill>
                  <a:schemeClr val="tx1"/>
                </a:solidFill>
              </a:rPr>
              <a:t>Station bench</a:t>
            </a:r>
            <a:endParaRPr lang="en-US" sz="1250" dirty="0"/>
          </a:p>
        </p:txBody>
      </p:sp>
      <p:sp>
        <p:nvSpPr>
          <p:cNvPr id="6" name="bullets Station bench"/>
          <p:cNvSpPr txBox="1"/>
          <p:nvPr/>
        </p:nvSpPr>
        <p:spPr>
          <a:xfrm>
            <a:off x="512064" y="1271016"/>
            <a:ext cx="2267712" cy="3255264"/>
          </a:xfrm>
          <a:prstGeom prst="rect">
            <a:avLst/>
          </a:prstGeom>
          <a:noFill/>
          <a:ln/>
        </p:spPr>
        <p:txBody>
          <a:bodyPr wrap="square" lIns="0" tIns="0" rIns="25400" bIns="0" rtlCol="0" anchor="t"/>
          <a:lstStyle/>
          <a:p>
            <a:pPr algn="l" marL="152400" indent="-152400">
              <a:spcAft>
                <a:spcPts val="400"/>
              </a:spcAft>
              <a:buSzPct val="100000"/>
              <a:buChar char="•"/>
            </a:pPr>
            <a:r>
              <a:rPr lang="en-US" sz="1100" dirty="0">
                <a:solidFill>
                  <a:schemeClr val="tx1"/>
                </a:solidFill>
              </a:rPr>
              <a:t>Driver off at boot: a reset cannot move a motor</a:t>
            </a:r>
            <a:endParaRPr lang="en-US" sz="1100" dirty="0"/>
          </a:p>
          <a:p>
            <a:pPr algn="l" marL="152400" indent="-152400">
              <a:spcAft>
                <a:spcPts val="400"/>
              </a:spcAft>
              <a:buSzPct val="100000"/>
              <a:buChar char="•"/>
            </a:pPr>
            <a:r>
              <a:rPr lang="en-US" sz="1100" dirty="0">
                <a:solidFill>
                  <a:schemeClr val="tx1"/>
                </a:solidFill>
              </a:rPr>
              <a:t>Switch logic: LOW at rest, HIGH pressed or with a broken wire</a:t>
            </a:r>
            <a:endParaRPr lang="en-US" sz="1100" dirty="0"/>
          </a:p>
          <a:p>
            <a:pPr algn="l" marL="152400" indent="-152400">
              <a:spcAft>
                <a:spcPts val="400"/>
              </a:spcAft>
              <a:buSzPct val="100000"/>
              <a:buChar char="•"/>
            </a:pPr>
            <a:r>
              <a:rPr lang="en-US" sz="1100" dirty="0">
                <a:solidFill>
                  <a:schemeClr val="tx1"/>
                </a:solidFill>
              </a:rPr>
              <a:t>Encoder answers, magnet detected</a:t>
            </a:r>
            <a:endParaRPr lang="en-US" sz="1100" dirty="0"/>
          </a:p>
          <a:p>
            <a:pPr algn="l" marL="152400" indent="-152400">
              <a:spcAft>
                <a:spcPts val="400"/>
              </a:spcAft>
              <a:buSzPct val="100000"/>
              <a:buChar char="•"/>
            </a:pPr>
            <a:r>
              <a:rPr lang="en-US" sz="1100" dirty="0">
                <a:solidFill>
                  <a:schemeClr val="tx1"/>
                </a:solidFill>
              </a:rPr>
              <a:t>One spool turn within 60 counts: PASS on both boards (measured)</a:t>
            </a:r>
            <a:endParaRPr lang="en-US" sz="1100" dirty="0"/>
          </a:p>
          <a:p>
            <a:pPr algn="l" marL="152400" indent="-152400">
              <a:spcAft>
                <a:spcPts val="400"/>
              </a:spcAft>
              <a:buSzPct val="100000"/>
              <a:buChar char="•"/>
            </a:pPr>
            <a:r>
              <a:rPr lang="en-US" sz="1100" dirty="0">
                <a:solidFill>
                  <a:schemeClr val="tx1"/>
                </a:solidFill>
              </a:rPr>
              <a:t>A motor that logged steps but did not turn: logic rail at 1.14 V, not 3.3 V; VDD now soldered and measured first</a:t>
            </a:r>
            <a:endParaRPr lang="en-US" sz="1100" dirty="0"/>
          </a:p>
        </p:txBody>
      </p:sp>
      <p:sp>
        <p:nvSpPr>
          <p:cNvPr id="7" name="card Claw bench"/>
          <p:cNvSpPr/>
          <p:nvPr/>
        </p:nvSpPr>
        <p:spPr>
          <a:xfrm>
            <a:off x="3108960" y="868680"/>
            <a:ext cx="2560320" cy="3749040"/>
          </a:xfrm>
          <a:prstGeom prst="roundRect">
            <a:avLst>
              <a:gd name="adj" fmla="val 2143"/>
            </a:avLst>
          </a:prstGeom>
          <a:solidFill>
            <a:schemeClr val="bg2"/>
          </a:solidFill>
          <a:ln w="12700">
            <a:solidFill>
              <a:schemeClr val="bg2"/>
            </a:solidFill>
            <a:prstDash val="solid"/>
          </a:ln>
        </p:spPr>
      </p:sp>
      <p:sp>
        <p:nvSpPr>
          <p:cNvPr id="8" name="heading Claw bench"/>
          <p:cNvSpPr txBox="1"/>
          <p:nvPr/>
        </p:nvSpPr>
        <p:spPr>
          <a:xfrm>
            <a:off x="3255264" y="960120"/>
            <a:ext cx="2267712" cy="274320"/>
          </a:xfrm>
          <a:prstGeom prst="rect">
            <a:avLst/>
          </a:prstGeom>
          <a:noFill/>
          <a:ln/>
        </p:spPr>
        <p:txBody>
          <a:bodyPr wrap="square" lIns="0" tIns="0" rIns="0" bIns="0" rtlCol="0" anchor="ctr"/>
          <a:lstStyle/>
          <a:p>
            <a:pPr indent="0" marL="0">
              <a:buNone/>
            </a:pPr>
            <a:r>
              <a:rPr lang="en-US" sz="1250" b="1" dirty="0">
                <a:solidFill>
                  <a:schemeClr val="tx1"/>
                </a:solidFill>
              </a:rPr>
              <a:t>Claw bench</a:t>
            </a:r>
            <a:endParaRPr lang="en-US" sz="1250" dirty="0"/>
          </a:p>
        </p:txBody>
      </p:sp>
      <p:sp>
        <p:nvSpPr>
          <p:cNvPr id="9" name="bullets Claw bench"/>
          <p:cNvSpPr txBox="1"/>
          <p:nvPr/>
        </p:nvSpPr>
        <p:spPr>
          <a:xfrm>
            <a:off x="3255264" y="1271016"/>
            <a:ext cx="2267712" cy="3255264"/>
          </a:xfrm>
          <a:prstGeom prst="rect">
            <a:avLst/>
          </a:prstGeom>
          <a:noFill/>
          <a:ln/>
        </p:spPr>
        <p:txBody>
          <a:bodyPr wrap="square" lIns="0" tIns="0" rIns="25400" bIns="0" rtlCol="0" anchor="t"/>
          <a:lstStyle/>
          <a:p>
            <a:pPr algn="l" marL="152400" indent="-152400">
              <a:spcAft>
                <a:spcPts val="500"/>
              </a:spcAft>
              <a:buSzPct val="100000"/>
              <a:buChar char="•"/>
            </a:pPr>
            <a:r>
              <a:rPr lang="en-US" sz="1100" dirty="0">
                <a:solidFill>
                  <a:schemeClr val="tx1"/>
                </a:solidFill>
              </a:rPr>
              <a:t>Live view from the claw camera on the phone</a:t>
            </a:r>
            <a:endParaRPr lang="en-US" sz="1100" dirty="0"/>
          </a:p>
          <a:p>
            <a:pPr algn="l" marL="152400" indent="-152400">
              <a:spcAft>
                <a:spcPts val="500"/>
              </a:spcAft>
              <a:buSzPct val="100000"/>
              <a:buChar char="•"/>
            </a:pPr>
            <a:r>
              <a:rPr lang="en-US" sz="1100" dirty="0">
                <a:solidFill>
                  <a:schemeClr val="tx1"/>
                </a:solidFill>
              </a:rPr>
              <a:t>Battery 7.2 V read through the divider, matching the meter (measured)</a:t>
            </a:r>
            <a:endParaRPr lang="en-US" sz="1100" dirty="0"/>
          </a:p>
          <a:p>
            <a:pPr algn="l" marL="152400" indent="-152400">
              <a:spcAft>
                <a:spcPts val="500"/>
              </a:spcAft>
              <a:buSzPct val="100000"/>
              <a:buChar char="•"/>
            </a:pPr>
            <a:r>
              <a:rPr lang="en-US" sz="1100" dirty="0">
                <a:solidFill>
                  <a:schemeClr val="tx1"/>
                </a:solidFill>
              </a:rPr>
              <a:t>The servo only moved once it had its own hardware timer; the camera owned the first</a:t>
            </a:r>
            <a:endParaRPr lang="en-US" sz="1100" dirty="0"/>
          </a:p>
          <a:p>
            <a:pPr algn="l" marL="152400" indent="-152400">
              <a:spcAft>
                <a:spcPts val="500"/>
              </a:spcAft>
              <a:buSzPct val="100000"/>
              <a:buChar char="•"/>
            </a:pPr>
            <a:r>
              <a:rPr lang="en-US" sz="1100" dirty="0">
                <a:solidFill>
                  <a:schemeClr val="tx1"/>
                </a:solidFill>
              </a:rPr>
              <a:t>Still open: servo end points unmeasured; camera not yet calibrated</a:t>
            </a:r>
            <a:endParaRPr lang="en-US" sz="1100" dirty="0"/>
          </a:p>
        </p:txBody>
      </p:sp>
      <p:pic>
        <p:nvPicPr>
          <p:cNvPr id="10" name="Bench: two stations, laptop, meter, 12 V" descr="Bench: two stations, laptop, meter, 12 V supply">    </p:cNvPr>
          <p:cNvPicPr>
            <a:picLocks noChangeAspect="1"/>
          </p:cNvPicPr>
          <p:nvPr/>
        </p:nvPicPr>
        <p:blipFill>
          <a:blip r:embed="rId1"/>
          <a:srcRect l="0" r="0" t="0" b="0"/>
          <a:stretch/>
        </p:blipFill>
        <p:spPr>
          <a:xfrm>
            <a:off x="5852160" y="868680"/>
            <a:ext cx="2926080" cy="1700784"/>
          </a:xfrm>
          <a:prstGeom prst="rect">
            <a:avLst/>
          </a:prstGeom>
        </p:spPr>
      </p:pic>
      <p:pic>
        <p:nvPicPr>
          <p:cNvPr id="11" name="Dev board, driver, spool and end stop" descr="Dev board, driver, spool and end stop">    </p:cNvPr>
          <p:cNvPicPr>
            <a:picLocks noChangeAspect="1"/>
          </p:cNvPicPr>
          <p:nvPr/>
        </p:nvPicPr>
        <p:blipFill>
          <a:blip r:embed="rId2"/>
          <a:srcRect l="0" r="0" t="0" b="0"/>
          <a:stretch/>
        </p:blipFill>
        <p:spPr>
          <a:xfrm>
            <a:off x="5852160" y="2679192"/>
            <a:ext cx="1417320" cy="1700784"/>
          </a:xfrm>
          <a:prstGeom prst="rect">
            <a:avLst/>
          </a:prstGeom>
        </p:spPr>
      </p:pic>
      <p:pic>
        <p:nvPicPr>
          <p:cNvPr id="12" name="Red shell, fused 12 V lead" descr="Red shell, fused 12 V lead">    </p:cNvPr>
          <p:cNvPicPr>
            <a:picLocks noChangeAspect="1"/>
          </p:cNvPicPr>
          <p:nvPr/>
        </p:nvPicPr>
        <p:blipFill>
          <a:blip r:embed="rId3"/>
          <a:srcRect l="0" r="0" t="0" b="0"/>
          <a:stretch/>
        </p:blipFill>
        <p:spPr>
          <a:xfrm>
            <a:off x="7360920" y="2679192"/>
            <a:ext cx="1417320" cy="1700784"/>
          </a:xfrm>
          <a:prstGeom prst="rect">
            <a:avLst/>
          </a:prstGeom>
        </p:spPr>
      </p:pic>
      <p:sp>
        <p:nvSpPr>
          <p:cNvPr id="13" name="caption"/>
          <p:cNvSpPr txBox="1"/>
          <p:nvPr/>
        </p:nvSpPr>
        <p:spPr>
          <a:xfrm>
            <a:off x="5852160" y="4416552"/>
            <a:ext cx="2926080" cy="201168"/>
          </a:xfrm>
          <a:prstGeom prst="rect">
            <a:avLst/>
          </a:prstGeom>
          <a:noFill/>
          <a:ln/>
        </p:spPr>
        <p:txBody>
          <a:bodyPr wrap="square" lIns="0" tIns="0" rIns="0" bIns="0" rtlCol="0" anchor="ctr"/>
          <a:lstStyle/>
          <a:p>
            <a:pPr algn="l" indent="0" marL="0">
              <a:buNone/>
            </a:pPr>
            <a:r>
              <a:rPr lang="en-US" sz="850" dirty="0">
                <a:solidFill>
                  <a:schemeClr val="tx2"/>
                </a:solidFill>
              </a:rPr>
              <a:t>Two stations on the bench; a dev board and spool; the red shell with its fuse</a:t>
            </a:r>
            <a:endParaRPr lang="en-US" sz="850" dirty="0"/>
          </a:p>
        </p:txBody>
      </p:sp>
      <p:sp>
        <p:nvSpPr>
          <p:cNvPr id="25" name="Slide Number Placeholder 0"/>
          <p:cNvSpPr>
            <a:spLocks noGrp="1"/>
          </p:cNvSpPr>
          <p:nvPr>
            <p:ph type="sldNum" sz="quarter" idx="4294967295"/>
          </p:nvPr>
        </p:nvSpPr>
        <p:spPr>
          <a:xfrm>
            <a:off x="8229600" y="4846320"/>
            <a:ext cx="548640" cy="297180"/>
          </a:xfrm>
          <a:prstGeom prst="rect">
            <a:avLst/>
          </a:prstGeom>
          <a:extLst>
            <a:ext uri="{C572A759-6A51-4108-AA02-DFA0A04FC94B}">
              <ma14:wrappingTextBoxFlag xmlns:ma14="http://schemas.microsoft.com/office/mac/drawingml/2011/main" val="0"/>
            </a:ext>
          </a:extLst>
        </p:spPr>
        <p:txBody>
          <a:bodyPr anchor="ctr"/>
          <a:lstStyle>
            <a:lvl1pPr>
              <a:defRPr sz="800">
                <a:solidFill>
                  <a:srgbClr val="FFFFFF"/>
                </a:solidFill>
                <a:latin typeface="Arial"/>
                <a:ea typeface="Arial"/>
                <a:cs typeface="Aria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2"/>
          <p:cNvSpPr/>
          <p:nvPr>
            <p:ph idx="102" type="title" hasCustomPrompt="1"/>
          </p:nvPr>
        </p:nvSpPr>
        <p:spPr>
          <a:xfrm>
            <a:off x="365760" y="256032"/>
            <a:ext cx="8412480" cy="502920"/>
          </a:xfrm>
          <a:prstGeom prst="rect">
            <a:avLst/>
          </a:prstGeom>
          <a:noFill/>
          <a:ln/>
        </p:spPr>
        <p:txBody>
          <a:bodyPr wrap="square" lIns="0" tIns="0" rIns="0" bIns="0" rtlCol="0" anchor="ctr"/>
          <a:lstStyle/>
          <a:p>
            <a:pPr algn="l" indent="0" marL="0">
              <a:buNone/>
            </a:pPr>
            <a:r>
              <a:rPr lang="en-US" sz="2400" b="1" dirty="0">
                <a:solidFill>
                  <a:srgbClr val="000000"/>
                </a:solidFill>
                <a:latin typeface="Arial" pitchFamily="34" charset="0"/>
                <a:ea typeface="Arial" pitchFamily="34" charset="-122"/>
                <a:cs typeface="Arial" pitchFamily="34" charset="-120"/>
              </a:rPr>
              <a:t>Electrical and testing: on the wall</a:t>
            </a:r>
            <a:endParaRPr lang="en-US" sz="2400" dirty="0"/>
          </a:p>
        </p:txBody>
      </p:sp>
      <p:sp>
        <p:nvSpPr>
          <p:cNvPr id="4" name="card Making it work on the wall"/>
          <p:cNvSpPr/>
          <p:nvPr/>
        </p:nvSpPr>
        <p:spPr>
          <a:xfrm>
            <a:off x="365760" y="868680"/>
            <a:ext cx="3291840" cy="3749040"/>
          </a:xfrm>
          <a:prstGeom prst="roundRect">
            <a:avLst>
              <a:gd name="adj" fmla="val 1667"/>
            </a:avLst>
          </a:prstGeom>
          <a:solidFill>
            <a:schemeClr val="bg2"/>
          </a:solidFill>
          <a:ln w="12700">
            <a:solidFill>
              <a:schemeClr val="bg2"/>
            </a:solidFill>
            <a:prstDash val="solid"/>
          </a:ln>
        </p:spPr>
      </p:sp>
      <p:sp>
        <p:nvSpPr>
          <p:cNvPr id="5" name="heading Making it work on the wall"/>
          <p:cNvSpPr txBox="1"/>
          <p:nvPr/>
        </p:nvSpPr>
        <p:spPr>
          <a:xfrm>
            <a:off x="512064" y="960120"/>
            <a:ext cx="2999232" cy="274320"/>
          </a:xfrm>
          <a:prstGeom prst="rect">
            <a:avLst/>
          </a:prstGeom>
          <a:noFill/>
          <a:ln/>
        </p:spPr>
        <p:txBody>
          <a:bodyPr wrap="square" lIns="0" tIns="0" rIns="0" bIns="0" rtlCol="0" anchor="ctr"/>
          <a:lstStyle/>
          <a:p>
            <a:pPr indent="0" marL="0">
              <a:buNone/>
            </a:pPr>
            <a:r>
              <a:rPr lang="en-US" sz="1250" b="1" dirty="0">
                <a:solidFill>
                  <a:schemeClr val="tx1"/>
                </a:solidFill>
              </a:rPr>
              <a:t>Making it work on the wall</a:t>
            </a:r>
            <a:endParaRPr lang="en-US" sz="1250" dirty="0"/>
          </a:p>
        </p:txBody>
      </p:sp>
      <p:sp>
        <p:nvSpPr>
          <p:cNvPr id="6" name="bullets Making it work on the wall"/>
          <p:cNvSpPr txBox="1"/>
          <p:nvPr/>
        </p:nvSpPr>
        <p:spPr>
          <a:xfrm>
            <a:off x="512064" y="1271016"/>
            <a:ext cx="2999232" cy="3255264"/>
          </a:xfrm>
          <a:prstGeom prst="rect">
            <a:avLst/>
          </a:prstGeom>
          <a:noFill/>
          <a:ln/>
        </p:spPr>
        <p:txBody>
          <a:bodyPr wrap="square" lIns="0" tIns="0" rIns="25400" bIns="0" rtlCol="0" anchor="t"/>
          <a:lstStyle/>
          <a:p>
            <a:pPr algn="l" marL="152400" indent="-152400">
              <a:spcAft>
                <a:spcPts val="500"/>
              </a:spcAft>
              <a:buSzPct val="100000"/>
              <a:buChar char="•"/>
            </a:pPr>
            <a:r>
              <a:rPr lang="en-US" sz="1100" dirty="0">
                <a:solidFill>
                  <a:schemeClr val="tx1"/>
                </a:solidFill>
              </a:rPr>
              <a:t>Wi-Fi auto-join: a boxed station boots and joins the network by itself</a:t>
            </a:r>
            <a:endParaRPr lang="en-US" sz="1100" dirty="0"/>
          </a:p>
          <a:p>
            <a:pPr algn="l" marL="152400" indent="-152400">
              <a:spcAft>
                <a:spcPts val="500"/>
              </a:spcAft>
              <a:buSzPct val="100000"/>
              <a:buChar char="•"/>
            </a:pPr>
            <a:r>
              <a:rPr lang="en-US" sz="1100" dirty="0">
                <a:solidFill>
                  <a:schemeClr val="tx1"/>
                </a:solidFill>
              </a:rPr>
              <a:t>OTA: firmware updates arrive over Wi-Fi; no USB cable after boxing</a:t>
            </a:r>
            <a:endParaRPr lang="en-US" sz="1100" dirty="0"/>
          </a:p>
          <a:p>
            <a:pPr algn="l" marL="152400" indent="-152400">
              <a:spcAft>
                <a:spcPts val="500"/>
              </a:spcAft>
              <a:buSzPct val="100000"/>
              <a:buChar char="•"/>
            </a:pPr>
            <a:r>
              <a:rPr lang="en-US" sz="1100" dirty="0">
                <a:solidFill>
                  <a:schemeClr val="tx1"/>
                </a:solidFill>
              </a:rPr>
              <a:t>The motor stays off until the phone arms it</a:t>
            </a:r>
            <a:endParaRPr lang="en-US" sz="1100" dirty="0"/>
          </a:p>
          <a:p>
            <a:pPr algn="l" marL="152400" indent="-152400">
              <a:spcAft>
                <a:spcPts val="500"/>
              </a:spcAft>
              <a:buSzPct val="100000"/>
              <a:buChar char="•"/>
            </a:pPr>
            <a:r>
              <a:rPr lang="en-US" sz="1100" dirty="0">
                <a:solidFill>
                  <a:schemeClr val="tx1"/>
                </a:solidFill>
              </a:rPr>
              <a:t>A station accepts an update only while disarmed</a:t>
            </a:r>
            <a:endParaRPr lang="en-US" sz="1100" dirty="0"/>
          </a:p>
          <a:p>
            <a:pPr algn="l" marL="152400" indent="-152400">
              <a:spcAft>
                <a:spcPts val="500"/>
              </a:spcAft>
              <a:buSzPct val="100000"/>
              <a:buChar char="•"/>
            </a:pPr>
            <a:r>
              <a:rPr lang="en-US" sz="1100" dirty="0">
                <a:solidFill>
                  <a:schemeClr val="tx1"/>
                </a:solidFill>
              </a:rPr>
              <a:t>Still planned: pull test, hold test, first three-station lift</a:t>
            </a:r>
            <a:endParaRPr lang="en-US" sz="1100" dirty="0"/>
          </a:p>
        </p:txBody>
      </p:sp>
      <p:pic>
        <p:nvPicPr>
          <p:cNvPr id="7" name="The first station on the wall" descr="The first station on the wall">    </p:cNvPr>
          <p:cNvPicPr>
            <a:picLocks noChangeAspect="1"/>
          </p:cNvPicPr>
          <p:nvPr/>
        </p:nvPicPr>
        <p:blipFill>
          <a:blip r:embed="rId1"/>
          <a:srcRect l="0" r="0" t="0" b="0"/>
          <a:stretch/>
        </p:blipFill>
        <p:spPr>
          <a:xfrm>
            <a:off x="3886200" y="868680"/>
            <a:ext cx="1557528" cy="3511296"/>
          </a:xfrm>
          <a:prstGeom prst="rect">
            <a:avLst/>
          </a:prstGeom>
        </p:spPr>
      </p:pic>
      <p:sp>
        <p:nvSpPr>
          <p:cNvPr id="8" name="caption"/>
          <p:cNvSpPr txBox="1"/>
          <p:nvPr/>
        </p:nvSpPr>
        <p:spPr>
          <a:xfrm>
            <a:off x="3886200" y="4416552"/>
            <a:ext cx="1557528" cy="201168"/>
          </a:xfrm>
          <a:prstGeom prst="rect">
            <a:avLst/>
          </a:prstGeom>
          <a:noFill/>
          <a:ln/>
        </p:spPr>
        <p:txBody>
          <a:bodyPr wrap="square" lIns="0" tIns="0" rIns="0" bIns="0" rtlCol="0" anchor="ctr"/>
          <a:lstStyle/>
          <a:p>
            <a:pPr algn="l" indent="0" marL="0">
              <a:buNone/>
            </a:pPr>
            <a:r>
              <a:rPr lang="en-US" sz="850" dirty="0">
                <a:solidFill>
                  <a:schemeClr val="tx2"/>
                </a:solidFill>
              </a:rPr>
              <a:t>The first station on the wall</a:t>
            </a:r>
            <a:endParaRPr lang="en-US" sz="850" dirty="0"/>
          </a:p>
        </p:txBody>
      </p:sp>
      <p:pic>
        <p:nvPicPr>
          <p:cNvPr id="9" name="From below, line down" descr="From below, line down">    </p:cNvPr>
          <p:cNvPicPr>
            <a:picLocks noChangeAspect="1"/>
          </p:cNvPicPr>
          <p:nvPr/>
        </p:nvPicPr>
        <p:blipFill>
          <a:blip r:embed="rId2"/>
          <a:srcRect l="0" r="0" t="0" b="0"/>
          <a:stretch/>
        </p:blipFill>
        <p:spPr>
          <a:xfrm>
            <a:off x="5553456" y="868680"/>
            <a:ext cx="1557528" cy="3511296"/>
          </a:xfrm>
          <a:prstGeom prst="rect">
            <a:avLst/>
          </a:prstGeom>
        </p:spPr>
      </p:pic>
      <p:sp>
        <p:nvSpPr>
          <p:cNvPr id="10" name="caption"/>
          <p:cNvSpPr txBox="1"/>
          <p:nvPr/>
        </p:nvSpPr>
        <p:spPr>
          <a:xfrm>
            <a:off x="5553456" y="4416552"/>
            <a:ext cx="1557528" cy="201168"/>
          </a:xfrm>
          <a:prstGeom prst="rect">
            <a:avLst/>
          </a:prstGeom>
          <a:noFill/>
          <a:ln/>
        </p:spPr>
        <p:txBody>
          <a:bodyPr wrap="square" lIns="0" tIns="0" rIns="0" bIns="0" rtlCol="0" anchor="ctr"/>
          <a:lstStyle/>
          <a:p>
            <a:pPr algn="l" indent="0" marL="0">
              <a:buNone/>
            </a:pPr>
            <a:r>
              <a:rPr lang="en-US" sz="850" dirty="0">
                <a:solidFill>
                  <a:schemeClr val="tx2"/>
                </a:solidFill>
              </a:rPr>
              <a:t>From below, line down</a:t>
            </a:r>
            <a:endParaRPr lang="en-US" sz="850" dirty="0"/>
          </a:p>
        </p:txBody>
      </p:sp>
      <p:pic>
        <p:nvPicPr>
          <p:cNvPr id="11" name="A station open: board on the bench" descr="A station open: board on the bench">    </p:cNvPr>
          <p:cNvPicPr>
            <a:picLocks noChangeAspect="1"/>
          </p:cNvPicPr>
          <p:nvPr/>
        </p:nvPicPr>
        <p:blipFill>
          <a:blip r:embed="rId3"/>
          <a:srcRect l="0" r="0" t="0" b="0"/>
          <a:stretch/>
        </p:blipFill>
        <p:spPr>
          <a:xfrm>
            <a:off x="7220712" y="868680"/>
            <a:ext cx="1557528" cy="3511296"/>
          </a:xfrm>
          <a:prstGeom prst="rect">
            <a:avLst/>
          </a:prstGeom>
        </p:spPr>
      </p:pic>
      <p:sp>
        <p:nvSpPr>
          <p:cNvPr id="12" name="caption"/>
          <p:cNvSpPr txBox="1"/>
          <p:nvPr/>
        </p:nvSpPr>
        <p:spPr>
          <a:xfrm>
            <a:off x="7220712" y="4416552"/>
            <a:ext cx="1557528" cy="201168"/>
          </a:xfrm>
          <a:prstGeom prst="rect">
            <a:avLst/>
          </a:prstGeom>
          <a:noFill/>
          <a:ln/>
        </p:spPr>
        <p:txBody>
          <a:bodyPr wrap="square" lIns="0" tIns="0" rIns="0" bIns="0" rtlCol="0" anchor="ctr"/>
          <a:lstStyle/>
          <a:p>
            <a:pPr algn="l" indent="0" marL="0">
              <a:buNone/>
            </a:pPr>
            <a:r>
              <a:rPr lang="en-US" sz="850" dirty="0">
                <a:solidFill>
                  <a:schemeClr val="tx2"/>
                </a:solidFill>
              </a:rPr>
              <a:t>A station open: board on the bench</a:t>
            </a:r>
            <a:endParaRPr lang="en-US" sz="850" dirty="0"/>
          </a:p>
        </p:txBody>
      </p:sp>
      <p:sp>
        <p:nvSpPr>
          <p:cNvPr id="25" name="Slide Number Placeholder 0"/>
          <p:cNvSpPr>
            <a:spLocks noGrp="1"/>
          </p:cNvSpPr>
          <p:nvPr>
            <p:ph type="sldNum" sz="quarter" idx="4294967295"/>
          </p:nvPr>
        </p:nvSpPr>
        <p:spPr>
          <a:xfrm>
            <a:off x="8229600" y="4846320"/>
            <a:ext cx="548640" cy="297180"/>
          </a:xfrm>
          <a:prstGeom prst="rect">
            <a:avLst/>
          </a:prstGeom>
          <a:extLst>
            <a:ext uri="{C572A759-6A51-4108-AA02-DFA0A04FC94B}">
              <ma14:wrappingTextBoxFlag xmlns:ma14="http://schemas.microsoft.com/office/mac/drawingml/2011/main" val="0"/>
            </a:ext>
          </a:extLst>
        </p:spPr>
        <p:txBody>
          <a:bodyPr anchor="ctr"/>
          <a:lstStyle>
            <a:lvl1pPr>
              <a:defRPr sz="800">
                <a:solidFill>
                  <a:srgbClr val="FFFFFF"/>
                </a:solidFill>
                <a:latin typeface="Arial"/>
                <a:ea typeface="Arial"/>
                <a:cs typeface="Aria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2"/>
          <p:cNvSpPr/>
          <p:nvPr>
            <p:ph idx="102" type="title" hasCustomPrompt="1"/>
          </p:nvPr>
        </p:nvSpPr>
        <p:spPr>
          <a:xfrm>
            <a:off x="365760" y="256032"/>
            <a:ext cx="8412480" cy="502920"/>
          </a:xfrm>
          <a:prstGeom prst="rect">
            <a:avLst/>
          </a:prstGeom>
          <a:noFill/>
          <a:ln/>
        </p:spPr>
        <p:txBody>
          <a:bodyPr wrap="square" lIns="0" tIns="0" rIns="0" bIns="0" rtlCol="0" anchor="ctr"/>
          <a:lstStyle/>
          <a:p>
            <a:pPr algn="l" indent="0" marL="0">
              <a:buNone/>
            </a:pPr>
            <a:r>
              <a:rPr lang="en-US" sz="2400" b="1" dirty="0">
                <a:solidFill>
                  <a:srgbClr val="000000"/>
                </a:solidFill>
                <a:latin typeface="Arial" pitchFamily="34" charset="0"/>
                <a:ea typeface="Arial" pitchFamily="34" charset="-122"/>
                <a:cs typeface="Arial" pitchFamily="34" charset="-120"/>
              </a:rPr>
              <a:t>How the claw calibrates itself</a:t>
            </a:r>
            <a:endParaRPr lang="en-US" sz="2400" dirty="0"/>
          </a:p>
        </p:txBody>
      </p:sp>
      <p:sp>
        <p:nvSpPr>
          <p:cNvPr id="4" name="card 1  Am I sitting nicely?"/>
          <p:cNvSpPr/>
          <p:nvPr/>
        </p:nvSpPr>
        <p:spPr>
          <a:xfrm>
            <a:off x="365760" y="868680"/>
            <a:ext cx="2240280" cy="1577340"/>
          </a:xfrm>
          <a:prstGeom prst="roundRect">
            <a:avLst>
              <a:gd name="adj" fmla="val 3478"/>
            </a:avLst>
          </a:prstGeom>
          <a:solidFill>
            <a:schemeClr val="bg2"/>
          </a:solidFill>
          <a:ln w="12700">
            <a:solidFill>
              <a:schemeClr val="bg2"/>
            </a:solidFill>
            <a:prstDash val="solid"/>
          </a:ln>
        </p:spPr>
      </p:sp>
      <p:sp>
        <p:nvSpPr>
          <p:cNvPr id="5" name="heading 1  Am I sitting nicely?"/>
          <p:cNvSpPr txBox="1"/>
          <p:nvPr/>
        </p:nvSpPr>
        <p:spPr>
          <a:xfrm>
            <a:off x="512064" y="960120"/>
            <a:ext cx="1947672" cy="274320"/>
          </a:xfrm>
          <a:prstGeom prst="rect">
            <a:avLst/>
          </a:prstGeom>
          <a:noFill/>
          <a:ln/>
        </p:spPr>
        <p:txBody>
          <a:bodyPr wrap="square" lIns="0" tIns="0" rIns="0" bIns="0" rtlCol="0" anchor="ctr"/>
          <a:lstStyle/>
          <a:p>
            <a:pPr indent="0" marL="0">
              <a:buNone/>
            </a:pPr>
            <a:r>
              <a:rPr lang="en-US" sz="1100" b="1" dirty="0">
                <a:solidFill>
                  <a:schemeClr val="tx1"/>
                </a:solidFill>
              </a:rPr>
              <a:t>1  Am I sitting nicely?</a:t>
            </a:r>
            <a:endParaRPr lang="en-US" sz="1100" dirty="0"/>
          </a:p>
        </p:txBody>
      </p:sp>
      <p:sp>
        <p:nvSpPr>
          <p:cNvPr id="6" name="bullets 1  Am I sitting nicely?"/>
          <p:cNvSpPr txBox="1"/>
          <p:nvPr/>
        </p:nvSpPr>
        <p:spPr>
          <a:xfrm>
            <a:off x="512064" y="1271016"/>
            <a:ext cx="1947672" cy="1083564"/>
          </a:xfrm>
          <a:prstGeom prst="rect">
            <a:avLst/>
          </a:prstGeom>
          <a:noFill/>
          <a:ln/>
        </p:spPr>
        <p:txBody>
          <a:bodyPr wrap="square" lIns="0" tIns="0" rIns="25400" bIns="0" rtlCol="0" anchor="t"/>
          <a:lstStyle/>
          <a:p>
            <a:pPr algn="l" marL="152400" indent="-152400">
              <a:spcAft>
                <a:spcPts val="300"/>
              </a:spcAft>
              <a:buSzPct val="100000"/>
              <a:buChar char="•"/>
            </a:pPr>
            <a:r>
              <a:rPr lang="en-US" sz="1000" dirty="0">
                <a:solidFill>
                  <a:schemeClr val="tx1"/>
                </a:solidFill>
              </a:rPr>
              <a:t>Camera: upright, right height on the mat</a:t>
            </a:r>
            <a:endParaRPr lang="en-US" sz="1000" dirty="0"/>
          </a:p>
          <a:p>
            <a:pPr algn="l" marL="152400" indent="-152400">
              <a:spcAft>
                <a:spcPts val="300"/>
              </a:spcAft>
              <a:buSzPct val="100000"/>
              <a:buChar char="•"/>
            </a:pPr>
            <a:r>
              <a:rPr lang="en-US" sz="1000" dirty="0">
                <a:solidFill>
                  <a:schemeClr val="tx1"/>
                </a:solidFill>
              </a:rPr>
              <a:t>Every station awake, healthy, switch closed</a:t>
            </a:r>
            <a:endParaRPr lang="en-US" sz="1000" dirty="0"/>
          </a:p>
          <a:p>
            <a:pPr algn="l" marL="152400" indent="-152400">
              <a:spcAft>
                <a:spcPts val="300"/>
              </a:spcAft>
              <a:buSzPct val="100000"/>
              <a:buChar char="•"/>
            </a:pPr>
            <a:r>
              <a:rPr lang="en-US" sz="1000" dirty="0">
                <a:solidFill>
                  <a:schemeClr val="tx1"/>
                </a:solidFill>
              </a:rPr>
              <a:t>Only then: motors armed</a:t>
            </a:r>
            <a:endParaRPr lang="en-US" sz="1000" dirty="0"/>
          </a:p>
        </p:txBody>
      </p:sp>
      <p:sp>
        <p:nvSpPr>
          <p:cNvPr id="7" name="card 2  Who is pulling me?"/>
          <p:cNvSpPr/>
          <p:nvPr/>
        </p:nvSpPr>
        <p:spPr>
          <a:xfrm>
            <a:off x="2743200" y="868680"/>
            <a:ext cx="2240280" cy="1577340"/>
          </a:xfrm>
          <a:prstGeom prst="roundRect">
            <a:avLst>
              <a:gd name="adj" fmla="val 3478"/>
            </a:avLst>
          </a:prstGeom>
          <a:solidFill>
            <a:schemeClr val="bg2"/>
          </a:solidFill>
          <a:ln w="12700">
            <a:solidFill>
              <a:schemeClr val="bg2"/>
            </a:solidFill>
            <a:prstDash val="solid"/>
          </a:ln>
        </p:spPr>
      </p:sp>
      <p:sp>
        <p:nvSpPr>
          <p:cNvPr id="8" name="heading 2  Who is pulling me?"/>
          <p:cNvSpPr txBox="1"/>
          <p:nvPr/>
        </p:nvSpPr>
        <p:spPr>
          <a:xfrm>
            <a:off x="2889504" y="960120"/>
            <a:ext cx="1947672" cy="274320"/>
          </a:xfrm>
          <a:prstGeom prst="rect">
            <a:avLst/>
          </a:prstGeom>
          <a:noFill/>
          <a:ln/>
        </p:spPr>
        <p:txBody>
          <a:bodyPr wrap="square" lIns="0" tIns="0" rIns="0" bIns="0" rtlCol="0" anchor="ctr"/>
          <a:lstStyle/>
          <a:p>
            <a:pPr indent="0" marL="0">
              <a:buNone/>
            </a:pPr>
            <a:r>
              <a:rPr lang="en-US" sz="1100" b="1" dirty="0">
                <a:solidFill>
                  <a:schemeClr val="tx1"/>
                </a:solidFill>
              </a:rPr>
              <a:t>2  Who is pulling me?</a:t>
            </a:r>
            <a:endParaRPr lang="en-US" sz="1100" dirty="0"/>
          </a:p>
        </p:txBody>
      </p:sp>
      <p:sp>
        <p:nvSpPr>
          <p:cNvPr id="9" name="bullets 2  Who is pulling me?"/>
          <p:cNvSpPr txBox="1"/>
          <p:nvPr/>
        </p:nvSpPr>
        <p:spPr>
          <a:xfrm>
            <a:off x="2889504" y="1271016"/>
            <a:ext cx="1947672" cy="1083564"/>
          </a:xfrm>
          <a:prstGeom prst="rect">
            <a:avLst/>
          </a:prstGeom>
          <a:noFill/>
          <a:ln/>
        </p:spPr>
        <p:txBody>
          <a:bodyPr wrap="square" lIns="0" tIns="0" rIns="25400" bIns="0" rtlCol="0" anchor="t"/>
          <a:lstStyle/>
          <a:p>
            <a:pPr algn="l" marL="152400" indent="-152400">
              <a:spcAft>
                <a:spcPts val="300"/>
              </a:spcAft>
              <a:buSzPct val="100000"/>
              <a:buChar char="•"/>
            </a:pPr>
            <a:r>
              <a:rPr lang="en-US" sz="1000" dirty="0">
                <a:solidFill>
                  <a:schemeClr val="tx1"/>
                </a:solidFill>
              </a:rPr>
              <a:t>One station at a time reels in until the claw just slides or tips</a:t>
            </a:r>
            <a:endParaRPr lang="en-US" sz="1000" dirty="0"/>
          </a:p>
          <a:p>
            <a:pPr algn="l" marL="152400" indent="-152400">
              <a:spcAft>
                <a:spcPts val="300"/>
              </a:spcAft>
              <a:buSzPct val="100000"/>
              <a:buChar char="•"/>
            </a:pPr>
            <a:r>
              <a:rPr lang="en-US" sz="1000" dirty="0">
                <a:solidFill>
                  <a:schemeClr val="tx1"/>
                </a:solidFill>
              </a:rPr>
              <a:t>That gives each cable's length and direction</a:t>
            </a:r>
            <a:endParaRPr lang="en-US" sz="1000" dirty="0"/>
          </a:p>
          <a:p>
            <a:pPr algn="l" marL="152400" indent="-152400">
              <a:spcAft>
                <a:spcPts val="300"/>
              </a:spcAft>
              <a:buSzPct val="100000"/>
              <a:buChar char="•"/>
            </a:pPr>
            <a:r>
              <a:rPr lang="en-US" sz="1000" dirty="0">
                <a:solidFill>
                  <a:schemeClr val="tx1"/>
                </a:solidFill>
              </a:rPr>
              <a:t>No tug in the slack budget: cable not attached</a:t>
            </a:r>
            <a:endParaRPr lang="en-US" sz="1000" dirty="0"/>
          </a:p>
        </p:txBody>
      </p:sp>
      <p:sp>
        <p:nvSpPr>
          <p:cNvPr id="10" name="card 3  Up we go, a little"/>
          <p:cNvSpPr/>
          <p:nvPr/>
        </p:nvSpPr>
        <p:spPr>
          <a:xfrm>
            <a:off x="5120640" y="868680"/>
            <a:ext cx="2240280" cy="1577340"/>
          </a:xfrm>
          <a:prstGeom prst="roundRect">
            <a:avLst>
              <a:gd name="adj" fmla="val 3478"/>
            </a:avLst>
          </a:prstGeom>
          <a:solidFill>
            <a:schemeClr val="bg2"/>
          </a:solidFill>
          <a:ln w="12700">
            <a:solidFill>
              <a:schemeClr val="bg2"/>
            </a:solidFill>
            <a:prstDash val="solid"/>
          </a:ln>
        </p:spPr>
      </p:sp>
      <p:sp>
        <p:nvSpPr>
          <p:cNvPr id="11" name="heading 3  Up we go, a little"/>
          <p:cNvSpPr txBox="1"/>
          <p:nvPr/>
        </p:nvSpPr>
        <p:spPr>
          <a:xfrm>
            <a:off x="5266944" y="960120"/>
            <a:ext cx="1947672" cy="274320"/>
          </a:xfrm>
          <a:prstGeom prst="rect">
            <a:avLst/>
          </a:prstGeom>
          <a:noFill/>
          <a:ln/>
        </p:spPr>
        <p:txBody>
          <a:bodyPr wrap="square" lIns="0" tIns="0" rIns="0" bIns="0" rtlCol="0" anchor="ctr"/>
          <a:lstStyle/>
          <a:p>
            <a:pPr indent="0" marL="0">
              <a:buNone/>
            </a:pPr>
            <a:r>
              <a:rPr lang="en-US" sz="1100" b="1" dirty="0">
                <a:solidFill>
                  <a:schemeClr val="tx1"/>
                </a:solidFill>
              </a:rPr>
              <a:t>3  Up we go, a little</a:t>
            </a:r>
            <a:endParaRPr lang="en-US" sz="1100" dirty="0"/>
          </a:p>
        </p:txBody>
      </p:sp>
      <p:sp>
        <p:nvSpPr>
          <p:cNvPr id="12" name="bullets 3  Up we go, a little"/>
          <p:cNvSpPr txBox="1"/>
          <p:nvPr/>
        </p:nvSpPr>
        <p:spPr>
          <a:xfrm>
            <a:off x="5266944" y="1271016"/>
            <a:ext cx="1947672" cy="1083564"/>
          </a:xfrm>
          <a:prstGeom prst="rect">
            <a:avLst/>
          </a:prstGeom>
          <a:noFill/>
          <a:ln/>
        </p:spPr>
        <p:txBody>
          <a:bodyPr wrap="square" lIns="0" tIns="0" rIns="25400" bIns="0" rtlCol="0" anchor="t"/>
          <a:lstStyle/>
          <a:p>
            <a:pPr algn="l" marL="152400" indent="-152400">
              <a:spcAft>
                <a:spcPts val="300"/>
              </a:spcAft>
              <a:buSzPct val="100000"/>
              <a:buChar char="•"/>
            </a:pPr>
            <a:r>
              <a:rPr lang="en-US" sz="1000" dirty="0">
                <a:solidFill>
                  <a:schemeClr val="tx1"/>
                </a:solidFill>
              </a:rPr>
              <a:t>All cables tighten together, a few mm at a time</a:t>
            </a:r>
            <a:endParaRPr lang="en-US" sz="1000" dirty="0"/>
          </a:p>
          <a:p>
            <a:pPr algn="l" marL="152400" indent="-152400">
              <a:spcAft>
                <a:spcPts val="300"/>
              </a:spcAft>
              <a:buSzPct val="100000"/>
              <a:buChar char="•"/>
            </a:pPr>
            <a:r>
              <a:rPr lang="en-US" sz="1000" dirty="0">
                <a:solidFill>
                  <a:schemeClr val="tx1"/>
                </a:solidFill>
              </a:rPr>
              <a:t>Camera checks: rose as commanded, no drift, no tilt</a:t>
            </a:r>
            <a:endParaRPr lang="en-US" sz="1000" dirty="0"/>
          </a:p>
        </p:txBody>
      </p:sp>
      <p:sp>
        <p:nvSpPr>
          <p:cNvPr id="13" name="card 4  One good look"/>
          <p:cNvSpPr/>
          <p:nvPr/>
        </p:nvSpPr>
        <p:spPr>
          <a:xfrm>
            <a:off x="365760" y="2583180"/>
            <a:ext cx="2240280" cy="1577340"/>
          </a:xfrm>
          <a:prstGeom prst="roundRect">
            <a:avLst>
              <a:gd name="adj" fmla="val 3478"/>
            </a:avLst>
          </a:prstGeom>
          <a:solidFill>
            <a:schemeClr val="bg2"/>
          </a:solidFill>
          <a:ln w="12700">
            <a:solidFill>
              <a:schemeClr val="bg2"/>
            </a:solidFill>
            <a:prstDash val="solid"/>
          </a:ln>
        </p:spPr>
      </p:sp>
      <p:sp>
        <p:nvSpPr>
          <p:cNvPr id="14" name="heading 4  One good look"/>
          <p:cNvSpPr txBox="1"/>
          <p:nvPr/>
        </p:nvSpPr>
        <p:spPr>
          <a:xfrm>
            <a:off x="512064" y="2674620"/>
            <a:ext cx="1947672" cy="274320"/>
          </a:xfrm>
          <a:prstGeom prst="rect">
            <a:avLst/>
          </a:prstGeom>
          <a:noFill/>
          <a:ln/>
        </p:spPr>
        <p:txBody>
          <a:bodyPr wrap="square" lIns="0" tIns="0" rIns="0" bIns="0" rtlCol="0" anchor="ctr"/>
          <a:lstStyle/>
          <a:p>
            <a:pPr indent="0" marL="0">
              <a:buNone/>
            </a:pPr>
            <a:r>
              <a:rPr lang="en-US" sz="1100" b="1" dirty="0">
                <a:solidFill>
                  <a:schemeClr val="tx1"/>
                </a:solidFill>
              </a:rPr>
              <a:t>4  One good look</a:t>
            </a:r>
            <a:endParaRPr lang="en-US" sz="1100" dirty="0"/>
          </a:p>
        </p:txBody>
      </p:sp>
      <p:sp>
        <p:nvSpPr>
          <p:cNvPr id="15" name="bullets 4  One good look"/>
          <p:cNvSpPr txBox="1"/>
          <p:nvPr/>
        </p:nvSpPr>
        <p:spPr>
          <a:xfrm>
            <a:off x="512064" y="2985516"/>
            <a:ext cx="1947672" cy="1083564"/>
          </a:xfrm>
          <a:prstGeom prst="rect">
            <a:avLst/>
          </a:prstGeom>
          <a:noFill/>
          <a:ln/>
        </p:spPr>
        <p:txBody>
          <a:bodyPr wrap="square" lIns="0" tIns="0" rIns="25400" bIns="0" rtlCol="0" anchor="t"/>
          <a:lstStyle/>
          <a:p>
            <a:pPr algn="l" marL="152400" indent="-152400">
              <a:spcAft>
                <a:spcPts val="300"/>
              </a:spcAft>
              <a:buSzPct val="100000"/>
              <a:buChar char="•"/>
            </a:pPr>
            <a:r>
              <a:rPr lang="en-US" sz="1000" dirty="0">
                <a:solidFill>
                  <a:schemeClr val="tx1"/>
                </a:solidFill>
              </a:rPr>
              <a:t>Hanging still, a careful look at the mat</a:t>
            </a:r>
            <a:endParaRPr lang="en-US" sz="1000" dirty="0"/>
          </a:p>
          <a:p>
            <a:pPr algn="l" marL="152400" indent="-152400">
              <a:spcAft>
                <a:spcPts val="300"/>
              </a:spcAft>
              <a:buSzPct val="100000"/>
              <a:buChar char="•"/>
            </a:pPr>
            <a:r>
              <a:rPr lang="en-US" sz="1000" dirty="0">
                <a:solidFill>
                  <a:schemeClr val="tx1"/>
                </a:solidFill>
              </a:rPr>
              <a:t>Now it knows where it really is</a:t>
            </a:r>
            <a:endParaRPr lang="en-US" sz="1000" dirty="0"/>
          </a:p>
        </p:txBody>
      </p:sp>
      <p:sp>
        <p:nvSpPr>
          <p:cNvPr id="16" name="card 5  Explore, bigger and bigger"/>
          <p:cNvSpPr/>
          <p:nvPr/>
        </p:nvSpPr>
        <p:spPr>
          <a:xfrm>
            <a:off x="2743200" y="2583180"/>
            <a:ext cx="2240280" cy="1577340"/>
          </a:xfrm>
          <a:prstGeom prst="roundRect">
            <a:avLst>
              <a:gd name="adj" fmla="val 3478"/>
            </a:avLst>
          </a:prstGeom>
          <a:solidFill>
            <a:schemeClr val="bg2"/>
          </a:solidFill>
          <a:ln w="12700">
            <a:solidFill>
              <a:schemeClr val="bg2"/>
            </a:solidFill>
            <a:prstDash val="solid"/>
          </a:ln>
        </p:spPr>
      </p:sp>
      <p:sp>
        <p:nvSpPr>
          <p:cNvPr id="17" name="heading 5  Explore, bigger and bigger"/>
          <p:cNvSpPr txBox="1"/>
          <p:nvPr/>
        </p:nvSpPr>
        <p:spPr>
          <a:xfrm>
            <a:off x="2889504" y="2674620"/>
            <a:ext cx="1947672" cy="274320"/>
          </a:xfrm>
          <a:prstGeom prst="rect">
            <a:avLst/>
          </a:prstGeom>
          <a:noFill/>
          <a:ln/>
        </p:spPr>
        <p:txBody>
          <a:bodyPr wrap="square" lIns="0" tIns="0" rIns="0" bIns="0" rtlCol="0" anchor="ctr"/>
          <a:lstStyle/>
          <a:p>
            <a:pPr indent="0" marL="0">
              <a:buNone/>
            </a:pPr>
            <a:r>
              <a:rPr lang="en-US" sz="1100" b="1" dirty="0">
                <a:solidFill>
                  <a:schemeClr val="tx1"/>
                </a:solidFill>
              </a:rPr>
              <a:t>5  Explore, bigger and bigger</a:t>
            </a:r>
            <a:endParaRPr lang="en-US" sz="1100" dirty="0"/>
          </a:p>
        </p:txBody>
      </p:sp>
      <p:sp>
        <p:nvSpPr>
          <p:cNvPr id="18" name="bullets 5  Explore, bigger and bigger"/>
          <p:cNvSpPr txBox="1"/>
          <p:nvPr/>
        </p:nvSpPr>
        <p:spPr>
          <a:xfrm>
            <a:off x="2889504" y="2985516"/>
            <a:ext cx="1947672" cy="1083564"/>
          </a:xfrm>
          <a:prstGeom prst="rect">
            <a:avLst/>
          </a:prstGeom>
          <a:noFill/>
          <a:ln/>
        </p:spPr>
        <p:txBody>
          <a:bodyPr wrap="square" lIns="0" tIns="0" rIns="25400" bIns="0" rtlCol="0" anchor="t"/>
          <a:lstStyle/>
          <a:p>
            <a:pPr algn="l" marL="152400" indent="-152400">
              <a:spcAft>
                <a:spcPts val="300"/>
              </a:spcAft>
              <a:buSzPct val="100000"/>
              <a:buChar char="•"/>
            </a:pPr>
            <a:r>
              <a:rPr lang="en-US" sz="1000" dirty="0">
                <a:solidFill>
                  <a:schemeClr val="tx1"/>
                </a:solidFill>
              </a:rPr>
              <a:t>A few spots nearby, then wider, then wider again</a:t>
            </a:r>
            <a:endParaRPr lang="en-US" sz="1000" dirty="0"/>
          </a:p>
          <a:p>
            <a:pPr algn="l" marL="152400" indent="-152400">
              <a:spcAft>
                <a:spcPts val="300"/>
              </a:spcAft>
              <a:buSzPct val="100000"/>
              <a:buChar char="•"/>
            </a:pPr>
            <a:r>
              <a:rPr lang="en-US" sz="1000" dirty="0">
                <a:solidFill>
                  <a:schemeClr val="tx1"/>
                </a:solidFill>
              </a:rPr>
              <a:t>Refit the model between rounds</a:t>
            </a:r>
            <a:endParaRPr lang="en-US" sz="1000" dirty="0"/>
          </a:p>
          <a:p>
            <a:pPr algn="l" marL="152400" indent="-152400">
              <a:spcAft>
                <a:spcPts val="300"/>
              </a:spcAft>
              <a:buSzPct val="100000"/>
              <a:buChar char="•"/>
            </a:pPr>
            <a:r>
              <a:rPr lang="en-US" sz="1000" dirty="0">
                <a:solidFill>
                  <a:schemeClr val="tx1"/>
                </a:solidFill>
              </a:rPr>
              <a:t>Surprise spots check the guesses</a:t>
            </a:r>
            <a:endParaRPr lang="en-US" sz="1000" dirty="0"/>
          </a:p>
        </p:txBody>
      </p:sp>
      <p:sp>
        <p:nvSpPr>
          <p:cNvPr id="19" name="card 6  Can I trust myself?"/>
          <p:cNvSpPr/>
          <p:nvPr/>
        </p:nvSpPr>
        <p:spPr>
          <a:xfrm>
            <a:off x="5120640" y="2583180"/>
            <a:ext cx="2240280" cy="1577340"/>
          </a:xfrm>
          <a:prstGeom prst="roundRect">
            <a:avLst>
              <a:gd name="adj" fmla="val 3478"/>
            </a:avLst>
          </a:prstGeom>
          <a:solidFill>
            <a:schemeClr val="bg2"/>
          </a:solidFill>
          <a:ln w="12700">
            <a:solidFill>
              <a:schemeClr val="bg2"/>
            </a:solidFill>
            <a:prstDash val="solid"/>
          </a:ln>
        </p:spPr>
      </p:sp>
      <p:sp>
        <p:nvSpPr>
          <p:cNvPr id="20" name="heading 6  Can I trust myself?"/>
          <p:cNvSpPr txBox="1"/>
          <p:nvPr/>
        </p:nvSpPr>
        <p:spPr>
          <a:xfrm>
            <a:off x="5266944" y="2674620"/>
            <a:ext cx="1947672" cy="274320"/>
          </a:xfrm>
          <a:prstGeom prst="rect">
            <a:avLst/>
          </a:prstGeom>
          <a:noFill/>
          <a:ln/>
        </p:spPr>
        <p:txBody>
          <a:bodyPr wrap="square" lIns="0" tIns="0" rIns="0" bIns="0" rtlCol="0" anchor="ctr"/>
          <a:lstStyle/>
          <a:p>
            <a:pPr indent="0" marL="0">
              <a:buNone/>
            </a:pPr>
            <a:r>
              <a:rPr lang="en-US" sz="1100" b="1" dirty="0">
                <a:solidFill>
                  <a:schemeClr val="tx1"/>
                </a:solidFill>
              </a:rPr>
              <a:t>6  Can I trust myself?</a:t>
            </a:r>
            <a:endParaRPr lang="en-US" sz="1100" dirty="0"/>
          </a:p>
        </p:txBody>
      </p:sp>
      <p:sp>
        <p:nvSpPr>
          <p:cNvPr id="21" name="bullets 6  Can I trust myself?"/>
          <p:cNvSpPr txBox="1"/>
          <p:nvPr/>
        </p:nvSpPr>
        <p:spPr>
          <a:xfrm>
            <a:off x="5266944" y="2985516"/>
            <a:ext cx="1947672" cy="1083564"/>
          </a:xfrm>
          <a:prstGeom prst="rect">
            <a:avLst/>
          </a:prstGeom>
          <a:noFill/>
          <a:ln/>
        </p:spPr>
        <p:txBody>
          <a:bodyPr wrap="square" lIns="0" tIns="0" rIns="25400" bIns="0" rtlCol="0" anchor="t"/>
          <a:lstStyle/>
          <a:p>
            <a:pPr algn="l" marL="152400" indent="-152400">
              <a:spcAft>
                <a:spcPts val="300"/>
              </a:spcAft>
              <a:buSzPct val="100000"/>
              <a:buChar char="•"/>
            </a:pPr>
            <a:r>
              <a:rPr lang="en-US" sz="1000" dirty="0">
                <a:solidFill>
                  <a:schemeClr val="tx1"/>
                </a:solidFill>
              </a:rPr>
              <a:t>From how well the guesses matched: ready to work, or only near home</a:t>
            </a:r>
            <a:endParaRPr lang="en-US" sz="1000" dirty="0"/>
          </a:p>
        </p:txBody>
      </p:sp>
      <p:sp>
        <p:nvSpPr>
          <p:cNvPr id="22" name="rules"/>
          <p:cNvSpPr txBox="1"/>
          <p:nvPr/>
        </p:nvSpPr>
        <p:spPr>
          <a:xfrm>
            <a:off x="365760" y="4251960"/>
            <a:ext cx="6903720" cy="320040"/>
          </a:xfrm>
          <a:prstGeom prst="rect">
            <a:avLst/>
          </a:prstGeom>
          <a:noFill/>
          <a:ln/>
        </p:spPr>
        <p:txBody>
          <a:bodyPr wrap="square" lIns="0" tIns="0" rIns="0" bIns="0" rtlCol="0" anchor="ctr"/>
          <a:lstStyle/>
          <a:p>
            <a:pPr indent="0" marL="0">
              <a:buNone/>
            </a:pPr>
            <a:r>
              <a:rPr lang="en-US" sz="1000" b="1" dirty="0">
                <a:solidFill>
                  <a:schemeClr val="tx1"/>
                </a:solidFill>
              </a:rPr>
              <a:t>Two rules: it never retries by itself; if a station reboots, all six steps run again before it is trusted.</a:t>
            </a:r>
            <a:endParaRPr lang="en-US" sz="1000" dirty="0"/>
          </a:p>
        </p:txBody>
      </p:sp>
      <p:pic>
        <p:nvPicPr>
          <p:cNvPr id="23" name="The claw hanging on three cables" descr="The claw hanging on three cables">    </p:cNvPr>
          <p:cNvPicPr>
            <a:picLocks noChangeAspect="1"/>
          </p:cNvPicPr>
          <p:nvPr/>
        </p:nvPicPr>
        <p:blipFill>
          <a:blip r:embed="rId1"/>
          <a:srcRect l="0" r="0" t="0" b="0"/>
          <a:stretch/>
        </p:blipFill>
        <p:spPr>
          <a:xfrm>
            <a:off x="7498080" y="868680"/>
            <a:ext cx="1280160" cy="3511296"/>
          </a:xfrm>
          <a:prstGeom prst="rect">
            <a:avLst/>
          </a:prstGeom>
        </p:spPr>
      </p:pic>
      <p:sp>
        <p:nvSpPr>
          <p:cNvPr id="24" name="caption"/>
          <p:cNvSpPr txBox="1"/>
          <p:nvPr/>
        </p:nvSpPr>
        <p:spPr>
          <a:xfrm>
            <a:off x="7498080" y="4416552"/>
            <a:ext cx="1280160" cy="201168"/>
          </a:xfrm>
          <a:prstGeom prst="rect">
            <a:avLst/>
          </a:prstGeom>
          <a:noFill/>
          <a:ln/>
        </p:spPr>
        <p:txBody>
          <a:bodyPr wrap="square" lIns="0" tIns="0" rIns="0" bIns="0" rtlCol="0" anchor="ctr"/>
          <a:lstStyle/>
          <a:p>
            <a:pPr algn="l" indent="0" marL="0">
              <a:buNone/>
            </a:pPr>
            <a:r>
              <a:rPr lang="en-US" sz="850" dirty="0">
                <a:solidFill>
                  <a:schemeClr val="tx2"/>
                </a:solidFill>
              </a:rPr>
              <a:t>Hanging, before its first look</a:t>
            </a:r>
            <a:endParaRPr lang="en-US" sz="850" dirty="0"/>
          </a:p>
        </p:txBody>
      </p:sp>
      <p:sp>
        <p:nvSpPr>
          <p:cNvPr id="25" name="Slide Number Placeholder 0"/>
          <p:cNvSpPr>
            <a:spLocks noGrp="1"/>
          </p:cNvSpPr>
          <p:nvPr>
            <p:ph type="sldNum" sz="quarter" idx="4294967295"/>
          </p:nvPr>
        </p:nvSpPr>
        <p:spPr>
          <a:xfrm>
            <a:off x="8229600" y="4846320"/>
            <a:ext cx="548640" cy="297180"/>
          </a:xfrm>
          <a:prstGeom prst="rect">
            <a:avLst/>
          </a:prstGeom>
          <a:extLst>
            <a:ext uri="{C572A759-6A51-4108-AA02-DFA0A04FC94B}">
              <ma14:wrappingTextBoxFlag xmlns:ma14="http://schemas.microsoft.com/office/mac/drawingml/2011/main" val="0"/>
            </a:ext>
          </a:extLst>
        </p:spPr>
        <p:txBody>
          <a:bodyPr anchor="ctr"/>
          <a:lstStyle>
            <a:lvl1pPr>
              <a:defRPr sz="800">
                <a:solidFill>
                  <a:srgbClr val="FFFFFF"/>
                </a:solidFill>
                <a:latin typeface="Arial"/>
                <a:ea typeface="Arial"/>
                <a:cs typeface="Aria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2"/>
          <p:cNvSpPr/>
          <p:nvPr>
            <p:ph idx="102" type="title" hasCustomPrompt="1"/>
          </p:nvPr>
        </p:nvSpPr>
        <p:spPr>
          <a:xfrm>
            <a:off x="365760" y="256032"/>
            <a:ext cx="8412480" cy="502920"/>
          </a:xfrm>
          <a:prstGeom prst="rect">
            <a:avLst/>
          </a:prstGeom>
          <a:noFill/>
          <a:ln/>
        </p:spPr>
        <p:txBody>
          <a:bodyPr wrap="square" lIns="0" tIns="0" rIns="0" bIns="0" rtlCol="0" anchor="ctr"/>
          <a:lstStyle/>
          <a:p>
            <a:pPr algn="l" indent="0" marL="0">
              <a:buNone/>
            </a:pPr>
            <a:r>
              <a:rPr lang="en-US" sz="2400" b="1" dirty="0">
                <a:solidFill>
                  <a:srgbClr val="000000"/>
                </a:solidFill>
                <a:latin typeface="Arial" pitchFamily="34" charset="0"/>
                <a:ea typeface="Arial" pitchFamily="34" charset="-122"/>
                <a:cs typeface="Arial" pitchFamily="34" charset="-120"/>
              </a:rPr>
              <a:t>Next iteration: what was not working, and what changes</a:t>
            </a:r>
            <a:endParaRPr lang="en-US" sz="2400" dirty="0"/>
          </a:p>
        </p:txBody>
      </p:sp>
      <p:sp>
        <p:nvSpPr>
          <p:cNvPr id="4" name="card 3:1 printed gear stage"/>
          <p:cNvSpPr/>
          <p:nvPr/>
        </p:nvSpPr>
        <p:spPr>
          <a:xfrm>
            <a:off x="365760" y="868680"/>
            <a:ext cx="1965960" cy="2240280"/>
          </a:xfrm>
          <a:prstGeom prst="roundRect">
            <a:avLst>
              <a:gd name="adj" fmla="val 2791"/>
            </a:avLst>
          </a:prstGeom>
          <a:solidFill>
            <a:schemeClr val="bg2"/>
          </a:solidFill>
          <a:ln w="12700">
            <a:solidFill>
              <a:schemeClr val="bg2"/>
            </a:solidFill>
            <a:prstDash val="solid"/>
          </a:ln>
        </p:spPr>
      </p:sp>
      <p:sp>
        <p:nvSpPr>
          <p:cNvPr id="5" name="heading 3:1 printed gear stage"/>
          <p:cNvSpPr txBox="1"/>
          <p:nvPr/>
        </p:nvSpPr>
        <p:spPr>
          <a:xfrm>
            <a:off x="512064" y="960120"/>
            <a:ext cx="1673352" cy="274320"/>
          </a:xfrm>
          <a:prstGeom prst="rect">
            <a:avLst/>
          </a:prstGeom>
          <a:noFill/>
          <a:ln/>
        </p:spPr>
        <p:txBody>
          <a:bodyPr wrap="square" lIns="0" tIns="0" rIns="0" bIns="0" rtlCol="0" anchor="ctr"/>
          <a:lstStyle/>
          <a:p>
            <a:pPr indent="0" marL="0">
              <a:buNone/>
            </a:pPr>
            <a:r>
              <a:rPr lang="en-US" sz="1150" b="1" dirty="0">
                <a:solidFill>
                  <a:schemeClr val="tx1"/>
                </a:solidFill>
              </a:rPr>
              <a:t>3:1 printed gear stage</a:t>
            </a:r>
            <a:endParaRPr lang="en-US" sz="1150" dirty="0"/>
          </a:p>
        </p:txBody>
      </p:sp>
      <p:sp>
        <p:nvSpPr>
          <p:cNvPr id="6" name="bullets 3:1 printed gear stage"/>
          <p:cNvSpPr txBox="1"/>
          <p:nvPr/>
        </p:nvSpPr>
        <p:spPr>
          <a:xfrm>
            <a:off x="512064" y="1271016"/>
            <a:ext cx="1673352" cy="1746504"/>
          </a:xfrm>
          <a:prstGeom prst="rect">
            <a:avLst/>
          </a:prstGeom>
          <a:noFill/>
          <a:ln/>
        </p:spPr>
        <p:txBody>
          <a:bodyPr wrap="square" lIns="0" tIns="0" rIns="25400" bIns="0" rtlCol="0" anchor="t"/>
          <a:lstStyle/>
          <a:p>
            <a:pPr algn="l" marL="152400" indent="-152400">
              <a:spcAft>
                <a:spcPts val="300"/>
              </a:spcAft>
              <a:buSzPct val="100000"/>
              <a:buChar char="•"/>
            </a:pPr>
            <a:r>
              <a:rPr lang="en-US" sz="1000" dirty="0">
                <a:solidFill>
                  <a:schemeClr val="tx1"/>
                </a:solidFill>
              </a:rPr>
              <a:t>18T / 54T spur, printed PETG pinion</a:t>
            </a:r>
            <a:endParaRPr lang="en-US" sz="1000" dirty="0"/>
          </a:p>
          <a:p>
            <a:pPr algn="l" marL="152400" indent="-152400">
              <a:spcAft>
                <a:spcPts val="300"/>
              </a:spcAft>
              <a:buSzPct val="100000"/>
              <a:buChar char="•"/>
            </a:pPr>
            <a:r>
              <a:rPr lang="en-US" sz="1000" dirty="0">
                <a:solidFill>
                  <a:schemeClr val="tx1"/>
                </a:solidFill>
              </a:rPr>
              <a:t>Designed and checked in CAD; pinion printed; not fitted</a:t>
            </a:r>
            <a:endParaRPr lang="en-US" sz="1000" dirty="0"/>
          </a:p>
          <a:p>
            <a:pPr algn="l" marL="152400" indent="-152400">
              <a:spcAft>
                <a:spcPts val="300"/>
              </a:spcAft>
              <a:buSzPct val="100000"/>
              <a:buChar char="•"/>
            </a:pPr>
            <a:r>
              <a:rPr lang="en-US" sz="1000" dirty="0">
                <a:solidFill>
                  <a:schemeClr val="tx1"/>
                </a:solidFill>
              </a:rPr>
              <a:t>2.7 x pull at 1.0 A, half the heat (calculated)</a:t>
            </a:r>
            <a:endParaRPr lang="en-US" sz="1000" dirty="0"/>
          </a:p>
          <a:p>
            <a:pPr algn="l" marL="152400" indent="-152400">
              <a:spcAft>
                <a:spcPts val="300"/>
              </a:spcAft>
              <a:buSzPct val="100000"/>
              <a:buChar char="•"/>
            </a:pPr>
            <a:r>
              <a:rPr lang="en-US" sz="1000" dirty="0">
                <a:solidFill>
                  <a:schemeClr val="tx1"/>
                </a:solidFill>
              </a:rPr>
              <a:t>Slip fuse moves to about 130 N (calculated)</a:t>
            </a:r>
            <a:endParaRPr lang="en-US" sz="1000" dirty="0"/>
          </a:p>
        </p:txBody>
      </p:sp>
      <p:sp>
        <p:nvSpPr>
          <p:cNvPr id="7" name="card 1° draft on the dovetail"/>
          <p:cNvSpPr/>
          <p:nvPr/>
        </p:nvSpPr>
        <p:spPr>
          <a:xfrm>
            <a:off x="2468880" y="868680"/>
            <a:ext cx="1965960" cy="2240280"/>
          </a:xfrm>
          <a:prstGeom prst="roundRect">
            <a:avLst>
              <a:gd name="adj" fmla="val 2791"/>
            </a:avLst>
          </a:prstGeom>
          <a:solidFill>
            <a:schemeClr val="bg2"/>
          </a:solidFill>
          <a:ln w="12700">
            <a:solidFill>
              <a:schemeClr val="bg2"/>
            </a:solidFill>
            <a:prstDash val="solid"/>
          </a:ln>
        </p:spPr>
      </p:sp>
      <p:sp>
        <p:nvSpPr>
          <p:cNvPr id="8" name="heading 1° draft on the dovetail"/>
          <p:cNvSpPr txBox="1"/>
          <p:nvPr/>
        </p:nvSpPr>
        <p:spPr>
          <a:xfrm>
            <a:off x="2615184" y="960120"/>
            <a:ext cx="1673352" cy="274320"/>
          </a:xfrm>
          <a:prstGeom prst="rect">
            <a:avLst/>
          </a:prstGeom>
          <a:noFill/>
          <a:ln/>
        </p:spPr>
        <p:txBody>
          <a:bodyPr wrap="square" lIns="0" tIns="0" rIns="0" bIns="0" rtlCol="0" anchor="ctr"/>
          <a:lstStyle/>
          <a:p>
            <a:pPr indent="0" marL="0">
              <a:buNone/>
            </a:pPr>
            <a:r>
              <a:rPr lang="en-US" sz="1150" b="1" dirty="0">
                <a:solidFill>
                  <a:schemeClr val="tx1"/>
                </a:solidFill>
              </a:rPr>
              <a:t>1° draft on the dovetail</a:t>
            </a:r>
            <a:endParaRPr lang="en-US" sz="1150" dirty="0"/>
          </a:p>
        </p:txBody>
      </p:sp>
      <p:sp>
        <p:nvSpPr>
          <p:cNvPr id="9" name="bullets 1° draft on the dovetail"/>
          <p:cNvSpPr txBox="1"/>
          <p:nvPr/>
        </p:nvSpPr>
        <p:spPr>
          <a:xfrm>
            <a:off x="2615184" y="1271016"/>
            <a:ext cx="1673352" cy="1746504"/>
          </a:xfrm>
          <a:prstGeom prst="rect">
            <a:avLst/>
          </a:prstGeom>
          <a:noFill/>
          <a:ln/>
        </p:spPr>
        <p:txBody>
          <a:bodyPr wrap="square" lIns="0" tIns="0" rIns="25400" bIns="0" rtlCol="0" anchor="t"/>
          <a:lstStyle/>
          <a:p>
            <a:pPr algn="l" marL="152400" indent="-152400">
              <a:spcAft>
                <a:spcPts val="300"/>
              </a:spcAft>
              <a:buSzPct val="100000"/>
              <a:buChar char="•"/>
            </a:pPr>
            <a:r>
              <a:rPr lang="en-US" sz="1000" dirty="0">
                <a:solidFill>
                  <a:schemeClr val="tx1"/>
                </a:solidFill>
              </a:rPr>
              <a:t>Today the slide-in binds on insertion</a:t>
            </a:r>
            <a:endParaRPr lang="en-US" sz="1000" dirty="0"/>
          </a:p>
          <a:p>
            <a:pPr algn="l" marL="152400" indent="-152400">
              <a:spcAft>
                <a:spcPts val="300"/>
              </a:spcAft>
              <a:buSzPct val="100000"/>
              <a:buChar char="•"/>
            </a:pPr>
            <a:r>
              <a:rPr lang="en-US" sz="1000" dirty="0">
                <a:solidFill>
                  <a:schemeClr val="tx1"/>
                </a:solidFill>
              </a:rPr>
              <a:t>Thicker at the top, thinning toward the bottom</a:t>
            </a:r>
            <a:endParaRPr lang="en-US" sz="1000" dirty="0"/>
          </a:p>
          <a:p>
            <a:pPr algn="l" marL="152400" indent="-152400">
              <a:spcAft>
                <a:spcPts val="300"/>
              </a:spcAft>
              <a:buSzPct val="100000"/>
              <a:buChar char="•"/>
            </a:pPr>
            <a:r>
              <a:rPr lang="en-US" sz="1000" dirty="0">
                <a:solidFill>
                  <a:schemeClr val="tx1"/>
                </a:solidFill>
              </a:rPr>
              <a:t>The station self-locates as it slides in (planned)</a:t>
            </a:r>
            <a:endParaRPr lang="en-US" sz="1000" dirty="0"/>
          </a:p>
        </p:txBody>
      </p:sp>
      <p:sp>
        <p:nvSpPr>
          <p:cNvPr id="10" name="card Lighter back mount"/>
          <p:cNvSpPr/>
          <p:nvPr/>
        </p:nvSpPr>
        <p:spPr>
          <a:xfrm>
            <a:off x="4572000" y="868680"/>
            <a:ext cx="1965960" cy="2240280"/>
          </a:xfrm>
          <a:prstGeom prst="roundRect">
            <a:avLst>
              <a:gd name="adj" fmla="val 2791"/>
            </a:avLst>
          </a:prstGeom>
          <a:solidFill>
            <a:schemeClr val="bg2"/>
          </a:solidFill>
          <a:ln w="12700">
            <a:solidFill>
              <a:schemeClr val="bg2"/>
            </a:solidFill>
            <a:prstDash val="solid"/>
          </a:ln>
        </p:spPr>
      </p:sp>
      <p:sp>
        <p:nvSpPr>
          <p:cNvPr id="11" name="heading Lighter back mount"/>
          <p:cNvSpPr txBox="1"/>
          <p:nvPr/>
        </p:nvSpPr>
        <p:spPr>
          <a:xfrm>
            <a:off x="4718304" y="960120"/>
            <a:ext cx="1673352" cy="274320"/>
          </a:xfrm>
          <a:prstGeom prst="rect">
            <a:avLst/>
          </a:prstGeom>
          <a:noFill/>
          <a:ln/>
        </p:spPr>
        <p:txBody>
          <a:bodyPr wrap="square" lIns="0" tIns="0" rIns="0" bIns="0" rtlCol="0" anchor="ctr"/>
          <a:lstStyle/>
          <a:p>
            <a:pPr indent="0" marL="0">
              <a:buNone/>
            </a:pPr>
            <a:r>
              <a:rPr lang="en-US" sz="1150" b="1" dirty="0">
                <a:solidFill>
                  <a:schemeClr val="tx1"/>
                </a:solidFill>
              </a:rPr>
              <a:t>Lighter back mount</a:t>
            </a:r>
            <a:endParaRPr lang="en-US" sz="1150" dirty="0"/>
          </a:p>
        </p:txBody>
      </p:sp>
      <p:sp>
        <p:nvSpPr>
          <p:cNvPr id="12" name="bullets Lighter back mount"/>
          <p:cNvSpPr txBox="1"/>
          <p:nvPr/>
        </p:nvSpPr>
        <p:spPr>
          <a:xfrm>
            <a:off x="4718304" y="1271016"/>
            <a:ext cx="1673352" cy="1746504"/>
          </a:xfrm>
          <a:prstGeom prst="rect">
            <a:avLst/>
          </a:prstGeom>
          <a:noFill/>
          <a:ln/>
        </p:spPr>
        <p:txBody>
          <a:bodyPr wrap="square" lIns="0" tIns="0" rIns="25400" bIns="0" rtlCol="0" anchor="t"/>
          <a:lstStyle/>
          <a:p>
            <a:pPr algn="l" marL="152400" indent="-152400">
              <a:spcAft>
                <a:spcPts val="300"/>
              </a:spcAft>
              <a:buSzPct val="100000"/>
              <a:buChar char="•"/>
            </a:pPr>
            <a:r>
              <a:rPr lang="en-US" sz="1000" dirty="0">
                <a:solidFill>
                  <a:schemeClr val="tx1"/>
                </a:solidFill>
              </a:rPr>
              <a:t>Today: about 200 x the motor's pull, 597 cm³ solid</a:t>
            </a:r>
            <a:endParaRPr lang="en-US" sz="1000" dirty="0"/>
          </a:p>
          <a:p>
            <a:pPr algn="l" marL="152400" indent="-152400">
              <a:spcAft>
                <a:spcPts val="300"/>
              </a:spcAft>
              <a:buSzPct val="100000"/>
              <a:buChar char="•"/>
            </a:pPr>
            <a:r>
              <a:rPr lang="en-US" sz="1000" dirty="0">
                <a:solidFill>
                  <a:schemeClr val="tx1"/>
                </a:solidFill>
              </a:rPr>
              <a:t>Thinner walls and ribs: about 200 cm³ (planned)</a:t>
            </a:r>
            <a:endParaRPr lang="en-US" sz="1000" dirty="0"/>
          </a:p>
          <a:p>
            <a:pPr algn="l" marL="152400" indent="-152400">
              <a:spcAft>
                <a:spcPts val="300"/>
              </a:spcAft>
              <a:buSzPct val="100000"/>
              <a:buChar char="•"/>
            </a:pPr>
            <a:r>
              <a:rPr lang="en-US" sz="1000" dirty="0">
                <a:solidFill>
                  <a:schemeClr val="tx1"/>
                </a:solidFill>
              </a:rPr>
              <a:t>Less print time and filament for anyone building it</a:t>
            </a:r>
            <a:endParaRPr lang="en-US" sz="1000" dirty="0"/>
          </a:p>
        </p:txBody>
      </p:sp>
      <p:sp>
        <p:nvSpPr>
          <p:cNvPr id="13" name="card Not working yet / still planned"/>
          <p:cNvSpPr/>
          <p:nvPr/>
        </p:nvSpPr>
        <p:spPr>
          <a:xfrm>
            <a:off x="365760" y="3246120"/>
            <a:ext cx="6172200" cy="1371600"/>
          </a:xfrm>
          <a:prstGeom prst="roundRect">
            <a:avLst>
              <a:gd name="adj" fmla="val 4000"/>
            </a:avLst>
          </a:prstGeom>
          <a:solidFill>
            <a:schemeClr val="bg2"/>
          </a:solidFill>
          <a:ln w="12700">
            <a:solidFill>
              <a:schemeClr val="bg2"/>
            </a:solidFill>
            <a:prstDash val="solid"/>
          </a:ln>
        </p:spPr>
      </p:sp>
      <p:sp>
        <p:nvSpPr>
          <p:cNvPr id="14" name="heading Not working yet / still planned"/>
          <p:cNvSpPr txBox="1"/>
          <p:nvPr/>
        </p:nvSpPr>
        <p:spPr>
          <a:xfrm>
            <a:off x="512064" y="3337560"/>
            <a:ext cx="5879592" cy="274320"/>
          </a:xfrm>
          <a:prstGeom prst="rect">
            <a:avLst/>
          </a:prstGeom>
          <a:noFill/>
          <a:ln/>
        </p:spPr>
        <p:txBody>
          <a:bodyPr wrap="square" lIns="0" tIns="0" rIns="0" bIns="0" rtlCol="0" anchor="ctr"/>
          <a:lstStyle/>
          <a:p>
            <a:pPr indent="0" marL="0">
              <a:buNone/>
            </a:pPr>
            <a:r>
              <a:rPr lang="en-US" sz="1150" b="1" dirty="0">
                <a:solidFill>
                  <a:schemeClr val="tx1"/>
                </a:solidFill>
              </a:rPr>
              <a:t>Not working yet / still planned</a:t>
            </a:r>
            <a:endParaRPr lang="en-US" sz="1150" dirty="0"/>
          </a:p>
        </p:txBody>
      </p:sp>
      <p:sp>
        <p:nvSpPr>
          <p:cNvPr id="15" name="bullets Not working yet / still planned"/>
          <p:cNvSpPr txBox="1"/>
          <p:nvPr/>
        </p:nvSpPr>
        <p:spPr>
          <a:xfrm>
            <a:off x="512064" y="3648456"/>
            <a:ext cx="5879592" cy="877824"/>
          </a:xfrm>
          <a:prstGeom prst="rect">
            <a:avLst/>
          </a:prstGeom>
          <a:noFill/>
          <a:ln/>
        </p:spPr>
        <p:txBody>
          <a:bodyPr wrap="square" lIns="0" tIns="0" rIns="25400" bIns="0" rtlCol="0" anchor="t"/>
          <a:lstStyle/>
          <a:p>
            <a:pPr algn="l" marL="152400" indent="-152400">
              <a:spcAft>
                <a:spcPts val="300"/>
              </a:spcAft>
              <a:buSzPct val="100000"/>
              <a:buChar char="•"/>
            </a:pPr>
            <a:r>
              <a:rPr lang="en-US" sz="1000" dirty="0">
                <a:solidFill>
                  <a:schemeClr val="tx1"/>
                </a:solidFill>
              </a:rPr>
              <a:t>Pull test at 1.5 A: the measured limit goes into the planner (planned)</a:t>
            </a:r>
            <a:endParaRPr lang="en-US" sz="1000" dirty="0"/>
          </a:p>
          <a:p>
            <a:pPr algn="l" marL="152400" indent="-152400">
              <a:spcAft>
                <a:spcPts val="300"/>
              </a:spcAft>
              <a:buSzPct val="100000"/>
              <a:buChar char="•"/>
            </a:pPr>
            <a:r>
              <a:rPr lang="en-US" sz="1000" dirty="0">
                <a:solidFill>
                  <a:schemeClr val="tx1"/>
                </a:solidFill>
              </a:rPr>
              <a:t>Hold test: 90 minutes at 1.5 A, motor below 60 °C (planned)</a:t>
            </a:r>
            <a:endParaRPr lang="en-US" sz="1000" dirty="0"/>
          </a:p>
          <a:p>
            <a:pPr algn="l" marL="152400" indent="-152400">
              <a:spcAft>
                <a:spcPts val="300"/>
              </a:spcAft>
              <a:buSzPct val="100000"/>
              <a:buChar char="•"/>
            </a:pPr>
            <a:r>
              <a:rPr lang="en-US" sz="1000" dirty="0">
                <a:solidFill>
                  <a:schemeClr val="tx1"/>
                </a:solidFill>
              </a:rPr>
              <a:t>First three-station lift: self-check, calibration, a short move with 1 lb (planned)</a:t>
            </a:r>
            <a:endParaRPr lang="en-US" sz="1000" dirty="0"/>
          </a:p>
        </p:txBody>
      </p:sp>
      <p:sp>
        <p:nvSpPr>
          <p:cNvPr id="16" name="placeholder"/>
          <p:cNvSpPr/>
          <p:nvPr/>
        </p:nvSpPr>
        <p:spPr>
          <a:xfrm>
            <a:off x="6675120" y="868680"/>
            <a:ext cx="2103120" cy="3511296"/>
          </a:xfrm>
          <a:prstGeom prst="roundRect">
            <a:avLst>
              <a:gd name="adj" fmla="val 2609"/>
            </a:avLst>
          </a:prstGeom>
          <a:solidFill>
            <a:srgbClr val="FFFFFF"/>
          </a:solidFill>
          <a:ln w="12700">
            <a:solidFill>
              <a:srgbClr val="8A8F98"/>
            </a:solidFill>
            <a:prstDash val="dash"/>
          </a:ln>
        </p:spPr>
      </p:sp>
      <p:sp>
        <p:nvSpPr>
          <p:cNvPr id="17" name="placeholder text"/>
          <p:cNvSpPr txBox="1"/>
          <p:nvPr/>
        </p:nvSpPr>
        <p:spPr>
          <a:xfrm>
            <a:off x="6812280" y="868680"/>
            <a:ext cx="1828800" cy="3511296"/>
          </a:xfrm>
          <a:prstGeom prst="rect">
            <a:avLst/>
          </a:prstGeom>
          <a:noFill/>
          <a:ln/>
        </p:spPr>
        <p:txBody>
          <a:bodyPr wrap="square" lIns="0" tIns="0" rIns="0" bIns="0" rtlCol="0" anchor="ctr"/>
          <a:lstStyle/>
          <a:p>
            <a:pPr algn="ctr" indent="0" marL="0">
              <a:buNone/>
            </a:pPr>
            <a:r>
              <a:rPr lang="en-US" sz="1200" dirty="0">
                <a:solidFill>
                  <a:schemeClr val="tx2"/>
                </a:solidFill>
              </a:rPr>
              <a:t>[Jasper: new CAD]</a:t>
            </a:r>
            <a:endParaRPr lang="en-US" sz="1200" dirty="0"/>
          </a:p>
        </p:txBody>
      </p:sp>
      <p:sp>
        <p:nvSpPr>
          <p:cNvPr id="18" name="caption"/>
          <p:cNvSpPr txBox="1"/>
          <p:nvPr/>
        </p:nvSpPr>
        <p:spPr>
          <a:xfrm>
            <a:off x="6675120" y="4416552"/>
            <a:ext cx="2103120" cy="201168"/>
          </a:xfrm>
          <a:prstGeom prst="rect">
            <a:avLst/>
          </a:prstGeom>
          <a:noFill/>
          <a:ln/>
        </p:spPr>
        <p:txBody>
          <a:bodyPr wrap="square" lIns="0" tIns="0" rIns="0" bIns="0" rtlCol="0" anchor="ctr"/>
          <a:lstStyle/>
          <a:p>
            <a:pPr algn="l" indent="0" marL="0">
              <a:buNone/>
            </a:pPr>
            <a:r>
              <a:rPr lang="en-US" sz="850" dirty="0">
                <a:solidFill>
                  <a:schemeClr val="tx2"/>
                </a:solidFill>
              </a:rPr>
              <a:t>Next-iteration parts: gear stage, drafted slide-in, lighter mount</a:t>
            </a:r>
            <a:endParaRPr lang="en-US" sz="850" dirty="0"/>
          </a:p>
        </p:txBody>
      </p:sp>
      <p:sp>
        <p:nvSpPr>
          <p:cNvPr id="25" name="Slide Number Placeholder 0"/>
          <p:cNvSpPr>
            <a:spLocks noGrp="1"/>
          </p:cNvSpPr>
          <p:nvPr>
            <p:ph type="sldNum" sz="quarter" idx="4294967295"/>
          </p:nvPr>
        </p:nvSpPr>
        <p:spPr>
          <a:xfrm>
            <a:off x="8229600" y="4846320"/>
            <a:ext cx="548640" cy="297180"/>
          </a:xfrm>
          <a:prstGeom prst="rect">
            <a:avLst/>
          </a:prstGeom>
          <a:extLst>
            <a:ext uri="{C572A759-6A51-4108-AA02-DFA0A04FC94B}">
              <ma14:wrappingTextBoxFlag xmlns:ma14="http://schemas.microsoft.com/office/mac/drawingml/2011/main" val="0"/>
            </a:ext>
          </a:extLst>
        </p:spPr>
        <p:txBody>
          <a:bodyPr anchor="ctr"/>
          <a:lstStyle>
            <a:lvl1pPr>
              <a:defRPr sz="800">
                <a:solidFill>
                  <a:srgbClr val="FFFFFF"/>
                </a:solidFill>
                <a:latin typeface="Arial"/>
                <a:ea typeface="Arial"/>
                <a:cs typeface="Aria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hank you"/>
          <p:cNvSpPr txBox="1"/>
          <p:nvPr/>
        </p:nvSpPr>
        <p:spPr>
          <a:xfrm>
            <a:off x="365760" y="1828800"/>
            <a:ext cx="8412480" cy="822960"/>
          </a:xfrm>
          <a:prstGeom prst="rect">
            <a:avLst/>
          </a:prstGeom>
          <a:noFill/>
          <a:ln/>
        </p:spPr>
        <p:txBody>
          <a:bodyPr wrap="square" lIns="0" tIns="0" rIns="0" bIns="0" rtlCol="0" anchor="ctr"/>
          <a:lstStyle/>
          <a:p>
            <a:pPr indent="0" marL="0">
              <a:buNone/>
            </a:pPr>
            <a:r>
              <a:rPr lang="en-US" sz="4000" b="1" dirty="0">
                <a:solidFill>
                  <a:schemeClr val="tx1"/>
                </a:solidFill>
              </a:rPr>
              <a:t>Thank you</a:t>
            </a:r>
            <a:endParaRPr lang="en-US" sz="4000" dirty="0"/>
          </a:p>
        </p:txBody>
      </p:sp>
      <p:sp>
        <p:nvSpPr>
          <p:cNvPr id="3" name="byline"/>
          <p:cNvSpPr txBox="1"/>
          <p:nvPr/>
        </p:nvSpPr>
        <p:spPr>
          <a:xfrm>
            <a:off x="365760" y="2697480"/>
            <a:ext cx="8412480" cy="365760"/>
          </a:xfrm>
          <a:prstGeom prst="rect">
            <a:avLst/>
          </a:prstGeom>
          <a:noFill/>
          <a:ln/>
        </p:spPr>
        <p:txBody>
          <a:bodyPr wrap="square" lIns="0" tIns="0" rIns="0" bIns="0" rtlCol="0" anchor="ctr"/>
          <a:lstStyle/>
          <a:p>
            <a:pPr indent="0" marL="0">
              <a:buNone/>
            </a:pPr>
            <a:r>
              <a:rPr lang="en-US" sz="1300" dirty="0">
                <a:solidFill>
                  <a:schemeClr val="tx2"/>
                </a:solidFill>
              </a:rPr>
              <a:t>Jasper Buntinx  |  Mechanical Engineering  |  Texas A&amp;M</a:t>
            </a:r>
            <a:endParaRPr lang="en-US" sz="1300" dirty="0"/>
          </a:p>
        </p:txBody>
      </p:sp>
      <p:sp>
        <p:nvSpPr>
          <p:cNvPr id="25" name="Slide Number Placeholder 0"/>
          <p:cNvSpPr>
            <a:spLocks noGrp="1"/>
          </p:cNvSpPr>
          <p:nvPr>
            <p:ph type="sldNum" sz="quarter" idx="4294967295"/>
          </p:nvPr>
        </p:nvSpPr>
        <p:spPr>
          <a:xfrm>
            <a:off x="8229600" y="4846320"/>
            <a:ext cx="548640" cy="297180"/>
          </a:xfrm>
          <a:prstGeom prst="rect">
            <a:avLst/>
          </a:prstGeom>
          <a:extLst>
            <a:ext uri="{C572A759-6A51-4108-AA02-DFA0A04FC94B}">
              <ma14:wrappingTextBoxFlag xmlns:ma14="http://schemas.microsoft.com/office/mac/drawingml/2011/main" val="0"/>
            </a:ext>
          </a:extLst>
        </p:spPr>
        <p:txBody>
          <a:bodyPr anchor="ctr"/>
          <a:lstStyle>
            <a:lvl1pPr>
              <a:defRPr sz="800">
                <a:solidFill>
                  <a:srgbClr val="FFFFFF"/>
                </a:solidFill>
                <a:latin typeface="Arial"/>
                <a:ea typeface="Arial"/>
                <a:cs typeface="Arial"/>
              </a:defRPr>
            </a:lvl1pPr>
          </a:lstStyle>
          <a:p>
            <a:pPr algn="r"/>
            <a:fld id="{F7021451-1387-4CA6-816F-3879F97B5CBC}" type="slidenum">
              <a:rPr b="0" lang="en-US"/>
              <a:t>17</a:t>
            </a:fld>
            <a:endParaRPr lang="en-US"/>
          </a:p>
        </p:txBody>
      </p:sp>
    </p:spTree>
  </p:cSld>
  <p:clrMapOvr>
    <a:masterClrMapping/>
  </p:clrMapOvr>
</p:sld>
</file>

<file path=ppt/theme/theme1.xml><?xml version="1.0" encoding="utf-8"?>
<a:theme xmlns:a="http://schemas.openxmlformats.org/drawingml/2006/main" name="RoomCleaner v10">
  <a:themeElements>
    <a:clrScheme name="RoomCleaner v10">
      <a:dk1>
        <a:srgbClr val="000000"/>
      </a:dk1>
      <a:lt1>
        <a:srgbClr val="FFFFFF"/>
      </a:lt1>
      <a:dk2>
        <a:srgbClr val="404040"/>
      </a:dk2>
      <a:lt2>
        <a:srgbClr val="F2F2F2"/>
      </a:lt2>
      <a:accent1>
        <a:srgbClr val="1F3A5F"/>
      </a:accent1>
      <a:accent2>
        <a:srgbClr val="8A8F98"/>
      </a:accent2>
      <a:accent3>
        <a:srgbClr val="BFC4CB"/>
      </a:accent3>
      <a:accent4>
        <a:srgbClr val="404040"/>
      </a:accent4>
      <a:accent5>
        <a:srgbClr val="D9DEE5"/>
      </a:accent5>
      <a:accent6>
        <a:srgbClr val="5B6470"/>
      </a:accent6>
      <a:hlink>
        <a:srgbClr val="1F3A5F"/>
      </a:hlink>
      <a:folHlink>
        <a:srgbClr val="4F6D8F"/>
      </a:folHlink>
    </a:clrScheme>
    <a:fontScheme name="RoomCleaner v10">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17</Slides>
  <Notes>17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17</vt:i4>
      </vt:variant>
    </vt:vector>
  </HeadingPairs>
  <TitlesOfParts>
    <vt:vector size="2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RoomCleaner</dc:title>
  <dc:subject>PptxGenJS Presentation</dc:subject>
  <dc:creator>Jasper Buntinx</dc:creator>
  <cp:lastModifiedBy>Jasper Buntinx</cp:lastModifiedBy>
  <cp:revision>1</cp:revision>
  <dcterms:created xsi:type="dcterms:W3CDTF">2026-10-27T11:13:23Z</dcterms:created>
  <dcterms:modified xsi:type="dcterms:W3CDTF">2026-10-27T11:13:23Z</dcterms:modified>
</cp:coreProperties>
</file>