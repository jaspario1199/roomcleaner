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5a4cfff-eb09-a2fd-4531-d0891fe50d02}">
          <p14:sldIdLst>
            <p14:sldId id="256"/>
            <p14:sldId id="257"/>
          </p14:sldIdLst>
        </p14:section>
        <p14:section name="Scope" id="{897a2bd8-1bc0-4430-a14e-97b06137f918}">
          <p14:sldIdLst>
            <p14:sldId id="258"/>
          </p14:sldIdLst>
        </p14:section>
        <p14:section name="Fundamentals" id="{b1af1c4d-ab58-973f-7fbc-88041c44eaf3}">
          <p14:sldIdLst>
            <p14:sldId id="259"/>
          </p14:sldIdLst>
        </p14:section>
        <p14:section name="Generation 1" id="{82d52c59-871d-9e0a-1509-fcf14b940b99}">
          <p14:sldIdLst>
            <p14:sldId id="260"/>
            <p14:sldId id="261"/>
          </p14:sldIdLst>
        </p14:section>
        <p14:section name="Homing" id="{4b0febe8-4a29-f506-89d6-bafc8c89675f}">
          <p14:sldIdLst>
            <p14:sldId id="262"/>
          </p14:sldIdLst>
        </p14:section>
        <p14:section name="What a winch needs" id="{fff75296-c03b-fd8a-0b3e-57b2d34a6f1f}">
          <p14:sldIdLst>
            <p14:sldId id="263"/>
          </p14:sldIdLst>
        </p14:section>
        <p14:section name="Modular box" id="{05afb6bc-2d1d-7b0f-bc56-b2fa1f03d924}">
          <p14:sldIdLst>
            <p14:sldId id="264"/>
            <p14:sldId id="265"/>
          </p14:sldIdLst>
        </p14:section>
        <p14:section name="Trade-offs" id="{96538a78-6792-2463-43a4-e066b41b0598}">
          <p14:sldIdLst>
            <p14:sldId id="266"/>
          </p14:sldIdLst>
        </p14:section>
        <p14:section name="Mount assembly" id="{21c869d2-a7db-ddbf-11fe-5cff50650d5e}">
          <p14:sldIdLst>
            <p14:sldId id="267"/>
            <p14:sldId id="268"/>
          </p14:sldIdLst>
        </p14:section>
        <p14:section name="Manufacturing" id="{b978b1f2-c612-b19d-9e97-bd7a66053271}">
          <p14:sldIdLst>
            <p14:sldId id="269"/>
          </p14:sldIdLst>
        </p14:section>
        <p14:section name="Claw" id="{adb71d5b-14dc-4933-b70d-0be789fc54e0}">
          <p14:sldIdLst>
            <p14:sldId id="270"/>
          </p14:sldIdLst>
        </p14:section>
        <p14:section name="Electrical and testing" id="{e04e8081-ba83-4588-adc3-b54a3d45cda8}">
          <p14:sldIdLst>
            <p14:sldId id="271"/>
          </p14:sldIdLst>
        </p14:section>
        <p14:section name="Calibration" id="{7794f3ff-5d31-b3e5-0ee5-029600a50167}">
          <p14:sldIdLst>
            <p14:sldId id="272"/>
          </p14:sldIdLst>
        </p14:section>
        <p14:section name="Next iteration" id="{f9cc674f-0167-090a-6e35-5af63e63532a}">
          <p14:sldIdLst>
            <p14:sldId id="273"/>
          </p14:sldIdLst>
        </p14:section>
        <p14:section name="Close" id="{23bac9b7-e196-7637-d06c-d92179b0052b}">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Room 3.35 x 2.74 m under a 2.74 m ceiling, as reported (DECK_V9_NOTES.md slide 3; v9.1 origins). Design load 0.9 kg jeans, a screening value, plus 2 m/s^2 assumed (REQUIREMENTS R1/R7 via v9.1). Four winches in the studs, one claw on four cables (slide 3 row). PAUSE holds torque; the switched power strip is the emergency stop and drops the claw (D21 via slide 3). Success: one garment floor to hamper, each move approved on the phone; first gate a 1 lb test weight (D19). Cost: $210.78 of parts in the robot for three stations plus $37.74 filament, prices partly estimated (COST_BREAKDOWN_20261026.md headline table).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2 pi r: 47.1 mm at r 7.5 mm to 62.8 mm at r 10 mm (FUNDAMENTALS.md section 2, spool-core study table: Ø15 core, full radius 10.0 mm).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tau_run 0.7 x 0.36 = 0.252 N.m, running pull 0.252 / 0.0075 = 33.6 N and 0.252 / 0.010 = 25.2 N (calculations/lift_chain_weakest_link.json fuse.run_empty / run_full). Vref MEASURED on the board; 0.7 ASSUMED; pull test PLANNED (FUNDAMENTALS section 2 evidence line). Card C: T = W / (4 sin phi), sin phi = d / sqrt(d^2 + D_h^2); W = (0.4536 + 0.45) x 9.81 = 8.86 N (1 lb + the 0.45 kg claw budget), D_h = sqrt(1.676^2 + 1.372^2) = 2.166 m; 32.1 / 16.2 / 8.3 / 4.6 N at 0.15 / 0.3 / 0.6 / 1.2 m (FUNDAMENTALS section 1 table, recomputed); T ~ W D_h / (4 d) for a shallow cable;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 motor and sensor wired back to one place (DESIGN_INTENT_20261027.md 'Iteration 1'). One board stepping four motors: the cables skew by dx = v dt = 50 mm/s x 0.05 s = 2.5 mm per 50 ms of timing error (DECK_V9_NOTES.md slide 10 row; 50 mm/s maximum cable speed, FUNDAMENTALS.md section 2 supplied facts). The ceiling camera: one more device to mount, wire and calibrate in every room; the claw and cables hide the grasp spot from above; its floor map assumes a flat floor; retired Oct 21 (DECISIONS.md D33). Bead homing limits the reachable volume: next slide. Photo 14 (README row 14). Bench fixes from this period are in DOWN_THE_LINE.md.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Bead homing: a stopper bead cannot pass its outlet, so after homing no cable can be shorter than at home; homing all four with the claw at one pose fixes a minimum length on every cable at once: reachable(p) iff ||a_i - p|| &gt;= L_i,home for every i (calculations/bead_reach.py docstring). Reachable share = fraction of grid points in the working volume (60 x 50 x 50 grid, 0.2 m wall margin, z 0.3 to 2.19 m) that satisfy it, home at the room centre: 0.0 % at 0.3 m up, 4.7 % at 1.0 m, 29.1 % at 2.0 m, 32.0 % at 2.19 m (calculations/bead_reach.json). Floor board: nine US-Letter sheets, one AprilTag 36h11 per sheet, 150 mm tags, 250 mm pitch, id 0 = origin (tools/print_floor_board.py; make_floor_board_figure.py). The camera measures the claw pose against the board; cable lengths follow from L_i = ||a_i - p|| (roomcleaner/cdpr/kinematics.py docstring); the startup fit estimates anchors and zero lengths (roomcleaner/cdpr/startup.py, SLACK_TAKEUP to CALIBRATION). No length is clamped, so the whole working volume stays available. Beads stay on the cables as end-of-travel switches (startup.py docstring, REFERENCE_VERIFICATION).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routes 6 + 21 + 23 + 32 = 82 ft, x 10 conductors = 820 ft (250 m) (DECK_V2_OUTLINE.md line 85; DECK_V9_NOTES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82 ft of routes x 2 conductors = 164 ft (50 m) instead of x 10 = 820 ft (250 m) (DECK_V2_OUTLINE.md line 85). Any position and orientation (DESIGN_INTENT). Wire drop: V = I R' L_loop; longest branch 32 ft one way, 64 ft of loop; 16 AWG loop resistance 0.257 ohm over 64 ft = 4.02 ohm/kft; at 2 A: 2 x 0.257 = 0.51 V, 2 A illustrative (FUNDAMENTALS.md section 10; Gen 1 ran the motors' own driver-to-motor leads back to one central box (Jasper, 10/27); their gauge is not recorded, so no Gen 1 drop is shown. [[Jasper: motor lead gauge, printed on the insulation]]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capacity m = F_design / (k g) = 16.8 / (1.101 x 9.81) = 1.56 kg, k = 1.101 the worst-cable tension per unit weight (LP, lift_chain_weakest_link.md; winch_gear3.json direct_drive.capacity_kg 1.555); jeans 1.50 kg: (1.56 - 1.50) / 1.50 = 4 %. Motor temperature chart: two-node thermal network (fin_sizing_4w.py), input P = I^2 R = 1.5^2 x 1.8 = 4.05 W; no temperature measured. Tension Need line: 1 lb + 0.60 kg claw at d 0.4 m: 1.054 x 11.81 / (4 x 0.1816) = 17.1 N; jeans + claw 1.50 kg at d 0.6 m: 16.6 N. Weakest link: cable tension at which each part gives, one station at 1.5 A (lift_chain_weakest_link.md ranking table): motor slip 0.36 / 0.0075 = 48 N; low 48 / sqrt 2 = 33.9 N; high 0.36 x 40/36 / 0.0075 / cos 26.05 deg = 59.4 N (json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Fuse: 0.36 / 0.0075 = 48 N, 33.9 to 59.4 N (lift_chain_weakest_link.md 'The chain and the rule'). Dovetail 0.175 mm a side on 30 deg flanks, measured on Jasper's STEP files (PANEL_FEEDBACK_ANSWERS 'Manufacturing fits', row 'Slide-in mount'; deck_v8 fits table). Photos 45,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Heat P = I^2 R = 1.5^2 x 1.8 = 4.05 W, 1.8 ohm assumed (FUNDAMENTALS section 3). The fin temperatures come from a two-node thermal network (fin_sizing_4w.py) and are not on the slide.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Manufacturing. Process: PETG on a Creality K1, 0.4 mm nozzle, 0.20 mm layers, supports at 30 deg (photos 20, 26; deck_v8 'Manufacturing: Fits and Datums' printing rules: loads along the layers, mating faces off supports). Fin: blank sheared 44 x 250 mm (+/-0.5), five holes drilled in one setup on the manual mill; the edges locate only the first hole, which becomes the mill zero, so the pattern holds +/-0.1 (DECISION_STORIES.md T31/T32 line 277; photo 01). Heat-set inserts: M3 in the claw gear housing, M2.5 at the encoder board (deck_v8 fits table). TPU 95A: pad trials (DESIGN_INTENT 'The gripper'); none in the current build, the hands are PETG (COST_BREAKDOWN section 2; D32). Fits: printed holes come out undersize (FUNDAMENTALS section 12); spool bore Ø5.2 printed too tight on the Ø5.0 shaft, opened to Ø5.45 in v3 (FUNDAMENTALS section 12 supplied facts); dovetail 0.175 mm per side on 30 deg flanks, measured on Jasper's STEP files (deck_v8 fits table; PANEL_FEEDBACK_ANSWERS fits row); 687 bearing pocket Ø14.075 behind a Ø14.000 entry lip, 1.95 mm long, 8 T-slots (FUNDAMENTALS section 12; snap_gear_lip.png from make_mfg_snapshots.py). The hole-sweep fit coupon (Ø5, Ø7, Ø14, -0.10 to +0.30 mm) is PLANNED (FUNDAMENTALS section 12 evidence line). One shell kept a failed layer: a shell, not a load path (DECK_V9_NOTES slide 19 row; photo 35). Make vs buy: bought steppers, drivers, controller boards, servo, camera, battery, encoder boards (DECK_V9_NOTES slide 4 row); made: every printed part and the fin. Printed per station 762 g (estimate: CAD volume x 1.27 g/cm^3 x fill factor, COST_BREAKDOWN section 2); filament 0.762 kg x $15/kg = $11.43 per station; station-only bought parts about $23.70 per station; robot $210.78 parts + $37.74 filament for three stations, prices partly estimated (COST_BREAKDOWN headline table and section 1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on the gear crank, 53 mm opening (CAD; the parallelism figure is a linkage model, not shown);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Electrical. Station boards: the bench checklist (firmware/station_bench_test/README.md) passed on both boards, ELEGOO ESP32 and XIAO (DECK_V9_NOTES slide 20 row, 10/25-10/26). Claw Rev B: camera live view, battery sense and servo pass on the bench (DECK_V9_NOTES slide 21 row; DESIGN_STATE 10/26). On the wall: boxed stations boot and join Wi-Fi on their own; firmware updates over Wi-Fi; motors off until the phone arms them; updates accepted only while disarmed (slide 22 row). Planned: pull test at 1.5 A, 90-minute hold test, first three-station lift (slides 25, 26). Bench details in DOWN_THE_LINE.md. Photos 43, 32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Draft: the slide-in binds on insertion; a 1 deg draft on the dovetail, thicker at the top (slide 24 row, PLANNED). Mount: 597 cm^3 solid (COST_BREAKDOWN section 2), dovetails 225x and screws in a stud 8.9x the motor (lift_chain_weakest_link.md ranking), to about 200 cm^3 (slide 24 row, PLANNED). Gear stage: ratio 3, efficiency 0.9 (winch_gear3.json ratio, eta): 3 x 0.9 = 2.7x torque at the spool at equal current; heat at 1.0 A vs 1.5 A: (1.0/1.5)^2 = 0.44 (1.8 W vs 4.05 W, winch_gear3.json heat).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a:t>
            </a:r>
            <a:endParaRPr lang="en-US" sz="2400" dirty="0"/>
          </a:p>
        </p:txBody>
      </p:sp>
      <p:sp>
        <p:nvSpPr>
          <p:cNvPr id="4" name="card The problem"/>
          <p:cNvSpPr/>
          <p:nvPr/>
        </p:nvSpPr>
        <p:spPr>
          <a:xfrm>
            <a:off x="36576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400"/>
              </a:spcAft>
              <a:buSzPct val="100000"/>
              <a:buChar char="•"/>
            </a:pPr>
            <a:r>
              <a:rPr lang="en-US" sz="1100" dirty="0">
                <a:solidFill>
                  <a:srgbClr val="000000"/>
                </a:solidFill>
              </a:rPr>
              <a:t>Laundry on the floor of a 3.35 x 2.74 m room (as reported)</a:t>
            </a:r>
            <a:endParaRPr lang="en-US" sz="1250" dirty="0"/>
          </a:p>
          <a:p>
            <a:pPr algn="l" marL="152400" indent="-152400">
              <a:spcAft>
                <a:spcPts val="400"/>
              </a:spcAft>
              <a:buSzPct val="100000"/>
              <a:buChar char="•"/>
            </a:pPr>
            <a:r>
              <a:rPr lang="en-US" sz="1100" dirty="0">
                <a:solidFill>
                  <a:srgbClr val="000000"/>
                </a:solidFill>
              </a:rPr>
              <a:t>Ceiling 2.74 m; four studs near the ceiling corners</a:t>
            </a:r>
            <a:endParaRPr lang="en-US" sz="1250" dirty="0"/>
          </a:p>
          <a:p>
            <a:pPr algn="l" marL="152400" indent="-152400">
              <a:spcAft>
                <a:spcPts val="400"/>
              </a:spcAft>
              <a:buSzPct val="100000"/>
              <a:buChar char="•"/>
            </a:pPr>
            <a:r>
              <a:rPr lang="en-US" sz="1100" dirty="0">
                <a:solidFill>
                  <a:srgbClr val="000000"/>
                </a:solidFill>
              </a:rPr>
              <a:t>Design load: a pair of jeans, 0.9 kg (screening value)</a:t>
            </a:r>
            <a:endParaRPr lang="en-US" sz="1250" dirty="0"/>
          </a:p>
          <a:p>
            <a:pPr algn="l" marL="152400" indent="-152400">
              <a:spcAft>
                <a:spcPts val="400"/>
              </a:spcAft>
              <a:buSzPct val="100000"/>
              <a:buChar char="•"/>
            </a:pPr>
            <a:r>
              <a:rPr lang="en-US" sz="1100" dirty="0">
                <a:solidFill>
                  <a:srgbClr val="000000"/>
                </a:solidFill>
              </a:rPr>
              <a:t>Plus 2 m/s² for stops and snags (assumed)</a:t>
            </a:r>
            <a:endParaRPr lang="en-US" sz="1250" dirty="0"/>
          </a:p>
        </p:txBody>
      </p:sp>
      <p:sp>
        <p:nvSpPr>
          <p:cNvPr id="5" name="card The solution"/>
          <p:cNvSpPr/>
          <p:nvPr/>
        </p:nvSpPr>
        <p:spPr>
          <a:xfrm>
            <a:off x="252984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solution</a:t>
            </a:r>
            <a:endParaRPr lang="en-US" sz="1250" dirty="0"/>
          </a:p>
          <a:p>
            <a:pPr algn="l" marL="152400" indent="-152400">
              <a:spcAft>
                <a:spcPts val="400"/>
              </a:spcAft>
              <a:buSzPct val="100000"/>
              <a:buChar char="•"/>
            </a:pPr>
            <a:r>
              <a:rPr lang="en-US" sz="1100" dirty="0">
                <a:solidFill>
                  <a:srgbClr val="000000"/>
                </a:solidFill>
              </a:rPr>
              <a:t>Four ceiling winches, one claw on four cables</a:t>
            </a:r>
            <a:endParaRPr lang="en-US" sz="1250" dirty="0"/>
          </a:p>
          <a:p>
            <a:pPr algn="l" marL="152400" indent="-152400">
              <a:spcAft>
                <a:spcPts val="400"/>
              </a:spcAft>
              <a:buSzPct val="100000"/>
              <a:buChar char="•"/>
            </a:pPr>
            <a:r>
              <a:rPr lang="en-US" sz="1100" dirty="0">
                <a:solidFill>
                  <a:srgbClr val="000000"/>
                </a:solidFill>
              </a:rPr>
              <a:t>Nothing on the floor; the room is the frame</a:t>
            </a:r>
            <a:endParaRPr lang="en-US" sz="1250" dirty="0"/>
          </a:p>
          <a:p>
            <a:pPr algn="l" marL="152400" indent="-152400">
              <a:spcAft>
                <a:spcPts val="400"/>
              </a:spcAft>
              <a:buSzPct val="100000"/>
              <a:buChar char="•"/>
            </a:pPr>
            <a:r>
              <a:rPr lang="en-US" sz="1100" dirty="0">
                <a:solidFill>
                  <a:srgbClr val="000000"/>
                </a:solidFill>
              </a:rPr>
              <a:t>A camera on the claw finds the laundry</a:t>
            </a:r>
            <a:endParaRPr lang="en-US" sz="1250" dirty="0"/>
          </a:p>
          <a:p>
            <a:pPr algn="l" marL="152400" indent="-152400">
              <a:spcAft>
                <a:spcPts val="400"/>
              </a:spcAft>
              <a:buSzPct val="100000"/>
              <a:buChar char="•"/>
            </a:pPr>
            <a:r>
              <a:rPr lang="en-US" sz="1100" dirty="0">
                <a:solidFill>
                  <a:srgbClr val="000000"/>
                </a:solidFill>
              </a:rPr>
              <a:t>Floor to hamper with no human touch</a:t>
            </a:r>
            <a:endParaRPr lang="en-US" sz="1250" dirty="0"/>
          </a:p>
        </p:txBody>
      </p:sp>
      <p:sp>
        <p:nvSpPr>
          <p:cNvPr id="6" name="card How we do it"/>
          <p:cNvSpPr/>
          <p:nvPr/>
        </p:nvSpPr>
        <p:spPr>
          <a:xfrm>
            <a:off x="469392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we do it</a:t>
            </a:r>
            <a:endParaRPr lang="en-US" sz="1250" dirty="0"/>
          </a:p>
          <a:p>
            <a:pPr algn="l" marL="152400" indent="-152400">
              <a:spcAft>
                <a:spcPts val="400"/>
              </a:spcAft>
              <a:buSzPct val="100000"/>
              <a:buChar char="•"/>
            </a:pPr>
            <a:r>
              <a:rPr lang="en-US" sz="1100" dirty="0">
                <a:solidFill>
                  <a:srgbClr val="000000"/>
                </a:solidFill>
              </a:rPr>
              <a:t>I approve each move on the phone</a:t>
            </a:r>
            <a:endParaRPr lang="en-US" sz="1250" dirty="0"/>
          </a:p>
          <a:p>
            <a:pPr algn="l" marL="152400" indent="-152400">
              <a:spcAft>
                <a:spcPts val="400"/>
              </a:spcAft>
              <a:buSzPct val="100000"/>
              <a:buChar char="•"/>
            </a:pPr>
            <a:r>
              <a:rPr lang="en-US" sz="1100" dirty="0">
                <a:solidFill>
                  <a:srgbClr val="000000"/>
                </a:solidFill>
              </a:rPr>
              <a:t>PAUSE holds position with torque on</a:t>
            </a:r>
            <a:endParaRPr lang="en-US" sz="1250" dirty="0"/>
          </a:p>
          <a:p>
            <a:pPr algn="l" marL="152400" indent="-152400">
              <a:spcAft>
                <a:spcPts val="400"/>
              </a:spcAft>
              <a:buSzPct val="100000"/>
              <a:buChar char="•"/>
            </a:pPr>
            <a:r>
              <a:rPr lang="en-US" sz="1100" dirty="0">
                <a:solidFill>
                  <a:srgbClr val="000000"/>
                </a:solidFill>
              </a:rPr>
              <a:t>The switched power strip is the emergency stop; it drops the claw</a:t>
            </a:r>
            <a:endParaRPr lang="en-US" sz="1250" dirty="0"/>
          </a:p>
          <a:p>
            <a:pPr algn="l" marL="152400" indent="-152400">
              <a:spcAft>
                <a:spcPts val="400"/>
              </a:spcAft>
              <a:buSzPct val="100000"/>
              <a:buChar char="•"/>
            </a:pPr>
            <a:r>
              <a:rPr lang="en-US" sz="1100" dirty="0">
                <a:solidFill>
                  <a:srgbClr val="000000"/>
                </a:solidFill>
              </a:rPr>
              <a:t>First gate: a 1 lb test weight, then jeans</a:t>
            </a:r>
            <a:endParaRPr lang="en-US" sz="1250" dirty="0"/>
          </a:p>
          <a:p>
            <a:pPr algn="l" marL="152400" indent="-152400">
              <a:spcAft>
                <a:spcPts val="400"/>
              </a:spcAft>
              <a:buSzPct val="100000"/>
              <a:buChar char="•"/>
            </a:pPr>
            <a:r>
              <a:rPr lang="en-US" sz="1100" dirty="0">
                <a:solidFill>
                  <a:srgbClr val="000000"/>
                </a:solidFill>
              </a:rPr>
              <a:t>Parts in the robot: about $211 for three stations, plus $38 filament (partly estimated)</a:t>
            </a:r>
            <a:endParaRPr lang="en-US" sz="1250" dirty="0"/>
          </a:p>
        </p:txBody>
      </p:sp>
      <p:pic>
        <p:nvPicPr>
          <p:cNvPr id="7" name="The claw hanging in the room corner" descr="The claw hanging in the room corner">    </p:cNvPr>
          <p:cNvPicPr>
            <a:picLocks noChangeAspect="1"/>
          </p:cNvPicPr>
          <p:nvPr/>
        </p:nvPicPr>
        <p:blipFill>
          <a:blip r:embed="rId1"/>
          <a:stretch>
            <a:fillRect/>
          </a:stretch>
        </p:blipFill>
        <p:spPr>
          <a:xfrm>
            <a:off x="6858000" y="868680"/>
            <a:ext cx="1920240" cy="3511296"/>
          </a:xfrm>
          <a:prstGeom prst="rect">
            <a:avLst/>
          </a:prstGeom>
        </p:spPr>
      </p:pic>
      <p:sp>
        <p:nvSpPr>
          <p:cNvPr id="8" name="caption"/>
          <p:cNvSpPr txBox="1"/>
          <p:nvPr/>
        </p:nvSpPr>
        <p:spPr>
          <a:xfrm>
            <a:off x="6858000" y="4416552"/>
            <a:ext cx="1920240" cy="201168"/>
          </a:xfrm>
          <a:prstGeom prst="rect">
            <a:avLst/>
          </a:prstGeom>
          <a:noFill/>
          <a:ln/>
        </p:spPr>
        <p:txBody>
          <a:bodyPr wrap="square" lIns="0" tIns="0" rIns="0" bIns="0" rtlCol="0" anchor="ctr"/>
          <a:lstStyle/>
          <a:p>
            <a:pPr algn="l" indent="0" marL="0">
              <a:buNone/>
            </a:pPr>
            <a:r>
              <a:rPr lang="en-US" sz="850" dirty="0">
                <a:solidFill>
                  <a:schemeClr val="tx2"/>
                </a:solidFill>
              </a:rPr>
              <a:t>The claw hanging in the room corner (Oct 27)</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400"/>
              </a:spcAft>
              <a:buSzPct val="100000"/>
              <a:buChar char="•"/>
            </a:pPr>
            <a:r>
              <a:rPr lang="en-US" sz="1000" dirty="0">
                <a:solidFill>
                  <a:srgbClr val="000000"/>
                </a:solidFill>
              </a:rPr>
              <a:t>Line per spool turn = 2π·r: 2π·7.5 mm = 47.1 mm (empty) → 2π·10 mm = 62.8 mm (full) (calculated)</a:t>
            </a:r>
            <a:endParaRPr lang="en-US" sz="1200" dirty="0"/>
          </a:p>
          <a:p>
            <a:pPr algn="l" marL="152400" indent="-152400">
              <a:spcAft>
                <a:spcPts val="400"/>
              </a:spcAft>
              <a:buSzPct val="100000"/>
              <a:buChar char="•"/>
            </a:pPr>
            <a:r>
              <a:rPr lang="en-US" sz="1000" dirty="0">
                <a:solidFill>
                  <a:srgbClr val="000000"/>
                </a:solidFill>
              </a:rPr>
              <a:t>Four cable lengths, three position unknowns: overdetermined, solved by least squares</a:t>
            </a:r>
            <a:endParaRPr lang="en-US" sz="1200" dirty="0"/>
          </a:p>
          <a:p>
            <a:pPr algn="l" marL="152400" indent="-152400">
              <a:spcAft>
                <a:spcPts val="400"/>
              </a:spcAft>
              <a:buSzPct val="100000"/>
              <a:buChar char="•"/>
            </a:pPr>
            <a:r>
              <a:rPr lang="en-US" sz="1000" dirty="0">
                <a:solidFill>
                  <a:srgbClr val="000000"/>
                </a:solidFill>
              </a:rPr>
              <a:t>The camera on the floor board fixes the anchors and cable lengths at startup (calibration)</a:t>
            </a:r>
            <a:endParaRPr lang="en-US" sz="1200" dirty="0"/>
          </a:p>
          <a:p>
            <a:pPr algn="l" marL="152400" indent="-152400">
              <a:spcAft>
                <a:spcPts val="400"/>
              </a:spcAft>
              <a:buSzPct val="100000"/>
              <a:buChar char="•"/>
            </a:pPr>
            <a:r>
              <a:rPr lang="en-US" sz="1000" dirty="0">
                <a:solidFill>
                  <a:srgbClr val="000000"/>
                </a:solidFill>
              </a:rPr>
              <a:t>Validated in the simulator and by held-out poses during calibration (simulated);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129"/>
              </a:spcAft>
              <a:buNone/>
            </a:pPr>
            <a:r>
              <a:rPr lang="en-US" sz="1200" b="1" dirty="0">
                <a:solidFill>
                  <a:srgbClr val="000000"/>
                </a:solidFill>
              </a:rPr>
              <a:t>Torque → pull on the line</a:t>
            </a:r>
            <a:endParaRPr lang="en-US" sz="1200" dirty="0"/>
          </a:p>
          <a:p>
            <a:pPr algn="l" marL="152400" indent="-152400">
              <a:spcAft>
                <a:spcPts val="400"/>
              </a:spcAft>
              <a:buSzPct val="100000"/>
              <a:buChar char="•"/>
            </a:pPr>
            <a:r>
              <a:rPr lang="en-US" sz="1000" dirty="0">
                <a:solidFill>
                  <a:srgbClr val="000000"/>
                </a:solidFill>
              </a:rPr>
              <a:t>At 1.5 A: τ_run = 0.7 × 0.36 N·m = 0.252 N·m; F = 0.252 / 0.0075 m = 34 N empty, 0.252 / 0.010 m = 25 N full (calculated)</a:t>
            </a:r>
            <a:endParaRPr lang="en-US" sz="1200" dirty="0"/>
          </a:p>
          <a:p>
            <a:pPr algn="l" marL="152400" indent="-152400">
              <a:spcAft>
                <a:spcPts val="400"/>
              </a:spcAft>
              <a:buSzPct val="100000"/>
              <a:buChar char="•"/>
            </a:pPr>
            <a:r>
              <a:rPr lang="en-US" sz="1000" dirty="0">
                <a:solidFill>
                  <a:srgbClr val="000000"/>
                </a:solidFill>
              </a:rPr>
              <a:t>Validated: Vref measured on the board; the 0.7 running fraction is assumed; the pull test is planned</a:t>
            </a:r>
            <a:endParaRPr lang="en-US" sz="1200" dirty="0"/>
          </a:p>
        </p:txBody>
      </p:sp>
      <p:sp>
        <p:nvSpPr>
          <p:cNvPr id="9" name="equation box"/>
          <p:cNvSpPr/>
          <p:nvPr/>
        </p:nvSpPr>
        <p:spPr>
          <a:xfrm>
            <a:off x="3377184" y="1271016"/>
            <a:ext cx="2389632" cy="1103512"/>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957208"/>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400"/>
              </a:spcAft>
              <a:buSzPct val="100000"/>
              <a:buChar char="•"/>
            </a:pPr>
            <a:r>
              <a:rPr lang="en-US" sz="1000" dirty="0">
                <a:solidFill>
                  <a:srgbClr val="000000"/>
                </a:solidFill>
              </a:rPr>
              <a:t>W = (0.454 + 0.45 kg) × 9.81 = 8.86 N, D_h = 2.166 m; d = 0.15 m: 8.86 / (4 × 0.069) = 32 N; 16 / 8.3 / 4.6 N at 0.3 / 0.6 / 1.2 m (calculated)</a:t>
            </a:r>
            <a:endParaRPr lang="en-US" sz="1200" dirty="0"/>
          </a:p>
          <a:p>
            <a:pPr algn="l" marL="152400" indent="-152400">
              <a:spcAft>
                <a:spcPts val="400"/>
              </a:spcAft>
              <a:buSzPct val="100000"/>
              <a:buChar char="•"/>
            </a:pPr>
            <a:r>
              <a:rPr lang="en-US" sz="1000" dirty="0">
                <a:solidFill>
                  <a:srgbClr val="000000"/>
                </a:solidFill>
              </a:rPr>
              <a:t>Shallow cable: T ≈ W·D_h / (4d), so halving the depth doubles the tension</a:t>
            </a:r>
            <a:endParaRPr lang="en-US" sz="1200" dirty="0"/>
          </a:p>
          <a:p>
            <a:pPr algn="l" marL="152400" indent="-152400">
              <a:spcAft>
                <a:spcPts val="400"/>
              </a:spcAft>
              <a:buSzPct val="100000"/>
              <a:buChar char="•"/>
            </a:pPr>
            <a:r>
              <a:rPr lang="en-US" sz="1000" dirty="0">
                <a:solidFill>
                  <a:srgbClr val="000000"/>
                </a:solidFill>
              </a:rPr>
              <a:t>Why the planner keeps the claw at least 0.4 m below the anchors</a:t>
            </a:r>
            <a:endParaRPr lang="en-US" sz="1200" dirty="0"/>
          </a:p>
          <a:p>
            <a:pPr algn="l" marL="152400" indent="-152400">
              <a:spcAft>
                <a:spcPts val="400"/>
              </a:spcAft>
              <a:buSzPct val="100000"/>
              <a:buChar char="•"/>
            </a:pPr>
            <a:r>
              <a:rPr lang="en-US" sz="10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One central board"/>
          <p:cNvSpPr/>
          <p:nvPr/>
        </p:nvSpPr>
        <p:spPr>
          <a:xfrm>
            <a:off x="36576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One central board</a:t>
            </a:r>
            <a:endParaRPr lang="en-US" sz="1250" dirty="0"/>
          </a:p>
          <a:p>
            <a:pPr algn="l" marL="152400" indent="-152400">
              <a:spcAft>
                <a:spcPts val="6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600"/>
              </a:spcAft>
              <a:buSzPct val="100000"/>
              <a:buChar char="•"/>
            </a:pPr>
            <a:r>
              <a:rPr lang="en-US" sz="1100" dirty="0">
                <a:solidFill>
                  <a:srgbClr val="000000"/>
                </a:solidFill>
              </a:rPr>
              <a:t>One board steps all four motors; a timing error skews the cables</a:t>
            </a:r>
            <a:endParaRPr lang="en-US" sz="1250" dirty="0"/>
          </a:p>
          <a:p>
            <a:pPr algn="l" marL="152400" indent="-152400">
              <a:spcAft>
                <a:spcPts val="600"/>
              </a:spcAft>
              <a:buSzPct val="100000"/>
              <a:buChar char="•"/>
            </a:pPr>
            <a:r>
              <a:rPr lang="en-US" sz="1100" dirty="0">
                <a:solidFill>
                  <a:srgbClr val="000000"/>
                </a:solidFill>
              </a:rPr>
              <a:t>Skew Δx = v·Δt = 50 mm/s × 0.05 s = 2.5 mm per 50 ms (calculated)</a:t>
            </a:r>
            <a:endParaRPr lang="en-US" sz="1250" dirty="0"/>
          </a:p>
          <a:p>
            <a:pPr algn="l" marL="152400" indent="-152400">
              <a:spcAft>
                <a:spcPts val="600"/>
              </a:spcAft>
              <a:buSzPct val="100000"/>
              <a:buChar char="•"/>
            </a:pPr>
            <a:r>
              <a:rPr lang="en-US" sz="1100" dirty="0">
                <a:solidFill>
                  <a:srgbClr val="000000"/>
                </a:solidFill>
              </a:rPr>
              <a:t>Moving a winch means re-running wire to the box</a:t>
            </a:r>
            <a:endParaRPr lang="en-US" sz="1250" dirty="0"/>
          </a:p>
        </p:txBody>
      </p:sp>
      <p:sp>
        <p:nvSpPr>
          <p:cNvPr id="5" name="card Ceiling camera and bead homing"/>
          <p:cNvSpPr/>
          <p:nvPr/>
        </p:nvSpPr>
        <p:spPr>
          <a:xfrm>
            <a:off x="338328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Ceiling camera and bead homing</a:t>
            </a:r>
            <a:endParaRPr lang="en-US" sz="1250" dirty="0"/>
          </a:p>
          <a:p>
            <a:pPr algn="l" marL="152400" indent="-152400">
              <a:spcAft>
                <a:spcPts val="600"/>
              </a:spcAft>
              <a:buSzPct val="100000"/>
              <a:buChar char="•"/>
            </a:pPr>
            <a:r>
              <a:rPr lang="en-US" sz="1100" dirty="0">
                <a:solidFill>
                  <a:srgbClr val="000000"/>
                </a:solidFill>
              </a:rPr>
              <a:t>The ceiling camera: one more device to mount, wire and calibrate per room</a:t>
            </a:r>
            <a:endParaRPr lang="en-US" sz="1250" dirty="0"/>
          </a:p>
          <a:p>
            <a:pPr algn="l" marL="152400" indent="-152400">
              <a:spcAft>
                <a:spcPts val="600"/>
              </a:spcAft>
              <a:buSzPct val="100000"/>
              <a:buChar char="•"/>
            </a:pPr>
            <a:r>
              <a:rPr lang="en-US" sz="1100" dirty="0">
                <a:solidFill>
                  <a:srgbClr val="000000"/>
                </a:solidFill>
              </a:rPr>
              <a:t>From above, the claw and cables hide the grasp spot</a:t>
            </a:r>
            <a:endParaRPr lang="en-US" sz="1250" dirty="0"/>
          </a:p>
          <a:p>
            <a:pPr algn="l" marL="152400" indent="-152400">
              <a:spcAft>
                <a:spcPts val="600"/>
              </a:spcAft>
              <a:buSzPct val="100000"/>
              <a:buChar char="•"/>
            </a:pPr>
            <a:r>
              <a:rPr lang="en-US" sz="1100" dirty="0">
                <a:solidFill>
                  <a:srgbClr val="000000"/>
                </a:solidFill>
              </a:rPr>
              <a:t>Its floor map assumes a flat floor; retired Oct 21</a:t>
            </a:r>
            <a:endParaRPr lang="en-US" sz="1250" dirty="0"/>
          </a:p>
          <a:p>
            <a:pPr algn="l" marL="152400" indent="-152400">
              <a:spcAft>
                <a:spcPts val="600"/>
              </a:spcAft>
              <a:buSzPct val="100000"/>
              <a:buChar char="•"/>
            </a:pPr>
            <a:r>
              <a:rPr lang="en-US" sz="1100" dirty="0">
                <a:solidFill>
                  <a:srgbClr val="000000"/>
                </a:solidFill>
              </a:rPr>
              <a:t>Bead homing fixes a minimum length on every cable: next slide</a:t>
            </a:r>
            <a:endParaRPr lang="en-US" sz="1250" dirty="0"/>
          </a:p>
        </p:txBody>
      </p:sp>
      <p:pic>
        <p:nvPicPr>
          <p:cNvPr id="6" name="CNC shield with four A4988 drivers" descr="CNC shield with four A4988 drivers">    </p:cNvPr>
          <p:cNvPicPr>
            <a:picLocks noChangeAspect="1"/>
          </p:cNvPicPr>
          <p:nvPr/>
        </p:nvPicPr>
        <p:blipFill>
          <a:blip r:embed="rId1"/>
          <a:stretch>
            <a:fillRect/>
          </a:stretch>
        </p:blipFill>
        <p:spPr>
          <a:xfrm>
            <a:off x="6400800" y="868680"/>
            <a:ext cx="2377440" cy="3511296"/>
          </a:xfrm>
          <a:prstGeom prst="rect">
            <a:avLst/>
          </a:prstGeom>
        </p:spPr>
      </p:pic>
      <p:sp>
        <p:nvSpPr>
          <p:cNvPr id="7" name="caption"/>
          <p:cNvSpPr txBox="1"/>
          <p:nvPr/>
        </p:nvSpPr>
        <p:spPr>
          <a:xfrm>
            <a:off x="6400800" y="4416552"/>
            <a:ext cx="23774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one shield, four drivers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Homing: one floor board instead of four beads</a:t>
            </a:r>
            <a:endParaRPr lang="en-US" sz="2400" dirty="0"/>
          </a:p>
        </p:txBody>
      </p:sp>
      <p:sp>
        <p:nvSpPr>
          <p:cNvPr id="4" name="card Bead homing"/>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3866"/>
              </a:spcAft>
              <a:buNone/>
            </a:pPr>
            <a:r>
              <a:rPr lang="en-US" sz="1200" b="1" dirty="0">
                <a:solidFill>
                  <a:srgbClr val="000000"/>
                </a:solidFill>
              </a:rPr>
              <a:t>Bead homing</a:t>
            </a:r>
            <a:endParaRPr lang="en-US" sz="1200" dirty="0"/>
          </a:p>
          <a:p>
            <a:pPr algn="l" marL="152400" indent="-152400">
              <a:spcAft>
                <a:spcPts val="500"/>
              </a:spcAft>
              <a:buSzPct val="100000"/>
              <a:buChar char="•"/>
            </a:pPr>
            <a:r>
              <a:rPr lang="en-US" sz="1000" dirty="0">
                <a:solidFill>
                  <a:srgbClr val="000000"/>
                </a:solidFill>
              </a:rPr>
              <a:t>A stopper bead cannot pass its outlet: after homing, no cable can be shorter than at home</a:t>
            </a:r>
            <a:endParaRPr lang="en-US" sz="1200" dirty="0"/>
          </a:p>
          <a:p>
            <a:pPr algn="l" marL="152400" indent="-152400">
              <a:spcAft>
                <a:spcPts val="500"/>
              </a:spcAft>
              <a:buSzPct val="100000"/>
              <a:buChar char="•"/>
            </a:pPr>
            <a:r>
              <a:rPr lang="en-US" sz="1000" dirty="0">
                <a:solidFill>
                  <a:srgbClr val="000000"/>
                </a:solidFill>
              </a:rPr>
              <a:t>Homing all four at once fixes a minimum length on every cable at the same time</a:t>
            </a:r>
            <a:endParaRPr lang="en-US" sz="1200" dirty="0"/>
          </a:p>
          <a:p>
            <a:pPr algn="l" marL="152400" indent="-152400">
              <a:spcAft>
                <a:spcPts val="500"/>
              </a:spcAft>
              <a:buSzPct val="100000"/>
              <a:buChar char="•"/>
            </a:pPr>
            <a:r>
              <a:rPr lang="en-US" sz="1000" dirty="0">
                <a:solidFill>
                  <a:srgbClr val="000000"/>
                </a:solidFill>
              </a:rPr>
              <a:t>Reachable volume, grid count (calculated): 0.0 % (home 0.3 m) to 32.0 % (home 2.19 m); 4.7 % at 1.0 m, 29.1 % at 2.0 m</a:t>
            </a:r>
            <a:endParaRPr lang="en-US" sz="1200" dirty="0"/>
          </a:p>
        </p:txBody>
      </p:sp>
      <p:sp>
        <p:nvSpPr>
          <p:cNvPr id="5" name="equation box"/>
          <p:cNvSpPr/>
          <p:nvPr/>
        </p:nvSpPr>
        <p:spPr>
          <a:xfrm>
            <a:off x="512064" y="1271016"/>
            <a:ext cx="2404872" cy="326447"/>
          </a:xfrm>
          <a:prstGeom prst="rect">
            <a:avLst/>
          </a:prstGeom>
          <a:solidFill>
            <a:srgbClr val="FFFFFF"/>
          </a:solidFill>
          <a:ln w="9525">
            <a:solidFill>
              <a:srgbClr val="000000"/>
            </a:solidFill>
            <a:prstDash val="solid"/>
          </a:ln>
        </p:spPr>
      </p:sp>
      <p:pic>
        <p:nvPicPr>
          <p:cNvPr id="6" name="equation" descr="reachable(p) if and only if ||a_i - p|| &gt;= L_i,home for every cable i">    </p:cNvPr>
          <p:cNvPicPr>
            <a:picLocks noChangeAspect="1"/>
          </p:cNvPicPr>
          <p:nvPr/>
        </p:nvPicPr>
        <p:blipFill>
          <a:blip r:embed="rId1"/>
          <a:stretch>
            <a:fillRect/>
          </a:stretch>
        </p:blipFill>
        <p:spPr>
          <a:xfrm>
            <a:off x="585216" y="1344168"/>
            <a:ext cx="2258568" cy="180143"/>
          </a:xfrm>
          <a:prstGeom prst="rect">
            <a:avLst/>
          </a:prstGeom>
        </p:spPr>
      </p:pic>
      <p:pic>
        <p:nvPicPr>
          <p:cNvPr id="7" name="chart bead" descr="Reachable share of the working volume vs bead homing height (calculated)">    </p:cNvPr>
          <p:cNvPicPr>
            <a:picLocks noChangeAspect="1"/>
          </p:cNvPicPr>
          <p:nvPr/>
        </p:nvPicPr>
        <p:blipFill>
          <a:blip r:embed="rId2"/>
          <a:stretch>
            <a:fillRect/>
          </a:stretch>
        </p:blipFill>
        <p:spPr>
          <a:xfrm>
            <a:off x="3200400" y="868680"/>
            <a:ext cx="1874520" cy="3474720"/>
          </a:xfrm>
          <a:prstGeom prst="rect">
            <a:avLst/>
          </a:prstGeom>
        </p:spPr>
      </p:pic>
      <p:sp>
        <p:nvSpPr>
          <p:cNvPr id="8" name="caption"/>
          <p:cNvSpPr txBox="1"/>
          <p:nvPr/>
        </p:nvSpPr>
        <p:spPr>
          <a:xfrm>
            <a:off x="3200400" y="4416552"/>
            <a:ext cx="1874520" cy="201168"/>
          </a:xfrm>
          <a:prstGeom prst="rect">
            <a:avLst/>
          </a:prstGeom>
          <a:noFill/>
          <a:ln/>
        </p:spPr>
        <p:txBody>
          <a:bodyPr wrap="square" lIns="0" tIns="0" rIns="0" bIns="0" rtlCol="0" anchor="ctr"/>
          <a:lstStyle/>
          <a:p>
            <a:pPr algn="l" indent="0" marL="0">
              <a:buNone/>
            </a:pPr>
            <a:r>
              <a:rPr lang="en-US" sz="850" dirty="0">
                <a:solidFill>
                  <a:schemeClr val="tx2"/>
                </a:solidFill>
              </a:rPr>
              <a:t>Grid count of the condition above</a:t>
            </a:r>
            <a:endParaRPr lang="en-US" sz="850" dirty="0"/>
          </a:p>
        </p:txBody>
      </p:sp>
      <p:sp>
        <p:nvSpPr>
          <p:cNvPr id="9" name="card Floor-board homing"/>
          <p:cNvSpPr/>
          <p:nvPr/>
        </p:nvSpPr>
        <p:spPr>
          <a:xfrm>
            <a:off x="5212080" y="868680"/>
            <a:ext cx="356616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00" b="1" dirty="0">
                <a:solidFill>
                  <a:srgbClr val="000000"/>
                </a:solidFill>
              </a:rPr>
              <a:t>Floor-board homing</a:t>
            </a:r>
            <a:endParaRPr lang="en-US" sz="1200" dirty="0"/>
          </a:p>
          <a:p>
            <a:pPr algn="l" marL="152400" indent="-152400">
              <a:spcAft>
                <a:spcPts val="400"/>
              </a:spcAft>
              <a:buSzPct val="100000"/>
              <a:buChar char="•"/>
            </a:pPr>
            <a:r>
              <a:rPr lang="en-US" sz="1000" dirty="0">
                <a:solidFill>
                  <a:srgbClr val="000000"/>
                </a:solidFill>
              </a:rPr>
              <a:t>The camera measures the claw pose against tag 0</a:t>
            </a:r>
            <a:endParaRPr lang="en-US" sz="1200" dirty="0"/>
          </a:p>
          <a:p>
            <a:pPr algn="l" marL="152400" indent="-152400">
              <a:spcAft>
                <a:spcPts val="400"/>
              </a:spcAft>
              <a:buSzPct val="100000"/>
              <a:buChar char="•"/>
            </a:pPr>
            <a:r>
              <a:rPr lang="en-US" sz="1000" dirty="0">
                <a:solidFill>
                  <a:srgbClr val="000000"/>
                </a:solidFill>
              </a:rPr>
              <a:t>Cable lengths follow from L_i = ‖a_i − p‖</a:t>
            </a:r>
            <a:endParaRPr lang="en-US" sz="1200" dirty="0"/>
          </a:p>
          <a:p>
            <a:pPr algn="l" marL="152400" indent="-152400">
              <a:spcAft>
                <a:spcPts val="400"/>
              </a:spcAft>
              <a:buSzPct val="100000"/>
              <a:buChar char="•"/>
            </a:pPr>
            <a:r>
              <a:rPr lang="en-US" sz="1000" dirty="0">
                <a:solidFill>
                  <a:srgbClr val="000000"/>
                </a:solidFill>
              </a:rPr>
              <a:t>No length is clamped: the whole working volume stays available</a:t>
            </a:r>
            <a:endParaRPr lang="en-US" sz="1200" dirty="0"/>
          </a:p>
          <a:p>
            <a:pPr algn="l" marL="152400" indent="-152400">
              <a:spcAft>
                <a:spcPts val="400"/>
              </a:spcAft>
              <a:buSzPct val="100000"/>
              <a:buChar char="•"/>
            </a:pPr>
            <a:r>
              <a:rPr lang="en-US" sz="1000" dirty="0">
                <a:solidFill>
                  <a:srgbClr val="000000"/>
                </a:solidFill>
              </a:rPr>
              <a:t>Nine sheets, 150 mm tags, 250 mm pitch, id 0 = origin</a:t>
            </a:r>
            <a:endParaRPr lang="en-US" sz="1200" dirty="0"/>
          </a:p>
        </p:txBody>
      </p:sp>
      <p:pic>
        <p:nvPicPr>
          <p:cNvPr id="10" name="Floor board: nine AprilTag 36h11 sheets," descr="Floor board: nine AprilTag 36h11 sheets, 150 mm tags, 250 mm pitch, id 0 is the origin">    </p:cNvPr>
          <p:cNvPicPr>
            <a:picLocks noChangeAspect="1"/>
          </p:cNvPicPr>
          <p:nvPr/>
        </p:nvPicPr>
        <p:blipFill>
          <a:blip r:embed="rId3"/>
          <a:stretch>
            <a:fillRect/>
          </a:stretch>
        </p:blipFill>
        <p:spPr>
          <a:xfrm>
            <a:off x="6008133" y="2423160"/>
            <a:ext cx="1974054" cy="21031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a:t>
            </a:r>
            <a:endParaRPr lang="en-US" sz="1250" dirty="0"/>
          </a:p>
          <a:p>
            <a:pPr algn="l" marL="152400" indent="-152400">
              <a:spcAft>
                <a:spcPts val="500"/>
              </a:spcAft>
              <a:buSzPct val="100000"/>
              <a:buChar char="•"/>
            </a:pPr>
            <a:r>
              <a:rPr lang="en-US" sz="1100" dirty="0">
                <a:solidFill>
                  <a:srgbClr val="000000"/>
                </a:solidFill>
              </a:rPr>
              <a:t>Routes 6 + 21 + 23 + 32 = 82 ft; × 10 conductors = 820 ft (250 m) of wire to one box (calculated)</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a:t>
            </a:r>
            <a:endParaRPr lang="en-US" sz="1250" dirty="0"/>
          </a:p>
          <a:p>
            <a:pPr algn="l" marL="152400" indent="-152400">
              <a:spcAft>
                <a:spcPts val="500"/>
              </a:spcAft>
              <a:buSzPct val="100000"/>
              <a:buChar char="•"/>
            </a:pPr>
            <a:r>
              <a:rPr lang="en-US" sz="1100" dirty="0">
                <a:solidFill>
                  <a:srgbClr val="000000"/>
                </a:solidFill>
              </a:rPr>
              <a:t>82 ft × 2 conductors = 164 ft (50 m) of wire, not 820 ft (calculated)</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Power wire: 16 AWG"/>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Power wire: 16 AWG</a:t>
            </a:r>
            <a:endParaRPr lang="en-US" sz="1250" dirty="0"/>
          </a:p>
          <a:p>
            <a:pPr algn="l" marL="152400" indent="-152400">
              <a:spcAft>
                <a:spcPts val="500"/>
              </a:spcAft>
              <a:buSzPct val="100000"/>
              <a:buChar char="•"/>
            </a:pPr>
            <a:r>
              <a:rPr lang="en-US" sz="1100" dirty="0">
                <a:solidFill>
                  <a:srgbClr val="000000"/>
                </a:solidFill>
              </a:rPr>
              <a:t>Gen 1: the motor's own driver-to-motor leads run back to one central box</a:t>
            </a:r>
            <a:endParaRPr lang="en-US" sz="1250" dirty="0"/>
          </a:p>
          <a:p>
            <a:pPr algn="l" marL="152400" indent="-152400">
              <a:spcAft>
                <a:spcPts val="500"/>
              </a:spcAft>
              <a:buSzPct val="100000"/>
              <a:buChar char="•"/>
            </a:pPr>
            <a:r>
              <a:rPr lang="en-US" sz="1100" dirty="0">
                <a:solidFill>
                  <a:srgbClr val="000000"/>
                </a:solidFill>
              </a:rPr>
              <a:t>Now: one 16 AWG pair per box; longest branch 32 ft one way, 64 ft of loop</a:t>
            </a:r>
            <a:endParaRPr lang="en-US" sz="1250" dirty="0"/>
          </a:p>
          <a:p>
            <a:pPr algn="l" marL="152400" indent="-152400">
              <a:spcAft>
                <a:spcPts val="500"/>
              </a:spcAft>
              <a:buSzPct val="100000"/>
              <a:buChar char="•"/>
            </a:pPr>
            <a:r>
              <a:rPr lang="en-US" sz="1100" dirty="0">
                <a:solidFill>
                  <a:srgbClr val="000000"/>
                </a:solidFill>
              </a:rPr>
              <a:t>V = I·R′·L_loop = 2 A × 4.02 Ω/kft × 0.064 kft = 0.51 V, 4.3 % of 12 V (calculated)</a:t>
            </a:r>
            <a:endParaRPr lang="en-US" sz="1250" dirty="0"/>
          </a:p>
          <a:p>
            <a:pPr algn="l" marL="152400" indent="-152400">
              <a:spcAft>
                <a:spcPts val="500"/>
              </a:spcAft>
              <a:buSzPct val="100000"/>
              <a:buChar char="•"/>
            </a:pPr>
            <a:r>
              <a:rPr lang="en-US" sz="1100" dirty="0">
                <a:solidFill>
                  <a:srgbClr val="000000"/>
                </a:solidFill>
              </a:rPr>
              <a:t>2 A is an illustrative current; the branch current is not measured</a:t>
            </a:r>
            <a:endParaRPr lang="en-US" sz="1250" dirty="0"/>
          </a:p>
          <a:p>
            <a:pPr algn="l" marL="152400" indent="-152400">
              <a:spcAft>
                <a:spcPts val="500"/>
              </a:spcAft>
              <a:buSzPct val="100000"/>
              <a:buChar char="•"/>
            </a:pPr>
            <a:r>
              <a:rPr lang="en-US" sz="1100" dirty="0">
                <a:solidFill>
                  <a:srgbClr val="000000"/>
                </a:solidFill>
              </a:rPr>
              <a:t>Cost: $30 per 100 ft × 65 ft for three stations = $19.50 (price estimated)</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T = m(g + a) / (4 sin φ): 1 lb at d 0.4 m → 17.1 N vs 16.8 N limit; jeans need d ≥ 0.6 m (16.6 N)</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&lt; 60 °C. Two-node thermal network; input P = I²R = 1.5² × 1.8 Ω = 4.05 W</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F = 0.252 N·m / r: 34 N (7.5 mm), 25 N (10 mm); ÷ 1.5 = 16.8 N ≥ 16.2 N jeans</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16.8 N / (1.101 × 9.81) = 1.56 kg vs 1.50 kg: +4 %; claw 0.60 kg weighed vs 0.45 budget</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Motor slip 0.36 N·m / 7.5 mm = 48 N; × 1/√2 = 34 N, × 1.11 / cos 26° = 59 N</a:t>
            </a:r>
            <a:endParaRPr lang="en-US" sz="85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400"/>
              </a:spcAft>
              <a:buSzPct val="100000"/>
              <a:buChar char="•"/>
            </a:pPr>
            <a:r>
              <a:rPr lang="en-US" sz="1000" dirty="0">
                <a:solidFill>
                  <a:srgbClr val="000000"/>
                </a:solidFill>
              </a:rPr>
              <a:t>Pull ∝ I; heat P = I²R ∝ I²</a:t>
            </a:r>
            <a:endParaRPr lang="en-US" sz="1250" dirty="0"/>
          </a:p>
          <a:p>
            <a:pPr algn="l" marL="152400" indent="-152400">
              <a:spcAft>
                <a:spcPts val="400"/>
              </a:spcAft>
              <a:buSzPct val="100000"/>
              <a:buChar char="•"/>
            </a:pPr>
            <a:r>
              <a:rPr lang="en-US" sz="1000" dirty="0">
                <a:solidFill>
                  <a:srgbClr val="000000"/>
                </a:solidFill>
              </a:rPr>
              <a:t>1.0 → 1.5 A: pull × 1.5, heat × 1.5² = 2.25 (calculated)</a:t>
            </a:r>
            <a:endParaRPr lang="en-US" sz="1250" dirty="0"/>
          </a:p>
          <a:p>
            <a:pPr algn="l" marL="152400" indent="-152400">
              <a:spcAft>
                <a:spcPts val="400"/>
              </a:spcAft>
              <a:buSzPct val="100000"/>
              <a:buChar char="•"/>
            </a:pPr>
            <a:r>
              <a:rPr lang="en-US" sz="1000" dirty="0">
                <a:solidFill>
                  <a:srgbClr val="000000"/>
                </a:solidFill>
              </a:rPr>
              <a:t>Every gram on the claw is a gram of payload</a:t>
            </a:r>
            <a:endParaRPr lang="en-US" sz="1250" dirty="0"/>
          </a:p>
          <a:p>
            <a:pPr algn="l" marL="152400" indent="-152400">
              <a:spcAft>
                <a:spcPts val="400"/>
              </a:spcAft>
              <a:buSzPct val="100000"/>
              <a:buChar char="•"/>
            </a:pPr>
            <a:r>
              <a:rPr lang="en-US" sz="1000" dirty="0">
                <a:solidFill>
                  <a:srgbClr val="000000"/>
                </a:solidFill>
              </a:rPr>
              <a:t>The printed set screw (22–64 N) may slip before the motor: metal insert</a:t>
            </a:r>
            <a:endParaRPr lang="en-US" sz="1250" dirty="0"/>
          </a:p>
          <a:p>
            <a:pPr algn="l" marL="152400" indent="-152400">
              <a:spcAft>
                <a:spcPts val="400"/>
              </a:spcAft>
              <a:buSzPct val="100000"/>
              <a:buChar char="•"/>
            </a:pPr>
            <a:r>
              <a:rPr lang="en-US" sz="1000" dirty="0">
                <a:solidFill>
                  <a:srgbClr val="000000"/>
                </a:solidFill>
              </a:rPr>
              <a:t>The pull test and the hold test are planned</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clearance 0.175 mm per side on 30° flanks (measured on the CAD)</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Motor slips first: F = τ/r = 0.36 N·m / 7.5 mm = 48 N; 34–59 N over torque vector and cable angle (calculated)</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Fin, vents, stud</a:t>
            </a:r>
            <a:endParaRPr lang="en-US" sz="1250" dirty="0"/>
          </a:p>
          <a:p>
            <a:pPr algn="l" marL="152400" indent="-152400">
              <a:spcAft>
                <a:spcPts val="500"/>
              </a:spcAft>
              <a:buSzPct val="100000"/>
              <a:buChar char="•"/>
            </a:pPr>
            <a:r>
              <a:rPr lang="en-US" sz="1100" dirty="0">
                <a:solidFill>
                  <a:srgbClr val="000000"/>
                </a:solidFill>
              </a:rPr>
              <a:t>The fin: aluminium on the motor face, out through a slot in the top of the shell</a:t>
            </a:r>
            <a:endParaRPr lang="en-US" sz="1250" dirty="0"/>
          </a:p>
          <a:p>
            <a:pPr algn="l" marL="152400" indent="-152400">
              <a:spcAft>
                <a:spcPts val="500"/>
              </a:spcAft>
              <a:buSzPct val="100000"/>
              <a:buChar char="•"/>
            </a:pPr>
            <a:r>
              <a:rPr lang="en-US" sz="1100" dirty="0">
                <a:solidFill>
                  <a:srgbClr val="000000"/>
                </a:solidFill>
              </a:rPr>
              <a:t>Motor heat P = I²R = 1.5² × 1.8 Ω = 4.05 W leaves through vents and fin (calculated)</a:t>
            </a:r>
            <a:endParaRPr lang="en-US" sz="1250" dirty="0"/>
          </a:p>
          <a:p>
            <a:pPr algn="l" marL="152400" indent="-152400">
              <a:spcAft>
                <a:spcPts val="500"/>
              </a:spcAft>
              <a:buSzPct val="100000"/>
              <a:buChar char="•"/>
            </a:pPr>
            <a:r>
              <a:rPr lang="en-US" sz="1100" dirty="0">
                <a:solidFill>
                  <a:srgbClr val="000000"/>
                </a:solidFill>
              </a:rPr>
              <a:t>First station in a stud on the TV wall, 12 V down the wall</a:t>
            </a:r>
            <a:endParaRPr lang="en-US" sz="1250" dirty="0"/>
          </a:p>
          <a:p>
            <a:pPr algn="l" marL="152400" indent="-152400">
              <a:spcAft>
                <a:spcPts val="500"/>
              </a:spcAft>
              <a:buSzPct val="100000"/>
              <a:buChar char="•"/>
            </a:pPr>
            <a:r>
              <a:rPr lang="en-US" sz="1100" dirty="0">
                <a:solidFill>
                  <a:srgbClr val="000000"/>
                </a:solidFill>
              </a:rPr>
              <a:t>The slide-in binds on insertion today; a 1° draft on the dovetail is the next iteration</a:t>
            </a:r>
            <a:endParaRPr lang="en-US" sz="1250" dirty="0"/>
          </a:p>
        </p:txBody>
      </p:sp>
      <p:pic>
        <p:nvPicPr>
          <p:cNvPr id="5"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6"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7"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8"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9"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0"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1700" b="1" dirty="0">
                <a:solidFill>
                  <a:schemeClr val="tx1"/>
                </a:solidFill>
              </a:rPr>
              <a:t>Manufacturing: what was made in-house, and how fits were controlled</a:t>
            </a:r>
            <a:endParaRPr lang="en-US" sz="1700" dirty="0"/>
          </a:p>
        </p:txBody>
      </p:sp>
      <p:sp>
        <p:nvSpPr>
          <p:cNvPr id="4" name="card Processes"/>
          <p:cNvSpPr/>
          <p:nvPr/>
        </p:nvSpPr>
        <p:spPr>
          <a:xfrm>
            <a:off x="365760" y="868680"/>
            <a:ext cx="278892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Processes</a:t>
            </a:r>
            <a:endParaRPr lang="en-US" sz="1150" dirty="0"/>
          </a:p>
          <a:p>
            <a:pPr algn="l" marL="152400" indent="-152400">
              <a:spcAft>
                <a:spcPts val="300"/>
              </a:spcAft>
              <a:buSzPct val="100000"/>
              <a:buChar char="•"/>
            </a:pPr>
            <a:r>
              <a:rPr lang="en-US" sz="950" dirty="0">
                <a:solidFill>
                  <a:srgbClr val="000000"/>
                </a:solidFill>
              </a:rPr>
              <a:t>PETG, FDM: 0.4 mm nozzle, 0.20 mm layers, supports at 30°; loads along the layers</a:t>
            </a:r>
            <a:endParaRPr lang="en-US" sz="1150" dirty="0"/>
          </a:p>
          <a:p>
            <a:pPr algn="l" marL="152400" indent="-152400">
              <a:spcAft>
                <a:spcPts val="300"/>
              </a:spcAft>
              <a:buSzPct val="100000"/>
              <a:buChar char="•"/>
            </a:pPr>
            <a:r>
              <a:rPr lang="en-US" sz="950" dirty="0">
                <a:solidFill>
                  <a:srgbClr val="000000"/>
                </a:solidFill>
              </a:rPr>
              <a:t>Aluminium fin: sheared blank, five holes drilled in one mill setup</a:t>
            </a:r>
            <a:endParaRPr lang="en-US" sz="1150" dirty="0"/>
          </a:p>
          <a:p>
            <a:pPr algn="l" marL="152400" indent="-152400">
              <a:spcAft>
                <a:spcPts val="300"/>
              </a:spcAft>
              <a:buSzPct val="100000"/>
              <a:buChar char="•"/>
            </a:pPr>
            <a:r>
              <a:rPr lang="en-US" sz="950" dirty="0">
                <a:solidFill>
                  <a:srgbClr val="000000"/>
                </a:solidFill>
              </a:rPr>
              <a:t>First hole is the mill zero: pattern ±0.1 mm vs ±0.5 mm sheared edges</a:t>
            </a:r>
            <a:endParaRPr lang="en-US" sz="1150" dirty="0"/>
          </a:p>
          <a:p>
            <a:pPr algn="l" marL="152400" indent="-152400">
              <a:spcAft>
                <a:spcPts val="300"/>
              </a:spcAft>
              <a:buSzPct val="100000"/>
              <a:buChar char="•"/>
            </a:pPr>
            <a:r>
              <a:rPr lang="en-US" sz="950" dirty="0">
                <a:solidFill>
                  <a:srgbClr val="000000"/>
                </a:solidFill>
              </a:rPr>
              <a:t>Heat-set inserts: M3 gear housing, M2.5 encoder board</a:t>
            </a:r>
            <a:endParaRPr lang="en-US" sz="1150" dirty="0"/>
          </a:p>
        </p:txBody>
      </p:sp>
      <p:sp>
        <p:nvSpPr>
          <p:cNvPr id="5" name="card Make vs buy"/>
          <p:cNvSpPr/>
          <p:nvPr/>
        </p:nvSpPr>
        <p:spPr>
          <a:xfrm>
            <a:off x="365760" y="3017520"/>
            <a:ext cx="278892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Make vs buy</a:t>
            </a:r>
            <a:endParaRPr lang="en-US" sz="1150" dirty="0"/>
          </a:p>
          <a:p>
            <a:pPr algn="l" marL="152400" indent="-152400">
              <a:spcAft>
                <a:spcPts val="300"/>
              </a:spcAft>
              <a:buSzPct val="100000"/>
              <a:buChar char="•"/>
            </a:pPr>
            <a:r>
              <a:rPr lang="en-US" sz="950" dirty="0">
                <a:solidFill>
                  <a:srgbClr val="000000"/>
                </a:solidFill>
              </a:rPr>
              <a:t>Bought: steppers, drivers, boards, servo, camera, battery, encoders</a:t>
            </a:r>
            <a:endParaRPr lang="en-US" sz="1150" dirty="0"/>
          </a:p>
          <a:p>
            <a:pPr algn="l" marL="152400" indent="-152400">
              <a:spcAft>
                <a:spcPts val="300"/>
              </a:spcAft>
              <a:buSzPct val="100000"/>
              <a:buChar char="•"/>
            </a:pPr>
            <a:r>
              <a:rPr lang="en-US" sz="950" dirty="0">
                <a:solidFill>
                  <a:srgbClr val="000000"/>
                </a:solidFill>
              </a:rPr>
              <a:t>Made: every printed part and the fin</a:t>
            </a:r>
            <a:endParaRPr lang="en-US" sz="1150" dirty="0"/>
          </a:p>
          <a:p>
            <a:pPr algn="l" marL="152400" indent="-152400">
              <a:spcAft>
                <a:spcPts val="300"/>
              </a:spcAft>
              <a:buSzPct val="100000"/>
              <a:buChar char="•"/>
            </a:pPr>
            <a:r>
              <a:rPr lang="en-US" sz="950" dirty="0">
                <a:solidFill>
                  <a:srgbClr val="000000"/>
                </a:solidFill>
              </a:rPr>
              <a:t>Filament per station: 0.762 kg × $15/kg = $11.43 (estimated)</a:t>
            </a:r>
            <a:endParaRPr lang="en-US" sz="1150" dirty="0"/>
          </a:p>
          <a:p>
            <a:pPr algn="l" marL="152400" indent="-152400">
              <a:spcAft>
                <a:spcPts val="300"/>
              </a:spcAft>
              <a:buSzPct val="100000"/>
              <a:buChar char="•"/>
            </a:pPr>
            <a:r>
              <a:rPr lang="en-US" sz="950" dirty="0">
                <a:solidFill>
                  <a:srgbClr val="000000"/>
                </a:solidFill>
              </a:rPr>
              <a:t>Robot: $210.78 parts + $37.74 filament, three stations (partly estimated)</a:t>
            </a:r>
            <a:endParaRPr lang="en-US" sz="1150" dirty="0"/>
          </a:p>
        </p:txBody>
      </p:sp>
      <p:sp>
        <p:nvSpPr>
          <p:cNvPr id="6" name="card Fits"/>
          <p:cNvSpPr/>
          <p:nvPr/>
        </p:nvSpPr>
        <p:spPr>
          <a:xfrm>
            <a:off x="329184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Fits</a:t>
            </a:r>
            <a:endParaRPr lang="en-US" sz="1150" dirty="0"/>
          </a:p>
          <a:p>
            <a:pPr algn="l" marL="152400" indent="-152400">
              <a:spcAft>
                <a:spcPts val="300"/>
              </a:spcAft>
              <a:buSzPct val="100000"/>
              <a:buChar char="•"/>
            </a:pPr>
            <a:r>
              <a:rPr lang="en-US" sz="950" dirty="0">
                <a:solidFill>
                  <a:srgbClr val="000000"/>
                </a:solidFill>
              </a:rPr>
              <a:t>Printed holes come out undersize: every printed fit carries an allowance</a:t>
            </a:r>
            <a:endParaRPr lang="en-US" sz="1150" dirty="0"/>
          </a:p>
          <a:p>
            <a:pPr algn="l" marL="152400" indent="-152400">
              <a:spcAft>
                <a:spcPts val="300"/>
              </a:spcAft>
              <a:buSzPct val="100000"/>
              <a:buChar char="•"/>
            </a:pPr>
            <a:r>
              <a:rPr lang="en-US" sz="950" dirty="0">
                <a:solidFill>
                  <a:srgbClr val="000000"/>
                </a:solidFill>
              </a:rPr>
              <a:t>Spool bore: Ø5.2 printed too tight on the Ø5.0 shaft; opened to Ø5.45</a:t>
            </a:r>
            <a:endParaRPr lang="en-US" sz="1150" dirty="0"/>
          </a:p>
          <a:p>
            <a:pPr algn="l" marL="152400" indent="-152400">
              <a:spcAft>
                <a:spcPts val="300"/>
              </a:spcAft>
              <a:buSzPct val="100000"/>
              <a:buChar char="•"/>
            </a:pPr>
            <a:r>
              <a:rPr lang="en-US" sz="950" dirty="0">
                <a:solidFill>
                  <a:srgbClr val="000000"/>
                </a:solidFill>
              </a:rPr>
              <a:t>Dovetail: 0.175 mm per side, 30° flanks (CAD)</a:t>
            </a:r>
            <a:endParaRPr lang="en-US" sz="1150" dirty="0"/>
          </a:p>
          <a:p>
            <a:pPr algn="l" marL="152400" indent="-152400">
              <a:spcAft>
                <a:spcPts val="300"/>
              </a:spcAft>
              <a:buSzPct val="100000"/>
              <a:buChar char="•"/>
            </a:pPr>
            <a:r>
              <a:rPr lang="en-US" sz="950" dirty="0">
                <a:solidFill>
                  <a:srgbClr val="000000"/>
                </a:solidFill>
              </a:rPr>
              <a:t>Bearing pocket Ø14.075 behind a Ø14.000 entry lip, 8 T-slots</a:t>
            </a:r>
            <a:endParaRPr lang="en-US" sz="1150" dirty="0"/>
          </a:p>
          <a:p>
            <a:pPr algn="l" marL="152400" indent="-152400">
              <a:spcAft>
                <a:spcPts val="300"/>
              </a:spcAft>
              <a:buSzPct val="100000"/>
              <a:buChar char="•"/>
            </a:pPr>
            <a:r>
              <a:rPr lang="en-US" sz="950" dirty="0">
                <a:solidFill>
                  <a:srgbClr val="000000"/>
                </a:solidFill>
              </a:rPr>
              <a:t>Hole-sweep fit coupon (Ø5, Ø7, Ø14): planned</a:t>
            </a:r>
            <a:endParaRPr lang="en-US" sz="1150" dirty="0"/>
          </a:p>
          <a:p>
            <a:pPr algn="l" marL="152400" indent="-152400">
              <a:spcAft>
                <a:spcPts val="300"/>
              </a:spcAft>
              <a:buSzPct val="100000"/>
              <a:buChar char="•"/>
            </a:pPr>
            <a:r>
              <a:rPr lang="en-US" sz="950" dirty="0">
                <a:solidFill>
                  <a:srgbClr val="000000"/>
                </a:solidFill>
              </a:rPr>
              <a:t>A failed layer was kept on one shell only: the shell carries no load</a:t>
            </a:r>
            <a:endParaRPr lang="en-US" sz="1150" dirty="0"/>
          </a:p>
          <a:p>
            <a:pPr algn="l" marL="152400" indent="-152400">
              <a:spcAft>
                <a:spcPts val="300"/>
              </a:spcAft>
              <a:buSzPct val="100000"/>
              <a:buChar char="•"/>
            </a:pPr>
            <a:r>
              <a:rPr lang="en-US" sz="950" dirty="0">
                <a:solidFill>
                  <a:srgbClr val="000000"/>
                </a:solidFill>
              </a:rPr>
              <a:t>TPU 95A: pad trials only; none in the current build</a:t>
            </a:r>
            <a:endParaRPr lang="en-US" sz="1150" dirty="0"/>
          </a:p>
        </p:txBody>
      </p:sp>
      <p:pic>
        <p:nvPicPr>
          <p:cNvPr id="7" name="Slicing PETG for the K1, supports at 30 " descr="Slicing PETG for the K1, supports at 30 degrees">    </p:cNvPr>
          <p:cNvPicPr>
            <a:picLocks noChangeAspect="1"/>
          </p:cNvPicPr>
          <p:nvPr/>
        </p:nvPicPr>
        <p:blipFill>
          <a:blip r:embed="rId1"/>
          <a:stretch>
            <a:fillRect/>
          </a:stretch>
        </p:blipFill>
        <p:spPr>
          <a:xfrm>
            <a:off x="6126480" y="868680"/>
            <a:ext cx="1280160" cy="1051560"/>
          </a:xfrm>
          <a:prstGeom prst="rect">
            <a:avLst/>
          </a:prstGeom>
        </p:spPr>
      </p:pic>
      <p:pic>
        <p:nvPicPr>
          <p:cNvPr id="8" name="Drilling the fin on the manual mill" descr="Drilling the fin on the manual mill">    </p:cNvPr>
          <p:cNvPicPr>
            <a:picLocks noChangeAspect="1"/>
          </p:cNvPicPr>
          <p:nvPr/>
        </p:nvPicPr>
        <p:blipFill>
          <a:blip r:embed="rId2"/>
          <a:stretch>
            <a:fillRect/>
          </a:stretch>
        </p:blipFill>
        <p:spPr>
          <a:xfrm>
            <a:off x="7498080" y="868680"/>
            <a:ext cx="1280160" cy="1051560"/>
          </a:xfrm>
          <a:prstGeom prst="rect">
            <a:avLst/>
          </a:prstGeom>
        </p:spPr>
      </p:pic>
      <p:sp>
        <p:nvSpPr>
          <p:cNvPr id="9" name="caption"/>
          <p:cNvSpPr txBox="1"/>
          <p:nvPr/>
        </p:nvSpPr>
        <p:spPr>
          <a:xfrm>
            <a:off x="6126480" y="194767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Slicer (K1, PETG); drilling the fin</a:t>
            </a:r>
            <a:endParaRPr lang="en-US" sz="850" dirty="0"/>
          </a:p>
        </p:txBody>
      </p:sp>
      <p:pic>
        <p:nvPicPr>
          <p:cNvPr id="10" name="Slide-in rib in the wall-mount dovetail " descr="Slide-in rib in the wall-mount dovetail (CAD section)">    </p:cNvPr>
          <p:cNvPicPr>
            <a:picLocks noChangeAspect="1"/>
          </p:cNvPicPr>
          <p:nvPr/>
        </p:nvPicPr>
        <p:blipFill>
          <a:blip r:embed="rId3"/>
          <a:stretch>
            <a:fillRect/>
          </a:stretch>
        </p:blipFill>
        <p:spPr>
          <a:xfrm>
            <a:off x="6396925" y="2212848"/>
            <a:ext cx="2110869" cy="1037844"/>
          </a:xfrm>
          <a:prstGeom prst="rect">
            <a:avLst/>
          </a:prstGeom>
        </p:spPr>
      </p:pic>
      <p:pic>
        <p:nvPicPr>
          <p:cNvPr id="11" name="Gear bearing pocket with its entry lip (" descr="Gear bearing pocket with its entry lip (CAD)">    </p:cNvPr>
          <p:cNvPicPr>
            <a:picLocks noChangeAspect="1"/>
          </p:cNvPicPr>
          <p:nvPr/>
        </p:nvPicPr>
        <p:blipFill>
          <a:blip r:embed="rId4"/>
          <a:stretch>
            <a:fillRect/>
          </a:stretch>
        </p:blipFill>
        <p:spPr>
          <a:xfrm>
            <a:off x="6396925" y="3342132"/>
            <a:ext cx="2110869" cy="1037844"/>
          </a:xfrm>
          <a:prstGeom prst="rect">
            <a:avLst/>
          </a:prstGeom>
        </p:spPr>
      </p:pic>
      <p:sp>
        <p:nvSpPr>
          <p:cNvPr id="12"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Dovetail rib; bearing pocket and lip (CAD)</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500"/>
              </a:spcAft>
              <a:buSzPct val="100000"/>
              <a:buChar char="•"/>
            </a:pPr>
            <a:r>
              <a:rPr lang="en-US" sz="1100" dirty="0">
                <a:solidFill>
                  <a:srgbClr val="000000"/>
                </a:solidFill>
              </a:rPr>
              <a:t>Four-bar hands on a geared crank; 53 mm opening (CAD)</a:t>
            </a:r>
            <a:endParaRPr lang="en-US" sz="1250" dirty="0"/>
          </a:p>
          <a:p>
            <a:pPr algn="l" marL="152400" indent="-152400">
              <a:spcAft>
                <a:spcPts val="500"/>
              </a:spcAft>
              <a:buSzPct val="100000"/>
              <a:buChar char="•"/>
            </a:pPr>
            <a:r>
              <a:rPr lang="en-US" sz="1100" dirty="0">
                <a:solidFill>
                  <a:srgbClr val="000000"/>
                </a:solidFill>
              </a:rPr>
              <a:t>A camera bay in the electronics housing; the camera looks down the tube</a:t>
            </a:r>
            <a:endParaRPr lang="en-US" sz="1250" dirty="0"/>
          </a:p>
          <a:p>
            <a:pPr algn="l" marL="152400" indent="-152400">
              <a:spcAft>
                <a:spcPts val="500"/>
              </a:spcAft>
              <a:buSzPct val="100000"/>
              <a:buChar char="•"/>
            </a:pPr>
            <a:r>
              <a:rPr lang="en-US" sz="1100" dirty="0">
                <a:solidFill>
                  <a:srgbClr val="000000"/>
                </a:solidFill>
              </a:rPr>
              <a:t>One 7.4 V two-cell pack: 6 V regulator for the servo, 5 V buck for the board</a:t>
            </a:r>
            <a:endParaRPr lang="en-US" sz="1250" dirty="0"/>
          </a:p>
          <a:p>
            <a:pPr algn="l" marL="152400" indent="-152400">
              <a:spcAft>
                <a:spcPts val="500"/>
              </a:spcAft>
              <a:buSzPct val="100000"/>
              <a:buChar char="•"/>
            </a:pPr>
            <a:r>
              <a:rPr lang="en-US" sz="1100" dirty="0">
                <a:solidFill>
                  <a:srgbClr val="000000"/>
                </a:solidFill>
              </a:rPr>
              <a:t>Weighed 0.60 kg with battery against a 0.45 kg budget</a:t>
            </a:r>
            <a:endParaRPr lang="en-US" sz="1250" dirty="0"/>
          </a:p>
        </p:txBody>
      </p:sp>
      <p:sp>
        <p:nvSpPr>
          <p:cNvPr id="5" name="card Modular, on purpose"/>
          <p:cNvSpPr/>
          <p:nvPr/>
        </p:nvSpPr>
        <p:spPr>
          <a:xfrm>
            <a:off x="28803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2 mm gap on thin cloth (Sep 30)</a:t>
            </a:r>
            <a:endParaRPr lang="en-US" sz="1250" dirty="0"/>
          </a:p>
          <a:p>
            <a:pPr algn="l" marL="152400" indent="-152400">
              <a:spcAft>
                <a:spcPts val="500"/>
              </a:spcAft>
              <a:buSzPct val="100000"/>
              <a:buChar char="•"/>
            </a:pPr>
            <a:r>
              <a:rPr lang="en-US" sz="1100" dirty="0">
                <a:solidFill>
                  <a:srgbClr val="000000"/>
                </a:solidFill>
              </a:rPr>
              <a:t>TPU and other pad materials are being tried; still testing</a:t>
            </a:r>
            <a:endParaRPr lang="en-US" sz="1250" dirty="0"/>
          </a:p>
          <a:p>
            <a:pPr algn="l" marL="152400" indent="-152400">
              <a:spcAft>
                <a:spcPts val="500"/>
              </a:spcAft>
              <a:buSzPct val="100000"/>
              <a:buChar char="•"/>
            </a:pPr>
            <a:r>
              <a:rPr lang="en-US" sz="1100" dirty="0">
                <a:solidFill>
                  <a:srgbClr val="000000"/>
                </a:solidFill>
              </a:rPr>
              <a:t>The v6 clamp was 4.6 x its mass budget in CAD: mass is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0"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bench, then wall</a:t>
            </a:r>
            <a:endParaRPr lang="en-US" sz="2400" dirty="0"/>
          </a:p>
        </p:txBody>
      </p:sp>
      <p:sp>
        <p:nvSpPr>
          <p:cNvPr id="4" name="card Bench"/>
          <p:cNvSpPr/>
          <p:nvPr/>
        </p:nvSpPr>
        <p:spPr>
          <a:xfrm>
            <a:off x="365760" y="868680"/>
            <a:ext cx="329184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Bench</a:t>
            </a:r>
            <a:endParaRPr lang="en-US" sz="1250" dirty="0"/>
          </a:p>
          <a:p>
            <a:pPr algn="l" marL="152400" indent="-152400">
              <a:spcAft>
                <a:spcPts val="500"/>
              </a:spcAft>
              <a:buSzPct val="100000"/>
              <a:buChar char="•"/>
            </a:pPr>
            <a:r>
              <a:rPr lang="en-US" sz="1100" dirty="0">
                <a:solidFill>
                  <a:srgbClr val="000000"/>
                </a:solidFill>
              </a:rPr>
              <a:t>Station boards: bench checklist passed on both controller boards (measured)</a:t>
            </a:r>
            <a:endParaRPr lang="en-US" sz="1250" dirty="0"/>
          </a:p>
          <a:p>
            <a:pPr algn="l" marL="152400" indent="-152400">
              <a:spcAft>
                <a:spcPts val="500"/>
              </a:spcAft>
              <a:buSzPct val="100000"/>
              <a:buChar char="•"/>
            </a:pPr>
            <a:r>
              <a:rPr lang="en-US" sz="1100" dirty="0">
                <a:solidFill>
                  <a:srgbClr val="000000"/>
                </a:solidFill>
              </a:rPr>
              <a:t>Claw: camera live view, battery sense and servo pass (measured)</a:t>
            </a:r>
            <a:endParaRPr lang="en-US" sz="1250" dirty="0"/>
          </a:p>
        </p:txBody>
      </p:sp>
      <p:sp>
        <p:nvSpPr>
          <p:cNvPr id="5" name="card On the wall"/>
          <p:cNvSpPr/>
          <p:nvPr/>
        </p:nvSpPr>
        <p:spPr>
          <a:xfrm>
            <a:off x="365760" y="2606040"/>
            <a:ext cx="329184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 the wall</a:t>
            </a:r>
            <a:endParaRPr lang="en-US" sz="1250" dirty="0"/>
          </a:p>
          <a:p>
            <a:pPr algn="l" marL="152400" indent="-152400">
              <a:spcAft>
                <a:spcPts val="500"/>
              </a:spcAft>
              <a:buSzPct val="100000"/>
              <a:buChar char="•"/>
            </a:pPr>
            <a:r>
              <a:rPr lang="en-US" sz="1100" dirty="0">
                <a:solidFill>
                  <a:srgbClr val="000000"/>
                </a:solidFill>
              </a:rPr>
              <a:t>A boxed station boots and joins Wi-Fi by itself</a:t>
            </a:r>
            <a:endParaRPr lang="en-US" sz="1250" dirty="0"/>
          </a:p>
          <a:p>
            <a:pPr algn="l" marL="152400" indent="-152400">
              <a:spcAft>
                <a:spcPts val="500"/>
              </a:spcAft>
              <a:buSzPct val="100000"/>
              <a:buChar char="•"/>
            </a:pPr>
            <a:r>
              <a:rPr lang="en-US" sz="1100" dirty="0">
                <a:solidFill>
                  <a:srgbClr val="000000"/>
                </a:solidFill>
              </a:rPr>
              <a:t>Firmware updates over Wi-Fi; no USB cable after boxing</a:t>
            </a:r>
            <a:endParaRPr lang="en-US" sz="1250" dirty="0"/>
          </a:p>
          <a:p>
            <a:pPr algn="l" marL="152400" indent="-152400">
              <a:spcAft>
                <a:spcPts val="500"/>
              </a:spcAft>
              <a:buSzPct val="100000"/>
              <a:buChar char="•"/>
            </a:pPr>
            <a:r>
              <a:rPr lang="en-US" sz="1100" dirty="0">
                <a:solidFill>
                  <a:srgbClr val="000000"/>
                </a:solidFill>
              </a:rPr>
              <a:t>Motors stay off until the phone arms them; updates only while disarmed</a:t>
            </a:r>
            <a:endParaRPr lang="en-US" sz="1250" dirty="0"/>
          </a:p>
          <a:p>
            <a:pPr algn="l" marL="152400" indent="-152400">
              <a:spcAft>
                <a:spcPts val="500"/>
              </a:spcAft>
              <a:buSzPct val="100000"/>
              <a:buChar char="•"/>
            </a:pPr>
            <a:r>
              <a:rPr lang="en-US" sz="1100" dirty="0">
                <a:solidFill>
                  <a:srgbClr val="000000"/>
                </a:solidFill>
              </a:rPr>
              <a:t>Planned: pull test, hold test, first three-station lift</a:t>
            </a:r>
            <a:endParaRPr lang="en-US" sz="1250" dirty="0"/>
          </a:p>
        </p:txBody>
      </p:sp>
      <p:pic>
        <p:nvPicPr>
          <p:cNvPr id="6" name="Bench: two stations, laptop, meter, 12 V" descr="Bench: two stations, laptop, meter, 12 V supply">    </p:cNvPr>
          <p:cNvPicPr>
            <a:picLocks noChangeAspect="1"/>
          </p:cNvPicPr>
          <p:nvPr/>
        </p:nvPicPr>
        <p:blipFill>
          <a:blip r:embed="rId1"/>
          <a:stretch>
            <a:fillRect/>
          </a:stretch>
        </p:blipFill>
        <p:spPr>
          <a:xfrm>
            <a:off x="3886200" y="868680"/>
            <a:ext cx="2391156" cy="3511296"/>
          </a:xfrm>
          <a:prstGeom prst="rect">
            <a:avLst/>
          </a:prstGeom>
        </p:spPr>
      </p:pic>
      <p:sp>
        <p:nvSpPr>
          <p:cNvPr id="7" name="caption"/>
          <p:cNvSpPr txBox="1"/>
          <p:nvPr/>
        </p:nvSpPr>
        <p:spPr>
          <a:xfrm>
            <a:off x="3886200"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Bench: two stations, laptop, meter, 12 V supply</a:t>
            </a:r>
            <a:endParaRPr lang="en-US" sz="850" dirty="0"/>
          </a:p>
        </p:txBody>
      </p:sp>
      <p:pic>
        <p:nvPicPr>
          <p:cNvPr id="8" name="The first station on the wall" descr="The first station on the wall">    </p:cNvPr>
          <p:cNvPicPr>
            <a:picLocks noChangeAspect="1"/>
          </p:cNvPicPr>
          <p:nvPr/>
        </p:nvPicPr>
        <p:blipFill>
          <a:blip r:embed="rId2"/>
          <a:stretch>
            <a:fillRect/>
          </a:stretch>
        </p:blipFill>
        <p:spPr>
          <a:xfrm>
            <a:off x="6387084" y="868680"/>
            <a:ext cx="2391156" cy="3511296"/>
          </a:xfrm>
          <a:prstGeom prst="rect">
            <a:avLst/>
          </a:prstGeom>
        </p:spPr>
      </p:pic>
      <p:sp>
        <p:nvSpPr>
          <p:cNvPr id="9" name="caption"/>
          <p:cNvSpPr txBox="1"/>
          <p:nvPr/>
        </p:nvSpPr>
        <p:spPr>
          <a:xfrm>
            <a:off x="6387084"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SELF_CHECK</a:t>
            </a:r>
            <a:endParaRPr lang="en-US" sz="1100" dirty="0"/>
          </a:p>
          <a:p>
            <a:pPr algn="l" marL="152400" indent="-152400">
              <a:spcAft>
                <a:spcPts val="300"/>
              </a:spcAft>
              <a:buSzPct val="100000"/>
              <a:buChar char="•"/>
            </a:pPr>
            <a:r>
              <a:rPr lang="en-US" sz="1000" dirty="0">
                <a:solidFill>
                  <a:srgbClr val="000000"/>
                </a:solidFill>
              </a:rPr>
              <a:t>Claw online, battery above minimum</a:t>
            </a:r>
            <a:endParaRPr lang="en-US" sz="1100" dirty="0"/>
          </a:p>
          <a:p>
            <a:pPr algn="l" marL="152400" indent="-152400">
              <a:spcAft>
                <a:spcPts val="300"/>
              </a:spcAft>
              <a:buSzPct val="100000"/>
              <a:buChar char="•"/>
            </a:pPr>
            <a:r>
              <a:rPr lang="en-US" sz="1000" dirty="0">
                <a:solidFill>
                  <a:srgbClr val="000000"/>
                </a:solidFill>
              </a:rPr>
              <a:t>Camera confirms the claw upright at the known height on the floor board</a:t>
            </a:r>
            <a:endParaRPr lang="en-US" sz="1100" dirty="0"/>
          </a:p>
          <a:p>
            <a:pPr algn="l" marL="152400" indent="-152400">
              <a:spcAft>
                <a:spcPts val="300"/>
              </a:spcAft>
              <a:buSzPct val="100000"/>
              <a:buChar char="•"/>
            </a:pPr>
            <a:r>
              <a:rPr lang="en-US" sz="1000" dirty="0">
                <a:solidFill>
                  <a:srgbClr val="000000"/>
                </a:solidFill>
              </a:rPr>
              <a:t>Stations healthy, homing switches closed; arm</a:t>
            </a:r>
            <a:endParaRPr lang="en-US" sz="1100" dirty="0"/>
          </a:p>
        </p:txBody>
      </p:sp>
      <p:sp>
        <p:nvSpPr>
          <p:cNvPr id="5" name="card 2  SLACK_TAKEUP"/>
          <p:cNvSpPr/>
          <p:nvPr/>
        </p:nvSpPr>
        <p:spPr>
          <a:xfrm>
            <a:off x="321564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SLACK_TAKEUP</a:t>
            </a:r>
            <a:endParaRPr lang="en-US" sz="1100" dirty="0"/>
          </a:p>
          <a:p>
            <a:pPr algn="l" marL="152400" indent="-152400">
              <a:spcAft>
                <a:spcPts val="300"/>
              </a:spcAft>
              <a:buSzPct val="100000"/>
              <a:buChar char="•"/>
            </a:pPr>
            <a:r>
              <a:rPr lang="en-US" sz="1000" dirty="0">
                <a:solidFill>
                  <a:srgbClr val="000000"/>
                </a:solidFill>
              </a:rPr>
              <a:t>One cable at a time reeled in until the camera sees the claw slide or tip (onset)</a:t>
            </a:r>
            <a:endParaRPr lang="en-US" sz="1100" dirty="0"/>
          </a:p>
          <a:p>
            <a:pPr algn="l" marL="152400" indent="-152400">
              <a:spcAft>
                <a:spcPts val="300"/>
              </a:spcAft>
              <a:buSzPct val="100000"/>
              <a:buChar char="•"/>
            </a:pPr>
            <a:r>
              <a:rPr lang="en-US" sz="1000" dirty="0">
                <a:solidFill>
                  <a:srgbClr val="000000"/>
                </a:solidFill>
              </a:rPr>
              <a:t>Records spool position and slide bearing; backs off</a:t>
            </a:r>
            <a:endParaRPr lang="en-US" sz="1100" dirty="0"/>
          </a:p>
          <a:p>
            <a:pPr algn="l" marL="152400" indent="-152400">
              <a:spcAft>
                <a:spcPts val="300"/>
              </a:spcAft>
              <a:buSzPct val="100000"/>
              <a:buChar char="•"/>
            </a:pPr>
            <a:r>
              <a:rPr lang="en-US" sz="1000" dirty="0">
                <a:solidFill>
                  <a:srgbClr val="000000"/>
                </a:solidFill>
              </a:rPr>
              <a:t>Bearings checked against the anchor layout; first fit of cable lengths</a:t>
            </a:r>
            <a:endParaRPr lang="en-US" sz="1100" dirty="0"/>
          </a:p>
        </p:txBody>
      </p:sp>
      <p:sp>
        <p:nvSpPr>
          <p:cNvPr id="6" name="card 3  INITIAL_LIFT"/>
          <p:cNvSpPr/>
          <p:nvPr/>
        </p:nvSpPr>
        <p:spPr>
          <a:xfrm>
            <a:off x="606552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  INITIAL_LIFT</a:t>
            </a:r>
            <a:endParaRPr lang="en-US" sz="1100" dirty="0"/>
          </a:p>
          <a:p>
            <a:pPr algn="l" marL="152400" indent="-152400">
              <a:spcAft>
                <a:spcPts val="300"/>
              </a:spcAft>
              <a:buSzPct val="100000"/>
              <a:buChar char="•"/>
            </a:pPr>
            <a:r>
              <a:rPr lang="en-US" sz="1000" dirty="0">
                <a:solidFill>
                  <a:srgbClr val="000000"/>
                </a:solidFill>
              </a:rPr>
              <a:t>Pretension all cables; lift in small packets</a:t>
            </a:r>
            <a:endParaRPr lang="en-US" sz="1100" dirty="0"/>
          </a:p>
          <a:p>
            <a:pPr algn="l" marL="152400" indent="-152400">
              <a:spcAft>
                <a:spcPts val="300"/>
              </a:spcAft>
              <a:buSzPct val="100000"/>
              <a:buChar char="•"/>
            </a:pPr>
            <a:r>
              <a:rPr lang="en-US" sz="1000" dirty="0">
                <a:solidFill>
                  <a:srgbClr val="000000"/>
                </a:solidFill>
              </a:rPr>
              <a:t>Abort on lateral drift, tilt, or commanded lift exceeding observed rise (slack cable)</a:t>
            </a:r>
            <a:endParaRPr lang="en-US" sz="1100" dirty="0"/>
          </a:p>
        </p:txBody>
      </p:sp>
      <p:sp>
        <p:nvSpPr>
          <p:cNvPr id="7" name="card 4  VISUAL_INITIALIZATION"/>
          <p:cNvSpPr/>
          <p:nvPr/>
        </p:nvSpPr>
        <p:spPr>
          <a:xfrm>
            <a:off x="36576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4  VISUAL_INITIALIZATION</a:t>
            </a:r>
            <a:endParaRPr lang="en-US" sz="1100" dirty="0"/>
          </a:p>
          <a:p>
            <a:pPr algn="l" marL="152400" indent="-152400">
              <a:spcAft>
                <a:spcPts val="300"/>
              </a:spcAft>
              <a:buSzPct val="100000"/>
              <a:buChar char="•"/>
            </a:pPr>
            <a:r>
              <a:rPr lang="en-US" sz="1000" dirty="0">
                <a:solidFill>
                  <a:srgbClr val="000000"/>
                </a:solidFill>
              </a:rPr>
              <a:t>Settled frame batch of the floor board</a:t>
            </a:r>
            <a:endParaRPr lang="en-US" sz="1100" dirty="0"/>
          </a:p>
          <a:p>
            <a:pPr algn="l" marL="152400" indent="-152400">
              <a:spcAft>
                <a:spcPts val="300"/>
              </a:spcAft>
              <a:buSzPct val="100000"/>
              <a:buChar char="•"/>
            </a:pPr>
            <a:r>
              <a:rPr lang="en-US" sz="1000" dirty="0">
                <a:solidFill>
                  <a:srgbClr val="000000"/>
                </a:solidFill>
              </a:rPr>
              <a:t>Refit cable lengths and the room-to-marker transform</a:t>
            </a:r>
            <a:endParaRPr lang="en-US" sz="1100" dirty="0"/>
          </a:p>
        </p:txBody>
      </p:sp>
      <p:sp>
        <p:nvSpPr>
          <p:cNvPr id="8" name="card 5  CALIBRATION"/>
          <p:cNvSpPr/>
          <p:nvPr/>
        </p:nvSpPr>
        <p:spPr>
          <a:xfrm>
            <a:off x="321564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5  CALIBRATION</a:t>
            </a:r>
            <a:endParaRPr lang="en-US" sz="1100" dirty="0"/>
          </a:p>
          <a:p>
            <a:pPr algn="l" marL="152400" indent="-152400">
              <a:spcAft>
                <a:spcPts val="300"/>
              </a:spcAft>
              <a:buSzPct val="100000"/>
              <a:buChar char="•"/>
            </a:pPr>
            <a:r>
              <a:rPr lang="en-US" sz="1000" dirty="0">
                <a:solidFill>
                  <a:srgbClr val="000000"/>
                </a:solidFill>
              </a:rPr>
              <a:t>Local → intermediate → expanded pose sets chosen by D-optimal design; refit between stages</a:t>
            </a:r>
            <a:endParaRPr lang="en-US" sz="1100" dirty="0"/>
          </a:p>
          <a:p>
            <a:pPr algn="l" marL="152400" indent="-152400">
              <a:spcAft>
                <a:spcPts val="300"/>
              </a:spcAft>
              <a:buSzPct val="100000"/>
              <a:buChar char="•"/>
            </a:pPr>
            <a:r>
              <a:rPr lang="en-US" sz="1000" dirty="0">
                <a:solidFill>
                  <a:srgbClr val="000000"/>
                </a:solidFill>
              </a:rPr>
              <a:t>Held-out witness poses</a:t>
            </a:r>
            <a:endParaRPr lang="en-US" sz="1100" dirty="0"/>
          </a:p>
          <a:p>
            <a:pPr algn="l" marL="152400" indent="-152400">
              <a:spcAft>
                <a:spcPts val="300"/>
              </a:spcAft>
              <a:buSzPct val="100000"/>
              <a:buChar char="•"/>
            </a:pPr>
            <a:r>
              <a:rPr lang="en-US" sz="1000" dirty="0">
                <a:solidFill>
                  <a:srgbClr val="000000"/>
                </a:solidFill>
              </a:rPr>
              <a:t>Accept on witness residuals, identifiability, predicted length sigma over the work volume</a:t>
            </a:r>
            <a:endParaRPr lang="en-US" sz="1100" dirty="0"/>
          </a:p>
        </p:txBody>
      </p:sp>
      <p:sp>
        <p:nvSpPr>
          <p:cNvPr id="9" name="card 6  REFERENCE_VERIFICATION"/>
          <p:cNvSpPr/>
          <p:nvPr/>
        </p:nvSpPr>
        <p:spPr>
          <a:xfrm>
            <a:off x="606552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6  REFERENCE_VERIFICATION</a:t>
            </a:r>
            <a:endParaRPr lang="en-US" sz="1100" dirty="0"/>
          </a:p>
          <a:p>
            <a:pPr algn="l" marL="152400" indent="-152400">
              <a:spcAft>
                <a:spcPts val="300"/>
              </a:spcAft>
              <a:buSzPct val="100000"/>
              <a:buChar char="•"/>
            </a:pPr>
            <a:r>
              <a:rPr lang="en-US" sz="1000" dirty="0">
                <a:solidFill>
                  <a:srgbClr val="000000"/>
                </a:solidFill>
              </a:rPr>
              <a:t>Optional bead references</a:t>
            </a:r>
            <a:endParaRPr lang="en-US" sz="1100" dirty="0"/>
          </a:p>
          <a:p>
            <a:pPr algn="l" marL="152400" indent="-152400">
              <a:spcAft>
                <a:spcPts val="300"/>
              </a:spcAft>
              <a:buSzPct val="100000"/>
              <a:buChar char="•"/>
            </a:pPr>
            <a:r>
              <a:rPr lang="en-US" sz="1000" dirty="0">
                <a:solidFill>
                  <a:srgbClr val="000000"/>
                </a:solidFill>
              </a:rPr>
              <a:t>Trust level VERIFIED or LOCAL_ONLY from the margin check</a:t>
            </a:r>
            <a:endParaRPr lang="en-US" sz="1100" dirty="0"/>
          </a:p>
        </p:txBody>
      </p:sp>
      <p:sp>
        <p:nvSpPr>
          <p:cNvPr id="10" name="rules"/>
          <p:cNvSpPr txBox="1"/>
          <p:nvPr/>
        </p:nvSpPr>
        <p:spPr>
          <a:xfrm>
            <a:off x="365760" y="4325112"/>
            <a:ext cx="841248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sp>
        <p:nvSpPr>
          <p:cNvPr id="11"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50" dirty="0">
                <a:solidFill>
                  <a:srgbClr val="000000"/>
                </a:solidFill>
              </a:rPr>
              <a:t>18T / 54T spur, printed PETG pinion</a:t>
            </a:r>
            <a:endParaRPr lang="en-US" sz="1100" dirty="0"/>
          </a:p>
          <a:p>
            <a:pPr algn="l" marL="152400" indent="-152400">
              <a:spcAft>
                <a:spcPts val="200"/>
              </a:spcAft>
              <a:buSzPct val="100000"/>
              <a:buChar char="•"/>
            </a:pPr>
            <a:r>
              <a:rPr lang="en-US" sz="950" dirty="0">
                <a:solidFill>
                  <a:srgbClr val="000000"/>
                </a:solidFill>
              </a:rPr>
              <a:t>Designed and checked in CAD; pinion printed; not fitted</a:t>
            </a:r>
            <a:endParaRPr lang="en-US" sz="1100" dirty="0"/>
          </a:p>
          <a:p>
            <a:pPr algn="l" marL="152400" indent="-152400">
              <a:spcAft>
                <a:spcPts val="200"/>
              </a:spcAft>
              <a:buSzPct val="100000"/>
              <a:buChar char="•"/>
            </a:pPr>
            <a:r>
              <a:rPr lang="en-US" sz="950" dirty="0">
                <a:solidFill>
                  <a:srgbClr val="000000"/>
                </a:solidFill>
              </a:rPr>
              <a:t>Pull × 3 × 0.9 (η) = 2.7 at equal current (calculated)</a:t>
            </a:r>
            <a:endParaRPr lang="en-US" sz="1100" dirty="0"/>
          </a:p>
          <a:p>
            <a:pPr algn="l" marL="152400" indent="-152400">
              <a:spcAft>
                <a:spcPts val="200"/>
              </a:spcAft>
              <a:buSzPct val="100000"/>
              <a:buChar char="•"/>
            </a:pPr>
            <a:r>
              <a:rPr lang="en-US" sz="950" dirty="0">
                <a:solidFill>
                  <a:srgbClr val="000000"/>
                </a:solidFill>
              </a:rPr>
              <a:t>At 1.0 A: heat × (1.0/1.5)² = 0.44 (calculated)</a:t>
            </a:r>
            <a:endParaRPr lang="en-US" sz="1100" dirty="0"/>
          </a:p>
        </p:txBody>
      </p:sp>
      <p:sp>
        <p:nvSpPr>
          <p:cNvPr id="5" name="card 1° draft on the dovetail"/>
          <p:cNvSpPr/>
          <p:nvPr/>
        </p:nvSpPr>
        <p:spPr>
          <a:xfrm>
            <a:off x="2212848"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draft on the dovetail</a:t>
            </a:r>
            <a:endParaRPr lang="en-US" sz="1100" dirty="0"/>
          </a:p>
          <a:p>
            <a:pPr algn="l" marL="152400" indent="-152400">
              <a:spcAft>
                <a:spcPts val="200"/>
              </a:spcAft>
              <a:buSzPct val="100000"/>
              <a:buChar char="•"/>
            </a:pPr>
            <a:r>
              <a:rPr lang="en-US" sz="950" dirty="0">
                <a:solidFill>
                  <a:srgbClr val="000000"/>
                </a:solidFill>
              </a:rPr>
              <a:t>Today the slide-in binds on insertion</a:t>
            </a:r>
            <a:endParaRPr lang="en-US" sz="1100" dirty="0"/>
          </a:p>
          <a:p>
            <a:pPr algn="l" marL="152400" indent="-152400">
              <a:spcAft>
                <a:spcPts val="200"/>
              </a:spcAft>
              <a:buSzPct val="100000"/>
              <a:buChar char="•"/>
            </a:pPr>
            <a:r>
              <a:rPr lang="en-US" sz="950" dirty="0">
                <a:solidFill>
                  <a:srgbClr val="000000"/>
                </a:solidFill>
              </a:rPr>
              <a:t>Thicker at the top, thinning toward the bottom</a:t>
            </a:r>
            <a:endParaRPr lang="en-US" sz="1100" dirty="0"/>
          </a:p>
          <a:p>
            <a:pPr algn="l" marL="152400" indent="-152400">
              <a:spcAft>
                <a:spcPts val="200"/>
              </a:spcAft>
              <a:buSzPct val="100000"/>
              <a:buChar char="•"/>
            </a:pPr>
            <a:r>
              <a:rPr lang="en-US" sz="950" dirty="0">
                <a:solidFill>
                  <a:srgbClr val="000000"/>
                </a:solidFill>
              </a:rPr>
              <a:t>The station self-locates as it slides in (planned)</a:t>
            </a:r>
            <a:endParaRPr lang="en-US" sz="1100" dirty="0"/>
          </a:p>
        </p:txBody>
      </p:sp>
      <p:sp>
        <p:nvSpPr>
          <p:cNvPr id="6" name="card Lighter back mount"/>
          <p:cNvSpPr/>
          <p:nvPr/>
        </p:nvSpPr>
        <p:spPr>
          <a:xfrm>
            <a:off x="4059936"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Lighter back mount</a:t>
            </a:r>
            <a:endParaRPr lang="en-US" sz="1100" dirty="0"/>
          </a:p>
          <a:p>
            <a:pPr algn="l" marL="152400" indent="-152400">
              <a:spcAft>
                <a:spcPts val="200"/>
              </a:spcAft>
              <a:buSzPct val="100000"/>
              <a:buChar char="•"/>
            </a:pPr>
            <a:r>
              <a:rPr lang="en-US" sz="950" dirty="0">
                <a:solidFill>
                  <a:srgbClr val="000000"/>
                </a:solidFill>
              </a:rPr>
              <a:t>Today: 597 cm³ solid, far stronger than the motor can pull</a:t>
            </a:r>
            <a:endParaRPr lang="en-US" sz="1100" dirty="0"/>
          </a:p>
          <a:p>
            <a:pPr algn="l" marL="152400" indent="-152400">
              <a:spcAft>
                <a:spcPts val="200"/>
              </a:spcAft>
              <a:buSzPct val="100000"/>
              <a:buChar char="•"/>
            </a:pPr>
            <a:r>
              <a:rPr lang="en-US" sz="950" dirty="0">
                <a:solidFill>
                  <a:srgbClr val="000000"/>
                </a:solidFill>
              </a:rPr>
              <a:t>Thinner walls and ribs: about 200 cm³ (planned)</a:t>
            </a:r>
            <a:endParaRPr lang="en-US" sz="1100" dirty="0"/>
          </a:p>
          <a:p>
            <a:pPr algn="l" marL="152400" indent="-152400">
              <a:spcAft>
                <a:spcPts val="200"/>
              </a:spcAft>
              <a:buSzPct val="100000"/>
              <a:buChar char="•"/>
            </a:pPr>
            <a:r>
              <a:rPr lang="en-US" sz="950" dirty="0">
                <a:solidFill>
                  <a:srgbClr val="000000"/>
                </a:solidFill>
              </a:rPr>
              <a:t>Less print time and filament</a:t>
            </a:r>
            <a:endParaRPr lang="en-US" sz="1100" dirty="0"/>
          </a:p>
        </p:txBody>
      </p:sp>
      <p:sp>
        <p:nvSpPr>
          <p:cNvPr id="7" name="card Not working yet / still planned"/>
          <p:cNvSpPr/>
          <p:nvPr/>
        </p:nvSpPr>
        <p:spPr>
          <a:xfrm>
            <a:off x="365760" y="3355848"/>
            <a:ext cx="5431536" cy="126187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Not working yet / still planned</a:t>
            </a:r>
            <a:endParaRPr lang="en-US" sz="1150" dirty="0"/>
          </a:p>
          <a:p>
            <a:pPr algn="l" marL="152400" indent="-152400">
              <a:spcAft>
                <a:spcPts val="300"/>
              </a:spcAft>
              <a:buSzPct val="100000"/>
              <a:buChar char="•"/>
            </a:pPr>
            <a:r>
              <a:rPr lang="en-US" sz="1000" dirty="0">
                <a:solidFill>
                  <a:srgbClr val="000000"/>
                </a:solidFill>
              </a:rPr>
              <a:t>Pull test at 1.5 A: the measured limit goes into the planner (planned)</a:t>
            </a:r>
            <a:endParaRPr lang="en-US" sz="1150" dirty="0"/>
          </a:p>
          <a:p>
            <a:pPr algn="l" marL="152400" indent="-152400">
              <a:spcAft>
                <a:spcPts val="300"/>
              </a:spcAft>
              <a:buSzPct val="100000"/>
              <a:buChar char="•"/>
            </a:pPr>
            <a:r>
              <a:rPr lang="en-US" sz="1000" dirty="0">
                <a:solidFill>
                  <a:srgbClr val="000000"/>
                </a:solidFill>
              </a:rPr>
              <a:t>Hold test: 90 minutes at 1.5 A, motor below 60 °C (planned)</a:t>
            </a:r>
            <a:endParaRPr lang="en-US" sz="1150" dirty="0"/>
          </a:p>
          <a:p>
            <a:pPr algn="l" marL="152400" indent="-152400">
              <a:spcAft>
                <a:spcPts val="300"/>
              </a:spcAft>
              <a:buSzPct val="100000"/>
              <a:buChar char="•"/>
            </a:pPr>
            <a:r>
              <a:rPr lang="en-US" sz="1000" dirty="0">
                <a:solidFill>
                  <a:srgbClr val="000000"/>
                </a:solidFill>
              </a:rPr>
              <a:t>First three-station lift: self-check, calibration, a short move with 1 lb (planned)</a:t>
            </a:r>
            <a:endParaRPr lang="en-US" sz="1150" dirty="0"/>
          </a:p>
        </p:txBody>
      </p:sp>
      <p:pic>
        <p:nvPicPr>
          <p:cNvPr id="8"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08746" y="868680"/>
            <a:ext cx="1867773" cy="1719072"/>
          </a:xfrm>
          <a:prstGeom prst="rect">
            <a:avLst/>
          </a:prstGeom>
        </p:spPr>
      </p:pic>
      <p:pic>
        <p:nvPicPr>
          <p:cNvPr id="9"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574192" y="2660904"/>
            <a:ext cx="1536880" cy="1719072"/>
          </a:xfrm>
          <a:prstGeom prst="rect">
            <a:avLst/>
          </a:prstGeom>
        </p:spPr>
      </p:pic>
      <p:sp>
        <p:nvSpPr>
          <p:cNvPr id="10" name="caption"/>
          <p:cNvSpPr txBox="1"/>
          <p:nvPr/>
        </p:nvSpPr>
        <p:spPr>
          <a:xfrm>
            <a:off x="5907024" y="4416552"/>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2026-10-27T12:32:40Z</dcterms:created>
  <dcterms:modified xsi:type="dcterms:W3CDTF">2026-10-27T12:32:40Z</dcterms:modified>
</cp:coreProperties>
</file>