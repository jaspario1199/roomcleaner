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d2e4cb-a00a-8b57-17f6-b96323c75dfb}">
          <p14:sldIdLst>
            <p14:sldId id="256"/>
            <p14:sldId id="257"/>
          </p14:sldIdLst>
        </p14:section>
        <p14:section name="Scope" id="{68b6c97f-5edb-a624-3462-f46fa01134cf}">
          <p14:sldIdLst>
            <p14:sldId id="258"/>
          </p14:sldIdLst>
        </p14:section>
        <p14:section name="Fundamentals" id="{36a80349-e22f-d78b-e92f-a86fb53880ec}">
          <p14:sldIdLst>
            <p14:sldId id="259"/>
          </p14:sldIdLst>
        </p14:section>
        <p14:section name="Generation 1" id="{bf23ccfe-39e0-ded0-83a0-35405992b7a4}">
          <p14:sldIdLst>
            <p14:sldId id="260"/>
            <p14:sldId id="261"/>
          </p14:sldIdLst>
        </p14:section>
        <p14:section name="Homing" id="{e532737a-ef05-d3b2-2542-a7886d62eca9}">
          <p14:sldIdLst>
            <p14:sldId id="262"/>
          </p14:sldIdLst>
        </p14:section>
        <p14:section name="What a winch needs" id="{9794ad9c-237c-c990-f7cf-137fb70d0e94}">
          <p14:sldIdLst>
            <p14:sldId id="263"/>
          </p14:sldIdLst>
        </p14:section>
        <p14:section name="Modular box" id="{157a42e0-4c30-d4c5-688e-f1c14f35908a}">
          <p14:sldIdLst>
            <p14:sldId id="264"/>
            <p14:sldId id="265"/>
          </p14:sldIdLst>
        </p14:section>
        <p14:section name="Trade-offs" id="{171ae781-b3e5-83dc-7ce5-896e2d2e8b35}">
          <p14:sldIdLst>
            <p14:sldId id="266"/>
          </p14:sldIdLst>
        </p14:section>
        <p14:section name="Mount assembly" id="{e25a2b55-155c-fdd4-c4da-78f414974ced}">
          <p14:sldIdLst>
            <p14:sldId id="267"/>
            <p14:sldId id="268"/>
          </p14:sldIdLst>
        </p14:section>
        <p14:section name="Manufacturing" id="{2b788592-fef3-218c-d424-a0cf2c2d792c}">
          <p14:sldIdLst>
            <p14:sldId id="269"/>
          </p14:sldIdLst>
        </p14:section>
        <p14:section name="Claw" id="{3aa0bc91-6e94-1dde-0ae3-17c984699b71}">
          <p14:sldIdLst>
            <p14:sldId id="270"/>
          </p14:sldIdLst>
        </p14:section>
        <p14:section name="Electrical and testing" id="{4623696f-bb43-cb8e-9b26-51869c57b869}">
          <p14:sldIdLst>
            <p14:sldId id="271"/>
          </p14:sldIdLst>
        </p14:section>
        <p14:section name="Calibration" id="{9112a98c-7683-07a5-cdff-c148f89ab190}">
          <p14:sldIdLst>
            <p14:sldId id="272"/>
          </p14:sldIdLst>
        </p14:section>
        <p14:section name="Next iteration" id="{38e3cea9-734e-20d6-4d11-72353764efbe}">
          <p14:sldIdLst>
            <p14:sldId id="273"/>
          </p14:sldIdLst>
        </p14:section>
        <p14:section name="Close" id="{5f882221-4439-fa0e-21a1-4ea352aef334}">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400"/>
              </a:spcAft>
              <a:buSzPct val="100000"/>
              <a:buChar char="•"/>
            </a:pPr>
            <a:r>
              <a:rPr lang="en-US" sz="1100" dirty="0">
                <a:solidFill>
                  <a:srgbClr val="000000"/>
                </a:solidFill>
              </a:rPr>
              <a:t>Laundry on the floor of a 3.35 x 2.74 m room (as reported)</a:t>
            </a:r>
            <a:endParaRPr lang="en-US" sz="1250" dirty="0"/>
          </a:p>
          <a:p>
            <a:pPr algn="l" marL="152400" indent="-152400">
              <a:spcAft>
                <a:spcPts val="400"/>
              </a:spcAft>
              <a:buSzPct val="100000"/>
              <a:buChar char="•"/>
            </a:pPr>
            <a:r>
              <a:rPr lang="en-US" sz="1100" dirty="0">
                <a:solidFill>
                  <a:srgbClr val="000000"/>
                </a:solidFill>
              </a:rPr>
              <a:t>Ceiling 2.74 m; four studs near the ceiling corners</a:t>
            </a:r>
            <a:endParaRPr lang="en-US" sz="1250" dirty="0"/>
          </a:p>
          <a:p>
            <a:pPr algn="l" marL="152400" indent="-152400">
              <a:spcAft>
                <a:spcPts val="400"/>
              </a:spcAft>
              <a:buSzPct val="100000"/>
              <a:buChar char="•"/>
            </a:pPr>
            <a:r>
              <a:rPr lang="en-US" sz="1100" dirty="0">
                <a:solidFill>
                  <a:srgbClr val="000000"/>
                </a:solidFill>
              </a:rPr>
              <a:t>Design load: a pair of jeans, 0.9 kg (screening value)</a:t>
            </a:r>
            <a:endParaRPr lang="en-US" sz="1250" dirty="0"/>
          </a:p>
          <a:p>
            <a:pPr algn="l" marL="152400" indent="-152400">
              <a:spcAft>
                <a:spcPts val="400"/>
              </a:spcAft>
              <a:buSzPct val="100000"/>
              <a:buChar char="•"/>
            </a:pPr>
            <a:r>
              <a:rPr lang="en-US" sz="1100" dirty="0">
                <a:solidFill>
                  <a:srgbClr val="000000"/>
                </a:solidFill>
              </a:rPr>
              <a:t>Plus 2 m/s² for stops and snags (assumed)</a:t>
            </a:r>
            <a:endParaRPr lang="en-US" sz="1250" dirty="0"/>
          </a:p>
        </p:txBody>
      </p:sp>
      <p:sp>
        <p:nvSpPr>
          <p:cNvPr id="5" name="card The solution"/>
          <p:cNvSpPr/>
          <p:nvPr/>
        </p:nvSpPr>
        <p:spPr>
          <a:xfrm>
            <a:off x="252984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solution</a:t>
            </a:r>
            <a:endParaRPr lang="en-US" sz="1250" dirty="0"/>
          </a:p>
          <a:p>
            <a:pPr algn="l" marL="152400" indent="-152400">
              <a:spcAft>
                <a:spcPts val="400"/>
              </a:spcAft>
              <a:buSzPct val="100000"/>
              <a:buChar char="•"/>
            </a:pPr>
            <a:r>
              <a:rPr lang="en-US" sz="1100" dirty="0">
                <a:solidFill>
                  <a:srgbClr val="000000"/>
                </a:solidFill>
              </a:rPr>
              <a:t>Four ceiling winches, one claw on four cables</a:t>
            </a:r>
            <a:endParaRPr lang="en-US" sz="1250" dirty="0"/>
          </a:p>
          <a:p>
            <a:pPr algn="l" marL="152400" indent="-152400">
              <a:spcAft>
                <a:spcPts val="400"/>
              </a:spcAft>
              <a:buSzPct val="100000"/>
              <a:buChar char="•"/>
            </a:pPr>
            <a:r>
              <a:rPr lang="en-US" sz="1100" dirty="0">
                <a:solidFill>
                  <a:srgbClr val="000000"/>
                </a:solidFill>
              </a:rPr>
              <a:t>Nothing on the floor; the room is the frame</a:t>
            </a:r>
            <a:endParaRPr lang="en-US" sz="1250" dirty="0"/>
          </a:p>
          <a:p>
            <a:pPr algn="l" marL="152400" indent="-152400">
              <a:spcAft>
                <a:spcPts val="400"/>
              </a:spcAft>
              <a:buSzPct val="100000"/>
              <a:buChar char="•"/>
            </a:pPr>
            <a:r>
              <a:rPr lang="en-US" sz="1100" dirty="0">
                <a:solidFill>
                  <a:srgbClr val="000000"/>
                </a:solidFill>
              </a:rPr>
              <a:t>A camera on the claw finds the laundry</a:t>
            </a:r>
            <a:endParaRPr lang="en-US" sz="1250" dirty="0"/>
          </a:p>
          <a:p>
            <a:pPr algn="l" marL="152400" indent="-152400">
              <a:spcAft>
                <a:spcPts val="400"/>
              </a:spcAft>
              <a:buSzPct val="100000"/>
              <a:buChar char="•"/>
            </a:pPr>
            <a:r>
              <a:rPr lang="en-US" sz="1100" dirty="0">
                <a:solidFill>
                  <a:srgbClr val="000000"/>
                </a:solidFill>
              </a:rPr>
              <a:t>Floor to hamper with no human touch</a:t>
            </a:r>
            <a:endParaRPr lang="en-US" sz="1250" dirty="0"/>
          </a:p>
        </p:txBody>
      </p:sp>
      <p:sp>
        <p:nvSpPr>
          <p:cNvPr id="6" name="card How we do it"/>
          <p:cNvSpPr/>
          <p:nvPr/>
        </p:nvSpPr>
        <p:spPr>
          <a:xfrm>
            <a:off x="469392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we do it</a:t>
            </a:r>
            <a:endParaRPr lang="en-US" sz="1250" dirty="0"/>
          </a:p>
          <a:p>
            <a:pPr algn="l" marL="152400" indent="-152400">
              <a:spcAft>
                <a:spcPts val="400"/>
              </a:spcAft>
              <a:buSzPct val="100000"/>
              <a:buChar char="•"/>
            </a:pPr>
            <a:r>
              <a:rPr lang="en-US" sz="1100" dirty="0">
                <a:solidFill>
                  <a:srgbClr val="000000"/>
                </a:solidFill>
              </a:rPr>
              <a:t>I approve each move on the phone</a:t>
            </a:r>
            <a:endParaRPr lang="en-US" sz="1250" dirty="0"/>
          </a:p>
          <a:p>
            <a:pPr algn="l" marL="152400" indent="-152400">
              <a:spcAft>
                <a:spcPts val="400"/>
              </a:spcAft>
              <a:buSzPct val="100000"/>
              <a:buChar char="•"/>
            </a:pPr>
            <a:r>
              <a:rPr lang="en-US" sz="1100" dirty="0">
                <a:solidFill>
                  <a:srgbClr val="000000"/>
                </a:solidFill>
              </a:rPr>
              <a:t>PAUSE holds position with torque on</a:t>
            </a:r>
            <a:endParaRPr lang="en-US" sz="1250" dirty="0"/>
          </a:p>
          <a:p>
            <a:pPr algn="l" marL="152400" indent="-152400">
              <a:spcAft>
                <a:spcPts val="400"/>
              </a:spcAft>
              <a:buSzPct val="100000"/>
              <a:buChar char="•"/>
            </a:pPr>
            <a:r>
              <a:rPr lang="en-US" sz="1100" dirty="0">
                <a:solidFill>
                  <a:srgbClr val="000000"/>
                </a:solidFill>
              </a:rPr>
              <a:t>The switched power strip is the emergency stop; it drops the claw</a:t>
            </a:r>
            <a:endParaRPr lang="en-US" sz="1250" dirty="0"/>
          </a:p>
          <a:p>
            <a:pPr algn="l" marL="152400" indent="-152400">
              <a:spcAft>
                <a:spcPts val="400"/>
              </a:spcAft>
              <a:buSzPct val="100000"/>
              <a:buChar char="•"/>
            </a:pPr>
            <a:r>
              <a:rPr lang="en-US" sz="1100" dirty="0">
                <a:solidFill>
                  <a:srgbClr val="000000"/>
                </a:solidFill>
              </a:rPr>
              <a:t>First gate: a 1 lb test weight, then jeans</a:t>
            </a:r>
            <a:endParaRPr lang="en-US" sz="1250" dirty="0"/>
          </a:p>
          <a:p>
            <a:pPr algn="l" marL="152400" indent="-152400">
              <a:spcAft>
                <a:spcPts val="400"/>
              </a:spcAft>
              <a:buSzPct val="100000"/>
              <a:buChar char="•"/>
            </a:pPr>
            <a:r>
              <a:rPr lang="en-US" sz="1100" dirty="0">
                <a:solidFill>
                  <a:srgbClr val="000000"/>
                </a:solidFill>
              </a:rPr>
              <a:t>Parts in the robot: about $211 for three stations, plus $38 filament (partly estimated)</a:t>
            </a:r>
            <a:endParaRPr lang="en-US" sz="1250" dirty="0"/>
          </a:p>
        </p:txBody>
      </p:sp>
      <p:pic>
        <p:nvPicPr>
          <p:cNvPr id="7"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8"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2π·7.5 mm = 47.1 mm (empty) → 2π·10 mm = 62.8 mm (full)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τ_run = 0.7 × 0.36 N·m = 0.252 N·m; F = 0.252 / 0.0075 m = 34 N empty, 0.252 / 0.010 m = 25 N full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+ 0.45 kg) × 9.81 = 8.86 N, D_h = 2.166 m; d = 0.15 m: 8.86 / (4 × 0.069) = 32 N; 16 / 8.3 / 4.6 N at 0.3 / 0.6 / 1.2 m (calculated)</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 0.05 s = 2.5 mm per 50 ms (calculated)</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grid count (calculated): 0.0 % (home 0.3 m) to 32.0 % (home 2.19 m); 4.7 % at 1.0 m, 29.1 % at 2.0 m</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Routes 6 + 21 + 23 + 32 = 82 ft; × 10 conductors = 820 ft (250 m) of wire to one box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82 ft × 2 conductors = 164 ft (50 m) of wire, not 820 ft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400"/>
              </a:spcAft>
              <a:buSzPct val="100000"/>
              <a:buChar char="•"/>
            </a:pPr>
            <a:r>
              <a:rPr lang="en-US" sz="1000" dirty="0">
                <a:solidFill>
                  <a:srgbClr val="000000"/>
                </a:solidFill>
              </a:rPr>
              <a:t>V = I·ρ·2L/A; copper ρ = 1.724×10⁻⁸ Ω·m, L = 9.75 m (32 ft) one way, I = 2 A</a:t>
            </a:r>
            <a:endParaRPr lang="en-US" sz="1250" dirty="0"/>
          </a:p>
          <a:p>
            <a:pPr algn="l" marL="152400" indent="-152400">
              <a:spcAft>
                <a:spcPts val="400"/>
              </a:spcAft>
              <a:buSzPct val="100000"/>
              <a:buChar char="•"/>
            </a:pPr>
            <a:r>
              <a:rPr lang="en-US" sz="1000" dirty="0">
                <a:solidFill>
                  <a:srgbClr val="000000"/>
                </a:solidFill>
              </a:rPr>
              <a:t>24 AWG Gen 1 motor leads, A = 0.205 mm²: R = 1.64 Ω, 3.29 V (27 % of 12 V), 6.6 W (calculated)</a:t>
            </a:r>
            <a:endParaRPr lang="en-US" sz="1250" dirty="0"/>
          </a:p>
          <a:p>
            <a:pPr algn="l" marL="152400" indent="-152400">
              <a:spcAft>
                <a:spcPts val="400"/>
              </a:spcAft>
              <a:buSzPct val="100000"/>
              <a:buChar char="•"/>
            </a:pPr>
            <a:r>
              <a:rPr lang="en-US" sz="1000" dirty="0">
                <a:solidFill>
                  <a:srgbClr val="000000"/>
                </a:solidFill>
              </a:rPr>
              <a:t>16 AWG power pair, A = 1.309 mm²: R = 0.257 Ω, 0.51 V (4.3 %), 1.0 W (calculated)</a:t>
            </a:r>
            <a:endParaRPr lang="en-US" sz="1250" dirty="0"/>
          </a:p>
          <a:p>
            <a:pPr algn="l" marL="152400" indent="-152400">
              <a:spcAft>
                <a:spcPts val="400"/>
              </a:spcAft>
              <a:buSzPct val="100000"/>
              <a:buChar char="•"/>
            </a:pPr>
            <a:r>
              <a:rPr lang="en-US" sz="1000" dirty="0">
                <a:solidFill>
                  <a:srgbClr val="000000"/>
                </a:solidFill>
              </a:rPr>
              <a:t>Thin motor leads over a room-length run lose a quarter of the supply; one thick power pair loses 4 %</a:t>
            </a:r>
            <a:endParaRPr lang="en-US" sz="1250" dirty="0"/>
          </a:p>
          <a:p>
            <a:pPr algn="l" marL="152400" indent="-152400">
              <a:spcAft>
                <a:spcPts val="400"/>
              </a:spcAft>
              <a:buSzPct val="100000"/>
              <a:buChar char="•"/>
            </a:pPr>
            <a:r>
              <a:rPr lang="en-US" sz="1000" dirty="0">
                <a:solidFill>
                  <a:srgbClr val="000000"/>
                </a:solidFill>
              </a:rPr>
              <a:t>16 AWG: $30 per 100 ft × 65 ft = $19.50 (price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T = m(g + a) / (4 sin φ): 1 lb at d 0.4 m → 17.1 N vs 16.8 N limit; jeans need d ≥ 0.6 m (16.6 N)</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&lt; 60 °C. Two-node thermal network; input P = I²R = 1.5² × 1.8 Ω = 4.05 W</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F = 0.252 N·m / r: 34 N (7.5 mm), 25 N (10 mm); ÷ 1.5 = 16.8 N ≥ 16.2 N jeans</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16.8 N / (1.101 × 9.81) = 1.56 kg vs 1.50 kg: +4 %; claw 0.60 kg weighed vs 0.45 budget</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Motor slip 0.36 N·m / 7.5 mm = 48 N; × 1/√2 = 34 N, × 1.11 / cos 26° = 59 N</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 1.5 A: pull × 1.5, heat × 1.5² = 2.25 (calculated)</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Printed set screw (22–64 N) may slip first: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clearance set from fit coupons</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 7.5 mm = 48 N; 34–59 N over torque vector and cable angle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1.5² × 1.8 Ω = 4.05 W leaves through vents and fin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Processes</a:t>
            </a:r>
            <a:endParaRPr lang="en-US" sz="1150" dirty="0"/>
          </a:p>
          <a:p>
            <a:pPr algn="l" marL="152400" indent="-152400">
              <a:spcAft>
                <a:spcPts val="300"/>
              </a:spcAft>
              <a:buSzPct val="100000"/>
              <a:buChar char="•"/>
            </a:pPr>
            <a:r>
              <a:rPr lang="en-US" sz="950" dirty="0">
                <a:solidFill>
                  <a:srgbClr val="000000"/>
                </a:solidFill>
              </a:rPr>
              <a:t>PETG, FDM: 0.4 mm nozzle, 0.20 mm layers, supports at 30°; loads along the layers</a:t>
            </a:r>
            <a:endParaRPr lang="en-US" sz="1150" dirty="0"/>
          </a:p>
          <a:p>
            <a:pPr algn="l" marL="152400" indent="-152400">
              <a:spcAft>
                <a:spcPts val="300"/>
              </a:spcAft>
              <a:buSzPct val="100000"/>
              <a:buChar char="•"/>
            </a:pPr>
            <a:r>
              <a:rPr lang="en-US" sz="950" dirty="0">
                <a:solidFill>
                  <a:srgbClr val="000000"/>
                </a:solidFill>
              </a:rPr>
              <a:t>Aluminium fin: sheared blank, five holes drilled in one mill setup</a:t>
            </a:r>
            <a:endParaRPr lang="en-US" sz="1150" dirty="0"/>
          </a:p>
          <a:p>
            <a:pPr algn="l" marL="152400" indent="-152400">
              <a:spcAft>
                <a:spcPts val="300"/>
              </a:spcAft>
              <a:buSzPct val="100000"/>
              <a:buChar char="•"/>
            </a:pPr>
            <a:r>
              <a:rPr lang="en-US" sz="950" dirty="0">
                <a:solidFill>
                  <a:srgbClr val="000000"/>
                </a:solidFill>
              </a:rPr>
              <a:t>First hole is the mill zero: pattern ±0.1 mm vs ±0.5 mm sheared edges</a:t>
            </a:r>
            <a:endParaRPr lang="en-US" sz="1150" dirty="0"/>
          </a:p>
          <a:p>
            <a:pPr algn="l" marL="152400" indent="-152400">
              <a:spcAft>
                <a:spcPts val="300"/>
              </a:spcAft>
              <a:buSzPct val="100000"/>
              <a:buChar char="•"/>
            </a:pPr>
            <a:r>
              <a:rPr lang="en-US" sz="950" dirty="0">
                <a:solidFill>
                  <a:srgbClr val="000000"/>
                </a:solidFill>
              </a:rPr>
              <a:t>Heat-set inserts: M3 gear housing, M2.5 encoder board</a:t>
            </a:r>
            <a:endParaRPr lang="en-US" sz="1150" dirty="0"/>
          </a:p>
        </p:txBody>
      </p:sp>
      <p:sp>
        <p:nvSpPr>
          <p:cNvPr id="5" name="card Make vs buy"/>
          <p:cNvSpPr/>
          <p:nvPr/>
        </p:nvSpPr>
        <p:spPr>
          <a:xfrm>
            <a:off x="365760" y="3017520"/>
            <a:ext cx="278892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Make vs buy</a:t>
            </a:r>
            <a:endParaRPr lang="en-US" sz="1150" dirty="0"/>
          </a:p>
          <a:p>
            <a:pPr algn="l" marL="152400" indent="-152400">
              <a:spcAft>
                <a:spcPts val="300"/>
              </a:spcAft>
              <a:buSzPct val="100000"/>
              <a:buChar char="•"/>
            </a:pPr>
            <a:r>
              <a:rPr lang="en-US" sz="950" dirty="0">
                <a:solidFill>
                  <a:srgbClr val="000000"/>
                </a:solidFill>
              </a:rPr>
              <a:t>Bought: steppers, drivers, boards, servo, camera, battery, encoders</a:t>
            </a:r>
            <a:endParaRPr lang="en-US" sz="1150" dirty="0"/>
          </a:p>
          <a:p>
            <a:pPr algn="l" marL="152400" indent="-152400">
              <a:spcAft>
                <a:spcPts val="300"/>
              </a:spcAft>
              <a:buSzPct val="100000"/>
              <a:buChar char="•"/>
            </a:pPr>
            <a:r>
              <a:rPr lang="en-US" sz="950" dirty="0">
                <a:solidFill>
                  <a:srgbClr val="000000"/>
                </a:solidFill>
              </a:rPr>
              <a:t>Made: every printed part and the fin</a:t>
            </a:r>
            <a:endParaRPr lang="en-US" sz="1150" dirty="0"/>
          </a:p>
          <a:p>
            <a:pPr algn="l" marL="152400" indent="-152400">
              <a:spcAft>
                <a:spcPts val="300"/>
              </a:spcAft>
              <a:buSzPct val="100000"/>
              <a:buChar char="•"/>
            </a:pPr>
            <a:r>
              <a:rPr lang="en-US" sz="950" dirty="0">
                <a:solidFill>
                  <a:srgbClr val="000000"/>
                </a:solidFill>
              </a:rPr>
              <a:t>Filament per station: 0.762 kg × $15/kg = $11.43 (estimated)</a:t>
            </a:r>
            <a:endParaRPr lang="en-US" sz="1150" dirty="0"/>
          </a:p>
          <a:p>
            <a:pPr algn="l" marL="152400" indent="-152400">
              <a:spcAft>
                <a:spcPts val="300"/>
              </a:spcAft>
              <a:buSzPct val="100000"/>
              <a:buChar char="•"/>
            </a:pPr>
            <a:r>
              <a:rPr lang="en-US" sz="950" dirty="0">
                <a:solidFill>
                  <a:srgbClr val="000000"/>
                </a:solidFill>
              </a:rPr>
              <a:t>Robot: $210.78 parts + $37.74 filament, three stations (partly estimated)</a:t>
            </a:r>
            <a:endParaRPr lang="en-US" sz="115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printed too tight on the Ø5.0 shaft; opened to Ø5.45</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for clearance, 30° flanks</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(CAD)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 0.9 (η) = 2.7 at equal current (calculated)</a:t>
            </a:r>
            <a:endParaRPr lang="en-US" sz="1100" dirty="0"/>
          </a:p>
          <a:p>
            <a:pPr algn="l" marL="152400" indent="-152400">
              <a:spcAft>
                <a:spcPts val="200"/>
              </a:spcAft>
              <a:buSzPct val="100000"/>
              <a:buChar char="•"/>
            </a:pPr>
            <a:r>
              <a:rPr lang="en-US" sz="950" dirty="0">
                <a:solidFill>
                  <a:srgbClr val="000000"/>
                </a:solidFill>
              </a:rPr>
              <a:t>At 1.0 A: heat × (1.0/1.5)² = 0.44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Also nex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Also next / still planned</a:t>
            </a:r>
            <a:endParaRPr lang="en-US" sz="1150" dirty="0"/>
          </a:p>
          <a:p>
            <a:pPr algn="l" marL="152400" indent="-152400">
              <a:spcAft>
                <a:spcPts val="300"/>
              </a:spcAft>
              <a:buSzPct val="100000"/>
              <a:buChar char="•"/>
            </a:pPr>
            <a:r>
              <a:rPr lang="en-US" sz="1000" dirty="0">
                <a:solidFill>
                  <a:srgbClr val="000000"/>
                </a:solidFill>
              </a:rPr>
              <a:t>TPU grip pads on the jaws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2026-10-27T12:39:34Z</dcterms:created>
  <dcterms:modified xsi:type="dcterms:W3CDTF">2026-10-27T12:39:34Z</dcterms:modified>
</cp:coreProperties>
</file>