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994c011-08b3-6f8a-8783-3f4d1bcebdc0}">
          <p14:sldIdLst>
            <p14:sldId id="256"/>
            <p14:sldId id="257"/>
            <p14:sldId id="258"/>
            <p14:sldId id="259"/>
          </p14:sldIdLst>
        </p14:section>
        <p14:section name="Concept" id="{cddd85c0-648d-124e-b309-d83e9bf2554b}">
          <p14:sldIdLst>
            <p14:sldId id="260"/>
            <p14:sldId id="261"/>
            <p14:sldId id="262"/>
            <p14:sldId id="263"/>
          </p14:sldIdLst>
        </p14:section>
        <p14:section name="Generation 1" id="{d624fc7e-2e4d-33b1-ad99-c86abf2f1bd5}">
          <p14:sldIdLst>
            <p14:sldId id="264"/>
            <p14:sldId id="265"/>
            <p14:sldId id="266"/>
          </p14:sldIdLst>
        </p14:section>
        <p14:section name="Redesign" id="{4fc1a578-029f-675d-2310-09603f55faa8}">
          <p14:sldIdLst>
            <p14:sldId id="267"/>
            <p14:sldId id="268"/>
            <p14:sldId id="269"/>
            <p14:sldId id="270"/>
          </p14:sldIdLst>
        </p14:section>
        <p14:section name="Final Design" id="{50fd01cc-8b19-d828-3661-e0fa502729cf}">
          <p14:sldIdLst>
            <p14:sldId id="271"/>
            <p14:sldId id="272"/>
            <p14:sldId id="273"/>
            <p14:sldId id="274"/>
            <p14:sldId id="275"/>
          </p14:sldIdLst>
        </p14:section>
        <p14:section name="Build and Test" id="{0efe822f-b30b-9770-f312-cfa75c6f5016}">
          <p14:sldIdLst>
            <p14:sldId id="276"/>
            <p14:sldId id="277"/>
            <p14:sldId id="278"/>
            <p14:sldId id="279"/>
            <p14:sldId id="280"/>
          </p14:sldIdLst>
        </p14:section>
        <p14:section name="Results and Lessons" id="{0fd125b8-7193-b73b-df68-33c9a1dde3be}">
          <p14:sldIdLst>
            <p14:sldId id="281"/>
            <p14:sldId id="282"/>
            <p14:sldId id="283"/>
            <p14:sldId id="284"/>
          </p14:sldIdLst>
        </p14:section>
        <p14:section name="Close" id="{fd04861c-608b-beb1-d244-92f6ed155648}">
          <p14:sldIdLst>
            <p14:sldId id="285"/>
          </p14:sldIdLst>
        </p14:section>
        <p14:section name="Appendix" id="{b221ef31-c091-7834-812d-3f64b2160f5a}">
          <p14:sldIdLst>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four winches near the ceiling corners hold one claw on cables; it picks clothes off the floor and drops them in a hamper. Then straight to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Degree and graduation date, EcoFil (what each stage does, what you learned), the sculptures for the Austin Creek Show (fiber laser and welding: real fabrication), one hobby. Close with why a laundry robot: a problem you have, and a machine you could build end to end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real problem in my own room, and a machine I could design, build and program end to end. 0.9 kg is a screening figure for jeans; the first physical test is 1 lb. Safety rules from day one: stations anchor into studs, a switched power strip is the one hard stop, nobody stands under the robot, and any fault holds position. The talk follows the project in five phases, the same five as the timeline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weeks, alone. Each phase that follows starts with what I set out to do and ends with what it taught me. Say plainly what is mine and what is bought. [Confirm the start date (git shows Jul 16), what happened in September, and shop access or mentors if 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of requirements, a simulator and the parts list, before anything was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Alternatives I considered: a floor robot (furniture and cords in the way, small reach) and a gantry (a rigid frame across the room). A cable robot covers the whole floor with a small moving mass and nothing on the floor. The catch: cables can only pull, which sets the limits on the next two slides. System: each wall station has its own winch, encoder and controller; the claw carries a gripper, camera and battery; the laptop checks every point of a path before anything moves, and every move waits for a yes on the phone. PAUSE holds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levers I set in the concept phase and revisited in every phase after; each later slide is one of these trades. Current: pull goes with I but heat goes with I squared, so 41 % more pull costs twice the heat. Claw strength: every gram comes out of the payload. Room size: wire resistance grows with length, so only power travels; the longest 32 ft run drops 0.51 V at 2 A on 16-gauge wire. Spool: a smaller radius pulls harder but reels slower, and the radius grows as the line winds on. Margins buy safety with force and floor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balance on the claw: the cable pulls and the weight sum to zero. Centered claw, equal shares; D_h = 2.17 m from the room center to a corner; W = (0.45 + 0.454) kg × 9.81 = 8.87 N; sin φ = 0.4 / √(0.4² + 2.17²) = 0.181. The tension doubles each time the depth halves near the ceiling, so the ceiling margin is set by tension, not by collision. 0.3 m would hold standing still (16.2 N) but not while accelerating (19.5 N), so I keep 0.4 m. Corner picks: the far cables go near-horizontal and carry little; the planner checks every cable stays inside its limits, and also refuses any path whose cables would cross a keep-out zone such as a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was a working station on the bench as fast as possible, to find out what I did not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1 worked on the bench: the winch lifted a test weight and the cable math held. The central board was a CNC shield with four A4988 drivers, which kept the first build simple. The ceiling camera mapped laundry to the floor. Each of these choices was cheap and fast, and each one showed a limit in the next slide. [Fill in: the test weight and how high it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Homing: a bead on each cable trips a switch at the outlet. A cable can then never get shorter than its homing length, so the claw cannot reach anything closer to an anchor than home. With home 1 m up, 5 % of the room is reachable; 2 m up, 29 %. This was caught on paper, before it was built. Wiring: once every winch needed an encoder and a switch, the central board needed 10 conductors run to every corner. Claw: soft fingers wrap round objects but cannot pinch a flat T-shirt, and the finger claw was far over its mass budget. These three findings drove the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one for each finding: distributed control, camera calibration, and a rigid claw.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cable routes are 6, 21, 23 and 32 ft (82 ft). 10 conductors per corner (motor 4, switch 2, encoder 4) × 82 ft = 820 ft against 2 × 82 ft = 164 ft for one power pair. Each station runs time-stamped segments on its own clock; a lost link means hold. Timing skew becomes cable mismatch: 50 mm/s × 50 ms = 2.5 mm, which is why every segment carries a time stamp. Each station can also be tested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take up slack one cable at a time, lift the claw, look at the floor board from several poses, least-squares fit of the anchors and cable zero lengths, then check the fit on poses it did not use. Error = angle error × camera height: 12.9 mrad × 0.51 m = 6.6 mm with one tag; averaging tags removes noise but not bias. Safety comes from margins (0.4 m below the anchors, 0.2 m inside the walls), not precision; the full room opens only when the fit's error bars allow it. Simulated end to end so far; the first hardware run is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Four-bar: ground 36.5, crank 53, rocker 50, coupler 34.7 mm; jaws stay parallel within about 1 degree, and closing drops the tips about 38 mm, a scoop. Gear train: MG996R servo, 18-tooth pinion, 36/24-tooth compound, 24-tooth sync gear. Lewis bending check at servo stall: with module 1 the safety factor was 0.35 to 0.41, so the module went to 1.5: pinion 2.05, compound 2.50, sync gear 2.00. Stall torque 1.078 N·m is the servo rating, not measured. Electrical: a two-cell lithium-ion pack with a 5 A fuse, a 6 V servo rail and a separate 5 V logic rail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station versions and three spool versions in SolidWorks, ending with the final design on October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station from the wall out: the slide-in mount anchors into a stud and the station slides onto it, so a station can come off for rework without moving the anchor. The motor sits on a 5 mm PETG tab with the fin clamped between them; the spool is on the motor shaft and the encoder reads a magnet on the spool's end. The shell carries the vents, and the fin exits through the slot in its top into room air. The 1/8 in production fin needs that slot about 1 mm wider on the motor side, and M3 × 12 screws. Each version fixed a fit or assembly problem from the one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 from the driver's reference voltage (A4988 datasheet): I = Vref / (8 × 0.1 Ω). The first boards topped out at 0.85 V, which is 1.06 A; I got them to 1.2 V, 1.5 A, the motor's rated current. [Fill in: how, and the Vref you read.] Running torque assumed 0.7 of the 0.36 N·m holding torque; the luggage-scale pull test measures it. The 1.5 divisor is the margin against skipped steps. The cost of the extra pull is heat,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motor to shell air to room, with an aluminum fin through the top of the shell as a second path out. Sealed, the motor would reach 99 °C with no fin, so the shell stays vented. Fin sizing: the 0.019 in prototype sheet reaches 95 % of its capacity by 136 mm, so most of its length does little; the 1/8 in plate keeps gaining to 349 mm and is 74 % efficient at the 200 mm the ceiling allows (appendix). The PETG next to the motor runs at about the motor temperature, within 1 K. Next: a SolidWorks thermal study and a 90-minute hold test at 1.5 A. Fallback: 1.35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even at 1.5 A the claw plus jeans is too heavy, by about 0.2 kg (it was 0.66 kg at 1.06 A). Root cause: I set the mass budget late, after the claw grew. k = 1.101 is the worst cable tension per unit weight over the room with 2 m/s²: the middle of a long wall at task height. Claw estimate: 0.55 fill × 927 g solid + 198 g tube + 55 g servo ≈ 0.76 kg, plus 0.10 kg battery. A 2:1 or 3:1 gear stage at each winch clears it with margin and lets the current drop back to about 1 A, which also halves the heat; the pull test result picks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print, machine, wire, then the three-station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PETG on a Creality K1 at 0.2 mm layers; flat face on the bed, loads along the layers, heat-set M3 inserts where screws are reused. Spool: v1 was longer than the shaft could engage; v2's Ø5.2 bore printed too tight on the 5 mm shaft; v3 opened it to Ø5.45 (0.25 mm clearance) with a D-flat. Fin: a 1:1 shop drawing used as the hole template; a 7/8 in pilot for the motor boss and four Ø3.4 holes on the 31 mm square, all from the same two edges so errors do not stack. The prototype is 0.019 in sheet I had; the design is 1/8 in plate. [Fill in: time per fin, how many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Boot-safe: a 10k pull-up holds the driver's enable pin off until the firmware arms it. USB and the 5 V buck cannot back-feed each other (link jumper plus a Schottky diode). The schematic is generated from the soldered board's net list (16 nets), so the two cannot disagree. The 1.14 V story: measure the hardware before trusting the software's view of it. [Fill in: exact readings, date, what you tried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cables, three unknown tensions, three force equations: statically determinate, so slack shows up directly. It is the simplest real test of calibration and coordinated motion. Logged: cable lengths, encoder counts, motor temperatures, the fit's error bars. Fill in the results after the test, including any that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°C limit is for the loaded PETG. The SolidWorks study uses my 10/21 assembly with a detailed NEMA 17 (aluminum end caps, black steel stator, copper windings as the 4.05 W source), the fin, the four M3 screws and the PETG mount. An independent 3-D check showed the PETG next to the motor runs at about the motor temperature, within 1 K. If the calculation, simulation and test disagree, I fit the convection coefficient and the coil resistance, not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targets from the start. Two are not met, and they are the same problem: lift capacity and claw mass. Motor temperature and working area are met by the design and wait on the hold test; accuracy and speed wait on the system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each was a trade I priced first. Distributed control cost software synchronization but saved five times the wire. Calibration by camera replaced a plan that physically limited the motion. The stall check caught gears that would have sheared. Poor: the mass budget came after the claw grew, which is the open issue today. Bead homing looked cheap until I computed what it cost. Building several stations before one was fully proven meant repeating each fix. Also the spool printed before a fit coupon: three prints. [Confirm the stations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Thorough: the fin is machined once, so the hole pattern had to be right before the first cut; the board schematic is generated from the soldered net list; the gear check happened in CAD because a sheared gear costs a print and a jammed claw. Scrappy: when a controller board died two days before the test, I moved the same circuit to an ESP32 dev board with nine jumpers and a compile-time pin map instead of redesigning the board. The floor board is paper because accuracy comes from seeing several tags, not from the board. The prototype fin is the 0.019 in sheet I already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do differently: weigh the claw and set its budget from the measured pull before designing it; one complete station tested end to end before building more; coupons before every new fit; a meter on every rail before debugging code. Half the time: most lost time was the redesign and the generations a frozen requirement and an early test would have avoided. Three stations are statically determinate and need fewer parts for the first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covers fin sizing, the operating sequence and phone app, control logic, claw electrical, acronyms and the calculation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L95 is where a fin carries 95 % of the heat an infinitely long one would. h = 7 W/m²·K still air, k = 160 W/m·K aluminum. At 200 mm: sheet 37 % efficient and 22.1 K/W; 1/8 in plate 74 % and 10.9 K/W. Source: Incropera, Fundamentals of Heat and Mass Transfer, ch.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works today only because the motor also sheds heat into the vented shell. A thin sheet's far end does almost nothing: the most heat any length can carry is w √(2hkt) θ_b, about 2 W for 0.019 in at a 60 °C base (approximate, about 10 % low). Thickness beats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fault or PAUSE stops every station at the same point on the path, still holding; nothing restarts by itself, and a reboot never resumes a task. Known obstacles are keep-out cylinders and every cable is checked against them before a move. People are not detected, so nobody stands underneath. Three failures in a row pause for the operator. Disarm needs a typed confirmation because releasing torque drops a hanging claw. Simulated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1 trusted its model; the final logic measures before it trusts and checks after it acts. Kept from generation 1: the cable math, the state-machine idea and the YOLO-World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check 0 errors; 9 nets match the specification. Charger: 8.4 V constant current, constant voltage; charged with the switch off, attended, at 1 A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jpg"/><Relationship Id="rId4" Type="http://schemas.openxmlformats.org/officeDocument/2006/relationships/image" Target="../media/image-22-4.jp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docs.google.com/spreadsheets/d/1UGFnkL1v305WnDYj5aj5zBtgxnxmGP7_TVRN0afZTGs/edit" TargetMode="External"/><Relationship Id="rId1" Type="http://schemas.openxmlformats.org/officeDocument/2006/relationships/image" Target="../media/image-38-1.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1F3A5F"/>
          </a:solidFill>
          <a:ln w="12700">
            <a:solidFill>
              <a:srgbClr val="1F3A5F"/>
            </a:solidFill>
            <a:prstDash val="solid"/>
          </a:ln>
        </p:spPr>
      </p:sp>
      <p:sp>
        <p:nvSpPr>
          <p:cNvPr id="3" name="Text 1"/>
          <p:cNvSpPr txBox="1"/>
          <p:nvPr/>
        </p:nvSpPr>
        <p:spPr>
          <a:xfrm>
            <a:off x="548640" y="2103120"/>
            <a:ext cx="43891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RoomCleaner</a:t>
            </a:r>
            <a:endParaRPr lang="en-US" sz="4400" dirty="0"/>
          </a:p>
        </p:txBody>
      </p:sp>
      <p:sp>
        <p:nvSpPr>
          <p:cNvPr id="4" name="Text 2"/>
          <p:cNvSpPr txBox="1"/>
          <p:nvPr/>
        </p:nvSpPr>
        <p:spPr>
          <a:xfrm>
            <a:off x="548640" y="3063240"/>
            <a:ext cx="4206240" cy="1097280"/>
          </a:xfrm>
          <a:prstGeom prst="rect">
            <a:avLst/>
          </a:prstGeom>
          <a:noFill/>
          <a:ln/>
        </p:spPr>
        <p:txBody>
          <a:bodyPr wrap="square" lIns="0" tIns="0" rIns="0" bIns="0" rtlCol="0" anchor="ctr"/>
          <a:lstStyle/>
          <a:p>
            <a:pPr indent="0" marL="0">
              <a:buNone/>
            </a:pPr>
            <a:r>
              <a:rPr lang="en-US" sz="2200" dirty="0">
                <a:solidFill>
                  <a:srgbClr val="D9DEE5"/>
                </a:solidFill>
                <a:latin typeface="Arial" pitchFamily="34" charset="0"/>
                <a:ea typeface="Arial" pitchFamily="34" charset="-122"/>
                <a:cs typeface="Arial" pitchFamily="34" charset="-120"/>
              </a:rPr>
              <a:t>A cable-driven robot that picks laundry up off the floor</a:t>
            </a:r>
            <a:endParaRPr lang="en-US" sz="2200" dirty="0"/>
          </a:p>
        </p:txBody>
      </p:sp>
      <p:sp>
        <p:nvSpPr>
          <p:cNvPr id="5" name="Text 3"/>
          <p:cNvSpPr txBox="1"/>
          <p:nvPr/>
        </p:nvSpPr>
        <p:spPr>
          <a:xfrm>
            <a:off x="548640" y="5212080"/>
            <a:ext cx="4389120" cy="1005840"/>
          </a:xfrm>
          <a:prstGeom prst="rect">
            <a:avLst/>
          </a:prstGeom>
          <a:noFill/>
          <a:ln/>
        </p:spPr>
        <p:txBody>
          <a:bodyPr wrap="square" lIns="0" tIns="0" rIns="0" bIns="0" rtlCol="0" anchor="ctr"/>
          <a:lstStyle/>
          <a:p>
            <a:pPr indent="0" marL="0">
              <a:buNone/>
            </a:pPr>
            <a:r>
              <a:rPr lang="en-US" sz="1400" dirty="0">
                <a:solidFill>
                  <a:srgbClr val="D9DEE5"/>
                </a:solidFill>
                <a:latin typeface="Arial" pitchFamily="34" charset="0"/>
                <a:ea typeface="Arial" pitchFamily="34" charset="-122"/>
                <a:cs typeface="Arial" pitchFamily="34" charset="-120"/>
              </a:rPr>
              <a:t>Jasper Buntinx</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Mechanical Engineering, Texas A&amp;M University</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October 27, 2026</a:t>
            </a:r>
            <a:endParaRPr lang="en-US" sz="1400" dirty="0"/>
          </a:p>
        </p:txBody>
      </p:sp>
      <p:pic>
        <p:nvPicPr>
          <p:cNvPr id="6" name="Generation 2 winch station, assembled" descr="Generation 2 winch station, assembled">    </p:cNvPr>
          <p:cNvPicPr>
            <a:picLocks noChangeAspect="1"/>
          </p:cNvPicPr>
          <p:nvPr/>
        </p:nvPicPr>
        <p:blipFill>
          <a:blip r:embed="rId1"/>
          <a:stretch>
            <a:fillRect/>
          </a:stretch>
        </p:blipFill>
        <p:spPr>
          <a:xfrm>
            <a:off x="5486400" y="1417320"/>
            <a:ext cx="3017520" cy="4023360"/>
          </a:xfrm>
          <a:prstGeom prst="rect">
            <a:avLst/>
          </a:prstGeom>
        </p:spPr>
      </p:pic>
      <p:pic>
        <p:nvPicPr>
          <p:cNvPr id="7" name="Printed claw body with its servo" descr="Printed claw body with its servo">    </p:cNvPr>
          <p:cNvPicPr>
            <a:picLocks noChangeAspect="1"/>
          </p:cNvPicPr>
          <p:nvPr/>
        </p:nvPicPr>
        <p:blipFill>
          <a:blip r:embed="rId2"/>
          <a:stretch>
            <a:fillRect/>
          </a:stretch>
        </p:blipFill>
        <p:spPr>
          <a:xfrm>
            <a:off x="8641080" y="1417320"/>
            <a:ext cx="301752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About Me</a:t>
            </a:r>
            <a:endParaRPr lang="en-US" sz="2600" dirty="0"/>
          </a:p>
        </p:txBody>
      </p:sp>
      <p:sp>
        <p:nvSpPr>
          <p:cNvPr id="3" name="placeholder"/>
          <p:cNvSpPr/>
          <p:nvPr/>
        </p:nvSpPr>
        <p:spPr>
          <a:xfrm>
            <a:off x="548640" y="1188720"/>
            <a:ext cx="6400800" cy="4617720"/>
          </a:xfrm>
          <a:prstGeom prst="rect">
            <a:avLst/>
          </a:prstGeom>
          <a:solidFill>
            <a:srgbClr val="F2F2F2"/>
          </a:solidFill>
          <a:ln w="12700">
            <a:solidFill>
              <a:srgbClr val="B23A2E"/>
            </a:solidFill>
            <a:prstDash val="dash"/>
          </a:ln>
        </p:spPr>
      </p:sp>
      <p:sp>
        <p:nvSpPr>
          <p:cNvPr id="4" name="placeholder text"/>
          <p:cNvSpPr txBox="1"/>
          <p:nvPr/>
        </p:nvSpPr>
        <p:spPr>
          <a:xfrm>
            <a:off x="731520" y="1188720"/>
            <a:ext cx="6035040" cy="461772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of you building: EcoFil, a sculpture, or the workshop]</a:t>
            </a:r>
            <a:endParaRPr lang="en-US" sz="16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Mechanical Engineering, Texas A&amp;M University, </a:t>
            </a:r>
            <a:pPr algn="l" marL="254000" indent="-254000">
              <a:spcAft>
                <a:spcPts val="1400"/>
              </a:spcAft>
              <a:buSzPct val="100000"/>
              <a:buChar char="•"/>
            </a:pPr>
            <a:r>
              <a:rPr lang="en-US" sz="1800" i="1" dirty="0">
                <a:solidFill>
                  <a:srgbClr val="B23A2E"/>
                </a:solidFill>
                <a:latin typeface="Arial" pitchFamily="34" charset="0"/>
                <a:ea typeface="Arial" pitchFamily="34" charset="-122"/>
                <a:cs typeface="Arial" pitchFamily="34" charset="-120"/>
              </a:rPr>
              <a:t>[graduation year]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Built EcoFil, a filament recycler: shredder, dryer and extruder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Metal sculpture with fiber laser cutting and welding</a:t>
            </a:r>
            <a:endParaRPr lang="en-US" sz="1800" dirty="0"/>
          </a:p>
          <a:p>
            <a:pPr algn="l" marL="254000" indent="-254000">
              <a:spcAft>
                <a:spcPts val="1400"/>
              </a:spcAft>
              <a:buSzPct val="100000"/>
              <a:buChar char="•"/>
            </a:pPr>
            <a:r>
              <a:rPr lang="en-US" sz="1800" i="1" dirty="0">
                <a:solidFill>
                  <a:srgbClr val="B23A2E"/>
                </a:solidFill>
                <a:latin typeface="Arial" pitchFamily="34" charset="0"/>
                <a:ea typeface="Arial" pitchFamily="34" charset="-122"/>
                <a:cs typeface="Arial" pitchFamily="34" charset="-120"/>
              </a:rPr>
              <a:t>[hobbies]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Project Goal</a:t>
            </a:r>
            <a:endParaRPr lang="en-US" sz="2600" dirty="0"/>
          </a:p>
        </p:txBody>
      </p:sp>
      <p:pic>
        <p:nvPicPr>
          <p:cNvPr id="3" name="Final wall station" descr="Final wall station">    </p:cNvPr>
          <p:cNvPicPr>
            <a:picLocks noChangeAspect="1"/>
          </p:cNvPicPr>
          <p:nvPr/>
        </p:nvPicPr>
        <p:blipFill>
          <a:blip r:embed="rId1"/>
          <a:stretch>
            <a:fillRect/>
          </a:stretch>
        </p:blipFill>
        <p:spPr>
          <a:xfrm>
            <a:off x="548640" y="1642417"/>
            <a:ext cx="4224528" cy="3710325"/>
          </a:xfrm>
          <a:prstGeom prst="rect">
            <a:avLst/>
          </a:prstGeom>
        </p:spPr>
      </p:pic>
      <p:pic>
        <p:nvPicPr>
          <p:cNvPr id="4" name="Final claw" descr="Final claw">    </p:cNvPr>
          <p:cNvPicPr>
            <a:picLocks noChangeAspect="1"/>
          </p:cNvPicPr>
          <p:nvPr/>
        </p:nvPicPr>
        <p:blipFill>
          <a:blip r:embed="rId2"/>
          <a:stretch>
            <a:fillRect/>
          </a:stretch>
        </p:blipFill>
        <p:spPr>
          <a:xfrm>
            <a:off x="5249134" y="1188720"/>
            <a:ext cx="1352355" cy="4617720"/>
          </a:xfrm>
          <a:prstGeom prst="rect">
            <a:avLst/>
          </a:prstGeom>
        </p:spPr>
      </p:pic>
      <p:sp>
        <p:nvSpPr>
          <p:cNvPr id="5"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Final design (SolidWorks): wall station and claw</a:t>
            </a:r>
            <a:endParaRPr lang="en-US" sz="1100" dirty="0"/>
          </a:p>
        </p:txBody>
      </p:sp>
      <p:sp>
        <p:nvSpPr>
          <p:cNvPr id="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Pick up laundry anywhere in an 11 × 9 ft room and drop it in a hamper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Design load: jeans, 0.9 kg, at 2 m/s²; first test with 1 lb</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3D-printed PETG (polyethylene terephthalate glycol) on a hobby budget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Success: one garment to the hamper with no human input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Timeline and Scope</a:t>
            </a:r>
            <a:endParaRPr lang="en-US" sz="2600" dirty="0"/>
          </a:p>
        </p:txBody>
      </p:sp>
      <p:sp>
        <p:nvSpPr>
          <p:cNvPr id="3" name="gantt header"/>
          <p:cNvSpPr/>
          <p:nvPr/>
        </p:nvSpPr>
        <p:spPr>
          <a:xfrm>
            <a:off x="548640" y="1188720"/>
            <a:ext cx="11094415" cy="365760"/>
          </a:xfrm>
          <a:prstGeom prst="rect">
            <a:avLst/>
          </a:prstGeom>
          <a:solidFill>
            <a:srgbClr val="1F3A5F"/>
          </a:solidFill>
          <a:ln w="12700">
            <a:solidFill>
              <a:srgbClr val="1F3A5F"/>
            </a:solidFill>
            <a:prstDash val="solid"/>
          </a:ln>
        </p:spPr>
      </p:sp>
      <p:sp>
        <p:nvSpPr>
          <p:cNvPr id="4" name="label"/>
          <p:cNvSpPr txBox="1"/>
          <p:nvPr/>
        </p:nvSpPr>
        <p:spPr>
          <a:xfrm>
            <a:off x="640080" y="1188720"/>
            <a:ext cx="219456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Phase</a:t>
            </a:r>
            <a:endParaRPr lang="en-US" sz="1300" dirty="0"/>
          </a:p>
        </p:txBody>
      </p:sp>
      <p:sp>
        <p:nvSpPr>
          <p:cNvPr id="5" name="label"/>
          <p:cNvSpPr txBox="1"/>
          <p:nvPr/>
        </p:nvSpPr>
        <p:spPr>
          <a:xfrm>
            <a:off x="3017520" y="1188720"/>
            <a:ext cx="141732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Dates</a:t>
            </a:r>
            <a:endParaRPr lang="en-US" sz="1300" dirty="0"/>
          </a:p>
        </p:txBody>
      </p:sp>
      <p:sp>
        <p:nvSpPr>
          <p:cNvPr id="6" name="Shape 4"/>
          <p:cNvSpPr/>
          <p:nvPr/>
        </p:nvSpPr>
        <p:spPr>
          <a:xfrm>
            <a:off x="548640" y="1975104"/>
            <a:ext cx="11094415" cy="420624"/>
          </a:xfrm>
          <a:prstGeom prst="rect">
            <a:avLst/>
          </a:prstGeom>
          <a:solidFill>
            <a:srgbClr val="F2F2F2"/>
          </a:solidFill>
          <a:ln w="12700">
            <a:solidFill>
              <a:srgbClr val="F2F2F2"/>
            </a:solidFill>
            <a:prstDash val="solid"/>
          </a:ln>
        </p:spPr>
      </p:sp>
      <p:sp>
        <p:nvSpPr>
          <p:cNvPr id="7" name="Shape 5"/>
          <p:cNvSpPr/>
          <p:nvPr/>
        </p:nvSpPr>
        <p:spPr>
          <a:xfrm>
            <a:off x="548640" y="2816352"/>
            <a:ext cx="11094415" cy="420624"/>
          </a:xfrm>
          <a:prstGeom prst="rect">
            <a:avLst/>
          </a:prstGeom>
          <a:solidFill>
            <a:srgbClr val="F2F2F2"/>
          </a:solidFill>
          <a:ln w="12700">
            <a:solidFill>
              <a:srgbClr val="F2F2F2"/>
            </a:solidFill>
            <a:prstDash val="solid"/>
          </a:ln>
        </p:spPr>
      </p:sp>
      <p:sp>
        <p:nvSpPr>
          <p:cNvPr id="8" name="label"/>
          <p:cNvSpPr txBox="1"/>
          <p:nvPr/>
        </p:nvSpPr>
        <p:spPr>
          <a:xfrm>
            <a:off x="4526280"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July</a:t>
            </a:r>
            <a:endParaRPr lang="en-US" sz="1300" dirty="0"/>
          </a:p>
        </p:txBody>
      </p:sp>
      <p:sp>
        <p:nvSpPr>
          <p:cNvPr id="9" name="label"/>
          <p:cNvSpPr txBox="1"/>
          <p:nvPr/>
        </p:nvSpPr>
        <p:spPr>
          <a:xfrm>
            <a:off x="6319939"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August</a:t>
            </a:r>
            <a:endParaRPr lang="en-US" sz="1300" dirty="0"/>
          </a:p>
        </p:txBody>
      </p:sp>
      <p:sp>
        <p:nvSpPr>
          <p:cNvPr id="10" name="Shape 8"/>
          <p:cNvSpPr/>
          <p:nvPr/>
        </p:nvSpPr>
        <p:spPr>
          <a:xfrm>
            <a:off x="6319939" y="1554480"/>
            <a:ext cx="0" cy="2103120"/>
          </a:xfrm>
          <a:prstGeom prst="line">
            <a:avLst/>
          </a:prstGeom>
          <a:noFill/>
          <a:ln w="9525">
            <a:solidFill>
              <a:srgbClr val="BFBFBF"/>
            </a:solidFill>
            <a:prstDash val="solid"/>
          </a:ln>
        </p:spPr>
      </p:sp>
      <p:sp>
        <p:nvSpPr>
          <p:cNvPr id="11" name="label"/>
          <p:cNvSpPr txBox="1"/>
          <p:nvPr/>
        </p:nvSpPr>
        <p:spPr>
          <a:xfrm>
            <a:off x="8113598" y="1188720"/>
            <a:ext cx="173579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September</a:t>
            </a:r>
            <a:endParaRPr lang="en-US" sz="1300" dirty="0"/>
          </a:p>
        </p:txBody>
      </p:sp>
      <p:sp>
        <p:nvSpPr>
          <p:cNvPr id="12" name="Shape 10"/>
          <p:cNvSpPr/>
          <p:nvPr/>
        </p:nvSpPr>
        <p:spPr>
          <a:xfrm>
            <a:off x="8113598" y="1554480"/>
            <a:ext cx="0" cy="2103120"/>
          </a:xfrm>
          <a:prstGeom prst="line">
            <a:avLst/>
          </a:prstGeom>
          <a:noFill/>
          <a:ln w="9525">
            <a:solidFill>
              <a:srgbClr val="BFBFBF"/>
            </a:solidFill>
            <a:prstDash val="solid"/>
          </a:ln>
        </p:spPr>
      </p:sp>
      <p:sp>
        <p:nvSpPr>
          <p:cNvPr id="13" name="label"/>
          <p:cNvSpPr txBox="1"/>
          <p:nvPr/>
        </p:nvSpPr>
        <p:spPr>
          <a:xfrm>
            <a:off x="9849396"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October</a:t>
            </a:r>
            <a:endParaRPr lang="en-US" sz="1300" dirty="0"/>
          </a:p>
        </p:txBody>
      </p:sp>
      <p:sp>
        <p:nvSpPr>
          <p:cNvPr id="14" name="Shape 12"/>
          <p:cNvSpPr/>
          <p:nvPr/>
        </p:nvSpPr>
        <p:spPr>
          <a:xfrm>
            <a:off x="9849396" y="1554480"/>
            <a:ext cx="0" cy="2103120"/>
          </a:xfrm>
          <a:prstGeom prst="line">
            <a:avLst/>
          </a:prstGeom>
          <a:noFill/>
          <a:ln w="9525">
            <a:solidFill>
              <a:srgbClr val="BFBFBF"/>
            </a:solidFill>
            <a:prstDash val="solid"/>
          </a:ln>
        </p:spPr>
      </p:sp>
      <p:sp>
        <p:nvSpPr>
          <p:cNvPr id="15" name="label"/>
          <p:cNvSpPr txBox="1"/>
          <p:nvPr/>
        </p:nvSpPr>
        <p:spPr>
          <a:xfrm>
            <a:off x="640080" y="1554480"/>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1. Concept</a:t>
            </a:r>
            <a:endParaRPr lang="en-US" sz="1400" dirty="0"/>
          </a:p>
        </p:txBody>
      </p:sp>
      <p:sp>
        <p:nvSpPr>
          <p:cNvPr id="16" name="label"/>
          <p:cNvSpPr txBox="1"/>
          <p:nvPr/>
        </p:nvSpPr>
        <p:spPr>
          <a:xfrm>
            <a:off x="3017520" y="1554480"/>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Jul 16 – Aug 5</a:t>
            </a:r>
            <a:endParaRPr lang="en-US" sz="1400" dirty="0"/>
          </a:p>
        </p:txBody>
      </p:sp>
      <p:sp>
        <p:nvSpPr>
          <p:cNvPr id="17" name="1. Concept bar"/>
          <p:cNvSpPr/>
          <p:nvPr/>
        </p:nvSpPr>
        <p:spPr>
          <a:xfrm>
            <a:off x="5394179" y="1645920"/>
            <a:ext cx="1215059" cy="237744"/>
          </a:xfrm>
          <a:prstGeom prst="rect">
            <a:avLst/>
          </a:prstGeom>
          <a:solidFill>
            <a:srgbClr val="4F6D8F"/>
          </a:solidFill>
          <a:ln w="12700">
            <a:solidFill>
              <a:srgbClr val="4F6D8F"/>
            </a:solidFill>
            <a:prstDash val="solid"/>
          </a:ln>
        </p:spPr>
      </p:sp>
      <p:sp>
        <p:nvSpPr>
          <p:cNvPr id="18" name="label"/>
          <p:cNvSpPr txBox="1"/>
          <p:nvPr/>
        </p:nvSpPr>
        <p:spPr>
          <a:xfrm>
            <a:off x="640080" y="1975104"/>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2. Generation 1</a:t>
            </a:r>
            <a:endParaRPr lang="en-US" sz="1400" dirty="0"/>
          </a:p>
        </p:txBody>
      </p:sp>
      <p:sp>
        <p:nvSpPr>
          <p:cNvPr id="19" name="label"/>
          <p:cNvSpPr txBox="1"/>
          <p:nvPr/>
        </p:nvSpPr>
        <p:spPr>
          <a:xfrm>
            <a:off x="3017520" y="1975104"/>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Aug 6 – Sep 2</a:t>
            </a:r>
            <a:endParaRPr lang="en-US" sz="1400" dirty="0"/>
          </a:p>
        </p:txBody>
      </p:sp>
      <p:sp>
        <p:nvSpPr>
          <p:cNvPr id="20" name="2. Generation 1 bar"/>
          <p:cNvSpPr/>
          <p:nvPr/>
        </p:nvSpPr>
        <p:spPr>
          <a:xfrm>
            <a:off x="6609239" y="2066544"/>
            <a:ext cx="1620079" cy="237744"/>
          </a:xfrm>
          <a:prstGeom prst="rect">
            <a:avLst/>
          </a:prstGeom>
          <a:solidFill>
            <a:srgbClr val="4F6D8F"/>
          </a:solidFill>
          <a:ln w="12700">
            <a:solidFill>
              <a:srgbClr val="4F6D8F"/>
            </a:solidFill>
            <a:prstDash val="solid"/>
          </a:ln>
        </p:spPr>
      </p:sp>
      <p:sp>
        <p:nvSpPr>
          <p:cNvPr id="21" name="label"/>
          <p:cNvSpPr txBox="1"/>
          <p:nvPr/>
        </p:nvSpPr>
        <p:spPr>
          <a:xfrm>
            <a:off x="640080" y="2395728"/>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3. Redesign</a:t>
            </a:r>
            <a:endParaRPr lang="en-US" sz="1400" dirty="0"/>
          </a:p>
        </p:txBody>
      </p:sp>
      <p:sp>
        <p:nvSpPr>
          <p:cNvPr id="22" name="label"/>
          <p:cNvSpPr txBox="1"/>
          <p:nvPr/>
        </p:nvSpPr>
        <p:spPr>
          <a:xfrm>
            <a:off x="3017520" y="2395728"/>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Sep 3 – Oct 6</a:t>
            </a:r>
            <a:endParaRPr lang="en-US" sz="1400" dirty="0"/>
          </a:p>
        </p:txBody>
      </p:sp>
      <p:sp>
        <p:nvSpPr>
          <p:cNvPr id="23" name="3. Redesign bar"/>
          <p:cNvSpPr/>
          <p:nvPr/>
        </p:nvSpPr>
        <p:spPr>
          <a:xfrm>
            <a:off x="8229318" y="2487168"/>
            <a:ext cx="1967239" cy="237744"/>
          </a:xfrm>
          <a:prstGeom prst="rect">
            <a:avLst/>
          </a:prstGeom>
          <a:solidFill>
            <a:srgbClr val="4F6D8F"/>
          </a:solidFill>
          <a:ln w="12700">
            <a:solidFill>
              <a:srgbClr val="4F6D8F"/>
            </a:solidFill>
            <a:prstDash val="solid"/>
          </a:ln>
        </p:spPr>
      </p:sp>
      <p:sp>
        <p:nvSpPr>
          <p:cNvPr id="24" name="label"/>
          <p:cNvSpPr txBox="1"/>
          <p:nvPr/>
        </p:nvSpPr>
        <p:spPr>
          <a:xfrm>
            <a:off x="640080" y="2816352"/>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4. Final design</a:t>
            </a:r>
            <a:endParaRPr lang="en-US" sz="1400" dirty="0"/>
          </a:p>
        </p:txBody>
      </p:sp>
      <p:sp>
        <p:nvSpPr>
          <p:cNvPr id="25" name="label"/>
          <p:cNvSpPr txBox="1"/>
          <p:nvPr/>
        </p:nvSpPr>
        <p:spPr>
          <a:xfrm>
            <a:off x="3017520" y="2816352"/>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7 – Oct 21</a:t>
            </a:r>
            <a:endParaRPr lang="en-US" sz="1400" dirty="0"/>
          </a:p>
        </p:txBody>
      </p:sp>
      <p:sp>
        <p:nvSpPr>
          <p:cNvPr id="26" name="4. Final design bar"/>
          <p:cNvSpPr/>
          <p:nvPr/>
        </p:nvSpPr>
        <p:spPr>
          <a:xfrm>
            <a:off x="10196556" y="2907792"/>
            <a:ext cx="867899" cy="237744"/>
          </a:xfrm>
          <a:prstGeom prst="rect">
            <a:avLst/>
          </a:prstGeom>
          <a:solidFill>
            <a:srgbClr val="4F6D8F"/>
          </a:solidFill>
          <a:ln w="12700">
            <a:solidFill>
              <a:srgbClr val="4F6D8F"/>
            </a:solidFill>
            <a:prstDash val="solid"/>
          </a:ln>
        </p:spPr>
      </p:sp>
      <p:sp>
        <p:nvSpPr>
          <p:cNvPr id="27" name="label"/>
          <p:cNvSpPr txBox="1"/>
          <p:nvPr/>
        </p:nvSpPr>
        <p:spPr>
          <a:xfrm>
            <a:off x="640080" y="3236976"/>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5. Build and test</a:t>
            </a:r>
            <a:endParaRPr lang="en-US" sz="1400" dirty="0"/>
          </a:p>
        </p:txBody>
      </p:sp>
      <p:sp>
        <p:nvSpPr>
          <p:cNvPr id="28" name="label"/>
          <p:cNvSpPr txBox="1"/>
          <p:nvPr/>
        </p:nvSpPr>
        <p:spPr>
          <a:xfrm>
            <a:off x="3017520" y="3236976"/>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22 – Oct 27</a:t>
            </a:r>
            <a:endParaRPr lang="en-US" sz="1400" dirty="0"/>
          </a:p>
        </p:txBody>
      </p:sp>
      <p:sp>
        <p:nvSpPr>
          <p:cNvPr id="29" name="5. Build and test bar"/>
          <p:cNvSpPr/>
          <p:nvPr/>
        </p:nvSpPr>
        <p:spPr>
          <a:xfrm>
            <a:off x="11064456" y="3328416"/>
            <a:ext cx="347160" cy="237744"/>
          </a:xfrm>
          <a:prstGeom prst="rect">
            <a:avLst/>
          </a:prstGeom>
          <a:solidFill>
            <a:srgbClr val="4F6D8F"/>
          </a:solidFill>
          <a:ln w="12700">
            <a:solidFill>
              <a:srgbClr val="4F6D8F"/>
            </a:solidFill>
            <a:prstDash val="solid"/>
          </a:ln>
        </p:spPr>
      </p:sp>
      <p:sp>
        <p:nvSpPr>
          <p:cNvPr id="30" name="Shape 28"/>
          <p:cNvSpPr/>
          <p:nvPr/>
        </p:nvSpPr>
        <p:spPr>
          <a:xfrm>
            <a:off x="548640" y="3657600"/>
            <a:ext cx="11094415" cy="0"/>
          </a:xfrm>
          <a:prstGeom prst="line">
            <a:avLst/>
          </a:prstGeom>
          <a:noFill/>
          <a:ln w="9525">
            <a:solidFill>
              <a:srgbClr val="BFBFBF"/>
            </a:solidFill>
            <a:prstDash val="solid"/>
          </a:ln>
        </p:spPr>
      </p:sp>
      <p:sp>
        <p:nvSpPr>
          <p:cNvPr id="31" name="scope"/>
          <p:cNvSpPr txBox="1"/>
          <p:nvPr/>
        </p:nvSpPr>
        <p:spPr>
          <a:xfrm>
            <a:off x="548640" y="4023360"/>
            <a:ext cx="11094415" cy="2194560"/>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1A1A1A"/>
                </a:solidFill>
                <a:latin typeface="Arial" pitchFamily="34" charset="0"/>
                <a:ea typeface="Arial" pitchFamily="34" charset="-122"/>
                <a:cs typeface="Arial" pitchFamily="34" charset="-120"/>
              </a:rPr>
              <a:t>Solo project: requirements, calculations, all CAD (computer-aided design), printing, machining, wiring and </a:t>
            </a:r>
            <a:pPr algn="l" marL="254000" indent="-254000">
              <a:spcAft>
                <a:spcPts val="1000"/>
              </a:spcAft>
              <a:buSzPct val="100000"/>
              <a:buChar char="•"/>
            </a:pPr>
            <a:r>
              <a:rPr lang="en-US" sz="1800" i="1" dirty="0">
                <a:solidFill>
                  <a:srgbClr val="B23A2E"/>
                </a:solidFill>
                <a:latin typeface="Arial" pitchFamily="34" charset="0"/>
                <a:ea typeface="Arial" pitchFamily="34" charset="-122"/>
                <a:cs typeface="Arial" pitchFamily="34" charset="-120"/>
              </a:rPr>
              <a:t>[software parts you wrote]</a:t>
            </a:r>
            <a:endParaRPr lang="en-US" sz="1800" dirty="0"/>
          </a:p>
          <a:p>
            <a:pPr algn="l" marL="254000" indent="-254000">
              <a:spcAft>
                <a:spcPts val="1000"/>
              </a:spcAft>
              <a:buSzPct val="100000"/>
              <a:buChar char="•"/>
            </a:pPr>
            <a:r>
              <a:rPr lang="en-US" sz="1800" dirty="0">
                <a:solidFill>
                  <a:srgbClr val="1A1A1A"/>
                </a:solidFill>
                <a:latin typeface="Arial" pitchFamily="34" charset="0"/>
                <a:ea typeface="Arial" pitchFamily="34" charset="-122"/>
                <a:cs typeface="Arial" pitchFamily="34" charset="-120"/>
              </a:rPr>
              <a:t>Purchased: stepper motors, drivers, controller boards, servo, camera, battery and encoder boards</a:t>
            </a:r>
            <a:endParaRPr lang="en-US" sz="1800" dirty="0"/>
          </a:p>
          <a:p>
            <a:pPr algn="l" marL="254000" indent="-254000">
              <a:spcAft>
                <a:spcPts val="1000"/>
              </a:spcAft>
              <a:buSzPct val="100000"/>
              <a:buChar char="•"/>
            </a:pPr>
            <a:r>
              <a:rPr lang="en-US" sz="1800" dirty="0">
                <a:solidFill>
                  <a:srgbClr val="1A1A1A"/>
                </a:solidFill>
                <a:latin typeface="Arial" pitchFamily="34" charset="0"/>
                <a:ea typeface="Arial" pitchFamily="34" charset="-122"/>
                <a:cs typeface="Arial" pitchFamily="34" charset="-120"/>
              </a:rPr>
              <a:t>Garment detection uses YOLO-World, an open-source model</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0116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Phase 1</a:t>
            </a:r>
            <a:endParaRPr lang="en-US" sz="2000" dirty="0"/>
          </a:p>
        </p:txBody>
      </p:sp>
      <p:sp>
        <p:nvSpPr>
          <p:cNvPr id="3" name="Text 1"/>
          <p:cNvSpPr txBox="1"/>
          <p:nvPr/>
        </p:nvSpPr>
        <p:spPr>
          <a:xfrm>
            <a:off x="548640" y="2468880"/>
            <a:ext cx="1005840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Concept</a:t>
            </a:r>
            <a:endParaRPr lang="en-US" sz="4400" dirty="0"/>
          </a:p>
        </p:txBody>
      </p:sp>
      <p:sp>
        <p:nvSpPr>
          <p:cNvPr id="4" name="Text 2"/>
          <p:cNvSpPr txBox="1"/>
          <p:nvPr/>
        </p:nvSpPr>
        <p:spPr>
          <a:xfrm>
            <a:off x="548640" y="33832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July 16 – August 5</a:t>
            </a:r>
            <a:endParaRPr lang="en-US" sz="2000" dirty="0"/>
          </a:p>
        </p:txBody>
      </p:sp>
      <p:sp>
        <p:nvSpPr>
          <p:cNvPr id="5" name="Text 3"/>
          <p:cNvSpPr txBox="1"/>
          <p:nvPr/>
        </p:nvSpPr>
        <p:spPr>
          <a:xfrm>
            <a:off x="548640" y="4160520"/>
            <a:ext cx="1005840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Choose the architecture and set the limits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Why a Cable Robot</a:t>
            </a:r>
            <a:endParaRPr lang="en-US" sz="2600" dirty="0"/>
          </a:p>
        </p:txBody>
      </p:sp>
      <p:pic>
        <p:nvPicPr>
          <p:cNvPr id="3" name="Cable robot geometry" descr="Cable robot geometry">    </p:cNvPr>
          <p:cNvPicPr>
            <a:picLocks noChangeAspect="1"/>
          </p:cNvPicPr>
          <p:nvPr/>
        </p:nvPicPr>
        <p:blipFill>
          <a:blip r:embed="rId1"/>
          <a:stretch>
            <a:fillRect/>
          </a:stretch>
        </p:blipFill>
        <p:spPr>
          <a:xfrm>
            <a:off x="1440180" y="1188720"/>
            <a:ext cx="4617720" cy="4617720"/>
          </a:xfrm>
          <a:prstGeom prst="rect">
            <a:avLst/>
          </a:prstGeom>
        </p:spPr>
      </p:pic>
      <p:sp>
        <p:nvSpPr>
          <p:cNvPr id="4"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Cables run from the ceiling anchors a</a:t>
            </a:r>
            <a:pPr indent="0" marL="0">
              <a:buNone/>
            </a:pPr>
            <a:r>
              <a:rPr lang="en-US" sz="1100" baseline="-40000" dirty="0">
                <a:solidFill>
                  <a:srgbClr val="7F7F7F"/>
                </a:solidFill>
                <a:latin typeface="Arial" pitchFamily="34" charset="0"/>
                <a:ea typeface="Arial" pitchFamily="34" charset="-122"/>
                <a:cs typeface="Arial" pitchFamily="34" charset="-120"/>
              </a:rPr>
              <a:t>1</a:t>
            </a:r>
            <a:pPr indent="0" marL="0">
              <a:buNone/>
            </a:pPr>
            <a:r>
              <a:rPr lang="en-US" sz="1100" dirty="0">
                <a:solidFill>
                  <a:srgbClr val="7F7F7F"/>
                </a:solidFill>
                <a:latin typeface="Arial" pitchFamily="34" charset="0"/>
                <a:ea typeface="Arial" pitchFamily="34" charset="-122"/>
                <a:cs typeface="Arial" pitchFamily="34" charset="-120"/>
              </a:rPr>
              <a:t> to a</a:t>
            </a:r>
            <a:pPr indent="0" marL="0">
              <a:buNone/>
            </a:pPr>
            <a:r>
              <a:rPr lang="en-US" sz="1100" baseline="-40000" dirty="0">
                <a:solidFill>
                  <a:srgbClr val="7F7F7F"/>
                </a:solidFill>
                <a:latin typeface="Arial" pitchFamily="34" charset="0"/>
                <a:ea typeface="Arial" pitchFamily="34" charset="-122"/>
                <a:cs typeface="Arial" pitchFamily="34" charset="-120"/>
              </a:rPr>
              <a:t>4</a:t>
            </a:r>
            <a:pPr indent="0" marL="0">
              <a:buNone/>
            </a:pPr>
            <a:r>
              <a:rPr lang="en-US" sz="1100" dirty="0">
                <a:solidFill>
                  <a:srgbClr val="7F7F7F"/>
                </a:solidFill>
                <a:latin typeface="Arial" pitchFamily="34" charset="0"/>
                <a:ea typeface="Arial" pitchFamily="34" charset="-122"/>
                <a:cs typeface="Arial" pitchFamily="34" charset="-120"/>
              </a:rPr>
              <a:t> to the claw at p</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Four ceiling winches hold one claw: the whole floor is reachable and nothing stands on it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The four cable lengths set the claw position</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 laptop plans every move; a phone app starts, pauses and approves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Design Trade-offs</a:t>
            </a:r>
            <a:endParaRPr lang="en-US" sz="26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329827"/>
                <a:gridCol w="2773604"/>
                <a:gridCol w="2995492"/>
                <a:gridCol w="2995492"/>
              </a:tblGrid>
              <a:tr h="566928">
                <a:tc>
                  <a:txBody>
                    <a:bodyPr/>
                    <a:lstStyle/>
                    <a:p>
                      <a:pPr indent="0" marL="0">
                        <a:buNone/>
                      </a:pPr>
                      <a:r>
                        <a:rPr lang="en-US" sz="1500" b="1" dirty="0">
                          <a:solidFill>
                            <a:srgbClr val="FFFFFF"/>
                          </a:solidFill>
                          <a:latin typeface="Arial" pitchFamily="34" charset="0"/>
                          <a:ea typeface="Arial" pitchFamily="34" charset="-122"/>
                          <a:cs typeface="Arial" pitchFamily="34" charset="-120"/>
                        </a:rPr>
                        <a:t>Design change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Benefit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Cost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Chosen setting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Higher motor current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41 % more pull at 1.5 A</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Heat rises with current squared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1.5 A, vented shell and heat fin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Stronger claw</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Gear safety factor 0.4 to 2.0</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More claw mass, less payload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Module 1.5 gears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Larger room</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More floor covered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Longer wires, more voltage drop</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Only 12 V power runs to stations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Closer to the ceiling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More working volume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Cable tension 12 N to 32 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Stay 0.4 m below the anchors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Smaller spool radius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More pull per amp</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Slower line speed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15 mm core: 25–34 N pull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b="1" dirty="0">
                          <a:solidFill>
                            <a:srgbClr val="1A1A1A"/>
                          </a:solidFill>
                          <a:latin typeface="Arial" pitchFamily="34" charset="0"/>
                          <a:ea typeface="Arial" pitchFamily="34" charset="-122"/>
                          <a:cs typeface="Arial" pitchFamily="34" charset="-120"/>
                        </a:rPr>
                        <a:t>Larger safety margins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No skipped steps or wall contact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Less usable force and floor</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Force ÷ 1.5; 0.2 m from walls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coupling"/>
          <p:cNvSpPr txBox="1"/>
          <p:nvPr/>
        </p:nvSpPr>
        <p:spPr>
          <a:xfrm>
            <a:off x="548640" y="5486400"/>
            <a:ext cx="11094415" cy="64008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 heavier claw needs more pull, more pull needs more current, and heat rises with the square of the current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Cable Tension Limit</a:t>
            </a:r>
            <a:endParaRPr lang="en-US" sz="2600" dirty="0"/>
          </a:p>
        </p:txBody>
      </p:sp>
      <p:pic>
        <p:nvPicPr>
          <p:cNvPr id="3" name="Chart from the calculation sheet: Cable " descr="Chart from the calculation sheet: Cable tension">    </p:cNvPr>
          <p:cNvPicPr>
            <a:picLocks noChangeAspect="1"/>
          </p:cNvPicPr>
          <p:nvPr/>
        </p:nvPicPr>
        <p:blipFill>
          <a:blip r:embed="rId1"/>
          <a:stretch>
            <a:fillRect/>
          </a:stretch>
        </p:blipFill>
        <p:spPr>
          <a:xfrm>
            <a:off x="548640" y="1188720"/>
            <a:ext cx="6400800" cy="4405924"/>
          </a:xfrm>
          <a:prstGeom prst="rect">
            <a:avLst/>
          </a:prstGeom>
        </p:spPr>
      </p:pic>
      <p:sp>
        <p:nvSpPr>
          <p:cNvPr id="4" name="caption"/>
          <p:cNvSpPr txBox="1"/>
          <p:nvPr/>
        </p:nvSpPr>
        <p:spPr>
          <a:xfrm>
            <a:off x="548640" y="5667796"/>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“Cable tension” (calculated)</a:t>
            </a:r>
            <a:endParaRPr lang="en-US" sz="1100" dirty="0"/>
          </a:p>
        </p:txBody>
      </p:sp>
      <p:sp>
        <p:nvSpPr>
          <p:cNvPr id="5" name="bullets"/>
          <p:cNvSpPr txBox="1"/>
          <p:nvPr/>
        </p:nvSpPr>
        <p:spPr>
          <a:xfrm>
            <a:off x="7360920" y="1234440"/>
            <a:ext cx="4282135" cy="33375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Tension rises sharply near the ceiling: 32 N at 0.15 m, 8.3 N at 0.6 m</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Operating limit set 0.4 m below the anchors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Covers 2 m/s² acceleration within the 16.8 N winch limit</a:t>
            </a:r>
            <a:endParaRPr lang="en-US" sz="1800" dirty="0"/>
          </a:p>
        </p:txBody>
      </p:sp>
      <p:sp>
        <p:nvSpPr>
          <p:cNvPr id="6" name="equation box"/>
          <p:cNvSpPr/>
          <p:nvPr/>
        </p:nvSpPr>
        <p:spPr>
          <a:xfrm>
            <a:off x="7360920" y="4754880"/>
            <a:ext cx="4282135" cy="1417320"/>
          </a:xfrm>
          <a:prstGeom prst="rect">
            <a:avLst/>
          </a:prstGeom>
          <a:solidFill>
            <a:srgbClr val="F7F8FA"/>
          </a:solidFill>
          <a:ln w="12700">
            <a:solidFill>
              <a:srgbClr val="1F3A5F"/>
            </a:solidFill>
            <a:prstDash val="solid"/>
          </a:ln>
        </p:spPr>
      </p:sp>
      <p:sp>
        <p:nvSpPr>
          <p:cNvPr id="7" name="equation title"/>
          <p:cNvSpPr txBox="1"/>
          <p:nvPr/>
        </p:nvSpPr>
        <p:spPr>
          <a:xfrm>
            <a:off x="7507224" y="4828032"/>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Tension per cable at 0.4 m</a:t>
            </a:r>
            <a:endParaRPr lang="en-US" sz="1100" dirty="0"/>
          </a:p>
        </p:txBody>
      </p:sp>
      <p:sp>
        <p:nvSpPr>
          <p:cNvPr id="8" name="equations"/>
          <p:cNvSpPr txBox="1"/>
          <p:nvPr/>
        </p:nvSpPr>
        <p:spPr>
          <a:xfrm>
            <a:off x="7507224" y="5084064"/>
            <a:ext cx="3989527" cy="1033272"/>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T = W / (4 sin φ)</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8.87 N / (4 × 0.181)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12.2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With 2 m/s²: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14.7 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&lt; 16.8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0116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Phase 2</a:t>
            </a:r>
            <a:endParaRPr lang="en-US" sz="2000" dirty="0"/>
          </a:p>
        </p:txBody>
      </p:sp>
      <p:sp>
        <p:nvSpPr>
          <p:cNvPr id="3" name="Text 1"/>
          <p:cNvSpPr txBox="1"/>
          <p:nvPr/>
        </p:nvSpPr>
        <p:spPr>
          <a:xfrm>
            <a:off x="548640" y="2468880"/>
            <a:ext cx="1005840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Generation 1</a:t>
            </a:r>
            <a:endParaRPr lang="en-US" sz="4400" dirty="0"/>
          </a:p>
        </p:txBody>
      </p:sp>
      <p:sp>
        <p:nvSpPr>
          <p:cNvPr id="4" name="Text 2"/>
          <p:cNvSpPr txBox="1"/>
          <p:nvPr/>
        </p:nvSpPr>
        <p:spPr>
          <a:xfrm>
            <a:off x="548640" y="33832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August 6 – September 2</a:t>
            </a:r>
            <a:endParaRPr lang="en-US" sz="2000" dirty="0"/>
          </a:p>
        </p:txBody>
      </p:sp>
      <p:sp>
        <p:nvSpPr>
          <p:cNvPr id="5" name="Text 3"/>
          <p:cNvSpPr txBox="1"/>
          <p:nvPr/>
        </p:nvSpPr>
        <p:spPr>
          <a:xfrm>
            <a:off x="548640" y="4160520"/>
            <a:ext cx="1005840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Prove the idea on the bench</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Generation 1 Build</a:t>
            </a:r>
            <a:endParaRPr lang="en-US" sz="2600" dirty="0"/>
          </a:p>
        </p:txBody>
      </p:sp>
      <p:pic>
        <p:nvPicPr>
          <p:cNvPr id="3" name="Generation 1 hardware" descr="Generation 1 hardware">    </p:cNvPr>
          <p:cNvPicPr>
            <a:picLocks noChangeAspect="1"/>
          </p:cNvPicPr>
          <p:nvPr/>
        </p:nvPicPr>
        <p:blipFill>
          <a:blip r:embed="rId1"/>
          <a:stretch>
            <a:fillRect/>
          </a:stretch>
        </p:blipFill>
        <p:spPr>
          <a:xfrm>
            <a:off x="1276160" y="1188720"/>
            <a:ext cx="1690497" cy="2253996"/>
          </a:xfrm>
          <a:prstGeom prst="rect">
            <a:avLst/>
          </a:prstGeom>
        </p:spPr>
      </p:pic>
      <p:pic>
        <p:nvPicPr>
          <p:cNvPr id="4" name="Generation 1 hardware" descr="Generation 1 hardware">    </p:cNvPr>
          <p:cNvPicPr>
            <a:picLocks noChangeAspect="1"/>
          </p:cNvPicPr>
          <p:nvPr/>
        </p:nvPicPr>
        <p:blipFill>
          <a:blip r:embed="rId2"/>
          <a:stretch>
            <a:fillRect/>
          </a:stretch>
        </p:blipFill>
        <p:spPr>
          <a:xfrm>
            <a:off x="4531424" y="1188720"/>
            <a:ext cx="1690497" cy="2253996"/>
          </a:xfrm>
          <a:prstGeom prst="rect">
            <a:avLst/>
          </a:prstGeom>
        </p:spPr>
      </p:pic>
      <p:pic>
        <p:nvPicPr>
          <p:cNvPr id="5" name="Generation 1 hardware" descr="Generation 1 hardware">    </p:cNvPr>
          <p:cNvPicPr>
            <a:picLocks noChangeAspect="1"/>
          </p:cNvPicPr>
          <p:nvPr/>
        </p:nvPicPr>
        <p:blipFill>
          <a:blip r:embed="rId3"/>
          <a:stretch>
            <a:fillRect/>
          </a:stretch>
        </p:blipFill>
        <p:spPr>
          <a:xfrm>
            <a:off x="1276160" y="3552444"/>
            <a:ext cx="1690497" cy="2253996"/>
          </a:xfrm>
          <a:prstGeom prst="rect">
            <a:avLst/>
          </a:prstGeom>
        </p:spPr>
      </p:pic>
      <p:pic>
        <p:nvPicPr>
          <p:cNvPr id="6" name="Generation 1 hardware" descr="Generation 1 hardware">    </p:cNvPr>
          <p:cNvPicPr>
            <a:picLocks noChangeAspect="1"/>
          </p:cNvPicPr>
          <p:nvPr/>
        </p:nvPicPr>
        <p:blipFill>
          <a:blip r:embed="rId4"/>
          <a:stretch>
            <a:fillRect/>
          </a:stretch>
        </p:blipFill>
        <p:spPr>
          <a:xfrm>
            <a:off x="4597142" y="3552444"/>
            <a:ext cx="1559061" cy="2253996"/>
          </a:xfrm>
          <a:prstGeom prst="rect">
            <a:avLst/>
          </a:prstGeom>
        </p:spPr>
      </p:pic>
      <p:sp>
        <p:nvSpPr>
          <p:cNvPr id="7"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Bench lift test, corner plate, central driver board, finger claw (CAD)</a:t>
            </a:r>
            <a:endParaRPr lang="en-US" sz="1100" dirty="0"/>
          </a:p>
        </p:txBody>
      </p:sp>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One-piece corner plates: motor, spool, pulley and home switch</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One central board drove all four motors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Five flexible TPU (thermoplastic polyurethane) fingers on the claw</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 station lifted a test weight on the bench </a:t>
            </a:r>
            <a:pPr algn="l" marL="254000" indent="-254000">
              <a:spcAft>
                <a:spcPts val="1400"/>
              </a:spcAft>
              <a:buSzPct val="100000"/>
              <a:buChar char="•"/>
            </a:pPr>
            <a:r>
              <a:rPr lang="en-US" sz="1800" i="1" dirty="0">
                <a:solidFill>
                  <a:srgbClr val="B23A2E"/>
                </a:solidFill>
                <a:latin typeface="Arial" pitchFamily="34" charset="0"/>
                <a:ea typeface="Arial" pitchFamily="34" charset="-122"/>
                <a:cs typeface="Arial" pitchFamily="34" charset="-120"/>
              </a:rPr>
              <a:t>[weight]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What Generation 1 Taught Me</a:t>
            </a:r>
            <a:endParaRPr lang="en-US" sz="2600" dirty="0"/>
          </a:p>
        </p:txBody>
      </p:sp>
      <p:pic>
        <p:nvPicPr>
          <p:cNvPr id="3" name="Chart from the calculation sheet: Bead h" descr="Chart from the calculation sheet: Bead homing">    </p:cNvPr>
          <p:cNvPicPr>
            <a:picLocks noChangeAspect="1"/>
          </p:cNvPicPr>
          <p:nvPr/>
        </p:nvPicPr>
        <p:blipFill>
          <a:blip r:embed="rId1"/>
          <a:stretch>
            <a:fillRect/>
          </a:stretch>
        </p:blipFill>
        <p:spPr>
          <a:xfrm>
            <a:off x="548640" y="1188720"/>
            <a:ext cx="6400800" cy="4407009"/>
          </a:xfrm>
          <a:prstGeom prst="rect">
            <a:avLst/>
          </a:prstGeom>
        </p:spPr>
      </p:pic>
      <p:sp>
        <p:nvSpPr>
          <p:cNvPr id="4" name="caption"/>
          <p:cNvSpPr txBox="1"/>
          <p:nvPr/>
        </p:nvSpPr>
        <p:spPr>
          <a:xfrm>
            <a:off x="548640" y="56688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“Bead homing” (calculated)</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Bead homing left only 5–29 % of the room reachable</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Adding a sensor at each winch meant 10 wires per corner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Finger claw could not pinch fabric and was 4.6 times over its mass budget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0116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Phase 3</a:t>
            </a:r>
            <a:endParaRPr lang="en-US" sz="2000" dirty="0"/>
          </a:p>
        </p:txBody>
      </p:sp>
      <p:sp>
        <p:nvSpPr>
          <p:cNvPr id="3" name="Text 1"/>
          <p:cNvSpPr txBox="1"/>
          <p:nvPr/>
        </p:nvSpPr>
        <p:spPr>
          <a:xfrm>
            <a:off x="548640" y="2468880"/>
            <a:ext cx="1005840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Redesign</a:t>
            </a:r>
            <a:endParaRPr lang="en-US" sz="4400" dirty="0"/>
          </a:p>
        </p:txBody>
      </p:sp>
      <p:sp>
        <p:nvSpPr>
          <p:cNvPr id="4" name="Text 2"/>
          <p:cNvSpPr txBox="1"/>
          <p:nvPr/>
        </p:nvSpPr>
        <p:spPr>
          <a:xfrm>
            <a:off x="548640" y="33832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September 3 – October 6</a:t>
            </a:r>
            <a:endParaRPr lang="en-US" sz="2000" dirty="0"/>
          </a:p>
        </p:txBody>
      </p:sp>
      <p:sp>
        <p:nvSpPr>
          <p:cNvPr id="5" name="Text 3"/>
          <p:cNvSpPr txBox="1"/>
          <p:nvPr/>
        </p:nvSpPr>
        <p:spPr>
          <a:xfrm>
            <a:off x="548640" y="4160520"/>
            <a:ext cx="1005840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Fix what generation 1 exposed</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One Controller per Winch</a:t>
            </a:r>
            <a:endParaRPr lang="en-US" sz="2600" dirty="0"/>
          </a:p>
        </p:txBody>
      </p:sp>
      <p:pic>
        <p:nvPicPr>
          <p:cNvPr id="3" name="Chart from the calculation sheet: Wiring" descr="Chart from the calculation sheet: Wiring">    </p:cNvPr>
          <p:cNvPicPr>
            <a:picLocks noChangeAspect="1"/>
          </p:cNvPicPr>
          <p:nvPr/>
        </p:nvPicPr>
        <p:blipFill>
          <a:blip r:embed="rId1"/>
          <a:stretch>
            <a:fillRect/>
          </a:stretch>
        </p:blipFill>
        <p:spPr>
          <a:xfrm>
            <a:off x="548640" y="1188720"/>
            <a:ext cx="6400800" cy="4405409"/>
          </a:xfrm>
          <a:prstGeom prst="rect">
            <a:avLst/>
          </a:prstGeom>
        </p:spPr>
      </p:pic>
      <p:sp>
        <p:nvSpPr>
          <p:cNvPr id="4"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“Wiring” (calculated)</a:t>
            </a:r>
            <a:endParaRPr lang="en-US" sz="1100" dirty="0"/>
          </a:p>
        </p:txBody>
      </p:sp>
      <p:sp>
        <p:nvSpPr>
          <p:cNvPr id="5"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 controller in each station instead of one central board</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Only a 12 V pair runs to each station: five times less wire</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Cost: synchronization moves into software</a:t>
            </a:r>
            <a:endParaRPr lang="en-US" sz="1800" dirty="0"/>
          </a:p>
        </p:txBody>
      </p:sp>
      <p:sp>
        <p:nvSpPr>
          <p:cNvPr id="6"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7"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Wire to the four stations</a:t>
            </a:r>
            <a:endParaRPr lang="en-US" sz="1100" dirty="0"/>
          </a:p>
        </p:txBody>
      </p:sp>
      <p:sp>
        <p:nvSpPr>
          <p:cNvPr id="8"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Central board: 10 × 82 ft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820 ft</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Per station: 2 × 82 ft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164 ft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Camera Calibration Replaces Homing</a:t>
            </a:r>
            <a:endParaRPr lang="en-US" sz="2600" dirty="0"/>
          </a:p>
        </p:txBody>
      </p:sp>
      <p:pic>
        <p:nvPicPr>
          <p:cNvPr id="3" name="Chart from the calculation sheet: Floor " descr="Chart from the calculation sheet: Floor board">    </p:cNvPr>
          <p:cNvPicPr>
            <a:picLocks noChangeAspect="1"/>
          </p:cNvPicPr>
          <p:nvPr/>
        </p:nvPicPr>
        <p:blipFill>
          <a:blip r:embed="rId1"/>
          <a:stretch>
            <a:fillRect/>
          </a:stretch>
        </p:blipFill>
        <p:spPr>
          <a:xfrm>
            <a:off x="548640" y="1188720"/>
            <a:ext cx="6400800" cy="4405409"/>
          </a:xfrm>
          <a:prstGeom prst="rect">
            <a:avLst/>
          </a:prstGeom>
        </p:spPr>
      </p:pic>
      <p:sp>
        <p:nvSpPr>
          <p:cNvPr id="4"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“Floor board” (calculated)</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The claw camera reads a printed floor board from several poses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 fit finds the anchor positions and cable lengths: no tape measure</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Position error: 6.6 mm with one tag in view, 0.7 mm with four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Whole room reachable; the beads stay as end stops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Geared Four-Bar Claw</a:t>
            </a:r>
            <a:endParaRPr lang="en-US" sz="2600" dirty="0"/>
          </a:p>
        </p:txBody>
      </p:sp>
      <p:pic>
        <p:nvPicPr>
          <p:cNvPr id="3" name="Claw design and printed parts" descr="Claw design and printed parts">    </p:cNvPr>
          <p:cNvPicPr>
            <a:picLocks noChangeAspect="1"/>
          </p:cNvPicPr>
          <p:nvPr/>
        </p:nvPicPr>
        <p:blipFill>
          <a:blip r:embed="rId1"/>
          <a:stretch>
            <a:fillRect/>
          </a:stretch>
        </p:blipFill>
        <p:spPr>
          <a:xfrm>
            <a:off x="1773323" y="1188720"/>
            <a:ext cx="696171" cy="2253996"/>
          </a:xfrm>
          <a:prstGeom prst="rect">
            <a:avLst/>
          </a:prstGeom>
        </p:spPr>
      </p:pic>
      <p:pic>
        <p:nvPicPr>
          <p:cNvPr id="4" name="Claw design and printed parts" descr="Claw design and printed parts">    </p:cNvPr>
          <p:cNvPicPr>
            <a:picLocks noChangeAspect="1"/>
          </p:cNvPicPr>
          <p:nvPr/>
        </p:nvPicPr>
        <p:blipFill>
          <a:blip r:embed="rId2"/>
          <a:stretch>
            <a:fillRect/>
          </a:stretch>
        </p:blipFill>
        <p:spPr>
          <a:xfrm>
            <a:off x="4721408" y="1188720"/>
            <a:ext cx="1310528" cy="2253996"/>
          </a:xfrm>
          <a:prstGeom prst="rect">
            <a:avLst/>
          </a:prstGeom>
        </p:spPr>
      </p:pic>
      <p:pic>
        <p:nvPicPr>
          <p:cNvPr id="5" name="Claw design and printed parts" descr="Claw design and printed parts">    </p:cNvPr>
          <p:cNvPicPr>
            <a:picLocks noChangeAspect="1"/>
          </p:cNvPicPr>
          <p:nvPr/>
        </p:nvPicPr>
        <p:blipFill>
          <a:blip r:embed="rId3"/>
          <a:stretch>
            <a:fillRect/>
          </a:stretch>
        </p:blipFill>
        <p:spPr>
          <a:xfrm>
            <a:off x="1276160" y="3552444"/>
            <a:ext cx="1690497" cy="2253996"/>
          </a:xfrm>
          <a:prstGeom prst="rect">
            <a:avLst/>
          </a:prstGeom>
        </p:spPr>
      </p:pic>
      <p:pic>
        <p:nvPicPr>
          <p:cNvPr id="6" name="Claw design and printed parts" descr="Claw design and printed parts">    </p:cNvPr>
          <p:cNvPicPr>
            <a:picLocks noChangeAspect="1"/>
          </p:cNvPicPr>
          <p:nvPr/>
        </p:nvPicPr>
        <p:blipFill>
          <a:blip r:embed="rId4"/>
          <a:stretch>
            <a:fillRect/>
          </a:stretch>
        </p:blipFill>
        <p:spPr>
          <a:xfrm>
            <a:off x="4531424" y="3552444"/>
            <a:ext cx="1690497" cy="2253996"/>
          </a:xfrm>
          <a:prstGeom prst="rect">
            <a:avLst/>
          </a:prstGeom>
        </p:spPr>
      </p:pic>
      <p:sp>
        <p:nvSpPr>
          <p:cNvPr id="7"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v6 clamp, final four-bar (CAD), printed claw body and gear train</a:t>
            </a:r>
            <a:endParaRPr lang="en-US" sz="1100" dirty="0"/>
          </a:p>
        </p:txBody>
      </p:sp>
      <p:sp>
        <p:nvSpPr>
          <p:cNvPr id="8"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Parallel jaws pinch thin fabric; 53 mm opening</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Camera moved into the claw to see each grasp</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Stall check moved the gears from module 1 to 1.5</a:t>
            </a:r>
            <a:endParaRPr lang="en-US" sz="1800" dirty="0"/>
          </a:p>
        </p:txBody>
      </p:sp>
      <p:sp>
        <p:nvSpPr>
          <p:cNvPr id="9"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10"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Gear stress at servo stall</a:t>
            </a:r>
            <a:endParaRPr lang="en-US" sz="1100" dirty="0"/>
          </a:p>
        </p:txBody>
      </p:sp>
      <p:sp>
        <p:nvSpPr>
          <p:cNvPr id="11"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σ = 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t</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(b m Y)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11.0 MPa</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SF = 22.5 MPa / 11.0 MPa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2.05</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0116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Phase 4</a:t>
            </a:r>
            <a:endParaRPr lang="en-US" sz="2000" dirty="0"/>
          </a:p>
        </p:txBody>
      </p:sp>
      <p:sp>
        <p:nvSpPr>
          <p:cNvPr id="3" name="Text 1"/>
          <p:cNvSpPr txBox="1"/>
          <p:nvPr/>
        </p:nvSpPr>
        <p:spPr>
          <a:xfrm>
            <a:off x="548640" y="2468880"/>
            <a:ext cx="1005840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Final Design</a:t>
            </a:r>
            <a:endParaRPr lang="en-US" sz="4400" dirty="0"/>
          </a:p>
        </p:txBody>
      </p:sp>
      <p:sp>
        <p:nvSpPr>
          <p:cNvPr id="4" name="Text 2"/>
          <p:cNvSpPr txBox="1"/>
          <p:nvPr/>
        </p:nvSpPr>
        <p:spPr>
          <a:xfrm>
            <a:off x="548640" y="33832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October 7 – October 21</a:t>
            </a:r>
            <a:endParaRPr lang="en-US" sz="2000" dirty="0"/>
          </a:p>
        </p:txBody>
      </p:sp>
      <p:sp>
        <p:nvSpPr>
          <p:cNvPr id="5" name="Text 3"/>
          <p:cNvSpPr txBox="1"/>
          <p:nvPr/>
        </p:nvSpPr>
        <p:spPr>
          <a:xfrm>
            <a:off x="548640" y="4160520"/>
            <a:ext cx="1005840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Size the winch, the cooling and the weight in SolidWorks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Final Wall Station</a:t>
            </a:r>
            <a:endParaRPr lang="en-US" sz="2600" dirty="0"/>
          </a:p>
        </p:txBody>
      </p:sp>
      <p:pic>
        <p:nvPicPr>
          <p:cNvPr id="3" name="Final wall station with a transparent sh" descr="Final wall station with a transparent shell">    </p:cNvPr>
          <p:cNvPicPr>
            <a:picLocks noChangeAspect="1"/>
          </p:cNvPicPr>
          <p:nvPr/>
        </p:nvPicPr>
        <p:blipFill>
          <a:blip r:embed="rId1"/>
          <a:stretch>
            <a:fillRect/>
          </a:stretch>
        </p:blipFill>
        <p:spPr>
          <a:xfrm>
            <a:off x="1432684" y="1188720"/>
            <a:ext cx="4632713" cy="4617720"/>
          </a:xfrm>
          <a:prstGeom prst="rect">
            <a:avLst/>
          </a:prstGeom>
        </p:spPr>
      </p:pic>
      <p:sp>
        <p:nvSpPr>
          <p:cNvPr id="4"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Final wall station (SolidWorks), shell shown transparent</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Slide-in wall mount: the station lifts off while the anchor stays in the wall</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Vented shell around the motor, spool, encoder and controller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Aluminum fin leaves through a slot in the shell top</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Three station and three spool versions in SolidWorks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Winch Pull at 1.5 A</a:t>
            </a:r>
            <a:endParaRPr lang="en-US" sz="2600" dirty="0"/>
          </a:p>
        </p:txBody>
      </p:sp>
      <p:pic>
        <p:nvPicPr>
          <p:cNvPr id="3" name="Chart from the calculation sheet: Winch " descr="Chart from the calculation sheet: Winch pull">    </p:cNvPr>
          <p:cNvPicPr>
            <a:picLocks noChangeAspect="1"/>
          </p:cNvPicPr>
          <p:nvPr/>
        </p:nvPicPr>
        <p:blipFill>
          <a:blip r:embed="rId1"/>
          <a:stretch>
            <a:fillRect/>
          </a:stretch>
        </p:blipFill>
        <p:spPr>
          <a:xfrm>
            <a:off x="548640" y="1188720"/>
            <a:ext cx="6400800" cy="4405409"/>
          </a:xfrm>
          <a:prstGeom prst="rect">
            <a:avLst/>
          </a:prstGeom>
        </p:spPr>
      </p:pic>
      <p:sp>
        <p:nvSpPr>
          <p:cNvPr id="4"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“Winch pull” (calculated)</a:t>
            </a:r>
            <a:endParaRPr lang="en-US" sz="1100" dirty="0"/>
          </a:p>
        </p:txBody>
      </p:sp>
      <p:sp>
        <p:nvSpPr>
          <p:cNvPr id="5"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NEMA 17 (National Electrical Manufacturers Association) stepper on a printed spool</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Driver current raised from 1.06 A to the rated 1.5 A: 41 % more pull</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34 N with an empty spool, 25 N when full</a:t>
            </a:r>
            <a:endParaRPr lang="en-US" sz="1800" dirty="0"/>
          </a:p>
        </p:txBody>
      </p:sp>
      <p:sp>
        <p:nvSpPr>
          <p:cNvPr id="6"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7"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Winch design force</a:t>
            </a:r>
            <a:endParaRPr lang="en-US" sz="1100" dirty="0"/>
          </a:p>
        </p:txBody>
      </p:sp>
      <p:sp>
        <p:nvSpPr>
          <p:cNvPr id="8"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T = τ / r = 0.252 N·m / 0.010 m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25.2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design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25.2 N / 1.5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16.8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Motor Cooling</a:t>
            </a:r>
            <a:endParaRPr lang="en-US" sz="2600" dirty="0"/>
          </a:p>
        </p:txBody>
      </p:sp>
      <p:pic>
        <p:nvPicPr>
          <p:cNvPr id="3" name="Chart from the calculation sheet: Motor " descr="Chart from the calculation sheet: Motor temperature">    </p:cNvPr>
          <p:cNvPicPr>
            <a:picLocks noChangeAspect="1"/>
          </p:cNvPicPr>
          <p:nvPr/>
        </p:nvPicPr>
        <p:blipFill>
          <a:blip r:embed="rId1"/>
          <a:stretch>
            <a:fillRect/>
          </a:stretch>
        </p:blipFill>
        <p:spPr>
          <a:xfrm>
            <a:off x="548640" y="1188720"/>
            <a:ext cx="6400800" cy="4398694"/>
          </a:xfrm>
          <a:prstGeom prst="rect">
            <a:avLst/>
          </a:prstGeom>
        </p:spPr>
      </p:pic>
      <p:sp>
        <p:nvSpPr>
          <p:cNvPr id="4" name="caption"/>
          <p:cNvSpPr txBox="1"/>
          <p:nvPr/>
        </p:nvSpPr>
        <p:spPr>
          <a:xfrm>
            <a:off x="548640" y="5660566"/>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“Motor temperature” (calculated)</a:t>
            </a:r>
            <a:endParaRPr lang="en-US" sz="1100" dirty="0"/>
          </a:p>
        </p:txBody>
      </p:sp>
      <p:sp>
        <p:nvSpPr>
          <p:cNvPr id="5"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1.5 A doubles motor heat to 4.05 W</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PETG creeps above 60 °C, so the shell is vented and finned</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Motor at 45–49 °C with the 1/8 in fin, 56–59 °C with the 0.019 in prototype</a:t>
            </a:r>
            <a:endParaRPr lang="en-US" sz="1800" dirty="0"/>
          </a:p>
        </p:txBody>
      </p:sp>
      <p:sp>
        <p:nvSpPr>
          <p:cNvPr id="6"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7"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heat, P = I² R</a:t>
            </a:r>
            <a:endParaRPr lang="en-US" sz="1100" dirty="0"/>
          </a:p>
        </p:txBody>
      </p:sp>
      <p:sp>
        <p:nvSpPr>
          <p:cNvPr id="8"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1.06 A: (1.06 A)² × 1.8 Ω = 2.0 W</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1.5 A: (1.5 A)² × 1.8 Ω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4.05 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Weight Budget: Open Issue</a:t>
            </a:r>
            <a:endParaRPr lang="en-US" sz="2600" dirty="0"/>
          </a:p>
        </p:txBody>
      </p:sp>
      <p:pic>
        <p:nvPicPr>
          <p:cNvPr id="3" name="Chart from the calculation sheet: Lift b" descr="Chart from the calculation sheet: Lift budget">    </p:cNvPr>
          <p:cNvPicPr>
            <a:picLocks noChangeAspect="1"/>
          </p:cNvPicPr>
          <p:nvPr/>
        </p:nvPicPr>
        <p:blipFill>
          <a:blip r:embed="rId1"/>
          <a:stretch>
            <a:fillRect/>
          </a:stretch>
        </p:blipFill>
        <p:spPr>
          <a:xfrm>
            <a:off x="548640" y="1188720"/>
            <a:ext cx="6400800" cy="4405409"/>
          </a:xfrm>
          <a:prstGeom prst="rect">
            <a:avLst/>
          </a:prstGeom>
        </p:spPr>
      </p:pic>
      <p:sp>
        <p:nvSpPr>
          <p:cNvPr id="4"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“Lift budget” (calculated)</a:t>
            </a:r>
            <a:endParaRPr lang="en-US" sz="1100" dirty="0"/>
          </a:p>
        </p:txBody>
      </p:sp>
      <p:sp>
        <p:nvSpPr>
          <p:cNvPr id="5" name="bullets"/>
          <p:cNvSpPr txBox="1"/>
          <p:nvPr/>
        </p:nvSpPr>
        <p:spPr>
          <a:xfrm>
            <a:off x="7360920" y="1234440"/>
            <a:ext cx="4282135" cy="33375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Lift capacity at 1.5 A: 1.56 kg</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Claw with battery estimated at 0.86 kg </a:t>
            </a:r>
            <a:pPr algn="l" marL="254000" indent="-254000">
              <a:spcAft>
                <a:spcPts val="1400"/>
              </a:spcAft>
              <a:buSzPct val="100000"/>
              <a:buChar char="•"/>
            </a:pPr>
            <a:r>
              <a:rPr lang="en-US" sz="1800" i="1" dirty="0">
                <a:solidFill>
                  <a:srgbClr val="B23A2E"/>
                </a:solidFill>
                <a:latin typeface="Arial" pitchFamily="34" charset="0"/>
                <a:ea typeface="Arial" pitchFamily="34" charset="-122"/>
                <a:cs typeface="Arial" pitchFamily="34" charset="-120"/>
              </a:rPr>
              <a:t>[weighed]</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1 lb test fits; jeans are 0.2 kg over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Next: a lighter claw or a gear reduction at each winch</a:t>
            </a:r>
            <a:endParaRPr lang="en-US" sz="1800" dirty="0"/>
          </a:p>
        </p:txBody>
      </p:sp>
      <p:sp>
        <p:nvSpPr>
          <p:cNvPr id="6" name="equation box"/>
          <p:cNvSpPr/>
          <p:nvPr/>
        </p:nvSpPr>
        <p:spPr>
          <a:xfrm>
            <a:off x="7360920" y="4754880"/>
            <a:ext cx="4282135" cy="1417320"/>
          </a:xfrm>
          <a:prstGeom prst="rect">
            <a:avLst/>
          </a:prstGeom>
          <a:solidFill>
            <a:srgbClr val="F7F8FA"/>
          </a:solidFill>
          <a:ln w="12700">
            <a:solidFill>
              <a:srgbClr val="1F3A5F"/>
            </a:solidFill>
            <a:prstDash val="solid"/>
          </a:ln>
        </p:spPr>
      </p:sp>
      <p:sp>
        <p:nvSpPr>
          <p:cNvPr id="7" name="equation title"/>
          <p:cNvSpPr txBox="1"/>
          <p:nvPr/>
        </p:nvSpPr>
        <p:spPr>
          <a:xfrm>
            <a:off x="7507224" y="4828032"/>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Lift capacity</a:t>
            </a:r>
            <a:endParaRPr lang="en-US" sz="1100" dirty="0"/>
          </a:p>
        </p:txBody>
      </p:sp>
      <p:sp>
        <p:nvSpPr>
          <p:cNvPr id="8" name="equations"/>
          <p:cNvSpPr txBox="1"/>
          <p:nvPr/>
        </p:nvSpPr>
        <p:spPr>
          <a:xfrm>
            <a:off x="7507224" y="5084064"/>
            <a:ext cx="3989527" cy="1033272"/>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m</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max</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design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(k g)</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16.8 / (1.101 × 9.81)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1.56 kg</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Needed with jeans: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1.76 kg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0116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Phase 5</a:t>
            </a:r>
            <a:endParaRPr lang="en-US" sz="2000" dirty="0"/>
          </a:p>
        </p:txBody>
      </p:sp>
      <p:sp>
        <p:nvSpPr>
          <p:cNvPr id="3" name="Text 1"/>
          <p:cNvSpPr txBox="1"/>
          <p:nvPr/>
        </p:nvSpPr>
        <p:spPr>
          <a:xfrm>
            <a:off x="548640" y="2468880"/>
            <a:ext cx="1005840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Build and Test</a:t>
            </a:r>
            <a:endParaRPr lang="en-US" sz="4400" dirty="0"/>
          </a:p>
        </p:txBody>
      </p:sp>
      <p:sp>
        <p:nvSpPr>
          <p:cNvPr id="4" name="Text 2"/>
          <p:cNvSpPr txBox="1"/>
          <p:nvPr/>
        </p:nvSpPr>
        <p:spPr>
          <a:xfrm>
            <a:off x="548640" y="3383280"/>
            <a:ext cx="10058400" cy="41148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October 22 – October 27</a:t>
            </a:r>
            <a:endParaRPr lang="en-US" sz="2000" dirty="0"/>
          </a:p>
        </p:txBody>
      </p:sp>
      <p:sp>
        <p:nvSpPr>
          <p:cNvPr id="5" name="Text 3"/>
          <p:cNvSpPr txBox="1"/>
          <p:nvPr/>
        </p:nvSpPr>
        <p:spPr>
          <a:xfrm>
            <a:off x="548640" y="4160520"/>
            <a:ext cx="1005840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Build the stations and run the first system test</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Printing and Machining</a:t>
            </a:r>
            <a:endParaRPr lang="en-US" sz="2600" dirty="0"/>
          </a:p>
        </p:txBody>
      </p:sp>
      <p:pic>
        <p:nvPicPr>
          <p:cNvPr id="3" name="Printing and machining" descr="Printing and machining">    </p:cNvPr>
          <p:cNvPicPr>
            <a:picLocks noChangeAspect="1"/>
          </p:cNvPicPr>
          <p:nvPr/>
        </p:nvPicPr>
        <p:blipFill>
          <a:blip r:embed="rId1"/>
          <a:stretch>
            <a:fillRect/>
          </a:stretch>
        </p:blipFill>
        <p:spPr>
          <a:xfrm>
            <a:off x="919224" y="1188720"/>
            <a:ext cx="2404368" cy="2253996"/>
          </a:xfrm>
          <a:prstGeom prst="rect">
            <a:avLst/>
          </a:prstGeom>
        </p:spPr>
      </p:pic>
      <p:pic>
        <p:nvPicPr>
          <p:cNvPr id="4" name="Printing and machining" descr="Printing and machining">    </p:cNvPr>
          <p:cNvPicPr>
            <a:picLocks noChangeAspect="1"/>
          </p:cNvPicPr>
          <p:nvPr/>
        </p:nvPicPr>
        <p:blipFill>
          <a:blip r:embed="rId2"/>
          <a:stretch>
            <a:fillRect/>
          </a:stretch>
        </p:blipFill>
        <p:spPr>
          <a:xfrm>
            <a:off x="4259178" y="1188720"/>
            <a:ext cx="2234988" cy="2253996"/>
          </a:xfrm>
          <a:prstGeom prst="rect">
            <a:avLst/>
          </a:prstGeom>
        </p:spPr>
      </p:pic>
      <p:pic>
        <p:nvPicPr>
          <p:cNvPr id="5" name="Printing and machining" descr="Printing and machining">    </p:cNvPr>
          <p:cNvPicPr>
            <a:picLocks noChangeAspect="1"/>
          </p:cNvPicPr>
          <p:nvPr/>
        </p:nvPicPr>
        <p:blipFill>
          <a:blip r:embed="rId3"/>
          <a:stretch>
            <a:fillRect/>
          </a:stretch>
        </p:blipFill>
        <p:spPr>
          <a:xfrm>
            <a:off x="1276160" y="3552444"/>
            <a:ext cx="1690497" cy="2253996"/>
          </a:xfrm>
          <a:prstGeom prst="rect">
            <a:avLst/>
          </a:prstGeom>
        </p:spPr>
      </p:pic>
      <p:pic>
        <p:nvPicPr>
          <p:cNvPr id="6" name="Printing and machining" descr="Printing and machining">    </p:cNvPr>
          <p:cNvPicPr>
            <a:picLocks noChangeAspect="1"/>
          </p:cNvPicPr>
          <p:nvPr/>
        </p:nvPicPr>
        <p:blipFill>
          <a:blip r:embed="rId4"/>
          <a:stretch>
            <a:fillRect/>
          </a:stretch>
        </p:blipFill>
        <p:spPr>
          <a:xfrm>
            <a:off x="4531424" y="3552444"/>
            <a:ext cx="1690497" cy="2253996"/>
          </a:xfrm>
          <a:prstGeom prst="rect">
            <a:avLst/>
          </a:prstGeom>
        </p:spPr>
      </p:pic>
      <p:sp>
        <p:nvSpPr>
          <p:cNvPr id="7"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Spool v2 (bore too tight) and v3, fin mill setup, finished fin</a:t>
            </a:r>
            <a:endParaRPr lang="en-US" sz="1100" dirty="0"/>
          </a:p>
        </p:txBody>
      </p:sp>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Printed holes come out at least 0.2 mm undersize: the spool took three prints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Fit coupons are now printed before full parts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Fin holes drilled in one mill setup to ±0.1 mm</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Electronics Bring-Up</a:t>
            </a:r>
            <a:endParaRPr lang="en-US" sz="2600" dirty="0"/>
          </a:p>
        </p:txBody>
      </p:sp>
      <p:pic>
        <p:nvPicPr>
          <p:cNvPr id="3" name="Station board and bench bring-up" descr="Station board and bench bring-up">    </p:cNvPr>
          <p:cNvPicPr>
            <a:picLocks noChangeAspect="1"/>
          </p:cNvPicPr>
          <p:nvPr/>
        </p:nvPicPr>
        <p:blipFill>
          <a:blip r:embed="rId1"/>
          <a:stretch>
            <a:fillRect/>
          </a:stretch>
        </p:blipFill>
        <p:spPr>
          <a:xfrm>
            <a:off x="548640" y="1400556"/>
            <a:ext cx="3145536" cy="4194048"/>
          </a:xfrm>
          <a:prstGeom prst="rect">
            <a:avLst/>
          </a:prstGeom>
        </p:spPr>
      </p:pic>
      <p:pic>
        <p:nvPicPr>
          <p:cNvPr id="4" name="Station board and bench bring-up" descr="Station board and bench bring-up">    </p:cNvPr>
          <p:cNvPicPr>
            <a:picLocks noChangeAspect="1"/>
          </p:cNvPicPr>
          <p:nvPr/>
        </p:nvPicPr>
        <p:blipFill>
          <a:blip r:embed="rId2"/>
          <a:stretch>
            <a:fillRect/>
          </a:stretch>
        </p:blipFill>
        <p:spPr>
          <a:xfrm>
            <a:off x="3803904" y="1400556"/>
            <a:ext cx="3145536" cy="4194048"/>
          </a:xfrm>
          <a:prstGeom prst="rect">
            <a:avLst/>
          </a:prstGeom>
        </p:spPr>
      </p:pic>
      <p:sp>
        <p:nvSpPr>
          <p:cNvPr id="5"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Soldered station board and bench bring-up</a:t>
            </a:r>
            <a:endParaRPr lang="en-US" sz="1100" dirty="0"/>
          </a:p>
        </p:txBody>
      </p:sp>
      <p:sp>
        <p:nvSpPr>
          <p:cNvPr id="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Driver stays off at boot, so a reset cannot move a motor</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First motor failed to turn: logic rail at 1.14 V, not 3.3 V</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Supply rails are now checked with a meter before any code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First System Test</a:t>
            </a:r>
            <a:endParaRPr lang="en-US" sz="2600" dirty="0"/>
          </a:p>
        </p:txBody>
      </p:sp>
      <p:sp>
        <p:nvSpPr>
          <p:cNvPr id="3" name="placeholder"/>
          <p:cNvSpPr/>
          <p:nvPr/>
        </p:nvSpPr>
        <p:spPr>
          <a:xfrm>
            <a:off x="548640" y="1188720"/>
            <a:ext cx="6400800" cy="2377440"/>
          </a:xfrm>
          <a:prstGeom prst="rect">
            <a:avLst/>
          </a:prstGeom>
          <a:solidFill>
            <a:srgbClr val="F2F2F2"/>
          </a:solidFill>
          <a:ln w="12700">
            <a:solidFill>
              <a:srgbClr val="B23A2E"/>
            </a:solidFill>
            <a:prstDash val="dash"/>
          </a:ln>
        </p:spPr>
      </p:sp>
      <p:sp>
        <p:nvSpPr>
          <p:cNvPr id="4" name="placeholder text"/>
          <p:cNvSpPr txBox="1"/>
          <p:nvPr/>
        </p:nvSpPr>
        <p:spPr>
          <a:xfrm>
            <a:off x="731520" y="1188720"/>
            <a:ext cx="6035040" cy="237744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or video from the three-station test]</a:t>
            </a:r>
            <a:endParaRPr lang="en-US" sz="1600" dirty="0"/>
          </a:p>
        </p:txBody>
      </p:sp>
      <p:graphicFrame>
        <p:nvGraphicFramePr>
          <p:cNvPr id="25" name="pass limits"/>
          <p:cNvGraphicFramePr>
            <a:graphicFrameLocks noGrp="1"/>
          </p:cNvGraphicFramePr>
          <p:nvPr>
            <p:extLst>
              <p:ext uri="{D42A27DB-BD31-4B8C-83A1-F6EECF244321}">
                <p14:modId xmlns:p14="http://schemas.microsoft.com/office/powerpoint/2010/main" val="1579011935"/>
              </p:ext>
            </p:extLst>
          </p:nvPr>
        </p:nvGraphicFramePr>
        <p:xfrm>
          <a:off x="548640" y="3749040"/>
          <a:ext cx="6400800" cy="914400"/>
        </p:xfrm>
        <a:graphic>
          <a:graphicData uri="http://schemas.openxmlformats.org/drawingml/2006/table">
            <a:tbl>
              <a:tblPr/>
              <a:tblGrid>
                <a:gridCol w="1728216"/>
                <a:gridCol w="3392424"/>
                <a:gridCol w="1280160"/>
              </a:tblGrid>
              <a:tr h="438912">
                <a:tc>
                  <a:txBody>
                    <a:bodyPr/>
                    <a:lstStyle/>
                    <a:p>
                      <a:pPr indent="0" marL="0">
                        <a:buNone/>
                      </a:pPr>
                      <a:r>
                        <a:rPr lang="en-US" sz="1300" b="1" dirty="0">
                          <a:solidFill>
                            <a:srgbClr val="FFFFFF"/>
                          </a:solidFill>
                          <a:latin typeface="Arial" pitchFamily="34" charset="0"/>
                          <a:ea typeface="Arial" pitchFamily="34" charset="-122"/>
                          <a:cs typeface="Arial" pitchFamily="34" charset="-120"/>
                        </a:rPr>
                        <a:t>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Pass limit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38912">
                <a:tc>
                  <a:txBody>
                    <a:bodyPr/>
                    <a:lstStyle/>
                    <a:p>
                      <a:pPr indent="0" marL="0">
                        <a:buNone/>
                      </a:pPr>
                      <a:r>
                        <a:rPr lang="en-US" sz="1300" b="1" dirty="0">
                          <a:solidFill>
                            <a:srgbClr val="1A1A1A"/>
                          </a:solidFill>
                          <a:latin typeface="Arial" pitchFamily="34" charset="0"/>
                          <a:ea typeface="Arial" pitchFamily="34" charset="-122"/>
                          <a:cs typeface="Arial" pitchFamily="34" charset="-120"/>
                        </a:rPr>
                        <a:t>Self-check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All stations answer; slack taken 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1A1A1A"/>
                          </a:solidFill>
                          <a:latin typeface="Arial" pitchFamily="34" charset="0"/>
                          <a:ea typeface="Arial" pitchFamily="34" charset="-122"/>
                          <a:cs typeface="Arial" pitchFamily="34" charset="-120"/>
                        </a:rPr>
                        <a:t>Calibration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Held-out poses inside the margin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1A1A1A"/>
                          </a:solidFill>
                          <a:latin typeface="Arial" pitchFamily="34" charset="0"/>
                          <a:ea typeface="Arial" pitchFamily="34" charset="-122"/>
                          <a:cs typeface="Arial" pitchFamily="34" charset="-120"/>
                        </a:rPr>
                        <a:t>Short move, 1 lb</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300 mm at 50 mm/s, ≤ 2 mm per cable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1A1A1A"/>
                          </a:solidFill>
                          <a:latin typeface="Arial" pitchFamily="34" charset="0"/>
                          <a:ea typeface="Arial" pitchFamily="34" charset="-122"/>
                          <a:cs typeface="Arial" pitchFamily="34" charset="-120"/>
                        </a:rPr>
                        <a:t>Pickup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One garment into the hamper</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Three stations: the fewest cables that fully hold the claw</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Self-check, calibration, short move, then pickup</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1 lb first, then one garment; pass limits set before the run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Thermal Verification</a:t>
            </a:r>
            <a:endParaRPr lang="en-US" sz="2600" dirty="0"/>
          </a:p>
        </p:txBody>
      </p:sp>
      <p:sp>
        <p:nvSpPr>
          <p:cNvPr id="3" name="placeholder"/>
          <p:cNvSpPr/>
          <p:nvPr/>
        </p:nvSpPr>
        <p:spPr>
          <a:xfrm>
            <a:off x="548640" y="1188720"/>
            <a:ext cx="6400800" cy="2377440"/>
          </a:xfrm>
          <a:prstGeom prst="rect">
            <a:avLst/>
          </a:prstGeom>
          <a:solidFill>
            <a:srgbClr val="F2F2F2"/>
          </a:solidFill>
          <a:ln w="12700">
            <a:solidFill>
              <a:srgbClr val="B23A2E"/>
            </a:solidFill>
            <a:prstDash val="dash"/>
          </a:ln>
        </p:spPr>
      </p:sp>
      <p:sp>
        <p:nvSpPr>
          <p:cNvPr id="4" name="placeholder text"/>
          <p:cNvSpPr txBox="1"/>
          <p:nvPr/>
        </p:nvSpPr>
        <p:spPr>
          <a:xfrm>
            <a:off x="731520" y="1188720"/>
            <a:ext cx="6035040" cy="237744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[SolidWorks temperature plot: motor, fin, screws and mount]</a:t>
            </a:r>
            <a:endParaRPr lang="en-US" sz="1600" dirty="0"/>
          </a:p>
        </p:txBody>
      </p:sp>
      <p:graphicFrame>
        <p:nvGraphicFramePr>
          <p:cNvPr id="26" name="thermal methods"/>
          <p:cNvGraphicFramePr>
            <a:graphicFrameLocks noGrp="1"/>
          </p:cNvGraphicFramePr>
          <p:nvPr>
            <p:extLst>
              <p:ext uri="{D42A27DB-BD31-4B8C-83A1-F6EECF244321}">
                <p14:modId xmlns:p14="http://schemas.microsoft.com/office/powerpoint/2010/main" val="1579011935"/>
              </p:ext>
            </p:extLst>
          </p:nvPr>
        </p:nvGraphicFramePr>
        <p:xfrm>
          <a:off x="548640" y="3749040"/>
          <a:ext cx="6400800" cy="914400"/>
        </p:xfrm>
        <a:graphic>
          <a:graphicData uri="http://schemas.openxmlformats.org/drawingml/2006/table">
            <a:tbl>
              <a:tblPr/>
              <a:tblGrid>
                <a:gridCol w="2560320"/>
                <a:gridCol w="1920240"/>
                <a:gridCol w="1920240"/>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Method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0.019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1/8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1A1A1A"/>
                          </a:solidFill>
                          <a:latin typeface="Arial" pitchFamily="34" charset="0"/>
                          <a:ea typeface="Arial" pitchFamily="34" charset="-122"/>
                          <a:cs typeface="Arial" pitchFamily="34" charset="-120"/>
                        </a:rPr>
                        <a:t>Hand calculation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56–59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45–49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1A1A1A"/>
                          </a:solidFill>
                          <a:latin typeface="Arial" pitchFamily="34" charset="0"/>
                          <a:ea typeface="Arial" pitchFamily="34" charset="-122"/>
                          <a:cs typeface="Arial" pitchFamily="34" charset="-120"/>
                        </a:rPr>
                        <a:t>SolidWorks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1A1A1A"/>
                          </a:solidFill>
                          <a:latin typeface="Arial" pitchFamily="34" charset="0"/>
                          <a:ea typeface="Arial" pitchFamily="34" charset="-122"/>
                          <a:cs typeface="Arial" pitchFamily="34" charset="-120"/>
                        </a:rPr>
                        <a:t>Hold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PETG mount must stay below 60 °C</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Hand calculation, SolidWorks study, then a 90-minute hold test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The PETG runs at about the motor temperature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Results Against Targets</a:t>
            </a:r>
            <a:endParaRPr lang="en-US" sz="26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440771"/>
                <a:gridCol w="2773604"/>
                <a:gridCol w="3883045"/>
                <a:gridCol w="1996995"/>
              </a:tblGrid>
              <a:tr h="548640">
                <a:tc>
                  <a:txBody>
                    <a:bodyPr/>
                    <a:lstStyle/>
                    <a:p>
                      <a:pPr indent="0" marL="0">
                        <a:buNone/>
                      </a:pPr>
                      <a:r>
                        <a:rPr lang="en-US" sz="1500" b="1" dirty="0">
                          <a:solidFill>
                            <a:srgbClr val="FFFFFF"/>
                          </a:solidFill>
                          <a:latin typeface="Arial" pitchFamily="34" charset="0"/>
                          <a:ea typeface="Arial" pitchFamily="34" charset="-122"/>
                          <a:cs typeface="Arial" pitchFamily="34" charset="-120"/>
                        </a:rPr>
                        <a:t>Target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Goal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Current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Status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Lift capacity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1.76 kg with jeans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1.56 kg (calculated)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B23A2E"/>
                          </a:solidFill>
                          <a:latin typeface="Arial" pitchFamily="34" charset="0"/>
                          <a:ea typeface="Arial" pitchFamily="34" charset="-122"/>
                          <a:cs typeface="Arial" pitchFamily="34" charset="-120"/>
                        </a:rPr>
                        <a:t>Not met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Claw mass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0.45 kg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0.86 kg with battery; </a:t>
                      </a:r>
                      <a:pPr indent="0" marL="0">
                        <a:buNone/>
                      </a:pPr>
                      <a:r>
                        <a:rPr lang="en-US" sz="1500" i="1" dirty="0">
                          <a:solidFill>
                            <a:srgbClr val="B23A2E"/>
                          </a:solidFill>
                          <a:latin typeface="Arial" pitchFamily="34" charset="0"/>
                          <a:ea typeface="Arial" pitchFamily="34" charset="-122"/>
                          <a:cs typeface="Arial" pitchFamily="34" charset="-120"/>
                        </a:rPr>
                        <a:t>[weighed]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B23A2E"/>
                          </a:solidFill>
                          <a:latin typeface="Arial" pitchFamily="34" charset="0"/>
                          <a:ea typeface="Arial" pitchFamily="34" charset="-122"/>
                          <a:cs typeface="Arial" pitchFamily="34" charset="-120"/>
                        </a:rPr>
                        <a:t>Not met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Motor temperature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Below 60 °C</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45–49 °C with the 1/8 in fin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Met in design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Working area</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Full 11 × 9 ft floor</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All but 0.2 m along the walls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Met in design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Wiring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One cable per station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One 12 V pair; 0.51 V drop</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Accuracy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2 mm per cable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0.7 mm (calculated)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To be tested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Speed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50 mm/s at 2 m/s²</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Not yet run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To be tested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rgbClr val="1A1A1A"/>
                          </a:solidFill>
                          <a:latin typeface="Arial" pitchFamily="34" charset="0"/>
                          <a:ea typeface="Arial" pitchFamily="34" charset="-122"/>
                          <a:cs typeface="Arial" pitchFamily="34" charset="-120"/>
                        </a:rPr>
                        <a:t>Cost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Hobby budget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i="1" dirty="0">
                          <a:solidFill>
                            <a:srgbClr val="B23A2E"/>
                          </a:solidFill>
                          <a:latin typeface="Arial" pitchFamily="34" charset="0"/>
                          <a:ea typeface="Arial" pitchFamily="34" charset="-122"/>
                          <a:cs typeface="Arial" pitchFamily="34" charset="-120"/>
                        </a:rPr>
                        <a:t>[total cost]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i="1" dirty="0">
                          <a:solidFill>
                            <a:srgbClr val="B23A2E"/>
                          </a:solidFill>
                          <a:latin typeface="Arial" pitchFamily="34" charset="0"/>
                          <a:ea typeface="Arial" pitchFamily="34" charset="-122"/>
                          <a:cs typeface="Arial" pitchFamily="34" charset="-120"/>
                        </a:rPr>
                        <a:t>[fill in]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Good and Poor Decisions</a:t>
            </a:r>
            <a:endParaRPr lang="en-US" sz="2600" dirty="0"/>
          </a:p>
        </p:txBody>
      </p:sp>
      <p:graphicFrame>
        <p:nvGraphicFramePr>
          <p:cNvPr id="28" name="good decisions"/>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4215878"/>
                <a:gridCol w="6878537"/>
              </a:tblGrid>
              <a:tr h="502920">
                <a:tc>
                  <a:txBody>
                    <a:bodyPr/>
                    <a:lstStyle/>
                    <a:p>
                      <a:pPr indent="0" marL="0">
                        <a:buNone/>
                      </a:pPr>
                      <a:r>
                        <a:rPr lang="en-US" sz="1600" b="1" dirty="0">
                          <a:solidFill>
                            <a:srgbClr val="FFFFFF"/>
                          </a:solidFill>
                          <a:latin typeface="Arial" pitchFamily="34" charset="0"/>
                          <a:ea typeface="Arial" pitchFamily="34" charset="-122"/>
                          <a:cs typeface="Arial" pitchFamily="34" charset="-120"/>
                        </a:rPr>
                        <a:t>Good decision</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Result</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One controller per winch</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Five times less wire; each station tested alone</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Camera calibration instead of bead homing</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Whole room reachable</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Gear strength checked at servo stall</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Failure caught in CAD, before printing</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5" name="poor decisions"/>
          <p:cNvGraphicFramePr>
            <a:graphicFrameLocks noGrp="1"/>
          </p:cNvGraphicFramePr>
          <p:nvPr>
            <p:extLst>
              <p:ext uri="{D42A27DB-BD31-4B8C-83A1-F6EECF244321}">
                <p14:modId xmlns:p14="http://schemas.microsoft.com/office/powerpoint/2010/main" val="1579011935"/>
              </p:ext>
            </p:extLst>
          </p:nvPr>
        </p:nvGraphicFramePr>
        <p:xfrm>
          <a:off x="548640" y="3611880"/>
          <a:ext cx="11094415" cy="914400"/>
        </p:xfrm>
        <a:graphic>
          <a:graphicData uri="http://schemas.openxmlformats.org/drawingml/2006/table">
            <a:tbl>
              <a:tblPr/>
              <a:tblGrid>
                <a:gridCol w="4215878"/>
                <a:gridCol w="6878537"/>
              </a:tblGrid>
              <a:tr h="502920">
                <a:tc>
                  <a:txBody>
                    <a:bodyPr/>
                    <a:lstStyle/>
                    <a:p>
                      <a:pPr indent="0" marL="0">
                        <a:buNone/>
                      </a:pPr>
                      <a:r>
                        <a:rPr lang="en-US" sz="1600" b="1" dirty="0">
                          <a:solidFill>
                            <a:srgbClr val="FFFFFF"/>
                          </a:solidFill>
                          <a:latin typeface="Arial" pitchFamily="34" charset="0"/>
                          <a:ea typeface="Arial" pitchFamily="34" charset="-122"/>
                          <a:cs typeface="Arial" pitchFamily="34" charset="-120"/>
                        </a:rPr>
                        <a:t>Poor decision</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Result</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Mass budget set late</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0.2 kg over capacity with jeans</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Bead homing as the first plan</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Under a third of the room reachable</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600" b="1" dirty="0">
                          <a:solidFill>
                            <a:srgbClr val="1A1A1A"/>
                          </a:solidFill>
                          <a:latin typeface="Arial" pitchFamily="34" charset="0"/>
                          <a:ea typeface="Arial" pitchFamily="34" charset="-122"/>
                          <a:cs typeface="Arial" pitchFamily="34" charset="-120"/>
                        </a:rPr>
                        <a:t>Several stations built before one was proven</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Every fix repeated on each station </a:t>
                      </a:r>
                      <a:pPr indent="0" marL="0">
                        <a:buNone/>
                      </a:pPr>
                      <a:r>
                        <a:rPr lang="en-US" sz="1600" i="1" dirty="0">
                          <a:solidFill>
                            <a:srgbClr val="B23A2E"/>
                          </a:solidFill>
                          <a:latin typeface="Arial" pitchFamily="34" charset="0"/>
                          <a:ea typeface="Arial" pitchFamily="34" charset="-122"/>
                          <a:cs typeface="Arial" pitchFamily="34" charset="-120"/>
                        </a:rPr>
                        <a:t>[confirm]</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Thorough vs. Scrappy</a:t>
            </a:r>
            <a:endParaRPr lang="en-US" sz="2600" dirty="0"/>
          </a:p>
        </p:txBody>
      </p:sp>
      <p:pic>
        <p:nvPicPr>
          <p:cNvPr id="3" name="Mill setup and jumpered ESP32 board" descr="Mill setup and jumpered ESP32 board">    </p:cNvPr>
          <p:cNvPicPr>
            <a:picLocks noChangeAspect="1"/>
          </p:cNvPicPr>
          <p:nvPr/>
        </p:nvPicPr>
        <p:blipFill>
          <a:blip r:embed="rId1"/>
          <a:stretch>
            <a:fillRect/>
          </a:stretch>
        </p:blipFill>
        <p:spPr>
          <a:xfrm>
            <a:off x="548640" y="1400556"/>
            <a:ext cx="3145536" cy="4194048"/>
          </a:xfrm>
          <a:prstGeom prst="rect">
            <a:avLst/>
          </a:prstGeom>
        </p:spPr>
      </p:pic>
      <p:pic>
        <p:nvPicPr>
          <p:cNvPr id="4" name="Mill setup and jumpered ESP32 board" descr="Mill setup and jumpered ESP32 board">    </p:cNvPr>
          <p:cNvPicPr>
            <a:picLocks noChangeAspect="1"/>
          </p:cNvPicPr>
          <p:nvPr/>
        </p:nvPicPr>
        <p:blipFill>
          <a:blip r:embed="rId2"/>
          <a:stretch>
            <a:fillRect/>
          </a:stretch>
        </p:blipFill>
        <p:spPr>
          <a:xfrm>
            <a:off x="3803904" y="2318172"/>
            <a:ext cx="3145536" cy="2358816"/>
          </a:xfrm>
          <a:prstGeom prst="rect">
            <a:avLst/>
          </a:prstGeom>
        </p:spPr>
      </p:pic>
      <p:sp>
        <p:nvSpPr>
          <p:cNvPr id="5"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Thorough: fin mill setup. Scrappy: jumpered ESP32 controller board.</a:t>
            </a:r>
            <a:endParaRPr lang="en-US" sz="1100" dirty="0"/>
          </a:p>
        </p:txBody>
      </p:sp>
      <p:sp>
        <p:nvSpPr>
          <p:cNvPr id="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Thorough where a mistake is expensive or unsafe</a:t>
            </a:r>
            <a:endParaRPr lang="en-US" sz="1800" dirty="0"/>
          </a:p>
          <a:p>
            <a:pPr algn="l" lvl="1" marL="457200" indent="-228600">
              <a:spcAft>
                <a:spcPts val="600"/>
              </a:spcAft>
              <a:buSzPct val="100000"/>
              <a:buChar char="•"/>
            </a:pPr>
            <a:r>
              <a:rPr lang="en-US" sz="1600" dirty="0">
                <a:solidFill>
                  <a:srgbClr val="404040"/>
                </a:solidFill>
                <a:latin typeface="Arial" pitchFamily="34" charset="0"/>
                <a:ea typeface="Arial" pitchFamily="34" charset="-122"/>
                <a:cs typeface="Arial" pitchFamily="34" charset="-120"/>
              </a:rPr>
              <a:t>Heat fin: one mill setup, ±0.1 mm</a:t>
            </a:r>
            <a:endParaRPr lang="en-US" sz="1800" dirty="0"/>
          </a:p>
          <a:p>
            <a:pPr algn="l" lvl="1" marL="457200" indent="-228600">
              <a:spcAft>
                <a:spcPts val="600"/>
              </a:spcAft>
              <a:buSzPct val="100000"/>
              <a:buChar char="•"/>
            </a:pPr>
            <a:r>
              <a:rPr lang="en-US" sz="1600" dirty="0">
                <a:solidFill>
                  <a:srgbClr val="404040"/>
                </a:solidFill>
                <a:latin typeface="Arial" pitchFamily="34" charset="0"/>
                <a:ea typeface="Arial" pitchFamily="34" charset="-122"/>
                <a:cs typeface="Arial" pitchFamily="34" charset="-120"/>
              </a:rPr>
              <a:t>Gears: strength checked before printing</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Scrappy where it is cheap to undo</a:t>
            </a:r>
            <a:endParaRPr lang="en-US" sz="1800" dirty="0"/>
          </a:p>
          <a:p>
            <a:pPr algn="l" lvl="1" marL="457200" indent="-228600">
              <a:spcAft>
                <a:spcPts val="600"/>
              </a:spcAft>
              <a:buSzPct val="100000"/>
              <a:buChar char="•"/>
            </a:pPr>
            <a:r>
              <a:rPr lang="en-US" sz="1600" dirty="0">
                <a:solidFill>
                  <a:srgbClr val="404040"/>
                </a:solidFill>
                <a:latin typeface="Arial" pitchFamily="34" charset="0"/>
                <a:ea typeface="Arial" pitchFamily="34" charset="-122"/>
                <a:cs typeface="Arial" pitchFamily="34" charset="-120"/>
              </a:rPr>
              <a:t>Failed controller replaced by a jumpered ESP32 board</a:t>
            </a:r>
            <a:endParaRPr lang="en-US" sz="1800" dirty="0"/>
          </a:p>
          <a:p>
            <a:pPr algn="l" lvl="1" marL="457200" indent="-228600">
              <a:spcAft>
                <a:spcPts val="600"/>
              </a:spcAft>
              <a:buSzPct val="100000"/>
              <a:buChar char="•"/>
            </a:pPr>
            <a:r>
              <a:rPr lang="en-US" sz="1600" dirty="0">
                <a:solidFill>
                  <a:srgbClr val="404040"/>
                </a:solidFill>
                <a:latin typeface="Arial" pitchFamily="34" charset="0"/>
                <a:ea typeface="Arial" pitchFamily="34" charset="-122"/>
                <a:cs typeface="Arial" pitchFamily="34" charset="-120"/>
              </a:rPr>
              <a:t>Floor board printed on paper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Lessons Learned</a:t>
            </a:r>
            <a:endParaRPr lang="en-US" sz="2600" dirty="0"/>
          </a:p>
        </p:txBody>
      </p:sp>
      <p:sp>
        <p:nvSpPr>
          <p:cNvPr id="3" name="label"/>
          <p:cNvSpPr txBox="1"/>
          <p:nvPr/>
        </p:nvSpPr>
        <p:spPr>
          <a:xfrm>
            <a:off x="548640" y="2560320"/>
            <a:ext cx="1234440" cy="68580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Actual</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(15 weeks)</a:t>
            </a:r>
            <a:endParaRPr lang="en-US" sz="1300" dirty="0"/>
          </a:p>
        </p:txBody>
      </p:sp>
      <p:sp>
        <p:nvSpPr>
          <p:cNvPr id="4" name="Concept"/>
          <p:cNvSpPr/>
          <p:nvPr/>
        </p:nvSpPr>
        <p:spPr>
          <a:xfrm>
            <a:off x="1874520" y="2560320"/>
            <a:ext cx="1098599" cy="685800"/>
          </a:xfrm>
          <a:prstGeom prst="rect">
            <a:avLst/>
          </a:prstGeom>
          <a:solidFill>
            <a:srgbClr val="D9DEE5"/>
          </a:solidFill>
          <a:ln w="19050">
            <a:solidFill>
              <a:srgbClr val="FFFFFF"/>
            </a:solidFill>
            <a:prstDash val="solid"/>
          </a:ln>
        </p:spPr>
      </p:sp>
      <p:sp>
        <p:nvSpPr>
          <p:cNvPr id="5" name="label"/>
          <p:cNvSpPr txBox="1"/>
          <p:nvPr/>
        </p:nvSpPr>
        <p:spPr>
          <a:xfrm>
            <a:off x="1901952" y="2560320"/>
            <a:ext cx="1043735" cy="6858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Concept</a:t>
            </a:r>
            <a:endParaRPr lang="en-US" sz="1200" dirty="0"/>
          </a:p>
        </p:txBody>
      </p:sp>
      <p:sp>
        <p:nvSpPr>
          <p:cNvPr id="6" name="Gen 1"/>
          <p:cNvSpPr/>
          <p:nvPr/>
        </p:nvSpPr>
        <p:spPr>
          <a:xfrm>
            <a:off x="2973119" y="2560320"/>
            <a:ext cx="1464798" cy="685800"/>
          </a:xfrm>
          <a:prstGeom prst="rect">
            <a:avLst/>
          </a:prstGeom>
          <a:solidFill>
            <a:srgbClr val="4F6D8F"/>
          </a:solidFill>
          <a:ln w="19050">
            <a:solidFill>
              <a:srgbClr val="FFFFFF"/>
            </a:solidFill>
            <a:prstDash val="solid"/>
          </a:ln>
        </p:spPr>
      </p:sp>
      <p:sp>
        <p:nvSpPr>
          <p:cNvPr id="7" name="label"/>
          <p:cNvSpPr txBox="1"/>
          <p:nvPr/>
        </p:nvSpPr>
        <p:spPr>
          <a:xfrm>
            <a:off x="3000551" y="2560320"/>
            <a:ext cx="1409934"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 1</a:t>
            </a:r>
            <a:endParaRPr lang="en-US" sz="1200" dirty="0"/>
          </a:p>
        </p:txBody>
      </p:sp>
      <p:sp>
        <p:nvSpPr>
          <p:cNvPr id="8" name="Redesign"/>
          <p:cNvSpPr/>
          <p:nvPr/>
        </p:nvSpPr>
        <p:spPr>
          <a:xfrm>
            <a:off x="4437917" y="2560320"/>
            <a:ext cx="1778684" cy="685800"/>
          </a:xfrm>
          <a:prstGeom prst="rect">
            <a:avLst/>
          </a:prstGeom>
          <a:solidFill>
            <a:srgbClr val="D9DEE5"/>
          </a:solidFill>
          <a:ln w="19050">
            <a:solidFill>
              <a:srgbClr val="FFFFFF"/>
            </a:solidFill>
            <a:prstDash val="solid"/>
          </a:ln>
        </p:spPr>
      </p:sp>
      <p:sp>
        <p:nvSpPr>
          <p:cNvPr id="9" name="label"/>
          <p:cNvSpPr txBox="1"/>
          <p:nvPr/>
        </p:nvSpPr>
        <p:spPr>
          <a:xfrm>
            <a:off x="4465349" y="2560320"/>
            <a:ext cx="1723820" cy="6858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Redesign</a:t>
            </a:r>
            <a:endParaRPr lang="en-US" sz="1200" dirty="0"/>
          </a:p>
        </p:txBody>
      </p:sp>
      <p:sp>
        <p:nvSpPr>
          <p:cNvPr id="10" name="Final"/>
          <p:cNvSpPr/>
          <p:nvPr/>
        </p:nvSpPr>
        <p:spPr>
          <a:xfrm>
            <a:off x="6216601" y="2560320"/>
            <a:ext cx="784713" cy="685800"/>
          </a:xfrm>
          <a:prstGeom prst="rect">
            <a:avLst/>
          </a:prstGeom>
          <a:solidFill>
            <a:srgbClr val="4F6D8F"/>
          </a:solidFill>
          <a:ln w="19050">
            <a:solidFill>
              <a:srgbClr val="FFFFFF"/>
            </a:solidFill>
            <a:prstDash val="solid"/>
          </a:ln>
        </p:spPr>
      </p:sp>
      <p:sp>
        <p:nvSpPr>
          <p:cNvPr id="11" name="label"/>
          <p:cNvSpPr txBox="1"/>
          <p:nvPr/>
        </p:nvSpPr>
        <p:spPr>
          <a:xfrm>
            <a:off x="6244033" y="2560320"/>
            <a:ext cx="729849"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Final</a:t>
            </a:r>
            <a:endParaRPr lang="en-US" sz="1050" dirty="0"/>
          </a:p>
        </p:txBody>
      </p:sp>
      <p:sp>
        <p:nvSpPr>
          <p:cNvPr id="12" name="Build and test"/>
          <p:cNvSpPr/>
          <p:nvPr/>
        </p:nvSpPr>
        <p:spPr>
          <a:xfrm>
            <a:off x="7001315" y="2560320"/>
            <a:ext cx="313885" cy="685800"/>
          </a:xfrm>
          <a:prstGeom prst="rect">
            <a:avLst/>
          </a:prstGeom>
          <a:solidFill>
            <a:srgbClr val="1F3A5F"/>
          </a:solidFill>
          <a:ln w="19050">
            <a:solidFill>
              <a:srgbClr val="FFFFFF"/>
            </a:solidFill>
            <a:prstDash val="solid"/>
          </a:ln>
        </p:spPr>
      </p:sp>
      <p:sp>
        <p:nvSpPr>
          <p:cNvPr id="13" name="label"/>
          <p:cNvSpPr txBox="1"/>
          <p:nvPr/>
        </p:nvSpPr>
        <p:spPr>
          <a:xfrm>
            <a:off x="6217920" y="3273552"/>
            <a:ext cx="1097280" cy="228600"/>
          </a:xfrm>
          <a:prstGeom prst="rect">
            <a:avLst/>
          </a:prstGeom>
          <a:noFill/>
          <a:ln/>
        </p:spPr>
        <p:txBody>
          <a:bodyPr wrap="square" lIns="0" tIns="0" rIns="0" bIns="0" rtlCol="0" anchor="ctr"/>
          <a:lstStyle/>
          <a:p>
            <a:pPr algn="r" indent="0" marL="0">
              <a:buNone/>
            </a:pPr>
            <a:r>
              <a:rPr lang="en-US" sz="1000" b="1" dirty="0">
                <a:solidFill>
                  <a:srgbClr val="1F3A5F"/>
                </a:solidFill>
                <a:latin typeface="Arial" pitchFamily="34" charset="0"/>
                <a:ea typeface="Arial" pitchFamily="34" charset="-122"/>
                <a:cs typeface="Arial" pitchFamily="34" charset="-120"/>
              </a:rPr>
              <a:t>Build and test</a:t>
            </a:r>
            <a:endParaRPr lang="en-US" sz="1000" dirty="0"/>
          </a:p>
        </p:txBody>
      </p:sp>
      <p:sp>
        <p:nvSpPr>
          <p:cNvPr id="14" name="label"/>
          <p:cNvSpPr txBox="1"/>
          <p:nvPr/>
        </p:nvSpPr>
        <p:spPr>
          <a:xfrm>
            <a:off x="548640" y="3657600"/>
            <a:ext cx="1234440" cy="68580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Half time</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(7 weeks)</a:t>
            </a:r>
            <a:endParaRPr lang="en-US" sz="1300" dirty="0"/>
          </a:p>
        </p:txBody>
      </p:sp>
      <p:sp>
        <p:nvSpPr>
          <p:cNvPr id="15" name="Plan"/>
          <p:cNvSpPr/>
          <p:nvPr/>
        </p:nvSpPr>
        <p:spPr>
          <a:xfrm>
            <a:off x="1874520" y="3657600"/>
            <a:ext cx="366200" cy="685800"/>
          </a:xfrm>
          <a:prstGeom prst="rect">
            <a:avLst/>
          </a:prstGeom>
          <a:solidFill>
            <a:srgbClr val="D9DEE5"/>
          </a:solidFill>
          <a:ln w="19050">
            <a:solidFill>
              <a:srgbClr val="FFFFFF"/>
            </a:solidFill>
            <a:prstDash val="solid"/>
          </a:ln>
        </p:spPr>
      </p:sp>
      <p:sp>
        <p:nvSpPr>
          <p:cNvPr id="16" name="label"/>
          <p:cNvSpPr txBox="1"/>
          <p:nvPr/>
        </p:nvSpPr>
        <p:spPr>
          <a:xfrm>
            <a:off x="1901952" y="3657600"/>
            <a:ext cx="311336" cy="685800"/>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Plan</a:t>
            </a:r>
            <a:endParaRPr lang="en-US" sz="900" dirty="0"/>
          </a:p>
        </p:txBody>
      </p:sp>
      <p:sp>
        <p:nvSpPr>
          <p:cNvPr id="17" name="One station"/>
          <p:cNvSpPr/>
          <p:nvPr/>
        </p:nvSpPr>
        <p:spPr>
          <a:xfrm>
            <a:off x="2240720" y="3657600"/>
            <a:ext cx="732399" cy="685800"/>
          </a:xfrm>
          <a:prstGeom prst="rect">
            <a:avLst/>
          </a:prstGeom>
          <a:solidFill>
            <a:srgbClr val="4F6D8F"/>
          </a:solidFill>
          <a:ln w="19050">
            <a:solidFill>
              <a:srgbClr val="FFFFFF"/>
            </a:solidFill>
            <a:prstDash val="solid"/>
          </a:ln>
        </p:spPr>
      </p:sp>
      <p:sp>
        <p:nvSpPr>
          <p:cNvPr id="18" name="label"/>
          <p:cNvSpPr txBox="1"/>
          <p:nvPr/>
        </p:nvSpPr>
        <p:spPr>
          <a:xfrm>
            <a:off x="2268152" y="3657600"/>
            <a:ext cx="677535"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One station</a:t>
            </a:r>
            <a:endParaRPr lang="en-US" sz="1050" dirty="0"/>
          </a:p>
        </p:txBody>
      </p:sp>
      <p:sp>
        <p:nvSpPr>
          <p:cNvPr id="19" name="Copy"/>
          <p:cNvSpPr/>
          <p:nvPr/>
        </p:nvSpPr>
        <p:spPr>
          <a:xfrm>
            <a:off x="2973119" y="3657600"/>
            <a:ext cx="366200" cy="685800"/>
          </a:xfrm>
          <a:prstGeom prst="rect">
            <a:avLst/>
          </a:prstGeom>
          <a:solidFill>
            <a:srgbClr val="D9DEE5"/>
          </a:solidFill>
          <a:ln w="19050">
            <a:solidFill>
              <a:srgbClr val="FFFFFF"/>
            </a:solidFill>
            <a:prstDash val="solid"/>
          </a:ln>
        </p:spPr>
      </p:sp>
      <p:sp>
        <p:nvSpPr>
          <p:cNvPr id="20" name="label"/>
          <p:cNvSpPr txBox="1"/>
          <p:nvPr/>
        </p:nvSpPr>
        <p:spPr>
          <a:xfrm>
            <a:off x="3000551" y="3657600"/>
            <a:ext cx="311336" cy="685800"/>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Copy</a:t>
            </a:r>
            <a:endParaRPr lang="en-US" sz="900" dirty="0"/>
          </a:p>
        </p:txBody>
      </p:sp>
      <p:sp>
        <p:nvSpPr>
          <p:cNvPr id="21" name="Claw"/>
          <p:cNvSpPr/>
          <p:nvPr/>
        </p:nvSpPr>
        <p:spPr>
          <a:xfrm>
            <a:off x="3339318" y="3657600"/>
            <a:ext cx="732399" cy="685800"/>
          </a:xfrm>
          <a:prstGeom prst="rect">
            <a:avLst/>
          </a:prstGeom>
          <a:solidFill>
            <a:srgbClr val="4F6D8F"/>
          </a:solidFill>
          <a:ln w="19050">
            <a:solidFill>
              <a:srgbClr val="FFFFFF"/>
            </a:solidFill>
            <a:prstDash val="solid"/>
          </a:ln>
        </p:spPr>
      </p:sp>
      <p:sp>
        <p:nvSpPr>
          <p:cNvPr id="22" name="label"/>
          <p:cNvSpPr txBox="1"/>
          <p:nvPr/>
        </p:nvSpPr>
        <p:spPr>
          <a:xfrm>
            <a:off x="3366750" y="3657600"/>
            <a:ext cx="677535"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Claw</a:t>
            </a:r>
            <a:endParaRPr lang="en-US" sz="1050" dirty="0"/>
          </a:p>
        </p:txBody>
      </p:sp>
      <p:sp>
        <p:nvSpPr>
          <p:cNvPr id="23" name="Test"/>
          <p:cNvSpPr/>
          <p:nvPr/>
        </p:nvSpPr>
        <p:spPr>
          <a:xfrm>
            <a:off x="4071718" y="3657600"/>
            <a:ext cx="366200" cy="685800"/>
          </a:xfrm>
          <a:prstGeom prst="rect">
            <a:avLst/>
          </a:prstGeom>
          <a:solidFill>
            <a:srgbClr val="1F3A5F"/>
          </a:solidFill>
          <a:ln w="19050">
            <a:solidFill>
              <a:srgbClr val="FFFFFF"/>
            </a:solidFill>
            <a:prstDash val="solid"/>
          </a:ln>
        </p:spPr>
      </p:sp>
      <p:sp>
        <p:nvSpPr>
          <p:cNvPr id="24" name="label"/>
          <p:cNvSpPr txBox="1"/>
          <p:nvPr/>
        </p:nvSpPr>
        <p:spPr>
          <a:xfrm>
            <a:off x="4099150" y="3657600"/>
            <a:ext cx="311336"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Test</a:t>
            </a:r>
            <a:endParaRPr lang="en-US" sz="900" dirty="0"/>
          </a:p>
        </p:txBody>
      </p:sp>
      <p:sp>
        <p:nvSpPr>
          <p:cNvPr id="25" name="caption"/>
          <p:cNvSpPr txBox="1"/>
          <p:nvPr/>
        </p:nvSpPr>
        <p:spPr>
          <a:xfrm>
            <a:off x="1874520" y="4480560"/>
            <a:ext cx="544068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Same time scale. Half-time plan: prove one station, then copy it.</a:t>
            </a:r>
            <a:endParaRPr lang="en-US" sz="1100" dirty="0"/>
          </a:p>
        </p:txBody>
      </p:sp>
      <p:sp>
        <p:nvSpPr>
          <p:cNvPr id="26" name="bullets"/>
          <p:cNvSpPr txBox="1"/>
          <p:nvPr/>
        </p:nvSpPr>
        <p:spPr>
          <a:xfrm>
            <a:off x="7726680" y="1234440"/>
            <a:ext cx="391637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Set the mass budget first, from the measured winch pull</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Prove one station before building the rest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Print fit coupons before full parts</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In half the time: freeze requirements in week 1 and order long-lead parts on day 1</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Questions</a:t>
            </a:r>
            <a:endParaRPr lang="en-US" sz="4800" dirty="0"/>
          </a:p>
        </p:txBody>
      </p:sp>
      <p:sp>
        <p:nvSpPr>
          <p:cNvPr id="3" name="Text 1"/>
          <p:cNvSpPr txBox="1"/>
          <p:nvPr/>
        </p:nvSpPr>
        <p:spPr>
          <a:xfrm>
            <a:off x="548640" y="3566160"/>
            <a:ext cx="10058400" cy="54864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Jasper Buntinx  |  jasper_buntinx@tamu.edu</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Appendix</a:t>
            </a:r>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Heat Fin Length</a:t>
            </a:r>
            <a:endParaRPr lang="en-US" sz="2600" dirty="0"/>
          </a:p>
        </p:txBody>
      </p:sp>
      <p:pic>
        <p:nvPicPr>
          <p:cNvPr id="3" name="Chart from the calculation sheet: Heat f" descr="Chart from the calculation sheet: Heat fin">    </p:cNvPr>
          <p:cNvPicPr>
            <a:picLocks noChangeAspect="1"/>
          </p:cNvPicPr>
          <p:nvPr/>
        </p:nvPicPr>
        <p:blipFill>
          <a:blip r:embed="rId1"/>
          <a:stretch>
            <a:fillRect/>
          </a:stretch>
        </p:blipFill>
        <p:spPr>
          <a:xfrm>
            <a:off x="548640" y="1188720"/>
            <a:ext cx="6400800" cy="4398590"/>
          </a:xfrm>
          <a:prstGeom prst="rect">
            <a:avLst/>
          </a:prstGeom>
        </p:spPr>
      </p:pic>
      <p:sp>
        <p:nvSpPr>
          <p:cNvPr id="4" name="caption"/>
          <p:cNvSpPr txBox="1"/>
          <p:nvPr/>
        </p:nvSpPr>
        <p:spPr>
          <a:xfrm>
            <a:off x="548640" y="5660462"/>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“Heat fin” (calculated)</a:t>
            </a:r>
            <a:endParaRPr lang="en-US" sz="1100" dirty="0"/>
          </a:p>
        </p:txBody>
      </p:sp>
      <p:sp>
        <p:nvSpPr>
          <p:cNvPr id="5"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0.019 in prototype reaches 95 % of its capacity by 136 mm</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1/8 in design keeps gaining to 349 mm</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Built at 200 mm, limited by ceiling clearance</a:t>
            </a:r>
            <a:endParaRPr lang="en-US" sz="1800" dirty="0"/>
          </a:p>
        </p:txBody>
      </p:sp>
      <p:sp>
        <p:nvSpPr>
          <p:cNvPr id="6"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7"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Fin length and efficiency</a:t>
            </a:r>
            <a:endParaRPr lang="en-US" sz="1100" dirty="0"/>
          </a:p>
        </p:txBody>
      </p:sp>
      <p:sp>
        <p:nvSpPr>
          <p:cNvPr id="8"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m = √(2h / (k t)),   L</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95</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1.83 / m</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η = tanh(mL) / (mL)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0.74</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(1/8 in)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Fin Sizing for 4 W</a:t>
            </a:r>
            <a:endParaRPr lang="en-US" sz="2600" dirty="0"/>
          </a:p>
        </p:txBody>
      </p:sp>
      <p:graphicFrame>
        <p:nvGraphicFramePr>
          <p:cNvPr id="34" name="fin sizing"/>
          <p:cNvGraphicFramePr>
            <a:graphicFrameLocks noGrp="1"/>
          </p:cNvGraphicFramePr>
          <p:nvPr>
            <p:extLst>
              <p:ext uri="{D42A27DB-BD31-4B8C-83A1-F6EECF244321}">
                <p14:modId xmlns:p14="http://schemas.microsoft.com/office/powerpoint/2010/main" val="1579011935"/>
              </p:ext>
            </p:extLst>
          </p:nvPr>
        </p:nvGraphicFramePr>
        <p:xfrm>
          <a:off x="548640" y="1188720"/>
          <a:ext cx="6400800" cy="914400"/>
        </p:xfrm>
        <a:graphic>
          <a:graphicData uri="http://schemas.openxmlformats.org/drawingml/2006/table">
            <a:tbl>
              <a:tblPr/>
              <a:tblGrid>
                <a:gridCol w="2880360"/>
                <a:gridCol w="1088136"/>
                <a:gridCol w="2432304"/>
              </a:tblGrid>
              <a:tr h="475488">
                <a:tc>
                  <a:txBody>
                    <a:bodyPr/>
                    <a:lstStyle/>
                    <a:p>
                      <a:pPr indent="0" marL="0">
                        <a:buNone/>
                      </a:pPr>
                      <a:r>
                        <a:rPr lang="en-US" sz="1400" b="1" dirty="0">
                          <a:solidFill>
                            <a:srgbClr val="FFFFFF"/>
                          </a:solidFill>
                          <a:latin typeface="Arial" pitchFamily="34" charset="0"/>
                          <a:ea typeface="Arial" pitchFamily="34" charset="-122"/>
                          <a:cs typeface="Arial" pitchFamily="34" charset="-120"/>
                        </a:rPr>
                        <a:t>Painted 6061, 44 mm wide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Mass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Shortest for ≤ 60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0.019 in (prototype)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14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None (2.0 W max)</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1/16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47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None (3.6 W max)</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0.090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68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210 mm or none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1/8 in (design)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94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145–185 mm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3/16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141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125–140 mm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1/4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189 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115–125 mm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caption"/>
          <p:cNvSpPr txBox="1"/>
          <p:nvPr/>
        </p:nvSpPr>
        <p:spPr>
          <a:xfrm>
            <a:off x="548640" y="4626864"/>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All 4.05 W through the fin, 23 °C room, paste contact. Calculated.</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If the fin alone had to carry all 4.05 W</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0.019 in sheet: not possible at any length</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1/8 in plate: 145–185 mm</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Operating Sequence</a:t>
            </a:r>
            <a:endParaRPr lang="en-US" sz="2600" dirty="0"/>
          </a:p>
        </p:txBody>
      </p:sp>
      <p:pic>
        <p:nvPicPr>
          <p:cNvPr id="3" name="Phone app screens" descr="Phone app screens">    </p:cNvPr>
          <p:cNvPicPr>
            <a:picLocks noChangeAspect="1"/>
          </p:cNvPicPr>
          <p:nvPr/>
        </p:nvPicPr>
        <p:blipFill>
          <a:blip r:embed="rId1"/>
          <a:stretch>
            <a:fillRect/>
          </a:stretch>
        </p:blipFill>
        <p:spPr>
          <a:xfrm>
            <a:off x="548640" y="1268070"/>
            <a:ext cx="2060448" cy="4459021"/>
          </a:xfrm>
          <a:prstGeom prst="rect">
            <a:avLst/>
          </a:prstGeom>
        </p:spPr>
      </p:pic>
      <p:pic>
        <p:nvPicPr>
          <p:cNvPr id="4" name="Phone app screens" descr="Phone app screens">    </p:cNvPr>
          <p:cNvPicPr>
            <a:picLocks noChangeAspect="1"/>
          </p:cNvPicPr>
          <p:nvPr/>
        </p:nvPicPr>
        <p:blipFill>
          <a:blip r:embed="rId2"/>
          <a:stretch>
            <a:fillRect/>
          </a:stretch>
        </p:blipFill>
        <p:spPr>
          <a:xfrm>
            <a:off x="2718816" y="1268070"/>
            <a:ext cx="2060448" cy="4459021"/>
          </a:xfrm>
          <a:prstGeom prst="rect">
            <a:avLst/>
          </a:prstGeom>
        </p:spPr>
      </p:pic>
      <p:pic>
        <p:nvPicPr>
          <p:cNvPr id="5" name="Phone app screens" descr="Phone app screens">    </p:cNvPr>
          <p:cNvPicPr>
            <a:picLocks noChangeAspect="1"/>
          </p:cNvPicPr>
          <p:nvPr/>
        </p:nvPicPr>
        <p:blipFill>
          <a:blip r:embed="rId3"/>
          <a:stretch>
            <a:fillRect/>
          </a:stretch>
        </p:blipFill>
        <p:spPr>
          <a:xfrm>
            <a:off x="4888992" y="1268070"/>
            <a:ext cx="2060448" cy="4459021"/>
          </a:xfrm>
          <a:prstGeom prst="rect">
            <a:avLst/>
          </a:prstGeom>
        </p:spPr>
      </p:pic>
      <p:sp>
        <p:nvSpPr>
          <p:cNvPr id="6"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Phone app: home, live claw camera and chat</a:t>
            </a:r>
            <a:endParaRPr lang="en-US" sz="1100" dirty="0"/>
          </a:p>
        </p:txBody>
      </p:sp>
      <p:sp>
        <p:nvSpPr>
          <p:cNvPr id="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Start up: self-check, take up slack, calibrate</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Find: scan from above, detect garments, choose the nearest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Pick: hover until still, grip, deliver; the camera confirms each step</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Every move waits for approval on the phone; PAUSE holds position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Control Logic: Generation 1 vs. Final</a:t>
            </a:r>
            <a:endParaRPr lang="en-US" sz="26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18883"/>
                <a:gridCol w="3993989"/>
                <a:gridCol w="4881543"/>
              </a:tblGrid>
              <a:tr h="594360">
                <a:tc>
                  <a:txBody>
                    <a:bodyPr/>
                    <a:lstStyle/>
                    <a:p>
                      <a:pPr indent="0" marL="0">
                        <a:buNone/>
                      </a:pP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Generation 1</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Final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Where is the claw?</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Assumed from the commanded cable lengths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Measured by the claw camera; refit at every startup</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Room geometry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Anchors from a tape measure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Anchors and cable lengths fitted, with error bars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Motor control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One central board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 controller per station, coordinated by the laptop</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Finding laundry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Ceiling camera</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Claw camera</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Did the grab work?</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Assumed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Camera checks pickup and delivery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94360">
                <a:tc>
                  <a:txBody>
                    <a:bodyPr/>
                    <a:lstStyle/>
                    <a:p>
                      <a:pPr indent="0" marL="0">
                        <a:buNone/>
                      </a:pPr>
                      <a:r>
                        <a:rPr lang="en-US" sz="1500" b="1" dirty="0">
                          <a:solidFill>
                            <a:srgbClr val="1A1A1A"/>
                          </a:solidFill>
                          <a:latin typeface="Arial" pitchFamily="34" charset="0"/>
                          <a:ea typeface="Arial" pitchFamily="34" charset="-122"/>
                          <a:cs typeface="Arial" pitchFamily="34" charset="-120"/>
                        </a:rPr>
                        <a:t>Faults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Emergency stop only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 stop keeps torque; nothing restarts by itself</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Claw Electrical</a:t>
            </a:r>
            <a:endParaRPr lang="en-US" sz="2600" dirty="0"/>
          </a:p>
        </p:txBody>
      </p:sp>
      <p:pic>
        <p:nvPicPr>
          <p:cNvPr id="3" name="Claw schematic" descr="Claw schematic">    </p:cNvPr>
          <p:cNvPicPr>
            <a:picLocks noChangeAspect="1"/>
          </p:cNvPicPr>
          <p:nvPr/>
        </p:nvPicPr>
        <p:blipFill>
          <a:blip r:embed="rId1"/>
          <a:stretch>
            <a:fillRect/>
          </a:stretch>
        </p:blipFill>
        <p:spPr>
          <a:xfrm>
            <a:off x="548640" y="1234076"/>
            <a:ext cx="6400800" cy="4527009"/>
          </a:xfrm>
          <a:prstGeom prst="rect">
            <a:avLst/>
          </a:prstGeom>
        </p:spPr>
      </p:pic>
      <p:sp>
        <p:nvSpPr>
          <p:cNvPr id="4"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Claw schematic</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Two-cell lithium-ion pack: 7.4 V with a 5 A fuse</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6 V servo rail and a separate 5 V logic rail</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Peak 2.8–3.1 A against a 3 A pack rating</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Acronyms</a:t>
            </a:r>
            <a:endParaRPr lang="en-US" sz="26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440771"/>
                <a:gridCol w="8653644"/>
              </a:tblGrid>
              <a:tr h="475488">
                <a:tc>
                  <a:txBody>
                    <a:bodyPr/>
                    <a:lstStyle/>
                    <a:p>
                      <a:pPr indent="0" marL="0">
                        <a:buNone/>
                      </a:pPr>
                      <a:r>
                        <a:rPr lang="en-US" sz="1500" b="1" dirty="0">
                          <a:solidFill>
                            <a:srgbClr val="FFFFFF"/>
                          </a:solidFill>
                          <a:latin typeface="Arial" pitchFamily="34" charset="0"/>
                          <a:ea typeface="Arial" pitchFamily="34" charset="-122"/>
                          <a:cs typeface="Arial" pitchFamily="34" charset="-120"/>
                        </a:rPr>
                        <a:t>Term</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Meaning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CAD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Computer-aided design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PETG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Polyethylene terephthalate glycol (the printed plastic)</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TPU</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Thermoplastic polyurethane (flexible printed plastic)</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NEMA 17</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National Electrical Manufacturers Association motor frame, 1.7 in square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CNC</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Computer numerical control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ESP32</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 Wi-Fi microcontroller family (Espressif)</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A4988</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Stepper-motor driver chip (Allegro)</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YOLO</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“You Only Look Once”: an object-detection model family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500" b="1" dirty="0">
                          <a:solidFill>
                            <a:srgbClr val="1A1A1A"/>
                          </a:solidFill>
                          <a:latin typeface="Arial" pitchFamily="34" charset="0"/>
                          <a:ea typeface="Arial" pitchFamily="34" charset="-122"/>
                          <a:cs typeface="Arial" pitchFamily="34" charset="-120"/>
                        </a:rPr>
                        <a:t>SF</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Safety factor: allowable stress divided by actual stress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Calculations and Sources</a:t>
            </a:r>
            <a:endParaRPr lang="en-US" sz="2600" dirty="0"/>
          </a:p>
        </p:txBody>
      </p:sp>
      <p:pic>
        <p:nvPicPr>
          <p:cNvPr id="3" name="Chart from the calculation sheet: Cable " descr="Chart from the calculation sheet: Cable tension">    </p:cNvPr>
          <p:cNvPicPr>
            <a:picLocks noChangeAspect="1"/>
          </p:cNvPicPr>
          <p:nvPr/>
        </p:nvPicPr>
        <p:blipFill>
          <a:blip r:embed="rId1"/>
          <a:stretch>
            <a:fillRect/>
          </a:stretch>
        </p:blipFill>
        <p:spPr>
          <a:xfrm>
            <a:off x="548640" y="1188720"/>
            <a:ext cx="6400800" cy="4405924"/>
          </a:xfrm>
          <a:prstGeom prst="rect">
            <a:avLst/>
          </a:prstGeom>
        </p:spPr>
      </p:pic>
      <p:sp>
        <p:nvSpPr>
          <p:cNvPr id="4" name="caption"/>
          <p:cNvSpPr txBox="1"/>
          <p:nvPr/>
        </p:nvSpPr>
        <p:spPr>
          <a:xfrm>
            <a:off x="548640" y="5667796"/>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“Cable tension” (calculated)</a:t>
            </a:r>
            <a:endParaRPr lang="en-US" sz="1100" dirty="0"/>
          </a:p>
        </p:txBody>
      </p:sp>
      <p:sp>
        <p:nvSpPr>
          <p:cNvPr id="5"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All charts come from my engineering calculation sheet</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Incropera et al., Fundamentals of Heat and Mass Transfer, ch. 3</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Allegro MicroSystems, A4988 datasheet</a:t>
            </a:r>
            <a:endParaRPr lang="en-US" sz="1800" dirty="0"/>
          </a:p>
        </p:txBody>
      </p:sp>
      <p:sp>
        <p:nvSpPr>
          <p:cNvPr id="7" name="sheet link"/>
          <p:cNvSpPr txBox="1"/>
          <p:nvPr/>
        </p:nvSpPr>
        <p:spPr>
          <a:xfrm>
            <a:off x="7360920" y="4206240"/>
            <a:ext cx="4297680" cy="365760"/>
          </a:xfrm>
          <a:prstGeom prst="rect">
            <a:avLst/>
          </a:prstGeom>
          <a:noFill/>
          <a:ln/>
        </p:spPr>
        <p:txBody>
          <a:bodyPr wrap="square" lIns="0" tIns="0" rIns="0" bIns="0" rtlCol="0" anchor="ctr"/>
          <a:lstStyle/>
          <a:p>
            <a:pPr indent="0" marL="0">
              <a:buNone/>
            </a:pPr>
            <a:r>
              <a:rPr lang="en-US" sz="1500" u="sng" dirty="0">
                <a:solidFill>
                  <a:srgbClr val="1F3A5F"/>
                </a:solidFill>
                <a:latin typeface="Arial" pitchFamily="34" charset="0"/>
                <a:ea typeface="Arial" pitchFamily="34" charset="-122"/>
                <a:cs typeface="Arial" pitchFamily="34" charset="-120"/>
                <a:hlinkClick r:id="rId2" invalidUrl="" action="" tgtFrame="" tooltip="Open the calculation sheet" history="1" highlightClick="0" endSnd="0">
                  <a:extLst>
                    <a:ext uri="{A12FA001-AC4F-418D-AE19-62706E023703}">
                      <ahyp:hlinkClr xmlns:ahyp="http://schemas.microsoft.com/office/drawing/2018/hyperlinkcolor" val="tx"/>
                    </a:ext>
                  </a:extLst>
                </a:hlinkClick>
              </a:rPr>
              <a:t>RoomCleaner engineering calculations (Google Sheets)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RoomCleaner v7">
  <a:themeElements>
    <a:clrScheme name="RoomCleaner v7">
      <a:dk1>
        <a:srgbClr val="1A1A1A"/>
      </a:dk1>
      <a:lt1>
        <a:srgbClr val="FFFFFF"/>
      </a:lt1>
      <a:dk2>
        <a:srgbClr val="1F3A5F"/>
      </a:dk2>
      <a:lt2>
        <a:srgbClr val="F2F2F4"/>
      </a:lt2>
      <a:accent1>
        <a:srgbClr val="1F3A5F"/>
      </a:accent1>
      <a:accent2>
        <a:srgbClr val="8A8F98"/>
      </a:accent2>
      <a:accent3>
        <a:srgbClr val="B23A2E"/>
      </a:accent3>
      <a:accent4>
        <a:srgbClr val="4F6D8F"/>
      </a:accent4>
      <a:accent5>
        <a:srgbClr val="D9DEE5"/>
      </a:accent5>
      <a:accent6>
        <a:srgbClr val="5B6470"/>
      </a:accent6>
      <a:hlink>
        <a:srgbClr val="1F3A5F"/>
      </a:hlink>
      <a:folHlink>
        <a:srgbClr val="4F6D8F"/>
      </a:folHlink>
    </a:clrScheme>
    <a:fontScheme name="RoomCleaner v7">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2026-10-22T15:45:19Z</dcterms:created>
  <dcterms:modified xsi:type="dcterms:W3CDTF">2026-10-22T15:45:19Z</dcterms:modified>
</cp:coreProperties>
</file>