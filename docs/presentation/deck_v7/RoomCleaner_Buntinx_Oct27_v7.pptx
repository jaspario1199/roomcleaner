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81f7ea-0b94-4d84-1560-f81e106d4941}">
          <p14:sldIdLst>
            <p14:sldId id="256"/>
            <p14:sldId id="257"/>
            <p14:sldId id="258"/>
            <p14:sldId id="259"/>
          </p14:sldIdLst>
        </p14:section>
        <p14:section name="Concept" id="{85281612-99a4-c3c9-9518-3a64430ea33b}">
          <p14:sldIdLst>
            <p14:sldId id="260"/>
            <p14:sldId id="261"/>
            <p14:sldId id="262"/>
            <p14:sldId id="263"/>
          </p14:sldIdLst>
        </p14:section>
        <p14:section name="Generation 1" id="{0d7b1d2b-94c7-ebb4-442c-c2645974728e}">
          <p14:sldIdLst>
            <p14:sldId id="264"/>
            <p14:sldId id="265"/>
            <p14:sldId id="266"/>
          </p14:sldIdLst>
        </p14:section>
        <p14:section name="Redesign" id="{9529be19-a43d-ea19-eea6-0e89ebb8e722}">
          <p14:sldIdLst>
            <p14:sldId id="267"/>
            <p14:sldId id="268"/>
            <p14:sldId id="269"/>
            <p14:sldId id="270"/>
          </p14:sldIdLst>
        </p14:section>
        <p14:section name="Final Design" id="{54ac665b-6660-f61a-24dd-03b5d9bd62cc}">
          <p14:sldIdLst>
            <p14:sldId id="271"/>
            <p14:sldId id="272"/>
            <p14:sldId id="273"/>
            <p14:sldId id="274"/>
            <p14:sldId id="275"/>
          </p14:sldIdLst>
        </p14:section>
        <p14:section name="Build and Test" id="{07c214b3-c316-b3b2-4f20-ad032fb6a15a}">
          <p14:sldIdLst>
            <p14:sldId id="276"/>
            <p14:sldId id="277"/>
            <p14:sldId id="278"/>
            <p14:sldId id="279"/>
            <p14:sldId id="280"/>
          </p14:sldIdLst>
        </p14:section>
        <p14:section name="Results and Takeaways" id="{86d1155d-5852-c653-caf4-8205b7b88a6f}">
          <p14:sldIdLst>
            <p14:sldId id="281"/>
            <p14:sldId id="282"/>
            <p14:sldId id="283"/>
            <p14:sldId id="284"/>
          </p14:sldIdLst>
        </p14:section>
        <p14:section name="Close" id="{5d941fc5-865b-c544-f2aa-f110ba7c21eb}">
          <p14:sldIdLst>
            <p14:sldId id="285"/>
          </p14:sldIdLst>
        </p14:section>
        <p14:section name="Appendix" id="{b3f6b57c-2452-eee7-cbff-28f53ddb1bba}">
          <p14:sldIdLst>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and what you learned building it (the middle photos). Also mention the metal sculptures for the Austin Creek Show (fiber laser cutting and welding: real fabrication). Endurance: the 70.3 (2,105 yd swim, 56 mi bike, 13.1 mi run) and the marathon say you finish long things. Community: [your organization and your role in the Gladiator Dash].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station from the wall out: the slide-in mount anchors into a stud and the station slides onto it, so a station can come off for rework without moving the anchor. The motor sits on a 5 mm PETG tab with the fin clamped between them; the spool is on the motor shaft and the encoder reads a magnet on the spool's end. The shell carries the vents, and the fin exits through the slot in its top into room air. The 1/8 in production fin needs that slot about 1 mm wider on the motor side, and M3 × 12 screws. Each version fixed a fit or assembly problem from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claw plus jeans is too heavy, by about 0.2 kg (it was 0.66 kg at 1.06 A). Root cause: I set the mass budget late, after the claw grew. k = 1.101 is the worst cable tension per unit weight over the room with 2 m/s²: the middle of a long wall at task height. Claw estimate: 0.55 fill × 927 g solid + 198 g tube + 55 g servo ≈ 0.76 kg, plus 0.10 kg battery. A 2:1 or 3:1 gear stage at each winch clears it with margin and lets the current drop back to about 1 A, which also halves the heat; the pull test result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Two are not met, and they are the same problem: lift capacity and claw mass.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the chart compares the actual 15 weeks with a 7-week plan on the same scale. Next steps, in order: the luggage-scale pull test turns the 0.7 running-torque assumption into a measurement, and with the weighed claw it decides between a lighter claw and a 2:1 or 3:1 gear stage at each winch (which also lets the current drop back to about 1 A). Then machine the 1/8 in fin, widen the shell slot about 1 mm, and run the SolidWorks study and the 90-minute hold test. Then the three-station test with 1 lb, one garment, and the fourth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pic>
        <p:nvPicPr>
          <p:cNvPr id="3" name="Outdoors and endurance" descr="Outdoors and endurance">    </p:cNvPr>
          <p:cNvPicPr>
            <a:picLocks noChangeAspect="1"/>
          </p:cNvPicPr>
          <p:nvPr/>
        </p:nvPicPr>
        <p:blipFill>
          <a:blip r:embed="rId1"/>
          <a:stretch>
            <a:fillRect/>
          </a:stretch>
        </p:blipFill>
        <p:spPr>
          <a:xfrm>
            <a:off x="548640" y="1188720"/>
            <a:ext cx="1960670" cy="3850845"/>
          </a:xfrm>
          <a:prstGeom prst="rect">
            <a:avLst/>
          </a:prstGeom>
        </p:spPr>
      </p:pic>
      <p:sp>
        <p:nvSpPr>
          <p:cNvPr id="4" name="caption"/>
          <p:cNvSpPr txBox="1"/>
          <p:nvPr/>
        </p:nvSpPr>
        <p:spPr>
          <a:xfrm>
            <a:off x="548640" y="5112717"/>
            <a:ext cx="19606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Outdoors and endurance</a:t>
            </a:r>
            <a:endParaRPr lang="en-US" sz="1100" dirty="0"/>
          </a:p>
        </p:txBody>
      </p:sp>
      <p:pic>
        <p:nvPicPr>
          <p:cNvPr id="5" name="Engineering projects" descr="Engineering projects">    </p:cNvPr>
          <p:cNvPicPr>
            <a:picLocks noChangeAspect="1"/>
          </p:cNvPicPr>
          <p:nvPr/>
        </p:nvPicPr>
        <p:blipFill>
          <a:blip r:embed="rId2"/>
          <a:stretch>
            <a:fillRect/>
          </a:stretch>
        </p:blipFill>
        <p:spPr>
          <a:xfrm>
            <a:off x="2646470" y="1188720"/>
            <a:ext cx="2434912" cy="3850845"/>
          </a:xfrm>
          <a:prstGeom prst="rect">
            <a:avLst/>
          </a:prstGeom>
        </p:spPr>
      </p:pic>
      <p:sp>
        <p:nvSpPr>
          <p:cNvPr id="6" name="caption"/>
          <p:cNvSpPr txBox="1"/>
          <p:nvPr/>
        </p:nvSpPr>
        <p:spPr>
          <a:xfrm>
            <a:off x="2646470" y="5112717"/>
            <a:ext cx="2434912"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Engineering projects</a:t>
            </a:r>
            <a:endParaRPr lang="en-US" sz="1100" dirty="0"/>
          </a:p>
        </p:txBody>
      </p:sp>
      <p:pic>
        <p:nvPicPr>
          <p:cNvPr id="7" name="Community" descr="Community">    </p:cNvPr>
          <p:cNvPicPr>
            <a:picLocks noChangeAspect="1"/>
          </p:cNvPicPr>
          <p:nvPr/>
        </p:nvPicPr>
        <p:blipFill>
          <a:blip r:embed="rId3"/>
          <a:stretch>
            <a:fillRect/>
          </a:stretch>
        </p:blipFill>
        <p:spPr>
          <a:xfrm>
            <a:off x="5218543" y="1188720"/>
            <a:ext cx="2462417" cy="3850845"/>
          </a:xfrm>
          <a:prstGeom prst="rect">
            <a:avLst/>
          </a:prstGeom>
        </p:spPr>
      </p:pic>
      <p:sp>
        <p:nvSpPr>
          <p:cNvPr id="8" name="caption"/>
          <p:cNvSpPr txBox="1"/>
          <p:nvPr/>
        </p:nvSpPr>
        <p:spPr>
          <a:xfrm>
            <a:off x="5218543" y="5112717"/>
            <a:ext cx="246241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Community</a:t>
            </a:r>
            <a:endParaRPr lang="en-US" sz="1100" dirty="0"/>
          </a:p>
        </p:txBody>
      </p:sp>
      <p:sp>
        <p:nvSpPr>
          <p:cNvPr id="9" name="bullets"/>
          <p:cNvSpPr txBox="1"/>
          <p:nvPr/>
        </p:nvSpPr>
        <p:spPr>
          <a:xfrm>
            <a:off x="8092440" y="1234440"/>
            <a:ext cx="355061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Mechanical Engineering, Texas A&amp;M University, </a:t>
            </a:r>
            <a:pPr algn="l" marL="254000" indent="-254000">
              <a:spcAft>
                <a:spcPts val="1000"/>
              </a:spcAft>
              <a:buSzPct val="100000"/>
              <a:buChar char="•"/>
            </a:pPr>
            <a:r>
              <a:rPr lang="en-US" sz="1700" i="1" dirty="0">
                <a:solidFill>
                  <a:srgbClr val="B23A2E"/>
                </a:solidFill>
                <a:latin typeface="Arial" pitchFamily="34" charset="0"/>
                <a:ea typeface="Arial" pitchFamily="34" charset="-122"/>
                <a:cs typeface="Arial" pitchFamily="34" charset="-120"/>
              </a:rPr>
              <a:t>[graduation year]</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Built EcoFil, a filament recycler with a shredder, dryer and extruder</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Finished an Ironman 70.3 in 6:53 and a marathon in 2025</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Hiking, canyons and cliff jumping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Gladiator Dash fundraiser: $185K raised for Still Creek Ranch </a:t>
            </a:r>
            <a:pPr algn="l" marL="254000" indent="-254000">
              <a:spcAft>
                <a:spcPts val="1000"/>
              </a:spcAft>
              <a:buSzPct val="100000"/>
              <a:buChar char="•"/>
            </a:pPr>
            <a:r>
              <a:rPr lang="en-US" sz="1700" i="1" dirty="0">
                <a:solidFill>
                  <a:srgbClr val="B23A2E"/>
                </a:solidFill>
                <a:latin typeface="Arial" pitchFamily="34" charset="0"/>
                <a:ea typeface="Arial" pitchFamily="34" charset="-122"/>
                <a:cs typeface="Arial" pitchFamily="34" charset="-120"/>
              </a:rPr>
              <a:t>[your role]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descr="Final wall station">    </p:cNvPr>
          <p:cNvPicPr>
            <a:picLocks noChangeAspect="1"/>
          </p:cNvPicPr>
          <p:nvPr/>
        </p:nvPicPr>
        <p:blipFill>
          <a:blip r:embed="rId1"/>
          <a:stretch>
            <a:fillRect/>
          </a:stretch>
        </p:blipFill>
        <p:spPr>
          <a:xfrm>
            <a:off x="548640" y="1642417"/>
            <a:ext cx="4224528" cy="3710325"/>
          </a:xfrm>
          <a:prstGeom prst="rect">
            <a:avLst/>
          </a:prstGeom>
        </p:spPr>
      </p:pic>
      <p:pic>
        <p:nvPicPr>
          <p:cNvPr id="4" name="Final claw" descr="Final claw">    </p:cNvPr>
          <p:cNvPicPr>
            <a:picLocks noChangeAspect="1"/>
          </p:cNvPicPr>
          <p:nvPr/>
        </p:nvPicPr>
        <p:blipFill>
          <a:blip r:embed="rId2"/>
          <a:stretch>
            <a:fillRect/>
          </a:stretch>
        </p:blipFill>
        <p:spPr>
          <a:xfrm>
            <a:off x="524913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(SolidWorks):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wiring and </a:t>
            </a:r>
            <a:pPr algn="l" marL="254000" indent="-254000">
              <a:spcAft>
                <a:spcPts val="1000"/>
              </a:spcAft>
              <a:buSzPct val="100000"/>
              <a:buChar char="•"/>
            </a:pPr>
            <a:r>
              <a:rPr lang="en-US" sz="1800" i="1" dirty="0">
                <a:solidFill>
                  <a:srgbClr val="B23A2E"/>
                </a:solidFill>
                <a:latin typeface="Arial" pitchFamily="34" charset="0"/>
                <a:ea typeface="Arial" pitchFamily="34" charset="-122"/>
                <a:cs typeface="Arial" pitchFamily="34" charset="-120"/>
              </a:rPr>
              <a:t>[software parts you wrote]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pic>
        <p:nvPicPr>
          <p:cNvPr id="3"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Slide-in wall mount: the station lifts off while the anchor stays in the wall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Vented shell around the motor, spool, encoder and controller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Aluminum fin leaves through a slot in the shell top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 and three spool versions in SolidWorks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 Open Issue</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with battery estimated at 0.86 kg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test fits; jeans are 0.2 kg over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Next: a lighter claw or a gear reduction at each winch</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with jeans: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1.76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5"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6"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1.76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0.86 kg with battery; </a:t>
                      </a:r>
                      <a:pPr indent="0" marL="0">
                        <a:buNone/>
                      </a:pPr>
                      <a:r>
                        <a:rPr lang="en-US" sz="1500" i="1" dirty="0">
                          <a:solidFill>
                            <a:srgbClr val="B23A2E"/>
                          </a:solidFill>
                          <a:latin typeface="Arial" pitchFamily="34" charset="0"/>
                          <a:ea typeface="Arial" pitchFamily="34" charset="-122"/>
                          <a:cs typeface="Arial" pitchFamily="34" charset="-120"/>
                        </a:rPr>
                        <a:t>[weighed]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8"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5"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0.2 kg over capacity with jeans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Takeaways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Set the mass budget first, from the measured winch pull</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Prove one station before building the rest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In half the time: freeze requirements in week 1, order long-lead parts on day 1</a:t>
            </a:r>
            <a:endParaRPr lang="en-US" sz="1800" dirty="0"/>
          </a:p>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Next steps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Pull test and weigh the claw, then choose a lighter claw or winch gears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90-minute hold test at 1.5 A with the 1/8 in fin</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Three-station test, then add the fourth station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4"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2026-10-22T18:42:31Z</dcterms:created>
  <dcterms:modified xsi:type="dcterms:W3CDTF">2026-10-22T18:42:31Z</dcterms:modified>
</cp:coreProperties>
</file>